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2.xml" ContentType="application/inkml+xml"/>
  <Override PartName="/ppt/ink/ink3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6"/>
  </p:notesMasterIdLst>
  <p:sldIdLst>
    <p:sldId id="288" r:id="rId3"/>
    <p:sldId id="289" r:id="rId4"/>
    <p:sldId id="290" r:id="rId5"/>
    <p:sldId id="291" r:id="rId7"/>
    <p:sldId id="256" r:id="rId8"/>
    <p:sldId id="287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93" r:id="rId19"/>
    <p:sldId id="292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</p:sldIdLst>
  <p:sldSz cx="9144000" cy="6858000" type="screen4x3"/>
  <p:notesSz cx="6858000" cy="9144000"/>
  <p:custDataLst>
    <p:tags r:id="rId4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0" autoAdjust="0"/>
    <p:restoredTop sz="80548" autoAdjust="0"/>
  </p:normalViewPr>
  <p:slideViewPr>
    <p:cSldViewPr showGuides="1">
      <p:cViewPr>
        <p:scale>
          <a:sx n="50" d="100"/>
          <a:sy n="50" d="100"/>
        </p:scale>
        <p:origin x="-166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1" Type="http://schemas.openxmlformats.org/officeDocument/2006/relationships/tags" Target="tags/tag1.xml"/><Relationship Id="rId40" Type="http://schemas.openxmlformats.org/officeDocument/2006/relationships/tableStyles" Target="tableStyles.xml"/><Relationship Id="rId4" Type="http://schemas.openxmlformats.org/officeDocument/2006/relationships/slide" Target="slides/slide2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0-11-03T22:40: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14552.000 7161.000,'18.000'0.000,"52.000"0.000,71.000 0.000,-70.000 0.000,17.000 0.000,-17.000 0.000,-18.000 0.000,-36.000 0.000,1.000 0.000,0.000 0.000,17.000 0.000,0.000 0.000,36.000 0.000,-1.000 0.000,18.000 0.000,-17.000 0.000,17.000 0.000,0.000 0.000,-17.000 0.000,-1.000 0.000,-17.000 0.000,18.000 0.000,-36.000 0.000,36.000 0.000,-36.000-17.000,0.000-1.000,1.000 18.000,-19.000-18.000,19.000 1.000,52.000-18.000,-71.000 17.000,36.000-17.000,0.000 17.000,-18.000-17.000,1.000 35.000,17.000-53.000,-18.000 35.000,0.000-17.000,18.000 17.000,-53.000 1.000,35.000-1.000,-17.000 0.000,0.000 1.000,17.000-19.000,-35.000 36.000,0.000-17.000,18.000-36.000,-18.000 18.000,0.000-1.000,0.000-17.000,0.000-17.000,0.000 17.000,0.000 0.000,-18.000-18.000,-35.000 19.000,-18.000-54.000,1.000 18.000,17.000-1.000,-35.000 19.000,-36.000-18.000,71.000 35.000,-17.000 0.000,17.000 35.000,-18.000-17.000,36.000 17.000,17.000 1.000,-52.000-19.000,52.000 36.000,18.000 0.000,-35.000 0.000,35.000 0.000,-18.000 0.000,-17.000 0.000,17.000-35.000,-34.000 35.000,-19.000-18.000,0.000 18.000,1.000-17.000,-1.000 17.000,-17.000-18.000,18.000 18.000,34.000-18.000,-17.000 18.000,53.000 0.000,-17.000 0.000,-1.000 0.000,0.000 0.000,18.000 0.000,-17.000 0.000,-18.000 0.000,35.000 0.000,-36.000 0.000,36.000 0.000,-17.000 0.000,17.000 18.000,-36.000-18.000,1.000 18.000,0.000-18.000,35.000 17.000,-35.000-17.000,35.000 0.000,-18.000 0.000,0.000 18.000,-17.000-18.000,35.000 18.000,-18.000-1.000,-35.000 1.000,53.000-18.000,-17.000 0.000,-19.000 18.000,36.000-1.000,-17.000-17.000,-1.000 18.000,-17.000-18.000,35.000 17.000,-18.000 1.000,1.000-18.000,-1.000 18.000,18.000-18.000,-18.000 17.000,18.000 1.000,-17.000-18.000,-1.000 18.000,0.000-18.000,1.000 35.000,-1.000-35.000,18.000 35.000,-17.000-17.000,17.000-1.000,-18.000-17.000,18.000 18.000,-18.000-18.000,18.000 18.000,0.000-1.000,0.000 1.000,-17.000 17.000,17.000-35.000,0.000 36.000,-36.000-1.000,36.000-17.000,0.000-1.000,0.000-17.000,0.000 35.000,0.000-17.000,0.000 0.000,-17.000 17.000,17.000-17.000,0.000-18.000,-18.000 35.000,18.000-17.000,0.000-1.000,0.000 1.000,0.000-18.000,0.000 17.000,0.000 1.000,0.000 0.000,0.000-18.000,0.000 17.000,0.000 1.000,0.000 0.000,0.000-18.000,0.000 17.000,0.000 1.000,0.000 0.000,0.000-18.000,0.000 17.000,0.000 1.000,0.000-1.000,0.000-17.000,0.000 18.000,0.000 0.000,0.000-1.000,0.000-17.000,0.000 18.000,0.000 0.000,0.000-1.000,0.000-17.000,0.000 18.000,0.000 0.000,0.000-1.000,0.000 1.000,0.000 17.000,0.000 0.000,0.000-35.000,0.000 18.000,0.000 0.000,0.000-1.000,0.000-17.000,0.000 18.000,0.000 17.000,18.000-17.000,-18.000 0.000,0.000-18.000,0.000 17.000,0.000 18.000,0.000 1.000,17.000-19.000,-17.000 1.000,18.000 0.000,-18.000 17.000,0.000-35.000,0.000 18.000,18.000-18.000,17.000 35.000,-17.000-18.000,34.000 19.000,-16.000-36.000,-19.000 35.000,36.000-17.000,-53.000-18.000,18.000 0.000,0.000 0.000,-1.000 0.000</inkml:trace>
  <inkml:trace contextRef="#ctx0" brushRef="#br0">21643.000 8555.000,'-18.000'-18.000,"-17.000"18.000,0.000 0.000,17.000 0.000,-35.000 0.000,0.000 0.000,0.000 0.000,18.000 0.000,-35.000 0.000,17.000 0.000,17.000 18.000,-17.000 0.000,18.000-18.000,-35.000 17.000,34.000 1.000,-17.000-1.000,18.000 1.000,17.000-18.000,18.000 0.000,-35.000 18.000,35.000-18.000,-17.000 17.000,-1.000-17.000,0.000 18.000,1.000-18.000,-1.000 18.000,0.000-1.000,1.000-17.000,-19.000 18.000,-16.000 17.000,16.000-17.000,19.000-18.000,-1.000 17.000,-17.000 1.000,17.000 0.000,18.000-1.000,-18.000-17.000,1.000 0.000,17.000 0.000,-18.000 18.000,-17.000 0.000,17.000-1.000,1.000-17.000,-1.000 18.000,0.000-18.000,18.000 0.000,-17.000 18.000,17.000-18.000,-18.000 17.000,0.000-17.000,18.000 18.000,-17.000-1.000,17.000-17.000,0.000 18.000,0.000 17.000,-36.000-17.000,19.000 17.000,17.000-35.000,0.000 18.000,0.000 17.000,-18.000-17.000,18.000 0.000,0.000-1.000,0.000 1.000,0.000-18.000,0.000 17.000,0.000 1.000,0.000-18.000,0.000 35.000,0.000 1.000,0.000-36.000,0.000 17.000,0.000 1.000,0.000 0.000,0.000-18.000,0.000 17.000,0.000 1.000,0.000-1.000,0.000-17.000,0.000 18.000,0.000 17.000,0.000-17.000,0.000-18.000,0.000 35.000,0.000-17.000,0.000-18.000,0.000 35.000,0.000-35.000,18.000 18.000,-18.000 17.000,17.000-17.000,-17.000 17.000,0.000-17.000,0.000-1.000,18.000 19.000,-18.000-36.000,18.000 17.000,-1.000 19.000,-17.000-36.000,18.000 35.000,-18.000-18.000,0.000 1.000,35.000 0.000,-35.000-1.000,0.000 1.000,0.000-18.000,0.000 18.000,0.000-1.000,0.000 1.000,18.000-18.000,-18.000 18.000,0.000-1.000,0.000 1.000,18.000-1.000,17.000 19.000,-35.000-19.000,53.000 36.000,-53.000-35.000,17.000 0.000,1.000 17.000,-18.000-35.000,35.000 17.000,-35.000-17.000,18.000 0.000,17.000 18.000,-35.000 0.000,36.000-18.000,-19.000 0.000,36.000 0.000,0.000 17.000,53.000 19.000,-53.000-19.000,53.000 1.000,-1.000-18.000,-34.000 18.000,0.000-18.000,-1.000 0.000,18.000 0.000,-35.000 0.000,0.000 0.000,35.000-18.000,-35.000 0.000,35.000 1.000,-35.000-1.000,18.000-17.000,-1.000 17.000,-17.000 0.000,18.000 1.000,-1.000-18.000,-34.000 17.000,17.000-17.000,-53.000 35.000,35.000 0.000,-35.000 0.000,35.000-18.000,-17.000 18.000,-1.000 0.000,19.000-35.000,-36.000 35.000,17.000-18.000,1.000 0.000,17.000-17.000,-17.000 18.000,17.000-19.000,-17.000 19.000,17.000-19.000,-17.000 1.000,-1.000 17.000,-17.000 1.000,18.000-18.000,-18.000 17.000,0.000 0.000,0.000-35.000,35.000 0.000,-35.000 36.000,0.000-1.000,0.000-17.000,18.000 17.000,-18.000-35.000,0.000 36.000,0.000-19.000,0.000 19.000,0.000-1.000,0.000 0.000,0.000 1.000,0.000-36.000,0.000 35.000,0.000 1.000,0.000-19.000,0.000 1.000,0.000 0.000,0.000 0.000,0.000-18.000,-18.000 17.000,1.000 1.000,-19.000 0.000,36.000 17.000,-35.000 0.000,35.000 1.000,-17.000 17.000,17.000-18.000,-18.000 1.000,0.000-1.000,-17.000 0.000,-18.000 18.000,18.000-53.000,-18.000 53.000,-35.000-35.000,52.000 0.000,-34.000 17.000,35.000 18.000,17.000-35.000,0.000 35.000,18.000 0.000,-35.000-18.000,0.000 1.000,-36.000-1.000,36.000 18.000,0.000-35.000,-18.000 17.000,35.000 18.000,0.000-18.000,1.000 18.000,17.000 0.000,-18.000 0.000,18.000 0.000,-18.000 0.000,18.000 0.000,-35.000 0.000,35.000 0.000,-17.000 0.000,-1.000 0.000,0.000 0.000,18.000 0.000,-17.000 0.000,-1.000 0.000,0.000-17.000,1.000-1.000,17.000 18.000,-18.000-35.000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0-11-03T22:40: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16775.000 6756.000,'0.000'0.000,"35.000"0.000,-17.000 17.000,52.000-17.000,-17.000 36.000,35.000 34.000,-17.000-52.000,35.000 52.000,-18.000-52.000,53.000 53.000,-53.000-19.000,18.000-16.000,0.000 17.000,-53.000-36.000,35.000 1.000,-53.000 17.000,0.000-17.000,18.000 0.000,-17.000-18.000,-1.000 35.000,53.000 0.000,-35.000-35.000,0.000 53.000,17.000-35.000,-17.000-1.000,-17.000 19.000,-19.000-36.000,-17.000 0.000,36.000 17.000,-36.000-17.000,17.000 0.000,-17.000 0.000,53.000 18.000,-35.000-18.000,17.000 17.000,0.000 19.000,18.000-19.000,18.000 19.000,-1.000 17.000,-17.000-36.000,18.000 18.000,-54.000-17.000,72.000 17.000,-54.000 1.000,0.000-19.000,36.000 54.000,-1.000-36.000,-34.000-17.000,-1.000 17.000,18.000 0.000,-36.000-17.000,19.000 0.000,-1.000-18.000,0.000 53.000,-17.000-53.000,0.000 17.000,-1.000 1.000,18.000-1.000,-17.000 1.000,35.000 17.000,-35.000-17.000,-1.000-18.000,19.000 18.000,-36.000-1.000,17.000 19.000,1.000-36.000,-1.000 35.000,1.000-35.000,-18.000 17.000,18.000-17.000,-1.000 36.000,1.000-36.000,-18.000 17.000,18.000 1.000,-1.000 0.000,1.000-18.000,0.000 17.000,-1.000 1.000,-17.000-18.000,18.000 0.000,-18.000 18.000,35.000-18.000,-17.000 17.000,-1.000-17.000,1.000 0.000,0.000 18.000,-1.000-18.000,1.000 0.000,0.000 18.000,17.000-18.000,-35.000 0.000,35.000 17.000,-17.000-17.000,-18.000 0.000,17.000 0.000,1.000 0.000,17.000 0.000,-35.000 0.000,18.000 0.000,-18.000 18.000,18.000-18.000,-18.000 0.000,35.000 17.000,-35.000-17.000,18.000 0.000,-1.000 0.000</inkml:trace>
  <inkml:trace contextRef="#ctx0" brushRef="#br0">20214.000 8308.000,'0.000'0.000,"18.000"18.000,-1.000-1.000,-17.000-17.000,0.000 18.000,0.000-1.000,18.000 1.000,-18.000-18.000,18.000 35.000,-1.000-35.000,-17.000 36.000,0.000-36.000,0.000 17.000,18.000-17.000,0.000 0.000,-18.000 18.000,17.000 0.000,-17.000-18.000,18.000 17.000,0.000 1.000,-1.000 0.000,-17.000-18.000,0.000 35.000,0.000-18.000,0.000-17.000,0.000 36.000,-17.000-19.000,-1.000 1.000,0.000 0.000,-17.000-18.000,17.000 0.000,-17.000 35.000,35.000-35.000,-18.000 18.000,1.000-18.000,-1.000 0.000,18.000 17.000,-17.000 1.000,-1.000-18.000,0.000 17.000,18.000-17.000,-17.000 0.000,-1.000 0.000,0.000 18.000,1.000 0.000,-1.000-18.000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0-11-03T22:40: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22772.000 7161.000,'0.000'0.000,"0.000"0.000,0.000 0.000,-18.000 0.000,1.000 18.000,-1.000 0.000,18.000-1.000,-18.000 1.000,1.000 17.000,17.000-35.000,-18.000 18.000,18.000-18.000,-18.000 18.000,18.000-1.000,-17.000-17.000,17.000 18.000,0.000-18.000,-18.000 17.000,18.000-17.000,0.000 18.000,0.000 0.000,0.000-1.000,0.000-17.000,0.000 18.000,-18.000 0.000,18.000-1.000,-17.000 1.000,-1.000 17.000,1.000-17.000,17.000-1.000,0.000 1.000,-36.000 0.000,36.000 17.000,0.000-35.000,-17.000 18.000,-1.000-1.000,-17.000 54.000,17.000-54.000,18.000 19.000,0.000-36.000,0.000 17.000,0.000 1.000,-35.000 0.000,35.000-1.000,0.000 1.000,-18.000 0.000,18.000-18.000,-18.000 35.000,1.000-17.000,17.000-1.000,-18.000 1.000,18.000-18.000,-35.000 53.000,35.000-53.000,0.000 17.000,-18.000 1.000,1.000 0.000,-1.000 35.000,-17.000-18.000,35.000-18.000,0.000 1.000,-18.000 17.000,0.000-17.000,18.000 0.000,0.000-1.000,-17.000 1.000,17.000 0.000,-18.000-1.000,18.000-17.000,0.000 53.000,-17.000-35.000,17.000-18.000,-18.000 17.000,18.000 19.000,0.000-36.000,0.000 53.000,-18.000-36.000,18.000 1.000,0.000 0.000,-17.000 17.000,-1.000 0.000,18.000 0.000,0.000-17.000,-35.000 53.000,35.000-54.000,0.000 18.000,-18.000 18.000,0.000-17.000,18.000-1.000,0.000-17.000,0.000 34.000,0.000-52.000,0.000 18.000,0.000 17.000,0.000-17.000,0.000 0.000,0.000-1.000,0.000 1.000,0.000 0.000,0.000-1.000,0.000 1.000,18.000 35.000,-18.000-53.000,0.000 17.000,0.000 19.000,0.000-19.000,18.000 1.000,-1.000 35.000,1.000 0.000,-18.000-36.000,0.000 19.000,18.000-19.000,-18.000-17.000,0.000 36.000,0.000-19.000,0.000 19.000,35.000-19.000,-35.000 1.000,0.000-1.000,18.000 19.000,-18.000-36.000,17.000 17.000,1.000 1.000,-18.000 0.000,17.000-18.000,1.000 17.000,17.000 1.000,-35.000 0.000,18.000-18.000,0.000 0.000,-1.000 0.000,19.000 17.000,-1.000 19.000,0.000-36.000,18.000 17.000,-18.000 1.000,1.000-18.000,17.000 35.000,-36.000-35.000,1.000 0.000,17.000 0.000,-17.000 18.000,-1.000-18.000,1.000 0.000,17.000 17.000,-35.000 1.000,36.000-18.000,-19.000 0.000,18.000 18.000,-17.000-18.000,-18.000 0.000,18.000 0.000,17.000 17.000,-35.000-17.000,18.000 0.000,17.000 0.000,-35.000 0.000,35.000 0.000,-17.000 0.000,-1.000 0.000,1.000 0.000,0.000 0.000,-1.000 0.000,19.000 18.000,-36.000-18.000,17.000 0.000,-17.000 0.000,36.000 0.000,-36.000 18.000,17.000-18.000,-17.000 0.000,36.000 0.000,-36.000 0.000,17.000 0.000,36.000 17.000,-35.000 1.000,-1.000-18.000,36.000 17.000,-17.000 1.000,16.000-18.000,-16.000 18.000,-1.000-18.000,0.000 17.000,18.000 1.000,-35.000-18.000,17.000 0.000,-17.000 0.000,-1.000 0.000,19.000 0.000,-19.000 18.000,1.000-18.000,0.000 0.000,-18.000 0.000,35.000 0.000,-17.000 0.000,17.000 0.000,-18.000 0.000,-17.000 0.000,36.000 0.000,-1.000 0.000,0.000 0.000,-17.000 0.000,0.000 0.000,17.000 0.000,-18.000 0.000,1.000 0.000,17.000 0.000,1.000 0.000,-36.000 0.000,35.000 0.000,-17.000 0.000,-1.000 0.000,18.000 0.000,-17.000-18.000,0.000 18.000,-18.000 0.000,17.000 0.000,19.000 0.000,-36.000 0.000,35.000 0.000,-17.000 0.000,17.000 0.000,-35.000 0.000,35.000 0.000,-17.000 0.000,-1.000 0.000,1.000 0.000,0.000 0.000,-1.000 0.000,-17.000 0.000,18.000 0.000,0.000 0.000,-1.000-18.000,1.000 18.000,0.000 0.000,-1.000 0.000,1.000 0.000,-18.000 0.000,35.000 0.000,-17.000-17.000,-18.000 17.000,17.000 0.000,19.000-18.000,-1.000 18.000,-17.000-18.000,-18.000 18.000,17.000 0.000,18.000-17.000,-17.000 17.000,17.000-35.000,-17.000 35.000,0.000-18.000,-18.000 18.000,17.000 0.000,1.000 0.000,0.000-18.000,-18.000 1.000,17.000 17.000,1.000-18.000,0.000 18.000,-18.000-18.000,0.000 1.000,35.000 17.000,-18.000-18.000,-17.000 0.000,18.000 1.000,0.000 17.000,-18.000-18.000,17.000 1.000,1.000-19.000,-18.000 36.000,0.000-35.000,18.000 17.000,-18.000 18.000,0.000-35.000,0.000 35.000,0.000-18.000,17.000 18.000,-17.000-35.000,0.000 17.000,0.000-17.000,18.000 35.000,-18.000-35.000,0.000 0.000,18.000-1.000,-18.000 19.000,0.000-19.000,0.000 1.000,0.000 18.000,0.000-19.000,0.000 1.000,0.000 0.000,17.000 17.000,-17.000-17.000,0.000 17.000,0.000-17.000,0.000 17.000,0.000-35.000,0.000 53.000,0.000-17.000,0.000-19.000,0.000 36.000,0.000-17.000,0.000-19.000,0.000 36.000,0.000-17.000,0.000-1.000,0.000 1.000,0.000-1.000,0.000 0.000,0.000-17.000,0.000 35.000,0.000-35.000,0.000 17.000,0.000 0.000,0.000-17.000,0.000 18.000,0.000-19.000,0.000 19.000,0.000 17.000,0.000-36.000,0.000 1.000,0.000 17.000,0.000 1.000,0.000-1.000,0.000 1.000,0.000-1.000,0.000 0.000,0.000 1.000,0.000-19.000,0.000-17.000,0.000 36.000,0.000-1.000,0.000 0.000,0.000 1.000,0.000-18.000,0.000 17.000,0.000-17.000,0.000 35.000,0.000-36.000,0.000 1.000,0.000 35.000,0.000-35.000,0.000 17.000,0.000 1.000,0.000-19.000,0.000 19.000,0.000 17.000,0.000-36.000,0.000 19.000,0.000-1.000,18.000-17.000,-18.000 35.000,0.000-35.000,0.000 17.000,0.000 0.000,0.000-17.000,0.000 17.000,0.000-35.000,0.000 36.000,0.000-1.000,0.000 0.000,0.000-34.000,0.000 34.000,0.000 0.000,0.000 1.000,0.000-1.000,0.000 0.000,0.000 1.000,0.000 17.000,0.000-18.000,0.000 0.000,-18.000 1.000,18.000-1.000,0.000 18.000,0.000-17.000,-17.000 17.000,-1.000-18.000,0.000 0.000,18.000 1.000,-17.000 17.000,-1.000 0.000,0.000 0.000,18.000 0.000,-35.000-36.000,35.000 36.000,-18.000 0.000,1.000 0.000,-18.000 0.000,-1.000-17.000,19.000 17.000,-1.000 0.000,18.000 0.000,-35.000-18.000,-18.000 0.000,35.000 18.000,18.000 0.000,-18.000 0.000,1.000 0.000,-18.000-17.000,35.000 17.000,-18.000 0.000,0.000 0.000,1.000 0.000,17.000 0.000,-18.000 0.000,0.000 0.000,1.000 0.000,-1.000 0.000,0.000 0.000,1.000 0.000,17.000 0.000,-18.000 0.000,1.000 0.000,-1.000 0.000,0.000 0.000,1.000 0.000,-1.000 0.000,18.000 0.000,-35.000 0.000,17.000 0.000,0.000 0.000,-17.000 0.000,35.000 0.000,-17.000 0.000,17.000 0.000,-36.000 0.000,36.000 0.000,-17.000 0.000,-19.000 0.000,36.000 0.000,-17.000 0.000,-19.000 0.000,36.000 0.000,-35.000 0.000,17.000 0.000,1.000 0.000,-1.000 0.000,-17.000 0.000,35.000 0.000,-18.000 0.000,-17.000 0.000,17.000 0.000,-17.000 0.000,17.000 0.000,18.000 0.000,-35.000 0.000,18.000 0.000,-1.000 0.000,0.000 0.000,1.000 0.000,-1.000 0.000,0.000 0.000,1.000 0.000,-1.000 0.000,0.000 0.000,1.000 0.000,-36.000 0.000,53.000 0.000,-18.000 0.000,18.000 0.000,-35.000 0.000,17.000 0.000,-17.000 0.000,17.000 0.000,1.000 0.000,-19.000 0.000,19.000 0.000,-18.000 0.000,17.000 0.000,-35.000 0.000,35.000 0.000,1.000 0.000,-19.000 0.000,1.000 0.000,35.000 0.000,-35.000 0.000,17.000 0.000,1.000 0.000,-1.000 0.000,0.000 0.000,1.000 0.000,17.000 0.000,-18.000 0.000,0.000 0.000,1.000 0.000,17.000 0.000,-18.000 0.000,1.000 0.000,-1.000 0.000,18.000 0.000,-18.000 0.000,1.000 0.000,-1.000 0.000,18.000-18.000,-18.000 18.000,1.000 0.000,-1.000 0.000,18.000 0.000,-18.000 0.000,1.000 0.000,-1.000-35.000,0.000 35.000,1.000 0.000,-1.000 0.000,18.000 0.000,-35.000 0.000,35.000 0.000,-18.000 0.000,18.000-18.000,-17.000 18.000,-19.000 0.000,19.000 0.000,17.000 0.000,-36.000-17.000,19.000-1.000,17.000 18.000,-35.000 0.000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DBAA50-5168-45A2-B034-1CCC5D627A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EA1C7B-C0D1-4B19-87D2-53C58B00394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一条竖线、事件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EA1C7B-C0D1-4B19-87D2-53C58B0039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属性可以使用各种数据类型，包括普通类型、类类型以及指针等。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EA1C7B-C0D1-4B19-87D2-53C58B0039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如何理解交互耦合越弱越好？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EA1C7B-C0D1-4B19-87D2-53C58B0039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Method</a:t>
            </a:r>
            <a:r>
              <a:rPr lang="zh-CN" altLang="en-US"/>
              <a:t>区别于类中的</a:t>
            </a:r>
            <a:r>
              <a:rPr lang="en-US" altLang="zh-CN"/>
              <a:t>“</a:t>
            </a:r>
            <a:r>
              <a:rPr lang="zh-CN" altLang="en-US"/>
              <a:t>方法</a:t>
            </a:r>
            <a:r>
              <a:rPr lang="en-US" altLang="zh-CN"/>
              <a:t>”</a:t>
            </a:r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19CD1-B3A9-41B7-B114-0F60DB8FEF3E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3BB72-265E-4A69-B8FA-C2FBAB9B591B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CE775-4BB7-4A79-BEDC-F9D02B37FC8F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BF48C-9399-411E-BD03-FDC804D4E6BB}" type="datetime1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2717A-8857-474F-897A-869A73D65E90}" type="datetime1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6660A-E8EC-42D7-A729-E6E6B5EC9EB0}" type="datetime1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0B856-329F-4949-BE24-5A7D3FDE7193}" type="datetime1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F7301-2D71-44E9-BD68-4719EE91480D}" type="datetime1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E8887-8A97-45DA-B54D-88F70AE2DD9F}" type="datetime1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3369F-A3C3-4E88-8900-7B54A59AAE56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48433-7307-4590-B33A-3BB11F577F69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E334B3-D573-4078-AB5B-0378028F972A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customXml" Target="../ink/ink2.xml"/><Relationship Id="rId3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customXml" Target="../ink/ink3.xml"/><Relationship Id="rId1" Type="http://schemas.openxmlformats.org/officeDocument/2006/relationships/image" Target="../media/image7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Revisiting Chapter 10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Q1: </a:t>
            </a:r>
            <a:r>
              <a:rPr lang="zh-CN" altLang="en-US" dirty="0" smtClean="0"/>
              <a:t>请说出面向对象分析中的</a:t>
            </a:r>
            <a:r>
              <a:rPr lang="en-US" altLang="zh-CN" dirty="0" smtClean="0"/>
              <a:t>3</a:t>
            </a:r>
            <a:r>
              <a:rPr lang="zh-CN" altLang="en-US" dirty="0" smtClean="0"/>
              <a:t>个子模型与</a:t>
            </a:r>
            <a:r>
              <a:rPr lang="en-US" altLang="zh-CN" dirty="0" smtClean="0"/>
              <a:t>5</a:t>
            </a:r>
            <a:r>
              <a:rPr lang="zh-CN" altLang="en-US" dirty="0" smtClean="0"/>
              <a:t>个 层次。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3BB72-265E-4A69-B8FA-C2FBAB9B591B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个子模型</a:t>
            </a:r>
            <a:endParaRPr lang="en-US" altLang="zh-CN" dirty="0"/>
          </a:p>
          <a:p>
            <a:pPr marL="914400" lvl="1" indent="-514350">
              <a:buFont typeface="+mj-ea"/>
              <a:buAutoNum type="circleNumDbPlain"/>
            </a:pPr>
            <a:r>
              <a:rPr lang="zh-CN" altLang="en-US" dirty="0"/>
              <a:t>对象模型（静态结构）</a:t>
            </a:r>
            <a:endParaRPr lang="en-US" altLang="zh-CN" dirty="0"/>
          </a:p>
          <a:p>
            <a:pPr marL="914400" lvl="1" indent="-514350">
              <a:buFont typeface="+mj-ea"/>
              <a:buAutoNum type="circleNumDbPlain"/>
            </a:pPr>
            <a:r>
              <a:rPr lang="zh-CN" altLang="en-US" dirty="0"/>
              <a:t>动态模型（对象之间</a:t>
            </a:r>
            <a:r>
              <a:rPr lang="zh-CN" altLang="en-US" dirty="0"/>
              <a:t>交互，状态图）</a:t>
            </a:r>
            <a:endParaRPr lang="en-US" altLang="zh-CN" dirty="0"/>
          </a:p>
          <a:p>
            <a:pPr marL="914400" lvl="1" indent="-514350">
              <a:buFont typeface="+mj-ea"/>
              <a:buAutoNum type="circleNumDbPlain"/>
            </a:pPr>
            <a:r>
              <a:rPr lang="zh-CN" altLang="en-US" dirty="0"/>
              <a:t>功能模型（数据变换</a:t>
            </a:r>
            <a:r>
              <a:rPr lang="zh-CN" altLang="en-US" dirty="0" smtClean="0"/>
              <a:t>，</a:t>
            </a:r>
            <a:r>
              <a:rPr lang="zh-CN" altLang="en-US" dirty="0" smtClean="0">
                <a:solidFill>
                  <a:srgbClr val="FF0000"/>
                </a:solidFill>
              </a:rPr>
              <a:t>数据流图、用</a:t>
            </a:r>
            <a:r>
              <a:rPr lang="zh-CN" altLang="en-US" dirty="0">
                <a:solidFill>
                  <a:srgbClr val="FF0000"/>
                </a:solidFill>
              </a:rPr>
              <a:t>例图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 smtClean="0"/>
              <a:t>5</a:t>
            </a:r>
            <a:r>
              <a:rPr lang="zh-CN" altLang="en-US" dirty="0" smtClean="0"/>
              <a:t>个层次</a:t>
            </a:r>
            <a:endParaRPr lang="en-US" altLang="zh-CN" dirty="0" smtClean="0"/>
          </a:p>
          <a:p>
            <a:pPr marL="914400" lvl="1" indent="-514350">
              <a:buFont typeface="+mj-ea"/>
              <a:buAutoNum type="circleNumDbPlain"/>
            </a:pPr>
            <a:r>
              <a:rPr lang="en-US" altLang="zh-CN" dirty="0"/>
              <a:t> </a:t>
            </a:r>
            <a:r>
              <a:rPr lang="zh-CN" altLang="en-US" dirty="0" smtClean="0"/>
              <a:t>主题层 （理解系统的不同角度或若干层次）</a:t>
            </a:r>
            <a:endParaRPr lang="en-US" altLang="zh-CN" dirty="0" smtClean="0"/>
          </a:p>
          <a:p>
            <a:pPr marL="914400" lvl="1" indent="-514350">
              <a:buFont typeface="+mj-ea"/>
              <a:buAutoNum type="circleNumDbPlain"/>
            </a:pPr>
            <a:r>
              <a:rPr lang="zh-CN" altLang="en-US" dirty="0" smtClean="0"/>
              <a:t>类与对象层 （确定类与对象）</a:t>
            </a:r>
            <a:endParaRPr lang="en-US" altLang="zh-CN" dirty="0" smtClean="0"/>
          </a:p>
          <a:p>
            <a:pPr marL="914400" lvl="1" indent="-514350">
              <a:buFont typeface="+mj-ea"/>
              <a:buAutoNum type="circleNumDbPlain"/>
            </a:pPr>
            <a:r>
              <a:rPr lang="zh-CN" altLang="en-US" dirty="0" smtClean="0"/>
              <a:t>结构层 （类与类之间的关系）</a:t>
            </a:r>
            <a:endParaRPr lang="en-US" altLang="zh-CN" dirty="0" smtClean="0"/>
          </a:p>
          <a:p>
            <a:pPr marL="914400" lvl="1" indent="-514350">
              <a:buFont typeface="+mj-ea"/>
              <a:buAutoNum type="circleNumDbPlain"/>
            </a:pPr>
            <a:r>
              <a:rPr lang="zh-CN" altLang="en-US" dirty="0" smtClean="0"/>
              <a:t>属性层 （数据）</a:t>
            </a:r>
            <a:endParaRPr lang="en-US" altLang="zh-CN" dirty="0" smtClean="0"/>
          </a:p>
          <a:p>
            <a:pPr marL="914400" lvl="1" indent="-514350">
              <a:buFont typeface="+mj-ea"/>
              <a:buAutoNum type="circleNumDbPlain"/>
            </a:pPr>
            <a:r>
              <a:rPr lang="zh-CN" altLang="en-US" dirty="0" smtClean="0"/>
              <a:t>服务层</a:t>
            </a:r>
            <a:r>
              <a:rPr lang="en-US" altLang="zh-CN" dirty="0" smtClean="0"/>
              <a:t> </a:t>
            </a:r>
            <a:r>
              <a:rPr lang="zh-CN" altLang="en-US" dirty="0" smtClean="0"/>
              <a:t>（对数据的操作）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3BB72-265E-4A69-B8FA-C2FBAB9B591B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628800"/>
            <a:ext cx="8856984" cy="4525963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Q2</a:t>
            </a:r>
            <a:r>
              <a:rPr lang="zh-CN" altLang="en-US" dirty="0" smtClean="0"/>
              <a:t>：在</a:t>
            </a:r>
            <a:r>
              <a:rPr lang="zh-CN" altLang="en-US" dirty="0" smtClean="0">
                <a:solidFill>
                  <a:srgbClr val="FF0000"/>
                </a:solidFill>
              </a:rPr>
              <a:t>事件跟踪图</a:t>
            </a:r>
            <a:r>
              <a:rPr lang="zh-CN" altLang="en-US" dirty="0" smtClean="0"/>
              <a:t>中，</a:t>
            </a:r>
            <a:r>
              <a:rPr lang="en-US" altLang="zh-CN" dirty="0" smtClean="0"/>
              <a:t>_______</a:t>
            </a:r>
            <a:r>
              <a:rPr lang="zh-CN" altLang="en-US" dirty="0" smtClean="0"/>
              <a:t>代表一个（类）</a:t>
            </a:r>
            <a:r>
              <a:rPr lang="zh-CN" altLang="en-US" dirty="0" smtClean="0">
                <a:solidFill>
                  <a:srgbClr val="FF0000"/>
                </a:solidFill>
              </a:rPr>
              <a:t>对象</a:t>
            </a:r>
            <a:r>
              <a:rPr lang="zh-CN" altLang="en-US" dirty="0" smtClean="0"/>
              <a:t>，每个</a:t>
            </a:r>
            <a:r>
              <a:rPr lang="en-US" altLang="zh-CN" dirty="0" smtClean="0"/>
              <a:t>______</a:t>
            </a:r>
            <a:r>
              <a:rPr lang="zh-CN" altLang="en-US" dirty="0" smtClean="0"/>
              <a:t>用一条</a:t>
            </a:r>
            <a:r>
              <a:rPr lang="zh-CN" altLang="en-US" dirty="0" smtClean="0">
                <a:solidFill>
                  <a:srgbClr val="FF0000"/>
                </a:solidFill>
              </a:rPr>
              <a:t>水平箭头</a:t>
            </a:r>
            <a:r>
              <a:rPr lang="zh-CN" altLang="en-US" dirty="0" smtClean="0"/>
              <a:t>表示。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3BB72-265E-4A69-B8FA-C2FBAB9B591B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3BB72-265E-4A69-B8FA-C2FBAB9B591B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3883" y="476672"/>
            <a:ext cx="5076825" cy="604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11</a:t>
            </a:r>
            <a:r>
              <a:rPr lang="zh-CN" altLang="en-US" dirty="0" smtClean="0"/>
              <a:t>章 面向对象设计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CN" altLang="en-US" dirty="0" smtClean="0"/>
              <a:t>吕国华</a:t>
            </a:r>
            <a:endParaRPr lang="en-US" altLang="zh-CN" dirty="0" smtClean="0"/>
          </a:p>
          <a:p>
            <a:r>
              <a:rPr lang="zh-CN" altLang="en-US" dirty="0"/>
              <a:t>齐鲁</a:t>
            </a:r>
            <a:r>
              <a:rPr lang="zh-CN" altLang="en-US" dirty="0" smtClean="0"/>
              <a:t>工业大学（山东省科学院）</a:t>
            </a:r>
            <a:endParaRPr lang="en-US" altLang="zh-CN" dirty="0" smtClean="0"/>
          </a:p>
          <a:p>
            <a:r>
              <a:rPr lang="zh-CN" altLang="en-US" dirty="0" smtClean="0"/>
              <a:t>计算机科学与技术学部</a:t>
            </a:r>
            <a:endParaRPr lang="en-US" altLang="zh-CN" dirty="0" smtClean="0"/>
          </a:p>
          <a:p>
            <a:r>
              <a:rPr lang="en-US" altLang="zh-CN" dirty="0" smtClean="0"/>
              <a:t>Email: guohualv@qlu.edu.cn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3BB72-265E-4A69-B8FA-C2FBAB9B591B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" y="0"/>
            <a:ext cx="914309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7" name="墨迹 6"/>
              <p14:cNvContentPartPr/>
              <p14:nvPr/>
            </p14:nvContentPartPr>
            <p14:xfrm>
              <a:off x="5168880" y="1962000"/>
              <a:ext cx="2991240" cy="1791360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3"/>
            </p:blipFill>
            <p:spPr>
              <a:xfrm>
                <a:off x="5168880" y="1962000"/>
                <a:ext cx="2991240" cy="1791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2" name="墨迹 1"/>
              <p14:cNvContentPartPr/>
              <p14:nvPr/>
            </p14:nvContentPartPr>
            <p14:xfrm>
              <a:off x="6039000" y="2432160"/>
              <a:ext cx="1308240" cy="75600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5"/>
            </p:blipFill>
            <p:spPr>
              <a:xfrm>
                <a:off x="6039000" y="2432160"/>
                <a:ext cx="1308240" cy="75600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2002234"/>
          </a:xfrm>
        </p:spPr>
        <p:txBody>
          <a:bodyPr>
            <a:normAutofit/>
          </a:bodyPr>
          <a:lstStyle/>
          <a:p>
            <a:r>
              <a:rPr lang="zh-CN" altLang="en-US" sz="3600" dirty="0" smtClean="0"/>
              <a:t>面向对象分析</a:t>
            </a:r>
            <a:r>
              <a:rPr lang="en-US" altLang="zh-CN" sz="3600" dirty="0" smtClean="0"/>
              <a:t>(OOA: Object-Oriented Analysis</a:t>
            </a:r>
            <a:r>
              <a:rPr lang="en-US" altLang="zh-CN" sz="3600" dirty="0"/>
              <a:t>)</a:t>
            </a:r>
            <a:r>
              <a:rPr lang="zh-CN" altLang="en-US" sz="3600" dirty="0" smtClean="0"/>
              <a:t>到面向对象设计</a:t>
            </a:r>
            <a:r>
              <a:rPr lang="en-US" altLang="zh-CN" sz="3600" dirty="0" smtClean="0"/>
              <a:t>(OOD: Object-Oriented Design)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276872"/>
            <a:ext cx="8363272" cy="3849291"/>
          </a:xfrm>
        </p:spPr>
        <p:txBody>
          <a:bodyPr>
            <a:normAutofit/>
          </a:bodyPr>
          <a:lstStyle/>
          <a:p>
            <a:r>
              <a:rPr lang="en-US" altLang="zh-CN" sz="2800" dirty="0" smtClean="0"/>
              <a:t>OOA: </a:t>
            </a:r>
            <a:r>
              <a:rPr lang="zh-CN" altLang="en-US" sz="2800" dirty="0" smtClean="0"/>
              <a:t>提取用户需求，建立</a:t>
            </a:r>
            <a:r>
              <a:rPr lang="zh-CN" altLang="en-US" sz="2800" dirty="0" smtClean="0">
                <a:solidFill>
                  <a:srgbClr val="FF0000"/>
                </a:solidFill>
              </a:rPr>
              <a:t>问题域</a:t>
            </a:r>
            <a:r>
              <a:rPr lang="zh-CN" altLang="en-US" sz="2800" dirty="0" smtClean="0"/>
              <a:t>模型；</a:t>
            </a:r>
            <a:endParaRPr lang="en-US" altLang="zh-CN" sz="2800" dirty="0" smtClean="0"/>
          </a:p>
          <a:p>
            <a:pPr marL="0" indent="0">
              <a:buNone/>
            </a:pPr>
            <a:r>
              <a:rPr lang="en-US" altLang="zh-CN" sz="2800" dirty="0"/>
              <a:t> </a:t>
            </a:r>
            <a:r>
              <a:rPr lang="en-US" altLang="zh-CN" sz="2800" dirty="0" smtClean="0"/>
              <a:t> </a:t>
            </a:r>
            <a:r>
              <a:rPr lang="zh-CN" altLang="en-US" sz="2800" dirty="0" smtClean="0"/>
              <a:t>（</a:t>
            </a:r>
            <a:r>
              <a:rPr lang="en-US" altLang="zh-CN" sz="2800" dirty="0" smtClean="0">
                <a:solidFill>
                  <a:srgbClr val="0000FF"/>
                </a:solidFill>
              </a:rPr>
              <a:t>What to do?</a:t>
            </a:r>
            <a:r>
              <a:rPr lang="zh-CN" altLang="en-US" sz="2800" dirty="0" smtClean="0"/>
              <a:t>）</a:t>
            </a:r>
            <a:endParaRPr lang="en-US" altLang="zh-CN" sz="2800" dirty="0" smtClean="0"/>
          </a:p>
          <a:p>
            <a:r>
              <a:rPr lang="en-US" altLang="zh-CN" sz="2800" dirty="0" smtClean="0"/>
              <a:t>OOD: </a:t>
            </a:r>
            <a:r>
              <a:rPr lang="zh-CN" altLang="en-US" sz="2800" dirty="0" smtClean="0"/>
              <a:t>将分析的成果用于设计过程中，建立</a:t>
            </a:r>
            <a:r>
              <a:rPr lang="zh-CN" altLang="en-US" sz="2800" dirty="0" smtClean="0">
                <a:solidFill>
                  <a:srgbClr val="FF0000"/>
                </a:solidFill>
              </a:rPr>
              <a:t>求解域</a:t>
            </a:r>
            <a:r>
              <a:rPr lang="zh-CN" altLang="en-US" sz="2800" dirty="0" smtClean="0"/>
              <a:t>模型</a:t>
            </a:r>
            <a:r>
              <a:rPr lang="zh-CN" altLang="en-US" sz="2800" dirty="0"/>
              <a:t>；</a:t>
            </a:r>
            <a:r>
              <a:rPr lang="zh-CN" altLang="en-US" sz="2800" dirty="0" smtClean="0"/>
              <a:t>（</a:t>
            </a:r>
            <a:r>
              <a:rPr lang="en-US" altLang="zh-CN" sz="2800" dirty="0" smtClean="0">
                <a:solidFill>
                  <a:srgbClr val="0000FF"/>
                </a:solidFill>
              </a:rPr>
              <a:t>How to do?</a:t>
            </a:r>
            <a:r>
              <a:rPr lang="zh-CN" altLang="en-US" sz="2800" dirty="0" smtClean="0"/>
              <a:t>）</a:t>
            </a:r>
            <a:endParaRPr lang="en-US" altLang="zh-CN" sz="2800" dirty="0" smtClean="0"/>
          </a:p>
          <a:p>
            <a:r>
              <a:rPr lang="en-US" altLang="zh-CN" sz="2800" dirty="0" smtClean="0"/>
              <a:t>OOA</a:t>
            </a:r>
            <a:r>
              <a:rPr lang="zh-CN" altLang="en-US" sz="2800" dirty="0" smtClean="0"/>
              <a:t>到</a:t>
            </a:r>
            <a:r>
              <a:rPr lang="en-US" altLang="zh-CN" sz="2800" dirty="0" smtClean="0"/>
              <a:t>OOD</a:t>
            </a:r>
            <a:r>
              <a:rPr lang="zh-CN" altLang="en-US" sz="2800" dirty="0" smtClean="0"/>
              <a:t>是一个</a:t>
            </a:r>
            <a:r>
              <a:rPr lang="zh-CN" altLang="en-US" sz="2800" dirty="0" smtClean="0">
                <a:solidFill>
                  <a:srgbClr val="0000FF"/>
                </a:solidFill>
              </a:rPr>
              <a:t>逐渐扩充模型</a:t>
            </a:r>
            <a:r>
              <a:rPr lang="zh-CN" altLang="en-US" sz="2800" dirty="0" smtClean="0"/>
              <a:t>的过程。</a:t>
            </a:r>
            <a:endParaRPr lang="zh-CN" altLang="en-US" sz="2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44E85-4457-40A2-8D95-E6F4FF7BDE5F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Outline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556792"/>
            <a:ext cx="4176464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800" dirty="0" smtClean="0"/>
              <a:t>11.1 </a:t>
            </a:r>
            <a:r>
              <a:rPr lang="zh-CN" altLang="en-US" sz="2800" dirty="0" smtClean="0"/>
              <a:t>面向对象设计的准则</a:t>
            </a:r>
            <a:endParaRPr lang="en-US" altLang="zh-CN" sz="2800" dirty="0" smtClean="0"/>
          </a:p>
          <a:p>
            <a:pPr marL="0" indent="0">
              <a:buNone/>
            </a:pPr>
            <a:r>
              <a:rPr lang="en-US" altLang="zh-CN" sz="2800" dirty="0" smtClean="0"/>
              <a:t>11.2 </a:t>
            </a:r>
            <a:r>
              <a:rPr lang="zh-CN" altLang="en-US" sz="2800" dirty="0" smtClean="0"/>
              <a:t>启发式规则</a:t>
            </a:r>
            <a:endParaRPr lang="en-US" altLang="zh-CN" sz="2800" dirty="0" smtClean="0"/>
          </a:p>
          <a:p>
            <a:pPr marL="0" indent="0">
              <a:buNone/>
            </a:pPr>
            <a:r>
              <a:rPr lang="en-US" altLang="zh-CN" sz="2800" dirty="0" smtClean="0"/>
              <a:t>11.3 </a:t>
            </a:r>
            <a:r>
              <a:rPr lang="zh-CN" altLang="en-US" sz="2800" dirty="0" smtClean="0"/>
              <a:t>软件重用</a:t>
            </a:r>
            <a:endParaRPr lang="en-US" altLang="zh-CN" sz="2800" dirty="0" smtClean="0"/>
          </a:p>
          <a:p>
            <a:pPr marL="0" indent="0">
              <a:buNone/>
            </a:pPr>
            <a:r>
              <a:rPr lang="en-US" altLang="zh-CN" sz="2800" dirty="0" smtClean="0"/>
              <a:t>11.4 </a:t>
            </a:r>
            <a:r>
              <a:rPr lang="zh-CN" altLang="en-US" sz="2800" dirty="0" smtClean="0"/>
              <a:t>系统分解</a:t>
            </a:r>
            <a:endParaRPr lang="en-US" altLang="zh-CN" sz="2800" dirty="0" smtClean="0"/>
          </a:p>
          <a:p>
            <a:pPr marL="0" indent="0">
              <a:buNone/>
            </a:pPr>
            <a:r>
              <a:rPr lang="en-US" altLang="zh-CN" sz="2800" dirty="0" smtClean="0"/>
              <a:t>11.5 </a:t>
            </a:r>
            <a:r>
              <a:rPr lang="zh-CN" altLang="en-US" sz="2800" dirty="0" smtClean="0"/>
              <a:t>设计问题域子系统</a:t>
            </a:r>
            <a:endParaRPr lang="en-US" altLang="zh-CN" sz="2800" dirty="0" smtClean="0"/>
          </a:p>
          <a:p>
            <a:pPr marL="0" indent="0">
              <a:buNone/>
            </a:pPr>
            <a:r>
              <a:rPr lang="en-US" altLang="zh-CN" sz="2800" dirty="0" smtClean="0"/>
              <a:t>11.6 </a:t>
            </a:r>
            <a:r>
              <a:rPr lang="zh-CN" altLang="en-US" sz="2800" dirty="0" smtClean="0"/>
              <a:t>设计人机交互子系统</a:t>
            </a:r>
            <a:endParaRPr lang="zh-CN" altLang="en-US" sz="2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3BB72-265E-4A69-B8FA-C2FBAB9B591B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6" name="内容占位符 2"/>
          <p:cNvSpPr txBox="1"/>
          <p:nvPr/>
        </p:nvSpPr>
        <p:spPr>
          <a:xfrm>
            <a:off x="4716016" y="1484785"/>
            <a:ext cx="4320480" cy="47503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 dirty="0" smtClean="0"/>
              <a:t>11.7   </a:t>
            </a:r>
            <a:r>
              <a:rPr lang="zh-CN" altLang="en-US" sz="2800" dirty="0" smtClean="0"/>
              <a:t>设计任务管理子系统</a:t>
            </a:r>
            <a:r>
              <a:rPr lang="en-US" altLang="zh-CN" sz="2800" dirty="0" smtClean="0"/>
              <a:t>11.8   </a:t>
            </a:r>
            <a:r>
              <a:rPr lang="zh-CN" altLang="en-US" sz="2800" dirty="0" smtClean="0"/>
              <a:t>设计数据管理子系统</a:t>
            </a:r>
            <a:endParaRPr lang="en-US" altLang="zh-CN" sz="2800" dirty="0" smtClean="0"/>
          </a:p>
          <a:p>
            <a:pPr marL="0" indent="0">
              <a:buNone/>
            </a:pPr>
            <a:r>
              <a:rPr lang="en-US" altLang="zh-CN" sz="2800" dirty="0" smtClean="0"/>
              <a:t>11.9   </a:t>
            </a:r>
            <a:r>
              <a:rPr lang="zh-CN" altLang="en-US" sz="2800" dirty="0" smtClean="0"/>
              <a:t>设计类中的服务</a:t>
            </a:r>
            <a:endParaRPr lang="en-US" altLang="zh-CN" sz="2800" dirty="0" smtClean="0"/>
          </a:p>
          <a:p>
            <a:pPr marL="0" indent="0">
              <a:buNone/>
            </a:pPr>
            <a:r>
              <a:rPr lang="en-US" altLang="zh-CN" sz="2800" dirty="0" smtClean="0">
                <a:solidFill>
                  <a:srgbClr val="FF0000"/>
                </a:solidFill>
              </a:rPr>
              <a:t>11.10 </a:t>
            </a:r>
            <a:r>
              <a:rPr lang="zh-CN" altLang="en-US" sz="2800" dirty="0" smtClean="0">
                <a:solidFill>
                  <a:srgbClr val="FF0000"/>
                </a:solidFill>
              </a:rPr>
              <a:t>设计关联</a:t>
            </a:r>
            <a:r>
              <a:rPr lang="zh-CN" altLang="en-US" sz="2800" dirty="0">
                <a:solidFill>
                  <a:srgbClr val="FF0000"/>
                </a:solidFill>
              </a:rPr>
              <a:t>（自学</a:t>
            </a:r>
            <a:r>
              <a:rPr lang="zh-CN" altLang="en-US" sz="2800" dirty="0" smtClean="0">
                <a:solidFill>
                  <a:srgbClr val="FF0000"/>
                </a:solidFill>
              </a:rPr>
              <a:t>）</a:t>
            </a:r>
            <a:endParaRPr lang="en-US" altLang="zh-CN" sz="2800" dirty="0" smtClean="0"/>
          </a:p>
          <a:p>
            <a:pPr marL="0" indent="0">
              <a:buNone/>
            </a:pPr>
            <a:r>
              <a:rPr lang="en-US" altLang="zh-CN" sz="2800" dirty="0" smtClean="0">
                <a:solidFill>
                  <a:srgbClr val="FF0000"/>
                </a:solidFill>
              </a:rPr>
              <a:t>11.11 </a:t>
            </a:r>
            <a:r>
              <a:rPr lang="zh-CN" altLang="en-US" sz="2800" dirty="0" smtClean="0">
                <a:solidFill>
                  <a:srgbClr val="FF0000"/>
                </a:solidFill>
              </a:rPr>
              <a:t>设计优化（自学）</a:t>
            </a:r>
            <a:endParaRPr lang="en-US" altLang="zh-CN" sz="2800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11.1 </a:t>
            </a:r>
            <a:r>
              <a:rPr lang="zh-CN" altLang="en-US" dirty="0" smtClean="0"/>
              <a:t>面向对象设计的准则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模块化</a:t>
            </a:r>
            <a:endParaRPr lang="en-US" altLang="zh-CN" dirty="0" smtClean="0"/>
          </a:p>
          <a:p>
            <a:r>
              <a:rPr lang="zh-CN" altLang="en-US" dirty="0" smtClean="0"/>
              <a:t>抽象</a:t>
            </a:r>
            <a:endParaRPr lang="en-US" altLang="zh-CN" dirty="0" smtClean="0"/>
          </a:p>
          <a:p>
            <a:r>
              <a:rPr lang="zh-CN" altLang="en-US" dirty="0" smtClean="0"/>
              <a:t>信息隐蔽</a:t>
            </a:r>
            <a:endParaRPr lang="en-US" altLang="zh-CN" dirty="0" smtClean="0"/>
          </a:p>
          <a:p>
            <a:r>
              <a:rPr lang="zh-CN" altLang="en-US" dirty="0"/>
              <a:t>弱</a:t>
            </a:r>
            <a:r>
              <a:rPr lang="zh-CN" altLang="en-US" dirty="0" smtClean="0"/>
              <a:t>耦合</a:t>
            </a:r>
            <a:endParaRPr lang="en-US" altLang="zh-CN" dirty="0" smtClean="0"/>
          </a:p>
          <a:p>
            <a:r>
              <a:rPr lang="zh-CN" altLang="en-US" dirty="0"/>
              <a:t>强内</a:t>
            </a:r>
            <a:r>
              <a:rPr lang="zh-CN" altLang="en-US" dirty="0" smtClean="0"/>
              <a:t>聚</a:t>
            </a:r>
            <a:endParaRPr lang="en-US" altLang="zh-CN" dirty="0" smtClean="0"/>
          </a:p>
          <a:p>
            <a:r>
              <a:rPr lang="zh-CN" altLang="en-US" dirty="0"/>
              <a:t>可重用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3BB72-265E-4A69-B8FA-C2FBAB9B591B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模块化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0000FF"/>
                </a:solidFill>
                <a:highlight>
                  <a:srgbClr val="FFFF00"/>
                </a:highlight>
              </a:rPr>
              <a:t>对象就是模块</a:t>
            </a:r>
            <a:r>
              <a:rPr lang="zh-CN" altLang="en-US" dirty="0" smtClean="0">
                <a:highlight>
                  <a:srgbClr val="FFFF00"/>
                </a:highlight>
              </a:rPr>
              <a:t>；</a:t>
            </a:r>
            <a:endParaRPr lang="en-US" altLang="zh-CN" dirty="0" smtClean="0">
              <a:highlight>
                <a:srgbClr val="FFFF00"/>
              </a:highlight>
            </a:endParaRPr>
          </a:p>
          <a:p>
            <a:r>
              <a:rPr lang="zh-CN" altLang="en-US" dirty="0" smtClean="0">
                <a:solidFill>
                  <a:srgbClr val="FF0000"/>
                </a:solidFill>
              </a:rPr>
              <a:t>对象是</a:t>
            </a:r>
            <a:r>
              <a:rPr lang="zh-CN" altLang="en-US" dirty="0" smtClean="0"/>
              <a:t>把</a:t>
            </a:r>
            <a:r>
              <a:rPr lang="zh-CN" altLang="en-US" dirty="0" smtClean="0">
                <a:solidFill>
                  <a:srgbClr val="0000FF"/>
                </a:solidFill>
              </a:rPr>
              <a:t>数据结构</a:t>
            </a:r>
            <a:r>
              <a:rPr lang="zh-CN" altLang="en-US" dirty="0" smtClean="0"/>
              <a:t>和</a:t>
            </a:r>
            <a:r>
              <a:rPr lang="zh-CN" altLang="en-US" dirty="0" smtClean="0">
                <a:solidFill>
                  <a:srgbClr val="0000FF"/>
                </a:solidFill>
              </a:rPr>
              <a:t>操作这些数据的方法</a:t>
            </a:r>
            <a:r>
              <a:rPr lang="zh-CN" altLang="en-US" dirty="0" smtClean="0"/>
              <a:t>紧密结合在一起所构成的</a:t>
            </a:r>
            <a:r>
              <a:rPr lang="zh-CN" altLang="en-US" dirty="0" smtClean="0">
                <a:solidFill>
                  <a:srgbClr val="FF0000"/>
                </a:solidFill>
              </a:rPr>
              <a:t>模块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3BB72-265E-4A69-B8FA-C2FBAB9B591B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505475"/>
          </a:xfrm>
        </p:spPr>
        <p:txBody>
          <a:bodyPr/>
          <a:lstStyle/>
          <a:p>
            <a:pPr marL="0" indent="0">
              <a:buNone/>
            </a:pPr>
            <a:r>
              <a:rPr lang="zh-CN" altLang="en-US" b="1" dirty="0" smtClean="0"/>
              <a:t>抽象</a:t>
            </a:r>
            <a:endParaRPr lang="en-US" altLang="zh-CN" b="1" dirty="0" smtClean="0"/>
          </a:p>
          <a:p>
            <a:r>
              <a:rPr lang="zh-CN" altLang="en-US" sz="2800" dirty="0" smtClean="0">
                <a:solidFill>
                  <a:srgbClr val="0000FF"/>
                </a:solidFill>
              </a:rPr>
              <a:t>数据</a:t>
            </a:r>
            <a:r>
              <a:rPr lang="zh-CN" altLang="en-US" sz="2800" dirty="0" smtClean="0"/>
              <a:t>抽象：针对对象的</a:t>
            </a:r>
            <a:r>
              <a:rPr lang="zh-CN" altLang="en-US" sz="2800" dirty="0" smtClean="0">
                <a:solidFill>
                  <a:srgbClr val="0000FF"/>
                </a:solidFill>
              </a:rPr>
              <a:t>属性</a:t>
            </a:r>
            <a:r>
              <a:rPr lang="zh-CN" altLang="en-US" sz="2800" dirty="0" smtClean="0"/>
              <a:t>；</a:t>
            </a:r>
            <a:endParaRPr lang="en-US" altLang="zh-CN" sz="2800" dirty="0" smtClean="0"/>
          </a:p>
          <a:p>
            <a:r>
              <a:rPr lang="zh-CN" altLang="en-US" sz="2800" dirty="0" smtClean="0">
                <a:solidFill>
                  <a:srgbClr val="0000FF"/>
                </a:solidFill>
              </a:rPr>
              <a:t>过程</a:t>
            </a:r>
            <a:r>
              <a:rPr lang="zh-CN" altLang="en-US" sz="2800" dirty="0" smtClean="0"/>
              <a:t>抽象：针对对象的</a:t>
            </a:r>
            <a:r>
              <a:rPr lang="zh-CN" altLang="en-US" sz="2800" dirty="0" smtClean="0">
                <a:solidFill>
                  <a:srgbClr val="0000FF"/>
                </a:solidFill>
              </a:rPr>
              <a:t>行为</a:t>
            </a:r>
            <a:r>
              <a:rPr lang="zh-CN" altLang="en-US" sz="2800" dirty="0" smtClean="0"/>
              <a:t>；</a:t>
            </a:r>
            <a:endParaRPr lang="en-US" altLang="zh-CN" sz="2800" dirty="0" smtClean="0"/>
          </a:p>
          <a:p>
            <a:r>
              <a:rPr lang="zh-CN" altLang="en-US" sz="2800" dirty="0">
                <a:solidFill>
                  <a:srgbClr val="0000FF"/>
                </a:solidFill>
              </a:rPr>
              <a:t>参数</a:t>
            </a:r>
            <a:r>
              <a:rPr lang="zh-CN" altLang="en-US" sz="2800" dirty="0" smtClean="0">
                <a:solidFill>
                  <a:srgbClr val="0000FF"/>
                </a:solidFill>
              </a:rPr>
              <a:t>化抽象</a:t>
            </a:r>
            <a:r>
              <a:rPr lang="zh-CN" altLang="en-US" sz="2800" dirty="0" smtClean="0"/>
              <a:t>：不具体指定所要操作的数据类型，而把</a:t>
            </a:r>
            <a:r>
              <a:rPr lang="zh-CN" altLang="en-US" sz="2800" dirty="0" smtClean="0">
                <a:solidFill>
                  <a:srgbClr val="0000FF"/>
                </a:solidFill>
              </a:rPr>
              <a:t>数据类型作为参数 </a:t>
            </a:r>
            <a:r>
              <a:rPr lang="zh-CN" altLang="en-US" sz="2800" dirty="0" smtClean="0"/>
              <a:t>（比如用</a:t>
            </a:r>
            <a:r>
              <a:rPr lang="en-US" altLang="zh-CN" sz="2800" dirty="0" err="1" smtClean="0"/>
              <a:t>DataType</a:t>
            </a:r>
            <a:r>
              <a:rPr lang="zh-CN" altLang="en-US" sz="2800" dirty="0" smtClean="0"/>
              <a:t>）。</a:t>
            </a:r>
            <a:endParaRPr lang="en-US" altLang="zh-CN" sz="2800" dirty="0" smtClean="0"/>
          </a:p>
          <a:p>
            <a:endParaRPr lang="en-US" altLang="zh-CN" dirty="0" smtClean="0"/>
          </a:p>
          <a:p>
            <a:pPr marL="0" indent="0">
              <a:buNone/>
            </a:pPr>
            <a:r>
              <a:rPr lang="zh-CN" altLang="en-US" b="1" dirty="0" smtClean="0"/>
              <a:t>信息隐蔽</a:t>
            </a:r>
            <a:r>
              <a:rPr lang="zh-CN" altLang="en-US" dirty="0" smtClean="0"/>
              <a:t> （前面已学习！）</a:t>
            </a:r>
            <a:endParaRPr lang="en-US" altLang="zh-CN" dirty="0" smtClean="0"/>
          </a:p>
          <a:p>
            <a:r>
              <a:rPr lang="zh-CN" altLang="en-US" dirty="0" smtClean="0"/>
              <a:t>封装：属性 </a:t>
            </a:r>
            <a:r>
              <a:rPr lang="en-US" altLang="zh-CN" dirty="0" smtClean="0"/>
              <a:t>+ </a:t>
            </a:r>
            <a:r>
              <a:rPr lang="zh-CN" altLang="en-US" dirty="0" smtClean="0"/>
              <a:t>行为；</a:t>
            </a:r>
            <a:endParaRPr lang="en-US" altLang="zh-CN" dirty="0" smtClean="0"/>
          </a:p>
          <a:p>
            <a:r>
              <a:rPr lang="zh-CN" altLang="en-US" dirty="0" smtClean="0"/>
              <a:t>隐藏一些细节，留出对外接口。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3BB72-265E-4A69-B8FA-C2FBAB9B591B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弱耦合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 smtClean="0"/>
              <a:t>面向对象方法中，耦合是指</a:t>
            </a:r>
            <a:r>
              <a:rPr lang="zh-CN" altLang="en-US" sz="2800" dirty="0" smtClean="0">
                <a:solidFill>
                  <a:srgbClr val="0000FF"/>
                </a:solidFill>
              </a:rPr>
              <a:t>不同对象之间</a:t>
            </a:r>
            <a:r>
              <a:rPr lang="zh-CN" altLang="en-US" sz="2800" dirty="0" smtClean="0"/>
              <a:t>相互关联的紧密程度。</a:t>
            </a:r>
            <a:endParaRPr lang="en-US" altLang="zh-CN" sz="2800" dirty="0" smtClean="0"/>
          </a:p>
          <a:p>
            <a:pPr marL="0" indent="0">
              <a:buNone/>
            </a:pPr>
            <a:endParaRPr lang="en-US" altLang="zh-CN" sz="2800" dirty="0" smtClean="0"/>
          </a:p>
          <a:p>
            <a:r>
              <a:rPr lang="zh-CN" altLang="en-US" sz="2800" dirty="0" smtClean="0"/>
              <a:t>两种耦合：</a:t>
            </a:r>
            <a:endParaRPr lang="en-US" altLang="zh-CN" sz="2800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400" dirty="0" smtClean="0">
                <a:solidFill>
                  <a:srgbClr val="0000FF"/>
                </a:solidFill>
              </a:rPr>
              <a:t>交互耦合</a:t>
            </a:r>
            <a:r>
              <a:rPr lang="zh-CN" altLang="en-US" sz="2400" dirty="0" smtClean="0"/>
              <a:t>：通过消息连接实现；</a:t>
            </a:r>
            <a:r>
              <a:rPr lang="zh-CN" altLang="en-US" sz="2400" dirty="0" smtClean="0">
                <a:solidFill>
                  <a:srgbClr val="0000FF"/>
                </a:solidFill>
              </a:rPr>
              <a:t>越弱越好</a:t>
            </a:r>
            <a:r>
              <a:rPr lang="zh-CN" altLang="en-US" sz="2400" dirty="0" smtClean="0"/>
              <a:t>（或者说，应减少对象之间</a:t>
            </a:r>
            <a:r>
              <a:rPr lang="zh-CN" altLang="en-US" sz="2400" dirty="0" smtClean="0"/>
              <a:t>发送、接收消息的情况）。</a:t>
            </a:r>
            <a:endParaRPr lang="en-US" altLang="zh-CN" sz="2400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400" dirty="0" smtClean="0">
                <a:solidFill>
                  <a:srgbClr val="0000FF"/>
                </a:solidFill>
              </a:rPr>
              <a:t>继承耦合</a:t>
            </a:r>
            <a:r>
              <a:rPr lang="zh-CN" altLang="en-US" sz="2400" dirty="0" smtClean="0"/>
              <a:t>：通过父类</a:t>
            </a:r>
            <a:r>
              <a:rPr lang="en-US" altLang="zh-CN" sz="2400" dirty="0" smtClean="0"/>
              <a:t>-</a:t>
            </a:r>
            <a:r>
              <a:rPr lang="zh-CN" altLang="en-US" sz="2400" dirty="0"/>
              <a:t>子</a:t>
            </a:r>
            <a:r>
              <a:rPr lang="zh-CN" altLang="en-US" sz="2400" dirty="0" smtClean="0"/>
              <a:t>类的关系，构成粒度更大的模块；</a:t>
            </a:r>
            <a:r>
              <a:rPr lang="zh-CN" altLang="en-US" sz="2400" dirty="0" smtClean="0">
                <a:solidFill>
                  <a:srgbClr val="0000FF"/>
                </a:solidFill>
              </a:rPr>
              <a:t>越紧密越好</a:t>
            </a:r>
            <a:r>
              <a:rPr lang="zh-CN" altLang="en-US" sz="2400" dirty="0" smtClean="0"/>
              <a:t>。</a:t>
            </a:r>
            <a:endParaRPr lang="en-US" altLang="zh-CN" sz="2400" dirty="0"/>
          </a:p>
          <a:p>
            <a:pPr marL="457200" lvl="1" indent="0">
              <a:buNone/>
            </a:pPr>
            <a:endParaRPr lang="zh-CN" altLang="en-US" sz="24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3BB72-265E-4A69-B8FA-C2FBAB9B591B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强内聚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4708525"/>
          </a:xfrm>
        </p:spPr>
        <p:txBody>
          <a:bodyPr>
            <a:normAutofit lnSpcReduction="20000"/>
          </a:bodyPr>
          <a:lstStyle/>
          <a:p>
            <a:r>
              <a:rPr lang="zh-CN" altLang="en-US" dirty="0" smtClean="0">
                <a:solidFill>
                  <a:srgbClr val="0000FF"/>
                </a:solidFill>
              </a:rPr>
              <a:t>服务内聚</a:t>
            </a:r>
            <a:r>
              <a:rPr lang="zh-CN" altLang="en-US" dirty="0" smtClean="0"/>
              <a:t>：一个服务只完成一个功能；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>
                <a:solidFill>
                  <a:srgbClr val="0000FF"/>
                </a:solidFill>
              </a:rPr>
              <a:t>类内</a:t>
            </a:r>
            <a:r>
              <a:rPr lang="zh-CN" altLang="en-US" dirty="0" smtClean="0">
                <a:solidFill>
                  <a:srgbClr val="0000FF"/>
                </a:solidFill>
              </a:rPr>
              <a:t>聚</a:t>
            </a:r>
            <a:r>
              <a:rPr lang="zh-CN" altLang="en-US" dirty="0" smtClean="0"/>
              <a:t>：一个类只有一个用途；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>
                <a:solidFill>
                  <a:srgbClr val="0000FF"/>
                </a:solidFill>
              </a:rPr>
              <a:t>一般</a:t>
            </a:r>
            <a:r>
              <a:rPr lang="en-US" altLang="zh-CN" dirty="0" smtClean="0">
                <a:solidFill>
                  <a:srgbClr val="0000FF"/>
                </a:solidFill>
              </a:rPr>
              <a:t>-</a:t>
            </a:r>
            <a:r>
              <a:rPr lang="zh-CN" altLang="en-US" dirty="0" smtClean="0">
                <a:solidFill>
                  <a:srgbClr val="0000FF"/>
                </a:solidFill>
              </a:rPr>
              <a:t>特殊内聚</a:t>
            </a:r>
            <a:r>
              <a:rPr lang="zh-CN" altLang="en-US" dirty="0" smtClean="0"/>
              <a:t>：指的是一般类（父类）与特殊类（子类）之间的联系</a:t>
            </a:r>
            <a:r>
              <a:rPr lang="zh-CN" altLang="en-US" dirty="0" smtClean="0"/>
              <a:t>。</a:t>
            </a:r>
            <a:endParaRPr lang="zh-CN" altLang="en-US" dirty="0" smtClean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    </a:t>
            </a:r>
            <a:r>
              <a:rPr lang="zh-CN" altLang="en-US" dirty="0" smtClean="0">
                <a:solidFill>
                  <a:srgbClr val="FF0000"/>
                </a:solidFill>
                <a:highlight>
                  <a:srgbClr val="FFFF00"/>
                </a:highlight>
              </a:rPr>
              <a:t>紧密的继承耦合</a:t>
            </a:r>
            <a:r>
              <a:rPr lang="zh-CN" altLang="en-US" dirty="0" smtClean="0">
                <a:solidFill>
                  <a:srgbClr val="FF0000"/>
                </a:solidFill>
              </a:rPr>
              <a:t>与</a:t>
            </a:r>
            <a:r>
              <a:rPr lang="zh-CN" altLang="en-US" dirty="0" smtClean="0">
                <a:solidFill>
                  <a:srgbClr val="FF0000"/>
                </a:solidFill>
                <a:highlight>
                  <a:srgbClr val="FFFF00"/>
                </a:highlight>
              </a:rPr>
              <a:t>高度的一般</a:t>
            </a:r>
            <a:r>
              <a:rPr lang="en-US" altLang="zh-CN" dirty="0" smtClean="0">
                <a:solidFill>
                  <a:srgbClr val="FF0000"/>
                </a:solidFill>
                <a:highlight>
                  <a:srgbClr val="FFFF00"/>
                </a:highlight>
              </a:rPr>
              <a:t>-</a:t>
            </a:r>
            <a:r>
              <a:rPr lang="zh-CN" altLang="en-US" dirty="0" smtClean="0">
                <a:solidFill>
                  <a:srgbClr val="FF0000"/>
                </a:solidFill>
                <a:highlight>
                  <a:srgbClr val="FFFF00"/>
                </a:highlight>
              </a:rPr>
              <a:t>特殊内聚</a:t>
            </a:r>
            <a:r>
              <a:rPr lang="zh-CN" altLang="en-US" dirty="0" smtClean="0">
                <a:solidFill>
                  <a:srgbClr val="FF0000"/>
                </a:solidFill>
              </a:rPr>
              <a:t>是一致的。（一个意思，两种表达！）</a:t>
            </a:r>
            <a:endParaRPr lang="en-US" altLang="zh-CN" i="1" dirty="0" smtClean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3BB72-265E-4A69-B8FA-C2FBAB9B591B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可重用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尽量使用已有的类；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设计新类时，考虑将来的重用问题。</a:t>
            </a:r>
            <a:endParaRPr lang="en-US" altLang="zh-CN" dirty="0" smtClean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3BB72-265E-4A69-B8FA-C2FBAB9B591B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11.2 </a:t>
            </a:r>
            <a:r>
              <a:rPr lang="zh-CN" altLang="en-US" dirty="0" smtClean="0"/>
              <a:t>启发式规则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smtClean="0">
                <a:solidFill>
                  <a:srgbClr val="FF0000"/>
                </a:solidFill>
              </a:rPr>
              <a:t>Q</a:t>
            </a:r>
            <a:r>
              <a:rPr lang="zh-CN" altLang="en-US" dirty="0" smtClean="0">
                <a:solidFill>
                  <a:srgbClr val="FF0000"/>
                </a:solidFill>
              </a:rPr>
              <a:t>：总体设计阶段的启发式规则有哪些？</a:t>
            </a:r>
            <a:r>
              <a:rPr lang="en-US" altLang="zh-CN" dirty="0" smtClean="0"/>
              <a:t>  </a:t>
            </a:r>
            <a:endParaRPr lang="en-US" altLang="zh-CN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3BB72-265E-4A69-B8FA-C2FBAB9B591B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663BB72-265E-4A69-B8FA-C2FBAB9B591B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605" y="814705"/>
            <a:ext cx="8114030" cy="522795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sz="4445" dirty="0" smtClean="0">
                <a:solidFill>
                  <a:srgbClr val="FF0000"/>
                </a:solidFill>
              </a:rPr>
              <a:t>面向对象设计的启发式规则</a:t>
            </a:r>
            <a:br>
              <a:rPr lang="zh-CN" altLang="en-US" sz="4445" dirty="0" smtClean="0">
                <a:solidFill>
                  <a:srgbClr val="FF0000"/>
                </a:solidFill>
              </a:rPr>
            </a:br>
            <a:r>
              <a:rPr lang="zh-CN" altLang="en-US" sz="3110" dirty="0" smtClean="0">
                <a:solidFill>
                  <a:srgbClr val="FF0000"/>
                </a:solidFill>
              </a:rPr>
              <a:t>（</a:t>
            </a:r>
            <a:r>
              <a:rPr lang="zh-CN" altLang="en-US" sz="3110" dirty="0" smtClean="0">
                <a:solidFill>
                  <a:srgbClr val="FF0000"/>
                </a:solidFill>
                <a:highlight>
                  <a:srgbClr val="FFFF00"/>
                </a:highlight>
              </a:rPr>
              <a:t>留意传统开发、面向对象开发的启发式规则的共同点及区别</a:t>
            </a:r>
            <a:r>
              <a:rPr lang="zh-CN" altLang="en-US" sz="3110" dirty="0" smtClean="0">
                <a:solidFill>
                  <a:srgbClr val="FF0000"/>
                </a:solidFill>
              </a:rPr>
              <a:t>）</a:t>
            </a:r>
            <a:endParaRPr lang="zh-CN" altLang="en-US" sz="3110" dirty="0" smtClean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1</a:t>
            </a:r>
            <a:r>
              <a:rPr lang="zh-CN" altLang="en-US" dirty="0" smtClean="0"/>
              <a:t>）设计结果应该清晰易懂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dirty="0"/>
              <a:t> </a:t>
            </a:r>
            <a:r>
              <a:rPr lang="zh-CN" altLang="en-US" dirty="0" smtClean="0"/>
              <a:t>用词一致：名字与代表的事物一致；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dirty="0" smtClean="0"/>
              <a:t> </a:t>
            </a:r>
            <a:r>
              <a:rPr lang="zh-CN" altLang="en-US" dirty="0" smtClean="0"/>
              <a:t>使用已有的</a:t>
            </a:r>
            <a:r>
              <a:rPr lang="zh-CN" altLang="en-US" dirty="0" smtClean="0">
                <a:solidFill>
                  <a:srgbClr val="0000FF"/>
                </a:solidFill>
              </a:rPr>
              <a:t>类（协议）</a:t>
            </a:r>
            <a:r>
              <a:rPr lang="zh-CN" altLang="en-US" dirty="0" smtClean="0"/>
              <a:t>（重用的思想</a:t>
            </a:r>
            <a:r>
              <a:rPr lang="zh-CN" altLang="en-US" dirty="0" smtClean="0"/>
              <a:t>）；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dirty="0" smtClean="0"/>
              <a:t> </a:t>
            </a:r>
            <a:r>
              <a:rPr lang="zh-CN" altLang="en-US" dirty="0" smtClean="0">
                <a:solidFill>
                  <a:srgbClr val="FF0000"/>
                </a:solidFill>
              </a:rPr>
              <a:t>减少</a:t>
            </a:r>
            <a:r>
              <a:rPr lang="zh-CN" altLang="en-US" dirty="0" smtClean="0"/>
              <a:t>消息模式的</a:t>
            </a:r>
            <a:r>
              <a:rPr lang="zh-CN" altLang="en-US" dirty="0"/>
              <a:t>数目（使交互耦合尽量</a:t>
            </a:r>
            <a:r>
              <a:rPr lang="zh-CN" altLang="en-US" dirty="0">
                <a:solidFill>
                  <a:srgbClr val="FF0000"/>
                </a:solidFill>
              </a:rPr>
              <a:t>松散</a:t>
            </a:r>
            <a:r>
              <a:rPr lang="zh-CN" altLang="en-US" dirty="0"/>
              <a:t>） ；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dirty="0"/>
              <a:t> </a:t>
            </a:r>
            <a:r>
              <a:rPr lang="zh-CN" altLang="en-US" dirty="0" smtClean="0"/>
              <a:t>避免模糊的定义：类的名称与用途一致。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2</a:t>
            </a:r>
            <a:r>
              <a:rPr lang="zh-CN" altLang="en-US" dirty="0" smtClean="0"/>
              <a:t>）一般</a:t>
            </a:r>
            <a:r>
              <a:rPr lang="en-US" altLang="zh-CN" dirty="0"/>
              <a:t>-</a:t>
            </a:r>
            <a:r>
              <a:rPr lang="zh-CN" altLang="en-US" dirty="0"/>
              <a:t>特殊结构的深度应该</a:t>
            </a:r>
            <a:r>
              <a:rPr lang="zh-CN" altLang="en-US" dirty="0" smtClean="0"/>
              <a:t>适中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dirty="0"/>
              <a:t> </a:t>
            </a:r>
            <a:r>
              <a:rPr lang="zh-CN" altLang="en-US" dirty="0" smtClean="0"/>
              <a:t>使</a:t>
            </a:r>
            <a:r>
              <a:rPr lang="zh-CN" altLang="en-US" dirty="0" smtClean="0">
                <a:solidFill>
                  <a:srgbClr val="0000FF"/>
                </a:solidFill>
              </a:rPr>
              <a:t>派生类的层数</a:t>
            </a:r>
            <a:r>
              <a:rPr lang="zh-CN" altLang="en-US" dirty="0" smtClean="0"/>
              <a:t>适当。</a:t>
            </a:r>
            <a:r>
              <a:rPr lang="en-US" altLang="zh-CN" dirty="0" smtClean="0"/>
              <a:t>    </a:t>
            </a:r>
            <a:endParaRPr lang="en-US" altLang="zh-CN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3BB72-265E-4A69-B8FA-C2FBAB9B591B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3</a:t>
            </a:r>
            <a:r>
              <a:rPr lang="zh-CN" altLang="en-US" dirty="0"/>
              <a:t>）设计简单的类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 smtClean="0"/>
              <a:t>避免包含过多的属性；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 smtClean="0"/>
              <a:t>有明确的类定义（需完成什么任务</a:t>
            </a:r>
            <a:r>
              <a:rPr lang="en-US" altLang="zh-CN" dirty="0" smtClean="0"/>
              <a:t>/</a:t>
            </a:r>
            <a:r>
              <a:rPr lang="zh-CN" altLang="en-US" dirty="0" smtClean="0"/>
              <a:t>功能</a:t>
            </a:r>
            <a:r>
              <a:rPr lang="zh-CN" altLang="en-US" dirty="0" smtClean="0"/>
              <a:t>）；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 smtClean="0"/>
              <a:t>简化对象之间的合作关系（每个对象应能独立完成类中定义的方法</a:t>
            </a:r>
            <a:r>
              <a:rPr lang="en-US" altLang="zh-CN" dirty="0" smtClean="0">
                <a:highlight>
                  <a:srgbClr val="FFFF00"/>
                </a:highlight>
              </a:rPr>
              <a:t>-&gt;</a:t>
            </a:r>
            <a:r>
              <a:rPr lang="zh-CN" altLang="en-US" dirty="0">
                <a:highlight>
                  <a:srgbClr val="FFFF00"/>
                </a:highlight>
                <a:sym typeface="+mn-ea"/>
              </a:rPr>
              <a:t>使交互耦合尽量松散</a:t>
            </a:r>
            <a:r>
              <a:rPr lang="zh-CN" altLang="en-US" dirty="0" smtClean="0"/>
              <a:t>）；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 smtClean="0"/>
              <a:t>一个类不要提供太多服务。</a:t>
            </a:r>
            <a:endParaRPr lang="en-US" altLang="zh-CN" dirty="0" smtClean="0"/>
          </a:p>
          <a:p>
            <a:pPr>
              <a:buFont typeface="Wingdings" panose="05000000000000000000" pitchFamily="2" charset="2"/>
              <a:buChar char="ü"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 smtClean="0"/>
              <a:t>4</a:t>
            </a:r>
            <a:r>
              <a:rPr lang="zh-CN" altLang="en-US" dirty="0" smtClean="0"/>
              <a:t>）使用简单的协议（较少的参数）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 smtClean="0"/>
              <a:t>一般来说，</a:t>
            </a:r>
            <a:r>
              <a:rPr lang="zh-CN" altLang="en-US" dirty="0" smtClean="0">
                <a:solidFill>
                  <a:srgbClr val="0000FF"/>
                </a:solidFill>
              </a:rPr>
              <a:t>消息（类定义的方法）</a:t>
            </a:r>
            <a:r>
              <a:rPr lang="zh-CN" altLang="en-US" dirty="0" smtClean="0"/>
              <a:t>中参数不要超过</a:t>
            </a:r>
            <a:r>
              <a:rPr lang="en-US" altLang="zh-CN" dirty="0" smtClean="0"/>
              <a:t>3</a:t>
            </a:r>
            <a:r>
              <a:rPr lang="zh-CN" altLang="en-US" dirty="0" smtClean="0"/>
              <a:t>个。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3BB72-265E-4A69-B8FA-C2FBAB9B591B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620689"/>
            <a:ext cx="8229600" cy="2088232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5</a:t>
            </a:r>
            <a:r>
              <a:rPr lang="zh-CN" altLang="en-US" dirty="0" smtClean="0"/>
              <a:t>）使用简单的服务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 smtClean="0"/>
              <a:t>一般，</a:t>
            </a:r>
            <a:r>
              <a:rPr lang="en-US" altLang="zh-CN" dirty="0" smtClean="0"/>
              <a:t>3~5</a:t>
            </a:r>
            <a:r>
              <a:rPr lang="zh-CN" altLang="en-US" dirty="0" smtClean="0"/>
              <a:t>行语句；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 smtClean="0"/>
              <a:t>可以用仅含</a:t>
            </a:r>
            <a:r>
              <a:rPr lang="zh-CN" altLang="en-US" dirty="0" smtClean="0">
                <a:solidFill>
                  <a:srgbClr val="0000FF"/>
                </a:solidFill>
              </a:rPr>
              <a:t>一个动词和一个宾语</a:t>
            </a:r>
            <a:r>
              <a:rPr lang="zh-CN" altLang="en-US" dirty="0" smtClean="0"/>
              <a:t>的简单句子</a:t>
            </a:r>
            <a:r>
              <a:rPr lang="zh-CN" altLang="en-US" dirty="0" smtClean="0">
                <a:solidFill>
                  <a:srgbClr val="0000FF"/>
                </a:solidFill>
              </a:rPr>
              <a:t>描述其功能</a:t>
            </a:r>
            <a:r>
              <a:rPr lang="zh-CN" altLang="en-US" dirty="0" smtClean="0"/>
              <a:t>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3BB72-265E-4A69-B8FA-C2FBAB9B591B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7120" y="4365104"/>
            <a:ext cx="2895600" cy="189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539552" y="2780928"/>
            <a:ext cx="7128792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/>
              <a:t>6</a:t>
            </a:r>
            <a:r>
              <a:rPr lang="zh-CN" altLang="en-US" sz="3200" dirty="0"/>
              <a:t>）把设计变动减少到最小</a:t>
            </a:r>
            <a:endParaRPr lang="en-US" altLang="zh-CN" sz="32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800" dirty="0"/>
              <a:t>进行必要修改时，控制到最小范围；</a:t>
            </a:r>
            <a:endParaRPr lang="en-US" altLang="zh-CN" sz="28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800" dirty="0"/>
              <a:t>日趋稳定、成熟。</a:t>
            </a:r>
            <a:endParaRPr lang="zh-CN" altLang="en-US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8280920" y="5629889"/>
            <a:ext cx="1259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335022" y="3811979"/>
            <a:ext cx="2469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modifications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11.3 </a:t>
            </a:r>
            <a:r>
              <a:rPr lang="zh-CN" altLang="en-US" dirty="0" smtClean="0"/>
              <a:t>软件重用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重用：</a:t>
            </a:r>
            <a:r>
              <a:rPr lang="zh-CN" altLang="en-US" dirty="0" smtClean="0">
                <a:solidFill>
                  <a:srgbClr val="0000FF"/>
                </a:solidFill>
              </a:rPr>
              <a:t>不作修改或稍加改动</a:t>
            </a:r>
            <a:r>
              <a:rPr lang="zh-CN" altLang="en-US" dirty="0" smtClean="0"/>
              <a:t>多次重复使用。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r>
              <a:rPr lang="zh-CN" altLang="en-US" dirty="0" smtClean="0"/>
              <a:t>重用的</a:t>
            </a:r>
            <a:r>
              <a:rPr lang="en-US" altLang="zh-CN" dirty="0" smtClean="0"/>
              <a:t>3</a:t>
            </a:r>
            <a:r>
              <a:rPr lang="zh-CN" altLang="en-US" dirty="0" smtClean="0"/>
              <a:t>个层次：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 smtClean="0"/>
              <a:t>（专业或领域）知识重用；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 smtClean="0"/>
              <a:t>方法和标准的重用；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 smtClean="0">
                <a:solidFill>
                  <a:srgbClr val="0000FF"/>
                </a:solidFill>
              </a:rPr>
              <a:t>软件成分的重用 （重点关注）</a:t>
            </a:r>
            <a:r>
              <a:rPr lang="zh-CN" altLang="en-US" dirty="0" smtClean="0"/>
              <a:t>。</a:t>
            </a:r>
            <a:r>
              <a:rPr lang="en-US" altLang="zh-CN" dirty="0" smtClean="0"/>
              <a:t>     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3BB72-265E-4A69-B8FA-C2FBAB9B591B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软件成分的重用级别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代码重用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 smtClean="0"/>
              <a:t>源代码剪贴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 smtClean="0"/>
              <a:t>源代码包含（通过</a:t>
            </a:r>
            <a:r>
              <a:rPr lang="en-US" altLang="zh-CN" dirty="0" smtClean="0">
                <a:solidFill>
                  <a:srgbClr val="0000FF"/>
                </a:solidFill>
              </a:rPr>
              <a:t>#include</a:t>
            </a:r>
            <a:r>
              <a:rPr lang="zh-CN" altLang="en-US" dirty="0" smtClean="0"/>
              <a:t>使用库中源代码）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 smtClean="0"/>
              <a:t>继承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en-US" altLang="zh-CN" dirty="0" smtClean="0"/>
              <a:t>   </a:t>
            </a:r>
            <a:endParaRPr lang="en-US" altLang="zh-CN" dirty="0"/>
          </a:p>
          <a:p>
            <a:r>
              <a:rPr lang="zh-CN" altLang="en-US" dirty="0" smtClean="0"/>
              <a:t>设计结果</a:t>
            </a:r>
            <a:r>
              <a:rPr lang="zh-CN" altLang="en-US" dirty="0"/>
              <a:t>、</a:t>
            </a:r>
            <a:r>
              <a:rPr lang="zh-CN" altLang="en-US" dirty="0" smtClean="0"/>
              <a:t>模型</a:t>
            </a:r>
            <a:r>
              <a:rPr lang="zh-CN" altLang="en-US" dirty="0"/>
              <a:t>的</a:t>
            </a:r>
            <a:r>
              <a:rPr lang="zh-CN" altLang="en-US" dirty="0" smtClean="0"/>
              <a:t>重用</a:t>
            </a:r>
            <a:endParaRPr lang="en-US" altLang="zh-CN" dirty="0" smtClean="0"/>
          </a:p>
          <a:p>
            <a:r>
              <a:rPr lang="zh-CN" altLang="en-US" dirty="0" smtClean="0"/>
              <a:t>分析结果</a:t>
            </a:r>
            <a:r>
              <a:rPr lang="zh-CN" altLang="en-US" dirty="0"/>
              <a:t>、</a:t>
            </a:r>
            <a:r>
              <a:rPr lang="zh-CN" altLang="en-US" dirty="0" smtClean="0"/>
              <a:t>模型</a:t>
            </a:r>
            <a:r>
              <a:rPr lang="zh-CN" altLang="en-US" dirty="0"/>
              <a:t>的</a:t>
            </a:r>
            <a:r>
              <a:rPr lang="zh-CN" altLang="en-US" dirty="0" smtClean="0"/>
              <a:t>重用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3BB72-265E-4A69-B8FA-C2FBAB9B591B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典型的可重用软件成分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3466728" cy="4525963"/>
          </a:xfrm>
        </p:spPr>
        <p:txBody>
          <a:bodyPr/>
          <a:lstStyle/>
          <a:p>
            <a:r>
              <a:rPr lang="zh-CN" altLang="en-US" dirty="0" smtClean="0"/>
              <a:t>项目计划</a:t>
            </a:r>
            <a:endParaRPr lang="en-US" altLang="zh-CN" dirty="0" smtClean="0"/>
          </a:p>
          <a:p>
            <a:r>
              <a:rPr lang="zh-CN" altLang="en-US" dirty="0" smtClean="0"/>
              <a:t>成本估计</a:t>
            </a:r>
            <a:endParaRPr lang="en-US" altLang="zh-CN" dirty="0" smtClean="0"/>
          </a:p>
          <a:p>
            <a:r>
              <a:rPr lang="zh-CN" altLang="en-US" dirty="0" smtClean="0"/>
              <a:t>体系结构</a:t>
            </a:r>
            <a:endParaRPr lang="en-US" altLang="zh-CN" dirty="0" smtClean="0"/>
          </a:p>
          <a:p>
            <a:r>
              <a:rPr lang="zh-CN" altLang="en-US" dirty="0" smtClean="0"/>
              <a:t>需求模型和规格说明</a:t>
            </a:r>
            <a:endParaRPr lang="en-US" altLang="zh-CN" dirty="0" smtClean="0"/>
          </a:p>
          <a:p>
            <a:r>
              <a:rPr lang="zh-CN" altLang="en-US" dirty="0"/>
              <a:t>设计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3BB72-265E-4A69-B8FA-C2FBAB9B591B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6" name="内容占位符 2"/>
          <p:cNvSpPr txBox="1"/>
          <p:nvPr/>
        </p:nvSpPr>
        <p:spPr>
          <a:xfrm>
            <a:off x="4788024" y="1628799"/>
            <a:ext cx="346672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 smtClean="0"/>
              <a:t>源代码</a:t>
            </a:r>
            <a:endParaRPr lang="en-US" altLang="zh-CN" dirty="0" smtClean="0"/>
          </a:p>
          <a:p>
            <a:r>
              <a:rPr lang="zh-CN" altLang="en-US" dirty="0" smtClean="0"/>
              <a:t>用户文档和技术文档</a:t>
            </a:r>
            <a:endParaRPr lang="en-US" altLang="zh-CN" dirty="0" smtClean="0"/>
          </a:p>
          <a:p>
            <a:r>
              <a:rPr lang="zh-CN" altLang="en-US" dirty="0" smtClean="0"/>
              <a:t>用户界面</a:t>
            </a:r>
            <a:endParaRPr lang="en-US" altLang="zh-CN" dirty="0" smtClean="0"/>
          </a:p>
          <a:p>
            <a:r>
              <a:rPr lang="zh-CN" altLang="en-US" dirty="0" smtClean="0"/>
              <a:t>数据</a:t>
            </a:r>
            <a:endParaRPr lang="en-US" altLang="zh-CN" dirty="0" smtClean="0"/>
          </a:p>
          <a:p>
            <a:r>
              <a:rPr lang="zh-CN" altLang="en-US" dirty="0"/>
              <a:t>测试用例</a:t>
            </a:r>
            <a:endParaRPr lang="en-US" altLang="zh-CN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539552" y="5301208"/>
            <a:ext cx="79208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FF0000"/>
                </a:solidFill>
              </a:rPr>
              <a:t>几乎覆盖了软件开发的各个阶段！</a:t>
            </a:r>
            <a:endParaRPr lang="en-US" altLang="zh-CN" sz="2400" dirty="0" smtClean="0">
              <a:solidFill>
                <a:srgbClr val="FF0000"/>
              </a:solidFill>
            </a:endParaRPr>
          </a:p>
          <a:p>
            <a:endParaRPr lang="en-US" altLang="zh-CN" sz="2400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11.4 </a:t>
            </a:r>
            <a:r>
              <a:rPr lang="zh-CN" altLang="en-US" dirty="0" smtClean="0"/>
              <a:t>系统分解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7931224" cy="4525963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sz="2800" dirty="0" smtClean="0"/>
              <a:t>子系统：系统中主要的组成部分；</a:t>
            </a:r>
            <a:endParaRPr lang="en-US" altLang="zh-CN" sz="2800" dirty="0" smtClean="0"/>
          </a:p>
          <a:p>
            <a:r>
              <a:rPr lang="zh-CN" altLang="en-US" sz="2800" dirty="0" smtClean="0">
                <a:solidFill>
                  <a:srgbClr val="FF0000"/>
                </a:solidFill>
              </a:rPr>
              <a:t>子系统既不是一个对象，也不是功能</a:t>
            </a:r>
            <a:r>
              <a:rPr lang="zh-CN" altLang="en-US" sz="2800" dirty="0" smtClean="0"/>
              <a:t>；而是类、关联、操作、事件和约束的集合。</a:t>
            </a:r>
            <a:endParaRPr lang="en-US" altLang="zh-CN" sz="2800" dirty="0" smtClean="0"/>
          </a:p>
          <a:p>
            <a:endParaRPr lang="en-US" altLang="zh-CN" sz="2800" dirty="0"/>
          </a:p>
          <a:p>
            <a:r>
              <a:rPr lang="zh-CN" altLang="en-US" sz="2800" dirty="0" smtClean="0"/>
              <a:t>大多数系统的面向对象</a:t>
            </a:r>
            <a:r>
              <a:rPr lang="zh-CN" altLang="en-US" sz="2800" dirty="0"/>
              <a:t>设计</a:t>
            </a:r>
            <a:r>
              <a:rPr lang="zh-CN" altLang="en-US" sz="2800" dirty="0" smtClean="0"/>
              <a:t>模型由</a:t>
            </a:r>
            <a:r>
              <a:rPr lang="en-US" altLang="zh-CN" sz="2800" dirty="0" smtClean="0"/>
              <a:t>4</a:t>
            </a:r>
            <a:r>
              <a:rPr lang="zh-CN" altLang="en-US" sz="2800" dirty="0" smtClean="0"/>
              <a:t>个子系统组成（</a:t>
            </a:r>
            <a:r>
              <a:rPr lang="zh-CN" altLang="en-US" sz="2800" dirty="0" smtClean="0">
                <a:solidFill>
                  <a:srgbClr val="0000FF"/>
                </a:solidFill>
              </a:rPr>
              <a:t>从不同角度看系统</a:t>
            </a:r>
            <a:r>
              <a:rPr lang="zh-CN" altLang="en-US" sz="2800" dirty="0" smtClean="0"/>
              <a:t>）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marL="914400" lvl="1" indent="-514350">
              <a:buFont typeface="+mj-ea"/>
              <a:buAutoNum type="circleNumDbPlain"/>
            </a:pPr>
            <a:r>
              <a:rPr lang="zh-CN" altLang="en-US" dirty="0" smtClean="0">
                <a:solidFill>
                  <a:srgbClr val="0000FF"/>
                </a:solidFill>
              </a:rPr>
              <a:t>问题域</a:t>
            </a:r>
            <a:r>
              <a:rPr lang="zh-CN" altLang="en-US" dirty="0" smtClean="0"/>
              <a:t>子系统（</a:t>
            </a:r>
            <a:r>
              <a:rPr lang="zh-CN" altLang="en-US" dirty="0" smtClean="0">
                <a:solidFill>
                  <a:srgbClr val="0000FF"/>
                </a:solidFill>
              </a:rPr>
              <a:t>在设计阶段，对分析阶段的模型进行补充、修改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marL="914400" lvl="1" indent="-514350">
              <a:buFont typeface="+mj-ea"/>
              <a:buAutoNum type="circleNumDbPlain"/>
            </a:pPr>
            <a:r>
              <a:rPr lang="zh-CN" altLang="en-US" dirty="0" smtClean="0">
                <a:solidFill>
                  <a:srgbClr val="0000FF"/>
                </a:solidFill>
              </a:rPr>
              <a:t>人机交互</a:t>
            </a:r>
            <a:r>
              <a:rPr lang="zh-CN" altLang="en-US" dirty="0" smtClean="0"/>
              <a:t>子系统 （用户          系统）</a:t>
            </a:r>
            <a:endParaRPr lang="en-US" altLang="zh-CN" dirty="0" smtClean="0"/>
          </a:p>
          <a:p>
            <a:pPr marL="914400" lvl="1" indent="-514350">
              <a:buFont typeface="+mj-ea"/>
              <a:buAutoNum type="circleNumDbPlain"/>
            </a:pPr>
            <a:r>
              <a:rPr lang="zh-CN" altLang="en-US" dirty="0" smtClean="0">
                <a:solidFill>
                  <a:srgbClr val="0000FF"/>
                </a:solidFill>
              </a:rPr>
              <a:t>任务</a:t>
            </a:r>
            <a:r>
              <a:rPr lang="zh-CN" altLang="en-US" dirty="0" smtClean="0"/>
              <a:t>管理子系统 （</a:t>
            </a:r>
            <a:r>
              <a:rPr lang="zh-CN" altLang="en-US" dirty="0" smtClean="0">
                <a:solidFill>
                  <a:srgbClr val="0000FF"/>
                </a:solidFill>
              </a:rPr>
              <a:t>功能方面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marL="914400" lvl="1" indent="-514350">
              <a:buFont typeface="+mj-ea"/>
              <a:buAutoNum type="circleNumDbPlain"/>
            </a:pPr>
            <a:r>
              <a:rPr lang="zh-CN" altLang="en-US" dirty="0" smtClean="0">
                <a:solidFill>
                  <a:srgbClr val="0000FF"/>
                </a:solidFill>
              </a:rPr>
              <a:t>数据</a:t>
            </a:r>
            <a:r>
              <a:rPr lang="zh-CN" altLang="en-US" dirty="0" smtClean="0"/>
              <a:t>管理子系统</a:t>
            </a:r>
            <a:r>
              <a:rPr lang="en-US" altLang="zh-CN" dirty="0" smtClean="0"/>
              <a:t>   </a:t>
            </a:r>
            <a:endParaRPr lang="en-US" altLang="zh-CN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3BB72-265E-4A69-B8FA-C2FBAB9B591B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直接箭头连接符 6"/>
          <p:cNvCxnSpPr/>
          <p:nvPr/>
        </p:nvCxnSpPr>
        <p:spPr>
          <a:xfrm>
            <a:off x="4932040" y="4725144"/>
            <a:ext cx="648072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11.5 </a:t>
            </a:r>
            <a:r>
              <a:rPr lang="zh-CN" altLang="en-US" dirty="0" smtClean="0"/>
              <a:t>设计问题域子系统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任务：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从实现角度</a:t>
            </a:r>
            <a:r>
              <a:rPr lang="zh-CN" altLang="en-US" dirty="0" smtClean="0">
                <a:solidFill>
                  <a:srgbClr val="0000FF"/>
                </a:solidFill>
              </a:rPr>
              <a:t>对问题域模型</a:t>
            </a:r>
            <a:r>
              <a:rPr lang="zh-CN" altLang="en-US" dirty="0" smtClean="0"/>
              <a:t>（对象模型、动态模型与功能模型）</a:t>
            </a:r>
            <a:r>
              <a:rPr lang="zh-CN" altLang="en-US" dirty="0" smtClean="0">
                <a:solidFill>
                  <a:srgbClr val="0000FF"/>
                </a:solidFill>
              </a:rPr>
              <a:t>作一些补充、修改</a:t>
            </a:r>
            <a:r>
              <a:rPr lang="zh-CN" altLang="en-US" dirty="0" smtClean="0"/>
              <a:t>，主要是</a:t>
            </a:r>
            <a:r>
              <a:rPr lang="zh-CN" altLang="en-US" u="sng" dirty="0" smtClean="0">
                <a:solidFill>
                  <a:srgbClr val="FF0000"/>
                </a:solidFill>
              </a:rPr>
              <a:t>增添、合并或分解类与对象、属性和服务，调整继承关系</a:t>
            </a:r>
            <a:r>
              <a:rPr lang="zh-CN" altLang="en-US" dirty="0" smtClean="0">
                <a:solidFill>
                  <a:srgbClr val="FF0000"/>
                </a:solidFill>
              </a:rPr>
              <a:t>等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3BB72-265E-4A69-B8FA-C2FBAB9B591B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对问题域模型的主要补充或修改 （</a:t>
            </a:r>
            <a:r>
              <a:rPr lang="zh-CN" altLang="en-US" dirty="0" smtClean="0">
                <a:solidFill>
                  <a:srgbClr val="FF0000"/>
                </a:solidFill>
              </a:rPr>
              <a:t>了解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 smtClean="0"/>
              <a:t>调整需求；</a:t>
            </a:r>
            <a:endParaRPr lang="en-US" altLang="zh-CN" dirty="0" smtClean="0"/>
          </a:p>
          <a:p>
            <a:r>
              <a:rPr lang="zh-CN" altLang="en-US" dirty="0" smtClean="0"/>
              <a:t>重用已有的类；</a:t>
            </a:r>
            <a:endParaRPr lang="en-US" altLang="zh-CN" dirty="0" smtClean="0"/>
          </a:p>
          <a:p>
            <a:r>
              <a:rPr lang="zh-CN" altLang="en-US" dirty="0" smtClean="0"/>
              <a:t>组合问题域的类；</a:t>
            </a:r>
            <a:endParaRPr lang="en-US" altLang="zh-CN" dirty="0" smtClean="0"/>
          </a:p>
          <a:p>
            <a:r>
              <a:rPr lang="zh-CN" altLang="en-US" dirty="0" smtClean="0"/>
              <a:t>增添基类以定义</a:t>
            </a:r>
            <a:r>
              <a:rPr lang="zh-CN" altLang="en-US" dirty="0" smtClean="0">
                <a:solidFill>
                  <a:srgbClr val="0000FF"/>
                </a:solidFill>
              </a:rPr>
              <a:t>公共函数（服务）集合；</a:t>
            </a:r>
            <a:endParaRPr lang="en-US" altLang="zh-CN" dirty="0" smtClean="0">
              <a:solidFill>
                <a:srgbClr val="0000FF"/>
              </a:solidFill>
            </a:endParaRPr>
          </a:p>
          <a:p>
            <a:r>
              <a:rPr lang="zh-CN" altLang="en-US" dirty="0" smtClean="0"/>
              <a:t>调整继承层次</a:t>
            </a:r>
            <a:r>
              <a:rPr lang="en-US" altLang="zh-CN" dirty="0" smtClean="0"/>
              <a:t>/</a:t>
            </a:r>
            <a:r>
              <a:rPr lang="zh-CN" altLang="en-US" dirty="0" smtClean="0"/>
              <a:t>机制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</a:t>
            </a:r>
            <a:r>
              <a:rPr lang="zh-CN" altLang="en-US" dirty="0" smtClean="0"/>
              <a:t>两种继承机制：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 smtClean="0"/>
              <a:t>单继承机制；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 smtClean="0">
                <a:solidFill>
                  <a:srgbClr val="0000FF"/>
                </a:solidFill>
              </a:rPr>
              <a:t>多重继承机制</a:t>
            </a:r>
            <a:r>
              <a:rPr lang="zh-CN" altLang="en-US" dirty="0" smtClean="0"/>
              <a:t>（多个基类或父类）。</a:t>
            </a:r>
            <a:r>
              <a:rPr lang="en-US" altLang="zh-CN" dirty="0" smtClean="0"/>
              <a:t>    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3BB72-265E-4A69-B8FA-C2FBAB9B591B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11.6 </a:t>
            </a:r>
            <a:r>
              <a:rPr lang="zh-CN" altLang="en-US" dirty="0" smtClean="0"/>
              <a:t>设计人机交互子系统</a:t>
            </a:r>
            <a:br>
              <a:rPr lang="en-US" altLang="zh-CN" dirty="0" smtClean="0"/>
            </a:br>
            <a:r>
              <a:rPr lang="zh-CN" altLang="en-US" dirty="0" smtClean="0"/>
              <a:t>（</a:t>
            </a:r>
            <a:r>
              <a:rPr lang="en-US" altLang="zh-CN" dirty="0" smtClean="0"/>
              <a:t>Human-Computer Interaction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4525963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对</a:t>
            </a:r>
            <a:r>
              <a:rPr lang="zh-CN" altLang="en-US" dirty="0" smtClean="0">
                <a:solidFill>
                  <a:srgbClr val="0000FF"/>
                </a:solidFill>
              </a:rPr>
              <a:t>用户界面</a:t>
            </a:r>
            <a:r>
              <a:rPr lang="zh-CN" altLang="en-US" dirty="0" smtClean="0"/>
              <a:t>进行详细设计</a:t>
            </a:r>
            <a:endParaRPr lang="en-US" altLang="zh-CN" dirty="0" smtClean="0"/>
          </a:p>
          <a:p>
            <a:r>
              <a:rPr lang="zh-CN" altLang="en-US" dirty="0" smtClean="0"/>
              <a:t>设计人机交互子系统的</a:t>
            </a:r>
            <a:r>
              <a:rPr lang="zh-CN" altLang="en-US" dirty="0" smtClean="0">
                <a:solidFill>
                  <a:srgbClr val="FF0000"/>
                </a:solidFill>
              </a:rPr>
              <a:t>策略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/>
              <a:t>将</a:t>
            </a:r>
            <a:r>
              <a:rPr lang="zh-CN" altLang="en-US" dirty="0" smtClean="0"/>
              <a:t>用户</a:t>
            </a:r>
            <a:r>
              <a:rPr lang="zh-CN" altLang="en-US" dirty="0" smtClean="0"/>
              <a:t>分类</a:t>
            </a:r>
            <a:r>
              <a:rPr lang="zh-CN" altLang="en-US" dirty="0" smtClean="0"/>
              <a:t>（不同身份的用户）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 smtClean="0"/>
              <a:t>描述用户（记录和本系统相关的用户属性）；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 smtClean="0"/>
              <a:t>设计命令层次 （如菜单</a:t>
            </a:r>
            <a:r>
              <a:rPr lang="en-US" altLang="zh-CN" dirty="0" smtClean="0"/>
              <a:t>-&gt; </a:t>
            </a:r>
            <a:r>
              <a:rPr lang="zh-CN" altLang="en-US" dirty="0" smtClean="0"/>
              <a:t>子菜单）；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 smtClean="0"/>
              <a:t>设计人机交互类（与用户界面相关的类）。</a:t>
            </a: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3BB72-265E-4A69-B8FA-C2FBAB9B591B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11.7 </a:t>
            </a:r>
            <a:r>
              <a:rPr lang="zh-CN" altLang="en-US" dirty="0" smtClean="0"/>
              <a:t>设计任务管理子系统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641379"/>
          </a:xfrm>
        </p:spPr>
        <p:txBody>
          <a:bodyPr/>
          <a:lstStyle/>
          <a:p>
            <a:r>
              <a:rPr lang="zh-CN" altLang="en-US" dirty="0" smtClean="0"/>
              <a:t>在</a:t>
            </a:r>
            <a:r>
              <a:rPr lang="en-US" altLang="zh-CN" dirty="0" smtClean="0"/>
              <a:t>OS(Operating System)</a:t>
            </a:r>
            <a:r>
              <a:rPr lang="zh-CN" altLang="en-US" dirty="0" smtClean="0"/>
              <a:t>中，任务即</a:t>
            </a:r>
            <a:r>
              <a:rPr lang="zh-CN" altLang="en-US" dirty="0" smtClean="0">
                <a:solidFill>
                  <a:srgbClr val="0000FF"/>
                </a:solidFill>
              </a:rPr>
              <a:t>进程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r>
              <a:rPr lang="zh-CN" altLang="en-US" dirty="0" smtClean="0"/>
              <a:t>分析并发性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 smtClean="0"/>
              <a:t>主要依据面向对象分析阶段建立的</a:t>
            </a:r>
            <a:r>
              <a:rPr lang="zh-CN" altLang="en-US" dirty="0" smtClean="0">
                <a:solidFill>
                  <a:srgbClr val="0000FF"/>
                </a:solidFill>
              </a:rPr>
              <a:t>动态模型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 smtClean="0"/>
              <a:t>根据</a:t>
            </a:r>
            <a:r>
              <a:rPr lang="zh-CN" altLang="en-US" dirty="0" smtClean="0">
                <a:solidFill>
                  <a:srgbClr val="0000FF"/>
                </a:solidFill>
              </a:rPr>
              <a:t>对象间的交互</a:t>
            </a:r>
            <a:r>
              <a:rPr lang="zh-CN" altLang="en-US" dirty="0" smtClean="0"/>
              <a:t>以及</a:t>
            </a:r>
            <a:r>
              <a:rPr lang="zh-CN" altLang="en-US" dirty="0" smtClean="0">
                <a:solidFill>
                  <a:srgbClr val="0000FF"/>
                </a:solidFill>
              </a:rPr>
              <a:t>同时</a:t>
            </a:r>
            <a:r>
              <a:rPr lang="zh-CN" altLang="en-US" dirty="0">
                <a:solidFill>
                  <a:srgbClr val="0000FF"/>
                </a:solidFill>
              </a:rPr>
              <a:t>处理</a:t>
            </a:r>
            <a:r>
              <a:rPr lang="zh-CN" altLang="en-US" dirty="0" smtClean="0">
                <a:solidFill>
                  <a:srgbClr val="0000FF"/>
                </a:solidFill>
              </a:rPr>
              <a:t>事件</a:t>
            </a:r>
            <a:r>
              <a:rPr lang="zh-CN" altLang="en-US" dirty="0" smtClean="0"/>
              <a:t>的情况，确定</a:t>
            </a:r>
            <a:r>
              <a:rPr lang="zh-CN" altLang="en-US" dirty="0" smtClean="0">
                <a:solidFill>
                  <a:srgbClr val="0000FF"/>
                </a:solidFill>
              </a:rPr>
              <a:t>两个对象是否是并发的</a:t>
            </a:r>
            <a:r>
              <a:rPr lang="zh-CN" altLang="en-US" dirty="0" smtClean="0"/>
              <a:t>。</a:t>
            </a:r>
            <a:r>
              <a:rPr lang="en-US" altLang="zh-CN" dirty="0" smtClean="0"/>
              <a:t>    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3BB72-265E-4A69-B8FA-C2FBAB9B591B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常见任务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5259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zh-CN" altLang="en-US" dirty="0" smtClean="0"/>
              <a:t>确定</a:t>
            </a:r>
            <a:r>
              <a:rPr lang="zh-CN" altLang="en-US" dirty="0" smtClean="0">
                <a:solidFill>
                  <a:srgbClr val="0000FF"/>
                </a:solidFill>
              </a:rPr>
              <a:t>事件驱动型</a:t>
            </a:r>
            <a:r>
              <a:rPr lang="zh-CN" altLang="en-US" dirty="0" smtClean="0"/>
              <a:t>任务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smtClean="0"/>
              <a:t>    </a:t>
            </a:r>
            <a:r>
              <a:rPr lang="zh-CN" altLang="en-US" sz="2800" dirty="0" smtClean="0"/>
              <a:t>工作过程：睡眠</a:t>
            </a:r>
            <a:r>
              <a:rPr lang="en-US" altLang="zh-CN" sz="2800" dirty="0" smtClean="0">
                <a:latin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en-US" sz="2800" dirty="0" smtClean="0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任务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被唤醒</a:t>
            </a:r>
            <a:r>
              <a:rPr lang="en-US" altLang="zh-CN" sz="2800" dirty="0" smtClean="0">
                <a:latin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en-US" sz="2800" dirty="0" smtClean="0">
                <a:latin typeface="Times New Roman" panose="02020603050405020304" pitchFamily="18" charset="0"/>
                <a:sym typeface="Wingdings" panose="05000000000000000000" pitchFamily="2" charset="2"/>
              </a:rPr>
              <a:t>接收、处理数据</a:t>
            </a:r>
            <a:r>
              <a:rPr lang="en-US" altLang="zh-CN" sz="2800" dirty="0" smtClean="0">
                <a:latin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en-US" sz="2800" dirty="0" smtClean="0">
                <a:latin typeface="Times New Roman" panose="02020603050405020304" pitchFamily="18" charset="0"/>
                <a:sym typeface="Wingdings" panose="05000000000000000000" pitchFamily="2" charset="2"/>
              </a:rPr>
              <a:t>通知相应对象</a:t>
            </a:r>
            <a:r>
              <a:rPr lang="en-US" altLang="zh-CN" sz="2800" dirty="0" smtClean="0">
                <a:latin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en-US" sz="2800" dirty="0" smtClean="0">
                <a:latin typeface="Times New Roman" panose="02020603050405020304" pitchFamily="18" charset="0"/>
                <a:sym typeface="Wingdings" panose="05000000000000000000" pitchFamily="2" charset="2"/>
              </a:rPr>
              <a:t>继续睡眠。</a:t>
            </a:r>
            <a:endParaRPr lang="en-US" altLang="zh-CN" sz="2800" dirty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dirty="0" smtClean="0"/>
              <a:t>确定</a:t>
            </a:r>
            <a:r>
              <a:rPr lang="zh-CN" altLang="en-US" dirty="0" smtClean="0">
                <a:solidFill>
                  <a:srgbClr val="0000FF"/>
                </a:solidFill>
              </a:rPr>
              <a:t>时钟驱动型</a:t>
            </a:r>
            <a:r>
              <a:rPr lang="zh-CN" altLang="en-US" dirty="0" smtClean="0"/>
              <a:t>任务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</a:t>
            </a:r>
            <a:r>
              <a:rPr lang="zh-CN" altLang="en-US" dirty="0" smtClean="0"/>
              <a:t>每隔一段时间触发执行某些任务</a:t>
            </a:r>
            <a:r>
              <a:rPr lang="zh-CN" altLang="en-US" dirty="0"/>
              <a:t>。</a:t>
            </a:r>
            <a:endParaRPr lang="en-US" altLang="zh-CN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dirty="0" smtClean="0"/>
              <a:t>确定任务的优先级</a:t>
            </a:r>
            <a:endParaRPr lang="en-US" altLang="zh-CN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dirty="0" smtClean="0"/>
              <a:t>确定关键任务（影响系统成功或失败的处理）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3BB72-265E-4A69-B8FA-C2FBAB9B591B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505475"/>
          </a:xfrm>
        </p:spPr>
        <p:txBody>
          <a:bodyPr/>
          <a:lstStyle/>
          <a:p>
            <a:r>
              <a:rPr lang="zh-CN" altLang="en-US" dirty="0" smtClean="0"/>
              <a:t>确定</a:t>
            </a:r>
            <a:r>
              <a:rPr lang="zh-CN" altLang="en-US" dirty="0" smtClean="0">
                <a:solidFill>
                  <a:srgbClr val="0000FF"/>
                </a:solidFill>
              </a:rPr>
              <a:t>协调任务</a:t>
            </a:r>
            <a:r>
              <a:rPr lang="zh-CN" altLang="en-US" dirty="0"/>
              <a:t>：</a:t>
            </a:r>
            <a:r>
              <a:rPr lang="zh-CN" altLang="en-US" dirty="0" smtClean="0"/>
              <a:t>用来协调多个任务</a:t>
            </a:r>
            <a:endParaRPr lang="en-US" altLang="zh-CN" dirty="0" smtClean="0"/>
          </a:p>
          <a:p>
            <a:r>
              <a:rPr lang="zh-CN" altLang="en-US" dirty="0" smtClean="0"/>
              <a:t>尽量减少任务数</a:t>
            </a:r>
            <a:endParaRPr lang="en-US" altLang="zh-CN" dirty="0" smtClean="0"/>
          </a:p>
          <a:p>
            <a:r>
              <a:rPr lang="zh-CN" altLang="en-US" dirty="0" smtClean="0"/>
              <a:t>确定资源需求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</a:t>
            </a:r>
            <a:r>
              <a:rPr lang="zh-CN" altLang="en-US" dirty="0" smtClean="0"/>
              <a:t>计算</a:t>
            </a:r>
            <a:r>
              <a:rPr lang="zh-CN" altLang="en-US" dirty="0" smtClean="0">
                <a:solidFill>
                  <a:srgbClr val="FF0000"/>
                </a:solidFill>
              </a:rPr>
              <a:t>系统载荷</a:t>
            </a:r>
            <a:r>
              <a:rPr lang="zh-CN" altLang="en-US" dirty="0" smtClean="0"/>
              <a:t>（</a:t>
            </a:r>
            <a:r>
              <a:rPr lang="en-US" altLang="zh-CN" dirty="0" smtClean="0"/>
              <a:t>transactions per second</a:t>
            </a:r>
            <a:r>
              <a:rPr lang="zh-CN" altLang="en-US" dirty="0" smtClean="0"/>
              <a:t>），估算所需</a:t>
            </a:r>
            <a:r>
              <a:rPr lang="en-US" altLang="zh-CN" dirty="0" smtClean="0"/>
              <a:t>CPU</a:t>
            </a:r>
            <a:r>
              <a:rPr lang="zh-CN" altLang="en-US" dirty="0" smtClean="0"/>
              <a:t>性能。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3BB72-265E-4A69-B8FA-C2FBAB9B591B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11.8 </a:t>
            </a:r>
            <a:r>
              <a:rPr lang="zh-CN" altLang="en-US" dirty="0" smtClean="0"/>
              <a:t>设计数据管理子系统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pPr marL="0" indent="0">
              <a:buNone/>
            </a:pPr>
            <a:r>
              <a:rPr lang="zh-CN" altLang="en-US" dirty="0" smtClean="0"/>
              <a:t>选择数据存储管理模式：</a:t>
            </a:r>
            <a:endParaRPr lang="en-US" altLang="zh-CN" dirty="0" smtClean="0"/>
          </a:p>
          <a:p>
            <a:r>
              <a:rPr lang="zh-CN" altLang="en-US" dirty="0" smtClean="0"/>
              <a:t>文件管理系统 （文件的打开、关闭、读写）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0000FF"/>
                </a:solidFill>
              </a:rPr>
              <a:t>关系数据库</a:t>
            </a:r>
            <a:r>
              <a:rPr lang="zh-CN" altLang="en-US" dirty="0" smtClean="0"/>
              <a:t>管理系统（关系：实体间联系；如</a:t>
            </a:r>
            <a:r>
              <a:rPr lang="en-US" altLang="zh-CN" dirty="0" smtClean="0"/>
              <a:t>oracle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FF0000"/>
                </a:solidFill>
              </a:rPr>
              <a:t>面向对象数据库管理系统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</a:t>
            </a:r>
            <a:r>
              <a:rPr lang="zh-CN" altLang="en-US" dirty="0" smtClean="0"/>
              <a:t>两种：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dirty="0"/>
              <a:t> </a:t>
            </a:r>
            <a:r>
              <a:rPr lang="zh-CN" altLang="en-US" dirty="0" smtClean="0"/>
              <a:t>扩展的</a:t>
            </a:r>
            <a:r>
              <a:rPr lang="zh-CN" altLang="en-US" u="sng" dirty="0" smtClean="0"/>
              <a:t>关系数据库管理系统</a:t>
            </a:r>
            <a:r>
              <a:rPr lang="en-US" altLang="zh-CN" dirty="0" smtClean="0"/>
              <a:t> </a:t>
            </a:r>
            <a:r>
              <a:rPr lang="zh-CN" altLang="en-US" dirty="0" smtClean="0"/>
              <a:t>（数据库管理</a:t>
            </a:r>
            <a:r>
              <a:rPr lang="en-US" altLang="zh-CN" dirty="0" smtClean="0"/>
              <a:t>+</a:t>
            </a:r>
            <a:r>
              <a:rPr lang="zh-CN" altLang="en-US" dirty="0" smtClean="0"/>
              <a:t>面向的对象）；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 smtClean="0"/>
              <a:t>扩展的</a:t>
            </a:r>
            <a:r>
              <a:rPr lang="zh-CN" altLang="en-US" u="sng" dirty="0" smtClean="0"/>
              <a:t>面向对象程序设计语言</a:t>
            </a:r>
            <a:r>
              <a:rPr lang="en-US" altLang="zh-CN" dirty="0" smtClean="0"/>
              <a:t> </a:t>
            </a:r>
            <a:r>
              <a:rPr lang="zh-CN" altLang="en-US" dirty="0" smtClean="0"/>
              <a:t>（面向对象</a:t>
            </a:r>
            <a:r>
              <a:rPr lang="en-US" altLang="zh-CN" dirty="0" smtClean="0"/>
              <a:t>+</a:t>
            </a:r>
            <a:r>
              <a:rPr lang="zh-CN" altLang="en-US" dirty="0" smtClean="0"/>
              <a:t>数据管理）</a:t>
            </a:r>
            <a:r>
              <a:rPr lang="en-US" altLang="zh-CN" dirty="0" smtClean="0"/>
              <a:t>  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3BB72-265E-4A69-B8FA-C2FBAB9B591B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设计数据管理子系统 （</a:t>
            </a:r>
            <a:r>
              <a:rPr lang="zh-CN" altLang="en-US" dirty="0" smtClean="0">
                <a:solidFill>
                  <a:srgbClr val="FF0000"/>
                </a:solidFill>
              </a:rPr>
              <a:t>自学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r>
              <a:rPr lang="zh-CN" altLang="en-US" dirty="0" smtClean="0"/>
              <a:t>设计数据格式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 smtClean="0"/>
              <a:t>即设计</a:t>
            </a:r>
            <a:r>
              <a:rPr lang="zh-CN" altLang="en-US" dirty="0" smtClean="0">
                <a:solidFill>
                  <a:srgbClr val="0000FF"/>
                </a:solidFill>
              </a:rPr>
              <a:t>类的属性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dirty="0" smtClean="0"/>
              <a:t>3</a:t>
            </a:r>
            <a:r>
              <a:rPr lang="zh-CN" altLang="en-US" dirty="0" smtClean="0"/>
              <a:t>种不同数据存储管理模式下的数据格式。</a:t>
            </a:r>
            <a:r>
              <a:rPr lang="en-US" altLang="zh-CN" dirty="0" smtClean="0"/>
              <a:t>  </a:t>
            </a:r>
            <a:endParaRPr lang="en-US" altLang="zh-CN" dirty="0"/>
          </a:p>
          <a:p>
            <a:r>
              <a:rPr lang="zh-CN" altLang="en-US" dirty="0" smtClean="0"/>
              <a:t>设计相应的服务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dirty="0" smtClean="0"/>
              <a:t>3</a:t>
            </a:r>
            <a:r>
              <a:rPr lang="zh-CN" altLang="en-US" dirty="0"/>
              <a:t>种不同数据存储管理模式</a:t>
            </a:r>
            <a:r>
              <a:rPr lang="zh-CN" altLang="en-US" dirty="0" smtClean="0"/>
              <a:t>下设计服务的要点。</a:t>
            </a:r>
            <a:endParaRPr lang="en-US" altLang="zh-CN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3BB72-265E-4A69-B8FA-C2FBAB9B591B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412776"/>
            <a:ext cx="3682752" cy="3168352"/>
          </a:xfrm>
        </p:spPr>
        <p:txBody>
          <a:bodyPr>
            <a:normAutofit/>
          </a:bodyPr>
          <a:lstStyle/>
          <a:p>
            <a:r>
              <a:rPr lang="zh-CN" altLang="en-US" sz="2800" dirty="0" smtClean="0"/>
              <a:t>需要</a:t>
            </a:r>
            <a:r>
              <a:rPr lang="zh-CN" altLang="en-US" sz="2800" dirty="0" smtClean="0">
                <a:highlight>
                  <a:srgbClr val="FFFF00"/>
                </a:highlight>
              </a:rPr>
              <a:t>存储</a:t>
            </a:r>
            <a:r>
              <a:rPr lang="zh-CN" altLang="en-US" sz="2800" dirty="0" smtClean="0"/>
              <a:t>的对象主要是</a:t>
            </a:r>
            <a:r>
              <a:rPr lang="zh-CN" altLang="en-US" sz="2800" dirty="0" smtClean="0">
                <a:solidFill>
                  <a:srgbClr val="0000FF"/>
                </a:solidFill>
              </a:rPr>
              <a:t>账户类的对象</a:t>
            </a:r>
            <a:r>
              <a:rPr lang="zh-CN" altLang="en-US" sz="2800" dirty="0" smtClean="0"/>
              <a:t>，如账户、储户信息；</a:t>
            </a:r>
            <a:endParaRPr lang="en-US" altLang="zh-CN" sz="2800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3BB72-265E-4A69-B8FA-C2FBAB9B591B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0653" y="1700808"/>
            <a:ext cx="4876226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" name="墨迹 1"/>
              <p14:cNvContentPartPr/>
              <p14:nvPr/>
            </p14:nvContentPartPr>
            <p14:xfrm>
              <a:off x="7905600" y="2577960"/>
              <a:ext cx="1207080" cy="108648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3"/>
            </p:blipFill>
            <p:spPr>
              <a:xfrm>
                <a:off x="7905600" y="2577960"/>
                <a:ext cx="1207080" cy="108648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11.9 </a:t>
            </a:r>
            <a:r>
              <a:rPr lang="zh-CN" altLang="en-US" dirty="0" smtClean="0"/>
              <a:t>设计类中的服务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525963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确定类中应有的服务：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FF0000"/>
                </a:solidFill>
              </a:rPr>
              <a:t>状态图中的事件</a:t>
            </a:r>
            <a:r>
              <a:rPr lang="zh-CN" altLang="en-US" dirty="0" smtClean="0">
                <a:solidFill>
                  <a:srgbClr val="0000FF"/>
                </a:solidFill>
              </a:rPr>
              <a:t> </a:t>
            </a:r>
            <a:r>
              <a:rPr lang="zh-CN" altLang="en-US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≈</a:t>
            </a:r>
            <a:r>
              <a:rPr lang="zh-CN" altLang="en-US" dirty="0" smtClean="0">
                <a:solidFill>
                  <a:srgbClr val="0000FF"/>
                </a:solidFill>
              </a:rPr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类中的服务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0000FF"/>
                </a:solidFill>
              </a:rPr>
              <a:t>功能模型（</a:t>
            </a:r>
            <a:r>
              <a:rPr lang="zh-CN" altLang="en-US" dirty="0" smtClean="0">
                <a:solidFill>
                  <a:srgbClr val="FF0000"/>
                </a:solidFill>
                <a:highlight>
                  <a:srgbClr val="FFFF00"/>
                </a:highlight>
              </a:rPr>
              <a:t>？？？图、？？图</a:t>
            </a:r>
            <a:r>
              <a:rPr lang="zh-CN" altLang="en-US" dirty="0" smtClean="0">
                <a:solidFill>
                  <a:srgbClr val="0000FF"/>
                </a:solidFill>
              </a:rPr>
              <a:t>）</a:t>
            </a:r>
            <a:r>
              <a:rPr lang="zh-CN" altLang="en-US" dirty="0" smtClean="0"/>
              <a:t>指明了系统必须提供的</a:t>
            </a:r>
            <a:r>
              <a:rPr lang="zh-CN" altLang="en-US" dirty="0" smtClean="0">
                <a:solidFill>
                  <a:srgbClr val="0000FF"/>
                </a:solidFill>
              </a:rPr>
              <a:t>服务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3BB72-265E-4A69-B8FA-C2FBAB9B591B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设计实现服务的</a:t>
            </a:r>
            <a:r>
              <a:rPr lang="en-US" altLang="zh-CN" dirty="0" smtClean="0"/>
              <a:t>Method</a:t>
            </a:r>
            <a:endParaRPr lang="en-US" altLang="zh-CN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 smtClean="0"/>
              <a:t>设计实现服务的算法，考虑以下因素：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 smtClean="0"/>
              <a:t>算法复杂度；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 smtClean="0"/>
              <a:t>易理解、易实现；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 smtClean="0"/>
              <a:t>易修改。</a:t>
            </a:r>
            <a:r>
              <a:rPr lang="en-US" altLang="zh-CN" dirty="0" smtClean="0"/>
              <a:t>    </a:t>
            </a:r>
            <a:endParaRPr lang="en-US" altLang="zh-CN" dirty="0" smtClean="0"/>
          </a:p>
          <a:p>
            <a:r>
              <a:rPr lang="zh-CN" altLang="en-US" dirty="0" smtClean="0"/>
              <a:t>选择</a:t>
            </a:r>
            <a:r>
              <a:rPr lang="zh-CN" altLang="en-US" dirty="0" smtClean="0">
                <a:solidFill>
                  <a:srgbClr val="FF0000"/>
                </a:solidFill>
              </a:rPr>
              <a:t>数据结构</a:t>
            </a:r>
            <a:r>
              <a:rPr lang="zh-CN" altLang="en-US" dirty="0" smtClean="0"/>
              <a:t> （如顺序表、链表等）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FF0000"/>
                </a:solidFill>
              </a:rPr>
              <a:t>算法</a:t>
            </a:r>
            <a:r>
              <a:rPr lang="zh-CN" altLang="en-US" dirty="0" smtClean="0"/>
              <a:t>与数据结构的关系（取得最优设计）</a:t>
            </a:r>
            <a:endParaRPr lang="en-US" altLang="zh-CN" dirty="0" smtClean="0"/>
          </a:p>
          <a:p>
            <a:r>
              <a:rPr lang="zh-CN" altLang="en-US" dirty="0" smtClean="0"/>
              <a:t>定义</a:t>
            </a:r>
            <a:r>
              <a:rPr lang="zh-CN" altLang="en-US" dirty="0" smtClean="0">
                <a:solidFill>
                  <a:srgbClr val="0000FF"/>
                </a:solidFill>
              </a:rPr>
              <a:t>内部类和内部操作</a:t>
            </a:r>
            <a:r>
              <a:rPr lang="zh-CN" altLang="en-US" dirty="0" smtClean="0"/>
              <a:t>（需求陈述中没提到的类，主要用于</a:t>
            </a:r>
            <a:r>
              <a:rPr lang="zh-CN" altLang="en-US" u="sng" dirty="0" smtClean="0"/>
              <a:t>存放算法过程中的中间结果</a:t>
            </a:r>
            <a:r>
              <a:rPr lang="zh-CN" altLang="en-US" dirty="0" smtClean="0"/>
              <a:t>）。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3BB72-265E-4A69-B8FA-C2FBAB9B591B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oZGlkIjoiMWRkYWM2NTk3YTg3N2JkZWYxNzVkMWE0MDlhMjU5MDQ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2952</Words>
  <Application>WPS 演示</Application>
  <PresentationFormat>全屏显示(4:3)</PresentationFormat>
  <Paragraphs>400</Paragraphs>
  <Slides>34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2" baseType="lpstr">
      <vt:lpstr>Arial</vt:lpstr>
      <vt:lpstr>宋体</vt:lpstr>
      <vt:lpstr>Wingdings</vt:lpstr>
      <vt:lpstr>Calibri</vt:lpstr>
      <vt:lpstr>微软雅黑</vt:lpstr>
      <vt:lpstr>Arial Unicode MS</vt:lpstr>
      <vt:lpstr>Times New Roman</vt:lpstr>
      <vt:lpstr>Office 主题</vt:lpstr>
      <vt:lpstr>Revisiting Chapter 10</vt:lpstr>
      <vt:lpstr>PowerPoint 演示文稿</vt:lpstr>
      <vt:lpstr>PowerPoint 演示文稿</vt:lpstr>
      <vt:lpstr>PowerPoint 演示文稿</vt:lpstr>
      <vt:lpstr>第11章 面向对象设计</vt:lpstr>
      <vt:lpstr>PowerPoint 演示文稿</vt:lpstr>
      <vt:lpstr>面向对象分析(OOA: Object-Oriented Analysis)到面向对象设计(OOD: Object-Oriented Design)</vt:lpstr>
      <vt:lpstr>Outline</vt:lpstr>
      <vt:lpstr>11.1 面向对象设计的准则</vt:lpstr>
      <vt:lpstr>模块化</vt:lpstr>
      <vt:lpstr>PowerPoint 演示文稿</vt:lpstr>
      <vt:lpstr>弱耦合</vt:lpstr>
      <vt:lpstr>强内聚</vt:lpstr>
      <vt:lpstr>可重用</vt:lpstr>
      <vt:lpstr>11.2 启发式规则</vt:lpstr>
      <vt:lpstr>PowerPoint 演示文稿</vt:lpstr>
      <vt:lpstr>11.2 启发式规则</vt:lpstr>
      <vt:lpstr>PowerPoint 演示文稿</vt:lpstr>
      <vt:lpstr>PowerPoint 演示文稿</vt:lpstr>
      <vt:lpstr>11.3 软件重用</vt:lpstr>
      <vt:lpstr>软件成分的重用级别</vt:lpstr>
      <vt:lpstr>典型的可重用软件成分</vt:lpstr>
      <vt:lpstr>11.4 系统分解</vt:lpstr>
      <vt:lpstr>11.5 设计问题域子系统</vt:lpstr>
      <vt:lpstr>对问题域模型的主要补充或修改 （了解）</vt:lpstr>
      <vt:lpstr>11.6 设计人机交互子系统 （Human-Computer Interaction）</vt:lpstr>
      <vt:lpstr>11.7 设计任务管理子系统</vt:lpstr>
      <vt:lpstr>常见任务</vt:lpstr>
      <vt:lpstr>PowerPoint 演示文稿</vt:lpstr>
      <vt:lpstr>11.8 设计数据管理子系统</vt:lpstr>
      <vt:lpstr>设计数据管理子系统 （自学）</vt:lpstr>
      <vt:lpstr>PowerPoint 演示文稿</vt:lpstr>
      <vt:lpstr>11.9 设计类中的服务</vt:lpstr>
      <vt:lpstr>设计实现服务的Method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第11章 面向对象设计</dc:title>
  <dc:creator>Guohua</dc:creator>
  <cp:lastModifiedBy>LV</cp:lastModifiedBy>
  <cp:revision>450</cp:revision>
  <dcterms:created xsi:type="dcterms:W3CDTF">2016-11-07T03:08:00Z</dcterms:created>
  <dcterms:modified xsi:type="dcterms:W3CDTF">2025-11-10T02:20:20Z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2DAB8FED11174FDABA51B82AB6609EFD_12</vt:lpwstr>
  </property>
</Properties>
</file>