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handoutMasterIdLst>
    <p:handoutMasterId r:id="rId63"/>
  </p:handoutMasterIdLst>
  <p:sldIdLst>
    <p:sldId id="256" r:id="rId3"/>
    <p:sldId id="257" r:id="rId4"/>
    <p:sldId id="477" r:id="rId5"/>
    <p:sldId id="481" r:id="rId6"/>
    <p:sldId id="258" r:id="rId7"/>
    <p:sldId id="482" r:id="rId8"/>
    <p:sldId id="259" r:id="rId10"/>
    <p:sldId id="303" r:id="rId11"/>
    <p:sldId id="376" r:id="rId12"/>
    <p:sldId id="377" r:id="rId13"/>
    <p:sldId id="332" r:id="rId14"/>
    <p:sldId id="260" r:id="rId15"/>
    <p:sldId id="261" r:id="rId16"/>
    <p:sldId id="262" r:id="rId17"/>
    <p:sldId id="374" r:id="rId18"/>
    <p:sldId id="278" r:id="rId19"/>
    <p:sldId id="279" r:id="rId20"/>
    <p:sldId id="280" r:id="rId21"/>
    <p:sldId id="281" r:id="rId22"/>
    <p:sldId id="375" r:id="rId23"/>
    <p:sldId id="263" r:id="rId24"/>
    <p:sldId id="282" r:id="rId25"/>
    <p:sldId id="283" r:id="rId26"/>
    <p:sldId id="284" r:id="rId27"/>
    <p:sldId id="285" r:id="rId28"/>
    <p:sldId id="301" r:id="rId29"/>
    <p:sldId id="264" r:id="rId30"/>
    <p:sldId id="302" r:id="rId31"/>
    <p:sldId id="478" r:id="rId32"/>
    <p:sldId id="483" r:id="rId33"/>
    <p:sldId id="480" r:id="rId34"/>
    <p:sldId id="411" r:id="rId35"/>
    <p:sldId id="414" r:id="rId36"/>
    <p:sldId id="412" r:id="rId37"/>
    <p:sldId id="413" r:id="rId38"/>
    <p:sldId id="439" r:id="rId39"/>
    <p:sldId id="265" r:id="rId40"/>
    <p:sldId id="266" r:id="rId41"/>
    <p:sldId id="267" r:id="rId42"/>
    <p:sldId id="268" r:id="rId43"/>
    <p:sldId id="269" r:id="rId44"/>
    <p:sldId id="416" r:id="rId45"/>
    <p:sldId id="415" r:id="rId46"/>
    <p:sldId id="462" r:id="rId47"/>
    <p:sldId id="270" r:id="rId48"/>
    <p:sldId id="271" r:id="rId49"/>
    <p:sldId id="417" r:id="rId50"/>
    <p:sldId id="418" r:id="rId51"/>
    <p:sldId id="419" r:id="rId52"/>
    <p:sldId id="484" r:id="rId53"/>
    <p:sldId id="272" r:id="rId54"/>
    <p:sldId id="273" r:id="rId55"/>
    <p:sldId id="420" r:id="rId56"/>
    <p:sldId id="274" r:id="rId57"/>
    <p:sldId id="421" r:id="rId58"/>
    <p:sldId id="275" r:id="rId59"/>
    <p:sldId id="276" r:id="rId60"/>
    <p:sldId id="277" r:id="rId61"/>
    <p:sldId id="373" r:id="rId62"/>
  </p:sldIdLst>
  <p:sldSz cx="12192000" cy="6858000"/>
  <p:notesSz cx="6858000" cy="9144000"/>
  <p:custDataLst>
    <p:tags r:id="rId6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6" autoAdjust="0"/>
    <p:restoredTop sz="85379" autoAdjust="0"/>
  </p:normalViewPr>
  <p:slideViewPr>
    <p:cSldViewPr snapToGrid="0" showGuides="1">
      <p:cViewPr varScale="1">
        <p:scale>
          <a:sx n="57" d="100"/>
          <a:sy n="57" d="100"/>
        </p:scale>
        <p:origin x="-980" y="-80"/>
      </p:cViewPr>
      <p:guideLst>
        <p:guide orient="horz" pos="214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7" Type="http://schemas.openxmlformats.org/officeDocument/2006/relationships/tags" Target="tags/tag5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handoutMaster" Target="handoutMasters/handoutMaster1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8T22:09: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29810.000 6668.000,'35.000'0.000,"-17.000"0.000,-1.000 0.000,-17.000-18.000,18.000 18.000,0.000 0.000,-1.000-18.000,1.000 18.000,-1.000 0.000,1.000-17.000,0.000 17.000,-1.000 0.000,1.000 0.000,17.000 0.000,-17.000 0.000,0.000 0.000,-1.000 0.000,1.000 0.000,0.000 0.000,-1.000 0.000,1.000 0.000,-1.000 0.000,19.000 0.000,-19.000 0.000,1.000 0.000,0.000 0.000,17.000 0.000,-17.000 0.000,17.000 0.000,0.000 0.000,0.000 0.000,-17.000 0.000,0.000 0.000,17.000 0.000,-17.000 0.000,-1.000 0.000,1.000 0.000,-1.000 0.000,19.000 0.000,-1.000 0.000,0.000 17.000,1.000-17.000,-1.000 0.000,0.000 0.000,-17.000 0.000,17.000 18.000,0.000-18.000,-17.000 0.000,17.000 0.000,1.000 0.000,-19.000 0.000,1.000 0.000,-1.000 0.000,1.000 0.000,17.000 0.000,-17.000 0.000,0.000 0.000,-1.000 0.000,19.000 0.000,-19.000 0.000,18.000 0.000,18.000 0.000,-17.000 0.000,-1.000 0.000,0.000 0.000,-17.000 0.000,0.000 0.000,-1.000 0.000,1.000 0.000,-1.000 0.000,1.000 0.000,0.000 0.000,17.000 0.000,-17.000 0.000,-1.000 0.000,1.000 0.000,17.000 0.000,-17.000 0.000,17.000 0.000,0.000 0.000,1.000 0.000,-1.000 0.000,-17.000 0.000,17.000 0.000,-18.000 0.000,1.000 0.000,0.000 0.000,-1.000 0.000,1.000 0.000,0.000 0.000,-1.000 0.000,1.000 0.000,0.000 0.000,-1.000 0.000,19.000 0.000,-1.000 0.000,0.000 0.000,0.000 0.000,1.000 0.000,-1.000 0.000,-17.000 0.000,-1.000 0.000,1.000 0.000,-1.000 0.000,19.000 0.000,-1.000 0.000,18.000 0.000,-18.000 0.000,0.000 0.000,18.000 0.000,-17.000 0.000,-19.000 0.000</inkml:trace>
  <inkml:trace contextRef="#ctx0" brushRef="#br0">2681.000 8167.000,'71.000'0.000,"-18.000"0.000,17.000 0.000,18.000 0.000,-35.000 0.000,0.000 0.000,-18.000 0.000,1.000 0.000,-1.000-18.000,-17.000 18.000,-1.000 0.000,19.000 0.000,-19.000 0.000,1.000 0.000,17.000 0.000,0.000 0.000,1.000 0.000,-1.000 0.000,0.000 0.000,1.000 0.000,16.000 0.000,-16.000 0.000,52.000 18.000,-35.000-18.000,17.000 0.000,19.000 0.000,-1.000 35.000,-18.000-35.000,19.000 0.000,-19.000 0.000,-17.000 0.000,35.000 0.000,-35.000 0.000,18.000 0.000,-1.000 0.000,1.000 0.000,-18.000 0.000,35.000 0.000,-18.000 0.000,36.000 0.000,-18.000 0.000,-17.000 0.000,-18.000 0.000,35.000 0.000,-53.000 0.000,18.000 0.000,-17.000 0.000,17.000 0.000,-1.000 0.000,19.000 0.000,-53.000 0.000,17.000 0.000,35.000 0.000,-34.000 0.000,-19.000 0.000,72.000 0.000,-37.000 0.000,37.000 0.000,-19.000 0.000,18.000-18.000,-17.000 18.000,-36.000 0.000,1.000 0.000,-19.000 0.000,1.000 0.000,-1.000 0.000,1.000 0.000,0.000 0.000,17.000-17.000,0.000 17.000,1.000 0.000,16.000 0.000,-16.000-18.000,-1.000 18.000,0.000 0.000,-17.000 0.000,17.000 0.000,-17.000 0.000</inkml:trace>
  <inkml:trace contextRef="#ctx0" brushRef="#br0">14499.000 9648.000,'88.000'0.000,"-17.000"0.000,35.000 0.000,17.000 0.000,54.000 0.000,-72.000-17.000,19.000 17.000,-18.000-18.000,0.000 18.000,-18.000-35.000,-53.000 35.000,18.000 0.000,-18.000-18.000,18.000 18.000,-35.000 0.000,35.000-17.000,-18.000 17.000,0.000-18.000,18.000 18.000,-18.000 0.000,1.000 0.000,-1.000 0.000,0.000 0.000,-17.000 0.000,0.000 0.000,-1.000 0.000,1.000 0.000,17.000-18.000,0.000 18.000,18.000 0.000,0.000 0.000,-17.000 0.000,-1.000 0.000,0.000 0.000,-17.000 0.000,17.000 0.000,18.000 0.000,-18.000 0.000,18.000 0.000,0.000 0.000,0.000 0.000,18.000 0.000,-19.000 0.000,1.000 0.000,-17.000 0.000,-19.000 0.000,1.000 0.000,0.000 0.000,-1.000 0.000,1.000 0.000,17.000 0.000,18.000 0.000,-18.000 0.000,18.000 0.000,0.000 0.000,18.000 0.000,-18.000 0.000,0.000 0.000,-18.000 0.000,0.000 0.000,-17.000 0.000,17.000 0.000,18.000 0.000,-18.000 0.000,0.000 0.000,1.000 0.000,-1.000 0.000,0.000 0.000,-17.000 0.000,17.000 0.000,0.000 0.000,1.000 0.000,17.000 0.000,0.000 0.000,35.000 0.000,-35.000 0.000,17.000 0.000,-17.000 0.000,35.000 0.000,-17.000 0.000,-1.000 0.000,1.000 0.000,-36.000 0.000,1.000 0.000,-1.000 0.000,0.000 0.000,-17.000 0.000,-1.000 0.000,1.000 0.000,0.000 0.000,-1.000 0.000,19.000 0.000,-1.000 0.000,18.000 0.000,0.000 0.000,0.000 0.000,-18.000 0.000,18.000 0.000,-36.000 0.000,1.000 0.000,0.000 0.000,17.000 0.000,-17.000 0.000,17.000 0.000,-17.000 0.000,52.000 0.000,-35.000 0.000,-17.000 0.000,17.000 0.000,1.000 0.000,-19.000 0.000,1.000 0.000,17.000 0.000,-17.000 0.000,17.000 0.000,0.000 0.000,1.000 0.000,-1.000 0.000,-17.000 0.000,17.000 0.000,-18.000 0.000,1.000 0.000,17.000 0.000,1.000 0.000,-1.000 0.000,-17.000 0.000,17.000 0.000,-17.000 0.000,-1.000 0.000,1.000 0.000,-1.000 0.000,1.000 0.000,0.000 0.000,17.000 0.000,-17.000 0.000,17.000 0.000,0.000 0.000,-17.000 0.000,17.000 0.000,-17.000 0.000,-1.000 0.000,1.000 0.000,0.000 0.000,70.000 0.000,-18.000 0.000,19.000 0.000,-19.000 0.000,1.000 0.000,-54.000 0.000,54.000 0.000,-36.000 0.000,-17.000 0.000,-1.000 0.000,1.000 0.000,0.000 0.000,-1.000 0.000,1.000 0.000,0.000 0.000,17.000 0.000,-17.000 0.000,-1.000 0.000,1.000 0.000,17.000 0.000,-17.000 0.000,17.000 0.000,-17.000 0.000,-1.000 0.000,1.000 0.000,0.000 0.000,17.000 0.000,53.000 18.000,-17.000-18.000,17.000 0.000,-18.000 0.000,1.000 0.000,-36.000 18.000,0.000-18.000,-17.000 0.000,0.000 0.000,17.000 0.000,0.000 0.000,1.000 0.000,34.000 0.000,-17.000 0.000,18.000 0.000,-18.000 0.000,-36.000 0.000,1.000 0.000,17.000 0.000,-17.000 0.000,17.000 0.000,-17.000 0.000,17.000 0.000,-17.000 0.000,17.000 0.000,-18.000 0.000,1.000 0.000,0.000 0.000,-1.000 0.000,19.000 0.000,-1.000 0.000,0.000 0.000,18.000 0.000,18.000 0.000,-36.000 0.000,18.000 0.000,-18.000 0.000,0.000 0.000,18.000 0.000,-17.000 0.000,-1.000 0.000,0.000 0.000,0.000 0.000,1.000 17.000,-19.000-17.000,1.000 0.000,17.000 0.000,18.000 0.000,0.000 0.000,-18.000 0.000,18.000 0.000,18.000 0.000,-18.000 0.000,17.000 36.000,19.000-36.000,-37.000 0.000,1.000 0.000,0.000 0.000,36.000 0.000,-54.000 0.000,18.000 0.000,-18.000 0.000,0.000 0.000,18.000 0.000,-18.000 17.000,18.000-17.000,-17.000 0.000,-1.000 0.000,0.000 0.000,0.000 0.000,-17.000 0.000,17.000 0.000,-17.000 0.000,0.000 0.000,52.000 0.000,-52.000 0.000,70.000 0.000,-35.000 18.000,53.000-1.000,17.000-17.000,-52.000 18.000,88.000 17.000,-89.000-35.000,18.000 18.000,-35.000 0.000,35.000-18.000,-70.000 0.000,53.000 17.000,-36.000-17.000,0.000 0.000,0.000 0.000,-17.000 0.000,17.000 18.000,36.000-18.000,-18.000 0.000,0.000 0.000,0.000 0.000,0.000 0.000,17.000 0.000,-35.000 18.000,18.000-18.000,-17.000 0.000,-1.000 0.000,0.000 0.000,18.000 0.000,0.000 0.000,0.000 0.000,35.000 0.000,-17.000 0.000,-1.000 0.000,1.000 0.000,-18.000 0.000,0.000 0.000,17.000 0.000,-35.000 0.000,18.000 0.000,-17.000 0.000,-1.000 0.000,18.000 0.000,0.000 0.000,0.000 0.000,0.000 0.000,17.000 0.000,1.000 0.000,-18.000 0.000,35.000 0.000,-18.000 0.000,19.000-18.000,-36.000 18.000,35.000 0.000,-35.000 0.000,0.000-18.000,35.000 18.000,-35.000 0.000,0.000 0.000,-1.000-35.000,-16.000 35.000,17.000 0.000,17.000 0.000,-34.000 0.000,-19.000 0.000,36.000-18.000,-18.000 18.000,1.000 0.000,-1.000 0.000,18.000-17.000,17.000 17.000,-17.000 0.000,0.000 0.000,-18.000 0.000,1.000 0.000,-1.000 0.000,0.000 0.000,1.000 0.000,-19.000 0.000,1.000 0.000,0.000 0.000,-1.000 0.000,1.000 0.000,-1.000 0.000,54.000 0.000,0.000 0.000,-19.000 0.000,19.000 0.000,-18.000 0.000,-18.000 0.000,18.000 0.000,-18.000 0.000,1.000 0.000,17.000 0.000,-18.000 0.000,18.000 0.000,-36.000 0.000,19.000 0.000,-1.000 0.000,-17.000 0.000,-1.000 0.000,19.000 0.000,16.000 0.000,37.000 0.000,-54.000 0.000,18.000-36.000,-18.000 36.000,0.000 0.000,-17.000 0.000,0.000 0.000,-1.000 0.000,1.000 0.000,0.000 0.000,52.000-17.000,-17.000 17.000,18.000 0.000,-36.000 0.000,-17.000 0.000,-1.000 0.000,1.000 0.000,17.000 0.000,0.000-18.000,36.000 18.000,-1.000 0.000,36.000 0.000,-35.000 0.000,-1.000 0.000,1.000 0.000,-18.000 0.000,-35.000 0.000,17.000 0.000,18.000 0.000,-18.000 0.000,18.000 0.000,17.000 0.000,1.000 0.000,-71.000-17.000,18.000 17.000,-1.000 0.000,1.000 0.000,0.000 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8T22:09: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9031.000 8220.000,'-18.000'0.000,"1.000"17.000,17.000 1.000,0.000 0.000,17.000 17.000,1.000 0.000,0.000-35.000,17.000 35.000,0.000-17.000,1.000 0.000,-19.000-18.000,19.000 17.000,16.000-17.000,-16.000 0.000,17.000 0.000,0.000 0.000,-1.000 0.000,19.000 0.000,0.000 0.000,17.000 0.000,-35.000 0.000,-18.000 0.000,-17.000 0.000,-1.000 0.000,1.000 0.000,17.000 0.000,-17.000 0.000,17.000 0.000,0.000-17.000,1.000 17.000,-1.000-36.000,0.000-16.000,-17.000 34.000,17.000-17.000,0.000 17.000,1.000 0.000,-1.000 18.000,18.000-17.000,-18.000-1.000,36.000-17.000,-36.000 17.000,-17.000 18.000,-1.000 0.000,1.000 0.000,0.000 0.000,17.000 18.000,-18.000 17.000,1.000 0.000,17.000 1.000,-17.000-1.000,17.000-17.000,18.000-1.000,18.000 1.000,-18.000-18.000,17.000 0.000,18.000 0.000,-35.000 0.000,36.000 0.000,-19.000 0.000,1.000 0.000,34.000 0.000,-16.000 0.000,-36.000 0.000,35.000 0.000,-53.000 0.000,18.000 0.000,-18.000 0.000,1.000 0.000,-19.000 0.000,1.000 0.000,35.000 0.000,-18.000 0.000,0.000 0.000,1.000 0.000,-1.000 0.000,0.000 0.000,18.000 0.000,-18.000-18.000,1.000 18.000,16.000-17.000,-34.000-1.000,17.000 0.000,-17.000 18.000,17.000-35.000,18.000 17.000,-17.000-17.000,-1.000 35.000,53.000-35.000,-53.000 17.000,1.000 1.000,-1.000 17.000,0.000-53.000,-17.000 53.000,-1.000 0.000,1.000 0.000,0.000 0.000,-1.000 0.000,1.000 35.000,0.000-17.000,17.000 17.000,0.000-18.000,18.000-17.000,0.000 18.000,35.000-18.000,18.000 0.000,-35.000 0.000,34.000 0.000,54.000 0.000,-18.000 0.000,-35.000 0.000,35.000 0.000,-35.000 0.000,70.000 0.000,-87.000 0.000,16.000 0.000,-34.000 0.000,-18.000 0.000,0.000-18.000,-36.000 1.000,1.000 17.000,0.000 0.000,-1.000 0.000,1.000-18.000,17.000 1.000,-17.000 17.000,17.000-18.000,0.000 18.000,18.000 0.000,18.000-35.000,-18.000 17.000,0.000 18.000,-18.000-18.000,18.000 1.000,18.000 17.000,-36.000 0.000,18.000 0.000,-36.000 0.000,1.000 0.000,0.000 0.000,-1.000 0.000,1.000 0.000,0.000 0.000,-1.000 0.000,18.000 0.000,-17.000 0.000,0.000 0.000,17.000 0.000,-17.000 0.000,-1.000 0.000,19.000 0.000,17.000 0.000,52.000 0.000,-16.000 0.000,16.000 0.000,-34.000 0.000,17.000 0.000,-17.000 0.000,17.000 0.000,-35.000 0.000,-18.000 0.000,0.000 0.000,-17.000 0.000,0.000 0.000,52.000 0.000,-35.000 0.000,1.000 0.000,17.000 0.000,-18.000 0.000,18.000-18.000,-18.000 0.000,0.000 1.000,-17.000 17.000,17.000 0.000,-17.000 0.000,17.000 0.000,36.000 0.000,-18.000 0.000,-18.000 0.000,36.000 0.000,-19.000 0.000,37.000 0.000,-36.000 0.000,35.000 0.000,-18.000 0.000,36.000 0.000,-53.000 0.000,35.000 0.000,-17.000 0.000,70.000 0.000,0.000 0.000,0.000 0.000,-35.000 0.000,-18.000 0.000,-17.000 0.000,-36.000 0.000,18.000 0.000,-18.000 0.000,0.000 0.000,1.000-18.000,-1.000 18.000,53.000 0.000,-17.000 0.000,35.000 0.000,17.000-35.000,-35.000 0.000,53.000 35.000,-35.000-18.000,53.000-17.000,-53.000 35.000,0.000 0.000,35.000 0.000,-35.000 0.000,-18.000 0.000,-18.000 0.000,1.000 0.000,-18.000 0.000,-18.000 0.000,18.000 0.000,-18.000 0.000,18.000 0.000,-18.000 0.000,36.000 0.000,17.000 0.000,-35.000 0.000,0.000 0.000,35.000 0.000,18.000 0.000,35.000 0.000,36.000 0.000,-1.000 0.000,36.000 0.000,-1.000 0.000,-34.000 0.000,-1.000 0.000,-88.000 0.000,-17.000 0.000,-1.000 0.000,-52.000 0.000,0.000 0.000,-1.000 0.000,1.000 0.000,0.000 0.000,-1.000 0.000,19.000 0.000,-1.000 0.000,18.000 0.000,-18.000 17.000,36.000 1.000,-1.000 17.000,18.000-17.000,36.000 0.000,-18.000-1.000,70.000 18.000,18.000 18.000,18.000-53.000,-71.000 0.000,-35.000 0.000,-18.000 0.000,-53.000 0.000,-17.000 0.000,-1.000 0.000,19.000 18.000,-19.000 0.000,19.000-18.000,16.000 0.000,37.000 35.000,-36.000-35.000,17.000 0.000,1.000 0.000,-1.000 0.000,18.000 0.000,36.000 0.000,17.000 0.000,35.000 0.000,36.000 0.000,35.000 0.000,-35.000 0.000,-1.000 0.000,-17.000 0.000,-52.000 0.000,-37.000 0.000,1.000 0.000,-18.000 0.000,-35.000 0.000,-17.000 0.000,-1.000 0.000,-18.000 0.000,1.000 0.000,0.000 0.000,-1.000 0.000,1.000 0.000,0.000 0.000,-1.000 0.000,19.000 0.000,-1.000 0.000,0.000 0.000,18.000 0.000,18.000 0.000,17.000 0.000,18.000 18.000,35.000-18.000,212.000 0.000,-142.000 0.000,1.000 0.000,0.000 0.000,-36.000 0.000,-35.000 0.000,18.000 0.000,-53.000 0.000,-1.000 0.000,-34.000 0.000,0.000 0.000,-19.000 0.000,-34.000 0.000,17.000 0.000,1.000 0.000,-1.000 0.000,0.000 0.000,1.000 0.000,-1.000 0.000,0.000 0.000,18.000 0.000,-18.000 0.000,18.000 0.000,0.000 0.000,-18.000 0.000,54.000 0.000,-19.000 0.000,71.000 0.000,-35.000 0.000,-18.000 0.000,-17.000-18.000,-1.000-17.000,-17.000 35.000,18.000 0.000,-1.000-36.000,1.000 36.000,-18.000-17.000,35.000 17.000,-35.000 0.000,0.000-18.000,17.000 0.000,-17.000 18.000,0.000-17.000,0.000 17.000,-18.000-18.000,36.000 1.000,-36.000 17.000,18.000 0.000,-17.000 0.000,-1.000-18.000,-18.000 18.000,1.000 0.000,0.000-18.000,-1.000 1.000,1.000 17.000,0.000 0.000</inkml:trace>
  <inkml:trace contextRef="#ctx0" brushRef="#br0">1993.000 9684.000,'18.000'0.000,"-1.000"35.000,1.000-35.000,-18.000 35.000,18.000 36.000,17.000-36.000,-17.000 18.000,17.000-18.000,18.000 18.000,-18.000 0.000,18.000-35.000,-18.000-18.000,1.000 0.000,-1.000 17.000,0.000 1.000,18.000-18.000,35.000 0.000,-35.000 0.000,0.000 0.000,-18.000 0.000,18.000 0.000,18.000 0.000,-1.000 0.000,1.000 0.000,0.000 0.000,-19.000 0.000,19.000 0.000,17.000 0.000,-35.000 0.000,35.000 0.000,18.000 0.000,-35.000 0.000,35.000 0.000,52.000-35.000,-87.000 17.000,17.000 1.000,-17.000 17.000,52.000-18.000,-17.000-35.000,-18.000 35.000,0.000 1.000,-35.000-19.000,-18.000 36.000,18.000 0.000,-17.000-17.000,-1.000 17.000,-17.000 0.000,17.000 0.000,0.000-35.000,0.000 35.000,1.000 0.000,17.000 0.000,-36.000 0.000,36.000 0.000,0.000 0.000,-18.000 0.000,-17.000 0.000,35.000 0.000,0.000 0.000,35.000 0.000,18.000 35.000,70.000-35.000,-17.000 53.000,17.000-53.000,-34.000 17.000,52.000-17.000,17.000 0.000,-70.000 0.000,36.000 0.000,-36.000 0.000,-35.000 0.000,-1.000 0.000,19.000 0.000,17.000 0.000,0.000 0.000,-35.000 0.000,0.000 0.000,-18.000 0.000,-35.000 0.000,0.000 0.000,-18.000 0.000,18.000 0.000,-18.000 0.000,18.000 0.000,18.000 0.000,35.000 0.000,-36.000 0.000,36.000 0.000,35.000 0.000,36.000 0.000,-1.000 0.000,-35.000 0.000,53.000 0.000,-18.000 0.000,-34.000 0.000,34.000 0.000,-35.000 0.000,-35.000 0.000,35.000 0.000,-35.000 0.000,-18.000 0.000,36.000-17.000,-19.000 17.000,36.000-36.000,-35.000 36.000,18.000-17.000,-18.000-1.000,-36.000-17.000,1.000 35.000,-36.000 0.000,0.000 0.000,18.000 0.000,18.000-18.000,-18.000 1.000,0.000 17.000,-1.000-18.000,-16.000 18.000,-19.000 0.000,1.000 0.000,53.000-35.000,-18.000 17.000,17.000 18.000,1.000-35.000,17.000-1.000,0.000 19.000,-35.000-18.000,0.000 17.000,17.000 0.000,-34.000 1.000,-1.000 17.000,-17.000-18.000,-1.000 0.000,1.000 18.000,17.000-17.000,-17.000 17.000,17.000 0.000,18.000 0.000,18.000 0.000,-1.000 0.000,-17.000 0.000,0.000 0.000,35.000 0.000,-35.000 0.000,35.000 0.000,-17.000 0.000,35.000 0.000,-1.000 0.000,1.000 0.000,18.000 0.000,-54.000 0.000,-17.000 0.000,-35.000-18.000,0.000 0.000,-1.000 18.000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8T22:09: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20690.000 15716.000,'106.000'0.000,"-35.000"0.000,70.000 18.000,-71.000-18.000,19.000 0.000,-1.000 18.000,53.000 17.000,-35.000-18.000,17.000-17.000,18.000 0.000,-35.000 0.000,-35.000 0.000,35.000 0.000,-18.000 0.000,-18.000 0.000,19.000 0.000,-19.000 0.000,18.000 0.000,18.000 0.000,0.000 0.000,-18.000 0.000,-17.000 0.000,-1.000 0.000,18.000 0.000,-17.000 0.000,17.000 0.000,-17.000 0.000,17.000 0.000,-17.000 0.000,34.000 0.000,-16.000 0.000,16.000 0.000,-34.000 0.000,17.000 0.000,-17.000 0.000,17.000 0.000,-18.000 0.000,160.000 0.000,-124.000 0.000,70.000 0.000,-35.000 0.000,0.000 0.000,0.000 0.000,-17.000 0.000,-18.000 0.000,-36.000 0.000,18.000 0.000,-17.000 0.000,35.000 0.000,0.000 0.000,-18.000 0.000,18.000 0.000,-1.000 0.000,-16.000 0.000,-36.000 0.000,17.000 0.000,-17.000 0.000,18.000 0.000,-18.000 0.000,17.000 0.000,36.000 0.000,17.000 0.000,-52.000 0.000,17.000 0.000,0.000 0.000,1.000 0.000,-19.000 0.000,18.000 0.000,-52.000 0.000,16.000 0.000,-34.000 0.000,35.000 0.000,-35.000 0.000,-1.000-17.000,1.000 17.000,0.000 0.000,-1.000 0.000,18.000 0.000,-17.000 0.000,0.000 0.000,17.000 0.000,18.000 0.000,-18.000 0.000,1.000-18.000,-1.000 18.000,0.000 0.000,-17.000 0.000,17.000 0.000,-17.000 0.000,-18.000-17.000,35.000-1.000,-17.000 18.000,-1.000 0.000,1.000 0.000,-1.000 0.000,19.000 0.000,-19.000 0.000,1.000 0.000,0.000 0.000,17.000-18.000,-17.000 18.000,-1.000 0.000,1.000 0.000</inkml:trace>
  <inkml:trace contextRef="#ctx0" brushRef="#br0">21766.000 17339.000,'177.000'0.000,"17.000"53.000,-18.000-18.000,1.000-17.000,-19.000-18.000,19.000 0.000,-36.000 18.000,0.000 17.000,18.000-18.000,-53.000-17.000,-18.000 18.000,18.000 17.000,17.000 1.000,-35.000 17.000,-35.000-36.000,141.000 36.000,-141.000-53.000,35.000 0.000,-35.000 0.000,-18.000 0.000,18.000 0.000,36.000 0.000,-36.000 0.000,17.000 0.000,36.000 0.000,17.000 0.000,-17.000 0.000,-35.000 0.000,17.000 0.000,18.000 0.000,0.000 0.000,-1.000 0.000,-16.000 0.000,34.000 0.000,-17.000 0.000,70.000 0.000,18.000 0.000,-53.000 0.000,1.000 0.000,-1.000 0.000,0.000 0.000,0.000 0.000,0.000 0.000,18.000 0.000,-53.000 0.000,35.000 0.000,-35.000 0.000,-1.000 0.000,1.000 0.000,-18.000 0.000,18.000 0.000,-18.000 0.000,-17.000 0.000,17.000 0.000,-17.000 0.000,35.000-35.000,-18.000 35.000,-18.000-18.000,19.000 1.000,-1.000-1.000,-18.000 18.000,-17.000 0.000,0.000 0.000,35.000 0.000,-35.000-18.000,35.000 1.000,-35.000 17.000,0.000-18.000,35.000 18.000,-35.000-53.000,0.000 53.000,35.000-18.000,-35.000 18.000,-17.000 0.000,70.000-17.000,-18.000-1.000,-18.000 1.000,18.000 17.000,-35.000 0.000,36.000-36.000,-19.000 19.000,89.000-1.000,-106.000 0.000,35.000 1.000,-17.000-19.000,-1.000 19.000,-17.000-1.000,0.000 18.000,0.000-18.000,17.000 1.000,-34.000-1.000,17.000 1.000,-36.000-1.000,19.000 0.000,-19.000 18.000,1.000 0.000,-18.000-17.000,17.000 17.000,1.000-18.000,0.000 18.000</inkml:trace>
  <inkml:trace contextRef="#ctx0" brushRef="#br0">4339.000 18733.000,'88.000'0.000,"1.000"0.000,16.000 0.000,1.000 0.000,35.000 0.000,-52.000 0.000,16.000 0.000,36.000 0.000,71.000 0.000,-71.000 0.000,0.000 0.000,-35.000 0.000,-35.000 0.000,-18.000 0.000,0.000 0.000,-18.000 0.000,18.000 0.000,0.000 0.000,35.000 0.000,-35.000 0.000,17.000 0.000,19.000 0.000,-37.000 0.000,-16.000 0.000,52.000 0.000,-35.000 0.000,-18.000 0.000,18.000 0.000,0.000 0.000,0.000 0.000,17.000 0.000,1.000 0.000,-18.000 0.000,-18.000 0.000,-17.000 0.000,35.000 0.000,0.000 0.000,0.000 0.000,0.000 0.000,17.000 0.000,-17.000 0.000,-18.000 0.000,1.000 0.000,-1.000 0.000,0.000 0.000,-17.000 0.000,-1.000 0.000,1.000 0.000,0.000 0.000,-1.000 0.000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8T22:09: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5655.000 5986.000,'0.000'0.000,"100.000"0.000,-1.000 0.000,33.000 0.000,34.000 0.000,-100.000 0.000,99.000 0.000,-66.000 0.000,67.000 0.000,32.000 0.000,-66.000 0.000,-65.000 0.000,32.000 0.000,-33.000 0.000,0.000 0.000,0.000 0.000,-33.000 0.000,33.000 0.000,1.000 0.000,-1.000 0.000,0.000 0.000,33.000 0.000,-33.000 0.000,0.000 0.000,34.000 0.000,-1.000 0.000,-33.000 0.000,33.000 0.000,0.000 0.000,34.000 0.000,-1.000 0.000,-33.000 0.000,-33.000 0.000,0.000 0.000,-32.000 0.000,-34.000 0.000,33.000 0.000,0.000 0.000,0.000 0.000,0.000 0.000,0.000 0.000,0.000 0.000,-33.000 0.000,33.000 0.000,33.000 0.000,-66.000 0.000,99.000 0.000,1.000 0.000,-67.000 0.000,66.000 0.000,-33.000 0.000,0.000 0.000,-33.000 0.000,-33.000 0.000,33.000-33.000,-33.000 33.000,67.000 0.000,-67.000 0.000,33.000 0.000,66.000 0.000,-33.000 0.000,33.000 0.000,-66.000 0.000,33.000 0.000,-33.000 0.000,-33.000 0.000,67.000 0.000,-34.000 0.000,0.000 0.000,33.000 0.000,-33.000 0.000,0.000 0.000,0.000 0.000,-33.000 0.000,66.000 0.000,0.000 0.000,-33.000 0.000,67.000 0.000,-1.000 0.000,-33.000 0.000,0.000 0.000,-66.000 0.000,33.000 0.000,0.000 0.000</inkml:trace>
  <inkml:trace contextRef="#ctx0" brushRef="#br0">8037.000 12634.000,'0.000'0.000,"66.000"0.000,66.000 0.000,-33.000 0.000,34.000 0.000,32.000 0.000,0.000 0.000,-32.000 0.000,65.000 0.000,-66.000 0.000,-32.000 0.000,-1.000 0.000,-33.000 0.000,0.000 0.000,0.000-33.000,-33.000 33.000,0.000 0.000,-33.000 0.000,67.000 0.000,-34.000 0.000,33.000 0.000,-33.000-66.000,66.000 66.000,-99.000 0.000,33.000 0.000,-33.000 0.000,66.000 0.000,0.000 0.000,34.000 0.000,-34.000 0.000,0.000 0.000,0.000 0.000,-33.000 0.000,66.000 0.000,-99.000 0.000,33.000 0.000,34.000 0.000,32.000 0.000,33.000 0.000</inkml:trace>
  <inkml:trace contextRef="#ctx0" brushRef="#br0">13097.000 12832.000,'0.000'0.000,"33.000"0.000,-33.000 0.000,33.000 0.000,33.000 0.000,-33.000 0.000,33.000 0.000,1.000 0.000,-1.000 0.000,-33.000 0.000,33.000 0.000,33.000 0.000,-66.000 0.000,0.000 0.000,33.000 0.000,-33.000 0.000,1.000 0.000,32.000 0.000,33.000 0.000,0.000 0.000,0.000 0.000,34.000 0.000,-34.000 0.000,33.000 0.000,-99.000 0.000,66.000 0.000,1.000 0.000,-100.000 0.000,99.000 0.000,-33.000 0.000,66.000 0.000,-32.000 0.000,65.000 0.000,0.000 0.000,-32.000 0.000,-34.000 0.000,33.000 0.000,-33.000 0.000,1.000 0.000,-67.000 0.000,66.000 0.000,-66.000 0.000,-33.000 0.000,66.000 0.000,-33.000 0.000,33.000 0.000,-33.000 0.000,33.000 0.000,1.000 0.000,32.000 0.000,33.000 0.000,-33.000 0.000,-33.000 0.000,1.000 0.000,32.000 0.000,-66.000 0.000,-33.000 0.000,33.000 0.000,0.000 0.000,0.000 0.000,0.000 0.000,0.000 0.000,0.000 0.000,0.000 0.000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8T22:09:1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725.000 297.000,'4.000'0.000,"0.000"0.000,-1.000 0.000,1.000 0.000,0.000 0.000,-1.000 0.000,0.000 0.000,0.000 0.000,0.000 1.000,0.000-1.000,0.000 0.000,0.000 0.000,0.000 0.000,0.000 0.000,0.000 0.000,1.000 0.000,0.000 0.000,-1.000 0.000,1.000 0.000,-1.000 0.000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8T22:09:1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458.000 680.000,'4.000'0.000,"0.000"0.000,-1.000 0.000,1.000 0.000,0.000 0.000,-1.000 0.000,0.000 0.000,1.000 0.000,1.000 0.000,-1.000 0.000,0.000-1.000,-1.000 1.000,0.000 0.000,2.000-1.000,-1.000 0.000,-1.000 1.000,1.000-1.000,0.000 1.000,1.000 0.000,-2.000 0.000,1.000-1.000,0.000 1.000,0.000-2.000,1.000 2.000,-2.000 0.000,0.000 0.000,1.000-1.000,0.000 1.000,-1.000 0.000,0.000 0.000,0.000 0.000,2.000 0.000,-1.000-1.000,-1.000 1.000,1.000 0.000,-1.000 0.000,3.000 0.000,-1.000 0.000,-2.000 0.000,0.000 0.000,0.000 0.000,1.000 0.000,-1.000 0.000,3.000 1.000,-1.000-1.000,-2.000 0.000,0.000 0.000,0.000 1.000,1.000 0.000,-1.000-1.000,0.000 1.000,0.000-1.000,1.000 1.000,0.000 0.000,0.000-1.000,-1.000 0.000,0.000 0.000,0.000 0.000,2.000 0.000,-1.000 0.000,-1.000 0.000,0.000 0.000,0.000 0.000,0.000 0.000,1.000 0.000,-1.000 0.000,0.000 0.000,0.000 0.000,0.000 0.000,1.000 0.000,-1.000 0.000,0.000 0.000,0.000 0.000,0.000 0.000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8T22:09:1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772.000 1007.000,'3.000'0.000,"1.000"0.000,0.000 0.000,-1.000 0.000,0.000 0.000,0.000 0.000,0.000 0.000,1.000 0.000,0.000 1.000,-1.000-1.000,1.000 1.000,0.000-1.000,-1.000 0.000,0.000 0.000,0.000 0.000,1.000 0.000,0.000 0.000,0.000 0.000,-1.000 0.000,1.000 0.000,-1.000 0.000,1.000 0.000,-1.000 0.000,0.000 0.000,0.000 0.000,0.000 0.000,1.000 0.000,-1.000 0.000,1.000 0.000,-1.000 0.000,0.000 0.000,0.000 0.000,0.000 0.000,1.000 0.000,-1.000 0.000,0.000 0.000,0.000 0.000,0.000 0.000,0.000 0.000,0.000 0.000,2.000 0.000,-2.000 0.000,0.000 0.000,4.000 1.000,-3.000-1.000,0.000 0.000,-1.000 0.000,0.000 0.000,1.000 0.000,0.000 0.000,0.000 0.000,0.000 0.000,0.000 0.000,1.000 0.000,-2.000 0.000,0.000 0.000,0.000 0.000,0.000 0.000,0.000 0.000,1.000 0.000,0.000 0.000,0.000 0.000,0.000 0.000,-1.000 0.000,2.000 0.000,-1.000 0.000,0.000 0.000,-1.000 0.000,1.000 0.000,-1.000 0.000,0.000 0.000,2.000 0.000,0.000 0.000,1.000 0.000,-3.000 0.000,0.000 0.000,0.000 0.000,0.000 0.000,2.000 0.000,-2.000 0.000,0.000 0.000,1.000 0.000,0.000 0.000,-1.000 0.000,0.000 0.000,0.000 0.000,0.000 0.000,1.000 0.000,-1.000 0.000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8T22:09:1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1107.000 294.000,'3.000'0.000,"0.000"0.000,1.000 0.000,0.000 1.000,1.000-1.000,-1.000 1.000,1.000-1.000,-2.000 1.000,0.000-1.000,1.000 1.000,-1.000-1.000,1.000 0.000,0.000 0.000,-1.000 0.000,0.000 0.000,0.000 0.000,1.000 0.000,0.000 0.000,-1.000 0.000,1.000 0.000,-1.000 0.000,2.000 0.000,-2.000 0.000,1.000 0.000,-1.000 0.000,0.000 0.000,0.000 0.000,1.000 0.000,0.000 0.000,-1.000 0.000,1.000 0.000,-1.000 0.000,1.000 0.000,-1.000 0.000,0.000 0.000,1.000 0.000,-1.000 0.000,1.000 0.000,-1.000 0.000,2.000 1.000,-2.000-1.000,1.000 0.000,1.000 0.000,-1.000 3.000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8T22:09:1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1440.000 293.000,'3.000'-1.000,"0.000"0.000,3.000 1.000,-3.000 0.000,0.000 0.000,0.000-1.000,1.000 1.000,-1.000 0.000,0.000 0.000,1.000 0.000,0.000 0.000,0.000 0.000,-1.000 0.000,1.000 0.000,0.000 0.000,-1.000 0.000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8T22:09:1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307.000 332.000,'6.000'0.000,"1.000"0.000,0.000 0.000,3.000 0.000,-4.000 0.000,0.000 0.000,1.000 0.000,-1.000 0.000,-2.000 0.000,1.000 0.000,-2.000 0.000,1.000 0.000,0.000 0.000,-1.000 0.000,0.000 0.000,2.000 0.000,-1.000 0.000,2.000 0.000,-1.000 0.000,-1.000 0.000,-1.000 0.000,2.000 0.000,-2.000 0.000,0.000 0.000,2.000 0.000,-2.000 0.000,0.000 0.000,2.000 0.000,-2.000 0.000,0.000 0.000,1.000 0.000,0.000 0.000,-1.000 0.000,1.000 0.000,0.000 0.000,0.000 0.000,0.000-1.000,0.000 1.000,-1.000 0.000,1.000 0.000,-1.000 0.000,0.000 0.000,0.000-1.000,2.000 1.000,-1.000 0.000,-1.000 0.000,1.000 0.000,-1.000 0.000,1.000 0.000,-1.000 0.000,1.000 0.000,0.000 0.000,-1.000 0.000,0.000 0.000,3.000 0.000,-3.000 0.000,1.000 0.000,-1.000 0.000,2.000 0.000,-2.000 0.000,1.000 0.000,-1.000 0.000,0.000 0.000,1.000 0.000,-1.000 0.000,0.000 0.000,0.000 0.000,0.000 0.000,0.000 0.000,1.000 0.000,2.000 0.000,0.000 0.000,1.000 0.000,-1.000 0.000,0.000 1.000,-1.000-1.000,-1.000 2.000,0.000-2.000,1.000 0.000,-2.000 0.000,2.000 0.000,-1.000 0.000,-1.000 0.000,2.000 0.000,-2.000 0.000,0.000 0.000,1.000 0.000,0.000 0.000,-1.000 0.000,0.000 0.000,0.000 0.000,1.000 0.000,-1.000 0.000,1.000 0.000,0.000 0.000,0.000 0.000,1.000 0.000,-2.000 0.000,3.000 0.000,-3.000 0.000,1.000 0.000,1.000 0.000,-2.000 0.000,0.000 0.000,0.000 0.000,1.000 0.000,-1.000 0.000,0.000 0.000,1.000 0.000,0.000 0.000,1.000 0.000,-2.000 0.000,0.000 0.000,1.000 0.000,0.000 0.000,-1.000 0.000,2.000 0.000,-1.000 0.000,0.000 0.000,0.000 0.000,-1.000 0.000,2.000 0.000,-2.000 0.000,2.000 0.000,-1.000 0.000,0.000 0.000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8T22:09:1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1017.000 332.000,'3.000'-1.000,"1.000"2.000,-1.000-1.000,0.000 1.000,0.000 0.000,2.000-1.000,-2.000 0.000,0.000 1.000,3.000-1.000,-3.000 1.000,0.000-1.000,2.000 0.000,-2.000 0.000,1.000 0.000,1.000 0.000,-2.000 0.000,0.000 0.000,1.000 0.000,1.000 0.000,-2.000 0.000,1.000 0.000,0.000 0.000,0.000 0.000,-1.000 0.000,1.000 0.000,-1.000 0.000,3.000 0.000,-3.000 0.000,0.000 0.000,0.000 0.000,0.000 0.000,1.000 0.000,0.000 0.000,-1.000 0.000,0.000-1.000,1.000 1.000,0.000 0.000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8T22:09: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16686.000 3863.000,'18.000'0.000,"17.000"-71.000,1.000-17.000,34.000-18.000,1.000 18.000,-1.000-35.000,1.000 34.000,-36.000 37.000,18.000-19.000,-18.000 18.000,18.000 18.000,-35.000-36.000,17.000 36.000,18.000 0.000,-53.000 17.000,35.000-17.000,1.000 0.000,17.000-1.000,-1.000 1.000,-16.000-36.000,34.000 54.000,1.000-19.000,-18.000-16.000,0.000 16.000,0.000 1.000,35.000-36.000,-35.000 54.000,35.000-36.000,35.000 0.000,-34.000-18.000,34.000 1.000,-35.000 52.000,-53.000 1.000,54.000-1.000,-36.000 18.000,-18.000-35.000,0.000 17.000,18.000-17.000,18.000 17.000,-18.000-17.000,-1.000 17.000,37.000 1.000,-1.000-36.000,-35.000 35.000,0.000-17.000,0.000 17.000,-36.000 18.000,19.000 0.000,-1.000-18.000,0.000 1.000,18.000-1.000,-18.000 1.000,1.000-1.000,-1.000 18.000,71.000 0.000,-53.000 0.000,-18.000 0.000,53.000-18.000,-35.000 18.000,35.000-53.000,-17.000 53.000,17.000 0.000,-18.000-17.000,54.000-1.000,-71.000 0.000,0.000 18.000,-18.000 0.000,0.000 0.000,1.000-17.000,34.000-1.000,-17.000-35.000,0.000 36.000,-18.000-1.000,-17.000 0.000,0.000 18.000,-1.000 0.000,1.000 0.000,17.000 0.000,0.000-17.000,18.000-1.000,0.000 18.000,-18.000-18.000,18.000 18.000,18.000-35.000,0.000 35.000,-1.000-18.000,-17.000 18.000,18.000-17.000,-1.000-1.000,1.000-17.000,17.000 35.000,-18.000-18.000,54.000 1.000,-54.000 17.000,19.000-18.000,-36.000 18.000,35.000-53.000,-53.000 53.000,18.000-18.000,0.000 18.000,-18.000 0.000,53.000 0.000,-35.000 0.000,-17.000 0.000,16.000-17.000,1.000-1.000,0.000 1.000,-35.000 17.000,17.000 0.000,0.000 0.000,1.000 0.000,-1.000 0.000,0.000 0.000,1.000 0.000,-1.000-18.000,0.000 0.000,18.000 18.000,0.000 0.000,-18.000 0.000,71.000 0.000,-71.000 0.000,18.000 0.000,18.000 0.000,-18.000 0.000,0.000 0.000,35.000 53.000,-35.000-35.000,17.000-1.000,-34.000 1.000,17.000 0.000,-1.000-1.000,19.000 1.000,-18.000 0.000,0.000-1.000,0.000 36.000,17.000-35.000,-34.000-18.000,-1.000 17.000,0.000 19.000,-17.000-36.000,-1.000 17.000,19.000 1.000,-19.000-18.000,1.000 0.000,0.000 0.000,-1.000 0.000,1.000 0.000,17.000 0.000,-17.000 18.000,-1.000-1.000,1.000 1.000,-18.000 0.000,0.000-1.000,18.000 1.000,-18.000 0.000,17.000-1.000,-17.000 1.000,18.000 35.000,0.000-36.000,-1.000 36.000,19.000 0.000,16.000 53.000,19.000 53.000,35.000 0.000,17.000 105.000,18.000-35.000,36.000 36.000,158.000 282.000,-229.000-353.000,-36.000-35.000,-17.000-71.000,-35.000-18.000,17.000 1.000,-17.000-36.000,-1.000 0.000,1.000 1.000,0.000 17.000,-1.000 0.000,19.000 17.000,-19.000 1.000,1.000 17.000,0.000 0.000,-1.000-17.000,36.000 52.000,-35.000-35.000,35.000 18.000,-36.000-18.000,36.000 36.000,-17.000 17.000,16.000 18.000,1.000 35.000,0.000-18.000,0.000-17.000,0.000-71.000,-35.000 18.000,17.000-36.000,18.000 1.000,-18.000-1.000,-17.000-17.000,17.000 36.000,0.000-19.000,-17.000 54.000,0.000-36.000,-1.000-35.000,1.000 17.000,0.000 1.000,17.000-1.000,-17.000 1.000,-1.000 0.000,1.000 17.000,-1.000 0.000,1.000-35.000,0.000 17.000,35.000 1.000,-36.000-18.000,1.000 0.000,0.000 35.000,-1.000-53.000,1.000 18.000,-1.000-18.000,-17.000 36.000,18.000-36.000,-18.000 1.000,18.000-1.000,-1.000-35.000,-17.000 35.000,0.000-17.000,18.000-1.000,-18.000 1.000,0.000 0.000,0.000-1.000,18.000 1.000,-18.000 17.000,17.000 0.000,-17.000-17.000,18.000 17.000,-18.000 1.000,18.000-1.000,-1.000-17.000,1.000 17.000,-18.000-17.000,0.000-1.000,0.000 1.000,0.000-1.000,0.000 1.000,0.000 0.000,0.000-1.000,0.000 1.000,0.000 0.000,17.000 17.000,1.000-17.000,-18.000-1.000,18.000-17.000,-18.000 18.000,0.000-1.000,17.000 1.000,1.000 0.000,-18.000-1.000,0.000 1.000,0.000 0.000,0.000-1.000,18.000-17.000,-18.000 36.000,0.000-19.000,0.000 1.000,0.000-1.000,0.000 19.000,17.000-19.000,-17.000 1.000,0.000 0.000,0.000-1.000,18.000 1.000,-18.000 0.000,0.000-1.000,0.000 1.000,0.000 0.000,0.000-1.000,0.000 1.000,0.000-1.000,0.000 1.000,0.000 0.000,0.000-1.000,0.000 1.000,0.000 0.000,0.000-1.000,0.000 1.000,0.000 0.000</inkml:trace>
  <inkml:trace contextRef="#ctx0" brushRef="#br0">27252.000 9031.000,'0.000'18.000,"18.000"-1.000,-18.000 1.000,17.000 17.000,1.000-17.000,-18.000 0.000,18.000-18.000,-18.000 17.000,17.000-17.000,-17.000 18.000,0.000 0.000,18.000-18.000,0.000 17.000,-1.000-17.000,-17.000 18.000,18.000-1.000,-18.000 1.000,17.000 0.000,1.000-1.000,-18.000 1.000,0.000 0.000,0.000-1.000,0.000 1.000,18.000 0.000,-18.000-1.000,0.000 1.000,0.000-1.000,0.000 1.000,0.000 0.000,17.000-18.000,36.000-36.000,-35.000 36.000,17.000-35.000,-17.000 18.000,0.000-1.000,-18.000 0.000,17.000 1.000,1.000-1.000,-1.000 0.000,1.000 18.000,0.000-17.000,-1.000-1.000,-17.000 0.000,18.000 18.000,0.000-17.000,-1.000 17.000,1.000-18.000,0.000 1.000,-1.000 17.000,-17.000-18.000,18.000 0.000,-1.000 1.000,1.000-1.000,-18.000 0.000,18.000 18.000,-18.000-17.000,17.000-1.000,1.000-17.000,-18.000 17.000,0.000 0.000,18.000 1.000,-1.000 17.000,-17.000-18.000,0.000 1.000,18.000-1.000,0.000-35.000,-1.000 35.000,-17.000 1.000,18.000-1.000,-1.000 18.000,-17.000-18.000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8T22:09: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12766.000 12270.000,'33.000'0.000,"0.000"0.000,-33.000 0.000,133.000-33.000,-34.000 33.000,33.000 0.000,-33.000 0.000,34.000 0.000,-34.000 0.000,33.000 0.000,-33.000 0.000,1.000 0.000,32.000 0.000,0.000 0.000,-33.000 0.000,-32.000 0.000,65.000 0.000,-33.000 0.000,0.000 0.000,34.000 0.000,-1.000 0.000,-33.000 0.000,0.000 0.000,0.000 0.000,1.000 0.000,-1.000 0.000,33.000 0.000,-66.000 0.000,67.000-33.000,-1.000 0.000,-33.000 0.000,0.000 0.000,-66.000 33.000,67.000 0.000,-100.000 0.000,33.000-33.000,33.000 33.000,-66.000 0.000,33.000 0.000,0.000 0.000,-33.000-33.000,33.000 33.000,-33.000 0.000,33.000 0.000,-33.000 0.000,66.000 0.000,-66.000 0.000,33.000 0.000,-33.000 0.000,67.000 0.000,-67.000 0.000,33.000 0.000,33.000 0.000,-33.000 0.000,33.000 0.000,-33.000 0.000,-33.000 0.000,33.000 0.000,0.000 0.000,0.000 0.000,0.000 0.000,0.000 0.000,0.000 0.000</inkml:trace>
  <inkml:trace contextRef="#ctx0" brushRef="#br0">5424.000 12898.000,'0.000'0.000,"66.000"0.000,0.000 0.000,33.000 0.000,1.000 0.000,-34.000 0.000,33.000 0.000,-33.000 0.000,0.000 0.000,0.000 0.000,1.000 0.000,32.000 0.000,-99.000 0.000,99.000 0.000,-66.000 0.000,0.000 0.000,0.000 0.000,0.000 0.000,0.000 0.000,1.000 0.000,-34.000 0.000,33.000 0.000,0.000 0.000,0.000 0.000,-33.000 0.000,33.000 0.000,0.000 0.000,0.000 0.000,0.000 0.000,0.000 0.000,0.000 0.000,-33.000 0.000,33.000 0.000,0.000 0.000,0.000 0.000,-33.000 0.000,33.000 0.000,1.000 0.000,-1.000 0.000,-33.000 0.000,66.000 0.000,0.000 0.000,-66.000 0.000,33.000 0.000,0.000 0.000,0.000 0.000,-33.000 0.000,33.000 0.000,0.000 0.000,0.000 0.000,0.000 0.000,34.000 0.000,-67.000 0.000,66.000 0.000,-66.000 0.000,33.000 0.000,-33.000 0.000,66.000 0.000,-66.000 0.000,33.000 0.000,-33.000 0.000,66.000 0.000,-66.000 0.000,33.000 0.000,-33.000 0.000,66.000 0.000,-66.000 0.000,33.000 0.000,-33.000 0.000,67.000 0.000,-67.000 0.000,33.000 0.000,-33.000 0.000,66.000 0.000,-66.000 0.000,33.000 0.000,-33.000 0.000,66.000 0.000,-33.000 0.000,-33.000 0.000,66.000 0.000,-66.000 0.000,33.000 0.000,67.000 0.000,-67.000 0.000,66.000 0.000,0.000 0.000,-33.000 0.000,0.000 0.000,-33.000 0.000,34.000 0.000,-34.000 0.000,-33.000 0.000,66.000 0.000,-33.000 0.000,-33.000 0.000</inkml:trace>
  <inkml:trace contextRef="#ctx0" brushRef="#br0">21927.000 10683.000,'0.000'0.000,"33.000"0.000,34.000 0.000,-34.000 0.000,66.000 0.000,-33.000 0.000,33.000 33.000,67.000-33.000,-34.000 33.000,-33.000-33.000,33.000 0.000,1.000 0.000,32.000 0.000,-132.000 0.000,0.000 0.000,0.000 0.000,-33.000 0.000,33.000 0.000,0.000 0.000,-33.000 0.000,67.000 0.000,-67.000 0.000,33.000-33.000,-33.000 0.000,33.000 33.000,0.000-67.000,-33.000 67.000,33.000-33.000,-33.000 0.000,0.000 0.000,0.000 33.000,0.000-33.000,0.000 0.000,0.000 33.000,0.000-33.000,0.000 0.000,0.000 0.000,0.000 0.000,0.000 0.000,-33.000-33.000,33.000 66.000,-33.000-34.000,33.000 1.000,0.000 0.000,0.000 33.000,-33.000-66.000,33.000 33.000,0.000 0.000,-33.000 0.000,33.000 33.000,-34.000-66.000,34.000 66.000,-33.000-66.000,33.000 33.000,-33.000 0.000,33.000-1.000,-33.000 34.000,0.000-66.000,33.000 33.000,0.000 0.000,-66.000-33.000,33.000 66.000,0.000-33.000,0.000 0.000,33.000 0.000,-33.000 33.000,0.000-33.000,33.000 33.000,-33.000 0.000,33.000 0.000,-33.000 0.000,-1.000 0.000,-32.000 0.000,66.000 0.000,-33.000 0.000,-33.000 0.000,0.000 0.000,66.000 0.000,-33.000 0.000,0.000 0.000,0.000 0.000,0.000 0.000,0.000 0.000,0.000 0.000,-1.000 0.000,1.000 0.000,0.000 0.000,-33.000 0.000,0.000 0.000,66.000 0.000,-66.000 0.000,33.000 33.000,0.000 0.000,0.000-33.000,0.000 33.000,33.000 0.000,-34.000-33.000,34.000 33.000,-33.000-33.000,33.000 33.000,0.000 0.000,-33.000 33.000,-33.000-33.000,66.000 1.000,0.000-1.000,-33.000-33.000,33.000 66.000,-33.000-66.000,33.000 33.000,-33.000-33.000,33.000 33.000,0.000 0.000,0.000 33.000,0.000-66.000,0.000 33.000,0.000 0.000,0.000 0.000,0.000-33.000,0.000 33.000,0.000 0.000,0.000 1.000,0.000-34.000,0.000 33.000,0.000-33.000,33.000 33.000,-33.000-33.000,33.000 0.000,0.000 0.000,0.000 0.000,-33.000 0.000,33.000 33.000,-33.000-33.000,33.000 33.000,0.000-33.000,1.000 33.000,-34.000-33.000,33.000 0.000,0.000 33.000,66.000 0.000,-66.000 0.000,0.000 0.000,0.000 0.000,0.000-33.000,-33.000 0.000,33.000 0.000</inkml:trace>
  <inkml:trace contextRef="#ctx0" brushRef="#br0">27351.000 10451.000,'0.000'0.000,"33.000"0.000,0.000 0.000,1.000 0.000,-34.000 0.000,33.000 0.000,0.000 0.000,0.000 0.000,0.000 0.000,33.000-33.000,-33.000 33.000,0.000 0.000,33.000 0.000,0.000 0.000,1.000 0.000,-34.000 0.000,0.000 0.000,-33.000 0.000,33.000 0.000,-33.000 0.000,33.000 0.000,0.000 0.000,0.000 0.000,-33.000 0.000,33.000 0.000,0.000 0.000,0.000 0.000,-33.000 0.000,66.000 0.000,0.000 0.000,-66.000 0.000,67.000 0.000,-1.000 0.000,-33.000 0.000,-33.000 0.000,33.000 0.000,0.000 0.000,0.000 0.000,-33.000 0.000,33.000 0.000,0.000 0.000,0.000 0.000,-33.000 0.000,33.000 0.000,34.000 0.000,-34.000 0.000,-33.000 0.000,33.000 0.000,0.000 0.000,0.000 0.000,-33.000 0.000,33.000 0.000,33.000 0.000,-66.000 0.000,33.000 0.000,0.000 0.000,0.000 0.000,-33.000 0.000,33.000 0.000,0.000 0.000,0.000 0.000,-33.000 0.000,34.000 0.000,-1.000 0.000</inkml:trace>
  <inkml:trace contextRef="#ctx0" brushRef="#br0">30460.000 11013.000,'66.000'0.000,"0.000"-33.000,1.000 33.000,-1.000 0.000,33.000 0.000,0.000 0.000,0.000 0.000,-66.000 0.000,1.000 0.000</inkml:trace>
  <inkml:trace contextRef="#ctx0" brushRef="#br0">26061.000 11509.000,'0.000'0.000,"34.000"0.000,32.000 0.000,-66.000 0.000,33.000 0.000,33.000 0.000,-66.000 0.000,33.000 0.000,-33.000 0.000,66.000 0.000,-66.000 0.000,33.000 0.000,-33.000 0.000,66.000 0.000,-33.000 0.000,0.000 0.000,1.000 0.000,-34.000 0.000,33.000 0.000,-33.000 0.000,66.000 0.000,-33.000 0.000,0.000 0.000,0.000 0.000,-33.000 0.000,66.000 33.000</inkml:trace>
  <inkml:trace contextRef="#ctx0" brushRef="#br0">30394.000 11675.000,'0.000'0.000,"0.000"0.000,0.000 33.000,0.000 0.000,0.000-33.000,0.000 33.000,0.000 0.000,0.000 0.000,0.000-33.000,0.000 33.000,0.000 0.000,0.000 0.000,0.000-33.000,0.000 33.000,0.000 0.000,33.000 1.000,-33.000-34.000,0.000 33.000,0.000 0.000,33.000-33.000,66.000 0.000,-32.000 0.000,-34.000 33.000,33.000-33.000,-33.000 0.000,33.000 0.000,-33.000 0.000,-33.000 33.000,33.000-33.000,0.000 0.000,0.000 0.000,-33.000 0.000,33.000 0.000,0.000 0.000,0.000 0.000,-33.000 0.000,34.000 0.000,-1.000 0.000,0.000 0.000,-33.000 0.000,33.000 0.000,33.000 0.000,-66.000 0.000,66.000 0.000,0.000 0.000,66.000 0.000,-65.000 0.000,-34.000 0.000,33.000 0.000,-33.000 0.000,-33.000 0.000,33.000 0.000,33.000-33.000,-33.000 33.000,-33.000 0.000,33.000 0.000,0.000 0.000,0.000 0.000,-33.000 0.000,34.000 0.000,-1.000 0.000,-33.000 0.000,33.000-33.000,0.000 33.000,0.000 0.000,-33.000-33.000,33.000 33.000,33.000-33.000,-33.000 33.000,-33.000-67.000,33.000 34.000,0.000 0.000,0.000 0.000,0.000-33.000,-33.000 33.000,0.000 0.000,0.000 33.000,33.000-66.000,1.000 66.000,-34.000-33.000,0.000 33.000,0.000-33.000,33.000-67.000,-33.000 100.000,0.000-66.000,0.000 66.000,0.000-33.000,0.000 33.000,0.000-33.000,0.000 33.000,-33.000 0.000,33.000 0.000,-67.000 0.000,67.000 0.000,-33.000 0.000,-33.000 0.000,0.000 0.000,0.000 0.000,-33.000-99.000,-34.000 66.000,34.000-33.000,33.000 33.000,66.000 33.000,-33.000 0.000,33.000 0.000,-66.000-33.000,66.000 33.000,-33.000 0.000,33.000 0.000,-33.000-34.000,0.000 34.000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8T22:09: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4597.000 6350.000,'0.000'0.000,"33.000"0.000,0.000 0.000,33.000 0.000,-32.000 0.000,-1.000 0.000,0.000 0.000,33.000 0.000,0.000 0.000,0.000 0.000,0.000 0.000,33.000 0.000,-32.000 0.000,-1.000 0.000,-33.000 0.000,33.000 0.000,99.000 0.000,-165.000 0.000,100.000 0.000,-1.000 0.000,0.000 0.000,33.000 66.000,-33.000-66.000,34.000 33.000,-67.000-33.000,33.000 33.000,-66.000-33.000,33.000 0.000,-33.000 0.000,34.000 0.000,-1.000 0.000,0.000 0.000,0.000 0.000,33.000 0.000,-33.000 0.000,1.000 0.000,-1.000 0.000,0.000 0.000,-66.000 0.000,33.000 0.000,0.000 0.000,33.000 0.000,0.000 0.000,-33.000 0.000,67.000 0.000,-67.000 0.000,99.000 0.000,0.000 0.000,-66.000 0.000,-33.000 0.000,34.000 0.000,-1.000 0.000,-66.000 0.000,66.000 0.000,-33.000 0.000,66.000 0.000,33.000 0.000,-98.000 0.000,65.000 0.000,-33.000 0.000,-33.000 0.000,-33.000 0.000,33.000 0.000,33.000 0.000,-33.000 0.000,66.000 0.000,1.000 0.000,-34.000 0.000,0.000 0.000,-66.000 0.000,33.000 0.000,0.000 0.000,33.000 0.000,0.000 0.000,-66.000 0.000,33.000 0.000,34.000-33.000,-67.000 33.000,33.000 0.000,0.000 0.000</inkml:trace>
  <inkml:trace contextRef="#ctx0" brushRef="#br0">14916.000 5358.000,'0.000'0.000,"0.000"-33.000,0.000 33.000,33.000 0.000,33.000 0.000,-33.000 0.000,0.000-33.000,0.000 33.000,-33.000 0.000,33.000 0.000,34.000 0.000,-34.000 0.000,-33.000 0.000,33.000 0.000,33.000 0.000,-66.000 0.000,33.000 0.000,0.000 0.000,0.000 0.000,-33.000 0.000,33.000 0.000,0.000 0.000,0.000 0.000,-33.000 0.000,33.000 0.000,0.000 0.000,0.000 0.000,-33.000 0.000,34.000 0.000,-1.000 0.000,0.000 0.000,-33.000 0.000,33.000 0.000,33.000 0.000,-66.000 0.000,99.000 0.000,-66.000 0.000,66.000 0.000,-65.000 0.000,32.000 0.000,-33.000 0.000,66.000 0.000,0.000 0.000,-33.000 0.000,34.000 0.000,-1.000 0.000,-33.000 0.000,0.000 0.000,33.000 0.000,-33.000 0.000,-33.000 0.000,1.000 0.000,65.000 0.000,-66.000 0.000,-33.000 0.000,66.000 0.000,-33.000 0.000,33.000 0.000,-33.000 0.000,0.000 0.000,0.000 0.000,1.000 0.000,65.000 0.000,-66.000 0.000,33.000 0.000,-33.000 0.000,33.000 0.000,-66.000 0.000,33.000 0.000</inkml:trace>
  <inkml:trace contextRef="#ctx0" brushRef="#br0">19645.000 1786.000,'0.000'0.000,"0.000"66.000,33.000 33.000,133.000-33.000,-34.000 1.000,66.000 65.000,-98.000-66.000,65.000 33.000,-132.000-66.000,66.000-33.000,-99.000 0.000,33.000 66.000,1.000-66.000,-1.000 0.000,-33.000 0.000,33.000 0.000,33.000 0.000,-33.000 0.000,0.000 0.000,0.000 0.000,33.000 0.000,-33.000 0.000,33.000 0.000,1.000 0.000,-67.000 0.000,66.000 0.000,-33.000 0.000,-33.000 0.000,66.000 34.000,-33.000-34.000,33.000 0.000,-33.000 0.000,33.000 0.000,0.000 0.000,34.000 0.000,-67.000 0.000,66.000 0.000,-33.000 0.000,66.000 33.000,-32.000-33.000,-1.000 33.000,0.000-33.000,0.000 33.000,-66.000-33.000,67.000 0.000,-67.000 0.000,-33.000 0.000,66.000 0.000,-33.000 0.000,0.000 0.000,33.000 0.000,-33.000 0.000,99.000 0.000,-65.000 0.000,65.000 0.000,-33.000 0.000,-33.000 0.000,33.000 0.000,-65.000 0.000,32.000 0.000,-33.000 0.000,-33.000 0.000,66.000 0.000,-66.000 0.000,33.000-33.000,-33.000 33.000,0.000-33.000,33.000 33.000,0.000-67.000,-33.000 34.000,0.000 0.000,0.000-66.000,0.000 66.000,0.000-33.000,0.000 33.000,0.000 0.000,0.000-66.000,-33.000 65.000,0.000 1.000,-33.000-33.000,33.000-33.000,0.000 66.000,0.000 0.000,-67.000-33.000,100.000 66.000,-33.000 0.000,-33.000 0.000,33.000 0.000,-66.000-33.000,-66.000-33.000,65.000 32.000,1.000 1.000,33.000 33.000,-66.000-66.000,66.000 66.000,-1.000-33.000,1.000 33.000,0.000 0.000,0.000-33.000,33.000 33.000,-33.000 0.000,-34.000 0.000,-98.000 0.000,66.000 0.000,-1.000 0.000,-98.000 0.000,-1.000 0.000,67.000 0.000,-33.000 0.000,-34.000 0.000,133.000 0.000,-33.000 0.000,32.000-66.000,1.000 66.000,66.000-33.000</inkml:trace>
  <inkml:trace contextRef="#ctx0" brushRef="#br0">25334.000 2249.000,'99.000'0.000,"66.000"0.000,1.000 0.000,-34.000 0.000,0.000 0.000,-32.000 0.000,32.000 0.000,0.000 0.000,34.000 0.000,-1.000 0.000,-33.000 0.000,34.000 0.000,-67.000 0.000,-99.000 0.000,66.000 0.000,33.000-66.000,-66.000 66.000,0.000 0.000,0.000 0.000,34.000-33.000,-34.000 33.000,-33.000 0.000,33.000 0.000,0.000 0.000,0.000-33.000,66.000 33.000,0.000 0.000,-66.000-33.000,33.000 33.000,-32.000 0.000</inkml:trace>
  <inkml:trace contextRef="#ctx0" brushRef="#br0">21597.000 5027.000,'0.000'0.000,"99.000"0.000,132.000 0.000,1.000 33.000,32.000-33.000,100.000 0.000,0.000 33.000,0.000-33.000,-33.000 66.000,-67.000 1.000,-32.000-67.000,-100.000 0.000,-33.000 0.000,0.000 0.000,-32.000 0.000,-67.000 0.000,33.000 0.000</inkml:trace>
  <inkml:trace contextRef="#ctx0" brushRef="#br0">22986.000 7938.000,'0.000'0.000,"132.000"0.000,0.000 0.000,67.000 0.000,-100.000 0.000,0.000 0.000,-33.000 0.000,-33.000 0.000,34.000 0.000,-67.000 0.000,66.000 0.000,-33.000 0.000,-33.000 0.000,66.000 0.000,-33.000 0.000,33.000 0.000,0.000 0.000,33.000 0.000,34.000-34.000,-100.000 34.000,33.000 0.000,-33.000 0.000,33.000 0.000,-66.000 0.000,66.000 0.000,0.000-33.000,-32.000 33.000,32.000 0.000,0.000 0.000,66.000 0.000,-66.000 0.000,67.000 0.000,32.000 33.000,-33.000 1.000,67.000-34.000,-34.000 33.000,67.000-33.000,-1.000 0.000,1.000 66.000,-1.000-66.000,-99.000 0.000,-32.000 0.000,-34.000 0.000,0.000 0.000,-33.000 0.000</inkml:trace>
  <inkml:trace contextRef="#ctx0" brushRef="#br0">24573.000 10153.000,'-33.000'33.000,"33.000"-33.000,0.000 34.000,0.000-34.000,0.000 66.000,33.000 0.000,-33.000-66.000,66.000 66.000,-33.000-66.000,0.000 0.000,34.000 0.000,-34.000 33.000,66.000 0.000,-33.000 0.000,0.000 0.000,33.000-33.000,-32.000 33.000,164.000-33.000,-99.000 33.000,67.000 0.000,-67.000-33.000,33.000 34.000,-65.000-34.000,-34.000 0.000,66.000 0.000,-33.000 33.000,-33.000-33.000,34.000 0.000,-1.000 0.000,0.000 0.000,-99.000 0.000,33.000 0.000,0.000 0.000,0.000 0.000,-33.000 0.000,67.000 0.000,-34.000 0.000,33.000 0.000,33.000-33.000,0.000-1.000,0.000 1.000,-32.000 33.000,32.000-33.000,-99.000 33.000,66.000-33.000,-33.000 33.000,0.000 0.000,33.000 0.000,-33.000-33.000,33.000 33.000,1.000 0.000,-1.000 0.000,-33.000 0.000</inkml:trace>
  <inkml:trace contextRef="#ctx0" brushRef="#br0">26723.000 13130.000,'0.000'0.000,"33.000"99.000,0.000-66.000,132.000 33.000,-32.000 1.000,164.000 65.000,-98.000-99.000,-1.000 0.000,1.000 33.000,-67.000-33.000,66.000-33.000,-198.000 0.000,33.000 0.000,34.000 0.000,-1.000 0.000,-33.000 0.000,0.000 0.000,-33.000 0.000,33.000-33.000,66.000 33.000,-99.000 0.000,99.000 0.000,-32.000-66.000,-1.000 66.000,0.000 0.000,-33.000-33.000,0.000 33.000,0.000 0.000,33.000-33.000,33.000-33.000,1.000 66.000,-34.000 0.000,66.000-33.000,-33.000 33.000,-99.000-33.000,33.000 33.000</inkml:trace>
  <inkml:trace contextRef="#ctx0" brushRef="#br0">24242.000 17595.000,'34.000'0.000,"-1.000"0.000,132.000 66.000,-99.000-66.000,-33.000 0.000,33.000 0.000,0.000 33.000,34.000-33.000,-34.000 0.000,-33.000 0.000,0.000 0.000,33.000 0.000,-33.000 0.000,0.000 0.000,0.000 0.000,0.000 0.000,-33.000 0.000,67.000 0.000,-34.000 0.000,66.000 0.000,0.000 0.000,-66.000 0.000,0.000 0.000,0.000 33.000,-33.000-33.000,33.000 0.000,0.000 0.000,34.000 0.000,-67.000 0.000,33.000 0.000,0.000 0.000,0.000 0.000,0.000 0.000,33.000 0.000,-66.000 0.000,66.000 0.000,0.000 0.000,34.000 0.000,-34.000 33.000,0.000-33.000,33.000 33.000,66.000-33.000,-65.000 33.000,32.000-33.000,-66.000 33.000,0.000-33.000,67.000 33.000,-100.000-33.000,99.000 0.000,-66.000 34.000,66.000-34.000,-32.000 33.000,32.000-33.000,-33.000 0.000,0.000 0.000,0.000 0.000,-65.000 0.000,65.000 0.000,-66.000 0.000,33.000 0.000,-66.000 0.000,33.000 0.000,0.000 0.000,0.000 0.000,0.000 0.000,33.000 0.000,1.000 0.000,-1.000 0.000,-66.000 0.000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8T22:09: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6632.000 3140.000,'0.000'-18.000,"-194.000"1076.000,194.000-828.000,0.000-54.000,0.000 1.000,0.000-36.000,0.000 0.000,0.000-35.000,0.000-18.000,0.000-18.000,0.000-17.000,0.000 18.000,0.000-54.000,0.000 54.000,0.000-18.000,0.000-18.000,0.000 18.000,0.000-35.000,0.000 35.000,0.000-36.000,-17.000 1.000,17.000 17.000,-18.000-17.000,18.000-1.000,-18.000 1.000,18.000 0.000</inkml:trace>
  <inkml:trace contextRef="#ctx0" brushRef="#br0">22472.000 2681.000,'18.000'0.000,"-1.000"-18.000,54.000 1.000,17.000-1.000,0.000 1.000,53.000 17.000,142.000-71.000,-231.000 71.000,-16.000 0.000,-19.000 0.000,19.000 0.000,-19.000 0.000,1.000 0.000,0.000 0.000,17.000 0.000,-18.000 0.000,-17.000 18.000,18.000 52.000,-18.000-17.000,0.000 18.000,0.000-18.000,0.000 35.000,0.000-53.000,0.000 36.000,0.000-1.000,0.000-17.000,0.000 0.000,0.000 0.000,-18.000 35.000,-52.000 0.000,35.000-35.000,-36.000 18.000,36.000-36.000,0.000 18.000,-1.000 0.000,19.000-53.000,-19.000 35.000,19.000-17.000,-19.000 17.000,19.000-17.000,-19.000-18.000,19.000 35.000,17.000-17.000,-18.000-18.000,1.000 17.000,-1.000 1.000,0.000-18.000,-17.000 35.000,0.000-17.000,-18.000 35.000,18.000-18.000,-1.000-17.000,1.000-1.000,17.000 1.000,1.000-18.000,70.000 0.000,-36.000 0.000,1.000 0.000,0.000 0.000,17.000-18.000,-18.000 1.000,36.000 17.000,-35.000 0.000,0.000 0.000,-1.000 0.000,1.000 0.000,0.000 0.000,-1.000 0.000,18.000 0.000,-17.000 0.000,35.000-18.000,-18.000 18.000,-17.000 0.000,17.000 0.000,-17.000 0.000,0.000 0.000,-1.000 0.000,1.000 0.000,-1.000 0.000,1.000 0.000,0.000 0.000,-1.000 0.000,1.000 0.000,0.000 0.000,-18.000-18.000,17.000 18.000,19.000 0.000,-19.000 0.000,1.000 0.000,-1.000 0.000,1.000 0.000,0.000 0.000,-1.000 0.000,19.000-17.000,-1.000 17.000,-17.000-18.000,17.000 18.000,18.000-18.000,-36.000 18.000,1.000 0.000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8T22:09: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23477.000 10107.000,'0.000'-18.000,"0.000"1.000,18.000-1.000,0.000 18.000,17.000 0.000,-17.000 0.000,-1.000 0.000,1.000 0.000,-1.000 0.000,1.000 0.000,0.000 0.000,-1.000 0.000,1.000 0.000,0.000 0.000,-1.000 0.000,1.000 0.000,0.000 0.000,-1.000 0.000,1.000 0.000,0.000 0.000,-1.000 0.000,1.000 0.000,-1.000 0.000,1.000 0.000,0.000 0.000,-1.000 0.000,19.000 0.000,-36.000 18.000,17.000-1.000,1.000 1.000,0.000 0.000,-1.000-1.000,1.000-17.000,-1.000 18.000,-17.000 0.000,18.000-1.000,0.000 1.000,-1.000 0.000,1.000-1.000,0.000-17.000,-18.000 18.000,17.000 17.000,-17.000 0.000,18.000 1.000,0.000-1.000,-18.000 18.000,0.000 17.000,0.000-34.000,17.000-1.000,-17.000 0.000,0.000-17.000,0.000 0.000,0.000-1.000,0.000 1.000,0.000-1.000,0.000 1.000,0.000 35.000,0.000-35.000,0.000 17.000,-35.000 0.000,17.000 0.000,-35.000 18.000,18.000-35.000,-18.000 35.000,18.000-18.000,17.000-17.000,1.000 0.000,-1.000-18.000,0.000 17.000,1.000 1.000,-1.000-18.000,0.000 0.000,1.000 17.000,-1.000-17.000,1.000 0.000,34.000 0.000,1.000-17.000,17.000 17.000,-17.000 0.000,-18.000 17.000,17.000 19.000,1.000-1.000,35.000 53.000,-35.000-35.000,17.000 53.000,18.000-18.000,-18.000 0.000,18.000-17.000,-18.000-18.000,-17.000-18.000,-18.000 0.000,17.000-17.000,-17.000 0.000,36.000-1.000,-36.000 1.000,0.000 0.000,0.000 17.000,0.000-18.000,-18.000 1.000,0.000 0.000,-17.000-18.000,0.000 17.000,-18.000-17.000,0.000 0.000,-17.000 18.000,17.000 0.000,0.000-18.000,0.000 0.000,18.000 0.000,-1.000 0.000,1.000 0.000,0.000 0.000,-1.000 0.000,1.000 0.000,17.000 0.000,-17.000 0.000,0.000 0.000,0.000 0.000,-1.000 0.000,-17.000 0.000,1.000 0.000,-19.000 0.000,53.000 0.000,1.000 0.000,-1.000 0.000,0.000 0.000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8T22:09: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5644.000 10389.000,'-35.000'18.000,"-35.000"53.000,17.000 17.000,-18.000 0.000,18.000 0.000,-35.000 18.000,17.000 17.000,1.000-34.000,17.000-36.000,18.000-1.000,17.000 19.000,-17.000-18.000,35.000 35.000,-18.000-17.000,1.000-18.000,-19.000 17.000,1.000-17.000,17.000-18.000,-17.000 36.000,-35.000 35.000,34.000-71.000,1.000 0.000,17.000 1.000,1.000-1.000,17.000 0.000,-18.000-17.000,18.000-1.000,-35.000 19.000,17.000-19.000,18.000 1.000,-18.000 0.000,1.000-18.000,17.000 17.000,17.000-17.000,19.000 0.000,52.000 0.000,-17.000 0.000,87.000 0.000,-70.000 0.000,54.000 35.000,-72.000-35.000,36.000 36.000,-71.000-36.000,53.000 0.000,-35.000 0.000,0.000 0.000,18.000 17.000,-18.000-17.000,0.000 0.000,0.000 0.000,-18.000 0.000,18.000 0.000,0.000 0.000,-18.000 0.000,36.000 18.000,-1.000 0.000,1.000-1.000,-18.000-17.000,-1.000 0.000,-16.000 0.000,17.000 0.000,-18.000 0.000,0.000 0.000,0.000 0.000,-17.000 0.000,0.000 0.000,-1.000 0.000,19.000 0.000,-1.000 0.000,-17.000 0.000,35.000 0.000,-18.000 0.000,-18.000 0.000</inkml:trace>
  <inkml:trace contextRef="#ctx0" brushRef="#br0">6033.000 11289.000,'-18.000'0.000,"0.000"0.000,18.000 70.000,-35.000 19.000,17.000 52.000,18.000 0.000,0.000-35.000,0.000-18.000,-53.000 18.000,36.000 17.000,17.000-17.000,-36.000 0.000,19.000-18.000,17.000-35.000,0.000 35.000,0.000-35.000,-18.000 35.000,18.000-17.000,0.000-18.000,0.000 0.000,-53.000 88.000,53.000-71.000,-35.000 1.000,17.000-1.000,18.000-17.000,-17.000-17.000,17.000 17.000,0.000-18.000,0.000-18.000,0.000 1.000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8T22:09: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13461.000 8434.000,'0.000'-33.000,"33.000"33.000,-33.000 0.000,33.000 0.000,-33.000 0.000,66.000 0.000,-66.000 0.000,33.000 0.000,-33.000 0.000,66.000 0.000,-66.000 0.000,33.000 0.000,-33.000 0.000,66.000 0.000,-66.000 0.000,33.000 0.000,-33.000 0.000,67.000 0.000,-67.000 0.000,33.000 0.000,-33.000 0.000,132.000 0.000,-33.000 33.000,0.000 0.000,1.000-33.000,-34.000 0.000,33.000 0.000,-33.000 33.000,-66.000-33.000,33.000 33.000,0.000-33.000,-33.000 0.000,33.000 0.000,0.000 33.000,1.000-33.000,-34.000 0.000,33.000 0.000,33.000 0.000,-66.000 0.000,66.000 0.000,-66.000 0.000,33.000 0.000,-33.000 0.000,66.000 0.000,-33.000 66.000,0.000-66.000,33.000 0.000,-33.000 0.000,67.000 0.000,-34.000 33.000,66.000 0.000,33.000 33.000,-65.000-33.000,-1.000-33.000,0.000 0.000,0.000 0.000,-99.000 0.000,33.000 0.000</inkml:trace>
  <inkml:trace contextRef="#ctx0" brushRef="#br0">21167.000 8731.000,'0.000'-33.000,"0.000"33.000,0.000 0.000,0.000 0.000,66.000 0.000,-66.000 0.000,33.000 0.000,-33.000 0.000,66.000 0.000,-66.000 0.000,33.000 0.000,-33.000 0.000,66.000 0.000,33.000 0.000,1.000 0.000,-34.000 0.000,-66.000 0.000,66.000-33.000,-66.000 33.000,33.000 0.000,0.000 0.000,0.000 0.000,33.000-66.000,-66.000 66.000,66.000 0.000,-66.000-33.000,34.000 33.000,-1.000 0.000,33.000-66.000,-33.000 66.000,0.000 0.000,0.000-66.000,0.000 66.000,0.000-67.000,0.000 67.000,33.000-66.000,-66.000 66.000,67.000-66.000,-1.000 0.000,-33.000 33.000,0.000-33.000,33.000 33.000,-66.000 0.000,33.000 0.000,-33.000-34.000,0.000 67.000,0.000-66.000,0.000 66.000,0.000-33.000,0.000 33.000,0.000-66.000,0.000 66.000,0.000-33.000,0.000 0.000,0.000 0.000,0.000 0.000,0.000 33.000,0.000-66.000,-33.000-34.000,0.000 67.000,33.000-33.000,-66.000 33.000,66.000 0.000,-33.000 0.000,0.000 0.000,0.000-33.000,-1.000 66.000,34.000-33.000,-66.000 0.000,33.000 33.000,33.000 0.000,-66.000 0.000,66.000 0.000,-33.000 0.000,0.000 0.000,0.000 0.000,-33.000 0.000,33.000 0.000,0.000 0.000,33.000 0.000,-67.000 0.000,34.000 0.000,33.000 0.000,-33.000 0.000,0.000 0.000,0.000 33.000,0.000-33.000,-33.000 33.000,66.000 0.000,-33.000-33.000,33.000 0.000,-66.000 0.000,33.000 33.000,0.000-33.000,33.000 33.000,-34.000-33.000,-32.000 33.000,33.000 0.000,0.000-33.000,33.000 0.000,-33.000 0.000,0.000 33.000,0.000 0.000,33.000 0.000,-66.000 0.000,66.000 0.000,-33.000 1.000,0.000-34.000,33.000 66.000,-33.000-66.000,0.000 66.000,33.000-33.000,-34.000-33.000,34.000 33.000,0.000 0.000,0.000 0.000,0.000-33.000,0.000 66.000,0.000-33.000,0.000 0.000,0.000 34.000,0.000 32.000,0.000-66.000,-33.000 0.000,33.000-33.000,0.000 33.000,0.000 33.000,0.000-66.000,0.000 66.000,0.000-66.000,0.000 33.000,0.000-33.000,0.000 67.000,0.000-67.000,0.000 33.000,0.000-33.000,33.000 0.000,-33.000 33.000,67.000 0.000,-1.000 0.000,0.000 33.000,0.000-33.000,33.000 33.000,-99.000-66.000,66.000 33.000,-33.000 0.000,1.000-33.000,-34.000 0.000,33.000 0.000,0.000 0.000,0.000 0.000</inkml:trace>
  <inkml:trace contextRef="#ctx0" brushRef="#br0">17661.000 10451.000,'0.000'-33.000,"0.000"33.000,66.000 0.000,0.000 0.000,0.000 99.000,34.000-33.000,-100.000-33.000,66.000 0.000,0.000 34.000,-33.000-1.000,-33.000-66.000,66.000 66.000,-66.000-66.000,66.000 33.000,-33.000-33.000,0.000 33.000,0.000-33.000,34.000 0.000,-34.000 0.000,33.000 33.000,0.000-33.000,-33.000 33.000,0.000-33.000,66.000 33.000,-33.000-33.000,100.000 33.000,-100.000-33.000,66.000 0.000,-32.000 33.000,-67.000-33.000,33.000 0.000,-33.000 0.000,-33.000 0.000,33.000 0.000,0.000 0.000,0.000 0.000,-33.000 0.000,66.000-33.000,0.000-33.000,-66.000 66.000,33.000-33.000,0.000 0.000,34.000-33.000,-67.000 0.000,0.000 66.000,33.000-66.000,0.000 66.000,-33.000-67.000,0.000 67.000,0.000-66.000,0.000 0.000,0.000 66.000,0.000-66.000,0.000 33.000,0.000-66.000,0.000 99.000,0.000-66.000,0.000 33.000,0.000-1.000,0.000-32.000,0.000 33.000,0.000-66.000,0.000 99.000,0.000-33.000,-33.000-33.000,33.000 33.000,0.000-33.000,0.000 33.000,-66.000-100.000,-1.000 67.000,67.000 0.000,-99.000-66.000,66.000 99.000,-33.000-67.000,33.000 1.000,0.000 66.000,33.000-33.000,-66.000 0.000,66.000 33.000,-66.000-33.000,32.000 66.000,1.000-34.000,33.000 34.000,-33.000-33.000,0.000 0.000,0.000 33.000,0.000-33.000,-99.000-33.000,66.000 66.000,33.000-33.000,-34.000 0.000,-32.000 0.000,66.000 33.000,0.000 0.000,-33.000 0.000,66.000 0.000,-66.000 0.000,0.000 0.000,66.000 0.000,-67.000 0.000,1.000 0.000,0.000 0.000,0.000 0.000,-33.000 99.000,33.000-66.000,0.000 66.000,-1.000-32.000,34.000 32.000,-33.000 66.000,33.000-33.000,-66.000 34.000,33.000 32.000,-33.000-65.000,99.000-34.000,0.000-99.000,-34.000 66.000,34.000 0.000,-66.000 33.000,66.000-66.000,0.000 33.000,0.000-32.000,0.000 32.000,-33.000-33.000,33.000-33.000,0.000 33.000,0.000 0.000,0.000 0.000,0.000-33.000,0.000 33.000,0.000-33.000,33.000 33.000,33.000-33.000,-66.000 0.000,34.000 0.000,-1.000 0.000,0.000 33.000,-33.000-33.000,33.000 0.000,0.000 0.000,0.000 0.000,-33.000 0.000,33.000 0.000,0.000 33.000,33.000 0.000,0.000-33.000,-33.000 33.000,34.000 0.000,-1.000-33.000,-66.000 0.000</inkml:trace>
  <inkml:trace contextRef="#ctx0" brushRef="#br0">21266.000 9062.000,'0.000'0.000,"66.000"0.000,33.000 0.000,-33.000 0.000,34.000-33.000,-1.000 0.000,0.000 33.000,-66.000 0.000,0.000 0.000,33.000-33.000,-66.000 33.000,66.000 0.000,-66.000 0.000,34.000 0.000,-34.000 0.000,66.000-33.000,-33.000 33.000,-33.000 0.000,66.000 0.000,-66.000 0.000,66.000 0.000,-33.000 0.000,-33.000 0.000,66.000-66.000,0.000 66.000,-32.000 0.000,-1.000-34.000,-33.000 34.000,0.000-33.000</inkml:trace>
  <inkml:trace contextRef="#ctx0" brushRef="#br0">20737.000 9459.000,'0.000'0.000,"0.000"33.000,0.000 0.000,0.000-33.000,0.000 33.000,-33.000 0.000,0.000-33.000,33.000 33.000,-33.000-33.000,-1.000 66.000,1.000-33.000,-66.000 34.000,66.000-67.000,-99.000 99.000,66.000-66.000,33.000-33.000,-34.000 66.000,1.000-33.000,0.000-33.000,0.000 66.000,0.000-33.000,33.000 0.000,0.000 0.000,0.000 34.000,-34.000-34.000,1.000-33.000,0.000 66.000,33.000-66.000,0.000 0.000,0.000 0.000,33.000 33.000,-66.000-33.000,0.000 33.000,33.000-33.000,-34.000 33.000,-65.000 0.000,132.000-33.000,-66.000 33.000,-33.000-33.000,66.000 0.000,-33.000 66.000,-1.000-66.000,34.000 33.000,-33.000-33.000,0.000 33.000,-33.000 34.000,0.000-67.000,66.000 33.000,-67.000 0.000,67.000 0.000,-33.000 0.000,-33.000 33.000,33.000-33.000,33.000 0.000,-33.000-33.000,32.000 33.000,-98.000 33.000,99.000-32.000,0.000-1.000,-33.000-33.000,0.000 66.000,33.000-66.000,-33.000 33.000,32.000 33.000,-65.000-33.000,33.000 0.000,0.000 0.000,-33.000 33.000,33.000-33.000,32.000 0.000,-32.000 1.000,0.000-1.000,33.000-33.000,-66.000 66.000,66.000-33.000,0.000 0.000,-33.000 0.000,33.000 0.000,-1.000 0.000,1.000-33.000,33.000 33.000,-66.000 0.000,33.000 33.000,-66.000-33.000,66.000 34.000,-33.000-34.000,33.000 0.000,33.000-33.000,-33.000 33.000,0.000-33.000,33.000 33.000,-67.000 0.000,67.000 0.000,-33.000 0.000,-66.000 66.000,99.000-99.000,-33.000 33.000,-33.000 67.000,33.000-67.000,-33.000 33.000,33.000 0.000,-1.000-33.000,1.000 99.000,-33.000-99.000,33.000 34.000,-66.000 65.000,99.000-132.000,-33.000 66.000,-33.000 33.000,33.000-33.000,0.000-33.000,0.000 67.000,-34.000-67.000,34.000 66.000,33.000 0.000,-33.000-66.000,0.000 33.000,0.000 1.000,33.000-1.000,-66.000 33.000,66.000-33.000,-33.000 0.000,33.000-33.000,0.000 100.000,0.000-100.000,-33.000 66.000,33.000-33.000,0.000 0.000,0.000 0.000,0.000 0.000,0.000 1.000,0.000-34.000,0.000 33.000,0.000-33.000,0.000 33.000,33.000 0.000,0.000 0.000,-33.000-66.000,33.000 33.000,0.000 0.000,-33.000-33.000,33.000 0.000,-33.000 0.000,66.000 0.000,-33.000 67.000,0.000-67.000,34.000 0.000,32.000 0.000,-33.000 0.000,33.000 0.000,0.000 0.000,67.000 0.000,32.000 0.000,34.000 0.000,-1.000 0.000,-65.000 0.000,98.000 0.000,-65.000 0.000,32.000 0.000,1.000 0.000,-67.000 0.000,33.000 0.000,34.000 0.000,-67.000-33.000,1.000-1.000,-1.000-65.000,0.000 33.000,-32.000-33.000,32.000 33.000,0.000-33.000,1.000 32.000,-67.000 34.000,66.000-33.000,-65.000-33.000,-1.000 66.000,66.000 0.000,-66.000-66.000,100.000 32.000,-34.000-32.000,-32.000 33.000,-1.000 0.000,0.000 0.000,-33.000-33.000,-33.000 65.000,67.000-32.000,-34.000-33.000,66.000-33.000,-32.000 66.000,-34.000-34.000,33.000 1.000,-66.000 66.000,33.000-66.000,-65.000 66.000,32.000-33.000,0.000 33.000,0.000-33.000,33.000-67.000,-66.000 100.000,67.000-132.000,-34.000 99.000,33.000-67.000,0.000 34.000,-66.000 33.000,-33.000 66.000,33.000-33.000,-33.000-33.000,33.000 33.000,0.000-33.000,34.000-100.000,-34.000 67.000,-33.000 33.000,33.000-66.000,33.000-34.000,-66.000 34.000,66.000-67.000,-66.000 100.000,33.000-33.000,-33.000 0.000,0.000 65.000,0.000 1.000,0.000 0.000,0.000 33.000,0.000 0.000,0.000 0.000,0.000 0.000,0.000 33.000,0.000-66.000,0.000 33.000,0.000 0.000,0.000 33.000,0.000-67.000,0.000 34.000,0.000-33.000,0.000 66.000,0.000-33.000,0.000-66.000,-33.000 99.000,33.000-66.000,0.000 33.000,-33.000 0.000,33.000 0.000,-33.000-34.000,-33.000 34.000,66.000-33.000,-66.000 33.000,66.000 0.000,-67.000 33.000,34.000-66.000,0.000 33.000,0.000 33.000,0.000 0.000,-33.000-66.000,33.000 66.000,0.000 0.000,0.000 0.000,0.000 0.000,-33.000 0.000,66.000 0.000,-67.000 0.000,-32.000 0.000,66.000 0.000,0.000 0.000,-33.000 0.000,-33.000 0.000,32.000 0.000,1.000 0.000,66.000 0.000,-33.000 0.000,0.000 0.000,0.000 0.000,33.000 0.000,-33.000 0.000,0.000 0.000,0.000 0.000,-33.000 0.000,0.000 0.000,33.000 0.000,-67.000 0.000,1.000 0.000,66.000 0.000,0.000 0.000,0.000 0.000,0.000 0.000,0.000 0.000,0.000 0.000,33.000 0.000,-33.000 0.000,0.000 0.000,-34.000 33.000,67.000-33.000,-66.000 0.000,-33.000 66.000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anose="0202060305040502030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anose="0202060305040502030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anose="0202060305040502030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 panose="0202060305040502030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 panose="0202060305040502030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 panose="0202060305040502030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 panose="0202060305040502030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LXL</a:t>
            </a:r>
            <a:r>
              <a:rPr lang="zh-CN" altLang="en-US"/>
              <a:t>：佛山科技学院本科生黎熹来，科研成果超多数研究生（多篇</a:t>
            </a:r>
            <a:r>
              <a:rPr lang="en-US" altLang="zh-CN"/>
              <a:t>SCI</a:t>
            </a:r>
            <a:r>
              <a:rPr lang="zh-CN" altLang="en-US"/>
              <a:t>论文，含</a:t>
            </a:r>
            <a:r>
              <a:rPr lang="en-US" altLang="zh-CN"/>
              <a:t>CCF-A</a:t>
            </a:r>
            <a:r>
              <a:rPr lang="zh-CN" altLang="en-US"/>
              <a:t>），甚至达到了部分学校博士毕业要求；港科大读研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转盘</a:t>
            </a:r>
            <a:r>
              <a:rPr lang="en-US" altLang="zh-CN"/>
              <a:t>6</a:t>
            </a:r>
            <a:r>
              <a:rPr lang="zh-CN" altLang="en-US"/>
              <a:t>步，以考研为例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操作概念：从高层描述系统如何工作。</a:t>
            </a:r>
            <a:endParaRPr lang="zh-CN" altLang="en-US" dirty="0" smtClean="0"/>
          </a:p>
          <a:p>
            <a:r>
              <a:rPr lang="zh-CN" altLang="en-US" dirty="0"/>
              <a:t>从内到外，针对可行性分析（是否可行？多大风险）、需求计划与生命周期计划、需求、设计（</a:t>
            </a:r>
            <a:r>
              <a:rPr lang="en-US" altLang="zh-CN" dirty="0"/>
              <a:t>+</a:t>
            </a:r>
            <a:r>
              <a:rPr lang="zh-CN" altLang="en-US" dirty="0"/>
              <a:t>集成与测试计划）分别建立原型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8DB9D-9606-48F5-885E-0D4358E4681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2EE9F-0071-4EDB-A248-9A4292B6487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93342-A681-4893-A60B-020EBFA8444D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C0E63-0134-4FAB-94F3-5DDE36F001E0}" type="datetime1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2B4BC-4196-429D-9A05-229843C9143F}" type="datetime1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DCFEF-3204-4FF4-9004-C1C9A44DE646}" type="datetime1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1BA13-8009-4054-92A1-1977D00B0825}" type="datetime1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39549-CEB9-4DCD-9959-CC34ABD851F4}" type="datetime1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58A5-21E2-4CDE-A139-0BE40A35C5C6}" type="datetime1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46FEA-136F-4C29-B748-D34CA59B0FC4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21D0-A712-47FD-B0F4-0AFEA64FA306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charset="0"/>
              </a:defRPr>
            </a:lvl1pPr>
          </a:lstStyle>
          <a:p>
            <a:fld id="{0F8E7710-537E-4934-88F0-89BBE51C5E80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charset="0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2.xml"/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customXml" Target="../ink/ink3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1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1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customXml" Target="../ink/ink4.xml"/><Relationship Id="rId1" Type="http://schemas.openxmlformats.org/officeDocument/2006/relationships/image" Target="../media/image1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customXml" Target="../ink/ink7.xml"/><Relationship Id="rId7" Type="http://schemas.openxmlformats.org/officeDocument/2006/relationships/image" Target="../media/image21.png"/><Relationship Id="rId6" Type="http://schemas.openxmlformats.org/officeDocument/2006/relationships/customXml" Target="../ink/ink6.xml"/><Relationship Id="rId5" Type="http://schemas.openxmlformats.org/officeDocument/2006/relationships/image" Target="../media/image20.png"/><Relationship Id="rId4" Type="http://schemas.openxmlformats.org/officeDocument/2006/relationships/customXml" Target="../ink/ink5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26.png"/><Relationship Id="rId16" Type="http://schemas.openxmlformats.org/officeDocument/2006/relationships/customXml" Target="../ink/ink11.xml"/><Relationship Id="rId15" Type="http://schemas.openxmlformats.org/officeDocument/2006/relationships/image" Target="../media/image25.png"/><Relationship Id="rId14" Type="http://schemas.openxmlformats.org/officeDocument/2006/relationships/customXml" Target="../ink/ink10.xml"/><Relationship Id="rId13" Type="http://schemas.openxmlformats.org/officeDocument/2006/relationships/image" Target="../media/image24.png"/><Relationship Id="rId12" Type="http://schemas.openxmlformats.org/officeDocument/2006/relationships/customXml" Target="../ink/ink9.xml"/><Relationship Id="rId11" Type="http://schemas.openxmlformats.org/officeDocument/2006/relationships/image" Target="../media/image23.png"/><Relationship Id="rId10" Type="http://schemas.openxmlformats.org/officeDocument/2006/relationships/customXml" Target="../ink/ink8.xml"/><Relationship Id="rId1" Type="http://schemas.openxmlformats.org/officeDocument/2006/relationships/tags" Target="../tags/tag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customXml" Target="../ink/ink13.xml"/><Relationship Id="rId3" Type="http://schemas.openxmlformats.org/officeDocument/2006/relationships/image" Target="../media/image28.png"/><Relationship Id="rId2" Type="http://schemas.openxmlformats.org/officeDocument/2006/relationships/customXml" Target="../ink/ink12.xml"/><Relationship Id="rId1" Type="http://schemas.openxmlformats.org/officeDocument/2006/relationships/image" Target="../media/image2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tags" Target="../tags/tag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customXml" Target="../ink/ink14.xml"/><Relationship Id="rId1" Type="http://schemas.openxmlformats.org/officeDocument/2006/relationships/image" Target="../media/image32.png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customXml" Target="../ink/ink18.xml"/><Relationship Id="rId7" Type="http://schemas.openxmlformats.org/officeDocument/2006/relationships/image" Target="../media/image37.png"/><Relationship Id="rId6" Type="http://schemas.openxmlformats.org/officeDocument/2006/relationships/customXml" Target="../ink/ink17.xml"/><Relationship Id="rId5" Type="http://schemas.openxmlformats.org/officeDocument/2006/relationships/image" Target="../media/image36.png"/><Relationship Id="rId4" Type="http://schemas.openxmlformats.org/officeDocument/2006/relationships/customXml" Target="../ink/ink16.xml"/><Relationship Id="rId3" Type="http://schemas.openxmlformats.org/officeDocument/2006/relationships/image" Target="../media/image35.png"/><Relationship Id="rId2" Type="http://schemas.openxmlformats.org/officeDocument/2006/relationships/customXml" Target="../ink/ink15.xml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jpeg"/><Relationship Id="rId1" Type="http://schemas.openxmlformats.org/officeDocument/2006/relationships/image" Target="../media/image39.png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1.wmf"/><Relationship Id="rId2" Type="http://schemas.openxmlformats.org/officeDocument/2006/relationships/oleObject" Target="../embeddings/oleObject2.bin"/><Relationship Id="rId1" Type="http://schemas.openxmlformats.org/officeDocument/2006/relationships/tags" Target="../tags/tag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CN" dirty="0" smtClean="0"/>
              <a:t>软件工程</a:t>
            </a:r>
            <a:endParaRPr lang="zh-CN" alt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0000" lnSpcReduction="10000"/>
          </a:bodyPr>
          <a:lstStyle/>
          <a:p>
            <a:r>
              <a:rPr lang="zh-CN" altLang="en-US" dirty="0"/>
              <a:t>吕国华</a:t>
            </a:r>
            <a:endParaRPr lang="zh-CN" altLang="en-US" dirty="0"/>
          </a:p>
          <a:p>
            <a:r>
              <a:rPr lang="zh-CN" altLang="en-US"/>
              <a:t>齐鲁</a:t>
            </a:r>
            <a:r>
              <a:rPr lang="zh-CN" altLang="en-US" smtClean="0"/>
              <a:t>工业大学（山东省科学院）计算机科学与技术学院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 smtClean="0"/>
              <a:t>Email</a:t>
            </a:r>
            <a:r>
              <a:rPr lang="en-US" altLang="zh-CN" dirty="0"/>
              <a:t>: guohualv@qlu.edu.cn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学</a:t>
            </a:r>
            <a:r>
              <a:rPr lang="zh-CN" altLang="en-US" dirty="0" smtClean="0">
                <a:solidFill>
                  <a:srgbClr val="FF0000"/>
                </a:solidFill>
              </a:rPr>
              <a:t>时</a:t>
            </a:r>
            <a:r>
              <a:rPr lang="zh-CN" altLang="en-US" dirty="0">
                <a:solidFill>
                  <a:srgbClr val="FF0000"/>
                </a:solidFill>
              </a:rPr>
              <a:t>安排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理论：</a:t>
            </a:r>
            <a:r>
              <a:rPr lang="en-US" altLang="zh-CN" dirty="0" smtClean="0"/>
              <a:t>40</a:t>
            </a:r>
            <a:r>
              <a:rPr lang="zh-CN" altLang="en-US" dirty="0" smtClean="0"/>
              <a:t>学时，每周</a:t>
            </a:r>
            <a:r>
              <a:rPr lang="en-US" altLang="zh-CN" dirty="0" smtClean="0"/>
              <a:t>4</a:t>
            </a:r>
            <a:r>
              <a:rPr lang="zh-CN" altLang="en-US" dirty="0" smtClean="0"/>
              <a:t>学时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上机</a:t>
            </a:r>
            <a:r>
              <a:rPr lang="zh-CN" altLang="en-US" dirty="0" smtClean="0"/>
              <a:t>：</a:t>
            </a:r>
            <a:r>
              <a:rPr lang="en-US" altLang="zh-CN" dirty="0" smtClean="0"/>
              <a:t>16</a:t>
            </a:r>
            <a:r>
              <a:rPr lang="zh-CN" altLang="en-US" dirty="0" smtClean="0"/>
              <a:t>学时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 smtClean="0"/>
              <a:t>下课后，有意担任科代表的同学联系我，便于后续课程相关安排。</a:t>
            </a:r>
            <a:endParaRPr lang="zh-CN" altLang="en-US" dirty="0" smtClean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152 6916 8858</a:t>
            </a:r>
            <a:r>
              <a:rPr lang="zh-CN" altLang="en-US" dirty="0"/>
              <a:t>（微信同号）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6C312-BD7D-42B9-BEA6-5000474C9C5F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教材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D2EE9F-0071-4EDB-A248-9A4292B6487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195" y="1422400"/>
            <a:ext cx="8461375" cy="5435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823335" cy="1325880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实验教材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D2EE9F-0071-4EDB-A248-9A4292B6487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2140" y="18415"/>
            <a:ext cx="4599940" cy="6851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考核方式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考试：</a:t>
            </a:r>
            <a:endParaRPr lang="zh-CN" altLang="en-US" dirty="0"/>
          </a:p>
          <a:p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    30%</a:t>
            </a:r>
            <a:r>
              <a:rPr lang="zh-CN" altLang="en-US" dirty="0"/>
              <a:t>：平时 （课堂表现 </a:t>
            </a:r>
            <a:r>
              <a:rPr lang="en-US" altLang="zh-CN" dirty="0"/>
              <a:t>+ </a:t>
            </a:r>
            <a:r>
              <a:rPr lang="zh-CN" altLang="en-US" dirty="0" smtClean="0"/>
              <a:t>作业 </a:t>
            </a:r>
            <a:r>
              <a:rPr lang="en-US" altLang="zh-CN" dirty="0" smtClean="0"/>
              <a:t>+ </a:t>
            </a:r>
            <a:r>
              <a:rPr lang="zh-CN" altLang="en-US" dirty="0"/>
              <a:t>实验</a:t>
            </a:r>
            <a:r>
              <a:rPr lang="zh-CN" altLang="en-US" dirty="0" smtClean="0"/>
              <a:t>）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    70%</a:t>
            </a:r>
            <a:r>
              <a:rPr lang="zh-CN" altLang="en-US" dirty="0"/>
              <a:t>：期末考试</a:t>
            </a:r>
            <a:endParaRPr lang="zh-CN" altLang="en-US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E53EC-CD76-4BDE-8C69-BCA9ECF311C9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D2EE9F-0071-4EDB-A248-9A4292B6487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850900"/>
            <a:ext cx="10333355" cy="3896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课堂要求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4965" cy="4351655"/>
          </a:xfrm>
        </p:spPr>
        <p:txBody>
          <a:bodyPr/>
          <a:lstStyle/>
          <a:p>
            <a:r>
              <a:rPr lang="zh-CN" altLang="en-US" dirty="0"/>
              <a:t>手机关闭或调为振动、静音 （不做低头族）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>
                <a:solidFill>
                  <a:srgbClr val="FF0000"/>
                </a:solidFill>
              </a:rPr>
              <a:t>少玩</a:t>
            </a:r>
            <a:r>
              <a:rPr lang="zh-CN" altLang="en-US" dirty="0" smtClean="0">
                <a:solidFill>
                  <a:srgbClr val="FF0000"/>
                </a:solidFill>
              </a:rPr>
              <a:t>手机，多做有意义的事情！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/>
              <a:t>积极回答问题 （多思考）；</a:t>
            </a:r>
            <a:endParaRPr lang="zh-CN" altLang="en-US" dirty="0"/>
          </a:p>
          <a:p>
            <a:r>
              <a:rPr lang="zh-CN" altLang="en-US" dirty="0"/>
              <a:t>预习 </a:t>
            </a:r>
            <a:r>
              <a:rPr lang="en-US" altLang="zh-CN" dirty="0"/>
              <a:t>+ </a:t>
            </a:r>
            <a:r>
              <a:rPr lang="zh-CN" altLang="en-US" dirty="0"/>
              <a:t>复习（概念多、抽象</a:t>
            </a:r>
            <a:r>
              <a:rPr lang="zh-CN" altLang="en-US" dirty="0" smtClean="0"/>
              <a:t>）；</a:t>
            </a:r>
            <a:endParaRPr lang="en-US" altLang="zh-CN" dirty="0" smtClean="0"/>
          </a:p>
          <a:p>
            <a:r>
              <a:rPr lang="zh-CN" altLang="en-US" dirty="0" smtClean="0"/>
              <a:t>找机会开展</a:t>
            </a:r>
            <a:r>
              <a:rPr lang="zh-CN" altLang="en-US" dirty="0" smtClean="0">
                <a:solidFill>
                  <a:srgbClr val="0000FF"/>
                </a:solidFill>
              </a:rPr>
              <a:t>翻转课堂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D591D-5841-4A02-A7CF-56C577C24E67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40025" y="2832100"/>
            <a:ext cx="5158740" cy="642620"/>
          </a:xfrm>
        </p:spPr>
        <p:txBody>
          <a:bodyPr/>
          <a:lstStyle/>
          <a:p>
            <a:pPr marL="0" indent="0">
              <a:buNone/>
            </a:pPr>
            <a:r>
              <a:rPr lang="zh-CN" altLang="en-US"/>
              <a:t>谈谈你对</a:t>
            </a:r>
            <a:r>
              <a:rPr lang="en-US" altLang="zh-CN"/>
              <a:t>“</a:t>
            </a:r>
            <a:r>
              <a:rPr lang="zh-CN" altLang="en-US"/>
              <a:t>软件工程</a:t>
            </a:r>
            <a:r>
              <a:rPr lang="en-US" altLang="zh-CN"/>
              <a:t>”</a:t>
            </a:r>
            <a:r>
              <a:rPr lang="zh-CN" altLang="en-US"/>
              <a:t>一词的理解。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5484F-4A88-40D4-A838-161A1B5B27BC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网上有人说</a:t>
            </a:r>
            <a:r>
              <a:rPr lang="en-US" altLang="zh-CN" dirty="0" smtClean="0"/>
              <a:t>……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594" y="1894795"/>
            <a:ext cx="10960065" cy="2192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6" name="墨迹 5"/>
              <p14:cNvContentPartPr/>
              <p14:nvPr/>
            </p14:nvContentPartPr>
            <p14:xfrm>
              <a:off x="965160" y="2381400"/>
              <a:ext cx="10776240" cy="114336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3"/>
            </p:blipFill>
            <p:spPr>
              <a:xfrm>
                <a:off x="965160" y="2381400"/>
                <a:ext cx="10776240" cy="1143360"/>
              </a:xfrm>
              <a:prstGeom prst="rect"/>
            </p:spPr>
          </p:pic>
        </mc:Fallback>
      </mc:AlternateContent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6EA4A-2080-4C91-B0D3-5783E90B976F}" type="datetime11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墨迹 2"/>
              <p14:cNvContentPartPr/>
              <p14:nvPr/>
            </p14:nvContentPartPr>
            <p14:xfrm>
              <a:off x="717480" y="2819520"/>
              <a:ext cx="10649520" cy="81936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>
                <a:off x="717480" y="2819520"/>
                <a:ext cx="10649520" cy="8193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75558"/>
            <a:ext cx="10515600" cy="1325563"/>
          </a:xfrm>
        </p:spPr>
        <p:txBody>
          <a:bodyPr/>
          <a:lstStyle/>
          <a:p>
            <a:r>
              <a:rPr lang="zh-CN" altLang="en-US" dirty="0"/>
              <a:t>网上有人说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2EE9F-0071-4EDB-A248-9A4292B6487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777" y="1529111"/>
            <a:ext cx="9810750" cy="529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6" name="墨迹 5"/>
              <p14:cNvContentPartPr/>
              <p14:nvPr/>
            </p14:nvContentPartPr>
            <p14:xfrm>
              <a:off x="1562040" y="5657760"/>
              <a:ext cx="9557280" cy="108648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3"/>
            </p:blipFill>
            <p:spPr>
              <a:xfrm>
                <a:off x="1562040" y="5657760"/>
                <a:ext cx="9557280" cy="108648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学习内容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划掉第</a:t>
            </a:r>
            <a:r>
              <a:rPr lang="en-US" altLang="zh-CN" dirty="0"/>
              <a:t>4</a:t>
            </a:r>
            <a:r>
              <a:rPr lang="zh-CN" altLang="en-US" dirty="0"/>
              <a:t>章（形式化说明技术）和第</a:t>
            </a:r>
            <a:r>
              <a:rPr lang="en-US" altLang="zh-CN" dirty="0"/>
              <a:t>13</a:t>
            </a:r>
            <a:r>
              <a:rPr lang="zh-CN" altLang="en-US" dirty="0"/>
              <a:t>章（软件项目管理）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A727D-2D6C-44E8-A802-78F098B8B0EE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章 </a:t>
            </a:r>
            <a:r>
              <a:rPr lang="zh-CN" altLang="en-US" dirty="0" smtClean="0"/>
              <a:t>软件工程学概述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1.1 </a:t>
            </a:r>
            <a:r>
              <a:rPr lang="zh-CN" altLang="en-US"/>
              <a:t>什么是软件？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1.2 </a:t>
            </a:r>
            <a:r>
              <a:rPr lang="zh-CN" altLang="en-US"/>
              <a:t>软件危机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1.3 </a:t>
            </a:r>
            <a:r>
              <a:rPr lang="zh-CN" altLang="en-US"/>
              <a:t>软件工程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1.4 </a:t>
            </a:r>
            <a:r>
              <a:rPr lang="zh-CN" altLang="en-US"/>
              <a:t>软件生命周期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1.5 </a:t>
            </a:r>
            <a:r>
              <a:rPr lang="zh-CN" altLang="en-US"/>
              <a:t>软件过程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DF20-8FBE-4673-B7DB-77997E0BAFA6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什么是软件？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269220" cy="4351655"/>
          </a:xfrm>
        </p:spPr>
        <p:txBody>
          <a:bodyPr/>
          <a:lstStyle/>
          <a:p>
            <a:r>
              <a:rPr lang="zh-CN" altLang="en-US" dirty="0"/>
              <a:t>软件 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≠ </a:t>
            </a:r>
            <a:r>
              <a:rPr lang="zh-CN" altLang="en-US" dirty="0">
                <a:latin typeface="Arial" panose="020B0604020202020204" pitchFamily="34" charset="0"/>
              </a:rPr>
              <a:t>程序</a:t>
            </a:r>
            <a:endParaRPr lang="zh-CN" altLang="en-US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zh-CN" altLang="en-US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软件是计算机系统中与硬件相互依存的另一部分，它是</a:t>
            </a:r>
            <a:r>
              <a:rPr lang="zh-CN" altLang="en-US" dirty="0" smtClean="0">
                <a:solidFill>
                  <a:srgbClr val="FF0000"/>
                </a:solidFill>
                <a:latin typeface="Arial" panose="020B0604020202020204" pitchFamily="34" charset="0"/>
              </a:rPr>
              <a:t>程序</a:t>
            </a:r>
            <a:r>
              <a:rPr lang="en-US" altLang="zh-CN" dirty="0" smtClean="0">
                <a:solidFill>
                  <a:srgbClr val="FF0000"/>
                </a:solidFill>
                <a:latin typeface="Arial" panose="020B0604020202020204" pitchFamily="34" charset="0"/>
              </a:rPr>
              <a:t>(program)</a:t>
            </a:r>
            <a:r>
              <a:rPr lang="zh-CN" altLang="en-US" dirty="0" smtClean="0">
                <a:solidFill>
                  <a:srgbClr val="0000FF"/>
                </a:solidFill>
                <a:latin typeface="Arial" panose="020B0604020202020204" pitchFamily="34" charset="0"/>
              </a:rPr>
              <a:t>、数据</a:t>
            </a:r>
            <a:r>
              <a:rPr lang="en-US" altLang="zh-CN" dirty="0" smtClean="0">
                <a:solidFill>
                  <a:srgbClr val="0000FF"/>
                </a:solidFill>
                <a:latin typeface="Arial" panose="020B0604020202020204" pitchFamily="34" charset="0"/>
              </a:rPr>
              <a:t>(data)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</a:rPr>
              <a:t>以及</a:t>
            </a:r>
            <a:r>
              <a:rPr lang="zh-CN" altLang="en-US" dirty="0" smtClean="0">
                <a:solidFill>
                  <a:srgbClr val="0000FF"/>
                </a:solidFill>
                <a:latin typeface="Arial" panose="020B0604020202020204" pitchFamily="34" charset="0"/>
              </a:rPr>
              <a:t>相关文档</a:t>
            </a:r>
            <a:r>
              <a:rPr lang="en-US" altLang="zh-CN" dirty="0" smtClean="0">
                <a:solidFill>
                  <a:srgbClr val="0000FF"/>
                </a:solidFill>
                <a:latin typeface="Arial" panose="020B0604020202020204" pitchFamily="34" charset="0"/>
              </a:rPr>
              <a:t>(document)</a:t>
            </a:r>
            <a:r>
              <a:rPr lang="zh-CN" altLang="en-US" dirty="0" smtClean="0">
                <a:latin typeface="Arial" panose="020B0604020202020204" pitchFamily="34" charset="0"/>
              </a:rPr>
              <a:t>的</a:t>
            </a:r>
            <a:r>
              <a:rPr lang="zh-CN" altLang="en-US" dirty="0">
                <a:latin typeface="Arial" panose="020B0604020202020204" pitchFamily="34" charset="0"/>
              </a:rPr>
              <a:t>完整集合。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53A1A-7A79-4F54-9542-39357F163DEA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1.2 </a:t>
            </a:r>
            <a:r>
              <a:rPr lang="zh-CN" altLang="en-US"/>
              <a:t>软件危机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1044555" cy="435165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1.2.1 </a:t>
            </a:r>
            <a:r>
              <a:rPr lang="zh-CN" altLang="en-US" dirty="0"/>
              <a:t>软件危机的产生</a:t>
            </a:r>
            <a:endParaRPr lang="zh-CN" altLang="en-US" dirty="0"/>
          </a:p>
          <a:p>
            <a:pPr marL="457200" indent="-457200"/>
            <a:r>
              <a:rPr lang="en-US" altLang="zh-CN" dirty="0"/>
              <a:t>20</a:t>
            </a:r>
            <a:r>
              <a:rPr lang="zh-CN" altLang="en-US" dirty="0"/>
              <a:t>世纪</a:t>
            </a:r>
            <a:r>
              <a:rPr lang="en-US" altLang="zh-CN" dirty="0"/>
              <a:t>60</a:t>
            </a:r>
            <a:r>
              <a:rPr lang="zh-CN" altLang="en-US" dirty="0"/>
              <a:t>年代以前：软件为某个具体的应用而</a:t>
            </a:r>
            <a:r>
              <a:rPr lang="zh-CN" altLang="en-US" dirty="0" smtClean="0"/>
              <a:t>编写、规模特别小，基本是</a:t>
            </a:r>
            <a:r>
              <a:rPr lang="zh-CN" altLang="en-US" dirty="0">
                <a:solidFill>
                  <a:srgbClr val="FF0000"/>
                </a:solidFill>
              </a:rPr>
              <a:t>个人设计、个人使用</a:t>
            </a:r>
            <a:r>
              <a:rPr lang="zh-CN" altLang="en-US" dirty="0" smtClean="0">
                <a:solidFill>
                  <a:srgbClr val="FF0000"/>
                </a:solidFill>
              </a:rPr>
              <a:t>、自给自足</a:t>
            </a:r>
            <a:r>
              <a:rPr lang="zh-CN" altLang="en-US" dirty="0">
                <a:solidFill>
                  <a:srgbClr val="FF0000"/>
                </a:solidFill>
              </a:rPr>
              <a:t>的私人化的软件生产方式</a:t>
            </a:r>
            <a:r>
              <a:rPr lang="zh-CN" altLang="en-US" dirty="0" smtClean="0"/>
              <a:t>；</a:t>
            </a:r>
            <a:endParaRPr lang="zh-CN" altLang="en-US" dirty="0"/>
          </a:p>
          <a:p>
            <a:pPr marL="457200" indent="-457200"/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世纪</a:t>
            </a:r>
            <a:r>
              <a:rPr lang="en-US" altLang="zh-CN" dirty="0">
                <a:sym typeface="+mn-ea"/>
              </a:rPr>
              <a:t>60</a:t>
            </a:r>
            <a:r>
              <a:rPr lang="zh-CN" altLang="en-US" dirty="0">
                <a:sym typeface="+mn-ea"/>
              </a:rPr>
              <a:t>年代中期到</a:t>
            </a:r>
            <a:r>
              <a:rPr lang="en-US" altLang="zh-CN" dirty="0">
                <a:sym typeface="+mn-ea"/>
              </a:rPr>
              <a:t>70</a:t>
            </a:r>
            <a:r>
              <a:rPr lang="zh-CN" altLang="en-US" dirty="0">
                <a:sym typeface="+mn-ea"/>
              </a:rPr>
              <a:t>年代中期：软件</a:t>
            </a:r>
            <a:r>
              <a:rPr lang="zh-CN" altLang="en-US" dirty="0" smtClean="0">
                <a:sym typeface="+mn-ea"/>
              </a:rPr>
              <a:t>作坊 </a:t>
            </a:r>
            <a:r>
              <a:rPr lang="en-US" altLang="zh-CN" dirty="0" smtClean="0">
                <a:sym typeface="+mn-ea"/>
              </a:rPr>
              <a:t>(</a:t>
            </a:r>
            <a:r>
              <a:rPr lang="zh-CN" altLang="en-US" dirty="0" smtClean="0">
                <a:sym typeface="+mn-ea"/>
              </a:rPr>
              <a:t>规模仍比较小</a:t>
            </a:r>
            <a:r>
              <a:rPr lang="en-US" altLang="zh-CN" dirty="0" smtClean="0">
                <a:sym typeface="+mn-ea"/>
              </a:rPr>
              <a:t>)</a:t>
            </a:r>
            <a:r>
              <a:rPr lang="zh-CN" altLang="en-US" dirty="0" smtClean="0">
                <a:sym typeface="+mn-ea"/>
              </a:rPr>
              <a:t>；</a:t>
            </a:r>
            <a:endParaRPr lang="zh-CN" altLang="en-US" dirty="0">
              <a:sym typeface="+mn-ea"/>
            </a:endParaRPr>
          </a:p>
          <a:p>
            <a:pPr marL="457200" indent="-457200"/>
            <a:r>
              <a:rPr lang="en-US" altLang="zh-CN" dirty="0">
                <a:sym typeface="+mn-ea"/>
              </a:rPr>
              <a:t>1968</a:t>
            </a:r>
            <a:r>
              <a:rPr lang="zh-CN" altLang="en-US" dirty="0">
                <a:sym typeface="+mn-ea"/>
              </a:rPr>
              <a:t>年北大西洋公约组织</a:t>
            </a:r>
            <a:r>
              <a:rPr lang="en-US" altLang="zh-CN" dirty="0">
                <a:sym typeface="+mn-ea"/>
              </a:rPr>
              <a:t> (NATO: North Atlantic Treaty Organization</a:t>
            </a:r>
            <a:r>
              <a:rPr lang="en-US" altLang="zh-CN" dirty="0" smtClean="0">
                <a:sym typeface="+mn-ea"/>
              </a:rPr>
              <a:t>)</a:t>
            </a:r>
            <a:r>
              <a:rPr lang="zh-CN" altLang="en-US" dirty="0" smtClean="0">
                <a:sym typeface="+mn-ea"/>
              </a:rPr>
              <a:t>科技委员会召集了约</a:t>
            </a:r>
            <a:r>
              <a:rPr lang="en-US" altLang="zh-CN" dirty="0" smtClean="0">
                <a:sym typeface="+mn-ea"/>
              </a:rPr>
              <a:t>50</a:t>
            </a:r>
            <a:r>
              <a:rPr lang="zh-CN" altLang="en-US" dirty="0" smtClean="0">
                <a:sym typeface="+mn-ea"/>
              </a:rPr>
              <a:t>名一流的编程人员、计算机科学家和工业界巨头 ，第一次提出</a:t>
            </a:r>
            <a:r>
              <a:rPr lang="zh-CN" altLang="en-US" dirty="0">
                <a:solidFill>
                  <a:srgbClr val="0000FF"/>
                </a:solidFill>
                <a:sym typeface="+mn-ea"/>
              </a:rPr>
              <a:t>软件危机</a:t>
            </a:r>
            <a:r>
              <a:rPr lang="en-US" altLang="zh-CN" dirty="0">
                <a:solidFill>
                  <a:srgbClr val="0000FF"/>
                </a:solidFill>
                <a:sym typeface="+mn-ea"/>
              </a:rPr>
              <a:t>(Software Crisis)</a:t>
            </a:r>
            <a:r>
              <a:rPr lang="zh-CN" altLang="en-US" dirty="0">
                <a:sym typeface="+mn-ea"/>
              </a:rPr>
              <a:t>一</a:t>
            </a:r>
            <a:r>
              <a:rPr lang="zh-CN" altLang="en-US" dirty="0" smtClean="0">
                <a:sym typeface="+mn-ea"/>
              </a:rPr>
              <a:t>词，并第一次提出了</a:t>
            </a:r>
            <a:r>
              <a:rPr lang="zh-CN" altLang="en-US" dirty="0" smtClean="0">
                <a:solidFill>
                  <a:srgbClr val="0000FF"/>
                </a:solidFill>
                <a:sym typeface="+mn-ea"/>
              </a:rPr>
              <a:t>软件工程</a:t>
            </a:r>
            <a:r>
              <a:rPr lang="en-US" altLang="zh-CN" dirty="0" smtClean="0">
                <a:solidFill>
                  <a:srgbClr val="0000FF"/>
                </a:solidFill>
                <a:sym typeface="+mn-ea"/>
              </a:rPr>
              <a:t>(Software Engineering)</a:t>
            </a:r>
            <a:r>
              <a:rPr lang="zh-CN" altLang="en-US" dirty="0" smtClean="0">
                <a:sym typeface="+mn-ea"/>
              </a:rPr>
              <a:t>这个概念。</a:t>
            </a:r>
            <a:endParaRPr lang="zh-CN" altLang="en-US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CF6-5659-4A50-96D7-BA9650BB6DEE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什么是软件危机？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软件</a:t>
            </a:r>
            <a:r>
              <a:rPr lang="zh-CN" altLang="en-US" dirty="0"/>
              <a:t>危机是指</a:t>
            </a:r>
            <a:r>
              <a:rPr lang="zh-CN" altLang="en-US" dirty="0">
                <a:solidFill>
                  <a:srgbClr val="0000FF"/>
                </a:solidFill>
              </a:rPr>
              <a:t>落后的软件生产方式</a:t>
            </a:r>
            <a:r>
              <a:rPr lang="zh-CN" altLang="en-US" dirty="0"/>
              <a:t>无法满足</a:t>
            </a:r>
            <a:r>
              <a:rPr lang="zh-CN" altLang="en-US" dirty="0">
                <a:solidFill>
                  <a:srgbClr val="0000FF"/>
                </a:solidFill>
              </a:rPr>
              <a:t>迅速增长的计算机软件需求</a:t>
            </a:r>
            <a:r>
              <a:rPr lang="zh-CN" altLang="en-US" dirty="0"/>
              <a:t>，从而导致软件开发与维护过程中出现一系列严重问题的现象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Related statistics: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Standish </a:t>
            </a:r>
            <a:r>
              <a:rPr lang="en-US" altLang="zh-CN" dirty="0"/>
              <a:t>Group</a:t>
            </a:r>
            <a:r>
              <a:rPr lang="zh-CN" altLang="en-US" dirty="0"/>
              <a:t>研究机构以美国境内</a:t>
            </a:r>
            <a:r>
              <a:rPr lang="en-US" altLang="zh-CN" dirty="0"/>
              <a:t>8000</a:t>
            </a:r>
            <a:r>
              <a:rPr lang="zh-CN" altLang="en-US" dirty="0"/>
              <a:t>个软件项目作为调查样本，调查结果显示，有</a:t>
            </a:r>
            <a:r>
              <a:rPr lang="en-US" altLang="zh-CN" dirty="0"/>
              <a:t>84%</a:t>
            </a:r>
            <a:r>
              <a:rPr lang="zh-CN" altLang="en-US" dirty="0"/>
              <a:t>软件计划无法于既定时间、</a:t>
            </a:r>
            <a:r>
              <a:rPr lang="zh-CN" altLang="en-US" dirty="0" smtClean="0"/>
              <a:t>经费完成</a:t>
            </a:r>
            <a:r>
              <a:rPr lang="zh-CN" altLang="en-US" dirty="0"/>
              <a:t>，超过</a:t>
            </a:r>
            <a:r>
              <a:rPr lang="en-US" altLang="zh-CN" dirty="0"/>
              <a:t>30%</a:t>
            </a:r>
            <a:r>
              <a:rPr lang="zh-CN" altLang="en-US" dirty="0"/>
              <a:t>的</a:t>
            </a:r>
            <a:r>
              <a:rPr lang="zh-CN" altLang="en-US" dirty="0" smtClean="0"/>
              <a:t>项目在开发过程</a:t>
            </a:r>
            <a:r>
              <a:rPr lang="zh-CN" altLang="en-US" dirty="0"/>
              <a:t>中</a:t>
            </a:r>
            <a:r>
              <a:rPr lang="zh-CN" altLang="en-US" dirty="0" smtClean="0"/>
              <a:t>被</a:t>
            </a:r>
            <a:r>
              <a:rPr lang="zh-CN" altLang="en-US" dirty="0"/>
              <a:t>取消，项目预算平均超出</a:t>
            </a:r>
            <a:r>
              <a:rPr lang="en-US" altLang="zh-CN" dirty="0"/>
              <a:t>189%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4299-BE4D-4BD2-A881-0B89A6CBEFB8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1.2.2 </a:t>
            </a:r>
            <a:r>
              <a:rPr lang="zh-CN" altLang="en-US" dirty="0"/>
              <a:t>软件危机</a:t>
            </a:r>
            <a:r>
              <a:rPr lang="zh-CN" altLang="en-US" dirty="0" smtClean="0"/>
              <a:t>的表现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10139"/>
            <a:ext cx="10979426" cy="506434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软件</a:t>
            </a:r>
            <a:r>
              <a:rPr lang="zh-CN" altLang="en-US" dirty="0"/>
              <a:t>危机的典型表现：</a:t>
            </a:r>
            <a:endParaRPr lang="zh-CN" altLang="en-US" dirty="0"/>
          </a:p>
          <a:p>
            <a:pPr marL="514350" indent="-514350">
              <a:buAutoNum type="arabicPeriod"/>
            </a:pPr>
            <a:r>
              <a:rPr lang="zh-CN" altLang="en-US" sz="2400" dirty="0"/>
              <a:t>对软件开发</a:t>
            </a:r>
            <a:r>
              <a:rPr lang="zh-CN" altLang="en-US" sz="2400" dirty="0">
                <a:highlight>
                  <a:srgbClr val="FFFF00"/>
                </a:highlight>
              </a:rPr>
              <a:t>成本和进度</a:t>
            </a:r>
            <a:r>
              <a:rPr lang="zh-CN" altLang="en-US" sz="2400" dirty="0"/>
              <a:t>的估计常常很不准确；</a:t>
            </a:r>
            <a:endParaRPr lang="zh-CN" altLang="en-US" sz="2400" dirty="0"/>
          </a:p>
          <a:p>
            <a:pPr marL="514350" indent="-514350">
              <a:buAutoNum type="arabicPeriod"/>
            </a:pPr>
            <a:r>
              <a:rPr lang="zh-CN" altLang="en-US" sz="2400" dirty="0"/>
              <a:t>用户对已完成的软件系统</a:t>
            </a:r>
            <a:r>
              <a:rPr lang="zh-CN" altLang="en-US" sz="2400" dirty="0">
                <a:highlight>
                  <a:srgbClr val="FFFF00"/>
                </a:highlight>
              </a:rPr>
              <a:t>不满意</a:t>
            </a:r>
            <a:r>
              <a:rPr lang="zh-CN" altLang="en-US" sz="2400" dirty="0"/>
              <a:t>的现象经常发生；</a:t>
            </a:r>
            <a:endParaRPr lang="zh-CN" altLang="en-US" sz="2400" dirty="0"/>
          </a:p>
          <a:p>
            <a:pPr marL="514350" indent="-514350">
              <a:buAutoNum type="arabicPeriod"/>
            </a:pPr>
            <a:r>
              <a:rPr lang="zh-CN" altLang="en-US" sz="2400" dirty="0"/>
              <a:t>软件产品的质量往往</a:t>
            </a:r>
            <a:r>
              <a:rPr lang="zh-CN" altLang="en-US" sz="2400" dirty="0" smtClean="0"/>
              <a:t>靠不住 （</a:t>
            </a:r>
            <a:r>
              <a:rPr lang="zh-CN" altLang="en-US" sz="2400" dirty="0" smtClean="0">
                <a:highlight>
                  <a:srgbClr val="FFFF00"/>
                </a:highlight>
              </a:rPr>
              <a:t>软件质量</a:t>
            </a:r>
            <a:r>
              <a:rPr lang="zh-CN" altLang="en-US" sz="2400" dirty="0" smtClean="0"/>
              <a:t>体现在功能性、可靠性、易使用性、效率、可</a:t>
            </a:r>
            <a:r>
              <a:rPr lang="zh-CN" altLang="en-US" sz="2400" dirty="0"/>
              <a:t>维护</a:t>
            </a:r>
            <a:r>
              <a:rPr lang="zh-CN" altLang="en-US" sz="2400" dirty="0" smtClean="0"/>
              <a:t>性与可移植性等）</a:t>
            </a:r>
            <a:r>
              <a:rPr lang="zh-CN" altLang="en-US" sz="2400" dirty="0"/>
              <a:t>；</a:t>
            </a:r>
            <a:endParaRPr lang="zh-CN" altLang="en-US" sz="2400" dirty="0"/>
          </a:p>
          <a:p>
            <a:pPr marL="514350" indent="-514350">
              <a:buAutoNum type="arabicPeriod"/>
            </a:pPr>
            <a:r>
              <a:rPr lang="zh-CN" altLang="en-US" sz="2400" dirty="0"/>
              <a:t>软件常常是不可</a:t>
            </a:r>
            <a:r>
              <a:rPr lang="zh-CN" altLang="en-US" sz="2400" dirty="0">
                <a:highlight>
                  <a:srgbClr val="FFFF00"/>
                </a:highlight>
              </a:rPr>
              <a:t>维护</a:t>
            </a:r>
            <a:r>
              <a:rPr lang="zh-CN" altLang="en-US" sz="2400" dirty="0"/>
              <a:t>的；</a:t>
            </a:r>
            <a:endParaRPr lang="zh-CN" altLang="en-US" sz="2400" dirty="0"/>
          </a:p>
          <a:p>
            <a:pPr marL="514350" indent="-514350">
              <a:buAutoNum type="arabicPeriod"/>
            </a:pPr>
            <a:r>
              <a:rPr lang="zh-CN" altLang="en-US" sz="2400" dirty="0"/>
              <a:t>软件通常没有适当的</a:t>
            </a:r>
            <a:r>
              <a:rPr lang="zh-CN" altLang="en-US" sz="2400" dirty="0">
                <a:highlight>
                  <a:srgbClr val="FFFF00"/>
                </a:highlight>
              </a:rPr>
              <a:t>文档资料</a:t>
            </a:r>
            <a:r>
              <a:rPr lang="zh-CN" altLang="en-US" sz="2400" dirty="0"/>
              <a:t>；</a:t>
            </a:r>
            <a:endParaRPr lang="zh-CN" altLang="en-US" sz="2400" dirty="0"/>
          </a:p>
          <a:p>
            <a:pPr marL="514350" indent="-514350">
              <a:buAutoNum type="arabicPeriod"/>
            </a:pPr>
            <a:r>
              <a:rPr lang="zh-CN" altLang="en-US" sz="2400" dirty="0">
                <a:highlight>
                  <a:srgbClr val="FFFF00"/>
                </a:highlight>
              </a:rPr>
              <a:t>软件成本</a:t>
            </a:r>
            <a:r>
              <a:rPr lang="zh-CN" altLang="en-US" sz="2400" dirty="0"/>
              <a:t>在计算机系统总成本所占的比例逐年上升；</a:t>
            </a:r>
            <a:endParaRPr lang="zh-CN" altLang="en-US" sz="2400" dirty="0"/>
          </a:p>
          <a:p>
            <a:pPr marL="514350" indent="-514350">
              <a:buAutoNum type="arabicPeriod"/>
            </a:pPr>
            <a:r>
              <a:rPr lang="zh-CN" altLang="en-US" sz="2400" dirty="0"/>
              <a:t>软件开发</a:t>
            </a:r>
            <a:r>
              <a:rPr lang="zh-CN" altLang="en-US" sz="2400" dirty="0">
                <a:highlight>
                  <a:srgbClr val="FFFF00"/>
                </a:highlight>
              </a:rPr>
              <a:t>生产率</a:t>
            </a:r>
            <a:r>
              <a:rPr lang="zh-CN" altLang="en-US" sz="2400" dirty="0"/>
              <a:t>提高的速度跟不上计算机应用的</a:t>
            </a:r>
            <a:r>
              <a:rPr lang="zh-CN" altLang="en-US" sz="2400" dirty="0" smtClean="0"/>
              <a:t>发展趋势（集成化、综合化以及</a:t>
            </a:r>
            <a:r>
              <a:rPr lang="zh-CN" altLang="en-US" sz="2400" b="1" dirty="0" smtClean="0"/>
              <a:t>智能化</a:t>
            </a:r>
            <a:r>
              <a:rPr lang="zh-CN" altLang="en-US" sz="2400" dirty="0" smtClean="0"/>
              <a:t>）。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4C505-D4CC-450A-96CB-B4F8FA8C7341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1.2.3 </a:t>
            </a:r>
            <a:r>
              <a:rPr lang="zh-CN" altLang="en-US"/>
              <a:t>产生软件危机的原因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62125"/>
            <a:ext cx="10515600" cy="4415155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zh-CN" altLang="en-US" dirty="0" smtClean="0"/>
              <a:t>软件</a:t>
            </a:r>
            <a:r>
              <a:rPr lang="zh-CN" altLang="en-US" dirty="0"/>
              <a:t>本身的特点 （复杂性随</a:t>
            </a:r>
            <a:r>
              <a:rPr lang="zh-CN" altLang="en-US" dirty="0" smtClean="0"/>
              <a:t>规模增加呈指数</a:t>
            </a:r>
            <a:r>
              <a:rPr lang="zh-CN" altLang="en-US" dirty="0"/>
              <a:t>上升</a:t>
            </a:r>
            <a:r>
              <a:rPr lang="zh-CN" altLang="en-US" dirty="0" smtClean="0"/>
              <a:t>）；</a:t>
            </a:r>
            <a:endParaRPr lang="en-US" altLang="zh-CN" dirty="0"/>
          </a:p>
          <a:p>
            <a:pPr marL="514350" indent="-514350">
              <a:buAutoNum type="arabicParenR"/>
            </a:pPr>
            <a:r>
              <a:rPr lang="zh-CN" altLang="en-US" dirty="0" smtClean="0"/>
              <a:t>软件开发</a:t>
            </a:r>
            <a:r>
              <a:rPr lang="zh-CN" altLang="en-US" dirty="0"/>
              <a:t>与维护的方法不</a:t>
            </a:r>
            <a:r>
              <a:rPr lang="zh-CN" altLang="en-US" dirty="0" smtClean="0"/>
              <a:t>正确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主要表现：</a:t>
            </a:r>
            <a:endParaRPr lang="zh-CN" altLang="en-US" dirty="0"/>
          </a:p>
          <a:p>
            <a:pPr marL="1428750" lvl="2" indent="-514350">
              <a:buFont typeface="+mj-lt"/>
              <a:buAutoNum type="alphaLcParenR"/>
            </a:pPr>
            <a:r>
              <a:rPr lang="zh-CN" altLang="en-US" dirty="0"/>
              <a:t>忽视软件需求分析；</a:t>
            </a:r>
            <a:endParaRPr lang="zh-CN" altLang="en-US" dirty="0"/>
          </a:p>
          <a:p>
            <a:pPr marL="1428750" lvl="2" indent="-514350">
              <a:buFont typeface="+mj-lt"/>
              <a:buAutoNum type="alphaLcParenR"/>
            </a:pPr>
            <a:r>
              <a:rPr lang="zh-CN" altLang="en-US" dirty="0" smtClean="0"/>
              <a:t>误以为软件开发</a:t>
            </a:r>
            <a:r>
              <a:rPr lang="en-US" altLang="zh-CN" dirty="0"/>
              <a:t>=</a:t>
            </a:r>
            <a:r>
              <a:rPr lang="zh-CN" altLang="en-US" dirty="0"/>
              <a:t>写程序；</a:t>
            </a:r>
            <a:endParaRPr lang="zh-CN" altLang="en-US" dirty="0"/>
          </a:p>
          <a:p>
            <a:pPr marL="1428750" lvl="2" indent="-514350">
              <a:buFont typeface="+mj-lt"/>
              <a:buAutoNum type="alphaLcParenR"/>
            </a:pPr>
            <a:r>
              <a:rPr lang="zh-CN" altLang="en-US" dirty="0"/>
              <a:t>轻视软件维护。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F6C7F-B2B7-44FB-94E6-AF1429B39237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3905" y="767080"/>
            <a:ext cx="9245600" cy="8915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3200" dirty="0"/>
              <a:t>在软件开发的不同阶段进行修改需要付出的代价</a:t>
            </a: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grpSp>
        <p:nvGrpSpPr>
          <p:cNvPr id="17412" name="Group 1040"/>
          <p:cNvGrpSpPr/>
          <p:nvPr/>
        </p:nvGrpSpPr>
        <p:grpSpPr>
          <a:xfrm>
            <a:off x="1349058" y="1722438"/>
            <a:ext cx="7200900" cy="3360247"/>
            <a:chOff x="768" y="1536"/>
            <a:chExt cx="4464" cy="2452"/>
          </a:xfrm>
        </p:grpSpPr>
        <p:sp>
          <p:nvSpPr>
            <p:cNvPr id="17414" name="Line 1029"/>
            <p:cNvSpPr/>
            <p:nvPr/>
          </p:nvSpPr>
          <p:spPr>
            <a:xfrm flipV="1">
              <a:off x="1392" y="1536"/>
              <a:ext cx="0" cy="2064"/>
            </a:xfrm>
            <a:prstGeom prst="line">
              <a:avLst/>
            </a:prstGeom>
            <a:ln w="31750" cap="sq" cmpd="sng">
              <a:solidFill>
                <a:schemeClr val="tx1"/>
              </a:solidFill>
              <a:prstDash val="solid"/>
              <a:headEnd type="none" w="sm" len="sm"/>
              <a:tailEnd type="triangle" w="sm" len="lg"/>
            </a:ln>
          </p:spPr>
          <p:txBody>
            <a:bodyPr/>
            <a:lstStyle/>
            <a:p>
              <a:endParaRPr lang="zh-CN" altLang="en-US">
                <a:latin typeface="Times New Roman" panose="02020603050405020304" charset="0"/>
              </a:endParaRPr>
            </a:p>
          </p:txBody>
        </p:sp>
        <p:sp>
          <p:nvSpPr>
            <p:cNvPr id="17415" name="Line 1030"/>
            <p:cNvSpPr/>
            <p:nvPr/>
          </p:nvSpPr>
          <p:spPr>
            <a:xfrm>
              <a:off x="1392" y="3600"/>
              <a:ext cx="2736" cy="0"/>
            </a:xfrm>
            <a:prstGeom prst="line">
              <a:avLst/>
            </a:prstGeom>
            <a:ln w="31750" cap="sq" cmpd="sng">
              <a:solidFill>
                <a:schemeClr val="tx1"/>
              </a:solidFill>
              <a:prstDash val="solid"/>
              <a:headEnd type="none" w="sm" len="sm"/>
              <a:tailEnd type="triangle" w="sm" len="lg"/>
            </a:ln>
          </p:spPr>
          <p:txBody>
            <a:bodyPr/>
            <a:lstStyle/>
            <a:p>
              <a:endParaRPr lang="zh-CN" altLang="en-US">
                <a:latin typeface="Times New Roman" panose="02020603050405020304" charset="0"/>
              </a:endParaRPr>
            </a:p>
          </p:txBody>
        </p:sp>
        <p:sp>
          <p:nvSpPr>
            <p:cNvPr id="17416" name="Freeform 1031"/>
            <p:cNvSpPr/>
            <p:nvPr/>
          </p:nvSpPr>
          <p:spPr>
            <a:xfrm>
              <a:off x="1488" y="2064"/>
              <a:ext cx="2016" cy="1440"/>
            </a:xfrm>
            <a:custGeom>
              <a:avLst/>
              <a:gdLst>
                <a:gd name="txL" fmla="*/ 0 w 2016"/>
                <a:gd name="txT" fmla="*/ 0 h 1440"/>
                <a:gd name="txR" fmla="*/ 2016 w 2016"/>
                <a:gd name="txB" fmla="*/ 1440 h 1440"/>
              </a:gdLst>
              <a:ahLst/>
              <a:cxnLst>
                <a:cxn ang="0">
                  <a:pos x="0" y="1440"/>
                </a:cxn>
                <a:cxn ang="0">
                  <a:pos x="480" y="1344"/>
                </a:cxn>
                <a:cxn ang="0">
                  <a:pos x="864" y="912"/>
                </a:cxn>
                <a:cxn ang="0">
                  <a:pos x="1056" y="480"/>
                </a:cxn>
                <a:cxn ang="0">
                  <a:pos x="1392" y="192"/>
                </a:cxn>
                <a:cxn ang="0">
                  <a:pos x="2016" y="0"/>
                </a:cxn>
              </a:cxnLst>
              <a:rect l="txL" t="txT" r="txR" b="txB"/>
              <a:pathLst>
                <a:path w="2016" h="1440">
                  <a:moveTo>
                    <a:pt x="0" y="1440"/>
                  </a:moveTo>
                  <a:cubicBezTo>
                    <a:pt x="168" y="1436"/>
                    <a:pt x="336" y="1432"/>
                    <a:pt x="480" y="1344"/>
                  </a:cubicBezTo>
                  <a:cubicBezTo>
                    <a:pt x="624" y="1256"/>
                    <a:pt x="768" y="1056"/>
                    <a:pt x="864" y="912"/>
                  </a:cubicBezTo>
                  <a:cubicBezTo>
                    <a:pt x="960" y="768"/>
                    <a:pt x="968" y="600"/>
                    <a:pt x="1056" y="480"/>
                  </a:cubicBezTo>
                  <a:cubicBezTo>
                    <a:pt x="1144" y="360"/>
                    <a:pt x="1232" y="272"/>
                    <a:pt x="1392" y="192"/>
                  </a:cubicBezTo>
                  <a:cubicBezTo>
                    <a:pt x="1552" y="112"/>
                    <a:pt x="1784" y="56"/>
                    <a:pt x="2016" y="0"/>
                  </a:cubicBezTo>
                </a:path>
              </a:pathLst>
            </a:custGeom>
            <a:noFill/>
            <a:ln w="31750" cap="sq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>
                <a:latin typeface="Times New Roman" panose="02020603050405020304" charset="0"/>
              </a:endParaRPr>
            </a:p>
          </p:txBody>
        </p:sp>
        <p:sp>
          <p:nvSpPr>
            <p:cNvPr id="17417" name="Text Box 1032"/>
            <p:cNvSpPr txBox="1"/>
            <p:nvPr/>
          </p:nvSpPr>
          <p:spPr>
            <a:xfrm>
              <a:off x="912" y="1968"/>
              <a:ext cx="384" cy="334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charset="0"/>
                  <a:ea typeface="宋体" panose="02010600030101010101" pitchFamily="2" charset="-122"/>
                </a:rPr>
                <a:t>高</a:t>
              </a:r>
              <a:endParaRPr lang="zh-CN" altLang="en-US" sz="2400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7418" name="Text Box 1033"/>
            <p:cNvSpPr txBox="1"/>
            <p:nvPr/>
          </p:nvSpPr>
          <p:spPr>
            <a:xfrm>
              <a:off x="912" y="2592"/>
              <a:ext cx="384" cy="334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charset="0"/>
                  <a:ea typeface="宋体" panose="02010600030101010101" pitchFamily="2" charset="-122"/>
                </a:rPr>
                <a:t>中</a:t>
              </a:r>
              <a:endParaRPr lang="zh-CN" altLang="en-US" sz="2400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7419" name="Text Box 1034"/>
            <p:cNvSpPr txBox="1"/>
            <p:nvPr/>
          </p:nvSpPr>
          <p:spPr>
            <a:xfrm>
              <a:off x="912" y="3216"/>
              <a:ext cx="384" cy="33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charset="0"/>
                  <a:ea typeface="宋体" panose="02010600030101010101" pitchFamily="2" charset="-122"/>
                </a:rPr>
                <a:t>低</a:t>
              </a:r>
              <a:endParaRPr lang="zh-CN" altLang="en-US" sz="2400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7420" name="Text Box 1035"/>
            <p:cNvSpPr txBox="1"/>
            <p:nvPr/>
          </p:nvSpPr>
          <p:spPr>
            <a:xfrm>
              <a:off x="1440" y="3648"/>
              <a:ext cx="720" cy="33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charset="0"/>
                  <a:ea typeface="宋体" panose="02010600030101010101" pitchFamily="2" charset="-122"/>
                </a:rPr>
                <a:t>早期</a:t>
              </a:r>
              <a:endParaRPr lang="zh-CN" altLang="en-US" sz="2400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7421" name="Text Box 1036"/>
            <p:cNvSpPr txBox="1"/>
            <p:nvPr/>
          </p:nvSpPr>
          <p:spPr>
            <a:xfrm>
              <a:off x="2304" y="3648"/>
              <a:ext cx="576" cy="33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charset="0"/>
                  <a:ea typeface="宋体" panose="02010600030101010101" pitchFamily="2" charset="-122"/>
                </a:rPr>
                <a:t>中期</a:t>
              </a:r>
              <a:endParaRPr lang="zh-CN" altLang="en-US" sz="2400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7422" name="Text Box 1037"/>
            <p:cNvSpPr txBox="1"/>
            <p:nvPr/>
          </p:nvSpPr>
          <p:spPr>
            <a:xfrm>
              <a:off x="3072" y="3648"/>
              <a:ext cx="672" cy="33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charset="0"/>
                  <a:ea typeface="宋体" panose="02010600030101010101" pitchFamily="2" charset="-122"/>
                </a:rPr>
                <a:t>后期</a:t>
              </a:r>
              <a:endParaRPr lang="zh-CN" altLang="en-US" sz="2400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7423" name="Text Box 1038"/>
            <p:cNvSpPr txBox="1"/>
            <p:nvPr/>
          </p:nvSpPr>
          <p:spPr>
            <a:xfrm>
              <a:off x="3648" y="3610"/>
              <a:ext cx="1584" cy="37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软件开发时期</a:t>
              </a:r>
              <a:endPara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7424" name="Text Box 1039"/>
            <p:cNvSpPr txBox="1"/>
            <p:nvPr/>
          </p:nvSpPr>
          <p:spPr>
            <a:xfrm>
              <a:off x="768" y="1536"/>
              <a:ext cx="624" cy="37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代价</a:t>
              </a:r>
              <a:endPara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769090" y="1982131"/>
            <a:ext cx="5286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前期工作（如需求分析）非常重要！！！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24B7-232E-4C8A-BC12-E98F4167DCF5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1.2.4 </a:t>
            </a:r>
            <a:r>
              <a:rPr lang="zh-CN" altLang="en-US"/>
              <a:t>消除软件危机的途径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zh-CN" altLang="en-US" dirty="0">
                <a:solidFill>
                  <a:srgbClr val="0000FF"/>
                </a:solidFill>
              </a:rPr>
              <a:t>经验</a:t>
            </a:r>
            <a:r>
              <a:rPr lang="zh-CN" altLang="en-US" dirty="0"/>
              <a:t>：推广使用在</a:t>
            </a:r>
            <a:r>
              <a:rPr lang="zh-CN" altLang="en-US" dirty="0">
                <a:solidFill>
                  <a:srgbClr val="0000FF"/>
                </a:solidFill>
              </a:rPr>
              <a:t>实践中总结出来的</a:t>
            </a:r>
            <a:r>
              <a:rPr lang="zh-CN" altLang="en-US" dirty="0"/>
              <a:t>开发软件的成功技术和方法，并研究探索</a:t>
            </a:r>
            <a:r>
              <a:rPr lang="zh-CN" altLang="en-US" dirty="0" smtClean="0"/>
              <a:t>更好、更</a:t>
            </a:r>
            <a:r>
              <a:rPr lang="zh-CN" altLang="en-US" dirty="0"/>
              <a:t>有效的技术和方法；</a:t>
            </a:r>
            <a:endParaRPr lang="zh-CN" altLang="en-US" dirty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/>
              <a:t>开发和使用更好的</a:t>
            </a:r>
            <a:r>
              <a:rPr lang="zh-CN" altLang="en-US" dirty="0" smtClean="0">
                <a:solidFill>
                  <a:srgbClr val="0000FF"/>
                </a:solidFill>
              </a:rPr>
              <a:t>软件工具</a:t>
            </a:r>
            <a:r>
              <a:rPr lang="zh-CN" altLang="en-US" dirty="0" smtClean="0"/>
              <a:t> （不仅仅是编程工具，还有其他软件工程用到的工具。</a:t>
            </a:r>
            <a:r>
              <a:rPr lang="en-US" altLang="zh-CN" dirty="0"/>
              <a:t> See</a:t>
            </a:r>
            <a:r>
              <a:rPr lang="zh-CN" altLang="en-US" dirty="0"/>
              <a:t>《软件工程实验教程》 ）</a:t>
            </a:r>
            <a:r>
              <a:rPr lang="zh-CN" altLang="en-US" dirty="0" smtClean="0"/>
              <a:t>；</a:t>
            </a:r>
            <a:endParaRPr lang="zh-CN" altLang="en-US" dirty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/>
              <a:t>良好的</a:t>
            </a:r>
            <a:r>
              <a:rPr lang="zh-CN" altLang="en-US" dirty="0">
                <a:solidFill>
                  <a:srgbClr val="0000FF"/>
                </a:solidFill>
              </a:rPr>
              <a:t>组织管理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87CE3-421A-41B1-84FB-946BB6758EE5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1.3 </a:t>
            </a:r>
            <a:r>
              <a:rPr lang="zh-CN" altLang="en-US" dirty="0" smtClean="0"/>
              <a:t>软件工程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Q: </a:t>
            </a:r>
            <a:r>
              <a:rPr lang="zh-CN" altLang="en-US" dirty="0" smtClean="0"/>
              <a:t>什么是工程？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工程是科学和数学的某种应用，通过这一应用，使自然界的物质和能源的特性能够通过各种结构、机器、产品、系统和过程</a:t>
            </a:r>
            <a:r>
              <a:rPr lang="zh-CN" altLang="en-US" dirty="0" smtClean="0"/>
              <a:t>，</a:t>
            </a:r>
            <a:r>
              <a:rPr lang="zh-CN" altLang="en-US" dirty="0" smtClean="0">
                <a:solidFill>
                  <a:srgbClr val="0000FF"/>
                </a:solidFill>
              </a:rPr>
              <a:t>以</a:t>
            </a:r>
            <a:r>
              <a:rPr lang="zh-CN" altLang="en-US" dirty="0">
                <a:solidFill>
                  <a:srgbClr val="0000FF"/>
                </a:solidFill>
              </a:rPr>
              <a:t>最短的时间和最少的人力、物力做出高效、可靠且对人类有用的东西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(</a:t>
            </a:r>
            <a:r>
              <a:rPr lang="zh-CN" altLang="en-US" dirty="0"/>
              <a:t>摘自</a:t>
            </a:r>
            <a:r>
              <a:rPr lang="zh-CN" altLang="en-US" dirty="0" smtClean="0"/>
              <a:t>百度百科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5F4FD-D7E2-440E-84D6-CF558822252C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96586"/>
            <a:ext cx="10515600" cy="488061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1.3.1 </a:t>
            </a:r>
            <a:r>
              <a:rPr lang="zh-CN" altLang="en-US" dirty="0" smtClean="0"/>
              <a:t>软件工程的定义</a:t>
            </a:r>
            <a:endParaRPr lang="zh-CN" altLang="en-US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1968 </a:t>
            </a:r>
            <a:r>
              <a:rPr lang="en-US" altLang="zh-CN" sz="2000" dirty="0" smtClean="0"/>
              <a:t>NATO (</a:t>
            </a:r>
            <a:r>
              <a:rPr lang="en-US" altLang="zh-CN" sz="2000" dirty="0">
                <a:sym typeface="+mn-ea"/>
              </a:rPr>
              <a:t>North Atlantic Treaty </a:t>
            </a:r>
            <a:r>
              <a:rPr lang="en-US" altLang="zh-CN" sz="2000" dirty="0" smtClean="0">
                <a:sym typeface="+mn-ea"/>
              </a:rPr>
              <a:t>Organization</a:t>
            </a:r>
            <a:r>
              <a:rPr lang="zh-CN" altLang="en-US" sz="2000" dirty="0" smtClean="0">
                <a:sym typeface="+mn-ea"/>
              </a:rPr>
              <a:t>：北大西洋公约组织</a:t>
            </a:r>
            <a:r>
              <a:rPr lang="en-US" altLang="zh-CN" sz="2000" dirty="0" smtClean="0"/>
              <a:t>):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软件工程就是为了</a:t>
            </a:r>
            <a:r>
              <a:rPr lang="zh-CN" altLang="en-US" sz="2000" dirty="0">
                <a:highlight>
                  <a:srgbClr val="FFFF00"/>
                </a:highlight>
              </a:rPr>
              <a:t>经济</a:t>
            </a:r>
            <a:r>
              <a:rPr lang="zh-CN" altLang="en-US" sz="2000" dirty="0"/>
              <a:t>地</a:t>
            </a:r>
            <a:r>
              <a:rPr lang="zh-CN" altLang="en-US" sz="2000" dirty="0" smtClean="0"/>
              <a:t>获得</a:t>
            </a:r>
            <a:r>
              <a:rPr lang="zh-CN" altLang="en-US" sz="2000" dirty="0" smtClean="0">
                <a:highlight>
                  <a:srgbClr val="FFFF00"/>
                </a:highlight>
              </a:rPr>
              <a:t>可靠</a:t>
            </a:r>
            <a:r>
              <a:rPr lang="zh-CN" altLang="en-US" sz="2000" dirty="0"/>
              <a:t>的且能在实际机器上</a:t>
            </a:r>
            <a:r>
              <a:rPr lang="zh-CN" altLang="en-US" sz="2000" dirty="0">
                <a:highlight>
                  <a:srgbClr val="FFFF00"/>
                </a:highlight>
              </a:rPr>
              <a:t>有效</a:t>
            </a:r>
            <a:r>
              <a:rPr lang="zh-CN" altLang="en-US" sz="2000" dirty="0"/>
              <a:t>地运行的软件，而建立和使用完善的工程原理。</a:t>
            </a:r>
            <a:endParaRPr lang="zh-CN" altLang="en-US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1993 </a:t>
            </a:r>
            <a:r>
              <a:rPr lang="en-US" altLang="zh-CN" sz="2000" dirty="0" smtClean="0"/>
              <a:t>IEEE (Institute of Electrical and Electronic Engineers):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软件工程是：</a:t>
            </a:r>
            <a:r>
              <a:rPr lang="zh-CN" altLang="en-US" sz="2000" dirty="0">
                <a:sym typeface="Wingdings" panose="05000000000000000000" charset="0"/>
              </a:rPr>
              <a:t> 把系统的、规范的、可度量的途径应用于软件开发、运行和维护过程，也就是</a:t>
            </a:r>
            <a:r>
              <a:rPr lang="zh-CN" altLang="en-US" sz="2000" dirty="0">
                <a:solidFill>
                  <a:srgbClr val="0000FF"/>
                </a:solidFill>
                <a:sym typeface="Wingdings" panose="05000000000000000000" charset="0"/>
              </a:rPr>
              <a:t>把工程应用于软件</a:t>
            </a:r>
            <a:r>
              <a:rPr lang="zh-CN" altLang="en-US" sz="2000" dirty="0">
                <a:sym typeface="Wingdings" panose="05000000000000000000" charset="0"/>
              </a:rPr>
              <a:t>； 研究中提到的途径</a:t>
            </a:r>
            <a:r>
              <a:rPr lang="zh-CN" altLang="en-US" sz="2000" dirty="0"/>
              <a:t>。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A15D1-684C-4F52-AA23-9AD7D1D36332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1.3.2 </a:t>
            </a:r>
            <a:r>
              <a:rPr lang="zh-CN" altLang="en-US" dirty="0"/>
              <a:t>软件工程的</a:t>
            </a:r>
            <a:r>
              <a:rPr lang="zh-CN" altLang="en-US" dirty="0">
                <a:solidFill>
                  <a:srgbClr val="0000FF"/>
                </a:solidFill>
              </a:rPr>
              <a:t>本质特性 </a:t>
            </a:r>
            <a:r>
              <a:rPr lang="zh-CN" altLang="en-US" dirty="0"/>
              <a:t>（</a:t>
            </a:r>
            <a:r>
              <a:rPr lang="en-US" altLang="zh-CN" dirty="0"/>
              <a:t>7</a:t>
            </a:r>
            <a:r>
              <a:rPr lang="zh-CN" altLang="en-US" dirty="0"/>
              <a:t>条）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67535"/>
            <a:ext cx="10515600" cy="4309745"/>
          </a:xfrm>
        </p:spPr>
        <p:txBody>
          <a:bodyPr>
            <a:norm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zh-CN" altLang="en-US" dirty="0"/>
              <a:t>软件工程关注大型程序的构造；</a:t>
            </a:r>
            <a:endParaRPr lang="zh-CN" altLang="en-US" dirty="0"/>
          </a:p>
          <a:p>
            <a:pPr marL="571500" indent="-571500">
              <a:buFont typeface="+mj-lt"/>
              <a:buAutoNum type="romanUcPeriod"/>
            </a:pPr>
            <a:r>
              <a:rPr lang="zh-CN" altLang="en-US" dirty="0"/>
              <a:t>软件工程的中心课题是控制（或管理）复杂性；</a:t>
            </a:r>
            <a:endParaRPr lang="zh-CN" altLang="en-US" dirty="0"/>
          </a:p>
          <a:p>
            <a:pPr marL="571500" indent="-571500">
              <a:buFont typeface="+mj-lt"/>
              <a:buAutoNum type="romanUcPeriod"/>
            </a:pPr>
            <a:r>
              <a:rPr lang="zh-CN" altLang="en-US" dirty="0"/>
              <a:t>软件经常变化 </a:t>
            </a:r>
            <a:r>
              <a:rPr lang="zh-CN" altLang="en-US" dirty="0" smtClean="0"/>
              <a:t>（环境（硬件、软件环境）、用户需求</a:t>
            </a:r>
            <a:r>
              <a:rPr lang="zh-CN" altLang="en-US" dirty="0"/>
              <a:t>的变化）；</a:t>
            </a:r>
            <a:endParaRPr lang="zh-CN" altLang="en-US" dirty="0"/>
          </a:p>
          <a:p>
            <a:pPr marL="571500" indent="-571500">
              <a:buFont typeface="+mj-lt"/>
              <a:buAutoNum type="romanUcPeriod"/>
            </a:pPr>
            <a:r>
              <a:rPr lang="zh-CN" altLang="en-US" dirty="0"/>
              <a:t>开发软件的效率非常重要；</a:t>
            </a:r>
            <a:endParaRPr lang="zh-CN" altLang="en-US" dirty="0"/>
          </a:p>
          <a:p>
            <a:pPr marL="571500" indent="-571500">
              <a:buFont typeface="+mj-lt"/>
              <a:buAutoNum type="romanUcPeriod"/>
            </a:pPr>
            <a:r>
              <a:rPr lang="zh-CN" altLang="en-US" dirty="0"/>
              <a:t>和谐地合作是开发软件的关键</a:t>
            </a:r>
            <a:r>
              <a:rPr lang="zh-CN" altLang="en-US" dirty="0" smtClean="0"/>
              <a:t>；</a:t>
            </a:r>
            <a:r>
              <a:rPr lang="en-US" altLang="zh-CN" dirty="0" smtClean="0"/>
              <a:t>(team spirit)</a:t>
            </a:r>
            <a:endParaRPr lang="zh-CN" altLang="en-US" dirty="0"/>
          </a:p>
          <a:p>
            <a:pPr marL="571500" indent="-571500">
              <a:buFont typeface="+mj-lt"/>
              <a:buAutoNum type="romanUcPeriod"/>
            </a:pPr>
            <a:r>
              <a:rPr lang="zh-CN" altLang="en-US" dirty="0"/>
              <a:t>软件必须有效地支持（或满足）它的用户；</a:t>
            </a:r>
            <a:endParaRPr lang="zh-CN" altLang="en-US" dirty="0"/>
          </a:p>
          <a:p>
            <a:pPr marL="571500" indent="-571500">
              <a:buFont typeface="+mj-lt"/>
              <a:buAutoNum type="romanUcPeriod"/>
            </a:pPr>
            <a:r>
              <a:rPr lang="zh-CN" altLang="en-US" dirty="0"/>
              <a:t>在软件工程领域是由具有</a:t>
            </a:r>
            <a:r>
              <a:rPr lang="zh-CN" altLang="en-US" u="sng" dirty="0"/>
              <a:t>一种文化背景的人</a:t>
            </a:r>
            <a:r>
              <a:rPr lang="zh-CN" altLang="en-US" dirty="0"/>
              <a:t>为具有</a:t>
            </a:r>
            <a:r>
              <a:rPr lang="zh-CN" altLang="en-US" u="sng" dirty="0"/>
              <a:t>另一种文化背景的人</a:t>
            </a:r>
            <a:r>
              <a:rPr lang="zh-CN" altLang="en-US" dirty="0"/>
              <a:t>创造产品。</a:t>
            </a:r>
            <a:endParaRPr lang="zh-CN" altLang="en-US" dirty="0"/>
          </a:p>
          <a:p>
            <a:pPr marL="571500" indent="-571500">
              <a:buFont typeface="+mj-lt"/>
              <a:buAutoNum type="romanU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7B78-513E-4384-830D-6C10ECEECE18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1.3.3 </a:t>
            </a:r>
            <a:r>
              <a:rPr lang="zh-CN" altLang="en-US" dirty="0"/>
              <a:t>软件工程的</a:t>
            </a:r>
            <a:r>
              <a:rPr lang="zh-CN" altLang="en-US" dirty="0">
                <a:solidFill>
                  <a:srgbClr val="0000FF"/>
                </a:solidFill>
              </a:rPr>
              <a:t>基本原理</a:t>
            </a:r>
            <a:r>
              <a:rPr lang="zh-CN" altLang="en-US" dirty="0"/>
              <a:t> （</a:t>
            </a:r>
            <a:r>
              <a:rPr lang="en-US" altLang="zh-CN" dirty="0"/>
              <a:t>7</a:t>
            </a:r>
            <a:r>
              <a:rPr lang="zh-CN" altLang="en-US" dirty="0"/>
              <a:t>条）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zh-CN" altLang="en-US" dirty="0"/>
              <a:t>用分阶段的生命周期计划严格管理；</a:t>
            </a:r>
            <a:endParaRPr lang="zh-CN" altLang="en-US" dirty="0"/>
          </a:p>
          <a:p>
            <a:pPr marL="571500" indent="-571500">
              <a:buFont typeface="+mj-lt"/>
              <a:buAutoNum type="romanUcPeriod"/>
            </a:pPr>
            <a:r>
              <a:rPr lang="zh-CN" altLang="en-US" dirty="0"/>
              <a:t>坚持进行阶段评审 （尽早发现错误）；</a:t>
            </a:r>
            <a:endParaRPr lang="zh-CN" altLang="en-US" dirty="0"/>
          </a:p>
          <a:p>
            <a:pPr marL="571500" indent="-571500">
              <a:buFont typeface="+mj-lt"/>
              <a:buAutoNum type="romanUcPeriod"/>
            </a:pPr>
            <a:r>
              <a:rPr lang="zh-CN" altLang="en-US" dirty="0"/>
              <a:t>实行严格的产品控制 </a:t>
            </a:r>
            <a:r>
              <a:rPr lang="zh-CN" altLang="en-US" dirty="0" smtClean="0"/>
              <a:t>（比如，有需求变化时，</a:t>
            </a:r>
            <a:r>
              <a:rPr lang="zh-CN" altLang="en-US" dirty="0"/>
              <a:t>谨慎修改软件）；</a:t>
            </a:r>
            <a:endParaRPr lang="zh-CN" altLang="en-US" dirty="0"/>
          </a:p>
          <a:p>
            <a:pPr marL="571500" indent="-571500">
              <a:buFont typeface="+mj-lt"/>
              <a:buAutoNum type="romanUcPeriod"/>
            </a:pPr>
            <a:r>
              <a:rPr lang="zh-CN" altLang="en-US" dirty="0"/>
              <a:t>采用现代程序设计技术；</a:t>
            </a:r>
            <a:endParaRPr lang="zh-CN" altLang="en-US" dirty="0"/>
          </a:p>
          <a:p>
            <a:pPr marL="571500" indent="-571500">
              <a:buFont typeface="+mj-lt"/>
              <a:buAutoNum type="romanUcPeriod"/>
            </a:pPr>
            <a:r>
              <a:rPr lang="zh-CN" altLang="en-US" dirty="0"/>
              <a:t>结果应能清楚地审查 </a:t>
            </a:r>
            <a:r>
              <a:rPr lang="zh-CN" altLang="en-US" dirty="0" smtClean="0"/>
              <a:t>（软件开发的各个阶段，有结果、有标准进行审查）</a:t>
            </a:r>
            <a:r>
              <a:rPr lang="zh-CN" altLang="en-US" dirty="0"/>
              <a:t>；</a:t>
            </a:r>
            <a:endParaRPr lang="zh-CN" altLang="en-US" dirty="0"/>
          </a:p>
          <a:p>
            <a:pPr marL="571500" indent="-571500">
              <a:buFont typeface="+mj-lt"/>
              <a:buAutoNum type="romanUcPeriod"/>
            </a:pPr>
            <a:r>
              <a:rPr lang="zh-CN" altLang="en-US" dirty="0"/>
              <a:t>开发小组的人员应该少而精；</a:t>
            </a:r>
            <a:endParaRPr lang="zh-CN" altLang="en-US" dirty="0"/>
          </a:p>
          <a:p>
            <a:pPr marL="571500" indent="-571500">
              <a:buFont typeface="+mj-lt"/>
              <a:buAutoNum type="romanUcPeriod"/>
            </a:pPr>
            <a:r>
              <a:rPr lang="zh-CN" altLang="en-US" dirty="0"/>
              <a:t>承认不断改进软件工程实践的必要性（总结经验、更新技术）。</a:t>
            </a:r>
            <a:endParaRPr lang="zh-CN" altLang="en-US" dirty="0"/>
          </a:p>
          <a:p>
            <a:pPr marL="571500" indent="-571500">
              <a:buFont typeface="+mj-lt"/>
              <a:buAutoNum type="romanUcPeriod"/>
            </a:pPr>
            <a:endParaRPr lang="zh-CN" altLang="en-US" dirty="0"/>
          </a:p>
          <a:p>
            <a:pPr marL="571500" indent="-571500">
              <a:buFont typeface="+mj-lt"/>
              <a:buAutoNum type="romanU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B9C22-CA2D-41B4-ABBB-835ACA8EE5E3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1.3.4 </a:t>
            </a:r>
            <a:r>
              <a:rPr lang="zh-CN" altLang="en-US"/>
              <a:t>软件工程方法学 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233992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在软件生命周期全过程中使用的一整套技术方法的集合</a:t>
            </a:r>
            <a:r>
              <a:rPr lang="zh-CN" altLang="en-US" dirty="0" smtClean="0"/>
              <a:t>称为软件工程方法学</a:t>
            </a:r>
            <a:r>
              <a:rPr lang="en-US" altLang="zh-CN" dirty="0"/>
              <a:t>(methodology)</a:t>
            </a:r>
            <a:r>
              <a:rPr lang="zh-CN" altLang="en-US" dirty="0"/>
              <a:t>，也称为范型</a:t>
            </a:r>
            <a:r>
              <a:rPr lang="en-US" altLang="zh-CN" dirty="0"/>
              <a:t>(paradigm)</a:t>
            </a:r>
            <a:r>
              <a:rPr lang="zh-CN" altLang="en-US" dirty="0"/>
              <a:t>。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 smtClean="0"/>
              <a:t>软件工程方法学 包含</a:t>
            </a:r>
            <a:r>
              <a:rPr lang="en-US" altLang="zh-CN" dirty="0" smtClean="0"/>
              <a:t>3</a:t>
            </a:r>
            <a:r>
              <a:rPr lang="zh-CN" altLang="en-US" dirty="0"/>
              <a:t>要素：</a:t>
            </a:r>
            <a:endParaRPr lang="zh-CN" altLang="en-US" dirty="0"/>
          </a:p>
          <a:p>
            <a:pPr marL="457200" indent="-457200"/>
            <a:r>
              <a:rPr lang="zh-CN" altLang="en-US" dirty="0" smtClean="0"/>
              <a:t>方法 </a:t>
            </a:r>
            <a:r>
              <a:rPr lang="en-US" altLang="zh-CN" dirty="0" smtClean="0"/>
              <a:t>(How to do?)</a:t>
            </a:r>
            <a:endParaRPr lang="zh-CN" altLang="en-US" dirty="0"/>
          </a:p>
          <a:p>
            <a:pPr marL="457200" indent="-457200"/>
            <a:r>
              <a:rPr lang="zh-CN" altLang="en-US" dirty="0"/>
              <a:t>工具 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</a:t>
            </a:r>
            <a:r>
              <a:rPr lang="zh-CN" altLang="en-US" sz="2400" dirty="0" smtClean="0"/>
              <a:t>（用于软件分析、设计、实现与测试等；</a:t>
            </a:r>
            <a:r>
              <a:rPr lang="en-US" altLang="zh-CN" sz="2400" dirty="0" smtClean="0"/>
              <a:t>See</a:t>
            </a:r>
            <a:r>
              <a:rPr lang="zh-CN" altLang="en-US" sz="2400" dirty="0"/>
              <a:t>《软件工程实验教程》</a:t>
            </a:r>
            <a:r>
              <a:rPr lang="en-US" altLang="zh-CN" sz="2400" dirty="0"/>
              <a:t>.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457200" indent="-457200"/>
            <a:r>
              <a:rPr lang="zh-CN" altLang="en-US" dirty="0" smtClean="0"/>
              <a:t>过程 </a:t>
            </a:r>
            <a:r>
              <a:rPr lang="en-US" altLang="zh-CN" dirty="0" smtClean="0"/>
              <a:t>(How to do in steps?)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2C59-B3B8-4F23-97FD-F5CF2A55D16E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1). </a:t>
            </a:r>
            <a:r>
              <a:rPr lang="zh-CN" altLang="en-US" dirty="0"/>
              <a:t>传统方法学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31645"/>
            <a:ext cx="10515600" cy="444563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也称为</a:t>
            </a:r>
            <a:r>
              <a:rPr lang="zh-CN" altLang="en-US" dirty="0">
                <a:solidFill>
                  <a:srgbClr val="0000FF"/>
                </a:solidFill>
              </a:rPr>
              <a:t>生命周期方法学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0000FF"/>
                </a:solidFill>
              </a:rPr>
              <a:t>结构化范型</a:t>
            </a:r>
            <a:r>
              <a:rPr lang="zh-CN" altLang="en-US" dirty="0"/>
              <a:t>。</a:t>
            </a:r>
            <a:endParaRPr lang="zh-CN" altLang="en-US" dirty="0"/>
          </a:p>
          <a:p>
            <a:pPr marL="0" indent="0">
              <a:buNone/>
            </a:pPr>
            <a:endParaRPr lang="zh-CN" altLang="en-US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0000FF"/>
                </a:solidFill>
              </a:rPr>
              <a:t>结构化方法</a:t>
            </a:r>
            <a:r>
              <a:rPr lang="zh-CN" altLang="en-US" dirty="0"/>
              <a:t>的基本思想：将一个复杂的问题</a:t>
            </a:r>
            <a:r>
              <a:rPr lang="zh-CN" altLang="en-US" dirty="0">
                <a:solidFill>
                  <a:srgbClr val="0000FF"/>
                </a:solidFill>
              </a:rPr>
              <a:t>分</a:t>
            </a:r>
            <a:r>
              <a:rPr lang="zh-CN" altLang="en-US" dirty="0" smtClean="0">
                <a:solidFill>
                  <a:srgbClr val="0000FF"/>
                </a:solidFill>
              </a:rPr>
              <a:t>阶段、顺序</a:t>
            </a:r>
            <a:r>
              <a:rPr lang="zh-CN" altLang="en-US" dirty="0"/>
              <a:t>进行，</a:t>
            </a:r>
            <a:r>
              <a:rPr lang="zh-CN" altLang="en-US" dirty="0">
                <a:solidFill>
                  <a:srgbClr val="0000FF"/>
                </a:solidFill>
              </a:rPr>
              <a:t>自顶向下、逐层分解</a:t>
            </a:r>
            <a:r>
              <a:rPr lang="zh-CN" altLang="en-US" dirty="0"/>
              <a:t>，将每个阶段处理的问题控制在人们容易理解和处理的范围内。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在软件开发的不同阶段使用结构化方法，分别为结构化分析、结构化设计与结构化</a:t>
            </a:r>
            <a:r>
              <a:rPr lang="zh-CN" altLang="en-US" dirty="0" smtClean="0"/>
              <a:t>实现</a:t>
            </a:r>
            <a:r>
              <a:rPr lang="zh-CN" altLang="en-US" dirty="0"/>
              <a:t>。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7A845-11D3-4A02-8B89-2BF3BE3255F4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2). </a:t>
            </a:r>
            <a:r>
              <a:rPr lang="zh-CN" altLang="en-US" dirty="0"/>
              <a:t>面向对象</a:t>
            </a:r>
            <a:r>
              <a:rPr lang="en-US" altLang="zh-CN" dirty="0"/>
              <a:t>(Object Oriented)</a:t>
            </a:r>
            <a:r>
              <a:rPr lang="zh-CN" altLang="en-US" dirty="0"/>
              <a:t>方法学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276840" cy="435165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基本思想：</a:t>
            </a:r>
            <a:r>
              <a:rPr lang="zh-CN" altLang="en-US" dirty="0" smtClean="0"/>
              <a:t>将对象的</a:t>
            </a:r>
            <a:r>
              <a:rPr lang="zh-CN" altLang="en-US" dirty="0" smtClean="0">
                <a:solidFill>
                  <a:srgbClr val="0000FF"/>
                </a:solidFill>
              </a:rPr>
              <a:t>数据（属性）</a:t>
            </a:r>
            <a:r>
              <a:rPr lang="zh-CN" altLang="en-US" dirty="0" smtClean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对数据的</a:t>
            </a:r>
            <a:r>
              <a:rPr lang="zh-CN" altLang="en-US" dirty="0" smtClean="0">
                <a:solidFill>
                  <a:srgbClr val="0000FF"/>
                </a:solidFill>
              </a:rPr>
              <a:t>操作（行为）</a:t>
            </a:r>
            <a:r>
              <a:rPr lang="zh-CN" altLang="en-US" dirty="0" smtClean="0"/>
              <a:t>紧密</a:t>
            </a:r>
            <a:r>
              <a:rPr lang="zh-CN" altLang="en-US" dirty="0"/>
              <a:t>结合起来，模拟人类认识</a:t>
            </a:r>
            <a:r>
              <a:rPr lang="zh-CN" altLang="en-US" dirty="0" smtClean="0"/>
              <a:t>世界、解决问题</a:t>
            </a:r>
            <a:r>
              <a:rPr lang="zh-CN" altLang="en-US" dirty="0"/>
              <a:t>的思维方式。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一切事物都可看作对象</a:t>
            </a:r>
            <a:r>
              <a:rPr lang="en-US" altLang="zh-CN" dirty="0" smtClean="0"/>
              <a:t>(object)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面向对象</a:t>
            </a:r>
            <a:r>
              <a:rPr lang="zh-CN" altLang="en-US" dirty="0"/>
              <a:t>的方法</a:t>
            </a:r>
            <a:r>
              <a:rPr lang="en-US" altLang="zh-CN" dirty="0"/>
              <a:t>=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zh-CN" altLang="en-US" dirty="0"/>
              <a:t>对象 </a:t>
            </a:r>
            <a:r>
              <a:rPr lang="en-US" altLang="zh-CN" dirty="0"/>
              <a:t>+ </a:t>
            </a:r>
            <a:r>
              <a:rPr lang="zh-CN" altLang="en-US" dirty="0"/>
              <a:t>类 </a:t>
            </a:r>
            <a:r>
              <a:rPr lang="en-US" altLang="zh-CN" dirty="0"/>
              <a:t>+ </a:t>
            </a:r>
            <a:r>
              <a:rPr lang="zh-CN" altLang="en-US" dirty="0"/>
              <a:t>继承 </a:t>
            </a:r>
            <a:r>
              <a:rPr lang="en-US" altLang="zh-CN" dirty="0"/>
              <a:t>+ </a:t>
            </a:r>
            <a:r>
              <a:rPr lang="zh-CN" altLang="en-US" dirty="0"/>
              <a:t>对象间通过消息通讯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923D-046D-4C0E-AF09-3439627EBF39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1.4 </a:t>
            </a:r>
            <a:r>
              <a:rPr lang="zh-CN" altLang="en-US"/>
              <a:t>软件生命周期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648460"/>
            <a:ext cx="10937033" cy="452882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软件</a:t>
            </a:r>
            <a:r>
              <a:rPr lang="zh-CN" altLang="en-US" dirty="0">
                <a:solidFill>
                  <a:srgbClr val="0000FF"/>
                </a:solidFill>
              </a:rPr>
              <a:t>生命</a:t>
            </a:r>
            <a:r>
              <a:rPr lang="zh-CN" altLang="en-US" dirty="0"/>
              <a:t>周期是指软件从</a:t>
            </a:r>
            <a:r>
              <a:rPr lang="zh-CN" altLang="en-US" dirty="0">
                <a:solidFill>
                  <a:srgbClr val="0000FF"/>
                </a:solidFill>
              </a:rPr>
              <a:t>提出到最终被淘汰</a:t>
            </a:r>
            <a:r>
              <a:rPr lang="zh-CN" altLang="en-US" dirty="0"/>
              <a:t>的存在期。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软件生命周期的组成：</a:t>
            </a:r>
            <a:endParaRPr lang="zh-CN" altLang="en-US" dirty="0"/>
          </a:p>
          <a:p>
            <a:pPr marL="514350" indent="-514350">
              <a:buAutoNum type="arabicPeriod"/>
            </a:pPr>
            <a:r>
              <a:rPr lang="zh-CN" altLang="en-US" dirty="0"/>
              <a:t>软件定义 （问题定义 </a:t>
            </a:r>
            <a:r>
              <a:rPr lang="en-US" altLang="zh-CN" dirty="0"/>
              <a:t>+ </a:t>
            </a:r>
            <a:r>
              <a:rPr lang="zh-CN" altLang="en-US" dirty="0"/>
              <a:t>可行性研究 </a:t>
            </a:r>
            <a:r>
              <a:rPr lang="en-US" altLang="zh-CN" dirty="0"/>
              <a:t>+ </a:t>
            </a:r>
            <a:r>
              <a:rPr lang="zh-CN" altLang="en-US" dirty="0"/>
              <a:t>需求分析</a:t>
            </a:r>
            <a:r>
              <a:rPr lang="zh-CN" altLang="en-US" dirty="0" smtClean="0"/>
              <a:t>）；</a:t>
            </a:r>
            <a:endParaRPr lang="zh-CN" altLang="en-US" dirty="0"/>
          </a:p>
          <a:p>
            <a:pPr marL="514350" indent="-514350">
              <a:buAutoNum type="arabicPeriod"/>
            </a:pPr>
            <a:r>
              <a:rPr lang="zh-CN" altLang="en-US" dirty="0"/>
              <a:t>软件开发 （总体设计 </a:t>
            </a:r>
            <a:r>
              <a:rPr lang="en-US" altLang="zh-CN" dirty="0"/>
              <a:t>+ </a:t>
            </a:r>
            <a:r>
              <a:rPr lang="zh-CN" altLang="en-US" dirty="0"/>
              <a:t>详细设计 </a:t>
            </a:r>
            <a:r>
              <a:rPr lang="en-US" altLang="zh-CN" dirty="0"/>
              <a:t>+ </a:t>
            </a:r>
            <a:r>
              <a:rPr lang="zh-CN" altLang="en-US" dirty="0"/>
              <a:t>编码和单元测试 </a:t>
            </a:r>
            <a:r>
              <a:rPr lang="en-US" altLang="zh-CN" dirty="0"/>
              <a:t>+ </a:t>
            </a:r>
            <a:r>
              <a:rPr lang="zh-CN" altLang="en-US" dirty="0"/>
              <a:t>综合测试</a:t>
            </a:r>
            <a:r>
              <a:rPr lang="zh-CN" altLang="en-US" dirty="0" smtClean="0"/>
              <a:t>）；</a:t>
            </a:r>
            <a:endParaRPr lang="zh-CN" altLang="en-US" dirty="0"/>
          </a:p>
          <a:p>
            <a:pPr marL="514350" indent="-514350">
              <a:buAutoNum type="arabicPeriod"/>
            </a:pPr>
            <a:r>
              <a:rPr lang="zh-CN" altLang="en-US" dirty="0"/>
              <a:t>软件维护（也称作运行</a:t>
            </a:r>
            <a:r>
              <a:rPr lang="zh-CN" altLang="en-US" dirty="0" smtClean="0"/>
              <a:t>维护（运维））。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A8A4F-AB65-4217-B91A-BC14EC01EB0C}" type="datetime11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23595" y="2571115"/>
            <a:ext cx="11030585" cy="221043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FF0000"/>
                </a:solidFill>
              </a:rPr>
              <a:t>软件生命周期各个阶段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35430"/>
            <a:ext cx="11137265" cy="464185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问题定义 （用户要求做什么产品？）</a:t>
            </a:r>
            <a:endParaRPr lang="zh-CN" altLang="en-US" dirty="0"/>
          </a:p>
          <a:p>
            <a:pPr marL="514350" indent="-514350">
              <a:buAutoNum type="arabicPeriod"/>
            </a:pPr>
            <a:r>
              <a:rPr lang="zh-CN" altLang="en-US" dirty="0"/>
              <a:t>可行性研究 （能实现吗？资金投入合理吗？）</a:t>
            </a:r>
            <a:endParaRPr lang="zh-CN" altLang="en-US" dirty="0"/>
          </a:p>
          <a:p>
            <a:pPr marL="514350" indent="-514350">
              <a:buAutoNum type="arabicPeriod"/>
            </a:pPr>
            <a:r>
              <a:rPr lang="zh-CN" altLang="en-US" dirty="0"/>
              <a:t>需求分析 （系统需具备哪些功能？系统的逻辑模型、</a:t>
            </a:r>
            <a:r>
              <a:rPr lang="zh-CN" altLang="en-US" dirty="0">
                <a:sym typeface="+mn-ea"/>
              </a:rPr>
              <a:t>规格说明书</a:t>
            </a:r>
            <a:r>
              <a:rPr lang="zh-CN" altLang="en-US" dirty="0"/>
              <a:t>）</a:t>
            </a:r>
            <a:endParaRPr lang="zh-CN" altLang="en-US" dirty="0"/>
          </a:p>
          <a:p>
            <a:pPr marL="514350" indent="-514350">
              <a:buAutoNum type="arabicPeriod"/>
            </a:pPr>
            <a:r>
              <a:rPr lang="zh-CN" altLang="en-US" dirty="0"/>
              <a:t>总体设计 （大体上，系统如何实现？）</a:t>
            </a:r>
            <a:endParaRPr lang="zh-CN" altLang="en-US" dirty="0"/>
          </a:p>
          <a:p>
            <a:pPr marL="514350" indent="-514350">
              <a:buAutoNum type="arabicPeriod"/>
            </a:pPr>
            <a:r>
              <a:rPr lang="zh-CN" altLang="en-US" dirty="0"/>
              <a:t>详细设计 （具体地，系统如何实现？详细设计说明书（指导编程））</a:t>
            </a:r>
            <a:endParaRPr lang="zh-CN" altLang="en-US" dirty="0"/>
          </a:p>
          <a:p>
            <a:pPr marL="514350" indent="-514350">
              <a:buAutoNum type="arabicPeriod"/>
            </a:pPr>
            <a:r>
              <a:rPr lang="zh-CN" altLang="en-US" dirty="0"/>
              <a:t>编码和单元测试 （写程序、模块测试）</a:t>
            </a:r>
            <a:endParaRPr lang="zh-CN" altLang="en-US" dirty="0"/>
          </a:p>
          <a:p>
            <a:pPr marL="514350" indent="-514350">
              <a:buAutoNum type="arabicPeriod"/>
            </a:pPr>
            <a:r>
              <a:rPr lang="zh-CN" altLang="en-US" dirty="0"/>
              <a:t>综合测试 </a:t>
            </a:r>
            <a:endParaRPr lang="zh-CN" altLang="en-US" dirty="0"/>
          </a:p>
          <a:p>
            <a:pPr marL="514350" indent="-514350">
              <a:buAutoNum type="arabicPeriod"/>
            </a:pPr>
            <a:r>
              <a:rPr lang="zh-CN" altLang="en-US" dirty="0"/>
              <a:t>软件维护 </a:t>
            </a:r>
            <a:r>
              <a:rPr lang="en-US" altLang="zh-CN" dirty="0"/>
              <a:t>(4</a:t>
            </a:r>
            <a:r>
              <a:rPr lang="zh-CN" altLang="en-US" dirty="0"/>
              <a:t>种：改正性、适应性、完善性与预防性维护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0594-FD90-4606-B62F-1F573D3F1797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知识点延伸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D2EE9F-0071-4EDB-A248-9A4292B6487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3655" y="1820545"/>
            <a:ext cx="3951605" cy="3175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742055" y="1690370"/>
            <a:ext cx="4217035" cy="338709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65375" y="1034415"/>
            <a:ext cx="8538845" cy="3210560"/>
          </a:xfrm>
        </p:spPr>
        <p:txBody>
          <a:bodyPr>
            <a:normAutofit/>
          </a:bodyPr>
          <a:p>
            <a:pPr marL="571500" indent="-571500">
              <a:buFont typeface="Wingdings" panose="05000000000000000000" charset="0"/>
              <a:buChar char="Ø"/>
            </a:pPr>
            <a:r>
              <a:rPr lang="zh-CN" altLang="en-US">
                <a:solidFill>
                  <a:srgbClr val="FF0000"/>
                </a:solidFill>
              </a:rPr>
              <a:t>关于</a:t>
            </a:r>
            <a:r>
              <a:rPr lang="en-US" altLang="zh-CN">
                <a:solidFill>
                  <a:srgbClr val="FF0000"/>
                </a:solidFill>
              </a:rPr>
              <a:t>“</a:t>
            </a:r>
            <a:r>
              <a:rPr lang="zh-CN" altLang="en-US">
                <a:solidFill>
                  <a:srgbClr val="FF0000"/>
                </a:solidFill>
              </a:rPr>
              <a:t>卷</a:t>
            </a:r>
            <a:r>
              <a:rPr lang="en-US" altLang="zh-CN">
                <a:solidFill>
                  <a:srgbClr val="FF0000"/>
                </a:solidFill>
              </a:rPr>
              <a:t>”</a:t>
            </a:r>
            <a:r>
              <a:rPr lang="zh-CN" altLang="en-US">
                <a:solidFill>
                  <a:srgbClr val="FF0000"/>
                </a:solidFill>
              </a:rPr>
              <a:t>：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chemeClr val="tx1"/>
                </a:solidFill>
              </a:rPr>
              <a:t>躺平？躺赢？</a:t>
            </a:r>
            <a:br>
              <a:rPr lang="zh-CN" altLang="en-US">
                <a:solidFill>
                  <a:schemeClr val="tx1"/>
                </a:solidFill>
              </a:rPr>
            </a:br>
            <a:r>
              <a:rPr lang="zh-CN" altLang="en-US">
                <a:solidFill>
                  <a:schemeClr val="tx1"/>
                </a:solidFill>
                <a:sym typeface="+mn-ea"/>
              </a:rPr>
              <a:t>方向</a:t>
            </a:r>
            <a:br>
              <a:rPr lang="zh-CN" altLang="en-US">
                <a:solidFill>
                  <a:schemeClr val="tx1"/>
                </a:solidFill>
                <a:sym typeface="+mn-ea"/>
              </a:rPr>
            </a:br>
            <a:r>
              <a:rPr lang="zh-CN" altLang="en-US">
                <a:solidFill>
                  <a:schemeClr val="tx1"/>
                </a:solidFill>
              </a:rPr>
              <a:t>你足够努力吗？（范例：</a:t>
            </a:r>
            <a:r>
              <a:rPr lang="en-US" altLang="zh-CN">
                <a:solidFill>
                  <a:schemeClr val="tx1"/>
                </a:solidFill>
              </a:rPr>
              <a:t>LXL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D2EE9F-0071-4EDB-A248-9A4292B6487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07715" y="2239010"/>
            <a:ext cx="5576570" cy="1325880"/>
          </a:xfrm>
        </p:spPr>
        <p:txBody>
          <a:bodyPr/>
          <a:p>
            <a:pPr marL="571500" indent="-571500">
              <a:buFont typeface="Wingdings" panose="05000000000000000000" charset="0"/>
              <a:buChar char="Ø"/>
            </a:pPr>
            <a:r>
              <a:rPr lang="zh-CN" altLang="en-US">
                <a:solidFill>
                  <a:srgbClr val="FF0000"/>
                </a:solidFill>
              </a:rPr>
              <a:t>关于考研</a:t>
            </a:r>
            <a:r>
              <a:rPr lang="en-US" altLang="zh-CN">
                <a:solidFill>
                  <a:srgbClr val="FF0000"/>
                </a:solidFill>
              </a:rPr>
              <a:t>......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D2EE9F-0071-4EDB-A248-9A4292B6487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上次课内容回顾：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Q1: </a:t>
            </a:r>
            <a:r>
              <a:rPr lang="zh-CN" altLang="en-US"/>
              <a:t>什么是软件？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D2EE9F-0071-4EDB-A248-9A4292B6487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3956050"/>
            <a:ext cx="10515600" cy="817880"/>
          </a:xfrm>
        </p:spPr>
        <p:txBody>
          <a:bodyPr/>
          <a:p>
            <a:pPr marL="0" indent="0">
              <a:buNone/>
            </a:pPr>
            <a:r>
              <a:rPr lang="zh-CN" altLang="en-US" sz="3200"/>
              <a:t>软件 </a:t>
            </a:r>
            <a:r>
              <a:rPr lang="en-US" altLang="zh-CN" sz="3200"/>
              <a:t>= </a:t>
            </a:r>
            <a:r>
              <a:rPr lang="zh-CN" altLang="en-US" sz="3200"/>
              <a:t>程序 </a:t>
            </a:r>
            <a:r>
              <a:rPr lang="en-US" altLang="zh-CN" sz="3200"/>
              <a:t>+ </a:t>
            </a:r>
            <a:r>
              <a:rPr lang="zh-CN" altLang="en-US" sz="3200">
                <a:solidFill>
                  <a:srgbClr val="FF0000"/>
                </a:solidFill>
              </a:rPr>
              <a:t>数据 </a:t>
            </a:r>
            <a:r>
              <a:rPr lang="en-US" altLang="zh-CN" sz="3200">
                <a:solidFill>
                  <a:srgbClr val="FF0000"/>
                </a:solidFill>
              </a:rPr>
              <a:t>+ </a:t>
            </a:r>
            <a:r>
              <a:rPr lang="zh-CN" altLang="en-US" sz="3200">
                <a:solidFill>
                  <a:srgbClr val="FF0000"/>
                </a:solidFill>
              </a:rPr>
              <a:t>文档</a:t>
            </a:r>
            <a:endParaRPr lang="zh-CN" altLang="en-US" sz="320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D2EE9F-0071-4EDB-A248-9A4292B6487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023110"/>
            <a:ext cx="10568305" cy="111887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Q2: </a:t>
            </a:r>
            <a:r>
              <a:rPr lang="zh-CN" altLang="en-US"/>
              <a:t>软件生命周期有哪些阶段？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D2EE9F-0071-4EDB-A248-9A4292B6487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FF0000"/>
                </a:solidFill>
              </a:rPr>
              <a:t>3</a:t>
            </a:r>
            <a:r>
              <a:rPr lang="zh-CN" altLang="en-US">
                <a:solidFill>
                  <a:srgbClr val="FF0000"/>
                </a:solidFill>
              </a:rPr>
              <a:t>个时期、</a:t>
            </a:r>
            <a:r>
              <a:rPr lang="en-US" altLang="zh-CN">
                <a:solidFill>
                  <a:srgbClr val="FF0000"/>
                </a:solidFill>
              </a:rPr>
              <a:t>8</a:t>
            </a:r>
            <a:r>
              <a:rPr lang="zh-CN" altLang="en-US">
                <a:solidFill>
                  <a:srgbClr val="FF0000"/>
                </a:solidFill>
              </a:rPr>
              <a:t>个阶段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D2EE9F-0071-4EDB-A248-9A4292B6487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235" y="1935480"/>
            <a:ext cx="10832465" cy="224091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D2EE9F-0071-4EDB-A248-9A4292B6487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>
            <a:off x="9424670" y="1771015"/>
            <a:ext cx="20320" cy="19240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5"/>
          <p:cNvSpPr/>
          <p:nvPr/>
        </p:nvSpPr>
        <p:spPr>
          <a:xfrm>
            <a:off x="646430" y="492125"/>
            <a:ext cx="3254375" cy="12839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/>
              <a:t>工程</a:t>
            </a:r>
            <a:endParaRPr lang="zh-CN" altLang="en-US" sz="4000"/>
          </a:p>
        </p:txBody>
      </p:sp>
      <p:sp>
        <p:nvSpPr>
          <p:cNvPr id="8" name="圆角矩形 7"/>
          <p:cNvSpPr/>
          <p:nvPr/>
        </p:nvSpPr>
        <p:spPr>
          <a:xfrm>
            <a:off x="7700010" y="492125"/>
            <a:ext cx="3254400" cy="12852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/>
              <a:t>系统性</a:t>
            </a:r>
            <a:r>
              <a:rPr lang="en-US" altLang="zh-CN" sz="4000"/>
              <a:t>/</a:t>
            </a:r>
            <a:r>
              <a:rPr lang="zh-CN" altLang="en-US" sz="4000"/>
              <a:t>化</a:t>
            </a:r>
            <a:endParaRPr lang="zh-CN" altLang="en-US" sz="4000"/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3900805" y="1081405"/>
            <a:ext cx="3771900" cy="20955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7809230" y="3695065"/>
            <a:ext cx="3254400" cy="12852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/>
              <a:t>系统化</a:t>
            </a:r>
            <a:r>
              <a:rPr lang="zh-CN" altLang="en-US" sz="4000"/>
              <a:t>思维</a:t>
            </a:r>
            <a:endParaRPr lang="zh-CN" altLang="en-US" sz="4000"/>
          </a:p>
        </p:txBody>
      </p:sp>
      <p:cxnSp>
        <p:nvCxnSpPr>
          <p:cNvPr id="15" name="直接箭头连接符 14"/>
          <p:cNvCxnSpPr/>
          <p:nvPr/>
        </p:nvCxnSpPr>
        <p:spPr>
          <a:xfrm flipH="1">
            <a:off x="6398895" y="4349115"/>
            <a:ext cx="1403350" cy="12065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对象 15"/>
          <p:cNvGraphicFramePr/>
          <p:nvPr/>
        </p:nvGraphicFramePr>
        <p:xfrm>
          <a:off x="2980055" y="2700020"/>
          <a:ext cx="3418840" cy="3412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1" imgW="3416300" imgH="3409950" progId="Paint.Picture">
                  <p:embed/>
                </p:oleObj>
              </mc:Choice>
              <mc:Fallback>
                <p:oleObj name="" r:id="rId1" imgW="3416300" imgH="3409950" progId="Paint.Picture">
                  <p:embed/>
                  <p:pic>
                    <p:nvPicPr>
                      <p:cNvPr id="0" name="图片 1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80055" y="2700020"/>
                        <a:ext cx="3418840" cy="34124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73380"/>
            <a:ext cx="10515600" cy="1325563"/>
          </a:xfrm>
        </p:spPr>
        <p:txBody>
          <a:bodyPr/>
          <a:lstStyle/>
          <a:p>
            <a:r>
              <a:rPr lang="en-US" altLang="zh-CN"/>
              <a:t>1.5 </a:t>
            </a:r>
            <a:r>
              <a:rPr lang="zh-CN" altLang="en-US"/>
              <a:t>软件过程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zh-CN" altLang="zh-CN"/>
              <a:t>软件过程的定义</a:t>
            </a:r>
            <a:endParaRPr lang="zh-CN" altLang="zh-CN"/>
          </a:p>
          <a:p>
            <a:pPr>
              <a:buFont typeface="Wingdings" panose="05000000000000000000" charset="0"/>
              <a:buChar char="Ø"/>
            </a:pPr>
            <a:endParaRPr lang="zh-CN" altLang="zh-CN"/>
          </a:p>
          <a:p>
            <a:pPr>
              <a:buFont typeface="Wingdings" panose="05000000000000000000" charset="0"/>
              <a:buChar char="Ø"/>
            </a:pPr>
            <a:r>
              <a:rPr lang="zh-CN" altLang="zh-CN"/>
              <a:t>典型的软件过程模型 （用来描述软件过程）</a:t>
            </a:r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AD67-F3D1-4444-84E2-E50C7FC91C51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FF0000"/>
                </a:solidFill>
              </a:rPr>
              <a:t>软件过程的几种定义：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097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zh-CN" altLang="zh-CN" dirty="0">
                <a:solidFill>
                  <a:srgbClr val="0000FF"/>
                </a:solidFill>
              </a:rPr>
              <a:t>软件过程</a:t>
            </a:r>
            <a:r>
              <a:rPr lang="zh-CN" altLang="zh-CN" dirty="0"/>
              <a:t>是一个为获得高质量软件所需完成</a:t>
            </a:r>
            <a:r>
              <a:rPr lang="zh-CN" altLang="zh-CN" dirty="0" smtClean="0"/>
              <a:t>的</a:t>
            </a:r>
            <a:r>
              <a:rPr lang="zh-CN" altLang="en-US" dirty="0" smtClean="0"/>
              <a:t>一系列</a:t>
            </a:r>
            <a:r>
              <a:rPr lang="zh-CN" altLang="zh-CN" dirty="0" smtClean="0"/>
              <a:t>任务</a:t>
            </a:r>
            <a:r>
              <a:rPr lang="zh-CN" altLang="zh-CN" dirty="0"/>
              <a:t>的</a:t>
            </a:r>
            <a:r>
              <a:rPr lang="zh-CN" altLang="zh-CN" dirty="0">
                <a:solidFill>
                  <a:srgbClr val="FF0000"/>
                </a:solidFill>
              </a:rPr>
              <a:t>框架</a:t>
            </a:r>
            <a:r>
              <a:rPr lang="zh-CN" altLang="zh-CN" dirty="0" smtClean="0"/>
              <a:t>，</a:t>
            </a:r>
            <a:r>
              <a:rPr lang="zh-CN" altLang="en-US" dirty="0" smtClean="0"/>
              <a:t>它规定了</a:t>
            </a:r>
            <a:r>
              <a:rPr lang="zh-CN" altLang="en-US" dirty="0" smtClean="0">
                <a:solidFill>
                  <a:srgbClr val="0000FF"/>
                </a:solidFill>
              </a:rPr>
              <a:t>完成各项任务的工作步骤</a:t>
            </a:r>
            <a:r>
              <a:rPr lang="zh-CN" altLang="en-US" dirty="0" smtClean="0"/>
              <a:t>。（教材）</a:t>
            </a:r>
            <a:endParaRPr lang="zh-CN" altLang="zh-CN" dirty="0"/>
          </a:p>
          <a:p>
            <a:endParaRPr lang="zh-CN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、</a:t>
            </a:r>
            <a:r>
              <a:rPr lang="zh-CN" altLang="zh-CN" dirty="0">
                <a:solidFill>
                  <a:srgbClr val="0000FF"/>
                </a:solidFill>
                <a:sym typeface="+mn-ea"/>
              </a:rPr>
              <a:t>软件</a:t>
            </a:r>
            <a:r>
              <a:rPr lang="zh-CN" altLang="zh-CN" dirty="0" smtClean="0">
                <a:solidFill>
                  <a:srgbClr val="0000FF"/>
                </a:solidFill>
                <a:sym typeface="+mn-ea"/>
              </a:rPr>
              <a:t>过程</a:t>
            </a:r>
            <a:r>
              <a:rPr lang="zh-CN" altLang="en-US" dirty="0">
                <a:sym typeface="+mn-ea"/>
              </a:rPr>
              <a:t>：</a:t>
            </a:r>
            <a:r>
              <a:rPr lang="zh-CN" altLang="zh-CN" dirty="0" smtClean="0">
                <a:solidFill>
                  <a:schemeClr val="tx1"/>
                </a:solidFill>
                <a:sym typeface="+mn-ea"/>
              </a:rPr>
              <a:t>使用</a:t>
            </a:r>
            <a:r>
              <a:rPr lang="zh-CN" altLang="zh-CN" dirty="0">
                <a:solidFill>
                  <a:schemeClr val="tx1"/>
                </a:solidFill>
                <a:sym typeface="+mn-ea"/>
              </a:rPr>
              <a:t>资源</a:t>
            </a:r>
            <a:r>
              <a:rPr lang="zh-CN" altLang="zh-CN" dirty="0">
                <a:solidFill>
                  <a:srgbClr val="0000FF"/>
                </a:solidFill>
                <a:sym typeface="+mn-ea"/>
              </a:rPr>
              <a:t>将</a:t>
            </a:r>
            <a:r>
              <a:rPr lang="zh-CN" altLang="zh-CN" dirty="0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输入（</a:t>
            </a:r>
            <a:r>
              <a:rPr lang="en-US" altLang="zh-CN" dirty="0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?</a:t>
            </a:r>
            <a:r>
              <a:rPr lang="zh-CN" altLang="zh-CN" dirty="0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）</a:t>
            </a:r>
            <a:r>
              <a:rPr lang="zh-CN" altLang="zh-CN" dirty="0">
                <a:solidFill>
                  <a:srgbClr val="0000FF"/>
                </a:solidFill>
                <a:sym typeface="+mn-ea"/>
              </a:rPr>
              <a:t>转化为</a:t>
            </a:r>
            <a:r>
              <a:rPr lang="zh-CN" altLang="zh-CN" dirty="0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输出</a:t>
            </a:r>
            <a:r>
              <a:rPr lang="zh-CN" altLang="zh-CN" dirty="0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（</a:t>
            </a:r>
            <a:r>
              <a:rPr lang="en-US" altLang="zh-CN" dirty="0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?</a:t>
            </a:r>
            <a:r>
              <a:rPr lang="zh-CN" altLang="zh-CN" dirty="0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）</a:t>
            </a:r>
            <a:r>
              <a:rPr lang="zh-CN" altLang="zh-CN" dirty="0">
                <a:solidFill>
                  <a:schemeClr val="tx1"/>
                </a:solidFill>
                <a:sym typeface="+mn-ea"/>
              </a:rPr>
              <a:t>的活动所构成的系统。</a:t>
            </a:r>
            <a:r>
              <a:rPr lang="zh-CN" altLang="zh-CN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ISO9000</a:t>
            </a:r>
            <a:r>
              <a:rPr lang="zh-CN" altLang="zh-CN" dirty="0">
                <a:sym typeface="+mn-ea"/>
              </a:rPr>
              <a:t>）</a:t>
            </a:r>
            <a:endParaRPr lang="zh-CN" altLang="zh-CN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输入：软件（用户对软件的）需求；              输出：软件产品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  <a:sym typeface="+mn-ea"/>
              </a:rPr>
              <a:t>3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、</a:t>
            </a:r>
            <a:r>
              <a:rPr lang="zh-CN" altLang="en-US" dirty="0">
                <a:solidFill>
                  <a:srgbClr val="0000FF"/>
                </a:solidFill>
                <a:sym typeface="+mn-ea"/>
              </a:rPr>
              <a:t>软件工程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是软件产品构建时所执行的一系列</a:t>
            </a:r>
            <a:r>
              <a:rPr lang="zh-CN" altLang="en-US" dirty="0">
                <a:solidFill>
                  <a:srgbClr val="0000FF"/>
                </a:solidFill>
                <a:sym typeface="+mn-ea"/>
              </a:rPr>
              <a:t>活动、动作和任务的集合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。（《软件工程》实践者的研究方法）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A689-516B-4ED3-81E4-9DACF0D7FC6D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676900" cy="132588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1.5.1 </a:t>
            </a:r>
            <a:r>
              <a:rPr lang="zh-CN" altLang="en-US" dirty="0"/>
              <a:t>瀑布模型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0820" y="1378585"/>
            <a:ext cx="5667375" cy="5208270"/>
          </a:xfrm>
        </p:spPr>
        <p:txBody>
          <a:bodyPr>
            <a:normAutofit fontScale="85000"/>
          </a:bodyPr>
          <a:lstStyle/>
          <a:p>
            <a:pPr marL="0" indent="0">
              <a:buNone/>
            </a:pPr>
            <a:r>
              <a:rPr lang="en-US" altLang="zh-CN" dirty="0" smtClean="0"/>
              <a:t>3</a:t>
            </a:r>
            <a:r>
              <a:rPr lang="zh-CN" altLang="en-US" dirty="0"/>
              <a:t>个特点：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 smtClean="0"/>
              <a:t>1) </a:t>
            </a:r>
            <a:r>
              <a:rPr lang="zh-CN" altLang="en-US" dirty="0" smtClean="0"/>
              <a:t>阶段</a:t>
            </a:r>
            <a:r>
              <a:rPr lang="zh-CN" altLang="en-US" dirty="0"/>
              <a:t>间具有</a:t>
            </a:r>
            <a:r>
              <a:rPr lang="zh-CN" altLang="en-US" u="sng" dirty="0">
                <a:solidFill>
                  <a:srgbClr val="FF0000"/>
                </a:solidFill>
              </a:rPr>
              <a:t>顺序性</a:t>
            </a:r>
            <a:r>
              <a:rPr lang="zh-CN" altLang="en-US" dirty="0"/>
              <a:t>和</a:t>
            </a:r>
            <a:r>
              <a:rPr lang="zh-CN" altLang="en-US" u="sng" dirty="0" smtClean="0">
                <a:solidFill>
                  <a:srgbClr val="FF0000"/>
                </a:solidFill>
              </a:rPr>
              <a:t>依赖性</a:t>
            </a:r>
            <a:r>
              <a:rPr lang="zh-CN" altLang="en-US" dirty="0" smtClean="0"/>
              <a:t>；</a:t>
            </a:r>
            <a:endParaRPr lang="zh-CN" altLang="en-US" dirty="0"/>
          </a:p>
          <a:p>
            <a:endParaRPr lang="zh-CN" altLang="en-US" dirty="0"/>
          </a:p>
          <a:p>
            <a:pPr marL="0" indent="0">
              <a:buNone/>
            </a:pPr>
            <a:r>
              <a:rPr lang="en-US" altLang="zh-CN" dirty="0" smtClean="0"/>
              <a:t>2) </a:t>
            </a:r>
            <a:r>
              <a:rPr lang="zh-CN" altLang="en-US" dirty="0" smtClean="0">
                <a:highlight>
                  <a:srgbClr val="FFFF00"/>
                </a:highlight>
              </a:rPr>
              <a:t>推迟</a:t>
            </a:r>
            <a:r>
              <a:rPr lang="zh-CN" altLang="en-US" dirty="0">
                <a:highlight>
                  <a:srgbClr val="FFFF00"/>
                </a:highlight>
              </a:rPr>
              <a:t>实现</a:t>
            </a:r>
            <a:r>
              <a:rPr lang="zh-CN" altLang="en-US" dirty="0"/>
              <a:t>的</a:t>
            </a:r>
            <a:r>
              <a:rPr lang="zh-CN" altLang="en-US" dirty="0" smtClean="0"/>
              <a:t>观点；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 smtClean="0"/>
              <a:t>写代码前，需求分析与设计工作要做到位     </a:t>
            </a:r>
            <a:r>
              <a:rPr lang="zh-CN" altLang="en-US" sz="2825" dirty="0" smtClean="0"/>
              <a:t>否则，后期修改软件付出很大代价。</a:t>
            </a:r>
            <a:endParaRPr lang="zh-CN" altLang="en-US" sz="2000" dirty="0"/>
          </a:p>
          <a:p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en-US" altLang="zh-CN" dirty="0" smtClean="0"/>
              <a:t>3) </a:t>
            </a:r>
            <a:r>
              <a:rPr lang="zh-CN" altLang="en-US" dirty="0" smtClean="0">
                <a:highlight>
                  <a:srgbClr val="FFFF00"/>
                </a:highlight>
              </a:rPr>
              <a:t>质量保证</a:t>
            </a:r>
            <a:r>
              <a:rPr lang="zh-CN" altLang="en-US" dirty="0"/>
              <a:t>的观点 （针对每个阶段</a:t>
            </a:r>
            <a:r>
              <a:rPr lang="zh-CN" altLang="en-US" dirty="0" smtClean="0"/>
              <a:t>）。</a:t>
            </a:r>
            <a:endParaRPr lang="zh-CN" altLang="en-US" dirty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/>
              <a:t>合格、规范的</a:t>
            </a:r>
            <a:r>
              <a:rPr lang="zh-CN" altLang="en-US" dirty="0"/>
              <a:t>文档</a:t>
            </a:r>
            <a:endParaRPr lang="zh-CN" altLang="en-US" dirty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/>
              <a:t>对文档进行</a:t>
            </a:r>
            <a:r>
              <a:rPr lang="zh-CN" altLang="en-US" dirty="0"/>
              <a:t>评审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Picture 34" descr="T1-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82920" y="218919"/>
            <a:ext cx="3657600" cy="583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7DCF6-EC93-4BE4-8DDA-37231D9C368A}" type="datetime11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7118792" y="5986725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（</a:t>
            </a:r>
            <a:r>
              <a:rPr lang="zh-CN" altLang="en-US" dirty="0" smtClean="0">
                <a:solidFill>
                  <a:srgbClr val="FF0000"/>
                </a:solidFill>
              </a:rPr>
              <a:t>理想的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17" name="圆角矩形 16"/>
          <p:cNvSpPr/>
          <p:nvPr/>
        </p:nvSpPr>
        <p:spPr>
          <a:xfrm>
            <a:off x="615950" y="3951605"/>
            <a:ext cx="4340225" cy="9061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/>
              <a:t>欲速则不达</a:t>
            </a:r>
            <a:endParaRPr lang="zh-CN" altLang="en-US" sz="4000"/>
          </a:p>
        </p:txBody>
      </p:sp>
      <p:pic>
        <p:nvPicPr>
          <p:cNvPr id="10" name="图片 9" descr="1e30e924b899a9010de3d66a0a7f07740008f59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825" y="0"/>
            <a:ext cx="3813175" cy="3702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4" descr="T1-3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7205345" y="610235"/>
            <a:ext cx="4010025" cy="5636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内容占位符 2"/>
          <p:cNvSpPr>
            <a:spLocks noGrp="1"/>
          </p:cNvSpPr>
          <p:nvPr/>
        </p:nvSpPr>
        <p:spPr>
          <a:xfrm>
            <a:off x="847725" y="261620"/>
            <a:ext cx="6276340" cy="6325235"/>
          </a:xfrm>
          <a:prstGeom prst="rect">
            <a:avLst/>
          </a:prstGeom>
        </p:spPr>
        <p:txBody>
          <a:bodyPr vert="horz" lIns="91440" tIns="45720" rIns="91440" bIns="45720" rtlCol="0">
            <a:normAutofit fontScale="87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zh-CN" altLang="en-US" dirty="0" smtClean="0"/>
              <a:t>前一阶段若出问题或需要完善，怎么办？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实际的瀑布模型 （</a:t>
            </a:r>
            <a:r>
              <a:rPr lang="zh-CN" altLang="en-US" dirty="0">
                <a:solidFill>
                  <a:schemeClr val="tx1"/>
                </a:solidFill>
              </a:rPr>
              <a:t>带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反馈环</a:t>
            </a:r>
            <a:r>
              <a:rPr lang="zh-CN" altLang="en-US" dirty="0"/>
              <a:t>）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瀑布模型是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文档</a:t>
            </a:r>
            <a:r>
              <a:rPr lang="zh-CN" altLang="en-US" dirty="0" smtClean="0">
                <a:solidFill>
                  <a:srgbClr val="FF0000"/>
                </a:solidFill>
                <a:highlight>
                  <a:srgbClr val="FFFF00"/>
                </a:highlight>
              </a:rPr>
              <a:t>驱动</a:t>
            </a:r>
            <a:r>
              <a:rPr lang="zh-CN" altLang="en-US" dirty="0" smtClean="0"/>
              <a:t>的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zh-CN" altLang="en-US" dirty="0" smtClean="0"/>
              <a:t>（每一阶段，文档作为输出结果。）</a:t>
            </a:r>
            <a:endParaRPr lang="zh-CN" altLang="en-US" dirty="0"/>
          </a:p>
          <a:p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 smtClean="0"/>
              <a:t>文档</a:t>
            </a:r>
            <a:r>
              <a:rPr lang="zh-CN" altLang="en-US" dirty="0"/>
              <a:t>驱动的特点既是优点亦是</a:t>
            </a:r>
            <a:r>
              <a:rPr lang="zh-CN" altLang="en-US" dirty="0" smtClean="0"/>
              <a:t>缺点：</a:t>
            </a:r>
            <a:endParaRPr lang="zh-CN" altLang="en-US" dirty="0"/>
          </a:p>
          <a:p>
            <a:pPr lvl="1" fontAlgn="auto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055" dirty="0" smtClean="0"/>
              <a:t>优点</a:t>
            </a:r>
            <a:r>
              <a:rPr lang="zh-CN" altLang="en-US" sz="2055" dirty="0"/>
              <a:t>：规范、</a:t>
            </a:r>
            <a:r>
              <a:rPr lang="zh-CN" altLang="en-US" sz="2055" dirty="0" smtClean="0"/>
              <a:t>清晰</a:t>
            </a:r>
            <a:endParaRPr lang="en-US" altLang="zh-CN" sz="2055" dirty="0" smtClean="0"/>
          </a:p>
          <a:p>
            <a:pPr lvl="1" fontAlgn="auto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055" dirty="0" smtClean="0">
                <a:solidFill>
                  <a:schemeClr val="tx1"/>
                </a:solidFill>
              </a:rPr>
              <a:t>缺点</a:t>
            </a:r>
            <a:r>
              <a:rPr lang="zh-CN" altLang="en-US" sz="2055" dirty="0">
                <a:solidFill>
                  <a:schemeClr val="tx1"/>
                </a:solidFill>
              </a:rPr>
              <a:t>：最终产品交付前，用户只能通过各种文档了解产品。然而，</a:t>
            </a:r>
            <a:r>
              <a:rPr lang="zh-CN" altLang="en-US" sz="2055" dirty="0">
                <a:solidFill>
                  <a:srgbClr val="FF0000"/>
                </a:solidFill>
              </a:rPr>
              <a:t>未经实践的产品，用户需求往往不完整或不准确。很可能最终产品不是用户真正需要的。</a:t>
            </a:r>
            <a:endParaRPr lang="zh-CN" altLang="en-US" sz="2055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sz="2055" dirty="0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>
            <a:off x="6697345" y="1383030"/>
            <a:ext cx="861060" cy="38481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/>
        </p:nvCxnSpPr>
        <p:spPr>
          <a:xfrm flipH="1">
            <a:off x="11045190" y="2509520"/>
            <a:ext cx="337185" cy="49657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6AB4-F8F3-470A-8540-5A5536221F31}" type="datetime11">
              <a:rPr lang="zh-CN" altLang="en-US" smtClean="0"/>
            </a:fld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915035" y="706755"/>
            <a:ext cx="5782310" cy="9061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/>
              <a:t>人非圣贤，孰能无过！</a:t>
            </a:r>
            <a:endParaRPr lang="zh-CN" altLang="en-US" sz="4000"/>
          </a:p>
        </p:txBody>
      </p:sp>
      <p:cxnSp>
        <p:nvCxnSpPr>
          <p:cNvPr id="8" name="直接箭头连接符 7"/>
          <p:cNvCxnSpPr/>
          <p:nvPr>
            <p:custDataLst>
              <p:tags r:id="rId2"/>
            </p:custDataLst>
          </p:nvPr>
        </p:nvCxnSpPr>
        <p:spPr>
          <a:xfrm flipV="1">
            <a:off x="5444490" y="1918970"/>
            <a:ext cx="1971675" cy="20574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839335" cy="1325880"/>
          </a:xfrm>
        </p:spPr>
        <p:txBody>
          <a:bodyPr>
            <a:normAutofit/>
          </a:bodyPr>
          <a:lstStyle/>
          <a:p>
            <a:r>
              <a:rPr lang="en-US" altLang="zh-CN"/>
              <a:t>1.5.2 </a:t>
            </a:r>
            <a:r>
              <a:rPr lang="zh-CN" altLang="en-US"/>
              <a:t>快速原型模型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39900"/>
            <a:ext cx="6177280" cy="4437380"/>
          </a:xfrm>
        </p:spPr>
        <p:txBody>
          <a:bodyPr/>
          <a:lstStyle/>
          <a:p>
            <a:r>
              <a:rPr lang="zh-CN" altLang="en-US" dirty="0"/>
              <a:t>为克服瀑布模型的缺点提出的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（</a:t>
            </a:r>
            <a:r>
              <a:rPr lang="zh-CN" altLang="en-US" dirty="0">
                <a:solidFill>
                  <a:srgbClr val="FF0000"/>
                </a:solidFill>
              </a:rPr>
              <a:t>只通过文档，用户难以发现问题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zh-CN" altLang="en-US" dirty="0"/>
              <a:t>首先快速构建一个</a:t>
            </a:r>
            <a:r>
              <a:rPr lang="zh-CN" altLang="en-US" u="sng" dirty="0">
                <a:solidFill>
                  <a:srgbClr val="FF0000"/>
                </a:solidFill>
              </a:rPr>
              <a:t>可运行</a:t>
            </a:r>
            <a:r>
              <a:rPr lang="zh-CN" altLang="en-US" dirty="0">
                <a:solidFill>
                  <a:srgbClr val="0000FF"/>
                </a:solidFill>
              </a:rPr>
              <a:t>的原型系统</a:t>
            </a:r>
            <a:r>
              <a:rPr lang="zh-CN" altLang="en-US" dirty="0"/>
              <a:t>，让用户试用，收集反馈意见，以获取用户的真实需求。</a:t>
            </a:r>
            <a:endParaRPr lang="zh-CN" altLang="en-US" dirty="0"/>
          </a:p>
          <a:p>
            <a:r>
              <a:rPr lang="zh-CN" altLang="en-US" dirty="0"/>
              <a:t>特点：不带反馈环、各阶段基本按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线性顺序进行</a:t>
            </a:r>
            <a:endParaRPr lang="zh-CN" altLang="en-US" dirty="0"/>
          </a:p>
        </p:txBody>
      </p:sp>
      <p:pic>
        <p:nvPicPr>
          <p:cNvPr id="33795" name="Picture 4" descr="T1-4"/>
          <p:cNvPicPr>
            <a:picLocks noGrp="1" noChangeAspect="1"/>
          </p:cNvPicPr>
          <p:nvPr>
            <p:ph sz="half" idx="2"/>
          </p:nvPr>
        </p:nvPicPr>
        <p:blipFill>
          <a:blip r:embed="rId1"/>
          <a:srcRect/>
          <a:stretch>
            <a:fillRect/>
          </a:stretch>
        </p:blipFill>
        <p:spPr>
          <a:xfrm>
            <a:off x="7337425" y="431800"/>
            <a:ext cx="4406900" cy="6129020"/>
          </a:xfrm>
        </p:spPr>
      </p:pic>
      <p:sp>
        <p:nvSpPr>
          <p:cNvPr id="4" name="椭圆 3"/>
          <p:cNvSpPr/>
          <p:nvPr/>
        </p:nvSpPr>
        <p:spPr>
          <a:xfrm>
            <a:off x="7014845" y="228600"/>
            <a:ext cx="1809115" cy="1209675"/>
          </a:xfrm>
          <a:prstGeom prst="ellipse">
            <a:avLst/>
          </a:prstGeom>
          <a:noFill/>
          <a:ln w="12700" cmpd="sng">
            <a:solidFill>
              <a:srgbClr val="FF0000">
                <a:alpha val="0"/>
              </a:srgb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Picture 4" descr="T1-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41409" y="559218"/>
            <a:ext cx="4197350" cy="5837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椭圆 6"/>
          <p:cNvSpPr/>
          <p:nvPr/>
        </p:nvSpPr>
        <p:spPr>
          <a:xfrm>
            <a:off x="7259216" y="298580"/>
            <a:ext cx="1670180" cy="113969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3D9DF-C4C8-4480-A9DA-CD765713E4E5}" type="datetime11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9" name="墨迹 8"/>
              <p14:cNvContentPartPr/>
              <p14:nvPr/>
            </p14:nvContentPartPr>
            <p14:xfrm>
              <a:off x="2035800" y="2143080"/>
              <a:ext cx="4239000" cy="247680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3"/>
            </p:blipFill>
            <p:spPr>
              <a:xfrm>
                <a:off x="2035800" y="2143080"/>
                <a:ext cx="4239000" cy="247680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D2EE9F-0071-4EDB-A248-9A4292B6487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327910" y="2059940"/>
            <a:ext cx="2230120" cy="10852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/>
              <a:t>文档</a:t>
            </a:r>
            <a:endParaRPr lang="zh-CN" altLang="en-US" sz="4000"/>
          </a:p>
        </p:txBody>
      </p:sp>
      <p:sp>
        <p:nvSpPr>
          <p:cNvPr id="7" name="圆角矩形 6"/>
          <p:cNvSpPr/>
          <p:nvPr/>
        </p:nvSpPr>
        <p:spPr>
          <a:xfrm>
            <a:off x="2327910" y="3988435"/>
            <a:ext cx="2230120" cy="10852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/>
              <a:t>运行</a:t>
            </a:r>
            <a:endParaRPr lang="zh-CN" altLang="en-US" sz="4000"/>
          </a:p>
          <a:p>
            <a:pPr algn="ctr"/>
            <a:r>
              <a:rPr lang="zh-CN" altLang="en-US" sz="4000"/>
              <a:t>软件</a:t>
            </a:r>
            <a:endParaRPr lang="zh-CN" altLang="en-US" sz="4000"/>
          </a:p>
        </p:txBody>
      </p:sp>
      <p:sp>
        <p:nvSpPr>
          <p:cNvPr id="8" name="圆角矩形 7"/>
          <p:cNvSpPr/>
          <p:nvPr/>
        </p:nvSpPr>
        <p:spPr>
          <a:xfrm>
            <a:off x="6934200" y="2059940"/>
            <a:ext cx="2230120" cy="108521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/>
              <a:t>理论</a:t>
            </a:r>
            <a:endParaRPr lang="zh-CN" altLang="en-US" sz="4000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4558030" y="2602230"/>
            <a:ext cx="2376170" cy="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4558030" y="4531360"/>
            <a:ext cx="2376170" cy="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2327910" y="2060575"/>
            <a:ext cx="2230120" cy="10852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/>
              <a:t>文档</a:t>
            </a:r>
            <a:endParaRPr lang="zh-CN" altLang="en-US" sz="4000"/>
          </a:p>
        </p:txBody>
      </p:sp>
      <p:sp>
        <p:nvSpPr>
          <p:cNvPr id="13" name="圆角矩形 12"/>
          <p:cNvSpPr/>
          <p:nvPr/>
        </p:nvSpPr>
        <p:spPr>
          <a:xfrm>
            <a:off x="2327910" y="3989070"/>
            <a:ext cx="2230120" cy="10852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/>
              <a:t>运行</a:t>
            </a:r>
            <a:endParaRPr lang="zh-CN" altLang="en-US" sz="4000"/>
          </a:p>
          <a:p>
            <a:pPr algn="ctr"/>
            <a:r>
              <a:rPr lang="zh-CN" altLang="en-US" sz="4000"/>
              <a:t>软件</a:t>
            </a:r>
            <a:endParaRPr lang="zh-CN" altLang="en-US" sz="4000"/>
          </a:p>
        </p:txBody>
      </p:sp>
      <p:sp>
        <p:nvSpPr>
          <p:cNvPr id="14" name="圆角矩形 13"/>
          <p:cNvSpPr/>
          <p:nvPr/>
        </p:nvSpPr>
        <p:spPr>
          <a:xfrm>
            <a:off x="6934200" y="2060575"/>
            <a:ext cx="2230120" cy="108521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/>
              <a:t>理论</a:t>
            </a:r>
            <a:endParaRPr lang="zh-CN" altLang="en-US" sz="4000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4558030" y="2602865"/>
            <a:ext cx="2376170" cy="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6934200" y="3987800"/>
            <a:ext cx="2230120" cy="108521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/>
              <a:t>实践</a:t>
            </a:r>
            <a:endParaRPr lang="zh-CN" altLang="en-US" sz="4000"/>
          </a:p>
        </p:txBody>
      </p:sp>
      <p:cxnSp>
        <p:nvCxnSpPr>
          <p:cNvPr id="16" name="直接箭头连接符 15"/>
          <p:cNvCxnSpPr/>
          <p:nvPr/>
        </p:nvCxnSpPr>
        <p:spPr>
          <a:xfrm>
            <a:off x="4558030" y="4530725"/>
            <a:ext cx="2376170" cy="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2327910" y="2059940"/>
            <a:ext cx="2230120" cy="10852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/>
              <a:t>文档</a:t>
            </a:r>
            <a:endParaRPr lang="zh-CN" altLang="en-US" sz="4000"/>
          </a:p>
        </p:txBody>
      </p:sp>
      <p:sp>
        <p:nvSpPr>
          <p:cNvPr id="18" name="圆角矩形 17"/>
          <p:cNvSpPr/>
          <p:nvPr/>
        </p:nvSpPr>
        <p:spPr>
          <a:xfrm>
            <a:off x="2327910" y="3988435"/>
            <a:ext cx="2230120" cy="10852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/>
              <a:t>运行</a:t>
            </a:r>
            <a:endParaRPr lang="zh-CN" altLang="en-US" sz="4000"/>
          </a:p>
          <a:p>
            <a:pPr algn="ctr"/>
            <a:r>
              <a:rPr lang="zh-CN" altLang="en-US" sz="4000"/>
              <a:t>软件</a:t>
            </a:r>
            <a:endParaRPr lang="zh-CN" altLang="en-US" sz="4000"/>
          </a:p>
        </p:txBody>
      </p:sp>
      <p:sp>
        <p:nvSpPr>
          <p:cNvPr id="19" name="圆角矩形 18"/>
          <p:cNvSpPr/>
          <p:nvPr/>
        </p:nvSpPr>
        <p:spPr>
          <a:xfrm>
            <a:off x="6934200" y="2059940"/>
            <a:ext cx="2230120" cy="108521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/>
              <a:t>理论</a:t>
            </a:r>
            <a:endParaRPr lang="zh-CN" altLang="en-US" sz="4000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4558030" y="2602230"/>
            <a:ext cx="2376170" cy="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“</a:t>
            </a:r>
            <a:r>
              <a:rPr lang="zh-CN" altLang="en-US"/>
              <a:t>实践是检验真理的唯一标准</a:t>
            </a:r>
            <a:r>
              <a:rPr lang="en-US" altLang="zh-CN"/>
              <a:t>”</a:t>
            </a:r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D2EE9F-0071-4EDB-A248-9A4292B6487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660650" y="2995295"/>
            <a:ext cx="6366510" cy="38627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735" y="1310005"/>
            <a:ext cx="7607300" cy="1625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8" name="墨迹 7"/>
              <p14:cNvContentPartPr/>
              <p14:nvPr/>
            </p14:nvContentPartPr>
            <p14:xfrm>
              <a:off x="4603750" y="1885950"/>
              <a:ext cx="425450" cy="635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5"/>
            </p:blipFill>
            <p:spPr>
              <a:xfrm>
                <a:off x="4603750" y="1885950"/>
                <a:ext cx="425450" cy="6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9" name="墨迹 8"/>
              <p14:cNvContentPartPr/>
              <p14:nvPr/>
            </p14:nvContentPartPr>
            <p14:xfrm>
              <a:off x="2908300" y="4260850"/>
              <a:ext cx="1708150" cy="5715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7"/>
            </p:blipFill>
            <p:spPr>
              <a:xfrm>
                <a:off x="2908300" y="4260850"/>
                <a:ext cx="1708150" cy="571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10" name="墨迹 9"/>
              <p14:cNvContentPartPr/>
              <p14:nvPr/>
            </p14:nvContentPartPr>
            <p14:xfrm>
              <a:off x="4902200" y="6394450"/>
              <a:ext cx="2012950" cy="1905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9"/>
            </p:blipFill>
            <p:spPr>
              <a:xfrm>
                <a:off x="4902200" y="6394450"/>
                <a:ext cx="2012950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11" name="墨迹 10"/>
              <p14:cNvContentPartPr/>
              <p14:nvPr/>
            </p14:nvContentPartPr>
            <p14:xfrm>
              <a:off x="7029450" y="1866900"/>
              <a:ext cx="1016000" cy="5080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1"/>
            </p:blipFill>
            <p:spPr>
              <a:xfrm>
                <a:off x="7029450" y="1866900"/>
                <a:ext cx="1016000" cy="50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2" name="墨迹 11"/>
              <p14:cNvContentPartPr/>
              <p14:nvPr/>
            </p14:nvContentPartPr>
            <p14:xfrm>
              <a:off x="9144000" y="1841500"/>
              <a:ext cx="361950" cy="1905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3"/>
            </p:blipFill>
            <p:spPr>
              <a:xfrm>
                <a:off x="9144000" y="1841500"/>
                <a:ext cx="361950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3" name="墨迹 12"/>
              <p14:cNvContentPartPr/>
              <p14:nvPr/>
            </p14:nvContentPartPr>
            <p14:xfrm>
              <a:off x="1949450" y="2095500"/>
              <a:ext cx="3251200" cy="1905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5"/>
            </p:blipFill>
            <p:spPr>
              <a:xfrm>
                <a:off x="1949450" y="2095500"/>
                <a:ext cx="3251200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4" name="墨迹 13"/>
              <p14:cNvContentPartPr/>
              <p14:nvPr/>
            </p14:nvContentPartPr>
            <p14:xfrm>
              <a:off x="6457950" y="2101850"/>
              <a:ext cx="863600" cy="3175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17"/>
            </p:blipFill>
            <p:spPr>
              <a:xfrm>
                <a:off x="6457950" y="2101850"/>
                <a:ext cx="863600" cy="3175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3720" y="2236470"/>
            <a:ext cx="7489825" cy="1325880"/>
          </a:xfrm>
        </p:spPr>
        <p:txBody>
          <a:bodyPr/>
          <a:p>
            <a:r>
              <a:rPr lang="zh-CN" altLang="en-US"/>
              <a:t>学思想</a:t>
            </a:r>
            <a:r>
              <a:rPr lang="en-US" altLang="zh-CN"/>
              <a:t> </a:t>
            </a:r>
            <a:r>
              <a:rPr lang="zh-CN" altLang="en-US"/>
              <a:t>强党性</a:t>
            </a:r>
            <a:r>
              <a:rPr lang="en-US" altLang="zh-CN"/>
              <a:t> </a:t>
            </a:r>
            <a:r>
              <a:rPr lang="zh-CN" altLang="en-US">
                <a:highlight>
                  <a:srgbClr val="FFFF00"/>
                </a:highlight>
              </a:rPr>
              <a:t>重实践</a:t>
            </a:r>
            <a:r>
              <a:rPr lang="en-US" altLang="zh-CN"/>
              <a:t> </a:t>
            </a:r>
            <a:r>
              <a:rPr lang="zh-CN" altLang="en-US"/>
              <a:t>建新功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D2EE9F-0071-4EDB-A248-9A4292B6487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591050" cy="1325880"/>
          </a:xfrm>
        </p:spPr>
        <p:txBody>
          <a:bodyPr/>
          <a:lstStyle/>
          <a:p>
            <a:r>
              <a:rPr lang="en-US" altLang="zh-CN"/>
              <a:t>1.5.3 </a:t>
            </a:r>
            <a:r>
              <a:rPr lang="zh-CN" altLang="zh-CN"/>
              <a:t>增量模型</a:t>
            </a:r>
            <a:endParaRPr lang="zh-CN" altLang="zh-CN"/>
          </a:p>
        </p:txBody>
      </p:sp>
      <p:pic>
        <p:nvPicPr>
          <p:cNvPr id="34818" name="Picture 4" descr="T1-5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6691225" y="1656080"/>
            <a:ext cx="5495290" cy="3695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内容占位符 2"/>
          <p:cNvSpPr>
            <a:spLocks noGrp="1"/>
          </p:cNvSpPr>
          <p:nvPr/>
        </p:nvSpPr>
        <p:spPr>
          <a:xfrm>
            <a:off x="838200" y="1368425"/>
            <a:ext cx="5781040" cy="5284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 smtClean="0"/>
              <a:t>把</a:t>
            </a:r>
            <a:r>
              <a:rPr lang="zh-CN" altLang="zh-CN" dirty="0"/>
              <a:t>软件产品作为一系列的</a:t>
            </a:r>
            <a:r>
              <a:rPr lang="zh-CN" altLang="zh-CN" dirty="0">
                <a:solidFill>
                  <a:srgbClr val="0000FF"/>
                </a:solidFill>
              </a:rPr>
              <a:t>增量构件</a:t>
            </a:r>
            <a:r>
              <a:rPr lang="zh-CN" altLang="zh-CN" dirty="0"/>
              <a:t>来设计、编码、集成和</a:t>
            </a:r>
            <a:r>
              <a:rPr lang="zh-CN" altLang="zh-CN" dirty="0" smtClean="0"/>
              <a:t>测试</a:t>
            </a:r>
            <a:r>
              <a:rPr lang="zh-CN" altLang="en-US" dirty="0" smtClean="0"/>
              <a:t>；</a:t>
            </a:r>
            <a:endParaRPr lang="zh-CN" altLang="zh-CN" dirty="0"/>
          </a:p>
          <a:p>
            <a:r>
              <a:rPr lang="zh-CN" altLang="zh-CN" dirty="0"/>
              <a:t>每个构件由多个相互作用的模块组成，且能完成特定</a:t>
            </a:r>
            <a:r>
              <a:rPr lang="zh-CN" altLang="zh-CN" dirty="0" smtClean="0"/>
              <a:t>功能</a:t>
            </a:r>
            <a:r>
              <a:rPr lang="zh-CN" altLang="en-US" dirty="0" smtClean="0"/>
              <a:t>；</a:t>
            </a:r>
            <a:endParaRPr lang="zh-CN" altLang="zh-CN" dirty="0"/>
          </a:p>
          <a:p>
            <a:r>
              <a:rPr lang="zh-CN" altLang="zh-CN" dirty="0">
                <a:solidFill>
                  <a:srgbClr val="0000FF"/>
                </a:solidFill>
              </a:rPr>
              <a:t>第一个增量构件往往实现软件的基本需求，提供最核心的</a:t>
            </a:r>
            <a:r>
              <a:rPr lang="zh-CN" altLang="zh-CN" dirty="0" smtClean="0">
                <a:solidFill>
                  <a:srgbClr val="0000FF"/>
                </a:solidFill>
              </a:rPr>
              <a:t>功能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r>
              <a:rPr lang="zh-CN" altLang="en-US" dirty="0" smtClean="0">
                <a:highlight>
                  <a:srgbClr val="FFFF00"/>
                </a:highlight>
              </a:rPr>
              <a:t>构建第一个构件之前有了总体设计</a:t>
            </a:r>
            <a:r>
              <a:rPr lang="zh-CN" altLang="en-US" dirty="0" smtClean="0"/>
              <a:t>，因此风险较小；</a:t>
            </a:r>
            <a:endParaRPr lang="zh-CN" altLang="zh-CN" dirty="0"/>
          </a:p>
          <a:p>
            <a:r>
              <a:rPr lang="zh-CN" altLang="zh-CN" dirty="0"/>
              <a:t>优点：</a:t>
            </a:r>
            <a:endParaRPr lang="zh-CN" altLang="zh-CN" dirty="0"/>
          </a:p>
          <a:p>
            <a:pPr marL="971550" lvl="1" indent="-514350">
              <a:buFont typeface="+mj-lt"/>
              <a:buAutoNum type="arabicPeriod"/>
            </a:pPr>
            <a:r>
              <a:rPr lang="zh-CN" altLang="en-US" dirty="0"/>
              <a:t>能在较短时间内向用户提交完成部分功能的</a:t>
            </a:r>
            <a:r>
              <a:rPr lang="zh-CN" altLang="en-US" dirty="0" smtClean="0"/>
              <a:t>产品（</a:t>
            </a:r>
            <a:r>
              <a:rPr lang="en-US" altLang="zh-CN" dirty="0" smtClean="0"/>
              <a:t>1.0</a:t>
            </a:r>
            <a:r>
              <a:rPr lang="zh-CN" altLang="en-US" dirty="0" smtClean="0"/>
              <a:t>版本）；</a:t>
            </a:r>
            <a:endParaRPr lang="zh-CN" altLang="en-US" dirty="0"/>
          </a:p>
          <a:p>
            <a:pPr marL="971550" lvl="1" indent="-514350">
              <a:buFont typeface="+mj-lt"/>
              <a:buAutoNum type="arabicPeriod"/>
            </a:pPr>
            <a:r>
              <a:rPr lang="zh-CN" altLang="en-US" dirty="0" smtClean="0"/>
              <a:t>用户</a:t>
            </a:r>
            <a:r>
              <a:rPr lang="zh-CN" altLang="en-US" dirty="0"/>
              <a:t>有充裕的</a:t>
            </a:r>
            <a:r>
              <a:rPr lang="zh-CN" altLang="en-US" dirty="0" smtClean="0"/>
              <a:t>时间学习</a:t>
            </a:r>
            <a:r>
              <a:rPr lang="zh-CN" altLang="en-US" dirty="0"/>
              <a:t>、</a:t>
            </a:r>
            <a:r>
              <a:rPr lang="zh-CN" altLang="en-US" dirty="0" smtClean="0"/>
              <a:t>适应</a:t>
            </a:r>
            <a:r>
              <a:rPr lang="zh-CN" altLang="en-US" dirty="0"/>
              <a:t>新产品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r>
              <a:rPr lang="en-US" altLang="zh-CN" dirty="0"/>
              <a:t>  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6634079" y="783771"/>
            <a:ext cx="2640562" cy="381622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/>
          <p:cNvCxnSpPr>
            <a:stCxn id="4" idx="3"/>
          </p:cNvCxnSpPr>
          <p:nvPr/>
        </p:nvCxnSpPr>
        <p:spPr>
          <a:xfrm flipV="1">
            <a:off x="6619240" y="3776870"/>
            <a:ext cx="180029" cy="23379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5F3D-EE4D-4095-9627-BE77D3E032FC}" type="datetime11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11" name="墨迹 10"/>
              <p14:cNvContentPartPr/>
              <p14:nvPr/>
            </p14:nvContentPartPr>
            <p14:xfrm>
              <a:off x="6006960" y="399960"/>
              <a:ext cx="4096080" cy="301680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3"/>
            </p:blipFill>
            <p:spPr>
              <a:xfrm>
                <a:off x="6006960" y="399960"/>
                <a:ext cx="4096080" cy="3016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6" name="墨迹 5"/>
              <p14:cNvContentPartPr/>
              <p14:nvPr/>
            </p14:nvContentPartPr>
            <p14:xfrm>
              <a:off x="1952640" y="3381480"/>
              <a:ext cx="9739800" cy="126216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5"/>
            </p:blipFill>
            <p:spPr>
              <a:xfrm>
                <a:off x="1952640" y="3381480"/>
                <a:ext cx="9739800" cy="12621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700"/>
            <a:ext cx="10515600" cy="1325563"/>
          </a:xfrm>
        </p:spPr>
        <p:txBody>
          <a:bodyPr/>
          <a:lstStyle/>
          <a:p>
            <a:r>
              <a:rPr lang="zh-CN" altLang="en-US"/>
              <a:t>一种风险更大的增量模型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3884295"/>
            <a:ext cx="10515600" cy="2645410"/>
          </a:xfrm>
        </p:spPr>
        <p:txBody>
          <a:bodyPr>
            <a:normAutofit/>
          </a:bodyPr>
          <a:lstStyle/>
          <a:p>
            <a:endParaRPr lang="en-US" altLang="zh-CN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 smtClean="0"/>
              <a:t>确定</a:t>
            </a:r>
            <a:r>
              <a:rPr lang="zh-CN" altLang="en-US" dirty="0"/>
              <a:t>用户需求后，立即着手第一个</a:t>
            </a:r>
            <a:r>
              <a:rPr lang="zh-CN" altLang="en-US" dirty="0" smtClean="0"/>
              <a:t>构件，然后</a:t>
            </a:r>
            <a:r>
              <a:rPr lang="zh-CN" altLang="en-US" dirty="0">
                <a:sym typeface="+mn-ea"/>
              </a:rPr>
              <a:t>并行开展多个构件；</a:t>
            </a:r>
            <a:endParaRPr lang="zh-CN" altLang="en-US" dirty="0"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FF0000"/>
                </a:solidFill>
                <a:highlight>
                  <a:srgbClr val="FFFF00"/>
                </a:highlight>
              </a:rPr>
              <a:t>隐患</a:t>
            </a:r>
            <a:r>
              <a:rPr lang="zh-CN" altLang="en-US" dirty="0" smtClean="0">
                <a:solidFill>
                  <a:srgbClr val="FF0000"/>
                </a:solidFill>
              </a:rPr>
              <a:t>：建立第一个构件之前，没有总体设计；</a:t>
            </a:r>
            <a:endParaRPr lang="zh-CN" altLang="en-US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风险</a:t>
            </a:r>
            <a:r>
              <a:rPr lang="zh-CN" altLang="en-US" dirty="0">
                <a:solidFill>
                  <a:srgbClr val="FF0000"/>
                </a:solidFill>
              </a:rPr>
              <a:t>：多个构件不能很好地集成到一起。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35843" name="Picture 4" descr="T1-6"/>
          <p:cNvPicPr>
            <a:picLocks noGrp="1" noChangeAspect="1"/>
          </p:cNvPicPr>
          <p:nvPr>
            <p:ph sz="half" idx="2"/>
          </p:nvPr>
        </p:nvPicPr>
        <p:blipFill>
          <a:blip r:embed="rId1"/>
          <a:srcRect/>
          <a:stretch>
            <a:fillRect/>
          </a:stretch>
        </p:blipFill>
        <p:spPr>
          <a:xfrm>
            <a:off x="1698625" y="995045"/>
            <a:ext cx="7781290" cy="2785110"/>
          </a:xfrm>
        </p:spPr>
      </p:pic>
      <p:pic>
        <p:nvPicPr>
          <p:cNvPr id="6" name="Picture 4" descr="T1-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0770" y="972102"/>
            <a:ext cx="8675688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7454-CCBE-4696-B3A9-68F4C22E0D5A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D2EE9F-0071-4EDB-A248-9A4292B6487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1303655" y="1560195"/>
            <a:ext cx="3254375" cy="12839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/>
              <a:t>典型的增量模型</a:t>
            </a:r>
            <a:endParaRPr lang="zh-CN" altLang="en-US" sz="4000"/>
          </a:p>
        </p:txBody>
      </p:sp>
      <p:sp>
        <p:nvSpPr>
          <p:cNvPr id="19" name="圆角矩形 18"/>
          <p:cNvSpPr/>
          <p:nvPr/>
        </p:nvSpPr>
        <p:spPr>
          <a:xfrm>
            <a:off x="6934200" y="986790"/>
            <a:ext cx="4546600" cy="251142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>
                <a:sym typeface="+mn-ea"/>
              </a:rPr>
              <a:t>提前谋划</a:t>
            </a:r>
            <a:endParaRPr lang="zh-CN" altLang="en-US" sz="4000"/>
          </a:p>
          <a:p>
            <a:pPr algn="ctr"/>
            <a:r>
              <a:rPr lang="zh-CN" altLang="en-US" sz="4000">
                <a:sym typeface="+mn-ea"/>
              </a:rPr>
              <a:t>逐个攻坚</a:t>
            </a:r>
            <a:endParaRPr lang="zh-CN" altLang="en-US" sz="4000"/>
          </a:p>
          <a:p>
            <a:pPr algn="ctr"/>
            <a:r>
              <a:rPr lang="zh-CN" altLang="en-US" sz="4000"/>
              <a:t>稳扎稳打</a:t>
            </a:r>
            <a:endParaRPr lang="zh-CN" altLang="en-US" sz="4000"/>
          </a:p>
          <a:p>
            <a:pPr algn="ctr"/>
            <a:r>
              <a:rPr lang="zh-CN" altLang="en-US" sz="4000"/>
              <a:t>胸有成竹</a:t>
            </a:r>
            <a:endParaRPr lang="zh-CN" altLang="en-US" sz="4000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4558030" y="2171700"/>
            <a:ext cx="2376170" cy="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1303655" y="3633470"/>
            <a:ext cx="10112375" cy="2642870"/>
            <a:chOff x="2053" y="5722"/>
            <a:chExt cx="15925" cy="4162"/>
          </a:xfrm>
        </p:grpSpPr>
        <p:cxnSp>
          <p:nvCxnSpPr>
            <p:cNvPr id="16" name="直接箭头连接符 15"/>
            <p:cNvCxnSpPr/>
            <p:nvPr/>
          </p:nvCxnSpPr>
          <p:spPr>
            <a:xfrm>
              <a:off x="7178" y="7120"/>
              <a:ext cx="3742" cy="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圆角矩形 5"/>
            <p:cNvSpPr/>
            <p:nvPr/>
          </p:nvSpPr>
          <p:spPr>
            <a:xfrm>
              <a:off x="2053" y="6392"/>
              <a:ext cx="5125" cy="202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4000"/>
                <a:t>风险更大</a:t>
              </a:r>
              <a:r>
                <a:rPr lang="zh-CN" altLang="en-US" sz="4000"/>
                <a:t>的增量模型</a:t>
              </a:r>
              <a:endParaRPr lang="zh-CN" altLang="en-US" sz="4000"/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10920" y="5722"/>
              <a:ext cx="7059" cy="4162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4000"/>
                <a:t>草率行事</a:t>
              </a:r>
              <a:endParaRPr lang="zh-CN" altLang="en-US" sz="4000"/>
            </a:p>
            <a:p>
              <a:pPr algn="ctr"/>
              <a:r>
                <a:rPr lang="zh-CN" altLang="en-US" sz="4000"/>
                <a:t>精力分散</a:t>
              </a:r>
              <a:endParaRPr lang="zh-CN" altLang="en-US" sz="4000"/>
            </a:p>
            <a:p>
              <a:pPr algn="ctr"/>
              <a:r>
                <a:rPr lang="zh-CN" altLang="en-US" sz="4000"/>
                <a:t>泛而不精</a:t>
              </a:r>
              <a:endParaRPr lang="zh-CN" altLang="en-US" sz="4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435340" cy="1325880"/>
          </a:xfrm>
        </p:spPr>
        <p:txBody>
          <a:bodyPr/>
          <a:p>
            <a:r>
              <a:rPr lang="zh-CN" altLang="en-US"/>
              <a:t>能否举一个典型增量模型的例子？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D2EE9F-0071-4EDB-A248-9A4292B6487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56815" y="1631315"/>
            <a:ext cx="6662420" cy="462407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以</a:t>
            </a:r>
            <a:r>
              <a:rPr lang="en-US" altLang="zh-CN"/>
              <a:t>QQ</a:t>
            </a:r>
            <a:r>
              <a:rPr lang="zh-CN" altLang="en-US"/>
              <a:t>为例，建立增量模型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增量</a:t>
            </a:r>
            <a:r>
              <a:rPr lang="en-US" altLang="zh-CN"/>
              <a:t>1</a:t>
            </a:r>
            <a:r>
              <a:rPr lang="zh-CN" altLang="en-US"/>
              <a:t>：文本、语音聊天（构件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增量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QQ</a:t>
            </a:r>
            <a:r>
              <a:rPr lang="zh-CN" altLang="en-US"/>
              <a:t>群</a:t>
            </a:r>
            <a:r>
              <a:rPr lang="zh-CN" altLang="en-US">
                <a:sym typeface="+mn-ea"/>
              </a:rPr>
              <a:t>（构件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增量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QQ</a:t>
            </a:r>
            <a:r>
              <a:rPr lang="zh-CN" altLang="en-US"/>
              <a:t>空间</a:t>
            </a:r>
            <a:r>
              <a:rPr lang="zh-CN" altLang="en-US">
                <a:sym typeface="+mn-ea"/>
              </a:rPr>
              <a:t>（构件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增量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QQ</a:t>
            </a:r>
            <a:r>
              <a:rPr lang="zh-CN" altLang="en-US">
                <a:sym typeface="+mn-ea"/>
              </a:rPr>
              <a:t>邮箱</a:t>
            </a:r>
            <a:r>
              <a:rPr lang="zh-CN" altLang="en-US">
                <a:sym typeface="+mn-ea"/>
              </a:rPr>
              <a:t>（构件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增量</a:t>
            </a:r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QQ</a:t>
            </a:r>
            <a:r>
              <a:rPr lang="zh-CN" altLang="en-US">
                <a:sym typeface="+mn-ea"/>
              </a:rPr>
              <a:t>钱包</a:t>
            </a:r>
            <a:r>
              <a:rPr lang="zh-CN" altLang="en-US">
                <a:sym typeface="+mn-ea"/>
              </a:rPr>
              <a:t>（构件</a:t>
            </a:r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en-US" altLang="zh-CN"/>
              <a:t>......</a:t>
            </a:r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D2EE9F-0071-4EDB-A248-9A4292B6487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D2EE9F-0071-4EDB-A248-9A4292B6487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818515" y="1323340"/>
            <a:ext cx="10351770" cy="4098290"/>
            <a:chOff x="2428" y="1387"/>
            <a:chExt cx="16302" cy="6454"/>
          </a:xfrm>
        </p:grpSpPr>
        <p:sp>
          <p:nvSpPr>
            <p:cNvPr id="17" name="圆角矩形 16"/>
            <p:cNvSpPr/>
            <p:nvPr/>
          </p:nvSpPr>
          <p:spPr>
            <a:xfrm>
              <a:off x="2428" y="3547"/>
              <a:ext cx="5125" cy="202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4000"/>
                <a:t>手机功能</a:t>
              </a:r>
              <a:r>
                <a:rPr lang="en-US" altLang="zh-CN" sz="4000"/>
                <a:t>......</a:t>
              </a:r>
              <a:endParaRPr lang="en-US" altLang="zh-CN" sz="4000"/>
            </a:p>
          </p:txBody>
        </p:sp>
        <p:cxnSp>
          <p:nvCxnSpPr>
            <p:cNvPr id="20" name="直接箭头连接符 19"/>
            <p:cNvCxnSpPr/>
            <p:nvPr/>
          </p:nvCxnSpPr>
          <p:spPr>
            <a:xfrm flipV="1">
              <a:off x="7553" y="2842"/>
              <a:ext cx="2477" cy="1716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圆角矩形 5"/>
            <p:cNvSpPr/>
            <p:nvPr/>
          </p:nvSpPr>
          <p:spPr>
            <a:xfrm>
              <a:off x="10030" y="1387"/>
              <a:ext cx="8700" cy="227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4000"/>
                <a:t>做手机的奴隶</a:t>
              </a:r>
              <a:r>
                <a:rPr lang="en-US" altLang="zh-CN" sz="4000"/>
                <a:t>/</a:t>
              </a:r>
              <a:r>
                <a:rPr lang="zh-CN" altLang="en-US" sz="4000"/>
                <a:t>性能验证者</a:t>
              </a:r>
              <a:endParaRPr lang="zh-CN" altLang="en-US" sz="4000"/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10030" y="5569"/>
              <a:ext cx="8700" cy="227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4000"/>
                <a:t>手机为己所用，只是工具</a:t>
              </a:r>
              <a:endParaRPr lang="zh-CN" sz="4000"/>
            </a:p>
          </p:txBody>
        </p:sp>
        <p:cxnSp>
          <p:nvCxnSpPr>
            <p:cNvPr id="8" name="直接箭头连接符 7"/>
            <p:cNvCxnSpPr/>
            <p:nvPr/>
          </p:nvCxnSpPr>
          <p:spPr>
            <a:xfrm>
              <a:off x="7553" y="5375"/>
              <a:ext cx="2441" cy="1204"/>
            </a:xfrm>
            <a:prstGeom prst="straightConnector1">
              <a:avLst/>
            </a:prstGeom>
            <a:ln w="635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144010" cy="1325880"/>
          </a:xfrm>
        </p:spPr>
        <p:txBody>
          <a:bodyPr/>
          <a:lstStyle/>
          <a:p>
            <a:r>
              <a:rPr lang="en-US" altLang="zh-CN"/>
              <a:t>1.5.4 </a:t>
            </a:r>
            <a:r>
              <a:rPr lang="zh-CN" altLang="en-US"/>
              <a:t>螺旋模型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2410"/>
            <a:ext cx="5791835" cy="467487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看作每个阶段前都增加了</a:t>
            </a:r>
            <a:r>
              <a:rPr lang="zh-CN" altLang="en-US" dirty="0">
                <a:solidFill>
                  <a:srgbClr val="0000FF"/>
                </a:solidFill>
              </a:rPr>
              <a:t>风险分析</a:t>
            </a:r>
            <a:r>
              <a:rPr lang="zh-CN" altLang="en-US" dirty="0"/>
              <a:t>的快速原型模型 （</a:t>
            </a:r>
            <a:r>
              <a:rPr lang="zh-CN" altLang="en-US" dirty="0">
                <a:highlight>
                  <a:srgbClr val="FFFF00"/>
                </a:highlight>
              </a:rPr>
              <a:t>风险驱动的</a:t>
            </a:r>
            <a:r>
              <a:rPr lang="zh-CN" altLang="en-US" dirty="0" smtClean="0"/>
              <a:t>）；</a:t>
            </a:r>
            <a:endParaRPr lang="zh-CN" altLang="en-US" dirty="0"/>
          </a:p>
          <a:p>
            <a:r>
              <a:rPr lang="zh-CN" altLang="en-US" dirty="0"/>
              <a:t>软件开发人员需具有</a:t>
            </a:r>
            <a:r>
              <a:rPr lang="zh-CN" altLang="en-US" dirty="0">
                <a:solidFill>
                  <a:srgbClr val="0000FF"/>
                </a:solidFill>
              </a:rPr>
              <a:t>丰富的风险评估</a:t>
            </a:r>
            <a:r>
              <a:rPr lang="zh-CN" altLang="en-US" dirty="0" smtClean="0">
                <a:solidFill>
                  <a:srgbClr val="0000FF"/>
                </a:solidFill>
              </a:rPr>
              <a:t>经验</a:t>
            </a:r>
            <a:r>
              <a:rPr lang="zh-CN" altLang="en-US" dirty="0" smtClean="0"/>
              <a:t>；</a:t>
            </a:r>
            <a:endParaRPr lang="zh-CN" altLang="en-US" dirty="0"/>
          </a:p>
          <a:p>
            <a:r>
              <a:rPr lang="zh-CN" altLang="en-US" dirty="0"/>
              <a:t>适用于</a:t>
            </a:r>
            <a:r>
              <a:rPr lang="zh-CN" altLang="en-US" dirty="0">
                <a:solidFill>
                  <a:srgbClr val="0000FF"/>
                </a:solidFill>
              </a:rPr>
              <a:t>内部开发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大规模</a:t>
            </a:r>
            <a:r>
              <a:rPr lang="zh-CN" altLang="en-US" dirty="0" smtClean="0"/>
              <a:t>软件</a:t>
            </a:r>
            <a:endParaRPr lang="zh-CN" altLang="en-US" dirty="0"/>
          </a:p>
          <a:p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内部开发：风险太大，便于中止。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大规模：小规模软件，不值得或没必要</a:t>
            </a:r>
            <a:r>
              <a:rPr lang="zh-CN" altLang="en-US" dirty="0"/>
              <a:t>进行风险分析。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36867" name="Picture 4" descr="T1-7"/>
          <p:cNvPicPr>
            <a:picLocks noGrp="1" noChangeAspect="1"/>
          </p:cNvPicPr>
          <p:nvPr>
            <p:ph sz="half" idx="2"/>
          </p:nvPr>
        </p:nvPicPr>
        <p:blipFill>
          <a:blip r:embed="rId1"/>
          <a:srcRect/>
          <a:stretch>
            <a:fillRect/>
          </a:stretch>
        </p:blipFill>
        <p:spPr>
          <a:xfrm>
            <a:off x="6934835" y="659130"/>
            <a:ext cx="4195445" cy="5605145"/>
          </a:xfrm>
        </p:spPr>
      </p:pic>
      <p:pic>
        <p:nvPicPr>
          <p:cNvPr id="7" name="Picture 4" descr="T1-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62185" y="490855"/>
            <a:ext cx="4373563" cy="5843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673C-6AEF-4CBB-9AF2-85BC980849B9}" type="datetime11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6" name="墨迹 5"/>
              <p14:cNvContentPartPr/>
              <p14:nvPr/>
            </p14:nvContentPartPr>
            <p14:xfrm>
              <a:off x="1654920" y="464400"/>
              <a:ext cx="9025200" cy="600120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3"/>
            </p:blipFill>
            <p:spPr>
              <a:xfrm>
                <a:off x="1654920" y="464400"/>
                <a:ext cx="9025200" cy="600120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37890" name="Picture 4" descr="T1-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60134" y="0"/>
            <a:ext cx="6914495" cy="6861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F07AD-5EFF-4E77-A766-271CBAEFF870}" type="datetime11">
              <a:rPr lang="zh-CN" altLang="en-US" smtClean="0"/>
            </a:fld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3727175" y="3011557"/>
            <a:ext cx="218660" cy="17890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5" name="墨迹 4"/>
              <p14:cNvContentPartPr/>
              <p14:nvPr/>
            </p14:nvContentPartPr>
            <p14:xfrm>
              <a:off x="2298600" y="914400"/>
              <a:ext cx="6229800" cy="120060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3"/>
            </p:blipFill>
            <p:spPr>
              <a:xfrm>
                <a:off x="2298600" y="914400"/>
                <a:ext cx="6229800" cy="1200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6" name="墨迹 5"/>
              <p14:cNvContentPartPr/>
              <p14:nvPr/>
            </p14:nvContentPartPr>
            <p14:xfrm>
              <a:off x="8362800" y="3619440"/>
              <a:ext cx="381600" cy="73080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5"/>
            </p:blipFill>
            <p:spPr>
              <a:xfrm>
                <a:off x="8362800" y="3619440"/>
                <a:ext cx="381600" cy="730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7" name="墨迹 6"/>
              <p14:cNvContentPartPr/>
              <p14:nvPr/>
            </p14:nvContentPartPr>
            <p14:xfrm>
              <a:off x="1638360" y="3740040"/>
              <a:ext cx="781200" cy="111168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7"/>
            </p:blipFill>
            <p:spPr>
              <a:xfrm>
                <a:off x="1638360" y="3740040"/>
                <a:ext cx="781200" cy="11116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9" name="墨迹 8"/>
              <p14:cNvContentPartPr/>
              <p14:nvPr/>
            </p14:nvContentPartPr>
            <p14:xfrm>
              <a:off x="4845960" y="2548080"/>
              <a:ext cx="3488760" cy="294120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9"/>
            </p:blipFill>
            <p:spPr>
              <a:xfrm>
                <a:off x="4845960" y="2548080"/>
                <a:ext cx="3488760" cy="2941200"/>
              </a:xfrm>
              <a:prstGeom prst="rect"/>
            </p:spPr>
          </p:pic>
        </mc:Fallback>
      </mc:AlternateContent>
      <p:sp>
        <p:nvSpPr>
          <p:cNvPr id="10" name="矩形标注 9"/>
          <p:cNvSpPr/>
          <p:nvPr/>
        </p:nvSpPr>
        <p:spPr>
          <a:xfrm>
            <a:off x="9136380" y="2115185"/>
            <a:ext cx="2807335" cy="726440"/>
          </a:xfrm>
          <a:prstGeom prst="wedgeRectCallout">
            <a:avLst>
              <a:gd name="adj1" fmla="val -82814"/>
              <a:gd name="adj2" fmla="val 3924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各模块无具体实现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D2EE9F-0071-4EDB-A248-9A4292B6487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1303655" y="1668780"/>
            <a:ext cx="10177145" cy="2135505"/>
            <a:chOff x="2053" y="2538"/>
            <a:chExt cx="16027" cy="3363"/>
          </a:xfrm>
        </p:grpSpPr>
        <p:sp>
          <p:nvSpPr>
            <p:cNvPr id="10" name="圆角矩形 9"/>
            <p:cNvSpPr/>
            <p:nvPr/>
          </p:nvSpPr>
          <p:spPr>
            <a:xfrm>
              <a:off x="2053" y="2867"/>
              <a:ext cx="5125" cy="202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4000"/>
                <a:t>螺旋</a:t>
              </a:r>
              <a:r>
                <a:rPr lang="zh-CN" altLang="en-US" sz="4000"/>
                <a:t>模型</a:t>
              </a:r>
              <a:endParaRPr lang="zh-CN" altLang="en-US" sz="4000"/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10920" y="2538"/>
              <a:ext cx="7160" cy="3363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4000"/>
                <a:t>稳扎稳打</a:t>
              </a:r>
              <a:endParaRPr lang="zh-CN" altLang="en-US" sz="4000"/>
            </a:p>
            <a:p>
              <a:pPr algn="ctr"/>
              <a:r>
                <a:rPr lang="zh-CN" altLang="en-US" sz="4000"/>
                <a:t>步步为营</a:t>
              </a:r>
              <a:endParaRPr lang="zh-CN" altLang="en-US" sz="4000"/>
            </a:p>
            <a:p>
              <a:pPr algn="ctr"/>
              <a:r>
                <a:rPr lang="zh-CN" altLang="en-US" sz="4000"/>
                <a:t>持续迭代</a:t>
              </a:r>
              <a:endParaRPr lang="zh-CN" altLang="en-US" sz="4000"/>
            </a:p>
          </p:txBody>
        </p:sp>
        <p:cxnSp>
          <p:nvCxnSpPr>
            <p:cNvPr id="12" name="直接箭头连接符 11"/>
            <p:cNvCxnSpPr/>
            <p:nvPr/>
          </p:nvCxnSpPr>
          <p:spPr>
            <a:xfrm>
              <a:off x="7178" y="4034"/>
              <a:ext cx="3742" cy="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819650" cy="1325880"/>
          </a:xfrm>
        </p:spPr>
        <p:txBody>
          <a:bodyPr/>
          <a:lstStyle/>
          <a:p>
            <a:r>
              <a:rPr lang="en-US" altLang="zh-CN"/>
              <a:t>1.5.5 </a:t>
            </a:r>
            <a:r>
              <a:rPr lang="zh-CN" altLang="en-US"/>
              <a:t>喷泉模型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224790" y="1470025"/>
            <a:ext cx="5432425" cy="487616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典型的</a:t>
            </a:r>
            <a:r>
              <a:rPr lang="zh-CN" altLang="en-US" dirty="0">
                <a:solidFill>
                  <a:srgbClr val="0000FF"/>
                </a:solidFill>
              </a:rPr>
              <a:t>面向对象</a:t>
            </a:r>
            <a:r>
              <a:rPr lang="zh-CN" altLang="en-US" dirty="0"/>
              <a:t>的软件过程模型</a:t>
            </a:r>
            <a:endParaRPr lang="zh-CN" altLang="en-US" dirty="0"/>
          </a:p>
          <a:p>
            <a:r>
              <a:rPr lang="zh-CN" altLang="en-US" dirty="0"/>
              <a:t>迭代（或求精）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软件的某个部分常常被工作多次，相关对象在每次迭代中加入更新的软件成分。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 smtClean="0">
                <a:solidFill>
                  <a:srgbClr val="FF0000"/>
                </a:solidFill>
              </a:rPr>
              <a:t>喷泉可能</a:t>
            </a:r>
            <a:r>
              <a:rPr lang="zh-CN" altLang="en-US" dirty="0">
                <a:solidFill>
                  <a:srgbClr val="FF0000"/>
                </a:solidFill>
              </a:rPr>
              <a:t>落回任何</a:t>
            </a:r>
            <a:r>
              <a:rPr lang="zh-CN" altLang="en-US" dirty="0" smtClean="0">
                <a:solidFill>
                  <a:srgbClr val="FF0000"/>
                </a:solidFill>
              </a:rPr>
              <a:t>位置 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dirty="0" smtClean="0"/>
              <a:t>（对应地，修改前期工作）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zh-CN" dirty="0"/>
              <a:t>各阶段</a:t>
            </a:r>
            <a:r>
              <a:rPr lang="en-US" altLang="zh-CN" dirty="0"/>
              <a:t>“</a:t>
            </a:r>
            <a:r>
              <a:rPr lang="zh-CN" altLang="en-US" dirty="0"/>
              <a:t>无缝</a:t>
            </a:r>
            <a:r>
              <a:rPr lang="en-US" altLang="zh-CN" dirty="0"/>
              <a:t>”</a:t>
            </a:r>
            <a:r>
              <a:rPr lang="zh-CN" altLang="en-US" dirty="0"/>
              <a:t>连接</a:t>
            </a:r>
            <a:endParaRPr lang="zh-CN" altLang="en-US" dirty="0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无明显界限，比如分析与设计阶段</a:t>
            </a:r>
            <a:endParaRPr lang="zh-CN" altLang="en-US" dirty="0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1256" name="Picture 23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615" y="1051560"/>
            <a:ext cx="3181985" cy="517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83E6-980A-4F55-B6B5-B6EABE9086E9}" type="datetime11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NxRnV4OXSCMPK4W5jQBzHLsKSKC96GmorXWarywrtVJ1UWbsHlImJi6BIrayKM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1348740"/>
            <a:ext cx="3582035" cy="47758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D2EE9F-0071-4EDB-A248-9A4292B6487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46430" y="965200"/>
            <a:ext cx="3254375" cy="12839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/>
              <a:t>喷泉</a:t>
            </a:r>
            <a:r>
              <a:rPr lang="zh-CN" altLang="en-US" sz="4000"/>
              <a:t>模型</a:t>
            </a:r>
            <a:endParaRPr lang="zh-CN" altLang="en-US" sz="4000"/>
          </a:p>
        </p:txBody>
      </p:sp>
      <p:sp>
        <p:nvSpPr>
          <p:cNvPr id="11" name="圆角矩形 10"/>
          <p:cNvSpPr/>
          <p:nvPr/>
        </p:nvSpPr>
        <p:spPr>
          <a:xfrm>
            <a:off x="646430" y="4223385"/>
            <a:ext cx="3254400" cy="12852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/>
              <a:t>持续改进</a:t>
            </a:r>
            <a:endParaRPr lang="zh-CN" altLang="en-US" sz="4000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2182495" y="2249170"/>
            <a:ext cx="29845" cy="196088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3900805" y="2797810"/>
            <a:ext cx="2005965" cy="2089785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对象 1"/>
          <p:cNvGraphicFramePr/>
          <p:nvPr>
            <p:custDataLst>
              <p:tags r:id="rId1"/>
            </p:custDataLst>
          </p:nvPr>
        </p:nvGraphicFramePr>
        <p:xfrm>
          <a:off x="5998210" y="1761490"/>
          <a:ext cx="4937760" cy="2936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2" imgW="4933950" imgH="2933700" progId="Paint.Picture">
                  <p:embed/>
                </p:oleObj>
              </mc:Choice>
              <mc:Fallback>
                <p:oleObj name="" r:id="rId2" imgW="4933950" imgH="293370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98210" y="1761490"/>
                        <a:ext cx="4937760" cy="2936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1.5.6 Rational</a:t>
            </a:r>
            <a:r>
              <a:rPr lang="zh-CN" altLang="en-US" dirty="0"/>
              <a:t>统一</a:t>
            </a:r>
            <a:r>
              <a:rPr lang="zh-CN" altLang="en-US" dirty="0" smtClean="0"/>
              <a:t>过程 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FF0000"/>
                </a:solidFill>
              </a:rPr>
              <a:t>了解，自学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16685"/>
            <a:ext cx="11043920" cy="5102860"/>
          </a:xfrm>
        </p:spPr>
        <p:txBody>
          <a:bodyPr/>
          <a:lstStyle/>
          <a:p>
            <a:pPr marL="0" indent="0">
              <a:buNone/>
            </a:pPr>
            <a:r>
              <a:rPr lang="en-US" altLang="zh-CN"/>
              <a:t>RUP: Rational Unified Process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RUP</a:t>
            </a:r>
            <a:r>
              <a:rPr lang="zh-CN" altLang="en-US"/>
              <a:t>软件开发经验 （</a:t>
            </a:r>
            <a:r>
              <a:rPr lang="en-US" altLang="zh-CN"/>
              <a:t>“</a:t>
            </a:r>
            <a:r>
              <a:rPr lang="zh-CN" altLang="en-US"/>
              <a:t>最佳实践</a:t>
            </a:r>
            <a:r>
              <a:rPr lang="en-US" altLang="zh-CN"/>
              <a:t>”</a:t>
            </a:r>
            <a:r>
              <a:rPr lang="zh-CN" altLang="en-US"/>
              <a:t>，所谓</a:t>
            </a:r>
            <a:r>
              <a:rPr lang="en-US" altLang="zh-CN"/>
              <a:t>“实践出真知”</a:t>
            </a:r>
            <a:r>
              <a:rPr lang="zh-CN" altLang="en-US"/>
              <a:t>）</a:t>
            </a:r>
            <a:endParaRPr lang="zh-CN" altLang="en-US"/>
          </a:p>
          <a:p>
            <a:pPr marL="514350" indent="-514350">
              <a:buAutoNum type="arabicPeriod"/>
            </a:pPr>
            <a:r>
              <a:rPr lang="zh-CN" altLang="en-US"/>
              <a:t>迭代式开发 （</a:t>
            </a:r>
            <a:r>
              <a:rPr lang="zh-CN" altLang="en-US">
                <a:solidFill>
                  <a:srgbClr val="0000FF"/>
                </a:solidFill>
              </a:rPr>
              <a:t>由于软件的复杂性，开发过程需细化、反复、求精</a:t>
            </a:r>
            <a:r>
              <a:rPr lang="zh-CN" altLang="en-US"/>
              <a:t>）</a:t>
            </a:r>
            <a:endParaRPr lang="zh-CN" altLang="en-US"/>
          </a:p>
          <a:p>
            <a:pPr marL="514350" indent="-514350">
              <a:buAutoNum type="arabicPeriod"/>
            </a:pPr>
            <a:r>
              <a:rPr lang="zh-CN" altLang="en-US"/>
              <a:t>管理需求 （</a:t>
            </a:r>
            <a:r>
              <a:rPr lang="zh-CN" altLang="en-US">
                <a:solidFill>
                  <a:srgbClr val="0000FF"/>
                </a:solidFill>
              </a:rPr>
              <a:t>客户需求不断变化</a:t>
            </a:r>
            <a:r>
              <a:rPr lang="zh-CN" altLang="en-US"/>
              <a:t>）</a:t>
            </a:r>
            <a:endParaRPr lang="zh-CN" altLang="en-US"/>
          </a:p>
          <a:p>
            <a:pPr marL="514350" indent="-514350">
              <a:buAutoNum type="arabicPeriod"/>
            </a:pPr>
            <a:r>
              <a:rPr lang="zh-CN" altLang="en-US"/>
              <a:t>使用基于构件的体系结构 （</a:t>
            </a:r>
            <a:r>
              <a:rPr lang="zh-CN" altLang="en-US">
                <a:solidFill>
                  <a:srgbClr val="0000FF"/>
                </a:solidFill>
              </a:rPr>
              <a:t>或许第三方提供构件、实现软件重用</a:t>
            </a:r>
            <a:r>
              <a:rPr lang="zh-CN" altLang="en-US"/>
              <a:t>）</a:t>
            </a:r>
            <a:endParaRPr lang="zh-CN" altLang="en-US"/>
          </a:p>
          <a:p>
            <a:pPr marL="514350" indent="-514350">
              <a:buAutoNum type="arabicPeriod"/>
            </a:pPr>
            <a:r>
              <a:rPr lang="zh-CN" altLang="en-US"/>
              <a:t>可视化建模 （</a:t>
            </a:r>
            <a:r>
              <a:rPr lang="zh-CN" altLang="en-US">
                <a:solidFill>
                  <a:srgbClr val="0000FF"/>
                </a:solidFill>
              </a:rPr>
              <a:t>帮助理解</a:t>
            </a:r>
            <a:r>
              <a:rPr lang="zh-CN" altLang="en-US"/>
              <a:t>）</a:t>
            </a:r>
            <a:endParaRPr lang="zh-CN" altLang="en-US"/>
          </a:p>
          <a:p>
            <a:pPr marL="514350" indent="-514350">
              <a:buAutoNum type="arabicPeriod"/>
            </a:pPr>
            <a:r>
              <a:rPr lang="zh-CN" altLang="en-US"/>
              <a:t>贯穿于开发过程的软件质量</a:t>
            </a:r>
            <a:r>
              <a:rPr lang="zh-CN" altLang="en-US">
                <a:sym typeface="+mn-ea"/>
              </a:rPr>
              <a:t>验证 （</a:t>
            </a:r>
            <a:r>
              <a:rPr lang="zh-CN" altLang="en-US">
                <a:solidFill>
                  <a:srgbClr val="0000FF"/>
                </a:solidFill>
                <a:sym typeface="+mn-ea"/>
              </a:rPr>
              <a:t>质量保障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marL="514350" indent="-514350">
              <a:buAutoNum type="arabicPeriod"/>
            </a:pPr>
            <a:r>
              <a:rPr lang="zh-CN" altLang="en-US"/>
              <a:t>控制软件变更 （</a:t>
            </a:r>
            <a:r>
              <a:rPr lang="zh-CN" altLang="en-US">
                <a:solidFill>
                  <a:srgbClr val="0000FF"/>
                </a:solidFill>
              </a:rPr>
              <a:t>每个修改可接受、可跟踪</a:t>
            </a:r>
            <a:r>
              <a:rPr lang="zh-CN" altLang="en-US"/>
              <a:t>）</a:t>
            </a:r>
            <a:endParaRPr lang="zh-CN" altLang="en-US"/>
          </a:p>
          <a:p>
            <a:pPr marL="514350" indent="-514350">
              <a:buAutoNum type="arabicPeriod"/>
            </a:pPr>
            <a:endParaRPr lang="zh-CN" altLang="en-US"/>
          </a:p>
          <a:p>
            <a:pPr marL="514350" indent="-514350">
              <a:buAutoNum type="arabicPeriod"/>
            </a:pPr>
            <a:endParaRPr lang="zh-CN" altLang="en-US"/>
          </a:p>
          <a:p>
            <a:pPr marL="514350" indent="-514350">
              <a:buAutoNum type="arabicPeriod"/>
            </a:pPr>
            <a:endParaRPr lang="zh-CN" altLang="en-US"/>
          </a:p>
          <a:p>
            <a:pPr marL="514350" indent="-514350">
              <a:buAutoNum type="arabicPeriod"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0C443-BE11-46C0-BCE4-62315261A925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1.5.7 </a:t>
            </a:r>
            <a:r>
              <a:rPr lang="zh-CN" altLang="en-US" dirty="0"/>
              <a:t>敏捷过程与极限</a:t>
            </a:r>
            <a:r>
              <a:rPr lang="zh-CN" altLang="en-US" dirty="0" smtClean="0"/>
              <a:t>编程 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FF0000"/>
                </a:solidFill>
              </a:rPr>
              <a:t>了解，自学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34465"/>
            <a:ext cx="8658225" cy="5113020"/>
          </a:xfrm>
        </p:spPr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敏捷</a:t>
            </a:r>
            <a:r>
              <a:rPr lang="zh-CN" altLang="en-US"/>
              <a:t>过程（具有高效工作和</a:t>
            </a:r>
            <a:r>
              <a:rPr lang="zh-CN" altLang="en-US">
                <a:solidFill>
                  <a:srgbClr val="0000FF"/>
                </a:solidFill>
              </a:rPr>
              <a:t>快速响应</a:t>
            </a:r>
            <a:r>
              <a:rPr lang="zh-CN" altLang="en-US"/>
              <a:t>变化的能力）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四个价值观声明：</a:t>
            </a:r>
            <a:endParaRPr lang="zh-CN" altLang="en-US"/>
          </a:p>
          <a:p>
            <a:pPr marL="1428750" lvl="2" indent="-514350">
              <a:buAutoNum type="arabicPeriod"/>
            </a:pPr>
            <a:r>
              <a:rPr lang="zh-CN" altLang="en-US"/>
              <a:t>个体和交互胜过过程和工具 （开发团队的构建及成员间沟通）；</a:t>
            </a:r>
            <a:endParaRPr lang="zh-CN" altLang="en-US"/>
          </a:p>
          <a:p>
            <a:pPr marL="1428750" lvl="2" indent="-514350">
              <a:buAutoNum type="arabicPeriod"/>
            </a:pPr>
            <a:r>
              <a:rPr lang="zh-CN" altLang="en-US"/>
              <a:t>可以工作的软件胜过面面俱到的文档；</a:t>
            </a:r>
            <a:endParaRPr lang="zh-CN" altLang="en-US"/>
          </a:p>
          <a:p>
            <a:pPr marL="1428750" lvl="2" indent="-514350">
              <a:buAutoNum type="arabicPeriod"/>
            </a:pPr>
            <a:r>
              <a:rPr lang="zh-CN" altLang="en-US"/>
              <a:t>（开发团队与）客户合作胜过合同谈判；</a:t>
            </a:r>
            <a:endParaRPr lang="zh-CN" altLang="en-US"/>
          </a:p>
          <a:p>
            <a:pPr marL="1428750" lvl="2" indent="-514350">
              <a:buAutoNum type="arabicPeriod"/>
            </a:pPr>
            <a:r>
              <a:rPr lang="zh-CN" altLang="en-US"/>
              <a:t>响应变化胜过遵循计划。</a:t>
            </a:r>
            <a:endParaRPr lang="zh-CN" altLang="en-US"/>
          </a:p>
          <a:p>
            <a:pPr marL="514350" indent="-514350">
              <a:buAutoNum type="arabicPeriod"/>
            </a:pPr>
            <a:endParaRPr lang="zh-CN" altLang="en-US"/>
          </a:p>
          <a:p>
            <a:r>
              <a:rPr lang="zh-CN" altLang="en-US">
                <a:solidFill>
                  <a:srgbClr val="0000FF"/>
                </a:solidFill>
              </a:rPr>
              <a:t>极限</a:t>
            </a:r>
            <a:r>
              <a:rPr lang="zh-CN" altLang="en-US"/>
              <a:t>编程</a:t>
            </a:r>
            <a:endParaRPr lang="zh-CN" altLang="en-US"/>
          </a:p>
          <a:p>
            <a:pPr marL="1371600" lvl="2" indent="-457200">
              <a:buFont typeface="Wingdings" panose="05000000000000000000" charset="0"/>
              <a:buChar char="ü"/>
            </a:pPr>
            <a:r>
              <a:rPr lang="zh-CN" altLang="en-US"/>
              <a:t>敏捷过程中最著名的一种</a:t>
            </a:r>
            <a:endParaRPr lang="zh-CN" altLang="en-US"/>
          </a:p>
          <a:p>
            <a:pPr marL="1371600" lvl="2" indent="-457200">
              <a:buFont typeface="Wingdings" panose="05000000000000000000" charset="0"/>
              <a:buChar char="ü"/>
            </a:pPr>
            <a:r>
              <a:rPr lang="zh-CN" altLang="en-US"/>
              <a:t>好的开发实践运用到</a:t>
            </a:r>
            <a:r>
              <a:rPr lang="zh-CN" altLang="en-US">
                <a:solidFill>
                  <a:srgbClr val="0000FF"/>
                </a:solidFill>
              </a:rPr>
              <a:t>极致</a:t>
            </a:r>
            <a:endParaRPr lang="zh-CN" altLang="en-US">
              <a:solidFill>
                <a:srgbClr val="0000FF"/>
              </a:solidFill>
            </a:endParaRPr>
          </a:p>
          <a:p>
            <a:pPr marL="1371600" lvl="2" indent="-457200">
              <a:buFont typeface="Wingdings" panose="05000000000000000000" charset="0"/>
              <a:buChar char="ü"/>
            </a:pPr>
            <a:r>
              <a:rPr lang="zh-CN" altLang="en-US"/>
              <a:t>广泛应用于需求模糊的场合</a:t>
            </a:r>
            <a:endParaRPr lang="zh-CN" altLang="en-US"/>
          </a:p>
          <a:p>
            <a:pPr marL="457200" indent="-457200">
              <a:buFont typeface="Wingdings" panose="05000000000000000000" charset="0"/>
              <a:buChar char="ü"/>
            </a:pPr>
            <a:endParaRPr lang="zh-CN" altLang="en-US"/>
          </a:p>
          <a:p>
            <a:pPr marL="457200" indent="-457200">
              <a:buFont typeface="Wingdings" panose="05000000000000000000" charset="0"/>
              <a:buChar char="ü"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BA-F800-4254-BA67-45E2FCBB8FE3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1.5.8 </a:t>
            </a:r>
            <a:r>
              <a:rPr lang="zh-CN" altLang="en-US" dirty="0"/>
              <a:t>微软</a:t>
            </a:r>
            <a:r>
              <a:rPr lang="zh-CN" altLang="en-US" dirty="0" smtClean="0"/>
              <a:t>过程 </a:t>
            </a:r>
            <a:r>
              <a:rPr lang="en-US" altLang="zh-CN" dirty="0" smtClean="0"/>
              <a:t>(</a:t>
            </a:r>
            <a:r>
              <a:rPr lang="zh-CN" altLang="en-US" dirty="0" smtClean="0">
                <a:solidFill>
                  <a:srgbClr val="FF0000"/>
                </a:solidFill>
              </a:rPr>
              <a:t>了解，自学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44625"/>
            <a:ext cx="10515600" cy="4351338"/>
          </a:xfrm>
        </p:spPr>
        <p:txBody>
          <a:bodyPr/>
          <a:lstStyle/>
          <a:p>
            <a:r>
              <a:rPr lang="zh-CN" altLang="en-US" dirty="0"/>
              <a:t>微软过程</a:t>
            </a:r>
            <a:r>
              <a:rPr lang="zh-CN" altLang="en-US" dirty="0" smtClean="0"/>
              <a:t>准则</a:t>
            </a:r>
            <a:endParaRPr lang="zh-CN" altLang="en-US" dirty="0" smtClean="0"/>
          </a:p>
          <a:p>
            <a:r>
              <a:rPr lang="zh-CN" altLang="en-US" dirty="0" smtClean="0"/>
              <a:t>微软软件生命周期</a:t>
            </a:r>
            <a:endParaRPr lang="zh-CN" altLang="en-US" dirty="0" smtClean="0"/>
          </a:p>
          <a:p>
            <a:pPr marL="971550" lvl="1" indent="-514350">
              <a:buAutoNum type="arabicPeriod"/>
            </a:pPr>
            <a:r>
              <a:rPr lang="zh-CN" altLang="en-US" dirty="0" smtClean="0"/>
              <a:t>规划</a:t>
            </a:r>
            <a:r>
              <a:rPr lang="zh-CN" altLang="en-US" dirty="0"/>
              <a:t>阶段 </a:t>
            </a:r>
            <a:r>
              <a:rPr lang="en-US" altLang="zh-CN" dirty="0"/>
              <a:t>(analysis, goals)</a:t>
            </a:r>
            <a:endParaRPr lang="zh-CN" altLang="en-US" dirty="0"/>
          </a:p>
          <a:p>
            <a:pPr marL="971550" lvl="1" indent="-514350">
              <a:buAutoNum type="arabicPeriod"/>
            </a:pPr>
            <a:r>
              <a:rPr lang="zh-CN" altLang="en-US" dirty="0"/>
              <a:t>设计阶段  </a:t>
            </a:r>
            <a:r>
              <a:rPr lang="en-US" altLang="zh-CN" dirty="0"/>
              <a:t>(specifications)</a:t>
            </a:r>
            <a:endParaRPr lang="en-US" altLang="zh-CN" dirty="0"/>
          </a:p>
          <a:p>
            <a:pPr marL="971550" lvl="1" indent="-514350">
              <a:buAutoNum type="arabicPeriod"/>
            </a:pPr>
            <a:r>
              <a:rPr lang="zh-CN" altLang="en-US" dirty="0"/>
              <a:t>开发阶段 </a:t>
            </a:r>
            <a:r>
              <a:rPr lang="en-US" altLang="zh-CN" dirty="0"/>
              <a:t>(code &amp; documents)</a:t>
            </a:r>
            <a:endParaRPr lang="en-US" altLang="zh-CN" dirty="0"/>
          </a:p>
          <a:p>
            <a:pPr marL="971550" lvl="1" indent="-514350">
              <a:buAutoNum type="arabicPeriod"/>
            </a:pPr>
            <a:r>
              <a:rPr lang="zh-CN" altLang="en-US" dirty="0"/>
              <a:t>稳定阶段 </a:t>
            </a:r>
            <a:r>
              <a:rPr lang="en-US" altLang="zh-CN" dirty="0"/>
              <a:t>(testing and debugging)</a:t>
            </a:r>
            <a:endParaRPr lang="en-US" altLang="zh-CN" dirty="0"/>
          </a:p>
          <a:p>
            <a:pPr marL="971550" lvl="1" indent="-514350">
              <a:buAutoNum type="arabicPeriod"/>
            </a:pPr>
            <a:r>
              <a:rPr lang="zh-CN" altLang="en-US" dirty="0"/>
              <a:t>发布阶段</a:t>
            </a:r>
            <a:endParaRPr lang="zh-CN" altLang="en-US" dirty="0"/>
          </a:p>
          <a:p>
            <a:r>
              <a:rPr lang="zh-CN" altLang="en-US" dirty="0"/>
              <a:t>微软过程模型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递进：新版本具有新功能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B6EBA-55C8-4926-8064-7FE682C495F5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作业（电子版</a:t>
            </a:r>
            <a:r>
              <a:rPr lang="zh-CN" altLang="zh-CN"/>
              <a:t>）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针对第一章的学习，写个心得体会，字数不限，自由发挥。</a:t>
            </a:r>
            <a:endParaRPr lang="zh-CN" altLang="en-US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下周上课之前，各班课代表收齐发到我邮箱</a:t>
            </a:r>
            <a:r>
              <a:rPr lang="en-US" altLang="zh-CN" dirty="0" smtClean="0"/>
              <a:t>   493026762@qq.com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AD87-166A-4118-9CFF-495A0E5FFDE8}" type="datetime1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UNIT_PLACING_PICTURE_USER_VIEWPORT" val="{&quot;height&quot;:5460,&quot;width&quot;:9000}"/>
</p:tagLst>
</file>

<file path=ppt/tags/tag3.xml><?xml version="1.0" encoding="utf-8"?>
<p:tagLst xmlns:p="http://schemas.openxmlformats.org/presentationml/2006/main">
  <p:tag name="KSO_WM_UNIT_PLACING_PICTURE_USER_VIEWPORT" val="{&quot;height&quot;:3290,&quot;width&quot;:4740}"/>
</p:tagLst>
</file>

<file path=ppt/tags/tag4.xml><?xml version="1.0" encoding="utf-8"?>
<p:tagLst xmlns:p="http://schemas.openxmlformats.org/presentationml/2006/main">
  <p:tag name="KSO_WM_UNIT_PLACING_PICTURE_USER_VIEWPORT" val="{&quot;height&quot;:4624,&quot;width&quot;:7776}"/>
</p:tagLst>
</file>

<file path=ppt/tags/tag5.xml><?xml version="1.0" encoding="utf-8"?>
<p:tagLst xmlns:p="http://schemas.openxmlformats.org/presentationml/2006/main">
  <p:tag name="KSO_WPP_MARK_KEY" val="a4457345-0e19-4ce4-b087-3beb74d21f44"/>
  <p:tag name="COMMONDATA" val="eyJoZGlkIjoiMWRkYWM2NTk3YTg3N2JkZWYxNzVkMWE0MDlhMjU5MD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5040</Words>
  <Application>WPS 演示</Application>
  <PresentationFormat>自定义</PresentationFormat>
  <Paragraphs>688</Paragraphs>
  <Slides>59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59</vt:i4>
      </vt:variant>
    </vt:vector>
  </HeadingPairs>
  <TitlesOfParts>
    <vt:vector size="70" baseType="lpstr">
      <vt:lpstr>Arial</vt:lpstr>
      <vt:lpstr>宋体</vt:lpstr>
      <vt:lpstr>Wingdings</vt:lpstr>
      <vt:lpstr>Times New Roman</vt:lpstr>
      <vt:lpstr>微软雅黑</vt:lpstr>
      <vt:lpstr>Arial Unicode MS</vt:lpstr>
      <vt:lpstr>Wingdings</vt:lpstr>
      <vt:lpstr>Calibri</vt:lpstr>
      <vt:lpstr>Office 主题</vt:lpstr>
      <vt:lpstr>Paint.Picture</vt:lpstr>
      <vt:lpstr>Paint.Picture</vt:lpstr>
      <vt:lpstr>软件工程</vt:lpstr>
      <vt:lpstr>学时安排</vt:lpstr>
      <vt:lpstr>教材</vt:lpstr>
      <vt:lpstr>实验教材</vt:lpstr>
      <vt:lpstr>考核方式</vt:lpstr>
      <vt:lpstr>PowerPoint 演示文稿</vt:lpstr>
      <vt:lpstr>课堂要求</vt:lpstr>
      <vt:lpstr>PowerPoint 演示文稿</vt:lpstr>
      <vt:lpstr>网上有人说……</vt:lpstr>
      <vt:lpstr>网上有人说……</vt:lpstr>
      <vt:lpstr>学习内容</vt:lpstr>
      <vt:lpstr>第1章 软件工程学概述</vt:lpstr>
      <vt:lpstr>1.1 什么是软件？</vt:lpstr>
      <vt:lpstr>1.2 软件危机</vt:lpstr>
      <vt:lpstr>什么是软件危机？</vt:lpstr>
      <vt:lpstr>1.2.2 软件危机的表现</vt:lpstr>
      <vt:lpstr>1.2.3 产生软件危机的原因</vt:lpstr>
      <vt:lpstr>PowerPoint 演示文稿</vt:lpstr>
      <vt:lpstr>1.2.4 消除软件危机的途径</vt:lpstr>
      <vt:lpstr>1.3 软件工程</vt:lpstr>
      <vt:lpstr>PowerPoint 演示文稿</vt:lpstr>
      <vt:lpstr>1.3.2 软件工程的本质特性 （7条）</vt:lpstr>
      <vt:lpstr>1.3.3 软件工程的基本原理 （7条）</vt:lpstr>
      <vt:lpstr>1.3.4 软件工程方法学 </vt:lpstr>
      <vt:lpstr>1). 传统方法学</vt:lpstr>
      <vt:lpstr>2). 面向对象(Object Oriented)方法学</vt:lpstr>
      <vt:lpstr>1.4 软件生命周期</vt:lpstr>
      <vt:lpstr>软件生命周期各个阶段</vt:lpstr>
      <vt:lpstr>知识点延伸</vt:lpstr>
      <vt:lpstr>关于“卷”： 躺平？躺赢？ 方向 你足够努力吗？（范例：LXL）</vt:lpstr>
      <vt:lpstr>关于考研......</vt:lpstr>
      <vt:lpstr>上次课内容回顾：</vt:lpstr>
      <vt:lpstr>PowerPoint 演示文稿</vt:lpstr>
      <vt:lpstr>PowerPoint 演示文稿</vt:lpstr>
      <vt:lpstr>3个时期、8个阶段</vt:lpstr>
      <vt:lpstr>PowerPoint 演示文稿</vt:lpstr>
      <vt:lpstr>1.5 软件过程</vt:lpstr>
      <vt:lpstr>软件过程的几种定义：</vt:lpstr>
      <vt:lpstr>1.5.1 瀑布模型 </vt:lpstr>
      <vt:lpstr>PowerPoint 演示文稿</vt:lpstr>
      <vt:lpstr>1.5.2 快速原型模型</vt:lpstr>
      <vt:lpstr>PowerPoint 演示文稿</vt:lpstr>
      <vt:lpstr>“实践是检验真理的唯一标准”</vt:lpstr>
      <vt:lpstr>学思想 强党性 重实践 建新功</vt:lpstr>
      <vt:lpstr>1.5.3 增量模型</vt:lpstr>
      <vt:lpstr>一种风险更大的增量模型</vt:lpstr>
      <vt:lpstr>PowerPoint 演示文稿</vt:lpstr>
      <vt:lpstr>能否举一个典型增量模型的例子？</vt:lpstr>
      <vt:lpstr>以QQ为例，建立增量模型</vt:lpstr>
      <vt:lpstr>PowerPoint 演示文稿</vt:lpstr>
      <vt:lpstr>1.5.4 螺旋模型</vt:lpstr>
      <vt:lpstr>PowerPoint 演示文稿</vt:lpstr>
      <vt:lpstr>PowerPoint 演示文稿</vt:lpstr>
      <vt:lpstr>1.5.5 喷泉模型</vt:lpstr>
      <vt:lpstr>PowerPoint 演示文稿</vt:lpstr>
      <vt:lpstr>1.5.6 Rational统一过程 (了解，自学)</vt:lpstr>
      <vt:lpstr>1.5.7 敏捷过程与极限编程 (了解，自学)</vt:lpstr>
      <vt:lpstr>1.5.8 微软过程 (了解，自学)</vt:lpstr>
      <vt:lpstr>作业（电子版）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软件工程</dc:title>
  <dc:creator>Guohua</dc:creator>
  <cp:lastModifiedBy>LV</cp:lastModifiedBy>
  <cp:revision>858</cp:revision>
  <dcterms:created xsi:type="dcterms:W3CDTF">2015-05-05T08:02:00Z</dcterms:created>
  <dcterms:modified xsi:type="dcterms:W3CDTF">2025-09-12T06:33:16Z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47E7A10390AE43FE8303805A2AC4AD99_12</vt:lpwstr>
  </property>
</Properties>
</file>