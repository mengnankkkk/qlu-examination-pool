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2"/>
  </p:notesMasterIdLst>
  <p:sldIdLst>
    <p:sldId id="710" r:id="rId3"/>
    <p:sldId id="583" r:id="rId4"/>
    <p:sldId id="307" r:id="rId5"/>
    <p:sldId id="708" r:id="rId6"/>
    <p:sldId id="709" r:id="rId7"/>
    <p:sldId id="279" r:id="rId8"/>
    <p:sldId id="280" r:id="rId9"/>
    <p:sldId id="281" r:id="rId10"/>
    <p:sldId id="282" r:id="rId11"/>
    <p:sldId id="283" r:id="rId13"/>
    <p:sldId id="284" r:id="rId14"/>
    <p:sldId id="285" r:id="rId15"/>
    <p:sldId id="286" r:id="rId16"/>
    <p:sldId id="374" r:id="rId17"/>
    <p:sldId id="287" r:id="rId18"/>
    <p:sldId id="288" r:id="rId19"/>
    <p:sldId id="289" r:id="rId20"/>
    <p:sldId id="290" r:id="rId21"/>
    <p:sldId id="652" r:id="rId22"/>
    <p:sldId id="291" r:id="rId23"/>
    <p:sldId id="373" r:id="rId24"/>
    <p:sldId id="302" r:id="rId25"/>
    <p:sldId id="303" r:id="rId26"/>
    <p:sldId id="304" r:id="rId27"/>
    <p:sldId id="292" r:id="rId28"/>
    <p:sldId id="293" r:id="rId29"/>
    <p:sldId id="305" r:id="rId30"/>
    <p:sldId id="306" r:id="rId31"/>
    <p:sldId id="309" r:id="rId32"/>
    <p:sldId id="310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23" r:id="rId46"/>
    <p:sldId id="324" r:id="rId47"/>
    <p:sldId id="437" r:id="rId48"/>
    <p:sldId id="459" r:id="rId49"/>
    <p:sldId id="458" r:id="rId50"/>
    <p:sldId id="707" r:id="rId51"/>
    <p:sldId id="325" r:id="rId52"/>
    <p:sldId id="326" r:id="rId53"/>
    <p:sldId id="327" r:id="rId54"/>
    <p:sldId id="328" r:id="rId55"/>
    <p:sldId id="332" r:id="rId56"/>
    <p:sldId id="329" r:id="rId57"/>
    <p:sldId id="356" r:id="rId58"/>
    <p:sldId id="330" r:id="rId59"/>
    <p:sldId id="331" r:id="rId60"/>
    <p:sldId id="333" r:id="rId61"/>
    <p:sldId id="335" r:id="rId62"/>
    <p:sldId id="363" r:id="rId63"/>
    <p:sldId id="334" r:id="rId64"/>
    <p:sldId id="366" r:id="rId65"/>
    <p:sldId id="367" r:id="rId66"/>
    <p:sldId id="368" r:id="rId67"/>
    <p:sldId id="369" r:id="rId68"/>
    <p:sldId id="370" r:id="rId69"/>
    <p:sldId id="371" r:id="rId70"/>
    <p:sldId id="712" r:id="rId71"/>
    <p:sldId id="711" r:id="rId72"/>
    <p:sldId id="372" r:id="rId73"/>
    <p:sldId id="460" r:id="rId74"/>
    <p:sldId id="376" r:id="rId75"/>
    <p:sldId id="377" r:id="rId76"/>
    <p:sldId id="456" r:id="rId77"/>
    <p:sldId id="713" r:id="rId78"/>
  </p:sldIdLst>
  <p:sldSz cx="9144000" cy="6858000" type="screen4x3"/>
  <p:notesSz cx="6858000" cy="9144000"/>
  <p:custDataLst>
    <p:tags r:id="rId8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9" autoAdjust="0"/>
    <p:restoredTop sz="85901" autoAdjust="0"/>
  </p:normalViewPr>
  <p:slideViewPr>
    <p:cSldViewPr showGuides="1">
      <p:cViewPr varScale="1">
        <p:scale>
          <a:sx n="58" d="100"/>
          <a:sy n="58" d="100"/>
        </p:scale>
        <p:origin x="-1780" y="-56"/>
      </p:cViewPr>
      <p:guideLst>
        <p:guide orient="horz" pos="2160"/>
        <p:guide pos="29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2" Type="http://schemas.openxmlformats.org/officeDocument/2006/relationships/tags" Target="tags/tag5.xml"/><Relationship Id="rId81" Type="http://schemas.openxmlformats.org/officeDocument/2006/relationships/tableStyles" Target="tableStyles.xml"/><Relationship Id="rId80" Type="http://schemas.openxmlformats.org/officeDocument/2006/relationships/viewProps" Target="viewProps.xml"/><Relationship Id="rId8" Type="http://schemas.openxmlformats.org/officeDocument/2006/relationships/slide" Target="slides/slide6.xml"/><Relationship Id="rId79" Type="http://schemas.openxmlformats.org/officeDocument/2006/relationships/presProps" Target="presProps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9-10T09:57: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4234.000 5715.000,'0.000'35.000,"0.000"1.000,0.000-1.000,0.000-18.000,0.000 19.000,0.000-1.000,17.000 18.000,1.000-18.000,-18.000 1.000,0.000-19.000,0.000 18.000,0.000 1.000,18.000-19.000,-18.000 19.000,0.000-19.000,0.000 19.000,0.000-1.000,0.000-18.000,0.000 19.000,0.000-19.000,0.000 19.000,0.000-1.000,17.000 35.000,1.000-34.000,-18.000-1.000,0.000-17.000,0.000-1.000,0.000 19.000,0.000-19.000,0.000 19.000,0.000-19.000,0.000 1.000,0.000-1.000</inkml:trace>
  <inkml:trace contextRef="#ctx0" brushRef="#br0">4622.000 6473.000,'35.000'0.000,"-17.000"18.000,17.000 0.000,-17.000-18.000,17.000 17.000,-18.000 1.000,-17.000 17.000,36.000-17.000</inkml:trace>
  <inkml:trace contextRef="#ctx0" brushRef="#br0">1059.000 9737.000,'0.000'-18.000,"0.000"-17.000,0.000-1.000,0.000 1.000,0.000 0.000,0.000 17.000,17.000-17.000,19.000 17.000,-36.000-17.000,53.000 17.000,-36.000-17.000,18.000 18.000,-17.000-1.000,0.000 18.000,-1.000-18.000,-17.000 1.000,36.000 17.000,-1.000 0.000,-17.000 0.000,17.000 0.000,-18.000 0.000,19.000 0.000,-1.000 0.000,-17.000 0.000,-18.000 17.000,0.000 1.000,0.000 17.000,0.000 0.000,0.000 18.000,0.000 0.000,0.000 18.000,0.000-1.000,-18.000-34.000,0.000-1.000,-17.000-17.000,17.000 52.000,-52.000-17.000,17.000 18.000,18.000-36.000,-1.000-17.000,19.000 17.000,-1.000-18.000,-35.000 36.000,18.000-17.000,17.000-19.000,-17.000 1.000,17.000-18.000,-17.000 35.000,0.000 18.000,0.000-18.000,-36.000 1.000,18.000 17.000,0.000 0.000,18.000-36.000,35.000 18.000,35.000-35.000,-17.000 0.000,35.000 18.000,-18.000-18.000,18.000 0.000,-18.000 0.000,0.000 0.000,1.000 0.000,-1.000 0.000,0.000 0.000,1.000 0.000,17.000 0.000,52.000 0.000,-16.000 0.000,-19.000 0.000,18.000 0.000,-17.000 0.000,-36.000 0.000,0.000 0.000</inkml:trace>
  <inkml:trace contextRef="#ctx0" brushRef="#br0">1658.000 10460.000,'18.000'0.000,"0.000"0.000,-1.000 35.000,19.000-17.000,-19.000-1.000,19.000-17.000,-19.000 18.000,1.000 0.000,-1.000-1.000</inkml:trace>
  <inkml:trace contextRef="#ctx0" brushRef="#br0">18274.000 7338.000,'0.000'-35.000,"0.000"52.000,0.000 1.000,0.000 17.000,0.000-17.000,0.000 17.000,0.000-17.000,0.000-1.000,0.000 1.000,0.000 17.000,0.000-17.000,0.000 17.000,0.000-17.000,0.000-1.000,0.000 1.000,0.000 17.000,0.000-17.000,0.000 17.000,0.000-17.000,0.000-1.000,0.000 1.000,0.000 17.000,0.000-17.000,0.000 17.000,0.000-17.000,0.000 0.000,0.000-1.000,0.000 19.000,0.000-19.000,0.000 18.000,0.000-17.000,0.000 0.000,0.000-1.000,0.000 19.000,0.000-19.000,0.000 19.000,0.000-19.000,0.000 1.000,0.000-1.000,0.000 19.000,0.000-19.000,-17.000 36.000,-1.000-35.000,0.000 17.000,18.000 0.000</inkml:trace>
  <inkml:trace contextRef="#ctx0" brushRef="#br0">15364.000 9454.000,'0.000'-17.000,"0.000"-1.000,17.000 18.000,1.000-17.000,17.000-1.000,-17.000 0.000,17.000 1.000,-17.000-1.000,0.000 18.000,52.000-35.000,-52.000 35.000,-1.000 0.000,19.000 0.000,-1.000-18.000,0.000 18.000,-35.000 18.000,0.000 17.000,0.000 0.000,0.000-17.000,0.000 17.000,0.000-17.000,0.000-1.000,-17.000 36.000,-1.000-53.000,0.000 18.000,18.000 0.000,-17.000-1.000,-19.000-17.000,19.000 18.000,-1.000 0.000,0.000 17.000,1.000-35.000,-1.000 35.000,1.000-17.000,-19.000-1.000,19.000 19.000,-54.000 34.000,36.000-34.000,52.000-36.000,19.000 0.000,-19.000 0.000,1.000 0.000,0.000 0.000,17.000 0.000,-17.000 0.000,17.000 0.000,-18.000 0.000,1.000 0.000,0.000 0.000,17.000 0.000,-17.000 0.000,17.000 0.000,-17.000 0.000,-1.000 0.000,1.000 0.000,17.000 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9-10T09:57:39"/>
    </inkml:context>
    <inkml:brush xml:id="br0">
      <inkml:brushProperty name="width" value="0.05292" units="cm"/>
      <inkml:brushProperty name="height" value="0.05292" units="cm"/>
      <inkml:brushProperty name="color" value="#ff0000"/>
      <inkml:brushProperty name="ignorePressure" value="0"/>
    </inkml:brush>
  </inkml:definitions>
  <inkml:trace contextRef="#ctx0" brushRef="#br0">659.000 336.000,'-3.000'0.000,"0.000"1.000,-2.000 2.000,1.000-2.000,-1.000 3.000,1.000-2.000,1.000 0.000,0.000 0.000,0.000 1.000,1.000 1.000,-2.000 0.000,0.000 0.000,2.000 0.000,0.000 0.000,0.000-1.000,0.000 0.000,0.000 0.000,1.000 0.000,-2.000 3.000,2.000-3.000,-2.000 4.000,0.000-5.000,2.000 1.000,0.000 1.000,-1.000-1.000,1.000 0.000,-1.000 3.000,2.000-3.000,-2.000 0.000,0.000 0.000,2.000 1.000,-2.000-1.000,1.000 0.000,1.000 0.000,-2.000 1.000,1.000-1.000,1.000 0.000,-2.000 1.000,2.000 0.000,-2.000 1.000,0.000-2.000,2.000 0.000,-1.000 1.000,1.000-1.000,-1.000 0.000,0.000 0.000,0.000 1.000,1.000-1.000,-1.000 2.000,-1.000-1.000,1.000 1.000,0.000-2.000,1.000 2.000,-1.000-2.000,1.000 0.000,-1.000 2.000,1.000-1.000,-1.000-1.000,1.000 0.000,0.000 0.000,0.000 0.000,0.000 1.000,0.000-1.000,0.000 0.000,0.000 0.000,0.000 0.000,0.000 1.000,0.000-1.000,0.000 0.000,0.000 2.000,0.000-2.000,0.000 2.000,0.000-1.000,0.000 0.000,0.000 0.000,1.000-1.000,-1.000 0.000,1.000 1.000,0.000 0.000,-1.000-1.000,2.000 1.000,-1.000 0.000,0.000 0.000,0.000 0.000,1.000-1.000,-2.000 0.000,2.000 0.000,0.000 1.000,1.000 0.000,0.000-1.000,-1.000 0.000,1.000 0.000,0.000-1.000,1.000 3.000,0.000-3.000,1.000 1.000,-1.000 0.000,2.000 1.000,-2.000-2.000,0.000 0.000,0.000 0.000,0.000 1.000,0.000-2.000,0.000 2.000,-1.000-2.000,2.000 1.000,-1.000 0.000,-1.000-1.000,2.000 2.000,1.000-2.000,-1.000 1.000,2.000 0.000,-2.000 0.000,-1.000-1.000,3.000 2.000,-4.000-2.000,1.000 0.000,-1.000 0.000,0.000 0.000,0.000 0.000,5.000-2.000,0.000 1.000,0.000-2.000,-1.000 1.000,-1.000 1.000,1.000-1.000,-1.000 0.000,-1.000-1.000,-1.000 2.000,-1.000-1.000,0.000 0.000,1.000-1.000,1.000-2.000,-1.000 0.000,-1.000 2.000,0.000-1.000,1.000 0.000,-1.000 2.000,0.000-2.000,0.000 2.000,0.000-2.000,-1.000 0.000,1.000 1.000,2.000-4.000,-2.000 5.000,0.000-1.000,2.000-2.000,-3.000 0.000,2.000 2.000,-1.000 0.000,0.000 0.000,0.000-2.000,2.000 1.000,-2.000 0.000,0.000 0.000,0.000 1.000,1.000-3.000,-1.000 2.000,-1.000 0.000,1.000 0.000,1.000-2.000,-1.000 3.000,1.000-2.000,-1.000 0.000,-1.000 1.000,3.000-3.000,-3.000 3.000,2.000-3.000,-2.000 2.000,-1.000 1.000,0.000 0.000,2.000 1.000,-2.000-1.000,-1.000 0.000,2.000-1.000,-1.000 0.000,-1.000 1.000,1.000-1.000,0.000-2.000,-1.000 0.000,0.000 3.000,0.000 0.000,0.000 0.000,0.000-1.000,0.000 1.000,0.000-3.000,-1.000 3.000,1.000 0.000,-1.000-2.000,1.000 1.000,0.000-1.000,-2.000 2.000,1.000 0.000,1.000 0.000,-1.000-1.000,1.000 0.000,-1.000 1.000,0.000 0.000,-1.000 0.000,1.000 0.000,0.000 0.000,0.000 0.000,0.000 0.000,-1.000-1.000,0.000 0.000,1.000 0.000,-1.000 1.000,-1.000-1.000,2.000 0.000,-1.000 1.000,1.000 0.000,-3.000-1.000,3.000 0.000,-2.000 0.000,-1.000 0.000,1.000-1.000,1.000 2.000,-1.000-1.000,1.000 1.000,-2.000-2.000,1.000 3.000,-1.000-2.000,1.000 1.000,-3.000-1.000,1.000 0.000,2.000 2.000,0.000 1.000,-1.000-3.000,-5.000 0.000,-2.000-1.000,3.000 3.000,3.000-1.000,1.000 2.000,-2.000-2.000,-1.000-1.000,2.000 2.000,2.000 1.000,0.000 0.000,-2.000 0.000,0.000-2.000,2.000 2.000,-1.000 0.000,0.000 0.000,1.000-1.000,0.000 2.000,-2.000-1.000,2.000 0.000,0.000 1.000,0.000 0.000,-1.000 0.000,0.000-1.000,-1.000 1.000,2.000 0.000,-1.000 0.000,1.000 0.000,-1.000 0.000,-1.000 0.000,2.000 0.000,0.000 0.000,0.000 0.000,-2.000 0.000,2.000 0.000,0.000 0.000,0.000 1.000,0.000-1.000,-2.000 2.000,1.000-1.000,0.000 0.000,1.000 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9-01T00:18:3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489.000 758.000,'-3.000'0.000,"0.000"0.000,0.000 1.000,0.000 1.000,0.000-1.000,0.000 0.000,0.000 0.000,0.000 1.000,0.000 0.000,0.000 0.000,1.000 1.000,0.000 0.000,0.000 1.000,0.000-1.000,1.000 0.000,0.000 0.000,0.000 0.000,1.000 0.000,0.000 0.000,0.000 0.000,0.000 0.000,0.000 1.000,0.000-1.000,0.000 0.000,1.000 0.000,0.000 1.000,-1.000-1.000,2.000 1.000,-2.000-1.000,3.000 0.000,-1.000 0.000,0.000 0.000,-1.000 0.000,2.000-1.000,0.000 1.000,0.000-1.000,0.000 0.000,0.000-1.000,0.000 1.000,0.000-1.000,1.000 1.000,-1.000-2.000,0.000 2.000,0.000-2.000,0.000 1.000,0.000-1.000,1.000 1.000,0.000 0.000,-1.000-1.000,1.000 0.000,1.000 0.000,-1.000 0.000,0.000 0.000,-1.000 0.000,1.000 0.000,-1.000 0.000,0.000 0.000,1.000 0.000,1.000 1.000,-1.000-1.000,-1.000 0.000,0.000 0.000,1.000 0.000,0.000 1.000,-1.000-1.000,1.000 1.000,0.000-1.000,0.000 0.000,-1.000 0.000,0.000 0.000,0.000 0.000,0.000 0.000,1.000 0.000,0.000 0.000,0.000 0.000,-1.000 0.000,0.000 0.000,0.000 0.000,0.000 0.000,1.000 0.000,-1.000 0.000,0.000 0.000,0.000 0.000,1.000 0.000,-1.000 0.000,0.000 0.000,0.000 0.000,1.000 0.000,0.000 0.000,0.000 0.000,-1.000 0.000,0.000 0.000,0.000 0.000,0.000 0.000,0.000 0.000,1.000 0.000,-1.000 0.000,0.000 0.000,1.000 0.000,-1.000 0.000,0.000 0.000,0.000 0.000,0.000 0.000,0.000-1.000,0.000 1.000,0.000-1.000,0.000 1.000,0.000-2.000,0.000 0.000,0.000 1.000,-2.000-2.000,1.000 0.000,0.000 0.000,-2.000 0.000,2.000 0.000,-2.000 0.000,1.000-1.000,-1.000 1.000,0.000 0.000,0.000 0.000,0.000 0.000,0.000 0.000,0.000 0.000,0.000 0.000,-1.000 0.000,0.000 0.000,1.000 0.000,-2.000 0.000,2.000 0.000,-2.000 0.000,1.000 0.000,-2.000 1.000,2.000-1.000,-2.000 1.000,0.000-1.000,2.000 0.000,-1.000 0.000,-1.000 1.000,0.000-1.000,0.000 0.000,0.000 2.000,-1.000-1.000,1.000 2.000,0.000-1.000,0.000 0.000,0.000 1.000,0.000-1.000,0.000 1.000,0.000 0.000,0.000 0.000,0.000 0.000,0.000 0.000,0.000 0.000,0.000 0.000,0.000 0.000,0.000 0.000,0.000 0.000,0.000 0.000,0.000 0.000,0.000 0.000,0.000 1.000,0.000-1.000,0.000 0.000,-1.000 1.000,1.000-1.000,0.000 1.000,0.000-1.000,0.000 1.000,0.000-1.000,-1.000 0.000,1.000 0.000,0.000 0.000,0.000 0.000,0.000 0.000,-1.000 0.000,0.000 0.000,1.000 0.000,0.000 0.000,0.000 0.000,0.000 0.000,0.000 0.000,0.000-1.000,-1.000 1.000,1.000-1.000,0.000 1.000,0.000 0.000,-1.000-1.000,0.000 0.000,1.000 1.000,0.000-1.000,-1.000-1.000,0.000 1.000,0.000 0.000,0.000 0.000,1.000-1.000,0.000 2.000,0.000-1.000,0.000-1.000,0.000 2.000,0.000 0.000,0.000 0.000,-1.000 1.000,1.000-1.000,0.000 2.000,0.000-1.000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1-09-10T09:57: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3581.000 9931.000,'-18.000'17.000,"-17.000"1.000,0.000 0.000,0.000 17.000,-1.000 0.000,-17.000 0.000,-17.000 36.000,-18.000 0.000,17.000 17.000,36.000-35.000,-36.000 35.000,1.000 0.000,17.000-17.000,0.000 17.000,0.000-35.000,0.000 35.000,18.000 0.000,-36.000-17.000,36.000 17.000,-18.000-18.000,18.000 1.000,-1.000-18.000,19.000 0.000,-18.000 17.000,-1.000-17.000,19.000-17.000,-1.000-1.000,0.000 0.000,18.000 0.000,0.000 1.000,-17.000 17.000,-1.000-36.000,18.000 36.000,0.000-18.000,0.000 1.000,0.000 17.000,0.000-18.000,0.000 0.000,0.000 18.000,0.000 0.000,0.000 18.000,0.000-36.000,0.000 18.000,0.000 0.000,0.000-18.000,0.000 0.000,0.000 18.000,0.000 0.000,0.000 0.000,0.000 18.000,0.000-1.000,0.000-35.000,0.000 18.000,0.000 35.000,35.000-17.000,-17.000 0.000,0.000-1.000,-1.000 18.000,1.000-35.000,-18.000 0.000,18.000 18.000,-1.000-18.000,1.000 0.000,-1.000-18.000,-17.000 53.000,18.000-53.000,17.000 54.000,-35.000-72.000,18.000 36.000,-18.000 18.000,0.000-36.000,18.000 18.000,-18.000 0.000,17.000-18.000,-17.000 36.000,18.000-36.000,0.000 0.000,-18.000 0.000,0.000 1.000,0.000-1.000,17.000 0.000,-17.000-17.000,0.000 17.000,0.000-17.000,0.000 17.000,0.000-17.000,0.000 17.000,0.000 0.000,0.000 36.000,0.000-18.000,0.000-18.000,18.000 0.000,-18.000 1.000,17.000-1.000,-17.000-18.000,18.000-17.000,17.000 18.000,18.000 0.000,53.000 35.000,53.000-36.000,-53.000 36.000,52.000 0.000,1.000 0.000,-35.000 0.000,-54.000-35.000,-17.000-1.000,35.000 1.000,-52.000-18.000,-1.000 18.000,0.000-18.000,0.000 0.000,1.000 0.000,-1.000 0.000,0.000 0.000,18.000 0.000,0.000 0.000,-18.000 0.000,18.000 0.000,0.000 0.000,18.000 0.000,-36.000 0.000,18.000 0.000,-18.000-18.000,18.000 18.000,-18.000 0.000,18.000-18.000,-17.000 18.000,17.000 0.000,-18.000 0.000,35.000 0.000,-52.000 0.000,53.000 0.000,-18.000-17.000,17.000 17.000,1.000 0.000,-18.000-18.000,-1.000 18.000,1.000 0.000,-17.000-18.000,34.000 18.000,1.000-35.000,17.000 35.000,-17.000-18.000,-19.000 18.000,37.000-17.000,-36.000-1.000,17.000 1.000,-17.000 17.000,-18.000-36.000,1.000 19.000,16.000-1.000,-16.000 0.000,-1.000 1.000,18.000-1.000,0.000-35.000,0.000 35.000,17.000-17.000,-17.000 18.000,0.000-1.000,0.000-17.000,18.000-18.000,-36.000 17.000,0.000 19.000,0.000-18.000,36.000-1.000,-36.000 1.000,1.000 17.000,-1.000-17.000,0.000-18.000,0.000 18.000,1.000 0.000,-19.000 17.000,19.000-17.000,-19.000 17.000,1.000 0.000,0.000 1.000,17.000-19.000,-18.000 1.000,1.000 0.000,-18.000 0.000,18.000-1.000,-1.000-34.000,1.000 35.000,-18.000 17.000,18.000-35.000,-1.000 0.000,-17.000 18.000,0.000 0.000,0.000-36.000,0.000 18.000,18.000-18.000,-18.000 19.000,0.000-1.000,0.000 0.000,0.000 0.000,0.000 18.000,0.000-54.000,0.000 36.000,0.000 1.000,0.000 16.000,0.000-17.000,18.000-17.000,-18.000 34.000,0.000-16.000,0.000-1.000,0.000 0.000,0.000 0.000,0.000 18.000,0.000-36.000,0.000 18.000,0.000 0.000,0.000 0.000,0.000 0.000,-18.000-17.000,18.000 17.000,-18.000 0.000,1.000-35.000,17.000 35.000,-18.000-35.000,-17.000 35.000,17.000 0.000,18.000-35.000,-35.000 35.000,35.000-36.000,-35.000 37.000,35.000-1.000,-18.000-36.000,0.000 54.000,18.000-18.000,-17.000 18.000,17.000 0.000,-18.000-1.000,18.000 1.000,-18.000 0.000,1.000 0.000,-1.000-1.000,0.000 1.000,-17.000 0.000,18.000-1.000,-19.000-34.000,1.000 17.000,0.000 18.000,-18.000-53.000,17.000 52.000,1.000 1.000,0.000 0.000,17.000-1.000,-17.000 19.000,0.000-36.000,-1.000 18.000,-34.000-1.000,35.000 19.000,-18.000-19.000,0.000 1.000,-18.000-18.000,18.000 18.000,-17.000 0.000,34.000-1.000,1.000 1.000,-18.000 0.000,36.000 35.000,-19.000-18.000,19.000 1.000,-19.000 17.000,36.000-18.000,-17.000 18.000,-1.000-18.000,-17.000 18.000,0.000-17.000,-1.000-1.000,1.000 0.000,17.000 18.000,-34.000-17.000,16.000 17.000,1.000-18.000,0.000 18.000,-1.000 0.000,36.000-18.000,-35.000 18.000,0.000 0.000,0.000 0.000,-1.000 0.000,1.000 0.000,0.000-17.000,-18.000 17.000,0.000 0.000,-18.000 0.000,18.000 0.000,1.000-18.000,16.000 18.000,-17.000 0.000,0.000 0.000,18.000 0.000,0.000 0.000,17.000 0.000,1.000-17.000,-19.000 17.000,1.000 0.000,17.000 0.000,1.000 0.000,-19.000 0.000,1.000 0.000,0.000 0.000,17.000 0.000,-17.000 0.000,0.000 0.000,17.000 0.000,0.000 0.000,1.000 0.000,-1.000 0.000,1.000 0.000,-1.000 0.000,-17.000 0.000,-1.000 0.000,19.000 0.000,-1.000-18.000,0.000 18.000,1.000 0.000,-19.000 0.000,1.000 0.000,18.000 0.000,-1.000 0.000,0.000 0.000,1.000 0.000,-19.000 0.000,19.000 0.000,-1.000 0.000,-17.000 0.000,17.000 0.000,1.000 0.000,-19.000 0.000,19.000 0.000,-1.000 18.000,0.000-18.000,1.000 0.000,17.000 17.000,-18.000-17.000,0.000 0.000,1.000 18.000,-1.000-18.000,1.000 17.000,-1.000-17.000,0.000 18.000,1.000-18.000,-1.000 0.000,18.000 18.000,-18.000-18.000,18.000 17.000</inkml:trace>
  <inkml:trace contextRef="#ctx0" brushRef="#br0">11183.000 9578.000,'-17.000'0.000,"-36.000"0.000,18.000 0.000,-36.000 0.000,18.000 0.000,0.000 18.000,0.000-18.000,0.000 0.000,18.000 0.000,0.000 0.000,-18.000 0.000,18.000 0.000,17.000 0.000,0.000 17.000,1.000-17.000,-1.000 0.000,0.000 0.000,1.000 0.000,-1.000 0.000,-17.000 0.000,0.000 0.000,-1.000 0.000,1.000 0.000,0.000 0.000,-1.000 0.000,1.000 18.000,18.000-18.000,-1.000 0.000,0.000 0.000,-17.000 0.000,0.000 0.000,17.000 0.000,-17.000 17.000,17.000-17.000,1.000 0.000,-19.000 0.000,19.000 18.000,-1.000-18.000,-17.000 0.000,17.000 0.000,0.000 0.000,-17.000 18.000,-18.000-1.000,36.000-17.000,-36.000 36.000,17.000-19.000,19.000-17.000,-36.000 18.000,35.000-18.000,1.000 0.000,-19.000 0.000,19.000 18.000,-1.000-18.000,-17.000 17.000,17.000 1.000,0.000 0.000,1.000-18.000,-1.000 17.000,-17.000 1.000,17.000-1.000,1.000-17.000,-1.000 0.000,18.000 18.000,-18.000-18.000,1.000 18.000,-1.000-18.000,0.000 17.000,1.000 1.000,17.000 0.000,-18.000-18.000,18.000 17.000,-18.000-17.000,1.000 18.000,-1.000 0.000,1.000-1.000,-1.000 1.000,0.000-1.000,18.000 19.000,-17.000-19.000,-1.000 1.000,18.000 0.000,-18.000-1.000,1.000 1.000,-1.000 0.000,18.000-1.000,-18.000-17.000,1.000 18.000,17.000-1.000,0.000 1.000,0.000 0.000,-18.000-18.000,18.000 17.000,0.000 1.000,-17.000-18.000,-1.000 35.000,0.000 1.000,1.000-19.000,17.000 1.000,-18.000 17.000,18.000 0.000,-18.000-17.000,18.000 0.000,0.000-1.000,0.000 1.000,0.000 17.000,-17.000-17.000,17.000 0.000,0.000 17.000,-18.000 0.000,0.000 0.000,18.000-17.000,-17.000 17.000,17.000-17.000,-18.000 17.000,18.000 0.000,-17.000-17.000,17.000 0.000,0.000 17.000,0.000 0.000,-18.000-17.000,18.000 17.000,0.000 1.000,-18.000-19.000,18.000 1.000,-17.000 17.000,17.000 0.000,0.000 1.000,-18.000-1.000,18.000 0.000,0.000 18.000,0.000-18.000,-18.000 36.000,18.000-36.000,0.000 18.000,0.000-18.000,0.000 18.000,-17.000-17.000,17.000-1.000,0.000 0.000,0.000 0.000,0.000-17.000,0.000 35.000,-18.000-18.000,18.000 1.000,0.000-19.000,0.000 1.000,0.000 17.000,0.000-17.000,0.000-1.000,0.000 19.000,0.000-19.000,0.000 19.000,0.000-19.000,-18.000 1.000,18.000-1.000,0.000 1.000,0.000 0.000,0.000-1.000,0.000 1.000,0.000 0.000,-17.000-18.000,17.000 17.000,0.000 1.000,0.000 0.000,0.000 17.000,0.000-17.000,0.000-1.000,0.000 1.000,0.000-1.000,0.000 1.000,0.000 0.000,-18.000 17.000,18.000-17.000,0.000-1.000,-18.000-17.000,18.000 18.000,0.000 0.000,0.000-1.000,0.000 18.000,0.000-17.000,0.000 0.000,0.000-1.000,0.000 1.000,-17.000 0.000,17.000-1.000,0.000 1.000,0.000 0.000,-18.000 17.000,18.000-18.000,0.000 1.000,0.000 0.000,0.000-1.000,0.000 1.000,0.000 17.000,0.000-17.000,0.000 0.000,0.000-1.000,0.000 1.000,0.000 0.000,0.000-1.000,0.000 18.000,0.000-17.000,0.000 17.000,0.000-17.000,0.000 0.000,0.000-1.000,0.000 1.000,0.000 17.000,0.000-17.000,0.000-1.000,18.000 1.000,-18.000 0.000,0.000-1.000,0.000 1.000,0.000 0.000,17.000-18.000,-17.000 17.000,0.000 1.000,0.000 0.000,0.000-1.000,18.000 1.000,-18.000-1.000,0.000 1.000,18.000 17.000,-18.000-17.000,17.000-18.000,-17.000 18.000,18.000-1.000,0.000 1.000,-1.000-18.000,1.000 18.000,17.000-1.000,1.000 1.000,-1.000 0.000,53.000 17.000,0.000-18.000,-35.000 19.000,35.000-19.000,-35.000-17.000,18.000 18.000,17.000 0.000,-35.000-1.000,35.000-17.000,-35.000 0.000,-18.000 0.000,18.000 0.000,0.000 0.000,18.000 0.000,-18.000 0.000,-1.000 0.000,19.000 0.000,35.000 0.000,-18.000 0.000,18.000 0.000,0.000 0.000,-18.000 0.000,-18.000 0.000,-17.000 0.000,0.000 0.000,-17.000 0.000,52.000 0.000,-53.000 0.000,36.000 0.000,-36.000 0.000,18.000 0.000,-18.000 0.000,0.000 0.000,1.000 0.000,-1.000 0.000,18.000 0.000,0.000 0.000,17.000 0.000,-17.000 0.000,18.000 0.000,17.000 0.000,-35.000 0.000,35.000 0.000,-35.000 0.000,0.000 0.000,0.000 0.000,0.000 0.000,17.000 0.000,1.000 0.000,-18.000 0.000,35.000 0.000,-17.000 0.000,34.000 0.000,-16.000 0.000,16.000 0.000,-34.000 0.000,17.000 0.000,18.000 0.000,-35.000 0.000,17.000 0.000,-18.000 0.000,36.000 0.000,18.000-17.000,-19.000 17.000,1.000 0.000,18.000-18.000,-54.000 18.000,-17.000 0.000,35.000 0.000,-35.000-18.000,0.000 18.000,-17.000 0.000,-1.000-17.000,35.000 17.000,-17.000-18.000,0.000 18.000,0.000 0.000,18.000-35.000,-36.000 35.000,18.000 0.000,-36.000 0.000,1.000 0.000,0.000-18.000,17.000 18.000,-17.000 0.000,17.000-17.000,0.000 17.000,1.000-18.000,16.000 0.000,-16.000 1.000,52.000-19.000,-53.000 19.000,0.000-1.000,18.000 18.000,-17.000-18.000,-19.000 18.000,19.000-17.000,-19.000 17.000,18.000 0.000,1.000-36.000,-1.000 36.000,0.000-17.000,1.000-1.000,-1.000 1.000,0.000-19.000,0.000 19.000,1.000-1.000,-1.000 0.000,0.000 1.000,1.000-1.000,16.000-17.000,1.000 0.000,-17.000-1.000,-1.000 1.000,18.000-18.000,-18.000 18.000,-17.000 17.000,17.000-17.000,-17.000 17.000,17.000 1.000,-17.000-1.000,-1.000 0.000,19.000-17.000,-19.000 17.000,1.000 1.000,-1.000-1.000,19.000 0.000,-1.000-17.000,0.000 18.000,-35.000-1.000,18.000 18.000,0.000 0.000,-1.000 0.000,-17.000-18.000,18.000 1.000,-1.000 17.000,1.000-18.000,0.000 0.000,-1.000 18.000,1.000-17.000,0.000-19.000,-1.000 36.000,1.000 0.000,0.000-17.000,-1.000 17.000,18.000-35.000,-17.000 35.000,-18.000-18.000,35.000 0.000,-17.000 1.000,0.000 17.000,-1.000 0.000,1.000-18.000,0.000 0.000,-1.000 1.000,19.000 17.000,-36.000-18.000,35.000 18.000,-18.000-18.000,1.000 1.000,-18.000-1.000,35.000 1.000,-17.000 17.000,17.000-18.000,1.000-35.000,-19.000 53.000,1.000 0.000,-1.000 0.000,-17.000-18.000,18.000 1.000,-18.000-1.000,18.000 18.000,-18.000-18.000,17.000 18.000,-17.000-17.000,18.000 17.000,-18.000-18.000,18.000 18.000,-1.000-18.000,1.000 1.000,-18.000-18.000,0.000 17.000,18.000 0.000,-18.000 1.000,17.000 17.000,-17.000-18.000,0.000 0.000,0.000 1.000,0.000-1.000,0.000 0.000,18.000 1.000,-18.000-18.000,0.000 17.000,0.000 0.000,0.000 1.000,0.000-1.000,0.000 0.000,0.000 1.000,0.000-1.000,0.000 0.000,0.000 1.000,0.000-1.000,0.000-17.000,-18.000 17.000,18.000 1.000,-17.000-19.000,17.000 19.000,0.000-1.000,0.000 0.000,0.000 1.000,-18.000-19.000,0.000 19.000,18.000-1.000,-17.000 18.000,-1.000-35.000,0.000 17.000,1.000-17.000,-19.000 0.000,19.000-1.000,-18.000 1.000,-1.000-18.000,1.000 18.000,-18.000 0.000,18.000-1.000,0.000 1.000,-1.000-18.000,19.000 0.000,-36.000 18.000,0.000 0.000,53.000 17.000,-36.000-17.000,-16.000 0.000,16.000-1.000,-17.000 1.000,18.000-36.000,-35.000 36.000,17.000 0.000,17.000 0.000,1.000 17.000,0.000-17.000,0.000-1.000,-36.000-34.000,18.000 35.000,18.000 17.000,-1.000-17.000,-34.000-18.000,17.000 35.000,-35.000-17.000,0.000-18.000,35.000 18.000,-35.000 17.000,35.000 0.000,0.000-17.000,0.000 17.000,17.000 1.000,-16.000-1.000,34.000 1.000,-17.000-1.000,-1.000 0.000,1.000 1.000,-18.000-1.000,0.000 0.000,-17.000-17.000,-1.000 17.000,-17.000-17.000,-36.000 18.000,19.000-19.000,-54.000 19.000,88.000-1.000,-52.000-35.000,70.000 35.000,-35.000 1.000,35.000-1.000,0.000 0.000,18.000 18.000,-1.000-35.000,1.000 35.000,0.000-17.000,0.000 17.000,-1.000 0.000,19.000 0.000,-19.000 0.000,1.000-18.000,-18.000 18.000,18.000 0.000,0.000 0.000,-18.000-18.000,0.000 18.000,17.000 0.000,1.000 0.000,-35.000 0.000,52.000 0.000,-53.000 0.000,36.000-17.000,-18.000 17.000,18.000 0.000,-18.000 0.000,18.000 0.000,-18.000 0.000,35.000 0.000,-17.000 0.000,0.000 0.000,-1.000 0.000,1.000 0.000,0.000 0.000,-18.000 0.000,18.000 0.000,-36.000 0.000,36.000 0.000,-18.000 0.000,35.000 0.000,1.000 0.000,-1.000 0.000,0.000 17.000,1.000-17.000,-19.000 0.000,19.000 0.000,-36.000 18.000,18.000-18.000,-1.000 18.000,1.000-18.000,17.000 0.000,18.000 17.000,-35.000-17.000,17.000 0.000,-17.000 0.000,18.000 18.000,-1.000-18.000,0.000 0.000,-17.000 0.000,0.000 17.000,-1.000-17.000,1.000 0.000,0.000 0.000,17.000 18.000,1.000-18.000,-1.000 0.000,0.000 0.000,1.000 0.000,-1.000 0.000,18.000 18.000,-18.000-18.000,-17.000 0.000,0.000 0.000,0.000 0.000,17.000 0.000,0.000 0.000,1.000-18.000,-1.000 18.000,0.000 0.000,1.000 0.000,-1.000-18.000,18.000 1.000,-18.000 17.000,18.000-35.000,-17.000 35.000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9-02T00:23:0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145.000 539.000,'-3.000'2.000,"2.000"1.000,-2.000 0.000,1.000 0.000,0.000 0.000,1.000 0.000,-1.000 0.000,1.000 0.000,0.000 0.000,1.000 0.000,-1.000 1.000,0.000-1.000,1.000 0.000,0.000 0.000,0.000 0.000,0.000 0.000,-1.000 0.000,1.000 0.000,0.000 0.000,0.000 0.000,0.000 1.000,0.000-1.000,0.000 0.000,0.000 0.000,0.000 0.000,0.000 1.000,0.000-1.000,1.000 0.000,0.000 0.000,0.000 0.000,1.000 0.000,-1.000 0.000,0.000 0.000,0.000 0.000,1.000 1.000,0.000-1.000,1.000-1.000,0.000-1.000,-5.000 2.000,-1.000-2.000,0.000 1.000,1.000 1.000,-1.000-2.000,2.000 2.000,-2.000-1.000,1.000 1.000,1.000 0.000,-1.000 1.000,0.000-1.000,1.000 0.000,1.000 1.000,0.000-1.000,0.000 0.000,-1.000 0.000,1.000 1.000,0.000-1.000,0.000 0.000,0.000 1.000,0.000 1.000,0.000-2.000,0.000 1.000,0.000-1.000,0.000 0.000,0.000 0.000,0.000 0.000,1.000 0.000,1.000 1.000,-1.000-1.000,0.000 0.000,0.000 0.000,2.000 0.000,0.000 0.000,1.000 1.000,-1.000-3.000,1.000 0.000,-1.000 1.000,0.000-1.000,0.000 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9-02T00:23:0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137.000 672.000,'-2.000'3.000,"-1.000"-2.000,1.000 2.000,-1.000 0.000,2.000 0.000,-1.000 1.000,2.000-1.000,-1.000 0.000,1.000 0.000,-1.000 0.000,1.000 0.000,-2.000 0.000,2.000 0.000,-1.000 0.000,0.000 0.000,1.000 0.000,0.000 1.000,0.000-1.000,0.000 0.000,0.000 1.000,0.000-1.000,1.000 0.000,-1.000 0.000,1.000 0.000,0.000 0.000,0.000 0.000,-1.000 0.000,2.000 0.000,-1.000 0.000,0.000 0.000,1.000 0.000,-1.000 0.000,1.000 0.000,1.000 0.000,-1.000 0.000,-1.000 0.000,2.000-2.000,0.000 2.000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09-02T00:23:0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137.000 783.000,'-3.000'2.000,"0.000"0.000,0.000 1.000,0.000 0.000,1.000 0.000,1.000 0.000,0.000 0.000,-1.000 0.000,2.000 0.000,-1.000 0.000,0.000 0.000,1.000 0.000,0.000 0.000,0.000 0.000,0.000 0.000,0.000 0.000,0.000 0.000,0.000 0.000,0.000 0.000,0.000 0.000,0.000 0.000,0.000 0.000,0.000 0.000,0.000 0.000,0.000 0.000,1.000 0.000,-1.000 0.000,1.000 0.000,0.000 0.000,0.000 0.000,0.000 0.000,1.000 0.000,0.000 0.000,0.000 0.000,0.000 0.000,-1.000 0.000,2.000 0.000,0.000-2.000,0.000 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buFontTx/>
              <a:buNone/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F697D9A7-E627-46BD-A18F-1A1BB772A87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规模和目标：高层概念，比较笼统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）如果重新定义了问题，则返回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“*”（与）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en-US" altLang="zh-CN" dirty="0" smtClean="0"/>
              <a:t>+</a:t>
            </a:r>
            <a:r>
              <a:rPr lang="zh-CN" altLang="en-US" dirty="0" smtClean="0"/>
              <a:t>”（或）：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或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，或者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⊕</a:t>
            </a:r>
            <a:r>
              <a:rPr lang="zh-CN" altLang="en-US" dirty="0" smtClean="0"/>
              <a:t>”（异或）：</a:t>
            </a:r>
            <a:r>
              <a:rPr lang="en-US" altLang="zh-CN" dirty="0" smtClean="0"/>
              <a:t>A</a:t>
            </a:r>
            <a:r>
              <a:rPr lang="zh-CN" altLang="en-US" dirty="0" smtClean="0"/>
              <a:t>或</a:t>
            </a:r>
            <a:r>
              <a:rPr lang="en-US" altLang="zh-CN" dirty="0" smtClean="0"/>
              <a:t>B</a:t>
            </a:r>
            <a:r>
              <a:rPr lang="zh-CN" altLang="en-US" dirty="0" smtClean="0"/>
              <a:t>，不能是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97D9A7-E627-46BD-A18F-1A1BB772A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联机：来一个处理一个；</a:t>
            </a:r>
            <a:r>
              <a:rPr lang="en-US" altLang="zh-CN"/>
              <a:t>real-time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重复的上限、下限出现在花括号的左（或下）、右（或上）。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697D9A7-E627-46BD-A18F-1A1BB772A8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04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4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70B2881-386F-4092-9BAC-46299D036EB7}" type="datetime11">
              <a:rPr lang="zh-CN" altLang="en-US"/>
            </a:fld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72C8068-FA40-440E-8257-E67F12DE8E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2ED4F-13FC-433D-9F05-6A9D0C9846B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70CE8-4F6C-4E63-B629-33A36B750797}" type="datetime11">
              <a:rPr lang="zh-CN" altLang="en-US"/>
            </a:fld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722FE-8A92-47E8-8F32-46E4F149530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5856AC-5FDD-436E-9A5D-8F42AFB3CF6F}" type="datetime11">
              <a:rPr lang="zh-CN" altLang="en-US"/>
            </a:fld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AFD059-D06B-42A1-B495-F0E8EA238D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7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05EA69-47D1-4633-B0CA-4DEB652F72AA}" type="datetime11">
              <a:rPr lang="zh-CN" altLang="en-US"/>
            </a:fld>
            <a:endParaRPr lang="en-US" altLang="zh-CN"/>
          </a:p>
        </p:txBody>
      </p:sp>
      <p:sp>
        <p:nvSpPr>
          <p:cNvPr id="8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31739D-8740-4F7C-ACD9-AE1DBEBACC3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C727DD-7A37-4D6D-8235-72FEACE5E4C3}" type="datetime11">
              <a:rPr lang="zh-CN" altLang="en-US"/>
            </a:fld>
            <a:endParaRPr lang="en-US" altLang="zh-CN"/>
          </a:p>
        </p:txBody>
      </p:sp>
      <p:sp>
        <p:nvSpPr>
          <p:cNvPr id="4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8BA2BA-F3CE-4095-B4FC-C6C01FEB58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28041-A49E-4200-8BE2-78AC44B5AECB}" type="datetime11">
              <a:rPr lang="zh-CN" altLang="en-US"/>
            </a:fld>
            <a:endParaRPr lang="en-US" altLang="zh-CN"/>
          </a:p>
        </p:txBody>
      </p:sp>
      <p:sp>
        <p:nvSpPr>
          <p:cNvPr id="3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CD17C3-5857-4519-AC79-588CC9E9E69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B652C-F0F7-4FC4-90CD-D75A316D379D}" type="datetime11">
              <a:rPr lang="zh-CN" altLang="en-US"/>
            </a:fld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89F1A-4AAB-4AB5-A280-680C78CED98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69968F-C40B-471B-899D-8E9CE2026DF7}" type="datetime11">
              <a:rPr lang="zh-CN" altLang="en-US"/>
            </a:fld>
            <a:endParaRPr lang="en-US" altLang="zh-CN"/>
          </a:p>
        </p:txBody>
      </p:sp>
      <p:sp>
        <p:nvSpPr>
          <p:cNvPr id="6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53B5D-BC5D-4DC7-9174-4E1E7FD409D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942D5-BA51-43BC-9CDA-139133864129}" type="datetime11">
              <a:rPr lang="zh-CN" altLang="en-US"/>
            </a:fld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AF204-03B2-46F8-880D-1AF79109A4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Rectangle 103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9E36A-99DA-468C-B662-9CC5D3B16688}" type="datetime11">
              <a:rPr lang="zh-CN" altLang="en-US"/>
            </a:fld>
            <a:endParaRPr lang="en-US" altLang="zh-CN"/>
          </a:p>
        </p:txBody>
      </p:sp>
      <p:sp>
        <p:nvSpPr>
          <p:cNvPr id="5" name="Rectangle 103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3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B4471-2838-48A3-8A79-495716E5EC6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/>
          <p:cNvSpPr>
            <a:spLocks noChangeArrowheads="1"/>
          </p:cNvSpPr>
          <p:nvPr/>
        </p:nvSpPr>
        <p:spPr bwMode="auto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7" name="Rectangle 1027"/>
          <p:cNvSpPr>
            <a:spLocks noChangeArrowheads="1"/>
          </p:cNvSpPr>
          <p:nvPr/>
        </p:nvSpPr>
        <p:spPr bwMode="auto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8" name="Rectangle 1028"/>
          <p:cNvSpPr>
            <a:spLocks noChangeArrowheads="1"/>
          </p:cNvSpPr>
          <p:nvPr/>
        </p:nvSpPr>
        <p:spPr bwMode="auto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29" name="Rectangle 1029"/>
          <p:cNvSpPr>
            <a:spLocks noChangeArrowheads="1"/>
          </p:cNvSpPr>
          <p:nvPr/>
        </p:nvSpPr>
        <p:spPr bwMode="auto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0" name="Rectangle 1030"/>
          <p:cNvSpPr>
            <a:spLocks noChangeArrowheads="1"/>
          </p:cNvSpPr>
          <p:nvPr/>
        </p:nvSpPr>
        <p:spPr bwMode="auto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1" name="Rectangle 1031"/>
          <p:cNvSpPr>
            <a:spLocks noChangeArrowheads="1"/>
          </p:cNvSpPr>
          <p:nvPr/>
        </p:nvSpPr>
        <p:spPr bwMode="auto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2" name="Rectangle 1032"/>
          <p:cNvSpPr>
            <a:spLocks noChangeArrowheads="1"/>
          </p:cNvSpPr>
          <p:nvPr/>
        </p:nvSpPr>
        <p:spPr bwMode="auto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033" name="Rectangle 1033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34" name="Rectangle 1034"/>
          <p:cNvSpPr>
            <a:spLocks noGrp="1" noChangeArrowheads="1"/>
          </p:cNvSpPr>
          <p:nvPr>
            <p:ph type="body" idx="9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9467" name="Rectangle 103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buFontTx/>
              <a:buNone/>
              <a:defRPr kumimoji="0" sz="1400"/>
            </a:lvl1pPr>
          </a:lstStyle>
          <a:p>
            <a:pPr>
              <a:defRPr/>
            </a:pPr>
            <a:fld id="{87D69B65-7EF2-4F9D-99DE-9A24384A68A9}" type="datetime11">
              <a:rPr lang="zh-CN" altLang="en-US"/>
            </a:fld>
            <a:endParaRPr lang="en-US" altLang="zh-CN"/>
          </a:p>
        </p:txBody>
      </p:sp>
      <p:sp>
        <p:nvSpPr>
          <p:cNvPr id="19468" name="Rectangle 103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buFontTx/>
              <a:buNone/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9" name="Rectangle 103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B0A884FB-9A20-4260-B704-B6F9E715584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宋体" panose="02010600030101010101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宋体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36719;&#20214;&#24320;&#21457;&#21487;&#34892;&#24615;&#30740;&#31350;&#25253;&#21578;&#19968;&#33324;&#21253;&#21547;&#21738;&#20123;&#20869;&#23481;.pdf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customXml" Target="../ink/ink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customXml" Target="../ink/ink2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customXml" Target="../ink/ink3.xml"/><Relationship Id="rId1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image" Target="../media/image13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customXml" Target="../ink/ink5.xml"/><Relationship Id="rId1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customXml" Target="../ink/ink7.xml"/><Relationship Id="rId4" Type="http://schemas.openxmlformats.org/officeDocument/2006/relationships/image" Target="../media/image18.png"/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tags" Target="../tags/tag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.bin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3.bin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实验安排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地点：东</a:t>
            </a:r>
            <a:r>
              <a:rPr lang="en-US" altLang="zh-CN"/>
              <a:t>115</a:t>
            </a:r>
            <a:r>
              <a:rPr lang="zh-CN" altLang="en-US"/>
              <a:t>、东</a:t>
            </a:r>
            <a:r>
              <a:rPr lang="en-US" altLang="zh-CN"/>
              <a:t>116</a:t>
            </a:r>
            <a:endParaRPr lang="en-US" altLang="zh-CN"/>
          </a:p>
          <a:p>
            <a:r>
              <a:rPr lang="zh-CN" altLang="en-US"/>
              <a:t>时间：</a:t>
            </a: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7</a:t>
            </a:r>
            <a:r>
              <a:rPr lang="zh-CN" altLang="en-US"/>
              <a:t>、</a:t>
            </a:r>
            <a:r>
              <a:rPr lang="en-US" altLang="zh-CN"/>
              <a:t>11</a:t>
            </a:r>
            <a:r>
              <a:rPr lang="zh-CN" altLang="en-US"/>
              <a:t>、</a:t>
            </a:r>
            <a:r>
              <a:rPr lang="en-US" altLang="zh-CN"/>
              <a:t>12</a:t>
            </a:r>
            <a:r>
              <a:rPr lang="zh-CN" altLang="en-US"/>
              <a:t>周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           </a:t>
            </a:r>
            <a:r>
              <a:rPr lang="zh-CN" altLang="en-US"/>
              <a:t>周六上午</a:t>
            </a:r>
            <a:r>
              <a:rPr lang="en-US" altLang="zh-CN"/>
              <a:t>1-4</a:t>
            </a:r>
            <a:r>
              <a:rPr lang="zh-CN" altLang="en-US"/>
              <a:t>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5060" y="836295"/>
            <a:ext cx="7792720" cy="1781175"/>
          </a:xfrm>
        </p:spPr>
        <p:txBody>
          <a:bodyPr/>
          <a:p>
            <a:r>
              <a:rPr lang="zh-CN" altLang="en-US" sz="3600" smtClean="0">
                <a:sym typeface="+mn-ea"/>
              </a:rPr>
              <a:t>第一章内容回顾</a:t>
            </a:r>
            <a:br>
              <a:rPr lang="zh-CN" altLang="en-US" sz="3600" smtClean="0">
                <a:sym typeface="+mn-ea"/>
              </a:rPr>
            </a:br>
            <a:br>
              <a:rPr lang="en-US" altLang="zh-CN" sz="3600" smtClean="0">
                <a:sym typeface="+mn-ea"/>
              </a:rPr>
            </a:br>
            <a:r>
              <a:rPr lang="en-US" altLang="zh-CN" sz="3600" smtClean="0">
                <a:sym typeface="+mn-ea"/>
              </a:rPr>
              <a:t>Q1</a:t>
            </a:r>
            <a:r>
              <a:rPr lang="zh-CN" altLang="en-US" sz="3600" smtClean="0">
                <a:sym typeface="+mn-ea"/>
              </a:rPr>
              <a:t>：</a:t>
            </a:r>
            <a:r>
              <a:rPr lang="zh-CN" altLang="zh-CN" sz="3600" smtClean="0">
                <a:sym typeface="+mn-ea"/>
              </a:rPr>
              <a:t>软件生命周期包括哪些阶段？</a:t>
            </a:r>
            <a:endParaRPr lang="zh-CN" altLang="en-US" sz="36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软件生命周期的组成</a:t>
            </a:r>
            <a:endParaRPr lang="zh-CN" altLang="en-US" smtClean="0"/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4E0E80D-288E-4663-81C3-416330725AE9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10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A58030-8F68-4E42-85A2-DD6768B0FF19}" type="slidenum">
              <a:rPr lang="en-US" altLang="zh-CN" sz="1400"/>
            </a:fld>
            <a:endParaRPr lang="en-US" altLang="zh-CN" sz="140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23850" y="2060575"/>
            <a:ext cx="8135938" cy="3455988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 smtClean="0">
                <a:ea typeface="+mn-ea"/>
              </a:rPr>
              <a:t>3</a:t>
            </a:r>
            <a:r>
              <a:rPr kumimoji="1" lang="zh-CN" altLang="en-US" dirty="0" smtClean="0">
                <a:ea typeface="+mn-ea"/>
              </a:rPr>
              <a:t>个时期，</a:t>
            </a:r>
            <a:r>
              <a:rPr kumimoji="1" lang="en-US" altLang="zh-CN" dirty="0" smtClean="0">
                <a:ea typeface="+mn-ea"/>
              </a:rPr>
              <a:t>8</a:t>
            </a:r>
            <a:r>
              <a:rPr kumimoji="1" lang="zh-CN" altLang="en-US" dirty="0" smtClean="0">
                <a:ea typeface="+mn-ea"/>
              </a:rPr>
              <a:t>个阶段：</a:t>
            </a:r>
            <a:endParaRPr kumimoji="1" lang="zh-CN" altLang="en-US" dirty="0">
              <a:ea typeface="+mn-ea"/>
            </a:endParaRP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400" dirty="0" smtClean="0">
                <a:ea typeface="+mn-ea"/>
              </a:rPr>
              <a:t>软件</a:t>
            </a:r>
            <a:r>
              <a:rPr kumimoji="1" lang="zh-CN" altLang="en-US" sz="2400" dirty="0">
                <a:ea typeface="+mn-ea"/>
              </a:rPr>
              <a:t>定义 （问题定义 </a:t>
            </a:r>
            <a:r>
              <a:rPr kumimoji="1" lang="en-US" altLang="zh-CN" sz="2400" dirty="0">
                <a:ea typeface="+mn-ea"/>
              </a:rPr>
              <a:t>+ </a:t>
            </a:r>
            <a:r>
              <a:rPr kumimoji="1" lang="zh-CN" altLang="en-US" sz="2400" dirty="0">
                <a:ea typeface="+mn-ea"/>
              </a:rPr>
              <a:t>可行性研究 </a:t>
            </a:r>
            <a:r>
              <a:rPr kumimoji="1" lang="en-US" altLang="zh-CN" sz="2400" dirty="0">
                <a:ea typeface="+mn-ea"/>
              </a:rPr>
              <a:t>+ </a:t>
            </a:r>
            <a:r>
              <a:rPr kumimoji="1" lang="zh-CN" altLang="en-US" sz="2400" dirty="0">
                <a:ea typeface="+mn-ea"/>
              </a:rPr>
              <a:t>需求分析</a:t>
            </a:r>
            <a:r>
              <a:rPr kumimoji="1" lang="zh-CN" altLang="en-US" sz="2400" dirty="0" smtClean="0">
                <a:ea typeface="+mn-ea"/>
              </a:rPr>
              <a:t>）；</a:t>
            </a:r>
            <a:endParaRPr kumimoji="1" lang="zh-CN" altLang="en-US" sz="2400" dirty="0">
              <a:ea typeface="+mn-ea"/>
            </a:endParaRP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400" dirty="0">
                <a:ea typeface="+mn-ea"/>
              </a:rPr>
              <a:t>软件开发 （总体设计 </a:t>
            </a:r>
            <a:r>
              <a:rPr kumimoji="1" lang="en-US" altLang="zh-CN" sz="2400" dirty="0">
                <a:ea typeface="+mn-ea"/>
              </a:rPr>
              <a:t>+ </a:t>
            </a:r>
            <a:r>
              <a:rPr kumimoji="1" lang="zh-CN" altLang="en-US" sz="2400" dirty="0">
                <a:ea typeface="+mn-ea"/>
              </a:rPr>
              <a:t>详细设计 </a:t>
            </a:r>
            <a:r>
              <a:rPr kumimoji="1" lang="en-US" altLang="zh-CN" sz="2400" dirty="0">
                <a:ea typeface="+mn-ea"/>
              </a:rPr>
              <a:t>+ </a:t>
            </a:r>
            <a:r>
              <a:rPr kumimoji="1" lang="zh-CN" altLang="en-US" sz="2400" dirty="0">
                <a:solidFill>
                  <a:srgbClr val="FF0000"/>
                </a:solidFill>
                <a:ea typeface="+mn-ea"/>
              </a:rPr>
              <a:t>编码</a:t>
            </a:r>
            <a:r>
              <a:rPr kumimoji="1" lang="zh-CN" altLang="en-US" sz="2400" dirty="0">
                <a:ea typeface="+mn-ea"/>
              </a:rPr>
              <a:t>和单元测试 </a:t>
            </a:r>
            <a:r>
              <a:rPr kumimoji="1" lang="en-US" altLang="zh-CN" sz="2400" dirty="0">
                <a:ea typeface="+mn-ea"/>
              </a:rPr>
              <a:t>+ </a:t>
            </a:r>
            <a:r>
              <a:rPr kumimoji="1" lang="zh-CN" altLang="en-US" sz="2400" dirty="0">
                <a:ea typeface="+mn-ea"/>
              </a:rPr>
              <a:t>综合测试</a:t>
            </a:r>
            <a:r>
              <a:rPr kumimoji="1" lang="zh-CN" altLang="en-US" sz="2400" dirty="0" smtClean="0">
                <a:ea typeface="+mn-ea"/>
              </a:rPr>
              <a:t>）；</a:t>
            </a:r>
            <a:endParaRPr kumimoji="1" lang="zh-CN" altLang="en-US" sz="2400" dirty="0">
              <a:ea typeface="+mn-ea"/>
            </a:endParaRPr>
          </a:p>
          <a:p>
            <a:pPr marL="514350" indent="-514350">
              <a:buFont typeface="Wingdings" panose="05000000000000000000" pitchFamily="2" charset="2"/>
              <a:buAutoNum type="arabicPeriod"/>
              <a:defRPr/>
            </a:pPr>
            <a:r>
              <a:rPr kumimoji="1" lang="zh-CN" altLang="en-US" sz="2400" dirty="0">
                <a:ea typeface="+mn-ea"/>
              </a:rPr>
              <a:t>软件维护（也称作运行</a:t>
            </a:r>
            <a:r>
              <a:rPr kumimoji="1" lang="zh-CN" altLang="en-US" sz="2400" dirty="0" smtClean="0">
                <a:ea typeface="+mn-ea"/>
              </a:rPr>
              <a:t>维护，简称运维）。</a:t>
            </a:r>
            <a:endParaRPr kumimoji="1" lang="zh-CN" altLang="en-US" sz="2400" dirty="0"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895" y="2132965"/>
            <a:ext cx="7792720" cy="1425575"/>
          </a:xfrm>
        </p:spPr>
        <p:txBody>
          <a:bodyPr/>
          <a:p>
            <a:r>
              <a:rPr lang="en-US" altLang="zh-CN"/>
              <a:t>Q2</a:t>
            </a:r>
            <a:r>
              <a:rPr lang="zh-CN" altLang="en-US"/>
              <a:t>：我们学习了哪几种软件过程模型？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buFont typeface="Wingdings" panose="05000000000000000000" charset="0"/>
              <a:buChar char="Ø"/>
            </a:pPr>
            <a:r>
              <a:rPr lang="zh-CN" altLang="en-US"/>
              <a:t>瀑布模型（理想的；实际的）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快速原型模型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增量模型（一般的；风险更大的）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螺旋模型（简化的；完整的）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喷泉模型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第二章  可行性研究</a:t>
            </a:r>
            <a:endParaRPr lang="zh-CN" alt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981200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mtClean="0"/>
              <a:t>可行性研究的目的与任务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可行性研究的步骤 （或过程）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可行性研究的工具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系统流程图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数据流图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数据字典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成本</a:t>
            </a:r>
            <a:r>
              <a:rPr lang="en-US" altLang="zh-CN" smtClean="0"/>
              <a:t>/</a:t>
            </a:r>
            <a:r>
              <a:rPr lang="zh-CN" altLang="en-US" smtClean="0"/>
              <a:t>效益分析</a:t>
            </a:r>
            <a:endParaRPr lang="zh-CN" altLang="en-US" smtClean="0"/>
          </a:p>
        </p:txBody>
      </p:sp>
      <p:sp>
        <p:nvSpPr>
          <p:cNvPr id="614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EC09B33-B565-4E7B-A686-427E80242C27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6149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858346C-D51C-4912-B4CB-741CD8680B7F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开发软件要回答三个问题</a:t>
            </a:r>
            <a:endParaRPr lang="zh-CN" altLang="en-US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zh-CN" dirty="0" smtClean="0"/>
          </a:p>
          <a:p>
            <a:pPr eaLnBrk="1" hangingPunct="1"/>
            <a:r>
              <a:rPr lang="en-US" altLang="zh-CN" dirty="0" smtClean="0"/>
              <a:t>Is it feasible? Or is there any workable solution to solve the problem? </a:t>
            </a:r>
            <a:endParaRPr lang="en-US" altLang="zh-CN" dirty="0" smtClean="0"/>
          </a:p>
          <a:p>
            <a:pPr marL="0" indent="0" eaLnBrk="1" hangingPunct="1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</a:rPr>
              <a:t>    —</a:t>
            </a:r>
            <a:r>
              <a:rPr lang="zh-CN" altLang="en-US" dirty="0" smtClean="0"/>
              <a:t>可行性研究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What to do?</a:t>
            </a:r>
            <a:r>
              <a:rPr lang="en-US" altLang="zh-CN" dirty="0" smtClean="0">
                <a:latin typeface="Times New Roman" panose="02020603050405020304" pitchFamily="18" charset="0"/>
              </a:rPr>
              <a:t>—</a:t>
            </a:r>
            <a:r>
              <a:rPr lang="zh-CN" altLang="en-US" dirty="0" smtClean="0"/>
              <a:t>需求分析</a:t>
            </a:r>
            <a:endParaRPr lang="zh-CN" altLang="en-US" dirty="0" smtClean="0"/>
          </a:p>
          <a:p>
            <a:pPr eaLnBrk="1" hangingPunct="1"/>
            <a:r>
              <a:rPr lang="en-US" altLang="zh-CN" dirty="0" smtClean="0"/>
              <a:t>How to do? </a:t>
            </a:r>
            <a:r>
              <a:rPr lang="en-US" altLang="zh-CN" dirty="0" smtClean="0">
                <a:latin typeface="Times New Roman" panose="02020603050405020304" pitchFamily="18" charset="0"/>
              </a:rPr>
              <a:t>—</a:t>
            </a:r>
            <a:r>
              <a:rPr lang="zh-CN" altLang="en-US" dirty="0" smtClean="0"/>
              <a:t>系统设计</a:t>
            </a:r>
            <a:endParaRPr lang="zh-CN" altLang="en-US" dirty="0" smtClean="0"/>
          </a:p>
        </p:txBody>
      </p:sp>
      <p:sp>
        <p:nvSpPr>
          <p:cNvPr id="717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A3089527-97E0-4410-AE95-E666F7102AA2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7173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853C62-3120-4509-86B0-65165ACDD439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2.1 </a:t>
            </a:r>
            <a:r>
              <a:rPr lang="zh-CN" altLang="en-US" smtClean="0">
                <a:solidFill>
                  <a:srgbClr val="FF0000"/>
                </a:solidFill>
              </a:rPr>
              <a:t>可行性研究的目的与任务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772400" cy="4506912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2600" b="1" dirty="0" smtClean="0">
                <a:ea typeface="+mn-ea"/>
              </a:rPr>
              <a:t>目的</a:t>
            </a:r>
            <a:r>
              <a:rPr kumimoji="1" lang="zh-CN" altLang="en-US" sz="2600" dirty="0" smtClean="0">
                <a:ea typeface="+mn-ea"/>
              </a:rPr>
              <a:t>：回答是否可行</a:t>
            </a:r>
            <a:endParaRPr kumimoji="1" lang="zh-CN" altLang="en-US" sz="2600" dirty="0" smtClean="0">
              <a:ea typeface="+mn-ea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kumimoji="1" lang="zh-CN" altLang="en-US" sz="2200" dirty="0" smtClean="0">
                <a:ea typeface="+mn-ea"/>
              </a:rPr>
              <a:t>用</a:t>
            </a:r>
            <a:r>
              <a:rPr kumimoji="1" lang="zh-CN" altLang="en-US" sz="2200" dirty="0" smtClean="0">
                <a:solidFill>
                  <a:srgbClr val="0000FF"/>
                </a:solidFill>
                <a:ea typeface="+mn-ea"/>
              </a:rPr>
              <a:t>最小代价、在尽可能短时间内</a:t>
            </a:r>
            <a:r>
              <a:rPr kumimoji="1" lang="zh-CN" altLang="en-US" sz="2200" dirty="0" smtClean="0">
                <a:ea typeface="+mn-ea"/>
              </a:rPr>
              <a:t>确定问题是否能够解决。</a:t>
            </a:r>
            <a:endParaRPr kumimoji="1" lang="zh-CN" altLang="en-US" sz="2200" dirty="0" smtClean="0">
              <a:ea typeface="+mn-ea"/>
            </a:endParaRPr>
          </a:p>
          <a:p>
            <a:pPr eaLnBrk="1" hangingPunct="1">
              <a:defRPr/>
            </a:pPr>
            <a:r>
              <a:rPr kumimoji="1" lang="zh-CN" altLang="en-US" sz="2600" b="1" dirty="0" smtClean="0">
                <a:ea typeface="+mn-ea"/>
              </a:rPr>
              <a:t>任务</a:t>
            </a:r>
            <a:r>
              <a:rPr kumimoji="1" lang="zh-CN" altLang="en-US" sz="2600" dirty="0" smtClean="0">
                <a:ea typeface="+mn-ea"/>
              </a:rPr>
              <a:t>：分析以下</a:t>
            </a:r>
            <a:r>
              <a:rPr kumimoji="1" lang="en-US" altLang="zh-CN" sz="2600" dirty="0" smtClean="0">
                <a:ea typeface="+mn-ea"/>
              </a:rPr>
              <a:t>4</a:t>
            </a:r>
            <a:r>
              <a:rPr kumimoji="1" lang="zh-CN" altLang="en-US" sz="2600" dirty="0" smtClean="0">
                <a:ea typeface="+mn-ea"/>
              </a:rPr>
              <a:t>个方面的可行性：</a:t>
            </a:r>
            <a:endParaRPr kumimoji="1" lang="zh-CN" altLang="en-US" sz="2600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sz="2200" dirty="0" smtClean="0">
                <a:ea typeface="+mn-ea"/>
              </a:rPr>
              <a:t>技术可行性 （软硬件资源、人员、工作环境）</a:t>
            </a:r>
            <a:endParaRPr kumimoji="1" lang="zh-CN" altLang="en-US" sz="2200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sz="2200" dirty="0" smtClean="0">
                <a:ea typeface="+mn-ea"/>
              </a:rPr>
              <a:t>经济可行性 （经济效益</a:t>
            </a:r>
            <a:r>
              <a:rPr kumimoji="1" lang="en-US" altLang="zh-CN" sz="2200" dirty="0" smtClean="0">
                <a:ea typeface="+mn-ea"/>
              </a:rPr>
              <a:t>&gt;</a:t>
            </a:r>
            <a:r>
              <a:rPr kumimoji="1" lang="zh-CN" altLang="en-US" sz="2200" dirty="0" smtClean="0">
                <a:ea typeface="+mn-ea"/>
              </a:rPr>
              <a:t>开发成本？）</a:t>
            </a:r>
            <a:endParaRPr kumimoji="1" lang="zh-CN" altLang="en-US" sz="2200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sz="2200" dirty="0" smtClean="0">
                <a:ea typeface="+mn-ea"/>
              </a:rPr>
              <a:t>操作可行性 （亦称为运行可行性。对新系统的运行方式</a:t>
            </a:r>
            <a:r>
              <a:rPr kumimoji="1" lang="en-US" altLang="zh-CN" sz="2200" dirty="0" smtClean="0">
                <a:ea typeface="+mn-ea"/>
              </a:rPr>
              <a:t>/</a:t>
            </a:r>
            <a:r>
              <a:rPr kumimoji="1" lang="zh-CN" altLang="en-US" sz="2200" dirty="0" smtClean="0">
                <a:ea typeface="+mn-ea"/>
              </a:rPr>
              <a:t>模式，用户可以接受吗？）</a:t>
            </a:r>
            <a:endParaRPr kumimoji="1" lang="en-US" altLang="zh-CN" sz="2200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sz="2200" dirty="0" smtClean="0">
                <a:ea typeface="+mn-ea"/>
              </a:rPr>
              <a:t>法律可行性</a:t>
            </a:r>
            <a:endParaRPr kumimoji="1" lang="en-US" altLang="zh-CN" sz="2200" dirty="0" smtClean="0">
              <a:ea typeface="+mn-ea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kumimoji="1" lang="en-US" altLang="zh-CN" sz="2200" dirty="0">
                <a:ea typeface="+mn-ea"/>
              </a:rPr>
              <a:t> </a:t>
            </a:r>
            <a:r>
              <a:rPr kumimoji="1" lang="en-US" altLang="zh-CN" sz="2200" dirty="0" smtClean="0">
                <a:ea typeface="+mn-ea"/>
              </a:rPr>
              <a:t>  </a:t>
            </a:r>
            <a:r>
              <a:rPr kumimoji="1" lang="zh-CN" altLang="en-US" sz="2200" dirty="0" smtClean="0">
                <a:ea typeface="+mn-ea"/>
              </a:rPr>
              <a:t>比如，软件的归属权问题、开发软件所用的技术是否会造成侵权等问题。</a:t>
            </a:r>
            <a:endParaRPr kumimoji="1" lang="zh-CN" altLang="en-US" sz="2200" dirty="0" smtClean="0">
              <a:ea typeface="+mn-ea"/>
            </a:endParaRPr>
          </a:p>
        </p:txBody>
      </p:sp>
      <p:sp>
        <p:nvSpPr>
          <p:cNvPr id="819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0A17CCB-CDCB-4838-BAA9-836CC08973B1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8197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80866F-97CA-45DB-8CA5-09DDF77487C4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99478" y="548958"/>
            <a:ext cx="7993062" cy="1143000"/>
          </a:xfrm>
        </p:spPr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2.2 </a:t>
            </a:r>
            <a:r>
              <a:rPr lang="zh-CN" altLang="en-US" smtClean="0">
                <a:solidFill>
                  <a:srgbClr val="FF0000"/>
                </a:solidFill>
              </a:rPr>
              <a:t>可行性研究的步骤（或过程）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116330" y="1844675"/>
            <a:ext cx="7848600" cy="4883785"/>
          </a:xfrm>
        </p:spPr>
        <p:txBody>
          <a:bodyPr/>
          <a:lstStyle/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复查</a:t>
            </a:r>
            <a:r>
              <a:rPr lang="zh-CN" altLang="en-US" sz="2800" dirty="0" smtClean="0">
                <a:solidFill>
                  <a:schemeClr val="tx1"/>
                </a:solidFill>
              </a:rPr>
              <a:t>系统规模</a:t>
            </a:r>
            <a:r>
              <a:rPr lang="zh-CN" altLang="en-US" sz="2800" dirty="0" smtClean="0"/>
              <a:t>和目标；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研究现有系统；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导出新系统的</a:t>
            </a:r>
            <a:r>
              <a:rPr lang="zh-CN" altLang="en-US" sz="2800" dirty="0" smtClean="0">
                <a:solidFill>
                  <a:srgbClr val="FF0000"/>
                </a:solidFill>
              </a:rPr>
              <a:t>高层逻辑模型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重新定义问题 （与用户沟通，必要时重新定义问题）；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导出和分析各种可选解决方案；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推荐行动方针 </a:t>
            </a:r>
            <a:r>
              <a:rPr lang="en-US" altLang="zh-CN" sz="2800" dirty="0" smtClean="0">
                <a:latin typeface="Times New Roman" panose="02020603050405020304" pitchFamily="18" charset="0"/>
              </a:rPr>
              <a:t>(Recommend the best solution.)</a:t>
            </a:r>
            <a:r>
              <a:rPr lang="zh-CN" altLang="en-US" sz="2800" dirty="0" smtClean="0">
                <a:latin typeface="Times New Roman" panose="02020603050405020304" pitchFamily="18" charset="0"/>
              </a:rPr>
              <a:t>；</a:t>
            </a:r>
            <a:endParaRPr lang="en-US" altLang="zh-CN" sz="2800" dirty="0" smtClean="0">
              <a:latin typeface="Times New Roman" panose="02020603050405020304" pitchFamily="18" charset="0"/>
            </a:endParaRPr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草拟开发计划；</a:t>
            </a:r>
            <a:endParaRPr lang="en-US" altLang="zh-CN" sz="2800" dirty="0" smtClean="0"/>
          </a:p>
          <a:p>
            <a:pPr marL="514350" indent="-514350" eaLnBrk="1" hangingPunct="1">
              <a:buFont typeface="Wingdings" panose="05000000000000000000" pitchFamily="2" charset="2"/>
              <a:buAutoNum type="arabicParenR"/>
            </a:pPr>
            <a:r>
              <a:rPr lang="zh-CN" altLang="en-US" sz="2800" dirty="0" smtClean="0"/>
              <a:t>书写文档提交审查 </a:t>
            </a:r>
            <a:r>
              <a:rPr lang="en-US" altLang="zh-CN" sz="2800" dirty="0" smtClean="0">
                <a:latin typeface="Times New Roman" panose="02020603050405020304" pitchFamily="18" charset="0"/>
                <a:sym typeface="+mn-ea"/>
              </a:rPr>
              <a:t>(</a:t>
            </a:r>
            <a:r>
              <a:rPr lang="zh-CN" altLang="en-US" sz="2800" dirty="0" smtClean="0"/>
              <a:t>以上步骤整理成</a:t>
            </a:r>
            <a:r>
              <a:rPr lang="zh-CN" altLang="en-US" sz="2800" dirty="0" smtClean="0">
                <a:highlight>
                  <a:srgbClr val="FFFF00"/>
                </a:highlight>
              </a:rPr>
              <a:t>文档</a:t>
            </a:r>
            <a:r>
              <a:rPr lang="en-US" altLang="zh-CN" sz="2800" dirty="0" smtClean="0">
                <a:latin typeface="Times New Roman" panose="02020603050405020304" pitchFamily="18" charset="0"/>
                <a:sym typeface="+mn-ea"/>
              </a:rPr>
              <a:t>)</a:t>
            </a:r>
            <a:r>
              <a:rPr lang="zh-CN" altLang="en-US" sz="2800" dirty="0" smtClean="0"/>
              <a:t>。</a:t>
            </a:r>
            <a:endParaRPr lang="zh-CN" altLang="en-US" sz="2800" dirty="0" smtClean="0"/>
          </a:p>
        </p:txBody>
      </p:sp>
      <p:sp>
        <p:nvSpPr>
          <p:cNvPr id="9220" name="Arc 4"/>
          <p:cNvSpPr>
            <a:spLocks noChangeArrowheads="1"/>
          </p:cNvSpPr>
          <p:nvPr/>
        </p:nvSpPr>
        <p:spPr bwMode="auto">
          <a:xfrm rot="711610" flipH="1" flipV="1">
            <a:off x="793750" y="2205038"/>
            <a:ext cx="601663" cy="1393825"/>
          </a:xfrm>
          <a:custGeom>
            <a:avLst/>
            <a:gdLst>
              <a:gd name="T0" fmla="*/ 0 w 21601"/>
              <a:gd name="T1" fmla="*/ 0 h 37905"/>
              <a:gd name="T2" fmla="*/ 28 w 21601"/>
              <a:gd name="T3" fmla="*/ 0 h 37905"/>
              <a:gd name="T4" fmla="*/ 601663 w 21601"/>
              <a:gd name="T5" fmla="*/ 794265 h 37905"/>
              <a:gd name="T6" fmla="*/ 394628 w 21601"/>
              <a:gd name="T7" fmla="*/ 1393825 h 37905"/>
              <a:gd name="T8" fmla="*/ 0 w 21601"/>
              <a:gd name="T9" fmla="*/ 0 h 37905"/>
              <a:gd name="T10" fmla="*/ 28 w 21601"/>
              <a:gd name="T11" fmla="*/ 0 h 37905"/>
              <a:gd name="T12" fmla="*/ 601663 w 21601"/>
              <a:gd name="T13" fmla="*/ 794265 h 37905"/>
              <a:gd name="T14" fmla="*/ 394628 w 21601"/>
              <a:gd name="T15" fmla="*/ 1393825 h 37905"/>
              <a:gd name="T16" fmla="*/ 28 w 21601"/>
              <a:gd name="T17" fmla="*/ 794265 h 37905"/>
              <a:gd name="T18" fmla="*/ 0 w 21601"/>
              <a:gd name="T19" fmla="*/ 0 h 3790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601" h="37905" fill="none">
                <a:moveTo>
                  <a:pt x="0" y="0"/>
                </a:moveTo>
                <a:cubicBezTo>
                  <a:pt x="0" y="0"/>
                  <a:pt x="0" y="-1"/>
                  <a:pt x="1" y="0"/>
                </a:cubicBezTo>
                <a:cubicBezTo>
                  <a:pt x="11930" y="0"/>
                  <a:pt x="21601" y="9670"/>
                  <a:pt x="21601" y="21600"/>
                </a:cubicBezTo>
                <a:cubicBezTo>
                  <a:pt x="21601" y="27854"/>
                  <a:pt x="18889" y="33802"/>
                  <a:pt x="14168" y="37905"/>
                </a:cubicBezTo>
              </a:path>
              <a:path w="21601" h="37905" stroke="0">
                <a:moveTo>
                  <a:pt x="0" y="0"/>
                </a:moveTo>
                <a:cubicBezTo>
                  <a:pt x="0" y="0"/>
                  <a:pt x="0" y="-1"/>
                  <a:pt x="1" y="0"/>
                </a:cubicBezTo>
                <a:cubicBezTo>
                  <a:pt x="11930" y="0"/>
                  <a:pt x="21601" y="9670"/>
                  <a:pt x="21601" y="21600"/>
                </a:cubicBezTo>
                <a:cubicBezTo>
                  <a:pt x="21601" y="27854"/>
                  <a:pt x="18889" y="33802"/>
                  <a:pt x="14168" y="37905"/>
                </a:cubicBezTo>
                <a:lnTo>
                  <a:pt x="1" y="216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6CD47C6-76E9-484C-8B3F-3359CDE63903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9222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6F23FD5-9C76-4E43-B773-4A6DC3C7C879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1) </a:t>
            </a:r>
            <a:r>
              <a:rPr lang="zh-CN" altLang="en-US" smtClean="0"/>
              <a:t>复查系统规模和目标</a:t>
            </a:r>
            <a:endParaRPr lang="zh-CN" altLang="en-US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971868" y="1988503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smtClean="0"/>
              <a:t>参照</a:t>
            </a:r>
            <a:r>
              <a:rPr lang="zh-CN" altLang="en-US" smtClean="0"/>
              <a:t>问题定义阶段的成果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系统</a:t>
            </a:r>
            <a:r>
              <a:rPr lang="zh-CN" altLang="en-US" u="sng" smtClean="0"/>
              <a:t>规模和目标</a:t>
            </a:r>
            <a:r>
              <a:rPr lang="zh-CN" altLang="en-US" smtClean="0"/>
              <a:t>报告书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复查任务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改正含糊的</a:t>
            </a:r>
            <a:r>
              <a:rPr lang="en-US" altLang="zh-CN" smtClean="0"/>
              <a:t>/</a:t>
            </a:r>
            <a:r>
              <a:rPr lang="zh-CN" altLang="en-US" smtClean="0"/>
              <a:t>有二义性的、不正确的</a:t>
            </a:r>
            <a:r>
              <a:rPr lang="zh-CN" altLang="en-US" smtClean="0"/>
              <a:t>描述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核查系统限制和约束（使用对象、软硬件等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1024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336945CD-48B4-40DB-A708-D1D304B26728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024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8B6A92-6F8B-4D73-BC05-0888F52F378E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2) </a:t>
            </a:r>
            <a:r>
              <a:rPr lang="zh-CN" altLang="en-US" smtClean="0"/>
              <a:t>研究现有系统功能</a:t>
            </a:r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17880" y="2018030"/>
            <a:ext cx="8137525" cy="41148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分析现有系统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参照</a:t>
            </a:r>
            <a:r>
              <a:rPr lang="zh-CN" altLang="en-US" dirty="0" smtClean="0"/>
              <a:t>高层系统流程图 （不用关注太多细节）；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现有系统可以完成哪些功能？</a:t>
            </a:r>
            <a:endParaRPr lang="zh-CN" altLang="en-US" dirty="0" smtClean="0"/>
          </a:p>
          <a:p>
            <a:pPr eaLnBrk="1" hangingPunct="1"/>
            <a:r>
              <a:rPr lang="zh-CN" altLang="en-US" dirty="0" smtClean="0"/>
              <a:t>比较新旧系统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新系统必须完成旧系统（</a:t>
            </a:r>
            <a:r>
              <a:rPr lang="zh-CN" altLang="en-US" u="sng" dirty="0" smtClean="0"/>
              <a:t>现有系统</a:t>
            </a:r>
            <a:r>
              <a:rPr lang="zh-CN" altLang="en-US" dirty="0" smtClean="0"/>
              <a:t>）的</a:t>
            </a:r>
            <a:r>
              <a:rPr lang="zh-CN" altLang="en-US" dirty="0" smtClean="0">
                <a:solidFill>
                  <a:srgbClr val="FF0000"/>
                </a:solidFill>
              </a:rPr>
              <a:t>基本功能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新系统必须</a:t>
            </a:r>
            <a:r>
              <a:rPr lang="zh-CN" altLang="en-US" dirty="0" smtClean="0">
                <a:solidFill>
                  <a:srgbClr val="FF0000"/>
                </a:solidFill>
              </a:rPr>
              <a:t>改正</a:t>
            </a:r>
            <a:r>
              <a:rPr lang="zh-CN" altLang="en-US" dirty="0" smtClean="0"/>
              <a:t>旧系统存在的</a:t>
            </a:r>
            <a:r>
              <a:rPr lang="zh-CN" altLang="en-US" dirty="0" smtClean="0">
                <a:solidFill>
                  <a:srgbClr val="FF0000"/>
                </a:solidFill>
              </a:rPr>
              <a:t>问题</a:t>
            </a:r>
            <a:r>
              <a:rPr lang="zh-CN" altLang="en-US" dirty="0" smtClean="0"/>
              <a:t>；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新系统是否比旧系统创造更多</a:t>
            </a:r>
            <a:r>
              <a:rPr lang="zh-CN" altLang="en-US" dirty="0" smtClean="0">
                <a:solidFill>
                  <a:srgbClr val="FF0000"/>
                </a:solidFill>
              </a:rPr>
              <a:t>收益</a:t>
            </a:r>
            <a:r>
              <a:rPr lang="zh-CN" altLang="en-US" dirty="0" smtClean="0"/>
              <a:t>？</a:t>
            </a:r>
            <a:endParaRPr lang="zh-CN" altLang="en-US" dirty="0" smtClean="0"/>
          </a:p>
        </p:txBody>
      </p:sp>
      <p:sp>
        <p:nvSpPr>
          <p:cNvPr id="1126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2DC634C7-5C5A-4227-8359-3001F36E39D2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1269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520AC8-20DB-491F-B34F-4732E4B82494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3) </a:t>
            </a:r>
            <a:r>
              <a:rPr lang="zh-CN" altLang="en-US" smtClean="0"/>
              <a:t>导出新系统模型</a:t>
            </a:r>
            <a:endParaRPr lang="zh-CN" altLang="en-US" smtClean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参考旧（现有）系统逻辑模型，导出新系统逻辑模型。</a:t>
            </a:r>
            <a:endParaRPr lang="zh-CN" altLang="en-US" dirty="0" smtClean="0"/>
          </a:p>
          <a:p>
            <a:pPr eaLnBrk="1" hangingPunct="1"/>
            <a:endParaRPr lang="en-US" altLang="zh-CN" dirty="0" smtClean="0"/>
          </a:p>
          <a:p>
            <a:pPr eaLnBrk="1" hangingPunct="1"/>
            <a:r>
              <a:rPr lang="zh-CN" altLang="en-US" dirty="0" smtClean="0"/>
              <a:t>逻辑模型描述工具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数据流图 （</a:t>
            </a:r>
            <a:r>
              <a:rPr lang="zh-CN" altLang="en-US" dirty="0" smtClean="0">
                <a:solidFill>
                  <a:srgbClr val="FF0000"/>
                </a:solidFill>
              </a:rPr>
              <a:t>本章学习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数据字典（</a:t>
            </a:r>
            <a:r>
              <a:rPr lang="zh-CN" altLang="en-US" dirty="0" smtClean="0">
                <a:solidFill>
                  <a:srgbClr val="FF0000"/>
                </a:solidFill>
              </a:rPr>
              <a:t>本章学习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用例图 （</a:t>
            </a:r>
            <a:r>
              <a:rPr lang="zh-CN" altLang="en-US" dirty="0" smtClean="0">
                <a:solidFill>
                  <a:srgbClr val="FF0000"/>
                </a:solidFill>
              </a:rPr>
              <a:t>第</a:t>
            </a:r>
            <a:r>
              <a:rPr lang="en-US" altLang="zh-CN" dirty="0" smtClean="0">
                <a:solidFill>
                  <a:srgbClr val="FF0000"/>
                </a:solidFill>
              </a:rPr>
              <a:t>9</a:t>
            </a:r>
            <a:r>
              <a:rPr lang="zh-CN" altLang="en-US" dirty="0" smtClean="0">
                <a:solidFill>
                  <a:srgbClr val="FF0000"/>
                </a:solidFill>
              </a:rPr>
              <a:t>章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endParaRPr lang="en-US" altLang="zh-CN" dirty="0" smtClean="0"/>
          </a:p>
        </p:txBody>
      </p:sp>
      <p:sp>
        <p:nvSpPr>
          <p:cNvPr id="1229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F311F15-B32A-41DE-9F4A-5B08BFDAB92A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2293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01615E0-FE31-47CB-8E8F-A75A8BA5A3B7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4) </a:t>
            </a:r>
            <a:r>
              <a:rPr lang="zh-CN" altLang="en-US" smtClean="0"/>
              <a:t>重新定义问题</a:t>
            </a:r>
            <a:endParaRPr lang="zh-CN" altLang="en-US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 smtClean="0">
                <a:ea typeface="+mn-ea"/>
              </a:rPr>
              <a:t>复查问题定义、规模和目标</a:t>
            </a:r>
            <a:endParaRPr kumimoji="1" lang="zh-CN" altLang="en-US" dirty="0" smtClean="0">
              <a:ea typeface="+mn-ea"/>
            </a:endParaRPr>
          </a:p>
          <a:p>
            <a:pPr marL="457200" lvl="1" indent="0" eaLnBrk="1" hangingPunct="1">
              <a:buNone/>
              <a:defRPr/>
            </a:pPr>
            <a:r>
              <a:rPr kumimoji="1" lang="zh-CN" altLang="en-US" dirty="0" smtClean="0">
                <a:ea typeface="+mn-ea"/>
              </a:rPr>
              <a:t>在</a:t>
            </a:r>
            <a:r>
              <a:rPr kumimoji="1" lang="zh-CN" altLang="en-US" dirty="0" smtClean="0">
                <a:highlight>
                  <a:srgbClr val="FFFF00"/>
                </a:highlight>
                <a:ea typeface="+mn-ea"/>
              </a:rPr>
              <a:t>新系统</a:t>
            </a:r>
            <a:r>
              <a:rPr kumimoji="1" lang="zh-CN" altLang="en-US" dirty="0" smtClean="0">
                <a:ea typeface="+mn-ea"/>
              </a:rPr>
              <a:t>模型基础上，</a:t>
            </a:r>
            <a:endParaRPr kumimoji="1" lang="zh-CN" altLang="en-US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dirty="0" smtClean="0">
                <a:ea typeface="+mn-ea"/>
              </a:rPr>
              <a:t>分析员对问题有</a:t>
            </a:r>
            <a:r>
              <a:rPr kumimoji="1" lang="zh-CN" altLang="en-US" dirty="0" smtClean="0">
                <a:highlight>
                  <a:srgbClr val="FFFF00"/>
                </a:highlight>
                <a:ea typeface="+mn-ea"/>
              </a:rPr>
              <a:t>误解</a:t>
            </a:r>
            <a:r>
              <a:rPr kumimoji="1" lang="zh-CN" altLang="en-US" dirty="0" smtClean="0">
                <a:ea typeface="+mn-ea"/>
              </a:rPr>
              <a:t>吗？</a:t>
            </a:r>
            <a:endParaRPr kumimoji="1" lang="zh-CN" altLang="en-US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dirty="0" smtClean="0">
                <a:ea typeface="+mn-ea"/>
              </a:rPr>
              <a:t>用户是否</a:t>
            </a:r>
            <a:r>
              <a:rPr kumimoji="1" lang="zh-CN" altLang="en-US" dirty="0" smtClean="0">
                <a:highlight>
                  <a:srgbClr val="FFFF00"/>
                </a:highlight>
                <a:ea typeface="+mn-ea"/>
              </a:rPr>
              <a:t>遗漏了需求</a:t>
            </a:r>
            <a:r>
              <a:rPr kumimoji="1" lang="zh-CN" altLang="en-US" dirty="0" smtClean="0">
                <a:ea typeface="+mn-ea"/>
              </a:rPr>
              <a:t>？</a:t>
            </a:r>
            <a:endParaRPr kumimoji="1" lang="en-US" altLang="zh-CN" dirty="0" smtClean="0">
              <a:ea typeface="+mn-ea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kumimoji="1" lang="zh-CN" altLang="en-US" dirty="0" smtClean="0">
              <a:ea typeface="+mn-ea"/>
            </a:endParaRPr>
          </a:p>
          <a:p>
            <a:pPr eaLnBrk="1" hangingPunct="1">
              <a:defRPr/>
            </a:pPr>
            <a:r>
              <a:rPr kumimoji="1" lang="en-US" altLang="zh-CN" dirty="0" smtClean="0">
                <a:ea typeface="+mn-ea"/>
              </a:rPr>
              <a:t>Steps 1 to 4</a:t>
            </a:r>
            <a:r>
              <a:rPr kumimoji="1" lang="zh-CN" altLang="en-US" dirty="0" smtClean="0">
                <a:ea typeface="+mn-ea"/>
              </a:rPr>
              <a:t>可能形成闭环。</a:t>
            </a:r>
            <a:endParaRPr kumimoji="1" lang="zh-CN" altLang="en-US" dirty="0" smtClean="0">
              <a:ea typeface="+mn-ea"/>
            </a:endParaRPr>
          </a:p>
        </p:txBody>
      </p:sp>
      <p:sp>
        <p:nvSpPr>
          <p:cNvPr id="1331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134DD14-736D-4429-9998-D9347374ED80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3317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DA02BDD-024C-4EB2-ADCE-71D4194E2B8C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72F52B-56EA-49BC-9EA7-BB97E5860CB6}" type="datetime11">
              <a:rPr lang="zh-CN" altLang="en-US" sz="1400" smtClean="0"/>
            </a:fld>
            <a:endParaRPr lang="en-US" altLang="zh-CN" sz="1400" smtClean="0"/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916113"/>
            <a:ext cx="77247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933450" y="476250"/>
            <a:ext cx="8243888" cy="1143000"/>
          </a:xfrm>
        </p:spPr>
        <p:txBody>
          <a:bodyPr/>
          <a:lstStyle/>
          <a:p>
            <a:pPr eaLnBrk="1" hangingPunct="1"/>
            <a:r>
              <a:rPr lang="en-US" altLang="zh-CN" smtClean="0"/>
              <a:t>5) </a:t>
            </a:r>
            <a:r>
              <a:rPr lang="zh-CN" altLang="en-US" smtClean="0"/>
              <a:t>导出和分析各种可选解决方案</a:t>
            </a:r>
            <a:endParaRPr lang="zh-CN" alt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从逻辑模型导出</a:t>
            </a:r>
            <a:r>
              <a:rPr lang="zh-CN" altLang="en-US" smtClean="0">
                <a:solidFill>
                  <a:srgbClr val="FF0000"/>
                </a:solidFill>
              </a:rPr>
              <a:t>物理系统</a:t>
            </a:r>
            <a:r>
              <a:rPr lang="zh-CN" altLang="en-US" smtClean="0"/>
              <a:t>方案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物理系统：用物理部件表示信息的流动；</a:t>
            </a:r>
            <a:endParaRPr lang="en-US" altLang="zh-CN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不同角度 </a:t>
            </a:r>
            <a:r>
              <a:rPr lang="en-US" altLang="zh-CN" smtClean="0">
                <a:sym typeface="Wingdings" panose="05000000000000000000" pitchFamily="2" charset="2"/>
              </a:rPr>
              <a:t> </a:t>
            </a:r>
            <a:r>
              <a:rPr lang="zh-CN" altLang="en-US" smtClean="0"/>
              <a:t>多个方案</a:t>
            </a:r>
            <a:endParaRPr lang="zh-CN" altLang="en-US" smtClean="0"/>
          </a:p>
          <a:p>
            <a:pPr eaLnBrk="1" hangingPunct="1">
              <a:lnSpc>
                <a:spcPct val="90000"/>
              </a:lnSpc>
            </a:pPr>
            <a:r>
              <a:rPr lang="zh-CN" altLang="en-US" smtClean="0"/>
              <a:t>分析各种可选方案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技术可行性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操作可行性</a:t>
            </a:r>
            <a:endParaRPr lang="zh-CN" altLang="en-US" smtClean="0"/>
          </a:p>
          <a:p>
            <a:pPr lvl="1" eaLnBrk="1" hangingPunct="1">
              <a:lnSpc>
                <a:spcPct val="90000"/>
              </a:lnSpc>
            </a:pPr>
            <a:r>
              <a:rPr lang="zh-CN" altLang="en-US" smtClean="0"/>
              <a:t>经济可行性</a:t>
            </a:r>
            <a:endParaRPr lang="zh-CN" altLang="en-US" smtClean="0"/>
          </a:p>
          <a:p>
            <a:pPr eaLnBrk="1" hangingPunct="1">
              <a:lnSpc>
                <a:spcPct val="90000"/>
              </a:lnSpc>
            </a:pPr>
            <a:r>
              <a:rPr lang="zh-CN" altLang="en-US" smtClean="0"/>
              <a:t>为各种</a:t>
            </a:r>
            <a:r>
              <a:rPr lang="zh-CN" altLang="en-US" smtClean="0"/>
              <a:t>可行方案制定初步进度计划</a:t>
            </a:r>
            <a:endParaRPr lang="zh-CN" altLang="en-US" smtClean="0"/>
          </a:p>
        </p:txBody>
      </p:sp>
      <p:sp>
        <p:nvSpPr>
          <p:cNvPr id="15364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B9618E8-4E83-4A08-A456-631EB1CDC91E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536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4E555C-7385-4967-94B8-FD9ED63F870A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6) </a:t>
            </a:r>
            <a:r>
              <a:rPr lang="zh-CN" altLang="en-US" smtClean="0"/>
              <a:t>推荐行动方针</a:t>
            </a:r>
            <a:endParaRPr lang="zh-CN" altLang="en-US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 smtClean="0">
                <a:ea typeface="+mn-ea"/>
              </a:rPr>
              <a:t>得出可行性研究结果</a:t>
            </a:r>
            <a:endParaRPr kumimoji="1" lang="zh-CN" altLang="en-US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dirty="0" smtClean="0">
                <a:ea typeface="+mn-ea"/>
              </a:rPr>
              <a:t>继续开发 （可行）</a:t>
            </a:r>
            <a:endParaRPr kumimoji="1" lang="en-US" altLang="zh-CN" dirty="0" smtClean="0">
              <a:ea typeface="+mn-ea"/>
            </a:endParaRP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OR</a:t>
            </a:r>
            <a:endParaRPr kumimoji="1" lang="zh-CN" altLang="en-US" dirty="0" smtClean="0">
              <a:ea typeface="+mn-ea"/>
            </a:endParaRPr>
          </a:p>
          <a:p>
            <a:pPr lvl="1" eaLnBrk="1" hangingPunct="1">
              <a:defRPr/>
            </a:pPr>
            <a:r>
              <a:rPr kumimoji="1" lang="zh-CN" altLang="en-US" dirty="0" smtClean="0">
                <a:ea typeface="+mn-ea"/>
              </a:rPr>
              <a:t>终止项目 （不可行）</a:t>
            </a:r>
            <a:endParaRPr kumimoji="1" lang="zh-CN" altLang="en-US" dirty="0" smtClean="0">
              <a:ea typeface="+mn-ea"/>
            </a:endParaRPr>
          </a:p>
          <a:p>
            <a:pPr eaLnBrk="1" hangingPunct="1">
              <a:defRPr/>
            </a:pPr>
            <a:r>
              <a:rPr kumimoji="1" lang="zh-CN" altLang="en-US" dirty="0" smtClean="0">
                <a:ea typeface="+mn-ea"/>
              </a:rPr>
              <a:t>推荐最佳解决方案（</a:t>
            </a:r>
            <a:r>
              <a:rPr kumimoji="1" lang="en-US" altLang="zh-CN" dirty="0" smtClean="0">
                <a:ea typeface="+mn-ea"/>
              </a:rPr>
              <a:t>t</a:t>
            </a:r>
            <a:r>
              <a:rPr kumimoji="1" lang="en-US" altLang="zh-CN" dirty="0" smtClean="0">
                <a:ea typeface="+mn-ea"/>
              </a:rPr>
              <a:t>he b</a:t>
            </a:r>
            <a:r>
              <a:rPr kumimoji="1" lang="en-US" altLang="zh-CN" dirty="0" smtClean="0">
                <a:ea typeface="+mn-ea"/>
              </a:rPr>
              <a:t>est solution</a:t>
            </a:r>
            <a:r>
              <a:rPr kumimoji="1" lang="zh-CN" altLang="en-US" dirty="0" smtClean="0">
                <a:ea typeface="+mn-ea"/>
              </a:rPr>
              <a:t>）</a:t>
            </a:r>
            <a:endParaRPr kumimoji="1" lang="zh-CN" altLang="en-US" dirty="0" smtClean="0">
              <a:ea typeface="+mn-ea"/>
            </a:endParaRPr>
          </a:p>
          <a:p>
            <a:pPr eaLnBrk="1" hangingPunct="1">
              <a:defRPr/>
            </a:pPr>
            <a:r>
              <a:rPr kumimoji="1" lang="zh-CN" altLang="en-US" dirty="0" smtClean="0">
                <a:ea typeface="+mn-ea"/>
              </a:rPr>
              <a:t>必须进行成本</a:t>
            </a:r>
            <a:r>
              <a:rPr kumimoji="1" lang="en-US" altLang="zh-CN" dirty="0" smtClean="0">
                <a:ea typeface="+mn-ea"/>
              </a:rPr>
              <a:t>/</a:t>
            </a:r>
            <a:r>
              <a:rPr kumimoji="1" lang="zh-CN" altLang="en-US" dirty="0" smtClean="0">
                <a:ea typeface="+mn-ea"/>
              </a:rPr>
              <a:t>效益分析 （</a:t>
            </a:r>
            <a:r>
              <a:rPr kumimoji="1" lang="zh-CN" altLang="en-US" dirty="0" smtClean="0">
                <a:solidFill>
                  <a:srgbClr val="FF0000"/>
                </a:solidFill>
                <a:ea typeface="+mn-ea"/>
              </a:rPr>
              <a:t>本章最后一节</a:t>
            </a:r>
            <a:r>
              <a:rPr kumimoji="1" lang="zh-CN" altLang="en-US" dirty="0" smtClean="0">
                <a:ea typeface="+mn-ea"/>
              </a:rPr>
              <a:t>）</a:t>
            </a:r>
            <a:endParaRPr kumimoji="1" lang="zh-CN" altLang="en-US" dirty="0" smtClean="0">
              <a:ea typeface="+mn-ea"/>
            </a:endParaRPr>
          </a:p>
        </p:txBody>
      </p:sp>
      <p:sp>
        <p:nvSpPr>
          <p:cNvPr id="16388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F565D51-05F0-440C-A0E7-447963BAFEDC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6389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C930147-8049-448F-B2D1-55E62B96E70D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7) </a:t>
            </a:r>
            <a:r>
              <a:rPr lang="zh-CN" altLang="en-US" smtClean="0"/>
              <a:t>草拟开发计划</a:t>
            </a:r>
            <a:endParaRPr lang="zh-CN" altLang="en-US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为推荐方案确定开发计划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进度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开发人员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硬件设备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软件工具</a:t>
            </a:r>
            <a:endParaRPr lang="zh-CN" altLang="en-US" smtClean="0"/>
          </a:p>
          <a:p>
            <a:pPr lvl="1" eaLnBrk="1" hangingPunct="1"/>
            <a:r>
              <a:rPr lang="zh-CN" altLang="en-US" smtClean="0"/>
              <a:t>各阶段成本估计</a:t>
            </a:r>
            <a:endParaRPr lang="zh-CN" altLang="en-US" smtClean="0"/>
          </a:p>
        </p:txBody>
      </p:sp>
      <p:sp>
        <p:nvSpPr>
          <p:cNvPr id="1741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C7D3438-E3A4-43A7-8F38-F8FC577E6D1A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7413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20A3D57-380A-46BE-ACA8-FEE450EC103A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8) </a:t>
            </a:r>
            <a:r>
              <a:rPr lang="zh-CN" altLang="en-US" smtClean="0"/>
              <a:t>书写文档提交审查</a:t>
            </a:r>
            <a:endParaRPr lang="zh-CN" altLang="en-US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highlight>
                  <a:srgbClr val="FFFF00"/>
                </a:highlight>
              </a:rPr>
              <a:t>可行性研究报告</a:t>
            </a:r>
            <a:endParaRPr lang="zh-CN" altLang="en-US" dirty="0" smtClean="0">
              <a:highlight>
                <a:srgbClr val="FFFF00"/>
              </a:highlight>
            </a:endParaRPr>
          </a:p>
          <a:p>
            <a:pPr lvl="1" eaLnBrk="1" hangingPunct="1"/>
            <a:r>
              <a:rPr lang="zh-CN" altLang="en-US" dirty="0" smtClean="0"/>
              <a:t>包含以上各步骤的</a:t>
            </a:r>
            <a:r>
              <a:rPr lang="zh-CN" altLang="en-US" dirty="0" smtClean="0"/>
              <a:t>结果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推荐方案 （</a:t>
            </a:r>
            <a:r>
              <a:rPr lang="en-US" altLang="zh-CN" dirty="0" smtClean="0"/>
              <a:t>the best solution</a:t>
            </a:r>
            <a:r>
              <a:rPr lang="zh-CN" altLang="en-US" dirty="0" smtClean="0"/>
              <a:t>）</a:t>
            </a:r>
            <a:endParaRPr lang="zh-CN" altLang="en-US" dirty="0" smtClean="0"/>
          </a:p>
          <a:p>
            <a:pPr lvl="1" eaLnBrk="1" hangingPunct="1"/>
            <a:r>
              <a:rPr lang="zh-CN" altLang="en-US" dirty="0" smtClean="0"/>
              <a:t>开发计划</a:t>
            </a:r>
            <a:endParaRPr lang="zh-CN" altLang="en-US" dirty="0" smtClean="0"/>
          </a:p>
        </p:txBody>
      </p:sp>
      <p:sp>
        <p:nvSpPr>
          <p:cNvPr id="18436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5904D023-A8F6-4A02-8964-5128266F131B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8437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3318E9-D562-481C-9E45-7073FA24B2D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可行性研究报告（百度百科）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405" y="1988820"/>
            <a:ext cx="8010525" cy="4551045"/>
          </a:xfrm>
        </p:spPr>
        <p:txBody>
          <a:bodyPr/>
          <a:p>
            <a:pPr marL="0" indent="0">
              <a:buNone/>
            </a:pPr>
            <a:r>
              <a:rPr lang="zh-CN" altLang="en-US"/>
              <a:t>可行性研究报告是从事一种经济活动（投资）之前，双方要从</a:t>
            </a:r>
            <a:r>
              <a:rPr lang="zh-CN" altLang="en-US">
                <a:highlight>
                  <a:srgbClr val="FFFF00"/>
                </a:highlight>
              </a:rPr>
              <a:t>经济</a:t>
            </a:r>
            <a:r>
              <a:rPr lang="zh-CN" altLang="en-US"/>
              <a:t>、</a:t>
            </a:r>
            <a:r>
              <a:rPr lang="zh-CN" altLang="en-US">
                <a:highlight>
                  <a:srgbClr val="FFFF00"/>
                </a:highlight>
              </a:rPr>
              <a:t>技术</a:t>
            </a:r>
            <a:r>
              <a:rPr lang="zh-CN" altLang="en-US"/>
              <a:t>、</a:t>
            </a:r>
            <a:r>
              <a:rPr lang="zh-CN" altLang="en-US">
                <a:highlight>
                  <a:srgbClr val="FFFF00"/>
                </a:highlight>
              </a:rPr>
              <a:t>生产</a:t>
            </a:r>
            <a:r>
              <a:rPr lang="zh-CN" altLang="en-US"/>
              <a:t>、</a:t>
            </a:r>
            <a:r>
              <a:rPr lang="zh-CN" altLang="en-US">
                <a:highlight>
                  <a:srgbClr val="FFFF00"/>
                </a:highlight>
              </a:rPr>
              <a:t>供销</a:t>
            </a:r>
            <a:r>
              <a:rPr lang="zh-CN" altLang="en-US"/>
              <a:t>直到社会各种</a:t>
            </a:r>
            <a:r>
              <a:rPr lang="zh-CN" altLang="en-US">
                <a:highlight>
                  <a:srgbClr val="FFFF00"/>
                </a:highlight>
              </a:rPr>
              <a:t>环境、法律</a:t>
            </a:r>
            <a:r>
              <a:rPr lang="zh-CN" altLang="en-US"/>
              <a:t>等各种因素进行具体调查、研究、分析，确定有利和不利的因素、项目是否可行，估计成功率大小、经济效益和社会效果程度，为决策者和主管机关审批的上报文件。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sz="2400">
                <a:hlinkClick r:id="rId1" action="ppaction://hlinkfile"/>
              </a:rPr>
              <a:t>软件开发可行性研究报告一般包含哪些内容</a:t>
            </a:r>
            <a:endParaRPr lang="zh-CN" altLang="en-US" sz="24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160" y="6309360"/>
            <a:ext cx="1905000" cy="457200"/>
          </a:xfrm>
        </p:spPr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557213"/>
            <a:ext cx="7793037" cy="1143000"/>
          </a:xfrm>
        </p:spPr>
        <p:txBody>
          <a:bodyPr/>
          <a:lstStyle/>
          <a:p>
            <a:pPr eaLnBrk="1" hangingPunct="1"/>
            <a:r>
              <a:rPr lang="zh-CN" altLang="en-US" sz="3200" smtClean="0">
                <a:solidFill>
                  <a:schemeClr val="tx1"/>
                </a:solidFill>
              </a:rPr>
              <a:t>系统流程图</a:t>
            </a:r>
            <a:endParaRPr lang="en-US" altLang="zh-CN" sz="3200" smtClean="0">
              <a:solidFill>
                <a:schemeClr val="tx1"/>
              </a:solidFill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mtClean="0"/>
              <a:t>系统流程图表示</a:t>
            </a:r>
            <a:r>
              <a:rPr lang="zh-CN" altLang="en-US" u="sng" smtClean="0"/>
              <a:t>数据在系统各部件之间流动</a:t>
            </a:r>
            <a:r>
              <a:rPr lang="zh-CN" altLang="en-US" smtClean="0"/>
              <a:t>的情况；</a:t>
            </a:r>
            <a:endParaRPr lang="en-US" altLang="zh-CN" smtClean="0"/>
          </a:p>
          <a:p>
            <a:pPr eaLnBrk="1" hangingPunct="1">
              <a:lnSpc>
                <a:spcPct val="90000"/>
              </a:lnSpc>
            </a:pPr>
            <a:r>
              <a:rPr lang="zh-CN" altLang="en-US" smtClean="0"/>
              <a:t>亦称为</a:t>
            </a:r>
            <a:r>
              <a:rPr lang="zh-CN" altLang="en-US" smtClean="0">
                <a:solidFill>
                  <a:srgbClr val="0000FF"/>
                </a:solidFill>
              </a:rPr>
              <a:t>物理数据流图</a:t>
            </a:r>
            <a:r>
              <a:rPr lang="zh-CN" altLang="en-US" smtClean="0"/>
              <a:t>，不同于</a:t>
            </a:r>
            <a:r>
              <a:rPr lang="zh-CN" altLang="en-US" smtClean="0">
                <a:solidFill>
                  <a:srgbClr val="FF0000"/>
                </a:solidFill>
              </a:rPr>
              <a:t>程序流程图</a:t>
            </a:r>
            <a:r>
              <a:rPr lang="zh-CN" altLang="en-US" smtClean="0"/>
              <a:t>（程序流程图表示程序</a:t>
            </a:r>
            <a:r>
              <a:rPr lang="en-US" altLang="zh-CN" smtClean="0"/>
              <a:t>/</a:t>
            </a:r>
            <a:r>
              <a:rPr lang="zh-CN" altLang="en-US" smtClean="0"/>
              <a:t>算法的流动，一般会用到</a:t>
            </a:r>
            <a:r>
              <a:rPr lang="zh-CN" altLang="en-US" smtClean="0"/>
              <a:t>程序的控制结构）。</a:t>
            </a:r>
            <a:endParaRPr lang="en-US" altLang="zh-CN" smtClean="0"/>
          </a:p>
        </p:txBody>
      </p:sp>
      <p:sp>
        <p:nvSpPr>
          <p:cNvPr id="19460" name="TextBox 1"/>
          <p:cNvSpPr txBox="1">
            <a:spLocks noChangeArrowheads="1"/>
          </p:cNvSpPr>
          <p:nvPr/>
        </p:nvSpPr>
        <p:spPr bwMode="auto">
          <a:xfrm>
            <a:off x="827088" y="188913"/>
            <a:ext cx="64087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000">
                <a:solidFill>
                  <a:srgbClr val="FF0000"/>
                </a:solidFill>
              </a:rPr>
              <a:t>2.3 </a:t>
            </a:r>
            <a:r>
              <a:rPr lang="zh-CN" altLang="en-US" sz="4000">
                <a:solidFill>
                  <a:srgbClr val="FF0000"/>
                </a:solidFill>
              </a:rPr>
              <a:t>可行性研究的工具</a:t>
            </a:r>
            <a:endParaRPr lang="zh-CN" altLang="en-US" sz="4000">
              <a:solidFill>
                <a:srgbClr val="FF0000"/>
              </a:solidFill>
            </a:endParaRPr>
          </a:p>
        </p:txBody>
      </p:sp>
      <p:sp>
        <p:nvSpPr>
          <p:cNvPr id="19461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03C81B9-0021-415B-B86E-2D650867D790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19462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B9925F-A562-4810-BC98-CC3269EE392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程序流程图的例子</a:t>
            </a:r>
            <a:endParaRPr lang="zh-CN" altLang="en-US" smtClean="0"/>
          </a:p>
        </p:txBody>
      </p:sp>
      <p:sp>
        <p:nvSpPr>
          <p:cNvPr id="2048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3B96C55-2A35-4798-870C-0BC0582D7FEB}" type="datetime11">
              <a:rPr lang="zh-CN" altLang="en-US" sz="1400" smtClean="0"/>
            </a:fld>
            <a:endParaRPr lang="en-US" altLang="zh-CN" sz="1400" smtClean="0"/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549275"/>
            <a:ext cx="2781300" cy="616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描绘物理系统的符号</a:t>
            </a:r>
            <a:endParaRPr lang="zh-CN" altLang="en-US" smtClean="0"/>
          </a:p>
        </p:txBody>
      </p:sp>
      <p:sp>
        <p:nvSpPr>
          <p:cNvPr id="21507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E09D39E-784A-4446-AFBC-6E5964F1B1EB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150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57B7BAD-5972-4DE2-8DDF-9B086F3A6706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1509" name="Group 35"/>
          <p:cNvGrpSpPr/>
          <p:nvPr/>
        </p:nvGrpSpPr>
        <p:grpSpPr bwMode="auto">
          <a:xfrm>
            <a:off x="1258888" y="1989138"/>
            <a:ext cx="7273925" cy="3900487"/>
            <a:chOff x="657" y="1104"/>
            <a:chExt cx="4569" cy="2793"/>
          </a:xfrm>
        </p:grpSpPr>
        <p:grpSp>
          <p:nvGrpSpPr>
            <p:cNvPr id="21510" name="Group 5"/>
            <p:cNvGrpSpPr/>
            <p:nvPr/>
          </p:nvGrpSpPr>
          <p:grpSpPr bwMode="auto">
            <a:xfrm>
              <a:off x="657" y="1104"/>
              <a:ext cx="4440" cy="2523"/>
              <a:chOff x="2160" y="2844"/>
              <a:chExt cx="5040" cy="3276"/>
            </a:xfrm>
          </p:grpSpPr>
          <p:sp>
            <p:nvSpPr>
              <p:cNvPr id="21525" name="Rectangle 6"/>
              <p:cNvSpPr>
                <a:spLocks noChangeArrowheads="1"/>
              </p:cNvSpPr>
              <p:nvPr/>
            </p:nvSpPr>
            <p:spPr bwMode="auto">
              <a:xfrm>
                <a:off x="2520" y="3312"/>
                <a:ext cx="540" cy="288"/>
              </a:xfrm>
              <a:prstGeom prst="rect">
                <a:avLst/>
              </a:prstGeom>
              <a:noFill/>
              <a:ln w="349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6" name="AutoShape 7"/>
              <p:cNvSpPr>
                <a:spLocks noChangeArrowheads="1"/>
              </p:cNvSpPr>
              <p:nvPr/>
            </p:nvSpPr>
            <p:spPr bwMode="auto">
              <a:xfrm>
                <a:off x="2460" y="3960"/>
                <a:ext cx="624" cy="228"/>
              </a:xfrm>
              <a:prstGeom prst="parallelogram">
                <a:avLst>
                  <a:gd name="adj" fmla="val 68421"/>
                </a:avLst>
              </a:prstGeom>
              <a:noFill/>
              <a:ln w="349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7" name="Oval 8"/>
              <p:cNvSpPr>
                <a:spLocks noChangeArrowheads="1"/>
              </p:cNvSpPr>
              <p:nvPr/>
            </p:nvSpPr>
            <p:spPr bwMode="auto">
              <a:xfrm>
                <a:off x="2580" y="4512"/>
                <a:ext cx="360" cy="360"/>
              </a:xfrm>
              <a:prstGeom prst="ellips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8" name="AutoShape 9"/>
              <p:cNvSpPr>
                <a:spLocks noChangeArrowheads="1"/>
              </p:cNvSpPr>
              <p:nvPr/>
            </p:nvSpPr>
            <p:spPr bwMode="auto">
              <a:xfrm>
                <a:off x="2580" y="5124"/>
                <a:ext cx="372" cy="372"/>
              </a:xfrm>
              <a:prstGeom prst="flowChartOffpageConnector">
                <a:avLst/>
              </a:prstGeom>
              <a:noFill/>
              <a:ln w="3492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1529" name="Line 10"/>
              <p:cNvSpPr>
                <a:spLocks noChangeShapeType="1"/>
              </p:cNvSpPr>
              <p:nvPr/>
            </p:nvSpPr>
            <p:spPr bwMode="auto">
              <a:xfrm flipH="1">
                <a:off x="2568" y="5832"/>
                <a:ext cx="36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0" name="Line 11"/>
              <p:cNvSpPr>
                <a:spLocks noChangeShapeType="1"/>
              </p:cNvSpPr>
              <p:nvPr/>
            </p:nvSpPr>
            <p:spPr bwMode="auto">
              <a:xfrm>
                <a:off x="2160" y="3159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1" name="Line 12"/>
              <p:cNvSpPr>
                <a:spLocks noChangeShapeType="1"/>
              </p:cNvSpPr>
              <p:nvPr/>
            </p:nvSpPr>
            <p:spPr bwMode="auto">
              <a:xfrm>
                <a:off x="2160" y="2847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2" name="Line 13"/>
              <p:cNvSpPr>
                <a:spLocks noChangeShapeType="1"/>
              </p:cNvSpPr>
              <p:nvPr/>
            </p:nvSpPr>
            <p:spPr bwMode="auto">
              <a:xfrm>
                <a:off x="2160" y="3792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3" name="Line 14"/>
              <p:cNvSpPr>
                <a:spLocks noChangeShapeType="1"/>
              </p:cNvSpPr>
              <p:nvPr/>
            </p:nvSpPr>
            <p:spPr bwMode="auto">
              <a:xfrm>
                <a:off x="2160" y="4404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4" name="Line 15"/>
              <p:cNvSpPr>
                <a:spLocks noChangeShapeType="1"/>
              </p:cNvSpPr>
              <p:nvPr/>
            </p:nvSpPr>
            <p:spPr bwMode="auto">
              <a:xfrm>
                <a:off x="2160" y="5028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5" name="Line 16"/>
              <p:cNvSpPr>
                <a:spLocks noChangeShapeType="1"/>
              </p:cNvSpPr>
              <p:nvPr/>
            </p:nvSpPr>
            <p:spPr bwMode="auto">
              <a:xfrm>
                <a:off x="2160" y="5580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6" name="Line 17"/>
              <p:cNvSpPr>
                <a:spLocks noChangeShapeType="1"/>
              </p:cNvSpPr>
              <p:nvPr/>
            </p:nvSpPr>
            <p:spPr bwMode="auto">
              <a:xfrm>
                <a:off x="2160" y="6120"/>
                <a:ext cx="504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7" name="Line 18"/>
              <p:cNvSpPr>
                <a:spLocks noChangeShapeType="1"/>
              </p:cNvSpPr>
              <p:nvPr/>
            </p:nvSpPr>
            <p:spPr bwMode="auto">
              <a:xfrm>
                <a:off x="3240" y="2844"/>
                <a:ext cx="0" cy="327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8" name="Line 19"/>
              <p:cNvSpPr>
                <a:spLocks noChangeShapeType="1"/>
              </p:cNvSpPr>
              <p:nvPr/>
            </p:nvSpPr>
            <p:spPr bwMode="auto">
              <a:xfrm>
                <a:off x="4320" y="2844"/>
                <a:ext cx="0" cy="3276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511" name="Text Box 20"/>
            <p:cNvSpPr txBox="1">
              <a:spLocks noChangeArrowheads="1"/>
            </p:cNvSpPr>
            <p:nvPr/>
          </p:nvSpPr>
          <p:spPr bwMode="auto">
            <a:xfrm>
              <a:off x="997" y="1104"/>
              <a:ext cx="55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</a:rPr>
                <a:t>符号</a:t>
              </a:r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512" name="Text Box 21"/>
            <p:cNvSpPr txBox="1">
              <a:spLocks noChangeArrowheads="1"/>
            </p:cNvSpPr>
            <p:nvPr/>
          </p:nvSpPr>
          <p:spPr bwMode="auto">
            <a:xfrm>
              <a:off x="1873" y="1104"/>
              <a:ext cx="55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</a:rPr>
                <a:t>名称</a:t>
              </a:r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513" name="Text Box 22"/>
            <p:cNvSpPr txBox="1">
              <a:spLocks noChangeArrowheads="1"/>
            </p:cNvSpPr>
            <p:nvPr/>
          </p:nvSpPr>
          <p:spPr bwMode="auto">
            <a:xfrm>
              <a:off x="3503" y="1104"/>
              <a:ext cx="55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  <a:ea typeface="黑体" panose="02010609060101010101" pitchFamily="49" charset="-122"/>
                </a:rPr>
                <a:t>说明</a:t>
              </a:r>
              <a:endParaRPr lang="zh-CN" altLang="en-US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514" name="Text Box 23"/>
            <p:cNvSpPr txBox="1">
              <a:spLocks noChangeArrowheads="1"/>
            </p:cNvSpPr>
            <p:nvPr/>
          </p:nvSpPr>
          <p:spPr bwMode="auto">
            <a:xfrm>
              <a:off x="1855" y="1464"/>
              <a:ext cx="55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处理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15" name="Text Box 24"/>
            <p:cNvSpPr txBox="1">
              <a:spLocks noChangeArrowheads="1"/>
            </p:cNvSpPr>
            <p:nvPr/>
          </p:nvSpPr>
          <p:spPr bwMode="auto">
            <a:xfrm>
              <a:off x="2601" y="1440"/>
              <a:ext cx="262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如：程序，处理，人工加工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16" name="Text Box 25"/>
            <p:cNvSpPr txBox="1">
              <a:spLocks noChangeArrowheads="1"/>
            </p:cNvSpPr>
            <p:nvPr/>
          </p:nvSpPr>
          <p:spPr bwMode="auto">
            <a:xfrm>
              <a:off x="1661" y="1945"/>
              <a:ext cx="103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输入/输出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17" name="Text Box 26"/>
            <p:cNvSpPr txBox="1">
              <a:spLocks noChangeArrowheads="1"/>
            </p:cNvSpPr>
            <p:nvPr/>
          </p:nvSpPr>
          <p:spPr bwMode="auto">
            <a:xfrm>
              <a:off x="1891" y="2425"/>
              <a:ext cx="555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连接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18" name="Text Box 27"/>
            <p:cNvSpPr txBox="1">
              <a:spLocks noChangeArrowheads="1"/>
            </p:cNvSpPr>
            <p:nvPr/>
          </p:nvSpPr>
          <p:spPr bwMode="auto">
            <a:xfrm>
              <a:off x="1680" y="2888"/>
              <a:ext cx="83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换页连接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19" name="Text Box 28"/>
            <p:cNvSpPr txBox="1">
              <a:spLocks noChangeArrowheads="1"/>
            </p:cNvSpPr>
            <p:nvPr/>
          </p:nvSpPr>
          <p:spPr bwMode="auto">
            <a:xfrm>
              <a:off x="1790" y="3285"/>
              <a:ext cx="715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数据流</a:t>
              </a:r>
              <a:endParaRPr lang="zh-CN" altLang="en-US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520" name="Text Box 29"/>
            <p:cNvSpPr txBox="1">
              <a:spLocks noChangeArrowheads="1"/>
            </p:cNvSpPr>
            <p:nvPr/>
          </p:nvSpPr>
          <p:spPr bwMode="auto">
            <a:xfrm>
              <a:off x="2601" y="1920"/>
              <a:ext cx="1629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表示输入或输出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21" name="Text Box 30"/>
            <p:cNvSpPr txBox="1">
              <a:spLocks noChangeArrowheads="1"/>
            </p:cNvSpPr>
            <p:nvPr/>
          </p:nvSpPr>
          <p:spPr bwMode="auto">
            <a:xfrm>
              <a:off x="2601" y="2400"/>
              <a:ext cx="1848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同一页上图的连接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22" name="Text Box 31"/>
            <p:cNvSpPr txBox="1">
              <a:spLocks noChangeArrowheads="1"/>
            </p:cNvSpPr>
            <p:nvPr/>
          </p:nvSpPr>
          <p:spPr bwMode="auto">
            <a:xfrm>
              <a:off x="2601" y="2880"/>
              <a:ext cx="1857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不同页上图的连接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23" name="Text Box 32"/>
            <p:cNvSpPr txBox="1">
              <a:spLocks noChangeArrowheads="1"/>
            </p:cNvSpPr>
            <p:nvPr/>
          </p:nvSpPr>
          <p:spPr bwMode="auto">
            <a:xfrm>
              <a:off x="2593" y="3285"/>
              <a:ext cx="1912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指明数据流动方向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1524" name="Text Box 33"/>
            <p:cNvSpPr txBox="1">
              <a:spLocks noChangeArrowheads="1"/>
            </p:cNvSpPr>
            <p:nvPr/>
          </p:nvSpPr>
          <p:spPr bwMode="auto">
            <a:xfrm>
              <a:off x="1956" y="3657"/>
              <a:ext cx="2046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latin typeface="Times New Roman" panose="02020603050405020304" pitchFamily="18" charset="0"/>
                </a:rPr>
                <a:t>图2.1  基本符号</a:t>
              </a:r>
              <a:endParaRPr lang="zh-CN" altLang="en-US" sz="28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 noChangeArrowheads="1"/>
          </p:cNvSpPr>
          <p:nvPr>
            <p:ph type="title"/>
          </p:nvPr>
        </p:nvSpPr>
        <p:spPr>
          <a:xfrm>
            <a:off x="1008063" y="485775"/>
            <a:ext cx="8243887" cy="1143000"/>
          </a:xfrm>
        </p:spPr>
        <p:txBody>
          <a:bodyPr/>
          <a:lstStyle/>
          <a:p>
            <a:r>
              <a:rPr lang="zh-CN" altLang="en-US" smtClean="0"/>
              <a:t>描绘物理系统的符号</a:t>
            </a:r>
            <a:r>
              <a:rPr lang="en-US" altLang="zh-CN" smtClean="0"/>
              <a:t>(continued)</a:t>
            </a:r>
            <a:endParaRPr lang="zh-CN" altLang="en-US" smtClean="0"/>
          </a:p>
        </p:txBody>
      </p:sp>
      <p:sp>
        <p:nvSpPr>
          <p:cNvPr id="22531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F20C8B1-1A2C-4CBD-A313-B45B09759DCC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253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715EB7-F389-4259-A4D6-AE1F54625983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2533" name="Group 63"/>
          <p:cNvGrpSpPr/>
          <p:nvPr/>
        </p:nvGrpSpPr>
        <p:grpSpPr bwMode="auto">
          <a:xfrm>
            <a:off x="1331913" y="1876425"/>
            <a:ext cx="7200900" cy="4891088"/>
            <a:chOff x="384" y="240"/>
            <a:chExt cx="5088" cy="3915"/>
          </a:xfrm>
        </p:grpSpPr>
        <p:grpSp>
          <p:nvGrpSpPr>
            <p:cNvPr id="22534" name="Group 5"/>
            <p:cNvGrpSpPr/>
            <p:nvPr/>
          </p:nvGrpSpPr>
          <p:grpSpPr bwMode="auto">
            <a:xfrm>
              <a:off x="384" y="249"/>
              <a:ext cx="5088" cy="3606"/>
              <a:chOff x="2160" y="7992"/>
              <a:chExt cx="6300" cy="5460"/>
            </a:xfrm>
          </p:grpSpPr>
          <p:sp>
            <p:nvSpPr>
              <p:cNvPr id="22577" name="Line 6"/>
              <p:cNvSpPr>
                <a:spLocks noChangeShapeType="1"/>
              </p:cNvSpPr>
              <p:nvPr/>
            </p:nvSpPr>
            <p:spPr bwMode="auto">
              <a:xfrm>
                <a:off x="2160" y="7993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8" name="Line 7"/>
              <p:cNvSpPr>
                <a:spLocks noChangeShapeType="1"/>
              </p:cNvSpPr>
              <p:nvPr/>
            </p:nvSpPr>
            <p:spPr bwMode="auto">
              <a:xfrm>
                <a:off x="2160" y="8304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9" name="Line 8"/>
              <p:cNvSpPr>
                <a:spLocks noChangeShapeType="1"/>
              </p:cNvSpPr>
              <p:nvPr/>
            </p:nvSpPr>
            <p:spPr bwMode="auto">
              <a:xfrm>
                <a:off x="2160" y="8772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0" name="Line 9"/>
              <p:cNvSpPr>
                <a:spLocks noChangeShapeType="1"/>
              </p:cNvSpPr>
              <p:nvPr/>
            </p:nvSpPr>
            <p:spPr bwMode="auto">
              <a:xfrm>
                <a:off x="2160" y="9240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1" name="Line 10"/>
              <p:cNvSpPr>
                <a:spLocks noChangeShapeType="1"/>
              </p:cNvSpPr>
              <p:nvPr/>
            </p:nvSpPr>
            <p:spPr bwMode="auto">
              <a:xfrm>
                <a:off x="2160" y="9708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2" name="Line 11"/>
              <p:cNvSpPr>
                <a:spLocks noChangeShapeType="1"/>
              </p:cNvSpPr>
              <p:nvPr/>
            </p:nvSpPr>
            <p:spPr bwMode="auto">
              <a:xfrm>
                <a:off x="2160" y="10176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3" name="Line 12"/>
              <p:cNvSpPr>
                <a:spLocks noChangeShapeType="1"/>
              </p:cNvSpPr>
              <p:nvPr/>
            </p:nvSpPr>
            <p:spPr bwMode="auto">
              <a:xfrm>
                <a:off x="2160" y="10644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4" name="Line 13"/>
              <p:cNvSpPr>
                <a:spLocks noChangeShapeType="1"/>
              </p:cNvSpPr>
              <p:nvPr/>
            </p:nvSpPr>
            <p:spPr bwMode="auto">
              <a:xfrm>
                <a:off x="2160" y="11112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5" name="Line 14"/>
              <p:cNvSpPr>
                <a:spLocks noChangeShapeType="1"/>
              </p:cNvSpPr>
              <p:nvPr/>
            </p:nvSpPr>
            <p:spPr bwMode="auto">
              <a:xfrm>
                <a:off x="2160" y="11580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6" name="Line 15"/>
              <p:cNvSpPr>
                <a:spLocks noChangeShapeType="1"/>
              </p:cNvSpPr>
              <p:nvPr/>
            </p:nvSpPr>
            <p:spPr bwMode="auto">
              <a:xfrm>
                <a:off x="2160" y="12048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7" name="Line 16"/>
              <p:cNvSpPr>
                <a:spLocks noChangeShapeType="1"/>
              </p:cNvSpPr>
              <p:nvPr/>
            </p:nvSpPr>
            <p:spPr bwMode="auto">
              <a:xfrm>
                <a:off x="2160" y="12516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8" name="Line 17"/>
              <p:cNvSpPr>
                <a:spLocks noChangeShapeType="1"/>
              </p:cNvSpPr>
              <p:nvPr/>
            </p:nvSpPr>
            <p:spPr bwMode="auto">
              <a:xfrm>
                <a:off x="2160" y="12984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89" name="Line 18"/>
              <p:cNvSpPr>
                <a:spLocks noChangeShapeType="1"/>
              </p:cNvSpPr>
              <p:nvPr/>
            </p:nvSpPr>
            <p:spPr bwMode="auto">
              <a:xfrm>
                <a:off x="2160" y="13452"/>
                <a:ext cx="630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0" name="Line 19"/>
              <p:cNvSpPr>
                <a:spLocks noChangeShapeType="1"/>
              </p:cNvSpPr>
              <p:nvPr/>
            </p:nvSpPr>
            <p:spPr bwMode="auto">
              <a:xfrm>
                <a:off x="3420" y="7992"/>
                <a:ext cx="0" cy="5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91" name="Line 20"/>
              <p:cNvSpPr>
                <a:spLocks noChangeShapeType="1"/>
              </p:cNvSpPr>
              <p:nvPr/>
            </p:nvSpPr>
            <p:spPr bwMode="auto">
              <a:xfrm>
                <a:off x="4500" y="7992"/>
                <a:ext cx="0" cy="54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35" name="Text Box 21"/>
            <p:cNvSpPr txBox="1">
              <a:spLocks noChangeArrowheads="1"/>
            </p:cNvSpPr>
            <p:nvPr/>
          </p:nvSpPr>
          <p:spPr bwMode="auto">
            <a:xfrm>
              <a:off x="723" y="240"/>
              <a:ext cx="59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  <a:ea typeface="黑体" panose="02010609060101010101" pitchFamily="49" charset="-122"/>
                </a:rPr>
                <a:t>符号</a:t>
              </a:r>
              <a:endParaRPr lang="zh-CN" altLang="en-US" sz="1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536" name="Text Box 22"/>
            <p:cNvSpPr txBox="1">
              <a:spLocks noChangeArrowheads="1"/>
            </p:cNvSpPr>
            <p:nvPr/>
          </p:nvSpPr>
          <p:spPr bwMode="auto">
            <a:xfrm>
              <a:off x="1648" y="240"/>
              <a:ext cx="59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  <a:ea typeface="黑体" panose="02010609060101010101" pitchFamily="49" charset="-122"/>
                </a:rPr>
                <a:t>名称</a:t>
              </a:r>
              <a:endParaRPr lang="zh-CN" altLang="en-US" sz="1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537" name="Text Box 23"/>
            <p:cNvSpPr txBox="1">
              <a:spLocks noChangeArrowheads="1"/>
            </p:cNvSpPr>
            <p:nvPr/>
          </p:nvSpPr>
          <p:spPr bwMode="auto">
            <a:xfrm>
              <a:off x="3481" y="240"/>
              <a:ext cx="59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  <a:ea typeface="黑体" panose="02010609060101010101" pitchFamily="49" charset="-122"/>
                </a:rPr>
                <a:t>说明</a:t>
              </a:r>
              <a:endParaRPr lang="zh-CN" altLang="en-US" sz="1800" b="1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538" name="Text Box 24"/>
            <p:cNvSpPr txBox="1">
              <a:spLocks noChangeArrowheads="1"/>
            </p:cNvSpPr>
            <p:nvPr/>
          </p:nvSpPr>
          <p:spPr bwMode="auto">
            <a:xfrm>
              <a:off x="1488" y="528"/>
              <a:ext cx="768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穿孔卡片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39" name="AutoShape 25"/>
            <p:cNvSpPr>
              <a:spLocks noChangeArrowheads="1"/>
            </p:cNvSpPr>
            <p:nvPr/>
          </p:nvSpPr>
          <p:spPr bwMode="auto">
            <a:xfrm>
              <a:off x="684" y="511"/>
              <a:ext cx="357" cy="190"/>
            </a:xfrm>
            <a:prstGeom prst="flowChartPunchedCard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0" name="AutoShape 26"/>
            <p:cNvSpPr>
              <a:spLocks noChangeArrowheads="1"/>
            </p:cNvSpPr>
            <p:nvPr/>
          </p:nvSpPr>
          <p:spPr bwMode="auto">
            <a:xfrm>
              <a:off x="676" y="820"/>
              <a:ext cx="381" cy="206"/>
            </a:xfrm>
            <a:prstGeom prst="flowChartDocument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541" name="Group 27"/>
            <p:cNvGrpSpPr/>
            <p:nvPr/>
          </p:nvGrpSpPr>
          <p:grpSpPr bwMode="auto">
            <a:xfrm>
              <a:off x="748" y="1121"/>
              <a:ext cx="238" cy="222"/>
              <a:chOff x="9540" y="9708"/>
              <a:chExt cx="360" cy="336"/>
            </a:xfrm>
          </p:grpSpPr>
          <p:sp>
            <p:nvSpPr>
              <p:cNvPr id="22575" name="Oval 28"/>
              <p:cNvSpPr>
                <a:spLocks noChangeArrowheads="1"/>
              </p:cNvSpPr>
              <p:nvPr/>
            </p:nvSpPr>
            <p:spPr bwMode="auto">
              <a:xfrm>
                <a:off x="9540" y="9708"/>
                <a:ext cx="336" cy="336"/>
              </a:xfrm>
              <a:prstGeom prst="ellips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2576" name="Line 29"/>
              <p:cNvSpPr>
                <a:spLocks noChangeShapeType="1"/>
              </p:cNvSpPr>
              <p:nvPr/>
            </p:nvSpPr>
            <p:spPr bwMode="auto">
              <a:xfrm>
                <a:off x="9708" y="10044"/>
                <a:ext cx="192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42" name="AutoShape 30"/>
            <p:cNvSpPr>
              <a:spLocks noChangeArrowheads="1"/>
            </p:cNvSpPr>
            <p:nvPr/>
          </p:nvSpPr>
          <p:spPr bwMode="auto">
            <a:xfrm>
              <a:off x="708" y="1454"/>
              <a:ext cx="325" cy="166"/>
            </a:xfrm>
            <a:prstGeom prst="flowChartOnlineStorage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3" name="AutoShape 31"/>
            <p:cNvSpPr>
              <a:spLocks noChangeArrowheads="1"/>
            </p:cNvSpPr>
            <p:nvPr/>
          </p:nvSpPr>
          <p:spPr bwMode="auto">
            <a:xfrm>
              <a:off x="779" y="1739"/>
              <a:ext cx="159" cy="214"/>
            </a:xfrm>
            <a:prstGeom prst="flowChartMagneticDisk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4" name="AutoShape 32"/>
            <p:cNvSpPr>
              <a:spLocks noChangeArrowheads="1"/>
            </p:cNvSpPr>
            <p:nvPr/>
          </p:nvSpPr>
          <p:spPr bwMode="auto">
            <a:xfrm>
              <a:off x="653" y="2373"/>
              <a:ext cx="396" cy="198"/>
            </a:xfrm>
            <a:prstGeom prst="flowChartDisplay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5" name="AutoShape 33"/>
            <p:cNvSpPr>
              <a:spLocks noChangeArrowheads="1"/>
            </p:cNvSpPr>
            <p:nvPr/>
          </p:nvSpPr>
          <p:spPr bwMode="auto">
            <a:xfrm>
              <a:off x="692" y="2072"/>
              <a:ext cx="317" cy="158"/>
            </a:xfrm>
            <a:prstGeom prst="flowChartMagneticDrum">
              <a:avLst/>
            </a:prstGeom>
            <a:noFill/>
            <a:ln w="2540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6" name="AutoShape 34"/>
            <p:cNvSpPr>
              <a:spLocks noChangeArrowheads="1"/>
            </p:cNvSpPr>
            <p:nvPr/>
          </p:nvSpPr>
          <p:spPr bwMode="auto">
            <a:xfrm>
              <a:off x="716" y="2682"/>
              <a:ext cx="254" cy="190"/>
            </a:xfrm>
            <a:prstGeom prst="flowChartManualInput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7" name="AutoShape 35"/>
            <p:cNvSpPr>
              <a:spLocks noChangeArrowheads="1"/>
            </p:cNvSpPr>
            <p:nvPr/>
          </p:nvSpPr>
          <p:spPr bwMode="auto">
            <a:xfrm>
              <a:off x="676" y="2999"/>
              <a:ext cx="333" cy="159"/>
            </a:xfrm>
            <a:prstGeom prst="flowChartManualOperation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548" name="AutoShape 36"/>
            <p:cNvSpPr>
              <a:spLocks noChangeArrowheads="1"/>
            </p:cNvSpPr>
            <p:nvPr/>
          </p:nvSpPr>
          <p:spPr bwMode="auto">
            <a:xfrm>
              <a:off x="716" y="3268"/>
              <a:ext cx="262" cy="246"/>
            </a:xfrm>
            <a:prstGeom prst="flowChartProcess">
              <a:avLst/>
            </a:prstGeom>
            <a:noFill/>
            <a:ln w="25400">
              <a:solidFill>
                <a:schemeClr val="tx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2549" name="Group 37"/>
            <p:cNvGrpSpPr/>
            <p:nvPr/>
          </p:nvGrpSpPr>
          <p:grpSpPr bwMode="auto">
            <a:xfrm>
              <a:off x="748" y="3649"/>
              <a:ext cx="238" cy="103"/>
              <a:chOff x="9000" y="11424"/>
              <a:chExt cx="360" cy="156"/>
            </a:xfrm>
          </p:grpSpPr>
          <p:sp>
            <p:nvSpPr>
              <p:cNvPr id="22572" name="Line 38"/>
              <p:cNvSpPr>
                <a:spLocks noChangeShapeType="1"/>
              </p:cNvSpPr>
              <p:nvPr/>
            </p:nvSpPr>
            <p:spPr bwMode="auto">
              <a:xfrm>
                <a:off x="9000" y="11424"/>
                <a:ext cx="360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3" name="Line 39"/>
              <p:cNvSpPr>
                <a:spLocks noChangeShapeType="1"/>
              </p:cNvSpPr>
              <p:nvPr/>
            </p:nvSpPr>
            <p:spPr bwMode="auto">
              <a:xfrm>
                <a:off x="9000" y="11580"/>
                <a:ext cx="360" cy="0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74" name="Line 40"/>
              <p:cNvSpPr>
                <a:spLocks noChangeShapeType="1"/>
              </p:cNvSpPr>
              <p:nvPr/>
            </p:nvSpPr>
            <p:spPr bwMode="auto">
              <a:xfrm>
                <a:off x="9000" y="11424"/>
                <a:ext cx="360" cy="156"/>
              </a:xfrm>
              <a:prstGeom prst="line">
                <a:avLst/>
              </a:prstGeom>
              <a:noFill/>
              <a:ln w="25400">
                <a:solidFill>
                  <a:schemeClr val="tx2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550" name="Text Box 41"/>
            <p:cNvSpPr txBox="1">
              <a:spLocks noChangeArrowheads="1"/>
            </p:cNvSpPr>
            <p:nvPr/>
          </p:nvSpPr>
          <p:spPr bwMode="auto">
            <a:xfrm>
              <a:off x="1521" y="819"/>
              <a:ext cx="59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文档</a:t>
              </a: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1" name="Text Box 42"/>
            <p:cNvSpPr txBox="1">
              <a:spLocks noChangeArrowheads="1"/>
            </p:cNvSpPr>
            <p:nvPr/>
          </p:nvSpPr>
          <p:spPr bwMode="auto">
            <a:xfrm>
              <a:off x="1537" y="1136"/>
              <a:ext cx="59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磁带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2" name="Text Box 43"/>
            <p:cNvSpPr txBox="1">
              <a:spLocks noChangeArrowheads="1"/>
            </p:cNvSpPr>
            <p:nvPr/>
          </p:nvSpPr>
          <p:spPr bwMode="auto">
            <a:xfrm>
              <a:off x="1529" y="1429"/>
              <a:ext cx="77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联机存储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3" name="Text Box 44"/>
            <p:cNvSpPr txBox="1">
              <a:spLocks noChangeArrowheads="1"/>
            </p:cNvSpPr>
            <p:nvPr/>
          </p:nvSpPr>
          <p:spPr bwMode="auto">
            <a:xfrm>
              <a:off x="1529" y="1746"/>
              <a:ext cx="59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磁盘</a:t>
              </a: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4" name="Text Box 45"/>
            <p:cNvSpPr txBox="1">
              <a:spLocks noChangeArrowheads="1"/>
            </p:cNvSpPr>
            <p:nvPr/>
          </p:nvSpPr>
          <p:spPr bwMode="auto">
            <a:xfrm>
              <a:off x="1514" y="2055"/>
              <a:ext cx="59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磁鼓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5" name="Text Box 46"/>
            <p:cNvSpPr txBox="1">
              <a:spLocks noChangeArrowheads="1"/>
            </p:cNvSpPr>
            <p:nvPr/>
          </p:nvSpPr>
          <p:spPr bwMode="auto">
            <a:xfrm>
              <a:off x="1514" y="2372"/>
              <a:ext cx="59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显示</a:t>
              </a:r>
              <a:endParaRPr lang="zh-CN" altLang="en-US" sz="1800" b="1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56" name="Text Box 47"/>
            <p:cNvSpPr txBox="1">
              <a:spLocks noChangeArrowheads="1"/>
            </p:cNvSpPr>
            <p:nvPr/>
          </p:nvSpPr>
          <p:spPr bwMode="auto">
            <a:xfrm>
              <a:off x="1521" y="2673"/>
              <a:ext cx="87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人工输入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7" name="Text Box 48"/>
            <p:cNvSpPr txBox="1">
              <a:spLocks noChangeArrowheads="1"/>
            </p:cNvSpPr>
            <p:nvPr/>
          </p:nvSpPr>
          <p:spPr bwMode="auto">
            <a:xfrm>
              <a:off x="1521" y="2982"/>
              <a:ext cx="831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人工操作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8" name="Text Box 49"/>
            <p:cNvSpPr txBox="1">
              <a:spLocks noChangeArrowheads="1"/>
            </p:cNvSpPr>
            <p:nvPr/>
          </p:nvSpPr>
          <p:spPr bwMode="auto">
            <a:xfrm>
              <a:off x="1498" y="3267"/>
              <a:ext cx="80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辅助操作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59" name="Text Box 50"/>
            <p:cNvSpPr txBox="1">
              <a:spLocks noChangeArrowheads="1"/>
            </p:cNvSpPr>
            <p:nvPr/>
          </p:nvSpPr>
          <p:spPr bwMode="auto">
            <a:xfrm>
              <a:off x="1498" y="3592"/>
              <a:ext cx="85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通信链路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0" name="Text Box 51"/>
            <p:cNvSpPr txBox="1">
              <a:spLocks noChangeArrowheads="1"/>
            </p:cNvSpPr>
            <p:nvPr/>
          </p:nvSpPr>
          <p:spPr bwMode="auto">
            <a:xfrm>
              <a:off x="2475" y="509"/>
              <a:ext cx="2853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穿孔卡片输入/输出，或穿孔卡片文件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1" name="Text Box 52"/>
            <p:cNvSpPr txBox="1">
              <a:spLocks noChangeArrowheads="1"/>
            </p:cNvSpPr>
            <p:nvPr/>
          </p:nvSpPr>
          <p:spPr bwMode="auto">
            <a:xfrm>
              <a:off x="2467" y="795"/>
              <a:ext cx="247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打印输出，或打印终端输入数据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2" name="Text Box 53"/>
            <p:cNvSpPr txBox="1">
              <a:spLocks noChangeArrowheads="1"/>
            </p:cNvSpPr>
            <p:nvPr/>
          </p:nvSpPr>
          <p:spPr bwMode="auto">
            <a:xfrm>
              <a:off x="2467" y="1112"/>
              <a:ext cx="247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磁带输入/输出，或表示磁带文件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3" name="Text Box 54"/>
            <p:cNvSpPr txBox="1">
              <a:spLocks noChangeArrowheads="1"/>
            </p:cNvSpPr>
            <p:nvPr/>
          </p:nvSpPr>
          <p:spPr bwMode="auto">
            <a:xfrm>
              <a:off x="2443" y="1429"/>
              <a:ext cx="288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任何种类磁盘存储，如磁盘、磁鼓等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4" name="Text Box 55"/>
            <p:cNvSpPr txBox="1">
              <a:spLocks noChangeArrowheads="1"/>
            </p:cNvSpPr>
            <p:nvPr/>
          </p:nvSpPr>
          <p:spPr bwMode="auto">
            <a:xfrm>
              <a:off x="2435" y="1738"/>
              <a:ext cx="2845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磁盘输入/输出，或磁盘上文件、数据库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5" name="Text Box 56"/>
            <p:cNvSpPr txBox="1">
              <a:spLocks noChangeArrowheads="1"/>
            </p:cNvSpPr>
            <p:nvPr/>
          </p:nvSpPr>
          <p:spPr bwMode="auto">
            <a:xfrm>
              <a:off x="2427" y="2055"/>
              <a:ext cx="2901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磁鼓输入/输出，或磁鼓上文件、数据库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6" name="Text Box 57"/>
            <p:cNvSpPr txBox="1">
              <a:spLocks noChangeArrowheads="1"/>
            </p:cNvSpPr>
            <p:nvPr/>
          </p:nvSpPr>
          <p:spPr bwMode="auto">
            <a:xfrm>
              <a:off x="2419" y="2356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显示器部件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7" name="Text Box 58"/>
            <p:cNvSpPr txBox="1">
              <a:spLocks noChangeArrowheads="1"/>
            </p:cNvSpPr>
            <p:nvPr/>
          </p:nvSpPr>
          <p:spPr bwMode="auto">
            <a:xfrm>
              <a:off x="2427" y="2665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人工输入数据，如填写表格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8" name="Text Box 59"/>
            <p:cNvSpPr txBox="1">
              <a:spLocks noChangeArrowheads="1"/>
            </p:cNvSpPr>
            <p:nvPr/>
          </p:nvSpPr>
          <p:spPr bwMode="auto">
            <a:xfrm>
              <a:off x="2419" y="2974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人工完成的处理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69" name="Text Box 60"/>
            <p:cNvSpPr txBox="1">
              <a:spLocks noChangeArrowheads="1"/>
            </p:cNvSpPr>
            <p:nvPr/>
          </p:nvSpPr>
          <p:spPr bwMode="auto">
            <a:xfrm>
              <a:off x="2443" y="3283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使用辅助设备进行的脱机操作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70" name="Text Box 61"/>
            <p:cNvSpPr txBox="1">
              <a:spLocks noChangeArrowheads="1"/>
            </p:cNvSpPr>
            <p:nvPr/>
          </p:nvSpPr>
          <p:spPr bwMode="auto">
            <a:xfrm>
              <a:off x="2443" y="3592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1800" b="1">
                  <a:latin typeface="Times New Roman" panose="02020603050405020304" pitchFamily="18" charset="0"/>
                </a:rPr>
                <a:t>通过远程通信线路传送数据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  <p:sp>
          <p:nvSpPr>
            <p:cNvPr id="22571" name="Text Box 62"/>
            <p:cNvSpPr txBox="1">
              <a:spLocks noChangeArrowheads="1"/>
            </p:cNvSpPr>
            <p:nvPr/>
          </p:nvSpPr>
          <p:spPr bwMode="auto">
            <a:xfrm>
              <a:off x="1658" y="3949"/>
              <a:ext cx="2473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800" b="1">
                  <a:latin typeface="Times New Roman" panose="02020603050405020304" pitchFamily="18" charset="0"/>
                </a:rPr>
                <a:t>图2.2  系统符号</a:t>
              </a:r>
              <a:endParaRPr lang="zh-CN" altLang="en-US" sz="18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 noChangeArrowheads="1"/>
          </p:cNvSpPr>
          <p:nvPr>
            <p:ph type="title"/>
          </p:nvPr>
        </p:nvSpPr>
        <p:spPr>
          <a:xfrm>
            <a:off x="611188" y="2295525"/>
            <a:ext cx="3400425" cy="3008313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solidFill>
                  <a:schemeClr val="tx1"/>
                </a:solidFill>
              </a:rPr>
              <a:t>描述：</a:t>
            </a:r>
            <a:r>
              <a:rPr lang="zh-CN" altLang="en-US" sz="2400" u="sng" dirty="0" smtClean="0">
                <a:solidFill>
                  <a:schemeClr val="tx1"/>
                </a:solidFill>
              </a:rPr>
              <a:t>仓库中零件数量有变化</a:t>
            </a:r>
            <a:r>
              <a:rPr lang="zh-CN" altLang="en-US" sz="2400" dirty="0" smtClean="0">
                <a:solidFill>
                  <a:schemeClr val="tx1"/>
                </a:solidFill>
              </a:rPr>
              <a:t>（</a:t>
            </a:r>
            <a:r>
              <a:rPr lang="zh-CN" altLang="en-US" sz="2400" dirty="0" smtClean="0">
                <a:solidFill>
                  <a:srgbClr val="0000FF"/>
                </a:solidFill>
              </a:rPr>
              <a:t>事务</a:t>
            </a:r>
            <a:r>
              <a:rPr lang="zh-CN" altLang="en-US" sz="2400" dirty="0" smtClean="0">
                <a:solidFill>
                  <a:schemeClr val="tx1"/>
                </a:solidFill>
              </a:rPr>
              <a:t>）时，及时更新库存清单主文件；如果哪种</a:t>
            </a:r>
            <a:r>
              <a:rPr lang="zh-CN" altLang="en-US" sz="2400" u="sng" dirty="0" smtClean="0">
                <a:solidFill>
                  <a:schemeClr val="tx1"/>
                </a:solidFill>
              </a:rPr>
              <a:t>零件的库存量低于临界值</a:t>
            </a:r>
            <a:r>
              <a:rPr lang="zh-CN" altLang="en-US" sz="2400" dirty="0" smtClean="0">
                <a:solidFill>
                  <a:schemeClr val="tx1"/>
                </a:solidFill>
              </a:rPr>
              <a:t>，报告给采购部门以便订货，规定每天向采购部门送一次订货报告。</a:t>
            </a:r>
            <a:endParaRPr lang="zh-CN" altLang="en-US" sz="2400" dirty="0" smtClean="0">
              <a:solidFill>
                <a:schemeClr val="tx1"/>
              </a:solidFill>
            </a:endParaRPr>
          </a:p>
        </p:txBody>
      </p:sp>
      <p:sp>
        <p:nvSpPr>
          <p:cNvPr id="23555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F6ABEDE-A2D6-4EB8-B740-FC33AD397FD3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355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51C251-3841-408C-A435-91F7CCA3A858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6" name="Group 21"/>
          <p:cNvGrpSpPr/>
          <p:nvPr/>
        </p:nvGrpSpPr>
        <p:grpSpPr bwMode="auto">
          <a:xfrm>
            <a:off x="3713163" y="2200275"/>
            <a:ext cx="4953000" cy="4225925"/>
            <a:chOff x="1200" y="707"/>
            <a:chExt cx="3120" cy="2662"/>
          </a:xfrm>
        </p:grpSpPr>
        <p:sp>
          <p:nvSpPr>
            <p:cNvPr id="23565" name="AutoShape 5"/>
            <p:cNvSpPr>
              <a:spLocks noChangeArrowheads="1"/>
            </p:cNvSpPr>
            <p:nvPr/>
          </p:nvSpPr>
          <p:spPr bwMode="auto">
            <a:xfrm>
              <a:off x="1849" y="707"/>
              <a:ext cx="895" cy="290"/>
            </a:xfrm>
            <a:prstGeom prst="flowChartDisplay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latin typeface="Times New Roman" panose="02020603050405020304" pitchFamily="18" charset="0"/>
                </a:rPr>
                <a:t>事务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66" name="Text Box 6"/>
            <p:cNvSpPr txBox="1">
              <a:spLocks noChangeArrowheads="1"/>
            </p:cNvSpPr>
            <p:nvPr/>
          </p:nvSpPr>
          <p:spPr bwMode="auto">
            <a:xfrm>
              <a:off x="1827" y="1191"/>
              <a:ext cx="1006" cy="19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latin typeface="Times New Roman" panose="02020603050405020304" pitchFamily="18" charset="0"/>
                </a:rPr>
                <a:t>库存清单程序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67" name="Text Box 7"/>
            <p:cNvSpPr txBox="1">
              <a:spLocks noChangeArrowheads="1"/>
            </p:cNvSpPr>
            <p:nvPr/>
          </p:nvSpPr>
          <p:spPr bwMode="auto">
            <a:xfrm>
              <a:off x="1805" y="2346"/>
              <a:ext cx="1006" cy="193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latin typeface="Times New Roman" panose="02020603050405020304" pitchFamily="18" charset="0"/>
                </a:rPr>
                <a:t>报告生成程序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grpSp>
          <p:nvGrpSpPr>
            <p:cNvPr id="23568" name="Group 8"/>
            <p:cNvGrpSpPr/>
            <p:nvPr/>
          </p:nvGrpSpPr>
          <p:grpSpPr bwMode="auto">
            <a:xfrm>
              <a:off x="2021" y="1578"/>
              <a:ext cx="566" cy="559"/>
              <a:chOff x="3420" y="2844"/>
              <a:chExt cx="912" cy="900"/>
            </a:xfrm>
          </p:grpSpPr>
          <p:sp>
            <p:nvSpPr>
              <p:cNvPr id="23577" name="Oval 9"/>
              <p:cNvSpPr>
                <a:spLocks noChangeArrowheads="1"/>
              </p:cNvSpPr>
              <p:nvPr/>
            </p:nvSpPr>
            <p:spPr bwMode="auto">
              <a:xfrm>
                <a:off x="3420" y="2844"/>
                <a:ext cx="900" cy="9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2000" b="1">
                    <a:latin typeface="Times New Roman" panose="02020603050405020304" pitchFamily="18" charset="0"/>
                  </a:rPr>
                  <a:t>订货信息</a:t>
                </a:r>
                <a:endParaRPr lang="zh-CN" altLang="en-US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578" name="Line 10"/>
              <p:cNvSpPr>
                <a:spLocks noChangeShapeType="1"/>
              </p:cNvSpPr>
              <p:nvPr/>
            </p:nvSpPr>
            <p:spPr bwMode="auto">
              <a:xfrm>
                <a:off x="3780" y="3744"/>
                <a:ext cx="552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69" name="AutoShape 11"/>
            <p:cNvSpPr>
              <a:spLocks noChangeArrowheads="1"/>
            </p:cNvSpPr>
            <p:nvPr/>
          </p:nvSpPr>
          <p:spPr bwMode="auto">
            <a:xfrm>
              <a:off x="1909" y="2748"/>
              <a:ext cx="782" cy="320"/>
            </a:xfrm>
            <a:prstGeom prst="flowChartDocumen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latin typeface="Times New Roman" panose="02020603050405020304" pitchFamily="18" charset="0"/>
                </a:rPr>
                <a:t>订货报告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70" name="AutoShape 12"/>
            <p:cNvSpPr>
              <a:spLocks noChangeArrowheads="1"/>
            </p:cNvSpPr>
            <p:nvPr/>
          </p:nvSpPr>
          <p:spPr bwMode="auto">
            <a:xfrm>
              <a:off x="3250" y="878"/>
              <a:ext cx="671" cy="775"/>
            </a:xfrm>
            <a:prstGeom prst="flowChartMagneticDisk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2000" b="1">
                  <a:latin typeface="Times New Roman" panose="02020603050405020304" pitchFamily="18" charset="0"/>
                </a:rPr>
                <a:t>库存清单主文件</a:t>
              </a:r>
              <a:endParaRPr lang="zh-CN" altLang="en-US" sz="2000" b="1">
                <a:latin typeface="Times New Roman" panose="02020603050405020304" pitchFamily="18" charset="0"/>
              </a:endParaRPr>
            </a:p>
          </p:txBody>
        </p:sp>
        <p:sp>
          <p:nvSpPr>
            <p:cNvPr id="23571" name="Text Box 13"/>
            <p:cNvSpPr txBox="1">
              <a:spLocks noChangeArrowheads="1"/>
            </p:cNvSpPr>
            <p:nvPr/>
          </p:nvSpPr>
          <p:spPr bwMode="auto">
            <a:xfrm>
              <a:off x="1200" y="3168"/>
              <a:ext cx="3120" cy="2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b="1">
                  <a:latin typeface="Times New Roman" panose="02020603050405020304" pitchFamily="18" charset="0"/>
                </a:rPr>
                <a:t>图2.3  库存清单系统的系统流程图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3572" name="Line 14"/>
            <p:cNvSpPr>
              <a:spLocks noChangeShapeType="1"/>
            </p:cNvSpPr>
            <p:nvPr/>
          </p:nvSpPr>
          <p:spPr bwMode="auto">
            <a:xfrm>
              <a:off x="2267" y="996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Line 15"/>
            <p:cNvSpPr>
              <a:spLocks noChangeShapeType="1"/>
            </p:cNvSpPr>
            <p:nvPr/>
          </p:nvSpPr>
          <p:spPr bwMode="auto">
            <a:xfrm>
              <a:off x="2267" y="1383"/>
              <a:ext cx="0" cy="1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Line 16"/>
            <p:cNvSpPr>
              <a:spLocks noChangeShapeType="1"/>
            </p:cNvSpPr>
            <p:nvPr/>
          </p:nvSpPr>
          <p:spPr bwMode="auto">
            <a:xfrm>
              <a:off x="2267" y="2143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Line 17"/>
            <p:cNvSpPr>
              <a:spLocks noChangeShapeType="1"/>
            </p:cNvSpPr>
            <p:nvPr/>
          </p:nvSpPr>
          <p:spPr bwMode="auto">
            <a:xfrm>
              <a:off x="2267" y="2545"/>
              <a:ext cx="0" cy="1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Line 18"/>
            <p:cNvSpPr>
              <a:spLocks noChangeShapeType="1"/>
            </p:cNvSpPr>
            <p:nvPr/>
          </p:nvSpPr>
          <p:spPr bwMode="auto">
            <a:xfrm>
              <a:off x="2863" y="1290"/>
              <a:ext cx="33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sm" len="med"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58" name="TextBox 20"/>
          <p:cNvSpPr txBox="1">
            <a:spLocks noChangeArrowheads="1"/>
          </p:cNvSpPr>
          <p:nvPr/>
        </p:nvSpPr>
        <p:spPr bwMode="auto">
          <a:xfrm>
            <a:off x="1331913" y="1004888"/>
            <a:ext cx="66246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4000"/>
              <a:t>系统流程图的例子</a:t>
            </a:r>
            <a:endParaRPr lang="zh-CN" altLang="en-US" sz="4000"/>
          </a:p>
        </p:txBody>
      </p:sp>
      <p:sp>
        <p:nvSpPr>
          <p:cNvPr id="23559" name="TextBox 1"/>
          <p:cNvSpPr txBox="1">
            <a:spLocks noChangeArrowheads="1"/>
          </p:cNvSpPr>
          <p:nvPr/>
        </p:nvSpPr>
        <p:spPr bwMode="auto">
          <a:xfrm>
            <a:off x="5795963" y="1628775"/>
            <a:ext cx="17049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显示部件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60" name="TextBox 21"/>
          <p:cNvSpPr txBox="1">
            <a:spLocks noChangeArrowheads="1"/>
          </p:cNvSpPr>
          <p:nvPr/>
        </p:nvSpPr>
        <p:spPr bwMode="auto">
          <a:xfrm>
            <a:off x="7667625" y="2009775"/>
            <a:ext cx="998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磁盘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61" name="TextBox 22"/>
          <p:cNvSpPr txBox="1">
            <a:spLocks noChangeArrowheads="1"/>
          </p:cNvSpPr>
          <p:nvPr/>
        </p:nvSpPr>
        <p:spPr bwMode="auto">
          <a:xfrm>
            <a:off x="3862388" y="2892425"/>
            <a:ext cx="976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处理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62" name="TextBox 23"/>
          <p:cNvSpPr txBox="1">
            <a:spLocks noChangeArrowheads="1"/>
          </p:cNvSpPr>
          <p:nvPr/>
        </p:nvSpPr>
        <p:spPr bwMode="auto">
          <a:xfrm>
            <a:off x="4040188" y="3795713"/>
            <a:ext cx="976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磁带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63" name="TextBox 24"/>
          <p:cNvSpPr txBox="1">
            <a:spLocks noChangeArrowheads="1"/>
          </p:cNvSpPr>
          <p:nvPr/>
        </p:nvSpPr>
        <p:spPr bwMode="auto">
          <a:xfrm>
            <a:off x="3862388" y="4724400"/>
            <a:ext cx="976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处理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3564" name="TextBox 25"/>
          <p:cNvSpPr txBox="1">
            <a:spLocks noChangeArrowheads="1"/>
          </p:cNvSpPr>
          <p:nvPr/>
        </p:nvSpPr>
        <p:spPr bwMode="auto">
          <a:xfrm>
            <a:off x="4032250" y="5440363"/>
            <a:ext cx="9779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文档</a:t>
            </a:r>
            <a:endParaRPr lang="zh-CN" alt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54160" y="2057400"/>
              <a:ext cx="6324840" cy="175284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54160" y="2057400"/>
                <a:ext cx="6324840" cy="17528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tx1"/>
                </a:solidFill>
              </a:rPr>
              <a:t>可行性研究的工具之数据流图</a:t>
            </a:r>
            <a:endParaRPr lang="en-US" altLang="zh-CN" smtClean="0">
              <a:solidFill>
                <a:schemeClr val="tx1"/>
              </a:solidFill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数据流图（</a:t>
            </a:r>
            <a:r>
              <a:rPr lang="en-US" altLang="zh-CN" smtClean="0"/>
              <a:t>Data Flow Diagram</a:t>
            </a:r>
            <a:r>
              <a:rPr lang="zh-CN" altLang="en-US" smtClean="0"/>
              <a:t>）：简称</a:t>
            </a:r>
            <a:r>
              <a:rPr lang="en-US" altLang="zh-CN" smtClean="0"/>
              <a:t>DFD</a:t>
            </a:r>
            <a:r>
              <a:rPr lang="zh-CN" altLang="en-US" smtClean="0"/>
              <a:t>，从数据传递和加工角度，以图形方式来</a:t>
            </a:r>
            <a:r>
              <a:rPr lang="zh-CN" altLang="en-US" smtClean="0">
                <a:solidFill>
                  <a:srgbClr val="0000FF"/>
                </a:solidFill>
              </a:rPr>
              <a:t>表达系统的</a:t>
            </a:r>
            <a:r>
              <a:rPr lang="zh-CN" altLang="en-US" u="sng" smtClean="0">
                <a:solidFill>
                  <a:srgbClr val="0000FF"/>
                </a:solidFill>
                <a:highlight>
                  <a:srgbClr val="FFFF00"/>
                </a:highlight>
              </a:rPr>
              <a:t>逻辑</a:t>
            </a:r>
            <a:r>
              <a:rPr lang="zh-CN" altLang="en-US" smtClean="0">
                <a:solidFill>
                  <a:srgbClr val="0000FF"/>
                </a:solidFill>
              </a:rPr>
              <a:t>功能</a:t>
            </a:r>
            <a:r>
              <a:rPr lang="zh-CN" altLang="en-US" smtClean="0"/>
              <a:t>、数据在系统内部的</a:t>
            </a:r>
            <a:r>
              <a:rPr lang="zh-CN" altLang="en-US" u="sng" smtClean="0">
                <a:solidFill>
                  <a:srgbClr val="0000FF"/>
                </a:solidFill>
                <a:highlight>
                  <a:srgbClr val="FFFF00"/>
                </a:highlight>
              </a:rPr>
              <a:t>逻辑</a:t>
            </a:r>
            <a:r>
              <a:rPr lang="zh-CN" altLang="en-US" smtClean="0">
                <a:solidFill>
                  <a:srgbClr val="0000FF"/>
                </a:solidFill>
              </a:rPr>
              <a:t>流向和</a:t>
            </a:r>
            <a:r>
              <a:rPr lang="zh-CN" altLang="en-US" u="sng" smtClean="0">
                <a:solidFill>
                  <a:srgbClr val="0000FF"/>
                </a:solidFill>
                <a:highlight>
                  <a:srgbClr val="FFFF00"/>
                </a:highlight>
              </a:rPr>
              <a:t>逻辑</a:t>
            </a:r>
            <a:r>
              <a:rPr lang="zh-CN" altLang="en-US" smtClean="0">
                <a:solidFill>
                  <a:srgbClr val="0000FF"/>
                </a:solidFill>
              </a:rPr>
              <a:t>变换</a:t>
            </a:r>
            <a:r>
              <a:rPr lang="zh-CN" altLang="en-US" smtClean="0"/>
              <a:t>过程，是</a:t>
            </a:r>
            <a:r>
              <a:rPr lang="zh-CN" altLang="en-US" smtClean="0">
                <a:solidFill>
                  <a:srgbClr val="0000FF"/>
                </a:solidFill>
              </a:rPr>
              <a:t>结构化系统分析方法的主要表达工具、</a:t>
            </a:r>
            <a:r>
              <a:rPr lang="zh-CN" altLang="en-US" smtClean="0"/>
              <a:t>表示软件模型的一种图示方法。</a:t>
            </a: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sp>
        <p:nvSpPr>
          <p:cNvPr id="24580" name="Rectangle 10"/>
          <p:cNvSpPr>
            <a:spLocks noChangeArrowheads="1"/>
          </p:cNvSpPr>
          <p:nvPr/>
        </p:nvSpPr>
        <p:spPr bwMode="auto">
          <a:xfrm>
            <a:off x="0" y="2895600"/>
            <a:ext cx="9144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200">
                <a:latin typeface="Times New Roman" panose="02020603050405020304" pitchFamily="18" charset="0"/>
              </a:rPr>
              <a:t> </a:t>
            </a:r>
            <a:endParaRPr lang="en-US" altLang="zh-CN" sz="1200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1200">
                <a:latin typeface="Times New Roman" panose="02020603050405020304" pitchFamily="18" charset="0"/>
              </a:rPr>
              <a:t> </a:t>
            </a:r>
            <a:endParaRPr lang="en-US" altLang="zh-CN" sz="1200">
              <a:latin typeface="Times New Roman" panose="02020603050405020304" pitchFamily="18" charset="0"/>
            </a:endParaRPr>
          </a:p>
          <a:p>
            <a:pPr algn="just"/>
            <a:r>
              <a:rPr lang="en-US" altLang="zh-CN" sz="1200">
                <a:latin typeface="Times New Roman" panose="02020603050405020304" pitchFamily="18" charset="0"/>
              </a:rPr>
              <a:t> </a:t>
            </a:r>
            <a:endParaRPr lang="en-US" altLang="zh-CN" sz="1200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581" name="Rectangle 14"/>
          <p:cNvSpPr>
            <a:spLocks noChangeArrowheads="1"/>
          </p:cNvSpPr>
          <p:nvPr/>
        </p:nvSpPr>
        <p:spPr bwMode="auto">
          <a:xfrm>
            <a:off x="0" y="2895600"/>
            <a:ext cx="9144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tabLst>
                <a:tab pos="1581150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200">
                <a:latin typeface="Times New Roman" panose="02020603050405020304" pitchFamily="18" charset="0"/>
              </a:rPr>
              <a:t> </a:t>
            </a:r>
            <a:endParaRPr lang="en-US" altLang="zh-CN" sz="1200">
              <a:latin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582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52C6BA7-C751-48C1-BF97-DC7F9A9DE13B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4583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C934EF1-EE59-4D31-8B88-E7B6868D24C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数据流图的基本符号</a:t>
            </a:r>
            <a:endParaRPr lang="en-US" altLang="zh-CN" smtClean="0"/>
          </a:p>
        </p:txBody>
      </p:sp>
      <p:sp>
        <p:nvSpPr>
          <p:cNvPr id="25603" name="日期占位符 1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E45888F0-CA4F-4E92-A979-EBCC2541CD7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5604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1790A28-6851-4012-B909-BE43C17F39B6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5605" name="Group 24"/>
          <p:cNvGrpSpPr/>
          <p:nvPr/>
        </p:nvGrpSpPr>
        <p:grpSpPr bwMode="auto">
          <a:xfrm>
            <a:off x="1979613" y="2220913"/>
            <a:ext cx="5562600" cy="3951287"/>
            <a:chOff x="1188" y="1377"/>
            <a:chExt cx="3504" cy="2489"/>
          </a:xfrm>
        </p:grpSpPr>
        <p:sp>
          <p:nvSpPr>
            <p:cNvPr id="25606" name="Rectangle 5"/>
            <p:cNvSpPr>
              <a:spLocks noChangeArrowheads="1"/>
            </p:cNvSpPr>
            <p:nvPr/>
          </p:nvSpPr>
          <p:spPr bwMode="auto">
            <a:xfrm>
              <a:off x="1271" y="1418"/>
              <a:ext cx="311" cy="31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7" name="AutoShape 6"/>
            <p:cNvSpPr>
              <a:spLocks noChangeArrowheads="1"/>
            </p:cNvSpPr>
            <p:nvPr/>
          </p:nvSpPr>
          <p:spPr bwMode="auto">
            <a:xfrm>
              <a:off x="2225" y="1377"/>
              <a:ext cx="373" cy="373"/>
            </a:xfrm>
            <a:prstGeom prst="cube">
              <a:avLst>
                <a:gd name="adj" fmla="val 11111"/>
              </a:avLst>
            </a:prstGeom>
            <a:noFill/>
            <a:ln w="254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8" name="AutoShape 7"/>
            <p:cNvSpPr>
              <a:spLocks noChangeArrowheads="1"/>
            </p:cNvSpPr>
            <p:nvPr/>
          </p:nvSpPr>
          <p:spPr bwMode="auto">
            <a:xfrm>
              <a:off x="1188" y="1968"/>
              <a:ext cx="467" cy="405"/>
            </a:xfrm>
            <a:prstGeom prst="roundRect">
              <a:avLst>
                <a:gd name="adj" fmla="val 16667"/>
              </a:avLst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09" name="Oval 8"/>
            <p:cNvSpPr>
              <a:spLocks noChangeArrowheads="1"/>
            </p:cNvSpPr>
            <p:nvPr/>
          </p:nvSpPr>
          <p:spPr bwMode="auto">
            <a:xfrm>
              <a:off x="2173" y="1937"/>
              <a:ext cx="466" cy="467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25610" name="Group 9"/>
            <p:cNvGrpSpPr/>
            <p:nvPr/>
          </p:nvGrpSpPr>
          <p:grpSpPr bwMode="auto">
            <a:xfrm>
              <a:off x="1209" y="2746"/>
              <a:ext cx="466" cy="176"/>
              <a:chOff x="3240" y="10176"/>
              <a:chExt cx="540" cy="204"/>
            </a:xfrm>
          </p:grpSpPr>
          <p:sp>
            <p:nvSpPr>
              <p:cNvPr id="25622" name="Line 10"/>
              <p:cNvSpPr>
                <a:spLocks noChangeShapeType="1"/>
              </p:cNvSpPr>
              <p:nvPr/>
            </p:nvSpPr>
            <p:spPr bwMode="auto">
              <a:xfrm>
                <a:off x="3240" y="10176"/>
                <a:ext cx="5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3" name="Line 11"/>
              <p:cNvSpPr>
                <a:spLocks noChangeShapeType="1"/>
              </p:cNvSpPr>
              <p:nvPr/>
            </p:nvSpPr>
            <p:spPr bwMode="auto">
              <a:xfrm>
                <a:off x="3240" y="10380"/>
                <a:ext cx="5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24" name="Line 12"/>
              <p:cNvSpPr>
                <a:spLocks noChangeShapeType="1"/>
              </p:cNvSpPr>
              <p:nvPr/>
            </p:nvSpPr>
            <p:spPr bwMode="auto">
              <a:xfrm>
                <a:off x="3240" y="10176"/>
                <a:ext cx="0" cy="20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11" name="Line 13"/>
            <p:cNvSpPr>
              <a:spLocks noChangeShapeType="1"/>
            </p:cNvSpPr>
            <p:nvPr/>
          </p:nvSpPr>
          <p:spPr bwMode="auto">
            <a:xfrm>
              <a:off x="2204" y="2767"/>
              <a:ext cx="4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2" name="Line 14"/>
            <p:cNvSpPr>
              <a:spLocks noChangeShapeType="1"/>
            </p:cNvSpPr>
            <p:nvPr/>
          </p:nvSpPr>
          <p:spPr bwMode="auto">
            <a:xfrm>
              <a:off x="2204" y="2902"/>
              <a:ext cx="46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3" name="Line 15"/>
            <p:cNvSpPr>
              <a:spLocks noChangeShapeType="1"/>
            </p:cNvSpPr>
            <p:nvPr/>
          </p:nvSpPr>
          <p:spPr bwMode="auto">
            <a:xfrm>
              <a:off x="1229" y="3264"/>
              <a:ext cx="4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4" name="Text Box 16"/>
            <p:cNvSpPr txBox="1">
              <a:spLocks noChangeArrowheads="1"/>
            </p:cNvSpPr>
            <p:nvPr/>
          </p:nvSpPr>
          <p:spPr bwMode="auto">
            <a:xfrm>
              <a:off x="1820" y="1439"/>
              <a:ext cx="38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或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15" name="Text Box 17"/>
            <p:cNvSpPr txBox="1">
              <a:spLocks noChangeArrowheads="1"/>
            </p:cNvSpPr>
            <p:nvPr/>
          </p:nvSpPr>
          <p:spPr bwMode="auto">
            <a:xfrm>
              <a:off x="1851" y="2030"/>
              <a:ext cx="38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或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16" name="Text Box 18"/>
            <p:cNvSpPr txBox="1">
              <a:spLocks noChangeArrowheads="1"/>
            </p:cNvSpPr>
            <p:nvPr/>
          </p:nvSpPr>
          <p:spPr bwMode="auto">
            <a:xfrm>
              <a:off x="1862" y="2704"/>
              <a:ext cx="38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或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17" name="Text Box 19"/>
            <p:cNvSpPr txBox="1">
              <a:spLocks noChangeArrowheads="1"/>
            </p:cNvSpPr>
            <p:nvPr/>
          </p:nvSpPr>
          <p:spPr bwMode="auto">
            <a:xfrm>
              <a:off x="2981" y="1418"/>
              <a:ext cx="171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数据源点或终点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18" name="Text Box 20"/>
            <p:cNvSpPr txBox="1">
              <a:spLocks noChangeArrowheads="1"/>
            </p:cNvSpPr>
            <p:nvPr/>
          </p:nvSpPr>
          <p:spPr bwMode="auto">
            <a:xfrm>
              <a:off x="2981" y="2093"/>
              <a:ext cx="171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变换数据的处理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19" name="Text Box 21"/>
            <p:cNvSpPr txBox="1">
              <a:spLocks noChangeArrowheads="1"/>
            </p:cNvSpPr>
            <p:nvPr/>
          </p:nvSpPr>
          <p:spPr bwMode="auto">
            <a:xfrm>
              <a:off x="2981" y="2704"/>
              <a:ext cx="171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数据存储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20" name="Text Box 22"/>
            <p:cNvSpPr txBox="1">
              <a:spLocks noChangeArrowheads="1"/>
            </p:cNvSpPr>
            <p:nvPr/>
          </p:nvSpPr>
          <p:spPr bwMode="auto">
            <a:xfrm>
              <a:off x="2981" y="3171"/>
              <a:ext cx="1711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数据流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25621" name="Text Box 23"/>
            <p:cNvSpPr txBox="1">
              <a:spLocks noChangeArrowheads="1"/>
            </p:cNvSpPr>
            <p:nvPr/>
          </p:nvSpPr>
          <p:spPr bwMode="auto">
            <a:xfrm>
              <a:off x="1758" y="3596"/>
              <a:ext cx="233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sz="2800" b="1">
                  <a:latin typeface="Times New Roman" panose="02020603050405020304" pitchFamily="18" charset="0"/>
                </a:rPr>
                <a:t>图2.4 基本符号的含义</a:t>
              </a:r>
              <a:endParaRPr lang="zh-CN" altLang="en-US" sz="2800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数据流图的附加符号</a:t>
            </a:r>
            <a:endParaRPr lang="zh-CN" altLang="en-US" smtClean="0"/>
          </a:p>
        </p:txBody>
      </p:sp>
      <p:sp>
        <p:nvSpPr>
          <p:cNvPr id="26627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2002114-469C-4B5C-9596-91F819D97CE5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662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88BE86-321A-4813-9370-5C4625E148CA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26629" name="Group 60"/>
          <p:cNvGrpSpPr/>
          <p:nvPr/>
        </p:nvGrpSpPr>
        <p:grpSpPr bwMode="auto">
          <a:xfrm>
            <a:off x="1827213" y="1674813"/>
            <a:ext cx="5256212" cy="3049587"/>
            <a:chOff x="1111" y="346"/>
            <a:chExt cx="3583" cy="2222"/>
          </a:xfrm>
        </p:grpSpPr>
        <p:grpSp>
          <p:nvGrpSpPr>
            <p:cNvPr id="26646" name="Group 20"/>
            <p:cNvGrpSpPr/>
            <p:nvPr/>
          </p:nvGrpSpPr>
          <p:grpSpPr bwMode="auto">
            <a:xfrm>
              <a:off x="1111" y="346"/>
              <a:ext cx="1543" cy="953"/>
              <a:chOff x="1156" y="391"/>
              <a:chExt cx="1543" cy="953"/>
            </a:xfrm>
          </p:grpSpPr>
          <p:sp>
            <p:nvSpPr>
              <p:cNvPr id="26674" name="Oval 4"/>
              <p:cNvSpPr>
                <a:spLocks noChangeArrowheads="1"/>
              </p:cNvSpPr>
              <p:nvPr/>
            </p:nvSpPr>
            <p:spPr bwMode="auto">
              <a:xfrm>
                <a:off x="1791" y="845"/>
                <a:ext cx="362" cy="362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T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75" name="Line 6"/>
              <p:cNvSpPr>
                <a:spLocks noChangeShapeType="1"/>
              </p:cNvSpPr>
              <p:nvPr/>
            </p:nvSpPr>
            <p:spPr bwMode="auto">
              <a:xfrm flipV="1">
                <a:off x="1202" y="1071"/>
                <a:ext cx="589" cy="273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6" name="Line 7"/>
              <p:cNvSpPr>
                <a:spLocks noChangeShapeType="1"/>
              </p:cNvSpPr>
              <p:nvPr/>
            </p:nvSpPr>
            <p:spPr bwMode="auto">
              <a:xfrm>
                <a:off x="1202" y="663"/>
                <a:ext cx="589" cy="318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7" name="Line 8"/>
              <p:cNvSpPr>
                <a:spLocks noChangeShapeType="1"/>
              </p:cNvSpPr>
              <p:nvPr/>
            </p:nvSpPr>
            <p:spPr bwMode="auto">
              <a:xfrm>
                <a:off x="2154" y="1026"/>
                <a:ext cx="499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8" name="Text Box 12"/>
              <p:cNvSpPr txBox="1">
                <a:spLocks noChangeArrowheads="1"/>
              </p:cNvSpPr>
              <p:nvPr/>
            </p:nvSpPr>
            <p:spPr bwMode="auto">
              <a:xfrm>
                <a:off x="1202" y="391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A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79" name="Text Box 13"/>
              <p:cNvSpPr txBox="1">
                <a:spLocks noChangeArrowheads="1"/>
              </p:cNvSpPr>
              <p:nvPr/>
            </p:nvSpPr>
            <p:spPr bwMode="auto">
              <a:xfrm>
                <a:off x="1156" y="935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B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80" name="Text Box 14"/>
              <p:cNvSpPr txBox="1">
                <a:spLocks noChangeArrowheads="1"/>
              </p:cNvSpPr>
              <p:nvPr/>
            </p:nvSpPr>
            <p:spPr bwMode="auto">
              <a:xfrm>
                <a:off x="2381" y="709"/>
                <a:ext cx="318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C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81" name="Text Box 18"/>
              <p:cNvSpPr txBox="1">
                <a:spLocks noChangeArrowheads="1"/>
              </p:cNvSpPr>
              <p:nvPr/>
            </p:nvSpPr>
            <p:spPr bwMode="auto">
              <a:xfrm>
                <a:off x="1384" y="754"/>
                <a:ext cx="453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*</a:t>
                </a:r>
                <a:endParaRPr lang="en-US" altLang="zh-CN" sz="32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47" name="Group 21"/>
            <p:cNvGrpSpPr/>
            <p:nvPr/>
          </p:nvGrpSpPr>
          <p:grpSpPr bwMode="auto">
            <a:xfrm>
              <a:off x="3289" y="437"/>
              <a:ext cx="1405" cy="1071"/>
              <a:chOff x="3334" y="482"/>
              <a:chExt cx="1405" cy="1071"/>
            </a:xfrm>
          </p:grpSpPr>
          <p:sp>
            <p:nvSpPr>
              <p:cNvPr id="26666" name="Oval 5"/>
              <p:cNvSpPr>
                <a:spLocks noChangeArrowheads="1"/>
              </p:cNvSpPr>
              <p:nvPr/>
            </p:nvSpPr>
            <p:spPr bwMode="auto">
              <a:xfrm>
                <a:off x="3833" y="845"/>
                <a:ext cx="362" cy="362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T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7" name="Line 9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99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8" name="Line 10"/>
              <p:cNvSpPr>
                <a:spLocks noChangeShapeType="1"/>
              </p:cNvSpPr>
              <p:nvPr/>
            </p:nvSpPr>
            <p:spPr bwMode="auto">
              <a:xfrm flipV="1">
                <a:off x="4195" y="709"/>
                <a:ext cx="409" cy="22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9" name="Line 11"/>
              <p:cNvSpPr>
                <a:spLocks noChangeShapeType="1"/>
              </p:cNvSpPr>
              <p:nvPr/>
            </p:nvSpPr>
            <p:spPr bwMode="auto">
              <a:xfrm>
                <a:off x="4195" y="1117"/>
                <a:ext cx="409" cy="227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70" name="Text Box 15"/>
              <p:cNvSpPr txBox="1">
                <a:spLocks noChangeArrowheads="1"/>
              </p:cNvSpPr>
              <p:nvPr/>
            </p:nvSpPr>
            <p:spPr bwMode="auto">
              <a:xfrm>
                <a:off x="3334" y="709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A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71" name="Text Box 16"/>
              <p:cNvSpPr txBox="1">
                <a:spLocks noChangeArrowheads="1"/>
              </p:cNvSpPr>
              <p:nvPr/>
            </p:nvSpPr>
            <p:spPr bwMode="auto">
              <a:xfrm>
                <a:off x="4241" y="482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B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72" name="Text Box 17"/>
              <p:cNvSpPr txBox="1">
                <a:spLocks noChangeArrowheads="1"/>
              </p:cNvSpPr>
              <p:nvPr/>
            </p:nvSpPr>
            <p:spPr bwMode="auto">
              <a:xfrm>
                <a:off x="4286" y="1207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C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73" name="Text Box 19"/>
              <p:cNvSpPr txBox="1">
                <a:spLocks noChangeArrowheads="1"/>
              </p:cNvSpPr>
              <p:nvPr/>
            </p:nvSpPr>
            <p:spPr bwMode="auto">
              <a:xfrm>
                <a:off x="4241" y="754"/>
                <a:ext cx="453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3200" b="1">
                    <a:latin typeface="Times New Roman" panose="02020603050405020304" pitchFamily="18" charset="0"/>
                  </a:rPr>
                  <a:t>*</a:t>
                </a:r>
                <a:endParaRPr lang="en-US" altLang="zh-CN" sz="32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48" name="Group 24"/>
            <p:cNvGrpSpPr/>
            <p:nvPr/>
          </p:nvGrpSpPr>
          <p:grpSpPr bwMode="auto">
            <a:xfrm>
              <a:off x="1111" y="1406"/>
              <a:ext cx="1543" cy="953"/>
              <a:chOff x="1156" y="391"/>
              <a:chExt cx="1543" cy="953"/>
            </a:xfrm>
          </p:grpSpPr>
          <p:sp>
            <p:nvSpPr>
              <p:cNvPr id="26658" name="Oval 25"/>
              <p:cNvSpPr>
                <a:spLocks noChangeArrowheads="1"/>
              </p:cNvSpPr>
              <p:nvPr/>
            </p:nvSpPr>
            <p:spPr bwMode="auto">
              <a:xfrm>
                <a:off x="1791" y="845"/>
                <a:ext cx="362" cy="362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T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9" name="Line 26"/>
              <p:cNvSpPr>
                <a:spLocks noChangeShapeType="1"/>
              </p:cNvSpPr>
              <p:nvPr/>
            </p:nvSpPr>
            <p:spPr bwMode="auto">
              <a:xfrm flipV="1">
                <a:off x="1202" y="1071"/>
                <a:ext cx="589" cy="273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0" name="Line 27"/>
              <p:cNvSpPr>
                <a:spLocks noChangeShapeType="1"/>
              </p:cNvSpPr>
              <p:nvPr/>
            </p:nvSpPr>
            <p:spPr bwMode="auto">
              <a:xfrm>
                <a:off x="1202" y="663"/>
                <a:ext cx="589" cy="318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1" name="Line 28"/>
              <p:cNvSpPr>
                <a:spLocks noChangeShapeType="1"/>
              </p:cNvSpPr>
              <p:nvPr/>
            </p:nvSpPr>
            <p:spPr bwMode="auto">
              <a:xfrm>
                <a:off x="2154" y="1026"/>
                <a:ext cx="499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62" name="Text Box 29"/>
              <p:cNvSpPr txBox="1">
                <a:spLocks noChangeArrowheads="1"/>
              </p:cNvSpPr>
              <p:nvPr/>
            </p:nvSpPr>
            <p:spPr bwMode="auto">
              <a:xfrm>
                <a:off x="1202" y="391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A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3" name="Text Box 30"/>
              <p:cNvSpPr txBox="1">
                <a:spLocks noChangeArrowheads="1"/>
              </p:cNvSpPr>
              <p:nvPr/>
            </p:nvSpPr>
            <p:spPr bwMode="auto">
              <a:xfrm>
                <a:off x="1156" y="935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B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4" name="Text Box 31"/>
              <p:cNvSpPr txBox="1">
                <a:spLocks noChangeArrowheads="1"/>
              </p:cNvSpPr>
              <p:nvPr/>
            </p:nvSpPr>
            <p:spPr bwMode="auto">
              <a:xfrm>
                <a:off x="2381" y="709"/>
                <a:ext cx="318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C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65" name="Text Box 32"/>
              <p:cNvSpPr txBox="1">
                <a:spLocks noChangeArrowheads="1"/>
              </p:cNvSpPr>
              <p:nvPr/>
            </p:nvSpPr>
            <p:spPr bwMode="auto">
              <a:xfrm>
                <a:off x="1384" y="754"/>
                <a:ext cx="453" cy="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+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6649" name="Group 33"/>
            <p:cNvGrpSpPr/>
            <p:nvPr/>
          </p:nvGrpSpPr>
          <p:grpSpPr bwMode="auto">
            <a:xfrm>
              <a:off x="3289" y="1497"/>
              <a:ext cx="1405" cy="1071"/>
              <a:chOff x="3334" y="482"/>
              <a:chExt cx="1405" cy="1071"/>
            </a:xfrm>
          </p:grpSpPr>
          <p:sp>
            <p:nvSpPr>
              <p:cNvPr id="26650" name="Oval 34"/>
              <p:cNvSpPr>
                <a:spLocks noChangeArrowheads="1"/>
              </p:cNvSpPr>
              <p:nvPr/>
            </p:nvSpPr>
            <p:spPr bwMode="auto">
              <a:xfrm>
                <a:off x="3833" y="845"/>
                <a:ext cx="362" cy="362"/>
              </a:xfrm>
              <a:prstGeom prst="ellipse">
                <a:avLst/>
              </a:prstGeom>
              <a:noFill/>
              <a:ln w="25400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50000"/>
                  </a:lnSpc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T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1" name="Line 35"/>
              <p:cNvSpPr>
                <a:spLocks noChangeShapeType="1"/>
              </p:cNvSpPr>
              <p:nvPr/>
            </p:nvSpPr>
            <p:spPr bwMode="auto">
              <a:xfrm>
                <a:off x="3334" y="1026"/>
                <a:ext cx="499" cy="0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2" name="Line 36"/>
              <p:cNvSpPr>
                <a:spLocks noChangeShapeType="1"/>
              </p:cNvSpPr>
              <p:nvPr/>
            </p:nvSpPr>
            <p:spPr bwMode="auto">
              <a:xfrm flipV="1">
                <a:off x="4195" y="709"/>
                <a:ext cx="409" cy="226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3" name="Line 37"/>
              <p:cNvSpPr>
                <a:spLocks noChangeShapeType="1"/>
              </p:cNvSpPr>
              <p:nvPr/>
            </p:nvSpPr>
            <p:spPr bwMode="auto">
              <a:xfrm>
                <a:off x="4195" y="1117"/>
                <a:ext cx="409" cy="227"/>
              </a:xfrm>
              <a:prstGeom prst="line">
                <a:avLst/>
              </a:prstGeom>
              <a:noFill/>
              <a:ln w="25400" cap="sq">
                <a:solidFill>
                  <a:schemeClr val="tx1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54" name="Text Box 38"/>
              <p:cNvSpPr txBox="1">
                <a:spLocks noChangeArrowheads="1"/>
              </p:cNvSpPr>
              <p:nvPr/>
            </p:nvSpPr>
            <p:spPr bwMode="auto">
              <a:xfrm>
                <a:off x="3334" y="709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A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5" name="Text Box 39"/>
              <p:cNvSpPr txBox="1">
                <a:spLocks noChangeArrowheads="1"/>
              </p:cNvSpPr>
              <p:nvPr/>
            </p:nvSpPr>
            <p:spPr bwMode="auto">
              <a:xfrm>
                <a:off x="4241" y="482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B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6" name="Text Box 40"/>
              <p:cNvSpPr txBox="1">
                <a:spLocks noChangeArrowheads="1"/>
              </p:cNvSpPr>
              <p:nvPr/>
            </p:nvSpPr>
            <p:spPr bwMode="auto">
              <a:xfrm>
                <a:off x="4286" y="1207"/>
                <a:ext cx="453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000" b="1">
                    <a:latin typeface="Times New Roman" panose="02020603050405020304" pitchFamily="18" charset="0"/>
                  </a:rPr>
                  <a:t>C</a:t>
                </a:r>
                <a:endParaRPr lang="en-US" altLang="zh-CN" sz="2000" b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657" name="Text Box 41"/>
              <p:cNvSpPr txBox="1">
                <a:spLocks noChangeArrowheads="1"/>
              </p:cNvSpPr>
              <p:nvPr/>
            </p:nvSpPr>
            <p:spPr bwMode="auto">
              <a:xfrm>
                <a:off x="4241" y="754"/>
                <a:ext cx="453" cy="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762000" indent="-7620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  <a:spcBef>
                    <a:spcPct val="5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2800" b="1">
                    <a:latin typeface="Times New Roman" panose="02020603050405020304" pitchFamily="18" charset="0"/>
                  </a:rPr>
                  <a:t>+</a:t>
                </a:r>
                <a:endParaRPr lang="en-US" altLang="zh-CN" sz="2800" b="1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6630" name="Oval 25"/>
          <p:cNvSpPr>
            <a:spLocks noChangeArrowheads="1"/>
          </p:cNvSpPr>
          <p:nvPr/>
        </p:nvSpPr>
        <p:spPr bwMode="auto">
          <a:xfrm>
            <a:off x="2720975" y="5157788"/>
            <a:ext cx="531813" cy="496887"/>
          </a:xfrm>
          <a:prstGeom prst="ellipse">
            <a:avLst/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T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cxnSp>
        <p:nvCxnSpPr>
          <p:cNvPr id="26631" name="直接箭头连接符 46"/>
          <p:cNvCxnSpPr>
            <a:cxnSpLocks noChangeShapeType="1"/>
            <a:endCxn id="26630" idx="1"/>
          </p:cNvCxnSpPr>
          <p:nvPr/>
        </p:nvCxnSpPr>
        <p:spPr bwMode="auto">
          <a:xfrm>
            <a:off x="1827213" y="4797425"/>
            <a:ext cx="971550" cy="431800"/>
          </a:xfrm>
          <a:prstGeom prst="straightConnector1">
            <a:avLst/>
          </a:prstGeom>
          <a:noFill/>
          <a:ln w="254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2" name="直接箭头连接符 47"/>
          <p:cNvCxnSpPr>
            <a:cxnSpLocks noChangeShapeType="1"/>
            <a:endCxn id="26630" idx="1"/>
          </p:cNvCxnSpPr>
          <p:nvPr/>
        </p:nvCxnSpPr>
        <p:spPr bwMode="auto">
          <a:xfrm flipV="1">
            <a:off x="1893888" y="5589588"/>
            <a:ext cx="917575" cy="431800"/>
          </a:xfrm>
          <a:prstGeom prst="straightConnector1">
            <a:avLst/>
          </a:prstGeom>
          <a:noFill/>
          <a:ln w="254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663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3" y="5187950"/>
            <a:ext cx="3524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4" name="Text Box 29"/>
          <p:cNvSpPr txBox="1">
            <a:spLocks noChangeArrowheads="1"/>
          </p:cNvSpPr>
          <p:nvPr/>
        </p:nvSpPr>
        <p:spPr bwMode="auto">
          <a:xfrm>
            <a:off x="2070100" y="4438650"/>
            <a:ext cx="665163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A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35" name="Text Box 30"/>
          <p:cNvSpPr txBox="1">
            <a:spLocks noChangeArrowheads="1"/>
          </p:cNvSpPr>
          <p:nvPr/>
        </p:nvSpPr>
        <p:spPr bwMode="auto">
          <a:xfrm>
            <a:off x="2020888" y="5405438"/>
            <a:ext cx="6635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B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36" name="Line 28"/>
          <p:cNvSpPr>
            <a:spLocks noChangeShapeType="1"/>
          </p:cNvSpPr>
          <p:nvPr/>
        </p:nvSpPr>
        <p:spPr bwMode="auto">
          <a:xfrm>
            <a:off x="3290888" y="5405438"/>
            <a:ext cx="73183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Text Box 31"/>
          <p:cNvSpPr txBox="1">
            <a:spLocks noChangeArrowheads="1"/>
          </p:cNvSpPr>
          <p:nvPr/>
        </p:nvSpPr>
        <p:spPr bwMode="auto">
          <a:xfrm>
            <a:off x="3443288" y="4797425"/>
            <a:ext cx="466725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38" name="Oval 25"/>
          <p:cNvSpPr>
            <a:spLocks noChangeArrowheads="1"/>
          </p:cNvSpPr>
          <p:nvPr/>
        </p:nvSpPr>
        <p:spPr bwMode="auto">
          <a:xfrm>
            <a:off x="5876925" y="4981575"/>
            <a:ext cx="530225" cy="496888"/>
          </a:xfrm>
          <a:prstGeom prst="ellipse">
            <a:avLst/>
          </a:prstGeom>
          <a:noFill/>
          <a:ln w="25400" cap="sq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T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39" name="Line 28"/>
          <p:cNvSpPr>
            <a:spLocks noChangeShapeType="1"/>
          </p:cNvSpPr>
          <p:nvPr/>
        </p:nvSpPr>
        <p:spPr bwMode="auto">
          <a:xfrm>
            <a:off x="5148263" y="5235575"/>
            <a:ext cx="731837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6640" name="直接箭头连接符 57"/>
          <p:cNvCxnSpPr>
            <a:cxnSpLocks noChangeShapeType="1"/>
            <a:stCxn id="26638" idx="7"/>
            <a:endCxn id="26630" idx="1"/>
          </p:cNvCxnSpPr>
          <p:nvPr/>
        </p:nvCxnSpPr>
        <p:spPr bwMode="auto">
          <a:xfrm flipV="1">
            <a:off x="6329363" y="4724400"/>
            <a:ext cx="708025" cy="33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1" name="直接箭头连接符 59"/>
          <p:cNvCxnSpPr>
            <a:cxnSpLocks noChangeShapeType="1"/>
            <a:stCxn id="26638" idx="7"/>
            <a:endCxn id="26630" idx="1"/>
          </p:cNvCxnSpPr>
          <p:nvPr/>
        </p:nvCxnSpPr>
        <p:spPr bwMode="auto">
          <a:xfrm>
            <a:off x="6396038" y="5319713"/>
            <a:ext cx="768350" cy="322262"/>
          </a:xfrm>
          <a:prstGeom prst="straightConnector1">
            <a:avLst/>
          </a:prstGeom>
          <a:noFill/>
          <a:ln w="254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2" name="Text Box 38"/>
          <p:cNvSpPr txBox="1">
            <a:spLocks noChangeArrowheads="1"/>
          </p:cNvSpPr>
          <p:nvPr/>
        </p:nvSpPr>
        <p:spPr bwMode="auto">
          <a:xfrm>
            <a:off x="5181600" y="4675188"/>
            <a:ext cx="665163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A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43" name="Text Box 39"/>
          <p:cNvSpPr txBox="1">
            <a:spLocks noChangeArrowheads="1"/>
          </p:cNvSpPr>
          <p:nvPr/>
        </p:nvSpPr>
        <p:spPr bwMode="auto">
          <a:xfrm>
            <a:off x="6443663" y="4437063"/>
            <a:ext cx="665162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B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sp>
        <p:nvSpPr>
          <p:cNvPr id="26644" name="Text Box 40"/>
          <p:cNvSpPr txBox="1">
            <a:spLocks noChangeArrowheads="1"/>
          </p:cNvSpPr>
          <p:nvPr/>
        </p:nvSpPr>
        <p:spPr bwMode="auto">
          <a:xfrm>
            <a:off x="6551613" y="5402263"/>
            <a:ext cx="6635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762000" indent="-7620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C</a:t>
            </a:r>
            <a:endParaRPr lang="en-US" altLang="zh-CN" sz="2000" b="1">
              <a:latin typeface="Times New Roman" panose="02020603050405020304" pitchFamily="18" charset="0"/>
            </a:endParaRPr>
          </a:p>
        </p:txBody>
      </p:sp>
      <p:pic>
        <p:nvPicPr>
          <p:cNvPr id="2664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4941888"/>
            <a:ext cx="3524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需注意的几点：</a:t>
            </a:r>
            <a:endParaRPr lang="zh-CN" altLang="en-US" smtClean="0"/>
          </a:p>
        </p:txBody>
      </p:sp>
      <p:sp>
        <p:nvSpPr>
          <p:cNvPr id="2765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“</a:t>
            </a:r>
            <a:r>
              <a:rPr lang="zh-CN" altLang="en-US" dirty="0" smtClean="0">
                <a:highlight>
                  <a:srgbClr val="FFFF00"/>
                </a:highlight>
              </a:rPr>
              <a:t>处理</a:t>
            </a:r>
            <a:r>
              <a:rPr lang="zh-CN" altLang="en-US" dirty="0" smtClean="0"/>
              <a:t>”可表示：单个程序、一系列程序、程序的一个模块、人工处理等；</a:t>
            </a:r>
            <a:endParaRPr lang="en-US" altLang="zh-CN" dirty="0" smtClean="0"/>
          </a:p>
          <a:p>
            <a:r>
              <a:rPr lang="zh-CN" altLang="en-US" dirty="0" smtClean="0"/>
              <a:t>“</a:t>
            </a:r>
            <a:r>
              <a:rPr lang="zh-CN" altLang="en-US" dirty="0" smtClean="0">
                <a:highlight>
                  <a:srgbClr val="FFFF00"/>
                </a:highlight>
              </a:rPr>
              <a:t>数据存储</a:t>
            </a:r>
            <a:r>
              <a:rPr lang="zh-CN" altLang="en-US" dirty="0" smtClean="0"/>
              <a:t>”可表示：一个文件、文件的一部分、数据库记录等；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FF0000"/>
                </a:solidFill>
              </a:rPr>
              <a:t>数据流图不考虑出错处理、打开文件、关闭文件。</a:t>
            </a:r>
            <a:endParaRPr lang="zh-CN" altLang="en-US" dirty="0" smtClean="0">
              <a:solidFill>
                <a:srgbClr val="FF0000"/>
              </a:solidFill>
            </a:endParaRPr>
          </a:p>
        </p:txBody>
      </p:sp>
      <p:sp>
        <p:nvSpPr>
          <p:cNvPr id="2765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11D1848-7D64-412C-A7AA-9776DC114FB8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765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F1D8874-BDB1-466D-84DD-1F3A3C6E97C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 noChangeArrowheads="1"/>
          </p:cNvSpPr>
          <p:nvPr>
            <p:ph type="title"/>
          </p:nvPr>
        </p:nvSpPr>
        <p:spPr>
          <a:xfrm rot="16200000">
            <a:off x="-1608137" y="3487738"/>
            <a:ext cx="4718050" cy="1143000"/>
          </a:xfrm>
        </p:spPr>
        <p:txBody>
          <a:bodyPr/>
          <a:lstStyle/>
          <a:p>
            <a:r>
              <a:rPr lang="zh-CN" altLang="en-US" smtClean="0"/>
              <a:t>数据流图的例子</a:t>
            </a:r>
            <a:endParaRPr lang="zh-CN" altLang="en-US" smtClean="0"/>
          </a:p>
        </p:txBody>
      </p:sp>
      <p:sp>
        <p:nvSpPr>
          <p:cNvPr id="28675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32B5C1F7-61C9-4050-81A7-48B6B498FB4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867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29F9CF-E741-4D30-9B5B-E6D6065E5935}" type="slidenum">
              <a:rPr lang="en-US" altLang="zh-CN" sz="1400"/>
            </a:fld>
            <a:endParaRPr lang="en-US" altLang="zh-CN" sz="1400"/>
          </a:p>
        </p:txBody>
      </p:sp>
      <p:graphicFrame>
        <p:nvGraphicFramePr>
          <p:cNvPr id="6" name="内容占位符 34817"/>
          <p:cNvGraphicFramePr>
            <a:graphicFrameLocks noGrp="1"/>
          </p:cNvGraphicFramePr>
          <p:nvPr>
            <p:ph sz="half" idx="1"/>
            <p:custDataLst>
              <p:tags r:id="rId1"/>
            </p:custDataLst>
          </p:nvPr>
        </p:nvGraphicFramePr>
        <p:xfrm>
          <a:off x="1763713" y="628650"/>
          <a:ext cx="6769100" cy="5608638"/>
        </p:xfrm>
        <a:graphic>
          <a:graphicData uri="http://schemas.openxmlformats.org/drawingml/2006/table">
            <a:tbl>
              <a:tblPr/>
              <a:tblGrid>
                <a:gridCol w="3160283"/>
                <a:gridCol w="3608817"/>
              </a:tblGrid>
              <a:tr h="396262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源点</a:t>
                      </a:r>
                      <a:r>
                        <a:rPr lang="en-US" altLang="zh-CN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/</a:t>
                      </a: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终点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45" marR="91445"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处理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45" marR="91445"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62043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仓库管理员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</a:t>
                      </a: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采购员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91445" marR="91445"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</a:t>
                      </a: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处理事务</a:t>
                      </a: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产生报表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91445" marR="91445"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62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数据流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45" marR="91445"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solidFill>
                            <a:srgbClr val="0000FF"/>
                          </a:solidFill>
                          <a:latin typeface="Arial" panose="020B0604020202020204" pitchFamily="34" charset="0"/>
                          <a:ea typeface="楷体_GB2312" pitchFamily="49" charset="-122"/>
                        </a:rPr>
                        <a:t>数据存储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latin typeface="Arial" panose="020B0604020202020204" pitchFamily="34" charset="0"/>
                        <a:ea typeface="楷体_GB2312" pitchFamily="49" charset="-122"/>
                      </a:endParaRPr>
                    </a:p>
                  </a:txBody>
                  <a:tcPr marL="91445" marR="91445"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54071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事务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  零件编号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  事务类型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  数量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订货报表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零件编号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零件名称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订货数量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目前价格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主要供应商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次要供应商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91445" marR="91445" marT="45723" marB="4572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</a:t>
                      </a: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库存清单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零件编号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库存量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  <a:sym typeface="+mn-ea"/>
                        </a:rPr>
                        <a:t>    库存量临界值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  <a:sym typeface="+mn-ea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订货信息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仿宋_GB2312" pitchFamily="49" charset="-122"/>
                          <a:ea typeface="仿宋_GB2312" pitchFamily="49" charset="-122"/>
                        </a:rPr>
                        <a:t>    （见订货报表）</a:t>
                      </a: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endParaRPr lang="zh-CN" altLang="en-US" sz="2000" b="1" dirty="0"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 marL="91445" marR="91445" marT="45723" marB="4572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2052320" y="2205355"/>
            <a:ext cx="863600" cy="36004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51685" y="3645535"/>
            <a:ext cx="1212215" cy="36004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219700" y="2205355"/>
            <a:ext cx="1118870" cy="36004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19700" y="4005580"/>
            <a:ext cx="1118870" cy="360045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订货系统的基本系统模型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29699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19CA344-960B-407F-9549-7F8FAC63E2A8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29700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5C965C-1464-40D3-B734-D70560764382}" type="slidenum">
              <a:rPr lang="en-US" altLang="zh-CN" sz="1400"/>
            </a:fld>
            <a:endParaRPr lang="en-US" altLang="zh-CN" sz="1400"/>
          </a:p>
        </p:txBody>
      </p:sp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2647950"/>
            <a:ext cx="6924675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547813" y="4724400"/>
            <a:ext cx="6119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0000FF"/>
                </a:solidFill>
              </a:rPr>
              <a:t>简单、高层次、抽象</a:t>
            </a:r>
            <a:endParaRPr lang="zh-CN" altLang="en-US" sz="280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3556000" y="2108200"/>
              <a:ext cx="2203450" cy="24003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3556000" y="2108200"/>
                <a:ext cx="2203450" cy="240030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订货系统的</a:t>
            </a:r>
            <a:r>
              <a:rPr lang="zh-CN" altLang="en-US" smtClean="0">
                <a:solidFill>
                  <a:srgbClr val="0000FF"/>
                </a:solidFill>
              </a:rPr>
              <a:t>功能级数据流图</a:t>
            </a:r>
            <a:endParaRPr lang="zh-CN" altLang="en-US" smtClean="0">
              <a:solidFill>
                <a:srgbClr val="0000FF"/>
              </a:solidFill>
            </a:endParaRPr>
          </a:p>
        </p:txBody>
      </p:sp>
      <p:sp>
        <p:nvSpPr>
          <p:cNvPr id="30723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C1E6EC0-1C16-4862-8268-2ABF07D2C140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072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AB0168-3639-493A-84AC-9D6ED061B976}" type="slidenum">
              <a:rPr lang="en-US" altLang="zh-CN" sz="1400"/>
            </a:fld>
            <a:endParaRPr lang="en-US" altLang="zh-CN" sz="1400"/>
          </a:p>
        </p:txBody>
      </p:sp>
      <p:pic>
        <p:nvPicPr>
          <p:cNvPr id="3072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7315200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给处理和数据存储加编号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31747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A5B8833-EA10-4771-94F2-1243AA0156B9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174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00D1771-F356-4BF1-87D7-4901F29513A9}" type="slidenum">
              <a:rPr lang="en-US" altLang="zh-CN" sz="1400"/>
            </a:fld>
            <a:endParaRPr lang="en-US" altLang="zh-CN" sz="1400"/>
          </a:p>
        </p:txBody>
      </p:sp>
      <p:grpSp>
        <p:nvGrpSpPr>
          <p:cNvPr id="31749" name="Group 46"/>
          <p:cNvGrpSpPr/>
          <p:nvPr/>
        </p:nvGrpSpPr>
        <p:grpSpPr bwMode="auto">
          <a:xfrm>
            <a:off x="2700338" y="2173288"/>
            <a:ext cx="920750" cy="1395412"/>
            <a:chOff x="2083" y="1702"/>
            <a:chExt cx="580" cy="879"/>
          </a:xfrm>
        </p:grpSpPr>
        <p:sp>
          <p:nvSpPr>
            <p:cNvPr id="31770" name="AutoShape 15"/>
            <p:cNvSpPr>
              <a:spLocks noChangeArrowheads="1"/>
            </p:cNvSpPr>
            <p:nvPr/>
          </p:nvSpPr>
          <p:spPr bwMode="auto">
            <a:xfrm>
              <a:off x="2083" y="1702"/>
              <a:ext cx="580" cy="879"/>
            </a:xfrm>
            <a:prstGeom prst="roundRect">
              <a:avLst>
                <a:gd name="adj" fmla="val 16667"/>
              </a:avLst>
            </a:prstGeom>
            <a:noFill/>
            <a:ln w="349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>
                  <a:latin typeface="Times New Roman" panose="02020603050405020304" pitchFamily="18" charset="0"/>
                </a:rPr>
                <a:t>处理事务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1771" name="Line 16"/>
            <p:cNvSpPr>
              <a:spLocks noChangeShapeType="1"/>
            </p:cNvSpPr>
            <p:nvPr/>
          </p:nvSpPr>
          <p:spPr bwMode="auto">
            <a:xfrm>
              <a:off x="2083" y="1953"/>
              <a:ext cx="58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2" name="Text Box 17"/>
            <p:cNvSpPr txBox="1">
              <a:spLocks noChangeArrowheads="1"/>
            </p:cNvSpPr>
            <p:nvPr/>
          </p:nvSpPr>
          <p:spPr bwMode="auto">
            <a:xfrm>
              <a:off x="2344" y="1721"/>
              <a:ext cx="29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1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50" name="Group 47"/>
          <p:cNvGrpSpPr/>
          <p:nvPr/>
        </p:nvGrpSpPr>
        <p:grpSpPr bwMode="auto">
          <a:xfrm>
            <a:off x="5119688" y="2170113"/>
            <a:ext cx="920750" cy="1395412"/>
            <a:chOff x="3097" y="1702"/>
            <a:chExt cx="580" cy="879"/>
          </a:xfrm>
        </p:grpSpPr>
        <p:sp>
          <p:nvSpPr>
            <p:cNvPr id="31767" name="AutoShape 19"/>
            <p:cNvSpPr>
              <a:spLocks noChangeArrowheads="1"/>
            </p:cNvSpPr>
            <p:nvPr/>
          </p:nvSpPr>
          <p:spPr bwMode="auto">
            <a:xfrm>
              <a:off x="3097" y="1702"/>
              <a:ext cx="580" cy="879"/>
            </a:xfrm>
            <a:prstGeom prst="roundRect">
              <a:avLst>
                <a:gd name="adj" fmla="val 16667"/>
              </a:avLst>
            </a:prstGeom>
            <a:noFill/>
            <a:ln w="349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endParaRPr lang="zh-CN" altLang="en-US" b="1">
                <a:latin typeface="Times New Roman" panose="02020603050405020304" pitchFamily="18" charset="0"/>
              </a:endParaRPr>
            </a:p>
            <a:p>
              <a:pPr algn="ctr"/>
              <a:r>
                <a:rPr lang="zh-CN" altLang="en-US" b="1">
                  <a:latin typeface="Times New Roman" panose="02020603050405020304" pitchFamily="18" charset="0"/>
                </a:rPr>
                <a:t>产生报表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  <p:sp>
          <p:nvSpPr>
            <p:cNvPr id="31768" name="Line 20"/>
            <p:cNvSpPr>
              <a:spLocks noChangeShapeType="1"/>
            </p:cNvSpPr>
            <p:nvPr/>
          </p:nvSpPr>
          <p:spPr bwMode="auto">
            <a:xfrm>
              <a:off x="3097" y="1953"/>
              <a:ext cx="580" cy="0"/>
            </a:xfrm>
            <a:prstGeom prst="line">
              <a:avLst/>
            </a:prstGeom>
            <a:noFill/>
            <a:ln w="349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9" name="Text Box 21"/>
            <p:cNvSpPr txBox="1">
              <a:spLocks noChangeArrowheads="1"/>
            </p:cNvSpPr>
            <p:nvPr/>
          </p:nvSpPr>
          <p:spPr bwMode="auto">
            <a:xfrm>
              <a:off x="3358" y="1721"/>
              <a:ext cx="290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2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51" name="Group 48"/>
          <p:cNvGrpSpPr/>
          <p:nvPr/>
        </p:nvGrpSpPr>
        <p:grpSpPr bwMode="auto">
          <a:xfrm>
            <a:off x="2447925" y="4437063"/>
            <a:ext cx="2254250" cy="414337"/>
            <a:chOff x="1658" y="1152"/>
            <a:chExt cx="1420" cy="261"/>
          </a:xfrm>
        </p:grpSpPr>
        <p:grpSp>
          <p:nvGrpSpPr>
            <p:cNvPr id="31760" name="Group 23"/>
            <p:cNvGrpSpPr/>
            <p:nvPr/>
          </p:nvGrpSpPr>
          <p:grpSpPr bwMode="auto">
            <a:xfrm>
              <a:off x="1658" y="1152"/>
              <a:ext cx="1304" cy="251"/>
              <a:chOff x="3600" y="1440"/>
              <a:chExt cx="1620" cy="312"/>
            </a:xfrm>
          </p:grpSpPr>
          <p:sp>
            <p:nvSpPr>
              <p:cNvPr id="31763" name="Line 24"/>
              <p:cNvSpPr>
                <a:spLocks noChangeShapeType="1"/>
              </p:cNvSpPr>
              <p:nvPr/>
            </p:nvSpPr>
            <p:spPr bwMode="auto">
              <a:xfrm>
                <a:off x="3600" y="1440"/>
                <a:ext cx="162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4" name="Line 25"/>
              <p:cNvSpPr>
                <a:spLocks noChangeShapeType="1"/>
              </p:cNvSpPr>
              <p:nvPr/>
            </p:nvSpPr>
            <p:spPr bwMode="auto">
              <a:xfrm>
                <a:off x="3600" y="1752"/>
                <a:ext cx="162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5" name="Line 26"/>
              <p:cNvSpPr>
                <a:spLocks noChangeShapeType="1"/>
              </p:cNvSpPr>
              <p:nvPr/>
            </p:nvSpPr>
            <p:spPr bwMode="auto">
              <a:xfrm>
                <a:off x="3600" y="1440"/>
                <a:ext cx="0" cy="312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66" name="Line 27"/>
              <p:cNvSpPr>
                <a:spLocks noChangeShapeType="1"/>
              </p:cNvSpPr>
              <p:nvPr/>
            </p:nvSpPr>
            <p:spPr bwMode="auto">
              <a:xfrm>
                <a:off x="4008" y="1440"/>
                <a:ext cx="0" cy="312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61" name="Text Box 28"/>
            <p:cNvSpPr txBox="1">
              <a:spLocks noChangeArrowheads="1"/>
            </p:cNvSpPr>
            <p:nvPr/>
          </p:nvSpPr>
          <p:spPr bwMode="auto">
            <a:xfrm>
              <a:off x="1745" y="1152"/>
              <a:ext cx="43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Times New Roman" panose="02020603050405020304" pitchFamily="18" charset="0"/>
                </a:rPr>
                <a:t>D1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62" name="Text Box 29"/>
            <p:cNvSpPr txBox="1">
              <a:spLocks noChangeArrowheads="1"/>
            </p:cNvSpPr>
            <p:nvPr/>
          </p:nvSpPr>
          <p:spPr bwMode="auto">
            <a:xfrm>
              <a:off x="2064" y="1162"/>
              <a:ext cx="101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库存清单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752" name="Group 49"/>
          <p:cNvGrpSpPr/>
          <p:nvPr/>
        </p:nvGrpSpPr>
        <p:grpSpPr bwMode="auto">
          <a:xfrm>
            <a:off x="5006975" y="4403725"/>
            <a:ext cx="2254250" cy="414338"/>
            <a:chOff x="2209" y="2909"/>
            <a:chExt cx="1420" cy="261"/>
          </a:xfrm>
        </p:grpSpPr>
        <p:grpSp>
          <p:nvGrpSpPr>
            <p:cNvPr id="31753" name="Group 31"/>
            <p:cNvGrpSpPr/>
            <p:nvPr/>
          </p:nvGrpSpPr>
          <p:grpSpPr bwMode="auto">
            <a:xfrm>
              <a:off x="2209" y="2909"/>
              <a:ext cx="1304" cy="251"/>
              <a:chOff x="3600" y="1440"/>
              <a:chExt cx="1620" cy="312"/>
            </a:xfrm>
          </p:grpSpPr>
          <p:sp>
            <p:nvSpPr>
              <p:cNvPr id="31756" name="Line 32"/>
              <p:cNvSpPr>
                <a:spLocks noChangeShapeType="1"/>
              </p:cNvSpPr>
              <p:nvPr/>
            </p:nvSpPr>
            <p:spPr bwMode="auto">
              <a:xfrm>
                <a:off x="3600" y="1440"/>
                <a:ext cx="162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7" name="Line 33"/>
              <p:cNvSpPr>
                <a:spLocks noChangeShapeType="1"/>
              </p:cNvSpPr>
              <p:nvPr/>
            </p:nvSpPr>
            <p:spPr bwMode="auto">
              <a:xfrm>
                <a:off x="3600" y="1752"/>
                <a:ext cx="1620" cy="0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8" name="Line 34"/>
              <p:cNvSpPr>
                <a:spLocks noChangeShapeType="1"/>
              </p:cNvSpPr>
              <p:nvPr/>
            </p:nvSpPr>
            <p:spPr bwMode="auto">
              <a:xfrm>
                <a:off x="3600" y="1440"/>
                <a:ext cx="0" cy="312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759" name="Line 35"/>
              <p:cNvSpPr>
                <a:spLocks noChangeShapeType="1"/>
              </p:cNvSpPr>
              <p:nvPr/>
            </p:nvSpPr>
            <p:spPr bwMode="auto">
              <a:xfrm>
                <a:off x="4008" y="1440"/>
                <a:ext cx="0" cy="312"/>
              </a:xfrm>
              <a:prstGeom prst="line">
                <a:avLst/>
              </a:prstGeom>
              <a:noFill/>
              <a:ln w="349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54" name="Text Box 36"/>
            <p:cNvSpPr txBox="1">
              <a:spLocks noChangeArrowheads="1"/>
            </p:cNvSpPr>
            <p:nvPr/>
          </p:nvSpPr>
          <p:spPr bwMode="auto">
            <a:xfrm>
              <a:off x="2296" y="2909"/>
              <a:ext cx="435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b="1">
                  <a:latin typeface="Times New Roman" panose="02020603050405020304" pitchFamily="18" charset="0"/>
                </a:rPr>
                <a:t>D2</a:t>
              </a:r>
              <a:endParaRPr lang="en-US" altLang="zh-CN" b="1">
                <a:latin typeface="Times New Roman" panose="02020603050405020304" pitchFamily="18" charset="0"/>
              </a:endParaRPr>
            </a:p>
          </p:txBody>
        </p:sp>
        <p:sp>
          <p:nvSpPr>
            <p:cNvPr id="31755" name="Text Box 37"/>
            <p:cNvSpPr txBox="1">
              <a:spLocks noChangeArrowheads="1"/>
            </p:cNvSpPr>
            <p:nvPr/>
          </p:nvSpPr>
          <p:spPr bwMode="auto">
            <a:xfrm>
              <a:off x="2615" y="2919"/>
              <a:ext cx="1014" cy="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49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zh-CN" altLang="en-US" b="1">
                  <a:latin typeface="Times New Roman" panose="02020603050405020304" pitchFamily="18" charset="0"/>
                </a:rPr>
                <a:t>订货信息</a:t>
              </a:r>
              <a:endParaRPr lang="zh-CN" altLang="en-US" b="1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2771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F0B2A3F1-3358-4323-BF90-C0D0025A3413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277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2B1CF1-4FDC-4140-9FA7-5F8837DDD2A3}" type="slidenum">
              <a:rPr lang="en-US" altLang="zh-CN" sz="1400"/>
            </a:fld>
            <a:endParaRPr lang="en-US" altLang="zh-CN" sz="1400"/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6918325" cy="4114800"/>
          </a:xfrm>
        </p:spPr>
        <p:txBody>
          <a:bodyPr/>
          <a:lstStyle/>
          <a:p>
            <a:pPr marL="0" indent="0" eaLnBrk="1" hangingPunct="1">
              <a:lnSpc>
                <a:spcPct val="13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600" b="1" smtClean="0">
                <a:solidFill>
                  <a:srgbClr val="FF0000"/>
                </a:solidFill>
              </a:rPr>
              <a:t>上述数据流图所描述的功能足够详细了吗？</a:t>
            </a:r>
            <a:endParaRPr lang="zh-CN" altLang="en-US" sz="3600" b="1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 noChangeArrowheads="1"/>
          </p:cNvSpPr>
          <p:nvPr>
            <p:ph type="title"/>
          </p:nvPr>
        </p:nvSpPr>
        <p:spPr>
          <a:xfrm>
            <a:off x="900113" y="549275"/>
            <a:ext cx="7993062" cy="1143000"/>
          </a:xfrm>
        </p:spPr>
        <p:txBody>
          <a:bodyPr/>
          <a:lstStyle/>
          <a:p>
            <a:r>
              <a:rPr lang="zh-CN" altLang="en-US" sz="4000" smtClean="0">
                <a:solidFill>
                  <a:schemeClr val="tx1"/>
                </a:solidFill>
              </a:rPr>
              <a:t>订货系统进一步分解后的数据流图</a:t>
            </a:r>
            <a:endParaRPr lang="zh-CN" altLang="en-US" sz="4000" smtClean="0">
              <a:solidFill>
                <a:schemeClr val="tx1"/>
              </a:solidFill>
            </a:endParaRPr>
          </a:p>
        </p:txBody>
      </p:sp>
      <p:sp>
        <p:nvSpPr>
          <p:cNvPr id="33795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55D60663-F325-45D2-AA01-04DD561870F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379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25E2CDF-8540-4557-A90C-ADD21B4CE0BB}" type="slidenum">
              <a:rPr lang="en-US" altLang="zh-CN" sz="1400"/>
            </a:fld>
            <a:endParaRPr lang="en-US" altLang="zh-CN" sz="1400"/>
          </a:p>
        </p:txBody>
      </p:sp>
      <p:pic>
        <p:nvPicPr>
          <p:cNvPr id="3379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2205038"/>
            <a:ext cx="762952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数据流图中的命名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530" y="2060575"/>
            <a:ext cx="773049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  <a:defRPr/>
            </a:pPr>
            <a:r>
              <a:rPr kumimoji="1" lang="zh-CN" altLang="en-US" dirty="0" smtClean="0">
                <a:ea typeface="+mn-ea"/>
              </a:rPr>
              <a:t>为数据流（或数据存储）命名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sz="2800" dirty="0" smtClean="0">
                <a:ea typeface="+mn-ea"/>
              </a:rPr>
              <a:t>名字应该</a:t>
            </a:r>
            <a:r>
              <a:rPr kumimoji="1" lang="zh-CN" altLang="en-US" sz="2800" dirty="0" smtClean="0">
                <a:solidFill>
                  <a:srgbClr val="FF0000"/>
                </a:solidFill>
                <a:ea typeface="+mn-ea"/>
              </a:rPr>
              <a:t>代表整个数据流（或数据存储）</a:t>
            </a:r>
            <a:r>
              <a:rPr kumimoji="1" lang="zh-CN" altLang="en-US" sz="2800" dirty="0" smtClean="0">
                <a:ea typeface="+mn-ea"/>
              </a:rPr>
              <a:t>的内容；</a:t>
            </a:r>
            <a:endParaRPr kumimoji="1" lang="en-US" altLang="zh-CN" sz="2800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sz="2800" dirty="0" smtClean="0">
                <a:solidFill>
                  <a:srgbClr val="FF0000"/>
                </a:solidFill>
                <a:ea typeface="+mn-ea"/>
              </a:rPr>
              <a:t>不要</a:t>
            </a:r>
            <a:r>
              <a:rPr kumimoji="1" lang="zh-CN" altLang="en-US" sz="2800" dirty="0" smtClean="0">
                <a:ea typeface="+mn-ea"/>
              </a:rPr>
              <a:t>使用</a:t>
            </a:r>
            <a:r>
              <a:rPr kumimoji="1" lang="zh-CN" altLang="en-US" sz="2800" dirty="0" smtClean="0">
                <a:solidFill>
                  <a:srgbClr val="FF0000"/>
                </a:solidFill>
                <a:ea typeface="+mn-ea"/>
              </a:rPr>
              <a:t>空洞</a:t>
            </a:r>
            <a:r>
              <a:rPr kumimoji="1" lang="zh-CN" altLang="en-US" sz="2800" dirty="0" smtClean="0">
                <a:ea typeface="+mn-ea"/>
              </a:rPr>
              <a:t>的、</a:t>
            </a:r>
            <a:r>
              <a:rPr kumimoji="1" lang="zh-CN" altLang="en-US" sz="2800" dirty="0" smtClean="0">
                <a:solidFill>
                  <a:srgbClr val="FF0000"/>
                </a:solidFill>
                <a:ea typeface="+mn-ea"/>
              </a:rPr>
              <a:t>缺乏具体含义</a:t>
            </a:r>
            <a:r>
              <a:rPr kumimoji="1" lang="zh-CN" altLang="en-US" sz="2800" dirty="0" smtClean="0">
                <a:ea typeface="+mn-ea"/>
              </a:rPr>
              <a:t>的名字（如“数据”、输入）；</a:t>
            </a:r>
            <a:endParaRPr kumimoji="1" lang="en-US" altLang="zh-CN" sz="2800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sz="2800" dirty="0">
                <a:ea typeface="+mn-ea"/>
              </a:rPr>
              <a:t>如果为某个数据流（或数据存储）起名遇到困难，则很可能是因为对数据流图的</a:t>
            </a:r>
            <a:r>
              <a:rPr kumimoji="1" lang="zh-CN" altLang="en-US" sz="2800" dirty="0">
                <a:highlight>
                  <a:srgbClr val="FFFF00"/>
                </a:highlight>
                <a:ea typeface="+mn-ea"/>
              </a:rPr>
              <a:t>分解不恰当</a:t>
            </a:r>
            <a:r>
              <a:rPr kumimoji="1" lang="zh-CN" altLang="en-US" sz="2800" dirty="0">
                <a:ea typeface="+mn-ea"/>
              </a:rPr>
              <a:t>，应尝试重新分解数据流图。</a:t>
            </a:r>
            <a:endParaRPr kumimoji="1" lang="zh-CN" altLang="en-US" sz="2800" dirty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zh-CN" altLang="en-US" dirty="0">
              <a:ea typeface="+mn-ea"/>
            </a:endParaRPr>
          </a:p>
        </p:txBody>
      </p:sp>
      <p:sp>
        <p:nvSpPr>
          <p:cNvPr id="3482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4933C101-8544-4243-9226-5E0FF814D9C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482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E4993F5-34E7-450C-A0DD-C65A9B32E7E7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数据流图中的命名 </a:t>
            </a:r>
            <a:r>
              <a:rPr lang="en-US" altLang="zh-CN" smtClean="0">
                <a:solidFill>
                  <a:schemeClr val="tx1"/>
                </a:solidFill>
              </a:rPr>
              <a:t>(continued)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3288" y="2017713"/>
            <a:ext cx="7989887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p"/>
              <a:defRPr/>
            </a:pPr>
            <a:r>
              <a:rPr kumimoji="1" lang="zh-CN" altLang="en-US" dirty="0" smtClean="0">
                <a:ea typeface="+mn-ea"/>
              </a:rPr>
              <a:t>为处理命名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通常</a:t>
            </a:r>
            <a:r>
              <a:rPr kumimoji="1" lang="zh-CN" altLang="en-US" dirty="0" smtClean="0">
                <a:solidFill>
                  <a:srgbClr val="FF0000"/>
                </a:solidFill>
                <a:ea typeface="+mn-ea"/>
              </a:rPr>
              <a:t>先为数据流命名</a:t>
            </a:r>
            <a:r>
              <a:rPr kumimoji="1" lang="zh-CN" altLang="en-US" dirty="0" smtClean="0">
                <a:ea typeface="+mn-ea"/>
              </a:rPr>
              <a:t>，</a:t>
            </a:r>
            <a:r>
              <a:rPr kumimoji="1" lang="zh-CN" altLang="en-US" dirty="0" smtClean="0">
                <a:solidFill>
                  <a:srgbClr val="FF0000"/>
                </a:solidFill>
                <a:ea typeface="+mn-ea"/>
              </a:rPr>
              <a:t>再</a:t>
            </a:r>
            <a:r>
              <a:rPr kumimoji="1" lang="zh-CN" altLang="en-US" dirty="0" smtClean="0">
                <a:ea typeface="+mn-ea"/>
              </a:rPr>
              <a:t>为与之相关联的</a:t>
            </a:r>
            <a:r>
              <a:rPr kumimoji="1" lang="zh-CN" altLang="en-US" dirty="0" smtClean="0">
                <a:solidFill>
                  <a:srgbClr val="FF0000"/>
                </a:solidFill>
                <a:ea typeface="+mn-ea"/>
              </a:rPr>
              <a:t>处理</a:t>
            </a:r>
            <a:r>
              <a:rPr kumimoji="1" lang="zh-CN" altLang="en-US" dirty="0" smtClean="0">
                <a:ea typeface="+mn-ea"/>
              </a:rPr>
              <a:t>命名；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名字应该反映整个处理的功能；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应尽量</a:t>
            </a:r>
            <a:r>
              <a:rPr kumimoji="1" lang="zh-CN" altLang="en-US" dirty="0" smtClean="0">
                <a:solidFill>
                  <a:srgbClr val="FF0000"/>
                </a:solidFill>
                <a:ea typeface="+mn-ea"/>
              </a:rPr>
              <a:t>避免空洞、笼统</a:t>
            </a:r>
            <a:r>
              <a:rPr kumimoji="1" lang="zh-CN" altLang="en-US" dirty="0" smtClean="0">
                <a:ea typeface="+mn-ea"/>
              </a:rPr>
              <a:t>的动词做名字，如“处理”、“加工”；</a:t>
            </a:r>
            <a:endParaRPr kumimoji="1" lang="zh-CN" altLang="en-US" dirty="0">
              <a:ea typeface="+mn-ea"/>
            </a:endParaRPr>
          </a:p>
        </p:txBody>
      </p:sp>
      <p:sp>
        <p:nvSpPr>
          <p:cNvPr id="3584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B39985F7-4193-4DC4-8D03-6E0ED62C3A2A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584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2547F57-446A-4595-81C9-DDBBF0E59CD4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 smtClean="0">
                <a:latin typeface="+mn-ea"/>
                <a:ea typeface="+mn-ea"/>
              </a:rPr>
              <a:t>d)</a:t>
            </a:r>
            <a:r>
              <a:rPr kumimoji="1" lang="zh-CN" altLang="en-US" noProof="1" smtClean="0">
                <a:solidFill>
                  <a:srgbClr val="FF0000"/>
                </a:solidFill>
                <a:latin typeface="+mn-ea"/>
                <a:ea typeface="+mn-ea"/>
              </a:rPr>
              <a:t>通常用一个动词命名</a:t>
            </a:r>
            <a:r>
              <a:rPr kumimoji="1" lang="zh-CN" altLang="en-US" noProof="1" smtClean="0">
                <a:latin typeface="+mn-ea"/>
                <a:ea typeface="+mn-ea"/>
              </a:rPr>
              <a:t>，如果必须用两个动词才能描述整个处理的功能，则可能要把这个处理分解成两个处理更恰当；</a:t>
            </a:r>
            <a:endParaRPr kumimoji="1" lang="en-US" altLang="zh-CN" noProof="1" smtClean="0">
              <a:latin typeface="+mn-ea"/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noProof="1" smtClean="0">
                <a:latin typeface="+mn-ea"/>
                <a:ea typeface="+mn-ea"/>
              </a:rPr>
              <a:t>e)</a:t>
            </a:r>
            <a:r>
              <a:rPr kumimoji="1" lang="zh-CN" altLang="en-US" noProof="1" smtClean="0">
                <a:latin typeface="+mn-ea"/>
                <a:ea typeface="+mn-ea"/>
              </a:rPr>
              <a:t>如果为某个处理命名时遇到困难，则很可能是发现了</a:t>
            </a:r>
            <a:r>
              <a:rPr kumimoji="1" lang="zh-CN" altLang="en-US" noProof="1" smtClean="0">
                <a:solidFill>
                  <a:srgbClr val="FF0000"/>
                </a:solidFill>
                <a:latin typeface="+mn-ea"/>
                <a:ea typeface="+mn-ea"/>
              </a:rPr>
              <a:t>分解不当</a:t>
            </a:r>
            <a:r>
              <a:rPr kumimoji="1" lang="zh-CN" altLang="en-US" noProof="1" smtClean="0">
                <a:latin typeface="+mn-ea"/>
                <a:ea typeface="+mn-ea"/>
              </a:rPr>
              <a:t>的情况，应考虑重新分解。</a:t>
            </a:r>
            <a:endParaRPr kumimoji="1" lang="zh-CN" altLang="en-US" noProof="1" smtClean="0">
              <a:latin typeface="+mn-ea"/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zh-CN" altLang="en-US" b="1" noProof="1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 smtClean="0">
                <a:ea typeface="+mn-ea"/>
              </a:rPr>
              <a:t> </a:t>
            </a:r>
            <a:endParaRPr kumimoji="1" lang="zh-CN" altLang="en-US" dirty="0">
              <a:ea typeface="+mn-ea"/>
            </a:endParaRPr>
          </a:p>
        </p:txBody>
      </p:sp>
      <p:sp>
        <p:nvSpPr>
          <p:cNvPr id="3686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0905E63-E437-4FDA-BEDA-9E8FDF50553D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686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6110C7-7754-426D-995A-C875588F05D0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为“数据源点</a:t>
            </a:r>
            <a:r>
              <a:rPr lang="en-US" altLang="zh-CN" smtClean="0">
                <a:solidFill>
                  <a:schemeClr val="tx1"/>
                </a:solidFill>
              </a:rPr>
              <a:t>/</a:t>
            </a:r>
            <a:r>
              <a:rPr lang="zh-CN" altLang="en-US" smtClean="0">
                <a:solidFill>
                  <a:schemeClr val="tx1"/>
                </a:solidFill>
              </a:rPr>
              <a:t>终点”命名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3789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 smtClean="0"/>
              <a:t>通常采用习惯使用的</a:t>
            </a:r>
            <a:r>
              <a:rPr lang="zh-CN" altLang="en-US" dirty="0" smtClean="0">
                <a:solidFill>
                  <a:srgbClr val="0000FF"/>
                </a:solidFill>
              </a:rPr>
              <a:t>专业术语</a:t>
            </a:r>
            <a:r>
              <a:rPr lang="zh-CN" altLang="en-US" dirty="0" smtClean="0"/>
              <a:t>，如“仓库管理员”、“采购员”等。</a:t>
            </a:r>
            <a:endParaRPr lang="zh-CN" altLang="en-US" dirty="0" smtClean="0"/>
          </a:p>
        </p:txBody>
      </p:sp>
      <p:sp>
        <p:nvSpPr>
          <p:cNvPr id="3789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4F95F67-AC82-4447-8DD3-70678528D8A9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789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4581045-AE1E-4585-9FB7-3DE986E256F4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数据流图的用途</a:t>
            </a:r>
            <a:endParaRPr lang="zh-CN" altLang="en-US" smtClean="0"/>
          </a:p>
        </p:txBody>
      </p:sp>
      <p:sp>
        <p:nvSpPr>
          <p:cNvPr id="38915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Tahoma" panose="020B0604030504040204" pitchFamily="34" charset="0"/>
              <a:buAutoNum type="arabicPeriod"/>
            </a:pPr>
            <a:r>
              <a:rPr lang="zh-CN" altLang="en-US" smtClean="0"/>
              <a:t>作为交流信息的工具（供</a:t>
            </a:r>
            <a:r>
              <a:rPr lang="zh-CN" altLang="en-US" smtClean="0">
                <a:solidFill>
                  <a:srgbClr val="FF0000"/>
                </a:solidFill>
              </a:rPr>
              <a:t>有关人员</a:t>
            </a:r>
            <a:r>
              <a:rPr lang="zh-CN" altLang="en-US" smtClean="0"/>
              <a:t>审查、用户理解和评价）；</a:t>
            </a:r>
            <a:endParaRPr lang="en-US" altLang="zh-CN" smtClean="0"/>
          </a:p>
          <a:p>
            <a:pPr marL="514350" indent="-514350">
              <a:buFont typeface="Tahoma" panose="020B0604030504040204" pitchFamily="34" charset="0"/>
              <a:buAutoNum type="arabicPeriod"/>
            </a:pPr>
            <a:r>
              <a:rPr lang="zh-CN" altLang="en-US" smtClean="0"/>
              <a:t>作为软件</a:t>
            </a:r>
            <a:r>
              <a:rPr lang="zh-CN" altLang="en-US" smtClean="0">
                <a:solidFill>
                  <a:srgbClr val="0000FF"/>
                </a:solidFill>
              </a:rPr>
              <a:t>分析</a:t>
            </a:r>
            <a:r>
              <a:rPr lang="zh-CN" altLang="en-US" smtClean="0"/>
              <a:t>和</a:t>
            </a:r>
            <a:r>
              <a:rPr lang="zh-CN" altLang="en-US" smtClean="0">
                <a:solidFill>
                  <a:srgbClr val="0000FF"/>
                </a:solidFill>
              </a:rPr>
              <a:t>设计</a:t>
            </a:r>
            <a:r>
              <a:rPr lang="zh-CN" altLang="en-US" smtClean="0"/>
              <a:t>的工具（可行性研究之后，软件生命周期的两大阶段 ）。</a:t>
            </a:r>
            <a:endParaRPr lang="zh-CN" altLang="en-US" smtClean="0"/>
          </a:p>
        </p:txBody>
      </p:sp>
      <p:sp>
        <p:nvSpPr>
          <p:cNvPr id="3891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703AD909-60C5-4982-B7D7-B3DC40B7D69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891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C2CF11C-89E3-4514-8C0A-2F3A8D560C2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数据流图中的</a:t>
            </a:r>
            <a:r>
              <a:rPr lang="zh-CN" altLang="en-US" smtClean="0">
                <a:solidFill>
                  <a:srgbClr val="0000FF"/>
                </a:solidFill>
              </a:rPr>
              <a:t>自动化边界</a:t>
            </a:r>
            <a:endParaRPr lang="zh-CN" altLang="en-US" smtClean="0">
              <a:solidFill>
                <a:srgbClr val="0000FF"/>
              </a:solidFill>
            </a:endParaRPr>
          </a:p>
        </p:txBody>
      </p:sp>
      <p:sp>
        <p:nvSpPr>
          <p:cNvPr id="39939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对整个系统分块或分割；</a:t>
            </a:r>
            <a:endParaRPr lang="en-US" altLang="zh-CN" smtClean="0"/>
          </a:p>
          <a:p>
            <a:r>
              <a:rPr lang="zh-CN" altLang="en-US" smtClean="0">
                <a:solidFill>
                  <a:srgbClr val="0000FF"/>
                </a:solidFill>
              </a:rPr>
              <a:t>不同的自动化边界</a:t>
            </a:r>
            <a:r>
              <a:rPr lang="zh-CN" altLang="en-US" smtClean="0"/>
              <a:t>划分方式，对应</a:t>
            </a:r>
            <a:r>
              <a:rPr lang="zh-CN" altLang="en-US" smtClean="0">
                <a:solidFill>
                  <a:srgbClr val="0000FF"/>
                </a:solidFill>
              </a:rPr>
              <a:t>不同的逻辑</a:t>
            </a:r>
            <a:r>
              <a:rPr lang="zh-CN" altLang="en-US" smtClean="0"/>
              <a:t>、</a:t>
            </a:r>
            <a:r>
              <a:rPr lang="zh-CN" altLang="en-US" smtClean="0">
                <a:solidFill>
                  <a:srgbClr val="0000FF"/>
                </a:solidFill>
              </a:rPr>
              <a:t>不同的</a:t>
            </a:r>
            <a:r>
              <a:rPr lang="zh-CN" altLang="en-US" smtClean="0"/>
              <a:t>物理实现</a:t>
            </a:r>
            <a:r>
              <a:rPr lang="zh-CN" altLang="en-US" smtClean="0">
                <a:solidFill>
                  <a:srgbClr val="0000FF"/>
                </a:solidFill>
              </a:rPr>
              <a:t>方案</a:t>
            </a:r>
            <a:r>
              <a:rPr lang="zh-CN" altLang="en-US" smtClean="0"/>
              <a:t>。</a:t>
            </a:r>
            <a:endParaRPr lang="zh-CN" altLang="en-US" smtClean="0"/>
          </a:p>
        </p:txBody>
      </p:sp>
      <p:sp>
        <p:nvSpPr>
          <p:cNvPr id="3994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CF42910-ED04-4AEA-94F1-06590D23B91C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3994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0E0FBAA-9911-4B98-AB5C-53226ADA043F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自动化边界划分方式一</a:t>
            </a:r>
            <a:endParaRPr lang="zh-CN" altLang="en-US" smtClean="0">
              <a:solidFill>
                <a:schemeClr val="tx1"/>
              </a:solidFill>
            </a:endParaRPr>
          </a:p>
        </p:txBody>
      </p:sp>
      <p:sp>
        <p:nvSpPr>
          <p:cNvPr id="40963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DFE888C-268A-4D7B-B6A2-47AE8783B234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096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005B3D1-0C66-41E5-B9B9-265081319670}" type="slidenum">
              <a:rPr lang="en-US" altLang="zh-CN" sz="1400"/>
            </a:fld>
            <a:endParaRPr lang="en-US" altLang="zh-CN" sz="1400"/>
          </a:p>
        </p:txBody>
      </p:sp>
      <p:pic>
        <p:nvPicPr>
          <p:cNvPr id="40965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133600"/>
            <a:ext cx="8077200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对应的物理实现方案</a:t>
            </a:r>
            <a:endParaRPr lang="zh-CN" altLang="en-US" smtClean="0"/>
          </a:p>
        </p:txBody>
      </p:sp>
      <p:sp>
        <p:nvSpPr>
          <p:cNvPr id="41987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305B7EB0-F936-4917-92AF-85197E5119CD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1988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D89B133-A77A-46D5-98D8-328E6A7EF383}" type="slidenum">
              <a:rPr lang="en-US" altLang="zh-CN" sz="1400"/>
            </a:fld>
            <a:endParaRPr lang="en-US" altLang="zh-CN" sz="1400"/>
          </a:p>
        </p:txBody>
      </p:sp>
      <p:pic>
        <p:nvPicPr>
          <p:cNvPr id="41989" name="Picture 4" descr="图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1844675"/>
            <a:ext cx="6553200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接箭头连接符 1"/>
          <p:cNvCxnSpPr/>
          <p:nvPr/>
        </p:nvCxnSpPr>
        <p:spPr>
          <a:xfrm flipV="1">
            <a:off x="1331595" y="3213100"/>
            <a:ext cx="43180" cy="144018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</p:cxnSp>
      <p:cxnSp>
        <p:nvCxnSpPr>
          <p:cNvPr id="3" name="直接箭头连接符 2"/>
          <p:cNvCxnSpPr/>
          <p:nvPr/>
        </p:nvCxnSpPr>
        <p:spPr>
          <a:xfrm flipV="1">
            <a:off x="3347720" y="3501390"/>
            <a:ext cx="1800225" cy="136779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自动化边界划分方式二</a:t>
            </a:r>
            <a:endParaRPr lang="zh-CN" altLang="en-US" smtClean="0"/>
          </a:p>
        </p:txBody>
      </p:sp>
      <p:sp>
        <p:nvSpPr>
          <p:cNvPr id="43011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AF4FF30-1D07-41DF-B12E-A4A5ED37B7DB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301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65276DC-5079-4890-829E-0D4DF415591E}" type="slidenum">
              <a:rPr lang="en-US" altLang="zh-CN" sz="1400"/>
            </a:fld>
            <a:endParaRPr lang="en-US" altLang="zh-CN" sz="1400"/>
          </a:p>
        </p:txBody>
      </p:sp>
      <p:pic>
        <p:nvPicPr>
          <p:cNvPr id="43013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000250"/>
            <a:ext cx="7667625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2844800" y="4787900"/>
              <a:ext cx="1771650" cy="7112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2844800" y="4787900"/>
                <a:ext cx="1771650" cy="7112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对应的物理实现方案</a:t>
            </a:r>
            <a:endParaRPr lang="zh-CN" altLang="en-US" smtClean="0"/>
          </a:p>
        </p:txBody>
      </p:sp>
      <p:sp>
        <p:nvSpPr>
          <p:cNvPr id="44035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CCF6C2DE-4BA1-4323-9F56-B9EB55201189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403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E1AF8ED-2BBC-4D2C-B4C5-E2C8332DE3FE}" type="slidenum">
              <a:rPr lang="en-US" altLang="zh-CN" sz="1400"/>
            </a:fld>
            <a:endParaRPr lang="en-US" altLang="zh-CN" sz="1400"/>
          </a:p>
        </p:txBody>
      </p:sp>
      <p:pic>
        <p:nvPicPr>
          <p:cNvPr id="44037" name="Picture 4" descr="图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060575"/>
            <a:ext cx="6816725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7" name="墨迹 6"/>
              <p14:cNvContentPartPr/>
              <p14:nvPr/>
            </p14:nvContentPartPr>
            <p14:xfrm>
              <a:off x="831960" y="3435480"/>
              <a:ext cx="5226480" cy="2007000"/>
            </p14:xfrm>
          </p:contentPart>
        </mc:Choice>
        <mc:Fallback xmlns="">
          <p:pic>
            <p:nvPicPr>
              <p:cNvPr id="7" name="墨迹 6"/>
            </p:nvPicPr>
            <p:blipFill>
              <a:blip r:embed="rId3"/>
            </p:blipFill>
            <p:spPr>
              <a:xfrm>
                <a:off x="831960" y="3435480"/>
                <a:ext cx="5226480" cy="20070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上次课回顾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、如何区别系统流程图与程序流程图？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405" y="2132965"/>
            <a:ext cx="8016240" cy="4114800"/>
          </a:xfrm>
        </p:spPr>
        <p:txBody>
          <a:bodyPr/>
          <a:p>
            <a:r>
              <a:rPr lang="zh-CN" altLang="en-US"/>
              <a:t>系统流程图：表示数据在系统各</a:t>
            </a:r>
            <a:r>
              <a:rPr lang="zh-CN" altLang="en-US">
                <a:highlight>
                  <a:srgbClr val="FFFF00"/>
                </a:highlight>
              </a:rPr>
              <a:t>（物理）部件</a:t>
            </a:r>
            <a:r>
              <a:rPr lang="zh-CN" altLang="en-US"/>
              <a:t>之间的流动；</a:t>
            </a:r>
            <a:endParaRPr lang="zh-CN" altLang="en-US"/>
          </a:p>
          <a:p>
            <a:r>
              <a:rPr lang="zh-CN" altLang="en-US"/>
              <a:t>程序流程图：表示</a:t>
            </a:r>
            <a:r>
              <a:rPr lang="zh-CN" altLang="en-US">
                <a:highlight>
                  <a:srgbClr val="FFFF00"/>
                </a:highlight>
              </a:rPr>
              <a:t>程序</a:t>
            </a:r>
            <a:r>
              <a:rPr lang="en-US" altLang="zh-CN">
                <a:highlight>
                  <a:srgbClr val="FFFF00"/>
                </a:highlight>
              </a:rPr>
              <a:t>/</a:t>
            </a:r>
            <a:r>
              <a:rPr lang="zh-CN" altLang="en-US">
                <a:highlight>
                  <a:srgbClr val="FFFF00"/>
                </a:highlight>
              </a:rPr>
              <a:t>算法的流动</a:t>
            </a:r>
            <a:r>
              <a:rPr lang="zh-CN" altLang="en-US"/>
              <a:t>，会用到程序的控制结构。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上次课回顾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、请描绘数据流图的基本符号。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95830" y="2132965"/>
            <a:ext cx="3834130" cy="24968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chemeClr val="tx1"/>
                </a:solidFill>
              </a:rPr>
              <a:t>可行性研究的工具之数据字典</a:t>
            </a:r>
            <a:endParaRPr lang="zh-CN" altLang="en-US" smtClean="0"/>
          </a:p>
        </p:txBody>
      </p:sp>
      <p:sp>
        <p:nvSpPr>
          <p:cNvPr id="45059" name="内容占位符 2"/>
          <p:cNvSpPr>
            <a:spLocks noGrp="1" noChangeArrowheads="1"/>
          </p:cNvSpPr>
          <p:nvPr>
            <p:ph idx="1"/>
          </p:nvPr>
        </p:nvSpPr>
        <p:spPr>
          <a:xfrm>
            <a:off x="684213" y="2060575"/>
            <a:ext cx="8064500" cy="4114800"/>
          </a:xfrm>
        </p:spPr>
        <p:txBody>
          <a:bodyPr/>
          <a:lstStyle/>
          <a:p>
            <a:r>
              <a:rPr lang="zh-CN" altLang="en-US" dirty="0" smtClean="0"/>
              <a:t>数据字典：对数据流图中包含的所有元素的定义的集合。</a:t>
            </a:r>
            <a:endParaRPr lang="en-US" altLang="zh-CN" dirty="0" smtClean="0"/>
          </a:p>
          <a:p>
            <a:r>
              <a:rPr lang="zh-CN" altLang="en-US" dirty="0" smtClean="0"/>
              <a:t>可行性研究阶段，</a:t>
            </a:r>
            <a:r>
              <a:rPr lang="en-US" altLang="zh-CN" dirty="0" smtClean="0"/>
              <a:t>(</a:t>
            </a:r>
            <a:r>
              <a:rPr lang="zh-CN" altLang="en-US" dirty="0" smtClean="0">
                <a:solidFill>
                  <a:srgbClr val="0000FF"/>
                </a:solidFill>
              </a:rPr>
              <a:t>数据流图</a:t>
            </a:r>
            <a:r>
              <a:rPr lang="en-US" altLang="zh-CN" dirty="0" smtClean="0"/>
              <a:t>)</a:t>
            </a:r>
            <a:r>
              <a:rPr lang="zh-CN" altLang="en-US" dirty="0" smtClean="0"/>
              <a:t>与</a:t>
            </a:r>
            <a:r>
              <a:rPr lang="en-US" altLang="zh-CN" dirty="0" smtClean="0"/>
              <a:t>(</a:t>
            </a:r>
            <a:r>
              <a:rPr lang="zh-CN" altLang="en-US" dirty="0" smtClean="0">
                <a:solidFill>
                  <a:srgbClr val="0000FF"/>
                </a:solidFill>
              </a:rPr>
              <a:t>数据字典</a:t>
            </a:r>
            <a:r>
              <a:rPr lang="en-US" altLang="zh-CN" dirty="0" smtClean="0"/>
              <a:t>)</a:t>
            </a:r>
            <a:r>
              <a:rPr lang="zh-CN" altLang="en-US" dirty="0" smtClean="0"/>
              <a:t>共同构成</a:t>
            </a:r>
            <a:r>
              <a:rPr lang="zh-CN" altLang="en-US" dirty="0" smtClean="0">
                <a:solidFill>
                  <a:srgbClr val="0000FF"/>
                </a:solidFill>
                <a:highlight>
                  <a:srgbClr val="FFFF00"/>
                </a:highlight>
              </a:rPr>
              <a:t>系统的逻辑模型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数据字典中所有的定义应严密、精确、无二义性。</a:t>
            </a:r>
            <a:endParaRPr lang="zh-CN" altLang="en-US" dirty="0" smtClean="0"/>
          </a:p>
        </p:txBody>
      </p:sp>
      <p:sp>
        <p:nvSpPr>
          <p:cNvPr id="4506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D74C0149-903E-4352-ABD5-B03AA2602CB2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506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3E20095-31C5-446D-8ABD-DF152C7342C2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矩形 1"/>
          <p:cNvSpPr/>
          <p:nvPr/>
        </p:nvSpPr>
        <p:spPr>
          <a:xfrm>
            <a:off x="1043940" y="1988820"/>
            <a:ext cx="7488555" cy="115252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数据字典的内容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zh-CN" altLang="en-US" dirty="0" smtClean="0">
                <a:ea typeface="+mn-ea"/>
              </a:rPr>
              <a:t>可以</a:t>
            </a:r>
            <a:r>
              <a:rPr kumimoji="1" lang="zh-CN" altLang="en-US" dirty="0" smtClean="0">
                <a:ea typeface="+mn-ea"/>
              </a:rPr>
              <a:t>对下列</a:t>
            </a:r>
            <a:r>
              <a:rPr kumimoji="1" lang="en-US" altLang="zh-CN" dirty="0" smtClean="0">
                <a:ea typeface="+mn-ea"/>
              </a:rPr>
              <a:t>4</a:t>
            </a:r>
            <a:r>
              <a:rPr kumimoji="1" lang="zh-CN" altLang="en-US" dirty="0" smtClean="0">
                <a:ea typeface="+mn-ea"/>
              </a:rPr>
              <a:t>种</a:t>
            </a:r>
            <a:r>
              <a:rPr kumimoji="1" lang="zh-CN" altLang="en-US" dirty="0" smtClean="0">
                <a:ea typeface="+mn-ea"/>
              </a:rPr>
              <a:t>元素进行定义：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数据流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数据元素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数据存储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en-US" dirty="0" smtClean="0">
                <a:ea typeface="+mn-ea"/>
              </a:rPr>
              <a:t>处理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endParaRPr kumimoji="1" lang="zh-CN" altLang="en-US" dirty="0">
              <a:ea typeface="+mn-ea"/>
            </a:endParaRPr>
          </a:p>
        </p:txBody>
      </p:sp>
      <p:sp>
        <p:nvSpPr>
          <p:cNvPr id="46084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1C843AB-C0E4-4702-80B6-6069BC7735AA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608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D95581A-4832-46DA-A159-ABBD514B5DF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定义数据的方法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6115" y="1945640"/>
            <a:ext cx="8209280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zh-CN" altLang="en-US" dirty="0">
                <a:ea typeface="+mn-ea"/>
              </a:rPr>
              <a:t>由</a:t>
            </a:r>
            <a:r>
              <a:rPr kumimoji="1" lang="zh-CN" altLang="en-US" dirty="0" smtClean="0">
                <a:solidFill>
                  <a:srgbClr val="0000FF"/>
                </a:solidFill>
                <a:ea typeface="+mn-ea"/>
              </a:rPr>
              <a:t>数据元素组成数据的方式</a:t>
            </a:r>
            <a:r>
              <a:rPr kumimoji="1" lang="zh-CN" altLang="en-US" dirty="0" smtClean="0">
                <a:ea typeface="+mn-ea"/>
              </a:rPr>
              <a:t>有以下</a:t>
            </a:r>
            <a:r>
              <a:rPr kumimoji="1" lang="en-US" altLang="zh-CN" dirty="0" smtClean="0">
                <a:ea typeface="+mn-ea"/>
              </a:rPr>
              <a:t>3</a:t>
            </a:r>
            <a:r>
              <a:rPr kumimoji="1" lang="zh-CN" altLang="en-US" dirty="0" smtClean="0">
                <a:ea typeface="+mn-ea"/>
              </a:rPr>
              <a:t>种基本类型（类似于程序设计中的</a:t>
            </a:r>
            <a:r>
              <a:rPr kumimoji="1" lang="en-US" altLang="zh-CN" dirty="0" smtClean="0">
                <a:ea typeface="+mn-ea"/>
              </a:rPr>
              <a:t>3</a:t>
            </a:r>
            <a:r>
              <a:rPr kumimoji="1" lang="zh-CN" altLang="en-US" dirty="0" smtClean="0">
                <a:ea typeface="+mn-ea"/>
              </a:rPr>
              <a:t>种控制</a:t>
            </a:r>
            <a:r>
              <a:rPr kumimoji="1" lang="zh-CN" altLang="en-US" dirty="0" smtClean="0">
                <a:ea typeface="+mn-ea"/>
              </a:rPr>
              <a:t>结构）：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dirty="0" smtClean="0">
                <a:ea typeface="+mn-ea"/>
              </a:rPr>
              <a:t>顺序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dirty="0" smtClean="0">
                <a:ea typeface="+mn-ea"/>
              </a:rPr>
              <a:t>选择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ea"/>
              <a:buAutoNum type="circleNumDbPlain"/>
              <a:defRPr/>
            </a:pPr>
            <a:r>
              <a:rPr kumimoji="1" lang="zh-CN" altLang="en-US" dirty="0" smtClean="0">
                <a:ea typeface="+mn-ea"/>
              </a:rPr>
              <a:t>重复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ea"/>
              <a:buAutoNum type="circleNumDbPlain"/>
              <a:defRPr/>
            </a:pPr>
            <a:endParaRPr kumimoji="1" lang="en-US" altLang="zh-CN" dirty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zh-CN" altLang="en-US" dirty="0" smtClean="0">
                <a:ea typeface="+mn-ea"/>
              </a:rPr>
              <a:t>另外，</a:t>
            </a:r>
            <a:r>
              <a:rPr kumimoji="1" lang="zh-CN" altLang="en-US" b="1" dirty="0" smtClean="0">
                <a:solidFill>
                  <a:srgbClr val="0000FF"/>
                </a:solidFill>
                <a:ea typeface="+mn-ea"/>
              </a:rPr>
              <a:t>可选</a:t>
            </a:r>
            <a:r>
              <a:rPr kumimoji="1" lang="zh-CN" altLang="en-US" dirty="0" smtClean="0">
                <a:ea typeface="+mn-ea"/>
              </a:rPr>
              <a:t>表示可有可无。</a:t>
            </a:r>
            <a:endParaRPr kumimoji="1" lang="zh-CN" altLang="en-US" dirty="0">
              <a:ea typeface="+mn-ea"/>
            </a:endParaRPr>
          </a:p>
        </p:txBody>
      </p:sp>
      <p:sp>
        <p:nvSpPr>
          <p:cNvPr id="4710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39956216-0453-4802-B08B-5112D3A6BFCB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710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2D7E17-DB5E-4EF1-96AA-FC7AB46B7142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数据字典中数据元素组成数据的表示符号</a:t>
            </a:r>
            <a:endParaRPr lang="zh-CN" altLang="en-US" smtClean="0"/>
          </a:p>
        </p:txBody>
      </p:sp>
      <p:sp>
        <p:nvSpPr>
          <p:cNvPr id="48131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8D14B710-5962-4C7C-A049-3F07E8881682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8132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C415ADE-7119-4D22-A675-86C94C904369}" type="slidenum">
              <a:rPr lang="en-US" altLang="zh-CN" sz="1400"/>
            </a:fld>
            <a:endParaRPr lang="en-US" altLang="zh-CN" sz="1400"/>
          </a:p>
        </p:txBody>
      </p:sp>
      <p:pic>
        <p:nvPicPr>
          <p:cNvPr id="48133" name="对象 5"/>
          <p:cNvPicPr>
            <a:picLocks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2276475"/>
            <a:ext cx="7969250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2" name="墨迹 1"/>
              <p14:cNvContentPartPr/>
              <p14:nvPr/>
            </p14:nvContentPartPr>
            <p14:xfrm>
              <a:off x="749300" y="3422650"/>
              <a:ext cx="203200" cy="144780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749300" y="3422650"/>
                <a:ext cx="203200" cy="144780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数据字典的用途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2133600"/>
            <a:ext cx="7849235" cy="4462780"/>
          </a:xfrm>
        </p:spPr>
        <p:txBody>
          <a:bodyPr/>
          <a:lstStyle/>
          <a:p>
            <a:pPr>
              <a:defRPr/>
            </a:pPr>
            <a:r>
              <a:rPr kumimoji="1" lang="zh-CN" altLang="en-US" dirty="0" smtClean="0">
                <a:ea typeface="+mn-ea"/>
              </a:rPr>
              <a:t>分析工具（最重要用途）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</a:t>
            </a:r>
            <a:r>
              <a:rPr kumimoji="1" lang="zh-CN" altLang="en-US" dirty="0">
                <a:ea typeface="+mn-ea"/>
              </a:rPr>
              <a:t>对</a:t>
            </a:r>
            <a:r>
              <a:rPr kumimoji="1" lang="zh-CN" altLang="en-US" dirty="0" smtClean="0">
                <a:ea typeface="+mn-ea"/>
              </a:rPr>
              <a:t>系统分析员和用户来说，数据是如何组成或具体描述的。</a:t>
            </a:r>
            <a:endParaRPr kumimoji="1" lang="en-US" altLang="zh-CN" dirty="0" smtClean="0">
              <a:ea typeface="+mn-ea"/>
            </a:endParaRPr>
          </a:p>
          <a:p>
            <a:pPr>
              <a:defRPr/>
            </a:pPr>
            <a:r>
              <a:rPr kumimoji="1" lang="zh-CN" altLang="en-US" dirty="0" smtClean="0">
                <a:ea typeface="+mn-ea"/>
              </a:rPr>
              <a:t>每个</a:t>
            </a:r>
            <a:r>
              <a:rPr kumimoji="1" lang="zh-CN" altLang="en-US" dirty="0" smtClean="0">
                <a:solidFill>
                  <a:srgbClr val="0000FF"/>
                </a:solidFill>
                <a:ea typeface="+mn-ea"/>
              </a:rPr>
              <a:t>数据元素的控制信息</a:t>
            </a:r>
            <a:r>
              <a:rPr kumimoji="1" lang="zh-CN" altLang="en-US" dirty="0" smtClean="0">
                <a:ea typeface="+mn-ea"/>
              </a:rPr>
              <a:t>很有价值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</a:t>
            </a:r>
            <a:r>
              <a:rPr kumimoji="1" lang="zh-CN" dirty="0" smtClean="0">
                <a:ea typeface="+mn-ea"/>
              </a:rPr>
              <a:t>便于关联</a:t>
            </a:r>
            <a:r>
              <a:rPr kumimoji="1" lang="zh-CN" altLang="en-US" u="sng" dirty="0" smtClean="0">
                <a:ea typeface="+mn-ea"/>
              </a:rPr>
              <a:t>使用了特定数据元素的所有程序（或模块）</a:t>
            </a:r>
            <a:r>
              <a:rPr kumimoji="1" lang="zh-CN" altLang="en-US" dirty="0" smtClean="0">
                <a:ea typeface="+mn-ea"/>
              </a:rPr>
              <a:t>，从而对这些程序进行有效控制。</a:t>
            </a:r>
            <a:endParaRPr kumimoji="1" lang="en-US" altLang="zh-CN" dirty="0" smtClean="0">
              <a:ea typeface="+mn-ea"/>
            </a:endParaRPr>
          </a:p>
          <a:p>
            <a:pPr>
              <a:defRPr/>
            </a:pPr>
            <a:r>
              <a:rPr kumimoji="1" lang="zh-CN" altLang="en-US" dirty="0" smtClean="0">
                <a:ea typeface="+mn-ea"/>
              </a:rPr>
              <a:t>数据字典是开发数据库的第一步。</a:t>
            </a:r>
            <a:endParaRPr kumimoji="1" lang="zh-CN" altLang="en-US" dirty="0">
              <a:ea typeface="+mn-ea"/>
            </a:endParaRPr>
          </a:p>
        </p:txBody>
      </p:sp>
      <p:sp>
        <p:nvSpPr>
          <p:cNvPr id="5325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10A09BDB-AEA4-4D25-BB40-E6A728FD2DB7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325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310E40-0C84-4D65-9C0C-2E8DD2DCD94C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随堂练习</a:t>
            </a:r>
            <a:r>
              <a:rPr lang="en-US" altLang="zh-CN" smtClean="0"/>
              <a:t>-1 </a:t>
            </a:r>
            <a:r>
              <a:rPr lang="zh-CN" altLang="en-US" smtClean="0"/>
              <a:t>（</a:t>
            </a:r>
            <a:r>
              <a:rPr lang="en-US" altLang="zh-CN" smtClean="0"/>
              <a:t>5 minutes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1205" y="2067560"/>
            <a:ext cx="8489950" cy="75438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zh-CN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用数据字典表示济南市电话号码</a:t>
            </a:r>
            <a:r>
              <a:rPr kumimoji="1" lang="en-US" altLang="zh-CN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(</a:t>
            </a:r>
            <a:r>
              <a:rPr kumimoji="1" lang="zh-CN" altLang="en-US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包含区号</a:t>
            </a:r>
            <a:r>
              <a:rPr kumimoji="1" lang="en-US" altLang="zh-CN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)</a:t>
            </a:r>
            <a:r>
              <a:rPr kumimoji="1" lang="zh-CN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</a:rPr>
              <a:t>。</a:t>
            </a:r>
            <a:endParaRPr kumimoji="1" lang="zh-CN" noProof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zh-CN" altLang="en-US" dirty="0">
              <a:ea typeface="+mn-ea"/>
            </a:endParaRPr>
          </a:p>
        </p:txBody>
      </p:sp>
      <p:sp>
        <p:nvSpPr>
          <p:cNvPr id="4915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337E440D-E5E6-4283-956C-AC230FEE2AA7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4915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F3F3419-02ED-4332-825D-C7AADF2D5FCA}" type="slidenum">
              <a:rPr lang="en-US" altLang="zh-CN" sz="1400"/>
            </a:fld>
            <a:endParaRPr lang="en-US" altLang="zh-CN" sz="1400"/>
          </a:p>
        </p:txBody>
      </p:sp>
      <p:pic>
        <p:nvPicPr>
          <p:cNvPr id="48133" name="对象 5"/>
          <p:cNvPicPr>
            <a:picLocks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58" y="2671445"/>
            <a:ext cx="7969250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" name="墨迹 1"/>
              <p14:cNvContentPartPr/>
              <p14:nvPr/>
            </p14:nvContentPartPr>
            <p14:xfrm>
              <a:off x="749300" y="4267200"/>
              <a:ext cx="158750" cy="71755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4"/>
            </p:blipFill>
            <p:spPr>
              <a:xfrm>
                <a:off x="749300" y="4267200"/>
                <a:ext cx="158750" cy="7175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" name="墨迹 3"/>
              <p14:cNvContentPartPr/>
              <p14:nvPr/>
            </p14:nvContentPartPr>
            <p14:xfrm>
              <a:off x="742950" y="4972050"/>
              <a:ext cx="146050" cy="70485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742950" y="4972050"/>
                <a:ext cx="146050" cy="70485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参考答案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noProof="1"/>
              <a:t>济南市电话号码</a:t>
            </a:r>
            <a:r>
              <a:rPr lang="en-US" altLang="zh-CN" noProof="1"/>
              <a:t>=0531+8{</a:t>
            </a:r>
            <a:r>
              <a:rPr lang="zh-CN" altLang="en-US" noProof="1"/>
              <a:t>数字</a:t>
            </a:r>
            <a:r>
              <a:rPr lang="en-US" altLang="zh-CN" noProof="1"/>
              <a:t>}8</a:t>
            </a:r>
            <a:endParaRPr lang="zh-CN" altLang="en-US" noProof="1"/>
          </a:p>
          <a:p>
            <a:pPr marL="0" indent="0">
              <a:buFont typeface="+mj-lt"/>
              <a:buNone/>
              <a:defRPr/>
            </a:pPr>
            <a:r>
              <a:rPr lang="zh-CN" altLang="en-US" noProof="1"/>
              <a:t>其中，数字</a:t>
            </a:r>
            <a:r>
              <a:rPr lang="en-US" altLang="zh-CN" dirty="0">
                <a:sym typeface="+mn-ea"/>
              </a:rPr>
              <a:t>=[0|1|2|3|4|5|6|7|8|9] 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+mn-ea"/>
              </a:rPr>
              <a:t> </a:t>
            </a:r>
            <a:r>
              <a:rPr lang="en-US" altLang="zh-CN" dirty="0" smtClean="0">
                <a:sym typeface="+mn-ea"/>
              </a:rPr>
              <a:t>    </a:t>
            </a:r>
            <a:r>
              <a:rPr lang="zh-CN" altLang="en-US" dirty="0" smtClean="0">
                <a:sym typeface="+mn-ea"/>
              </a:rPr>
              <a:t>或 数字</a:t>
            </a:r>
            <a:r>
              <a:rPr lang="en-US" altLang="zh-CN" dirty="0" smtClean="0">
                <a:sym typeface="+mn-ea"/>
              </a:rPr>
              <a:t>=0..9</a:t>
            </a:r>
            <a:endParaRPr lang="en-US" altLang="zh-CN" noProof="1"/>
          </a:p>
        </p:txBody>
      </p:sp>
      <p:sp>
        <p:nvSpPr>
          <p:cNvPr id="5018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2E901C-E24F-4BBC-AACD-226A9A13EB9A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随堂练习</a:t>
            </a:r>
            <a:r>
              <a:rPr lang="en-US" altLang="zh-CN" smtClean="0"/>
              <a:t>-2 </a:t>
            </a:r>
            <a:r>
              <a:rPr lang="zh-CN" altLang="en-US" smtClean="0"/>
              <a:t>（</a:t>
            </a:r>
            <a:r>
              <a:rPr lang="en-US" altLang="zh-CN" smtClean="0"/>
              <a:t>10 minutes</a:t>
            </a:r>
            <a:r>
              <a:rPr lang="zh-CN" altLang="en-US" smtClean="0"/>
              <a:t>）</a:t>
            </a:r>
            <a:endParaRPr lang="zh-CN" altLang="en-US" smtClean="0"/>
          </a:p>
        </p:txBody>
      </p:sp>
      <p:sp>
        <p:nvSpPr>
          <p:cNvPr id="51203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50344549-EC91-4E13-91F6-85349C504479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120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BE41F4A-F02E-4F99-87D7-FF12CEBCB4C7}" type="slidenum">
              <a:rPr lang="en-US" altLang="zh-CN" sz="1400"/>
            </a:fld>
            <a:endParaRPr lang="en-US" altLang="zh-CN" sz="1400"/>
          </a:p>
        </p:txBody>
      </p:sp>
      <p:sp>
        <p:nvSpPr>
          <p:cNvPr id="6" name="矩形 5"/>
          <p:cNvSpPr/>
          <p:nvPr/>
        </p:nvSpPr>
        <p:spPr>
          <a:xfrm>
            <a:off x="1258888" y="1916113"/>
            <a:ext cx="7058025" cy="41541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  <a:defRPr/>
            </a:pPr>
            <a:r>
              <a:rPr kumimoji="1" lang="zh-CN" altLang="zh-CN" dirty="0"/>
              <a:t>某公司的电话服务如下： </a:t>
            </a:r>
            <a:endParaRPr kumimoji="1" lang="zh-CN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可以拨分机号</a:t>
            </a:r>
            <a:r>
              <a:rPr kumimoji="1" lang="zh-CN" altLang="en-US" dirty="0"/>
              <a:t>或</a:t>
            </a:r>
            <a:r>
              <a:rPr kumimoji="1" lang="zh-CN" altLang="zh-CN" dirty="0"/>
              <a:t>外线号码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分机号是从</a:t>
            </a:r>
            <a:r>
              <a:rPr kumimoji="1" lang="en-US" altLang="zh-CN" dirty="0"/>
              <a:t>8801</a:t>
            </a:r>
            <a:r>
              <a:rPr kumimoji="1" lang="zh-CN" altLang="zh-CN" dirty="0"/>
              <a:t>至</a:t>
            </a:r>
            <a:r>
              <a:rPr kumimoji="1" lang="en-US" altLang="zh-CN" dirty="0"/>
              <a:t>8899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外线号码先拨</a:t>
            </a:r>
            <a:r>
              <a:rPr kumimoji="1" lang="en-US" altLang="zh-CN" dirty="0"/>
              <a:t>7</a:t>
            </a:r>
            <a:r>
              <a:rPr kumimoji="1" lang="zh-CN" altLang="zh-CN" dirty="0"/>
              <a:t>，然后是市话号码或长话号码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长话号码是以区号和市话号码组成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区号是</a:t>
            </a:r>
            <a:r>
              <a:rPr kumimoji="1" lang="en-US" altLang="zh-CN" dirty="0"/>
              <a:t>010</a:t>
            </a:r>
            <a:r>
              <a:rPr kumimoji="1" lang="zh-CN" altLang="en-US" dirty="0"/>
              <a:t>或</a:t>
            </a:r>
            <a:r>
              <a:rPr kumimoji="1" lang="en-US" altLang="zh-CN" dirty="0"/>
              <a:t>021</a:t>
            </a:r>
            <a:r>
              <a:rPr kumimoji="1" lang="zh-CN" altLang="en-US" dirty="0"/>
              <a:t>或</a:t>
            </a:r>
            <a:r>
              <a:rPr kumimoji="1" lang="en-US" altLang="zh-CN" dirty="0"/>
              <a:t>020</a:t>
            </a:r>
            <a:r>
              <a:rPr kumimoji="1" lang="zh-CN" altLang="zh-CN" dirty="0"/>
              <a:t>。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zh-CN" dirty="0"/>
              <a:t>市话号码是任意长度为</a:t>
            </a:r>
            <a:r>
              <a:rPr kumimoji="1" lang="en-US" altLang="zh-CN" dirty="0"/>
              <a:t>8</a:t>
            </a:r>
            <a:r>
              <a:rPr kumimoji="1" lang="zh-CN" altLang="zh-CN" dirty="0"/>
              <a:t>的数字串</a:t>
            </a:r>
            <a:r>
              <a:rPr kumimoji="1" lang="zh-CN" altLang="en-US" dirty="0"/>
              <a:t>；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r>
              <a:rPr kumimoji="1" lang="zh-CN" altLang="en-US" dirty="0"/>
              <a:t>市话号码中的数字可取</a:t>
            </a:r>
            <a:r>
              <a:rPr kumimoji="1" lang="en-US" altLang="zh-CN" dirty="0"/>
              <a:t>0</a:t>
            </a:r>
            <a:r>
              <a:rPr kumimoji="1" lang="zh-CN" altLang="en-US" dirty="0"/>
              <a:t>至</a:t>
            </a:r>
            <a:r>
              <a:rPr kumimoji="1" lang="en-US" altLang="zh-CN" dirty="0"/>
              <a:t>9</a:t>
            </a:r>
            <a:r>
              <a:rPr kumimoji="1" lang="zh-CN" altLang="en-US" dirty="0"/>
              <a:t>之间的任意值。</a:t>
            </a:r>
            <a:endParaRPr kumimoji="1" lang="en-US" altLang="zh-CN" dirty="0"/>
          </a:p>
          <a:p>
            <a:pPr marL="457200" indent="-457200">
              <a:buFont typeface="+mj-lt"/>
              <a:buAutoNum type="alphaLcParenR"/>
              <a:defRPr/>
            </a:pPr>
            <a:endParaRPr kumimoji="1" lang="zh-CN" altLang="zh-CN" dirty="0"/>
          </a:p>
          <a:p>
            <a:pPr>
              <a:buFontTx/>
              <a:buNone/>
              <a:defRPr/>
            </a:pPr>
            <a:endParaRPr kumimoji="1" lang="en-US" altLang="zh-CN" dirty="0"/>
          </a:p>
          <a:p>
            <a:pPr>
              <a:buFontTx/>
              <a:buNone/>
              <a:defRPr/>
            </a:pPr>
            <a:r>
              <a:rPr kumimoji="1" lang="zh-CN" altLang="en-US" dirty="0">
                <a:highlight>
                  <a:srgbClr val="FFFF00"/>
                </a:highlight>
              </a:rPr>
              <a:t>用</a:t>
            </a:r>
            <a:r>
              <a:rPr kumimoji="1" lang="zh-CN" altLang="zh-CN" dirty="0">
                <a:highlight>
                  <a:srgbClr val="FFFF00"/>
                </a:highlight>
              </a:rPr>
              <a:t>数据字典</a:t>
            </a:r>
            <a:r>
              <a:rPr kumimoji="1" lang="zh-CN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分别</a:t>
            </a:r>
            <a:r>
              <a:rPr kumimoji="1" lang="zh-CN" altLang="en-US" dirty="0">
                <a:highlight>
                  <a:srgbClr val="FFFF00"/>
                </a:highlight>
              </a:rPr>
              <a:t>表示以上</a:t>
            </a:r>
            <a:r>
              <a:rPr kumimoji="1" lang="zh-CN" altLang="zh-CN" dirty="0">
                <a:highlight>
                  <a:srgbClr val="FFFF00"/>
                </a:highlight>
              </a:rPr>
              <a:t>数据条目。</a:t>
            </a:r>
            <a:endParaRPr kumimoji="1" lang="zh-CN" altLang="zh-CN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参考答案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>
                <a:ea typeface="+mn-ea"/>
              </a:rPr>
              <a:t>电话号码</a:t>
            </a:r>
            <a:r>
              <a:rPr kumimoji="1" lang="en-US" altLang="zh-CN" dirty="0">
                <a:ea typeface="+mn-ea"/>
              </a:rPr>
              <a:t>=</a:t>
            </a:r>
            <a:r>
              <a:rPr kumimoji="1" lang="zh-CN" altLang="zh-CN" dirty="0">
                <a:ea typeface="+mn-ea"/>
              </a:rPr>
              <a:t>［分机号｜外线</a:t>
            </a:r>
            <a:r>
              <a:rPr kumimoji="1" lang="zh-CN" altLang="zh-CN" dirty="0" smtClean="0">
                <a:ea typeface="+mn-ea"/>
              </a:rPr>
              <a:t>号码］</a:t>
            </a:r>
            <a:endParaRPr kumimoji="1" lang="en-US" altLang="zh-CN" dirty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分机</a:t>
            </a:r>
            <a:r>
              <a:rPr kumimoji="1" lang="zh-CN" altLang="zh-CN" dirty="0">
                <a:ea typeface="+mn-ea"/>
              </a:rPr>
              <a:t>号</a:t>
            </a:r>
            <a:r>
              <a:rPr kumimoji="1" lang="en-US" altLang="zh-CN" dirty="0" smtClean="0">
                <a:ea typeface="+mn-ea"/>
              </a:rPr>
              <a:t>=8801..8899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外线</a:t>
            </a:r>
            <a:r>
              <a:rPr kumimoji="1" lang="zh-CN" altLang="zh-CN" dirty="0">
                <a:ea typeface="+mn-ea"/>
              </a:rPr>
              <a:t>号码</a:t>
            </a:r>
            <a:r>
              <a:rPr kumimoji="1" lang="en-US" altLang="zh-CN" dirty="0">
                <a:ea typeface="+mn-ea"/>
              </a:rPr>
              <a:t>=7+</a:t>
            </a:r>
            <a:r>
              <a:rPr kumimoji="1" lang="zh-CN" altLang="zh-CN" dirty="0">
                <a:ea typeface="+mn-ea"/>
              </a:rPr>
              <a:t>［市话号码｜长话</a:t>
            </a:r>
            <a:r>
              <a:rPr kumimoji="1" lang="zh-CN" altLang="zh-CN" dirty="0" smtClean="0">
                <a:ea typeface="+mn-ea"/>
              </a:rPr>
              <a:t>号码］</a:t>
            </a:r>
            <a:endParaRPr kumimoji="1" lang="en-US" altLang="zh-CN" dirty="0" smtClean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长话</a:t>
            </a:r>
            <a:r>
              <a:rPr kumimoji="1" lang="zh-CN" altLang="zh-CN" dirty="0">
                <a:ea typeface="+mn-ea"/>
              </a:rPr>
              <a:t>号码</a:t>
            </a:r>
            <a:r>
              <a:rPr kumimoji="1" lang="en-US" altLang="zh-CN" dirty="0">
                <a:ea typeface="+mn-ea"/>
              </a:rPr>
              <a:t>=</a:t>
            </a:r>
            <a:r>
              <a:rPr kumimoji="1" lang="zh-CN" altLang="zh-CN" dirty="0">
                <a:ea typeface="+mn-ea"/>
              </a:rPr>
              <a:t>区号</a:t>
            </a:r>
            <a:r>
              <a:rPr kumimoji="1" lang="en-US" altLang="zh-CN" dirty="0">
                <a:ea typeface="+mn-ea"/>
              </a:rPr>
              <a:t>+</a:t>
            </a:r>
            <a:r>
              <a:rPr kumimoji="1" lang="zh-CN" altLang="zh-CN" dirty="0">
                <a:ea typeface="+mn-ea"/>
              </a:rPr>
              <a:t>市话</a:t>
            </a:r>
            <a:r>
              <a:rPr kumimoji="1" lang="zh-CN" altLang="zh-CN" dirty="0" smtClean="0">
                <a:ea typeface="+mn-ea"/>
              </a:rPr>
              <a:t>号码</a:t>
            </a:r>
            <a:endParaRPr kumimoji="1" lang="en-US" altLang="zh-CN" dirty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区号</a:t>
            </a:r>
            <a:r>
              <a:rPr kumimoji="1" lang="en-US" altLang="zh-CN" dirty="0">
                <a:ea typeface="+mn-ea"/>
              </a:rPr>
              <a:t>=</a:t>
            </a:r>
            <a:r>
              <a:rPr kumimoji="1" lang="zh-CN" altLang="zh-CN" dirty="0" smtClean="0">
                <a:ea typeface="+mn-ea"/>
              </a:rPr>
              <a:t>［</a:t>
            </a:r>
            <a:r>
              <a:rPr kumimoji="1" lang="en-US" altLang="zh-CN" dirty="0" smtClean="0">
                <a:ea typeface="+mn-ea"/>
              </a:rPr>
              <a:t>010</a:t>
            </a:r>
            <a:r>
              <a:rPr kumimoji="1" lang="zh-CN" altLang="zh-CN" dirty="0" smtClean="0">
                <a:ea typeface="+mn-ea"/>
              </a:rPr>
              <a:t>｜</a:t>
            </a:r>
            <a:r>
              <a:rPr kumimoji="1" lang="en-US" altLang="zh-CN" dirty="0" smtClean="0">
                <a:ea typeface="+mn-ea"/>
              </a:rPr>
              <a:t>021</a:t>
            </a:r>
            <a:r>
              <a:rPr kumimoji="1" lang="zh-CN" altLang="zh-CN" dirty="0" smtClean="0">
                <a:ea typeface="+mn-ea"/>
              </a:rPr>
              <a:t>｜</a:t>
            </a:r>
            <a:r>
              <a:rPr kumimoji="1" lang="en-US" altLang="zh-CN" dirty="0" smtClean="0">
                <a:ea typeface="+mn-ea"/>
              </a:rPr>
              <a:t>020</a:t>
            </a:r>
            <a:r>
              <a:rPr kumimoji="1" lang="zh-CN" altLang="zh-CN" dirty="0" smtClean="0">
                <a:ea typeface="+mn-ea"/>
              </a:rPr>
              <a:t>］</a:t>
            </a:r>
            <a:endParaRPr kumimoji="1" lang="en-US" altLang="zh-CN" dirty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市话</a:t>
            </a:r>
            <a:r>
              <a:rPr kumimoji="1" lang="zh-CN" altLang="zh-CN" dirty="0">
                <a:ea typeface="+mn-ea"/>
              </a:rPr>
              <a:t>号码</a:t>
            </a:r>
            <a:r>
              <a:rPr kumimoji="1" lang="en-US" altLang="zh-CN" dirty="0" smtClean="0">
                <a:ea typeface="+mn-ea"/>
              </a:rPr>
              <a:t>=8{</a:t>
            </a:r>
            <a:r>
              <a:rPr kumimoji="1" lang="zh-CN" altLang="zh-CN" dirty="0">
                <a:ea typeface="+mn-ea"/>
              </a:rPr>
              <a:t>数字</a:t>
            </a:r>
            <a:r>
              <a:rPr kumimoji="1" lang="en-US" altLang="zh-CN" dirty="0" smtClean="0">
                <a:ea typeface="+mn-ea"/>
              </a:rPr>
              <a:t>}8</a:t>
            </a:r>
            <a:endParaRPr kumimoji="1" lang="en-US" altLang="zh-CN" dirty="0">
              <a:ea typeface="+mn-ea"/>
            </a:endParaRPr>
          </a:p>
          <a:p>
            <a:pPr marL="514350" indent="-514350">
              <a:buFont typeface="+mj-lt"/>
              <a:buAutoNum type="alphaLcParenR"/>
              <a:defRPr/>
            </a:pPr>
            <a:r>
              <a:rPr kumimoji="1" lang="zh-CN" altLang="zh-CN" dirty="0" smtClean="0">
                <a:ea typeface="+mn-ea"/>
              </a:rPr>
              <a:t>数字</a:t>
            </a:r>
            <a:r>
              <a:rPr kumimoji="1" lang="en-US" altLang="zh-CN" dirty="0">
                <a:ea typeface="+mn-ea"/>
              </a:rPr>
              <a:t>=[0|1|2|3|4|5|6|7|8|9] 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 </a:t>
            </a:r>
            <a:r>
              <a:rPr kumimoji="1" lang="zh-CN" altLang="en-US" dirty="0" smtClean="0">
                <a:ea typeface="+mn-ea"/>
              </a:rPr>
              <a:t>或 数字</a:t>
            </a:r>
            <a:r>
              <a:rPr kumimoji="1" lang="en-US" altLang="zh-CN" dirty="0" smtClean="0">
                <a:ea typeface="+mn-ea"/>
              </a:rPr>
              <a:t>=0..9</a:t>
            </a:r>
            <a:endParaRPr kumimoji="1" lang="zh-CN" altLang="zh-CN" dirty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zh-CN" altLang="en-US" dirty="0">
              <a:ea typeface="+mn-ea"/>
            </a:endParaRPr>
          </a:p>
        </p:txBody>
      </p:sp>
      <p:sp>
        <p:nvSpPr>
          <p:cNvPr id="52228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2D840E83-0F67-4310-B354-F68085E6D66E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222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569B1E-4EF3-4B58-A60B-FFDD0212538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</a:rPr>
              <a:t>2.4 </a:t>
            </a:r>
            <a:r>
              <a:rPr lang="zh-CN" altLang="en-US" smtClean="0">
                <a:solidFill>
                  <a:srgbClr val="FF0000"/>
                </a:solidFill>
              </a:rPr>
              <a:t>成本</a:t>
            </a:r>
            <a:r>
              <a:rPr lang="en-US" altLang="zh-CN" smtClean="0">
                <a:solidFill>
                  <a:srgbClr val="FF0000"/>
                </a:solidFill>
              </a:rPr>
              <a:t>/</a:t>
            </a:r>
            <a:r>
              <a:rPr lang="zh-CN" altLang="en-US" smtClean="0">
                <a:solidFill>
                  <a:srgbClr val="FF0000"/>
                </a:solidFill>
              </a:rPr>
              <a:t>效益分析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zh-CN" altLang="en-US" dirty="0" smtClean="0">
                <a:ea typeface="+mn-ea"/>
              </a:rPr>
              <a:t>（一）成本估计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en-US" altLang="zh-CN" dirty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 smtClean="0">
                <a:ea typeface="+mn-ea"/>
              </a:rPr>
              <a:t>  1) </a:t>
            </a:r>
            <a:r>
              <a:rPr kumimoji="1" lang="zh-CN" altLang="en-US" dirty="0" smtClean="0">
                <a:ea typeface="+mn-ea"/>
              </a:rPr>
              <a:t>代码行技术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  </a:t>
            </a:r>
            <a:r>
              <a:rPr kumimoji="1" lang="zh-CN" altLang="en-US" dirty="0" smtClean="0">
                <a:ea typeface="+mn-ea"/>
              </a:rPr>
              <a:t>软件成本 </a:t>
            </a:r>
            <a:r>
              <a:rPr kumimoji="1" lang="en-US" altLang="zh-CN" dirty="0" smtClean="0">
                <a:ea typeface="+mn-ea"/>
              </a:rPr>
              <a:t>= </a:t>
            </a:r>
            <a:r>
              <a:rPr kumimoji="1" lang="zh-CN" altLang="en-US" dirty="0" smtClean="0">
                <a:ea typeface="+mn-ea"/>
              </a:rPr>
              <a:t>每行代码的平均成本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dirty="0">
                <a:ea typeface="+mn-ea"/>
              </a:rPr>
              <a:t> </a:t>
            </a:r>
            <a:r>
              <a:rPr kumimoji="1" lang="en-US" altLang="zh-CN" dirty="0" smtClean="0">
                <a:ea typeface="+mn-ea"/>
              </a:rPr>
              <a:t>                                </a:t>
            </a:r>
            <a:r>
              <a:rPr kumimoji="1" lang="zh-CN" altLang="en-US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+mn-ea"/>
              </a:rPr>
              <a:t>×</a:t>
            </a:r>
            <a:endParaRPr kumimoji="1" lang="en-US" altLang="zh-CN" noProof="1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宋体" panose="02010600030101010101" pitchFamily="2" charset="-122"/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kumimoji="1" lang="en-US" altLang="zh-CN" noProof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+mn-ea"/>
              </a:rPr>
              <a:t> </a:t>
            </a:r>
            <a:r>
              <a:rPr kumimoji="1" lang="en-US" altLang="zh-CN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+mn-ea"/>
              </a:rPr>
              <a:t>             </a:t>
            </a:r>
            <a:r>
              <a:rPr kumimoji="1" lang="zh-CN" altLang="en-US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+mn-ea"/>
              </a:rPr>
              <a:t>（估计的）源代码总行数</a:t>
            </a: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en-US" altLang="zh-CN" dirty="0" smtClean="0"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kumimoji="1" lang="zh-CN" altLang="en-US" dirty="0">
              <a:ea typeface="+mn-ea"/>
            </a:endParaRPr>
          </a:p>
        </p:txBody>
      </p:sp>
      <p:sp>
        <p:nvSpPr>
          <p:cNvPr id="54276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96E82B65-FA64-4C47-8CD8-AE2A15D2A3DF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427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FDED24C-83D0-4925-95A6-B044BF8BC41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2) </a:t>
            </a:r>
            <a:r>
              <a:rPr lang="zh-CN" altLang="en-US" smtClean="0"/>
              <a:t>任务分解技术</a:t>
            </a:r>
            <a:endParaRPr lang="zh-CN" altLang="en-US" smtClean="0"/>
          </a:p>
        </p:txBody>
      </p:sp>
      <p:sp>
        <p:nvSpPr>
          <p:cNvPr id="54274" name="内容占位符 2"/>
          <p:cNvSpPr>
            <a:spLocks noGrp="1"/>
          </p:cNvSpPr>
          <p:nvPr>
            <p:ph idx="1"/>
          </p:nvPr>
        </p:nvSpPr>
        <p:spPr>
          <a:xfrm>
            <a:off x="536575" y="2017713"/>
            <a:ext cx="8418513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noProof="1"/>
              <a:t>软件项目分解为若干个相对独立的任务，分别估计每个单独任务的成本。</a:t>
            </a:r>
            <a:endParaRPr lang="zh-CN" altLang="en-US" noProof="1"/>
          </a:p>
          <a:p>
            <a:pPr>
              <a:buFont typeface="Wingdings" panose="05000000000000000000" charset="0"/>
              <a:buChar char=""/>
              <a:defRPr/>
            </a:pPr>
            <a:r>
              <a:rPr lang="zh-CN" altLang="en-US" noProof="1">
                <a:solidFill>
                  <a:srgbClr val="0000FF"/>
                </a:solidFill>
              </a:rPr>
              <a:t>单独任务成本估计</a:t>
            </a:r>
            <a:r>
              <a:rPr lang="en-US" altLang="zh-CN" noProof="1"/>
              <a:t>=</a:t>
            </a:r>
            <a:r>
              <a:rPr lang="zh-CN" altLang="en-US" noProof="1"/>
              <a:t>任务所需人力估计值</a:t>
            </a:r>
            <a:endParaRPr lang="zh-CN" altLang="en-US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noProof="1"/>
              <a:t>                          </a:t>
            </a:r>
            <a:r>
              <a:rPr lang="en-US" altLang="zh-CN" noProof="1"/>
              <a:t>  </a:t>
            </a:r>
            <a:r>
              <a:rPr lang="zh-CN" altLang="en-US" noProof="1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sym typeface="+mn-ea"/>
              </a:rPr>
              <a:t>×每人每月平均工资</a:t>
            </a:r>
            <a:endParaRPr lang="zh-CN" altLang="en-US" noProof="1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"/>
              <a:defRPr/>
            </a:pPr>
            <a:r>
              <a:rPr lang="zh-CN" altLang="en-US" noProof="1">
                <a:solidFill>
                  <a:srgbClr val="0000FF"/>
                </a:solidFill>
              </a:rPr>
              <a:t>软件开发项目总成本估计</a:t>
            </a:r>
            <a:r>
              <a:rPr lang="en-US" altLang="zh-CN" noProof="1"/>
              <a:t>=</a:t>
            </a:r>
            <a:endParaRPr lang="en-US" altLang="zh-CN" noProof="1"/>
          </a:p>
          <a:p>
            <a:pPr marL="0" indent="0">
              <a:buFont typeface="Wingdings" panose="05000000000000000000" charset="0"/>
              <a:buNone/>
              <a:defRPr/>
            </a:pPr>
            <a:r>
              <a:rPr lang="en-US" altLang="zh-CN" noProof="1"/>
              <a:t>                   </a:t>
            </a:r>
            <a:r>
              <a:rPr lang="zh-CN" altLang="en-US" noProof="1"/>
              <a:t>各个</a:t>
            </a:r>
            <a:r>
              <a:rPr lang="zh-CN" altLang="en-US" noProof="1">
                <a:sym typeface="+mn-ea"/>
              </a:rPr>
              <a:t>单独任务成本估计值之和</a:t>
            </a:r>
            <a:endParaRPr lang="zh-CN" altLang="en-US" noProof="1"/>
          </a:p>
        </p:txBody>
      </p:sp>
      <p:sp>
        <p:nvSpPr>
          <p:cNvPr id="55300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0F122727-0431-4541-8F08-5EFD00E89CBE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5301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03EE7BF-28ED-4E8C-82F4-868801C0596D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 noChangeArrowheads="1"/>
          </p:cNvSpPr>
          <p:nvPr>
            <p:ph type="title"/>
          </p:nvPr>
        </p:nvSpPr>
        <p:spPr>
          <a:xfrm>
            <a:off x="1151255" y="147955"/>
            <a:ext cx="7792720" cy="1612900"/>
          </a:xfrm>
        </p:spPr>
        <p:txBody>
          <a:bodyPr/>
          <a:lstStyle/>
          <a:p>
            <a:r>
              <a:rPr lang="zh-CN" altLang="en-US" smtClean="0"/>
              <a:t>典型环境下软件开发各个阶段需投入的人力百分比</a:t>
            </a:r>
            <a:endParaRPr lang="zh-CN" altLang="en-US" smtClean="0"/>
          </a:p>
        </p:txBody>
      </p:sp>
      <p:sp>
        <p:nvSpPr>
          <p:cNvPr id="5632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D479098-E4BE-481D-AD50-CB23C53F1971}" type="datetime11">
              <a:rPr lang="zh-CN" altLang="en-US" sz="1400" smtClean="0"/>
            </a:fld>
            <a:endParaRPr lang="en-US" altLang="zh-CN" sz="1400" smtClean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83260" y="2276158"/>
          <a:ext cx="7850505" cy="3780472"/>
        </p:xfrm>
        <a:graphic>
          <a:graphicData uri="http://schemas.openxmlformats.org/drawingml/2006/table">
            <a:tbl>
              <a:tblPr/>
              <a:tblGrid>
                <a:gridCol w="3926205"/>
                <a:gridCol w="3923983"/>
              </a:tblGrid>
              <a:tr h="6483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任务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人力（％）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32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可行性研究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需求分析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设计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 pitchFamily="49" charset="-122"/>
                        </a:rPr>
                        <a:t>编码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测试</a:t>
                      </a:r>
                      <a:r>
                        <a:rPr kumimoji="0" lang="en-US" altLang="zh-CN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&amp;</a:t>
                      </a: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调试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总计</a:t>
                      </a:r>
                      <a:endParaRPr kumimoji="0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3~5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10~25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20~25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ea typeface="楷体_GB2312" pitchFamily="49" charset="-122"/>
                        </a:rPr>
                        <a:t>15~20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30~40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100</a:t>
                      </a:r>
                      <a:endParaRPr kumimoji="0" lang="en-US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 noChangeArrowheads="1"/>
          </p:cNvSpPr>
          <p:nvPr>
            <p:ph type="title"/>
          </p:nvPr>
        </p:nvSpPr>
        <p:spPr>
          <a:xfrm>
            <a:off x="971233" y="620078"/>
            <a:ext cx="7793037" cy="1143000"/>
          </a:xfrm>
        </p:spPr>
        <p:txBody>
          <a:bodyPr/>
          <a:lstStyle/>
          <a:p>
            <a:r>
              <a:rPr lang="zh-CN" altLang="en-US" smtClean="0"/>
              <a:t>（二）成本</a:t>
            </a:r>
            <a:r>
              <a:rPr lang="en-US" altLang="zh-CN" smtClean="0"/>
              <a:t>/</a:t>
            </a:r>
            <a:r>
              <a:rPr lang="zh-CN" altLang="en-US" smtClean="0"/>
              <a:t>效益分析的方法</a:t>
            </a:r>
            <a:endParaRPr lang="zh-CN" altLang="en-US" smtClean="0"/>
          </a:p>
        </p:txBody>
      </p:sp>
      <p:sp>
        <p:nvSpPr>
          <p:cNvPr id="58371" name="内容占位符 2"/>
          <p:cNvSpPr>
            <a:spLocks noGrp="1" noChangeArrowheads="1"/>
          </p:cNvSpPr>
          <p:nvPr>
            <p:ph idx="1"/>
          </p:nvPr>
        </p:nvSpPr>
        <p:spPr>
          <a:xfrm>
            <a:off x="635000" y="2017713"/>
            <a:ext cx="8320088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mtClean="0"/>
              <a:t>1) </a:t>
            </a:r>
            <a:r>
              <a:rPr lang="zh-CN" altLang="en-US" smtClean="0">
                <a:solidFill>
                  <a:srgbClr val="FF0000"/>
                </a:solidFill>
              </a:rPr>
              <a:t>货币的时间价值</a:t>
            </a:r>
            <a:endParaRPr lang="zh-CN" altLang="en-US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mtClean="0"/>
              <a:t>    </a:t>
            </a:r>
            <a:r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假设年利率为</a:t>
            </a:r>
            <a:r>
              <a:rPr lang="en-US" altLang="zh-CN" i="1" smtClean="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如果现在存入</a:t>
            </a:r>
            <a:r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元钱，则</a:t>
            </a:r>
            <a:r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t>年以后可以得到的钱数为：</a:t>
            </a:r>
            <a:endParaRPr lang="zh-CN" altLang="en-US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/>
          </a:p>
        </p:txBody>
      </p:sp>
      <p:sp>
        <p:nvSpPr>
          <p:cNvPr id="58372" name="日期占位符 3"/>
          <p:cNvSpPr>
            <a:spLocks noGrp="1" noChangeArrowheads="1"/>
          </p:cNvSpPr>
          <p:nvPr>
            <p:ph type="dt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fld id="{64736B6E-9D36-42B6-AF03-F0361AC81732}" type="datetime11">
              <a:rPr lang="zh-CN" altLang="en-US" sz="1400" smtClean="0"/>
            </a:fld>
            <a:endParaRPr lang="zh-CN" altLang="en-US" sz="1400" smtClean="0"/>
          </a:p>
        </p:txBody>
      </p:sp>
      <p:sp>
        <p:nvSpPr>
          <p:cNvPr id="58373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0E2FFD4-52FA-456F-831E-A94B91C8D459}" type="slidenum">
              <a:rPr lang="en-US" altLang="zh-CN" sz="1400"/>
            </a:fld>
            <a:endParaRPr lang="en-US" altLang="zh-CN" sz="1400"/>
          </a:p>
        </p:txBody>
      </p:sp>
      <p:graphicFrame>
        <p:nvGraphicFramePr>
          <p:cNvPr id="58374" name="对象 3"/>
          <p:cNvGraphicFramePr/>
          <p:nvPr/>
        </p:nvGraphicFramePr>
        <p:xfrm>
          <a:off x="2643188" y="3576638"/>
          <a:ext cx="366553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87" name="" r:id="rId1" imgW="977900" imgH="228600" progId="Equation.3">
                  <p:embed/>
                </p:oleObj>
              </mc:Choice>
              <mc:Fallback>
                <p:oleObj name="" r:id="rId1" imgW="977900" imgH="228600" progId="Equation.3">
                  <p:embed/>
                  <p:pic>
                    <p:nvPicPr>
                      <p:cNvPr id="0" name="对象 3"/>
                      <p:cNvPicPr>
                        <a:picLocks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188" y="3576638"/>
                        <a:ext cx="366553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5" name="文本框 5"/>
          <p:cNvSpPr txBox="1">
            <a:spLocks noChangeArrowheads="1"/>
          </p:cNvSpPr>
          <p:nvPr/>
        </p:nvSpPr>
        <p:spPr bwMode="auto">
          <a:xfrm>
            <a:off x="1071563" y="4495800"/>
            <a:ext cx="7715250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反之，如果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年后能收入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zh-CN" altLang="en-US" sz="3200">
                <a:solidFill>
                  <a:srgbClr val="000000"/>
                </a:solidFill>
                <a:latin typeface="Times New Roman" panose="02020603050405020304" pitchFamily="18" charset="0"/>
              </a:rPr>
              <a:t>元钱，那么这些钱现在的价值是： </a:t>
            </a:r>
            <a:endParaRPr lang="zh-CN" altLang="en-US" sz="3200"/>
          </a:p>
        </p:txBody>
      </p:sp>
      <p:graphicFrame>
        <p:nvGraphicFramePr>
          <p:cNvPr id="58376" name="对象 6"/>
          <p:cNvGraphicFramePr/>
          <p:nvPr/>
        </p:nvGraphicFramePr>
        <p:xfrm>
          <a:off x="2819400" y="5757863"/>
          <a:ext cx="3614738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988" name="" r:id="rId3" imgW="1130300" imgH="228600" progId="Equation.3">
                  <p:embed/>
                </p:oleObj>
              </mc:Choice>
              <mc:Fallback>
                <p:oleObj name="" r:id="rId3" imgW="1130300" imgH="228600" progId="Equation.3">
                  <p:embed/>
                  <p:pic>
                    <p:nvPicPr>
                      <p:cNvPr id="0" name="对象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5757863"/>
                        <a:ext cx="3614738" cy="763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案例</a:t>
            </a:r>
            <a:endParaRPr lang="zh-CN" altLang="en-US" smtClean="0"/>
          </a:p>
        </p:txBody>
      </p:sp>
      <p:sp>
        <p:nvSpPr>
          <p:cNvPr id="59395" name="内容占位符 2"/>
          <p:cNvSpPr>
            <a:spLocks noGrp="1" noChangeArrowheads="1"/>
          </p:cNvSpPr>
          <p:nvPr>
            <p:ph idx="1"/>
          </p:nvPr>
        </p:nvSpPr>
        <p:spPr>
          <a:xfrm>
            <a:off x="508000" y="2017713"/>
            <a:ext cx="8523288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rgbClr val="000000"/>
                </a:solidFill>
              </a:rPr>
              <a:t>    例：有一个库存管理系统，开发该系统共需</a:t>
            </a:r>
            <a:r>
              <a:rPr lang="en-US" altLang="zh-CN" smtClean="0">
                <a:solidFill>
                  <a:srgbClr val="000000"/>
                </a:solidFill>
              </a:rPr>
              <a:t>50000</a:t>
            </a:r>
            <a:r>
              <a:rPr lang="zh-CN" altLang="en-US" smtClean="0">
                <a:solidFill>
                  <a:srgbClr val="000000"/>
                </a:solidFill>
              </a:rPr>
              <a:t>元；使用该系统后，能及时订货，避免了商品短缺，估算每年可节约</a:t>
            </a:r>
            <a:r>
              <a:rPr lang="en-US" altLang="zh-CN" smtClean="0">
                <a:solidFill>
                  <a:srgbClr val="000000"/>
                </a:solidFill>
              </a:rPr>
              <a:t>25000</a:t>
            </a:r>
            <a:r>
              <a:rPr lang="zh-CN" altLang="en-US" smtClean="0">
                <a:solidFill>
                  <a:srgbClr val="000000"/>
                </a:solidFill>
              </a:rPr>
              <a:t>元，共使用</a:t>
            </a:r>
            <a:r>
              <a:rPr lang="en-US" altLang="zh-CN" smtClean="0">
                <a:solidFill>
                  <a:srgbClr val="000000"/>
                </a:solidFill>
              </a:rPr>
              <a:t>5</a:t>
            </a:r>
            <a:r>
              <a:rPr lang="zh-CN" altLang="en-US" smtClean="0">
                <a:solidFill>
                  <a:srgbClr val="000000"/>
                </a:solidFill>
              </a:rPr>
              <a:t>年。</a:t>
            </a:r>
            <a:r>
              <a:rPr lang="zh-CN" altLang="en-US" smtClean="0">
                <a:solidFill>
                  <a:srgbClr val="000000"/>
                </a:solidFill>
                <a:sym typeface="+mn-ea"/>
              </a:rPr>
              <a:t>假定年利率为</a:t>
            </a:r>
            <a:r>
              <a:rPr lang="en-US" altLang="zh-CN" smtClean="0">
                <a:solidFill>
                  <a:srgbClr val="000000"/>
                </a:solidFill>
                <a:sym typeface="+mn-ea"/>
              </a:rPr>
              <a:t>5%</a:t>
            </a:r>
            <a:r>
              <a:rPr lang="zh-CN" altLang="en-US" smtClean="0">
                <a:solidFill>
                  <a:srgbClr val="000000"/>
                </a:solidFill>
                <a:sym typeface="+mn-ea"/>
              </a:rPr>
              <a:t>。</a:t>
            </a:r>
            <a:endParaRPr lang="zh-CN" altLang="en-US" smtClean="0">
              <a:solidFill>
                <a:srgbClr val="000000"/>
              </a:solidFill>
              <a:sym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>
              <a:solidFill>
                <a:srgbClr val="0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rgbClr val="000000"/>
                </a:solidFill>
              </a:rPr>
              <a:t>针对此案例，进行成本</a:t>
            </a:r>
            <a:r>
              <a:rPr lang="en-US" altLang="zh-CN" smtClean="0">
                <a:solidFill>
                  <a:srgbClr val="000000"/>
                </a:solidFill>
              </a:rPr>
              <a:t>/</a:t>
            </a:r>
            <a:r>
              <a:rPr lang="zh-CN" altLang="en-US" smtClean="0">
                <a:solidFill>
                  <a:srgbClr val="000000"/>
                </a:solidFill>
              </a:rPr>
              <a:t>效益分析。</a:t>
            </a:r>
            <a:endParaRPr lang="zh-CN" altLang="en-US" smtClean="0">
              <a:solidFill>
                <a:srgbClr val="000000"/>
              </a:solidFill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mtClean="0"/>
          </a:p>
        </p:txBody>
      </p:sp>
      <p:sp>
        <p:nvSpPr>
          <p:cNvPr id="5939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4590CE-160F-4765-89D5-868FC0756CA5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60419" name="内容占位符 2"/>
          <p:cNvSpPr>
            <a:spLocks noGrp="1" noChangeArrowheads="1"/>
          </p:cNvSpPr>
          <p:nvPr>
            <p:ph idx="1"/>
          </p:nvPr>
        </p:nvSpPr>
        <p:spPr>
          <a:xfrm>
            <a:off x="914400" y="2420620"/>
            <a:ext cx="7772400" cy="139065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4000" dirty="0" smtClean="0"/>
              <a:t>每年节约</a:t>
            </a:r>
            <a:r>
              <a:rPr lang="en-US" altLang="zh-CN" sz="4000" dirty="0" smtClean="0"/>
              <a:t>25000</a:t>
            </a:r>
            <a:r>
              <a:rPr lang="zh-CN" altLang="en-US" sz="4000" dirty="0" smtClean="0"/>
              <a:t>元相当于每年收入</a:t>
            </a:r>
            <a:r>
              <a:rPr lang="en-US" altLang="zh-CN" sz="4000" dirty="0" smtClean="0"/>
              <a:t>25000</a:t>
            </a:r>
            <a:r>
              <a:rPr lang="zh-CN" altLang="en-US" sz="4000" dirty="0" smtClean="0"/>
              <a:t>元（</a:t>
            </a:r>
            <a:r>
              <a:rPr lang="zh-CN" altLang="en-US" sz="4000" dirty="0" smtClean="0">
                <a:solidFill>
                  <a:srgbClr val="FF0000"/>
                </a:solidFill>
              </a:rPr>
              <a:t>将来值</a:t>
            </a:r>
            <a:r>
              <a:rPr lang="zh-CN" altLang="en-US" sz="4000" dirty="0" smtClean="0"/>
              <a:t>）。</a:t>
            </a:r>
            <a:endParaRPr lang="zh-CN" altLang="en-US" sz="4000" dirty="0" smtClean="0"/>
          </a:p>
        </p:txBody>
      </p:sp>
      <p:sp>
        <p:nvSpPr>
          <p:cNvPr id="6042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590E5EA-4D50-4845-95AA-64E099FD476E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将来的收益折算成现在值</a:t>
            </a:r>
            <a:endParaRPr lang="zh-CN" altLang="en-US" smtClean="0"/>
          </a:p>
        </p:txBody>
      </p:sp>
      <p:sp>
        <p:nvSpPr>
          <p:cNvPr id="61443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60C82FF-75E8-4F22-B074-045159E1A7F9}" type="datetime11">
              <a:rPr lang="zh-CN" altLang="en-US" sz="1400" smtClean="0"/>
            </a:fld>
            <a:endParaRPr lang="en-US" altLang="zh-CN" sz="1400" smtClean="0"/>
          </a:p>
        </p:txBody>
      </p:sp>
      <p:grpSp>
        <p:nvGrpSpPr>
          <p:cNvPr id="61444" name="Group 97"/>
          <p:cNvGrpSpPr/>
          <p:nvPr/>
        </p:nvGrpSpPr>
        <p:grpSpPr bwMode="auto">
          <a:xfrm>
            <a:off x="888048" y="1988503"/>
            <a:ext cx="7367587" cy="4219575"/>
            <a:chOff x="486" y="984"/>
            <a:chExt cx="4752" cy="3051"/>
          </a:xfrm>
        </p:grpSpPr>
        <p:grpSp>
          <p:nvGrpSpPr>
            <p:cNvPr id="61445" name="Group 94"/>
            <p:cNvGrpSpPr/>
            <p:nvPr/>
          </p:nvGrpSpPr>
          <p:grpSpPr bwMode="auto">
            <a:xfrm>
              <a:off x="490" y="988"/>
              <a:ext cx="4744" cy="3043"/>
              <a:chOff x="0" y="0"/>
              <a:chExt cx="3742" cy="2400"/>
            </a:xfrm>
          </p:grpSpPr>
          <p:grpSp>
            <p:nvGrpSpPr>
              <p:cNvPr id="61447" name="Group 35"/>
              <p:cNvGrpSpPr/>
              <p:nvPr/>
            </p:nvGrpSpPr>
            <p:grpSpPr bwMode="auto">
              <a:xfrm>
                <a:off x="0" y="0"/>
                <a:ext cx="374" cy="480"/>
                <a:chOff x="0" y="0"/>
                <a:chExt cx="374" cy="480"/>
              </a:xfrm>
            </p:grpSpPr>
            <p:sp>
              <p:nvSpPr>
                <p:cNvPr id="61535" name="Rectangle 4"/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88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年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36" name="Rectangle 3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74" cy="480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48" name="Group 37"/>
              <p:cNvGrpSpPr/>
              <p:nvPr/>
            </p:nvGrpSpPr>
            <p:grpSpPr bwMode="auto">
              <a:xfrm>
                <a:off x="374" y="0"/>
                <a:ext cx="806" cy="480"/>
                <a:chOff x="374" y="0"/>
                <a:chExt cx="806" cy="480"/>
              </a:xfrm>
            </p:grpSpPr>
            <p:sp>
              <p:nvSpPr>
                <p:cNvPr id="61533" name="Rectangle 5"/>
                <p:cNvSpPr>
                  <a:spLocks noChangeArrowheads="1"/>
                </p:cNvSpPr>
                <p:nvPr/>
              </p:nvSpPr>
              <p:spPr bwMode="auto">
                <a:xfrm>
                  <a:off x="417" y="0"/>
                  <a:ext cx="72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将来值（元）</a:t>
                  </a:r>
                  <a:endParaRPr lang="zh-CN" alt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34" name="Rectangle 36"/>
                <p:cNvSpPr>
                  <a:spLocks noChangeArrowheads="1"/>
                </p:cNvSpPr>
                <p:nvPr/>
              </p:nvSpPr>
              <p:spPr bwMode="auto">
                <a:xfrm>
                  <a:off x="374" y="0"/>
                  <a:ext cx="806" cy="480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49" name="Group 39"/>
              <p:cNvGrpSpPr/>
              <p:nvPr/>
            </p:nvGrpSpPr>
            <p:grpSpPr bwMode="auto">
              <a:xfrm>
                <a:off x="1180" y="0"/>
                <a:ext cx="806" cy="480"/>
                <a:chOff x="1180" y="0"/>
                <a:chExt cx="806" cy="480"/>
              </a:xfrm>
            </p:grpSpPr>
            <p:sp>
              <p:nvSpPr>
                <p:cNvPr id="61531" name="Rectangle 6"/>
                <p:cNvSpPr>
                  <a:spLocks noChangeArrowheads="1"/>
                </p:cNvSpPr>
                <p:nvPr/>
              </p:nvSpPr>
              <p:spPr bwMode="auto">
                <a:xfrm>
                  <a:off x="1223" y="0"/>
                  <a:ext cx="72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 sz="20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 eaLnBrk="1" hangingPunct="1"/>
                  <a:r>
                    <a:rPr lang="zh-CN" altLang="en-US" sz="20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(1+</a:t>
                  </a:r>
                  <a:r>
                    <a:rPr lang="en-US" altLang="zh-CN" sz="20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i</a:t>
                  </a:r>
                  <a:r>
                    <a:rPr lang="zh-CN" altLang="en-US" sz="20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)</a:t>
                  </a:r>
                  <a:r>
                    <a:rPr lang="en-US" altLang="zh-CN" sz="2000" b="1" baseline="3000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n</a:t>
                  </a:r>
                  <a:endParaRPr lang="en-US" altLang="zh-CN" sz="2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en-US" altLang="zh-CN" sz="2000" b="1" baseline="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32" name="Rectangle 38"/>
                <p:cNvSpPr>
                  <a:spLocks noChangeArrowheads="1"/>
                </p:cNvSpPr>
                <p:nvPr/>
              </p:nvSpPr>
              <p:spPr bwMode="auto">
                <a:xfrm>
                  <a:off x="1180" y="0"/>
                  <a:ext cx="806" cy="480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0" name="Group 41"/>
              <p:cNvGrpSpPr/>
              <p:nvPr/>
            </p:nvGrpSpPr>
            <p:grpSpPr bwMode="auto">
              <a:xfrm>
                <a:off x="1986" y="0"/>
                <a:ext cx="806" cy="480"/>
                <a:chOff x="1986" y="0"/>
                <a:chExt cx="806" cy="480"/>
              </a:xfrm>
            </p:grpSpPr>
            <p:sp>
              <p:nvSpPr>
                <p:cNvPr id="61529" name="Rectangle 7"/>
                <p:cNvSpPr>
                  <a:spLocks noChangeArrowheads="1"/>
                </p:cNvSpPr>
                <p:nvPr/>
              </p:nvSpPr>
              <p:spPr bwMode="auto">
                <a:xfrm>
                  <a:off x="2029" y="0"/>
                  <a:ext cx="720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现在值（元）</a:t>
                  </a:r>
                  <a:endParaRPr lang="zh-CN" alt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30" name="Rectangle 40"/>
                <p:cNvSpPr>
                  <a:spLocks noChangeArrowheads="1"/>
                </p:cNvSpPr>
                <p:nvPr/>
              </p:nvSpPr>
              <p:spPr bwMode="auto">
                <a:xfrm>
                  <a:off x="1986" y="0"/>
                  <a:ext cx="806" cy="480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1" name="Group 43"/>
              <p:cNvGrpSpPr/>
              <p:nvPr/>
            </p:nvGrpSpPr>
            <p:grpSpPr bwMode="auto">
              <a:xfrm>
                <a:off x="2792" y="0"/>
                <a:ext cx="950" cy="480"/>
                <a:chOff x="2792" y="0"/>
                <a:chExt cx="950" cy="480"/>
              </a:xfrm>
            </p:grpSpPr>
            <p:sp>
              <p:nvSpPr>
                <p:cNvPr id="61527" name="Rectangle 8"/>
                <p:cNvSpPr>
                  <a:spLocks noChangeArrowheads="1"/>
                </p:cNvSpPr>
                <p:nvPr/>
              </p:nvSpPr>
              <p:spPr bwMode="auto">
                <a:xfrm>
                  <a:off x="2835" y="0"/>
                  <a:ext cx="864" cy="48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累计的现在值（元）</a:t>
                  </a:r>
                  <a:endParaRPr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sz="2000" b="1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28" name="Rectangle 42"/>
                <p:cNvSpPr>
                  <a:spLocks noChangeArrowheads="1"/>
                </p:cNvSpPr>
                <p:nvPr/>
              </p:nvSpPr>
              <p:spPr bwMode="auto">
                <a:xfrm>
                  <a:off x="2792" y="0"/>
                  <a:ext cx="950" cy="480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2" name="Group 45"/>
              <p:cNvGrpSpPr/>
              <p:nvPr/>
            </p:nvGrpSpPr>
            <p:grpSpPr bwMode="auto">
              <a:xfrm>
                <a:off x="0" y="480"/>
                <a:ext cx="374" cy="384"/>
                <a:chOff x="0" y="480"/>
                <a:chExt cx="374" cy="384"/>
              </a:xfrm>
            </p:grpSpPr>
            <p:sp>
              <p:nvSpPr>
                <p:cNvPr id="61525" name="Rectangle 9"/>
                <p:cNvSpPr>
                  <a:spLocks noChangeArrowheads="1"/>
                </p:cNvSpPr>
                <p:nvPr/>
              </p:nvSpPr>
              <p:spPr bwMode="auto">
                <a:xfrm>
                  <a:off x="43" y="480"/>
                  <a:ext cx="28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26" name="Rectangle 44"/>
                <p:cNvSpPr>
                  <a:spLocks noChangeArrowheads="1"/>
                </p:cNvSpPr>
                <p:nvPr/>
              </p:nvSpPr>
              <p:spPr bwMode="auto">
                <a:xfrm>
                  <a:off x="0" y="480"/>
                  <a:ext cx="374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3" name="Group 47"/>
              <p:cNvGrpSpPr/>
              <p:nvPr/>
            </p:nvGrpSpPr>
            <p:grpSpPr bwMode="auto">
              <a:xfrm>
                <a:off x="374" y="480"/>
                <a:ext cx="806" cy="384"/>
                <a:chOff x="374" y="480"/>
                <a:chExt cx="806" cy="384"/>
              </a:xfrm>
            </p:grpSpPr>
            <p:sp>
              <p:nvSpPr>
                <p:cNvPr id="61523" name="Rectangle 10"/>
                <p:cNvSpPr>
                  <a:spLocks noChangeArrowheads="1"/>
                </p:cNvSpPr>
                <p:nvPr/>
              </p:nvSpPr>
              <p:spPr bwMode="auto">
                <a:xfrm>
                  <a:off x="417" y="480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2500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24" name="Rectangle 46"/>
                <p:cNvSpPr>
                  <a:spLocks noChangeArrowheads="1"/>
                </p:cNvSpPr>
                <p:nvPr/>
              </p:nvSpPr>
              <p:spPr bwMode="auto">
                <a:xfrm>
                  <a:off x="374" y="480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4" name="Group 49"/>
              <p:cNvGrpSpPr/>
              <p:nvPr/>
            </p:nvGrpSpPr>
            <p:grpSpPr bwMode="auto">
              <a:xfrm>
                <a:off x="1180" y="480"/>
                <a:ext cx="806" cy="384"/>
                <a:chOff x="1180" y="480"/>
                <a:chExt cx="806" cy="384"/>
              </a:xfrm>
            </p:grpSpPr>
            <p:sp>
              <p:nvSpPr>
                <p:cNvPr id="61521" name="Rectangle 11"/>
                <p:cNvSpPr>
                  <a:spLocks noChangeArrowheads="1"/>
                </p:cNvSpPr>
                <p:nvPr/>
              </p:nvSpPr>
              <p:spPr bwMode="auto">
                <a:xfrm>
                  <a:off x="1223" y="480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1.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05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22" name="Rectangle 48"/>
                <p:cNvSpPr>
                  <a:spLocks noChangeArrowheads="1"/>
                </p:cNvSpPr>
                <p:nvPr/>
              </p:nvSpPr>
              <p:spPr bwMode="auto">
                <a:xfrm>
                  <a:off x="1180" y="480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5" name="Group 51"/>
              <p:cNvGrpSpPr/>
              <p:nvPr/>
            </p:nvGrpSpPr>
            <p:grpSpPr bwMode="auto">
              <a:xfrm>
                <a:off x="1986" y="480"/>
                <a:ext cx="806" cy="384"/>
                <a:chOff x="1986" y="480"/>
                <a:chExt cx="806" cy="384"/>
              </a:xfrm>
            </p:grpSpPr>
            <p:sp>
              <p:nvSpPr>
                <p:cNvPr id="61519" name="Rectangle 12"/>
                <p:cNvSpPr>
                  <a:spLocks noChangeArrowheads="1"/>
                </p:cNvSpPr>
                <p:nvPr/>
              </p:nvSpPr>
              <p:spPr bwMode="auto">
                <a:xfrm>
                  <a:off x="2029" y="480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3809.52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20" name="Rectangle 50"/>
                <p:cNvSpPr>
                  <a:spLocks noChangeArrowheads="1"/>
                </p:cNvSpPr>
                <p:nvPr/>
              </p:nvSpPr>
              <p:spPr bwMode="auto">
                <a:xfrm>
                  <a:off x="1986" y="480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6" name="Group 53"/>
              <p:cNvGrpSpPr/>
              <p:nvPr/>
            </p:nvGrpSpPr>
            <p:grpSpPr bwMode="auto">
              <a:xfrm>
                <a:off x="2792" y="480"/>
                <a:ext cx="950" cy="384"/>
                <a:chOff x="2792" y="480"/>
                <a:chExt cx="950" cy="384"/>
              </a:xfrm>
            </p:grpSpPr>
            <p:sp>
              <p:nvSpPr>
                <p:cNvPr id="61517" name="Rectangle 13"/>
                <p:cNvSpPr>
                  <a:spLocks noChangeArrowheads="1"/>
                </p:cNvSpPr>
                <p:nvPr/>
              </p:nvSpPr>
              <p:spPr bwMode="auto">
                <a:xfrm>
                  <a:off x="2835" y="480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3809.52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18" name="Rectangle 52"/>
                <p:cNvSpPr>
                  <a:spLocks noChangeArrowheads="1"/>
                </p:cNvSpPr>
                <p:nvPr/>
              </p:nvSpPr>
              <p:spPr bwMode="auto">
                <a:xfrm>
                  <a:off x="2792" y="480"/>
                  <a:ext cx="950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7" name="Group 55"/>
              <p:cNvGrpSpPr/>
              <p:nvPr/>
            </p:nvGrpSpPr>
            <p:grpSpPr bwMode="auto">
              <a:xfrm>
                <a:off x="0" y="864"/>
                <a:ext cx="374" cy="384"/>
                <a:chOff x="0" y="864"/>
                <a:chExt cx="374" cy="384"/>
              </a:xfrm>
            </p:grpSpPr>
            <p:sp>
              <p:nvSpPr>
                <p:cNvPr id="61515" name="Rectangle 14"/>
                <p:cNvSpPr>
                  <a:spLocks noChangeArrowheads="1"/>
                </p:cNvSpPr>
                <p:nvPr/>
              </p:nvSpPr>
              <p:spPr bwMode="auto">
                <a:xfrm>
                  <a:off x="43" y="864"/>
                  <a:ext cx="28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16" name="Rectangle 54"/>
                <p:cNvSpPr>
                  <a:spLocks noChangeArrowheads="1"/>
                </p:cNvSpPr>
                <p:nvPr/>
              </p:nvSpPr>
              <p:spPr bwMode="auto">
                <a:xfrm>
                  <a:off x="0" y="864"/>
                  <a:ext cx="374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8" name="Group 57"/>
              <p:cNvGrpSpPr/>
              <p:nvPr/>
            </p:nvGrpSpPr>
            <p:grpSpPr bwMode="auto">
              <a:xfrm>
                <a:off x="374" y="864"/>
                <a:ext cx="806" cy="384"/>
                <a:chOff x="374" y="864"/>
                <a:chExt cx="806" cy="384"/>
              </a:xfrm>
            </p:grpSpPr>
            <p:sp>
              <p:nvSpPr>
                <p:cNvPr id="61513" name="Rectangle 15"/>
                <p:cNvSpPr>
                  <a:spLocks noChangeArrowheads="1"/>
                </p:cNvSpPr>
                <p:nvPr/>
              </p:nvSpPr>
              <p:spPr bwMode="auto">
                <a:xfrm>
                  <a:off x="417" y="864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2500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14" name="Rectangle 56"/>
                <p:cNvSpPr>
                  <a:spLocks noChangeArrowheads="1"/>
                </p:cNvSpPr>
                <p:nvPr/>
              </p:nvSpPr>
              <p:spPr bwMode="auto">
                <a:xfrm>
                  <a:off x="374" y="864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59" name="Group 59"/>
              <p:cNvGrpSpPr/>
              <p:nvPr/>
            </p:nvGrpSpPr>
            <p:grpSpPr bwMode="auto">
              <a:xfrm>
                <a:off x="1180" y="864"/>
                <a:ext cx="806" cy="384"/>
                <a:chOff x="1180" y="864"/>
                <a:chExt cx="806" cy="384"/>
              </a:xfrm>
            </p:grpSpPr>
            <p:sp>
              <p:nvSpPr>
                <p:cNvPr id="61511" name="Rectangle 16"/>
                <p:cNvSpPr>
                  <a:spLocks noChangeArrowheads="1"/>
                </p:cNvSpPr>
                <p:nvPr/>
              </p:nvSpPr>
              <p:spPr bwMode="auto">
                <a:xfrm>
                  <a:off x="1223" y="864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1.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12" name="Rectangle 58"/>
                <p:cNvSpPr>
                  <a:spLocks noChangeArrowheads="1"/>
                </p:cNvSpPr>
                <p:nvPr/>
              </p:nvSpPr>
              <p:spPr bwMode="auto">
                <a:xfrm>
                  <a:off x="1180" y="864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0" name="Group 61"/>
              <p:cNvGrpSpPr/>
              <p:nvPr/>
            </p:nvGrpSpPr>
            <p:grpSpPr bwMode="auto">
              <a:xfrm>
                <a:off x="1986" y="864"/>
                <a:ext cx="806" cy="384"/>
                <a:chOff x="1986" y="864"/>
                <a:chExt cx="806" cy="384"/>
              </a:xfrm>
            </p:grpSpPr>
            <p:sp>
              <p:nvSpPr>
                <p:cNvPr id="61509" name="Rectangle 17"/>
                <p:cNvSpPr>
                  <a:spLocks noChangeArrowheads="1"/>
                </p:cNvSpPr>
                <p:nvPr/>
              </p:nvSpPr>
              <p:spPr bwMode="auto">
                <a:xfrm>
                  <a:off x="2029" y="864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22675.74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10" name="Rectangle 60"/>
                <p:cNvSpPr>
                  <a:spLocks noChangeArrowheads="1"/>
                </p:cNvSpPr>
                <p:nvPr/>
              </p:nvSpPr>
              <p:spPr bwMode="auto">
                <a:xfrm>
                  <a:off x="1986" y="864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1" name="Group 63"/>
              <p:cNvGrpSpPr/>
              <p:nvPr/>
            </p:nvGrpSpPr>
            <p:grpSpPr bwMode="auto">
              <a:xfrm>
                <a:off x="2792" y="864"/>
                <a:ext cx="950" cy="384"/>
                <a:chOff x="2792" y="864"/>
                <a:chExt cx="950" cy="384"/>
              </a:xfrm>
            </p:grpSpPr>
            <p:sp>
              <p:nvSpPr>
                <p:cNvPr id="61507" name="Rectangle 18"/>
                <p:cNvSpPr>
                  <a:spLocks noChangeArrowheads="1"/>
                </p:cNvSpPr>
                <p:nvPr/>
              </p:nvSpPr>
              <p:spPr bwMode="auto">
                <a:xfrm>
                  <a:off x="2835" y="864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46485.26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08" name="Rectangle 62"/>
                <p:cNvSpPr>
                  <a:spLocks noChangeArrowheads="1"/>
                </p:cNvSpPr>
                <p:nvPr/>
              </p:nvSpPr>
              <p:spPr bwMode="auto">
                <a:xfrm>
                  <a:off x="2792" y="864"/>
                  <a:ext cx="950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2" name="Group 65"/>
              <p:cNvGrpSpPr/>
              <p:nvPr/>
            </p:nvGrpSpPr>
            <p:grpSpPr bwMode="auto">
              <a:xfrm>
                <a:off x="0" y="1248"/>
                <a:ext cx="374" cy="384"/>
                <a:chOff x="0" y="1248"/>
                <a:chExt cx="374" cy="384"/>
              </a:xfrm>
            </p:grpSpPr>
            <p:sp>
              <p:nvSpPr>
                <p:cNvPr id="61505" name="Rectangle 19"/>
                <p:cNvSpPr>
                  <a:spLocks noChangeArrowheads="1"/>
                </p:cNvSpPr>
                <p:nvPr/>
              </p:nvSpPr>
              <p:spPr bwMode="auto">
                <a:xfrm>
                  <a:off x="43" y="1248"/>
                  <a:ext cx="28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3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06" name="Rectangle 64"/>
                <p:cNvSpPr>
                  <a:spLocks noChangeArrowheads="1"/>
                </p:cNvSpPr>
                <p:nvPr/>
              </p:nvSpPr>
              <p:spPr bwMode="auto">
                <a:xfrm>
                  <a:off x="0" y="1248"/>
                  <a:ext cx="374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3" name="Group 67"/>
              <p:cNvGrpSpPr/>
              <p:nvPr/>
            </p:nvGrpSpPr>
            <p:grpSpPr bwMode="auto">
              <a:xfrm>
                <a:off x="374" y="1248"/>
                <a:ext cx="806" cy="384"/>
                <a:chOff x="374" y="1248"/>
                <a:chExt cx="806" cy="384"/>
              </a:xfrm>
            </p:grpSpPr>
            <p:sp>
              <p:nvSpPr>
                <p:cNvPr id="61503" name="Rectangle 20"/>
                <p:cNvSpPr>
                  <a:spLocks noChangeArrowheads="1"/>
                </p:cNvSpPr>
                <p:nvPr/>
              </p:nvSpPr>
              <p:spPr bwMode="auto">
                <a:xfrm>
                  <a:off x="417" y="1248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2500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04" name="Rectangle 66"/>
                <p:cNvSpPr>
                  <a:spLocks noChangeArrowheads="1"/>
                </p:cNvSpPr>
                <p:nvPr/>
              </p:nvSpPr>
              <p:spPr bwMode="auto">
                <a:xfrm>
                  <a:off x="374" y="1248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4" name="Group 69"/>
              <p:cNvGrpSpPr/>
              <p:nvPr/>
            </p:nvGrpSpPr>
            <p:grpSpPr bwMode="auto">
              <a:xfrm>
                <a:off x="1180" y="1248"/>
                <a:ext cx="806" cy="384"/>
                <a:chOff x="1180" y="1248"/>
                <a:chExt cx="806" cy="384"/>
              </a:xfrm>
            </p:grpSpPr>
            <p:sp>
              <p:nvSpPr>
                <p:cNvPr id="61501" name="Rectangle 21"/>
                <p:cNvSpPr>
                  <a:spLocks noChangeArrowheads="1"/>
                </p:cNvSpPr>
                <p:nvPr/>
              </p:nvSpPr>
              <p:spPr bwMode="auto">
                <a:xfrm>
                  <a:off x="1223" y="1248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1.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16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02" name="Rectangle 68"/>
                <p:cNvSpPr>
                  <a:spLocks noChangeArrowheads="1"/>
                </p:cNvSpPr>
                <p:nvPr/>
              </p:nvSpPr>
              <p:spPr bwMode="auto">
                <a:xfrm>
                  <a:off x="1180" y="1248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5" name="Group 71"/>
              <p:cNvGrpSpPr/>
              <p:nvPr/>
            </p:nvGrpSpPr>
            <p:grpSpPr bwMode="auto">
              <a:xfrm>
                <a:off x="1986" y="1248"/>
                <a:ext cx="806" cy="384"/>
                <a:chOff x="1986" y="1248"/>
                <a:chExt cx="806" cy="384"/>
              </a:xfrm>
            </p:grpSpPr>
            <p:sp>
              <p:nvSpPr>
                <p:cNvPr id="61499" name="Rectangle 22"/>
                <p:cNvSpPr>
                  <a:spLocks noChangeArrowheads="1"/>
                </p:cNvSpPr>
                <p:nvPr/>
              </p:nvSpPr>
              <p:spPr bwMode="auto">
                <a:xfrm>
                  <a:off x="2029" y="1248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21595.94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500" name="Rectangle 70"/>
                <p:cNvSpPr>
                  <a:spLocks noChangeArrowheads="1"/>
                </p:cNvSpPr>
                <p:nvPr/>
              </p:nvSpPr>
              <p:spPr bwMode="auto">
                <a:xfrm>
                  <a:off x="1986" y="1248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6" name="Group 73"/>
              <p:cNvGrpSpPr/>
              <p:nvPr/>
            </p:nvGrpSpPr>
            <p:grpSpPr bwMode="auto">
              <a:xfrm>
                <a:off x="2792" y="1248"/>
                <a:ext cx="950" cy="384"/>
                <a:chOff x="2792" y="1248"/>
                <a:chExt cx="950" cy="384"/>
              </a:xfrm>
            </p:grpSpPr>
            <p:sp>
              <p:nvSpPr>
                <p:cNvPr id="61497" name="Rectangle 23"/>
                <p:cNvSpPr>
                  <a:spLocks noChangeArrowheads="1"/>
                </p:cNvSpPr>
                <p:nvPr/>
              </p:nvSpPr>
              <p:spPr bwMode="auto">
                <a:xfrm>
                  <a:off x="2835" y="1248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68081.20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98" name="Rectangle 72"/>
                <p:cNvSpPr>
                  <a:spLocks noChangeArrowheads="1"/>
                </p:cNvSpPr>
                <p:nvPr/>
              </p:nvSpPr>
              <p:spPr bwMode="auto">
                <a:xfrm>
                  <a:off x="2792" y="1248"/>
                  <a:ext cx="950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7" name="Group 75"/>
              <p:cNvGrpSpPr/>
              <p:nvPr/>
            </p:nvGrpSpPr>
            <p:grpSpPr bwMode="auto">
              <a:xfrm>
                <a:off x="0" y="1632"/>
                <a:ext cx="374" cy="384"/>
                <a:chOff x="0" y="1632"/>
                <a:chExt cx="374" cy="384"/>
              </a:xfrm>
            </p:grpSpPr>
            <p:sp>
              <p:nvSpPr>
                <p:cNvPr id="61495" name="Rectangle 24"/>
                <p:cNvSpPr>
                  <a:spLocks noChangeArrowheads="1"/>
                </p:cNvSpPr>
                <p:nvPr/>
              </p:nvSpPr>
              <p:spPr bwMode="auto">
                <a:xfrm>
                  <a:off x="43" y="1632"/>
                  <a:ext cx="28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4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96" name="Rectangle 74"/>
                <p:cNvSpPr>
                  <a:spLocks noChangeArrowheads="1"/>
                </p:cNvSpPr>
                <p:nvPr/>
              </p:nvSpPr>
              <p:spPr bwMode="auto">
                <a:xfrm>
                  <a:off x="0" y="1632"/>
                  <a:ext cx="374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8" name="Group 77"/>
              <p:cNvGrpSpPr/>
              <p:nvPr/>
            </p:nvGrpSpPr>
            <p:grpSpPr bwMode="auto">
              <a:xfrm>
                <a:off x="374" y="1632"/>
                <a:ext cx="806" cy="384"/>
                <a:chOff x="374" y="1632"/>
                <a:chExt cx="806" cy="384"/>
              </a:xfrm>
            </p:grpSpPr>
            <p:sp>
              <p:nvSpPr>
                <p:cNvPr id="61493" name="Rectangle 25"/>
                <p:cNvSpPr>
                  <a:spLocks noChangeArrowheads="1"/>
                </p:cNvSpPr>
                <p:nvPr/>
              </p:nvSpPr>
              <p:spPr bwMode="auto">
                <a:xfrm>
                  <a:off x="417" y="1632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2500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94" name="Rectangle 76"/>
                <p:cNvSpPr>
                  <a:spLocks noChangeArrowheads="1"/>
                </p:cNvSpPr>
                <p:nvPr/>
              </p:nvSpPr>
              <p:spPr bwMode="auto">
                <a:xfrm>
                  <a:off x="374" y="1632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69" name="Group 79"/>
              <p:cNvGrpSpPr/>
              <p:nvPr/>
            </p:nvGrpSpPr>
            <p:grpSpPr bwMode="auto">
              <a:xfrm>
                <a:off x="1180" y="1632"/>
                <a:ext cx="806" cy="384"/>
                <a:chOff x="1180" y="1632"/>
                <a:chExt cx="806" cy="384"/>
              </a:xfrm>
            </p:grpSpPr>
            <p:sp>
              <p:nvSpPr>
                <p:cNvPr id="61491" name="Rectangle 26"/>
                <p:cNvSpPr>
                  <a:spLocks noChangeArrowheads="1"/>
                </p:cNvSpPr>
                <p:nvPr/>
              </p:nvSpPr>
              <p:spPr bwMode="auto">
                <a:xfrm>
                  <a:off x="1223" y="1632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1.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22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92" name="Rectangle 78"/>
                <p:cNvSpPr>
                  <a:spLocks noChangeArrowheads="1"/>
                </p:cNvSpPr>
                <p:nvPr/>
              </p:nvSpPr>
              <p:spPr bwMode="auto">
                <a:xfrm>
                  <a:off x="1180" y="1632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0" name="Group 81"/>
              <p:cNvGrpSpPr/>
              <p:nvPr/>
            </p:nvGrpSpPr>
            <p:grpSpPr bwMode="auto">
              <a:xfrm>
                <a:off x="1986" y="1632"/>
                <a:ext cx="806" cy="384"/>
                <a:chOff x="1986" y="1632"/>
                <a:chExt cx="806" cy="384"/>
              </a:xfrm>
            </p:grpSpPr>
            <p:sp>
              <p:nvSpPr>
                <p:cNvPr id="61489" name="Rectangle 27"/>
                <p:cNvSpPr>
                  <a:spLocks noChangeArrowheads="1"/>
                </p:cNvSpPr>
                <p:nvPr/>
              </p:nvSpPr>
              <p:spPr bwMode="auto">
                <a:xfrm>
                  <a:off x="2029" y="1632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20567.56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90" name="Rectangle 80"/>
                <p:cNvSpPr>
                  <a:spLocks noChangeArrowheads="1"/>
                </p:cNvSpPr>
                <p:nvPr/>
              </p:nvSpPr>
              <p:spPr bwMode="auto">
                <a:xfrm>
                  <a:off x="1986" y="1632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1" name="Group 83"/>
              <p:cNvGrpSpPr/>
              <p:nvPr/>
            </p:nvGrpSpPr>
            <p:grpSpPr bwMode="auto">
              <a:xfrm>
                <a:off x="2792" y="1632"/>
                <a:ext cx="950" cy="384"/>
                <a:chOff x="2792" y="1632"/>
                <a:chExt cx="950" cy="384"/>
              </a:xfrm>
            </p:grpSpPr>
            <p:sp>
              <p:nvSpPr>
                <p:cNvPr id="61487" name="Rectangle 28"/>
                <p:cNvSpPr>
                  <a:spLocks noChangeArrowheads="1"/>
                </p:cNvSpPr>
                <p:nvPr/>
              </p:nvSpPr>
              <p:spPr bwMode="auto">
                <a:xfrm>
                  <a:off x="2835" y="1632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88648.76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88" name="Rectangle 82"/>
                <p:cNvSpPr>
                  <a:spLocks noChangeArrowheads="1"/>
                </p:cNvSpPr>
                <p:nvPr/>
              </p:nvSpPr>
              <p:spPr bwMode="auto">
                <a:xfrm>
                  <a:off x="2792" y="1632"/>
                  <a:ext cx="950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2" name="Group 85"/>
              <p:cNvGrpSpPr/>
              <p:nvPr/>
            </p:nvGrpSpPr>
            <p:grpSpPr bwMode="auto">
              <a:xfrm>
                <a:off x="0" y="2016"/>
                <a:ext cx="374" cy="384"/>
                <a:chOff x="0" y="2016"/>
                <a:chExt cx="374" cy="384"/>
              </a:xfrm>
            </p:grpSpPr>
            <p:sp>
              <p:nvSpPr>
                <p:cNvPr id="61485" name="Rectangle 29"/>
                <p:cNvSpPr>
                  <a:spLocks noChangeArrowheads="1"/>
                </p:cNvSpPr>
                <p:nvPr/>
              </p:nvSpPr>
              <p:spPr bwMode="auto">
                <a:xfrm>
                  <a:off x="43" y="2016"/>
                  <a:ext cx="288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5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86" name="Rectangle 84"/>
                <p:cNvSpPr>
                  <a:spLocks noChangeArrowheads="1"/>
                </p:cNvSpPr>
                <p:nvPr/>
              </p:nvSpPr>
              <p:spPr bwMode="auto">
                <a:xfrm>
                  <a:off x="0" y="2016"/>
                  <a:ext cx="374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3" name="Group 87"/>
              <p:cNvGrpSpPr/>
              <p:nvPr/>
            </p:nvGrpSpPr>
            <p:grpSpPr bwMode="auto">
              <a:xfrm>
                <a:off x="374" y="2016"/>
                <a:ext cx="806" cy="384"/>
                <a:chOff x="374" y="2016"/>
                <a:chExt cx="806" cy="384"/>
              </a:xfrm>
            </p:grpSpPr>
            <p:sp>
              <p:nvSpPr>
                <p:cNvPr id="61483" name="Rectangle 30"/>
                <p:cNvSpPr>
                  <a:spLocks noChangeArrowheads="1"/>
                </p:cNvSpPr>
                <p:nvPr/>
              </p:nvSpPr>
              <p:spPr bwMode="auto">
                <a:xfrm>
                  <a:off x="417" y="2016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2500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0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84" name="Rectangle 86"/>
                <p:cNvSpPr>
                  <a:spLocks noChangeArrowheads="1"/>
                </p:cNvSpPr>
                <p:nvPr/>
              </p:nvSpPr>
              <p:spPr bwMode="auto">
                <a:xfrm>
                  <a:off x="374" y="2016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4" name="Group 89"/>
              <p:cNvGrpSpPr/>
              <p:nvPr/>
            </p:nvGrpSpPr>
            <p:grpSpPr bwMode="auto">
              <a:xfrm>
                <a:off x="1180" y="2016"/>
                <a:ext cx="806" cy="384"/>
                <a:chOff x="1180" y="2016"/>
                <a:chExt cx="806" cy="384"/>
              </a:xfrm>
            </p:grpSpPr>
            <p:sp>
              <p:nvSpPr>
                <p:cNvPr id="61481" name="Rectangle 31"/>
                <p:cNvSpPr>
                  <a:spLocks noChangeArrowheads="1"/>
                </p:cNvSpPr>
                <p:nvPr/>
              </p:nvSpPr>
              <p:spPr bwMode="auto">
                <a:xfrm>
                  <a:off x="1223" y="2016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1.</a:t>
                  </a:r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28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82" name="Rectangle 88"/>
                <p:cNvSpPr>
                  <a:spLocks noChangeArrowheads="1"/>
                </p:cNvSpPr>
                <p:nvPr/>
              </p:nvSpPr>
              <p:spPr bwMode="auto">
                <a:xfrm>
                  <a:off x="1180" y="2016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5" name="Group 91"/>
              <p:cNvGrpSpPr/>
              <p:nvPr/>
            </p:nvGrpSpPr>
            <p:grpSpPr bwMode="auto">
              <a:xfrm>
                <a:off x="1986" y="2016"/>
                <a:ext cx="806" cy="384"/>
                <a:chOff x="1986" y="2016"/>
                <a:chExt cx="806" cy="384"/>
              </a:xfrm>
            </p:grpSpPr>
            <p:sp>
              <p:nvSpPr>
                <p:cNvPr id="61479" name="Rectangle 32"/>
                <p:cNvSpPr>
                  <a:spLocks noChangeArrowheads="1"/>
                </p:cNvSpPr>
                <p:nvPr/>
              </p:nvSpPr>
              <p:spPr bwMode="auto">
                <a:xfrm>
                  <a:off x="2029" y="2016"/>
                  <a:ext cx="720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19588.15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80" name="Rectangle 90"/>
                <p:cNvSpPr>
                  <a:spLocks noChangeArrowheads="1"/>
                </p:cNvSpPr>
                <p:nvPr/>
              </p:nvSpPr>
              <p:spPr bwMode="auto">
                <a:xfrm>
                  <a:off x="1986" y="2016"/>
                  <a:ext cx="806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1476" name="Group 93"/>
              <p:cNvGrpSpPr/>
              <p:nvPr/>
            </p:nvGrpSpPr>
            <p:grpSpPr bwMode="auto">
              <a:xfrm>
                <a:off x="2792" y="2016"/>
                <a:ext cx="950" cy="384"/>
                <a:chOff x="2792" y="2016"/>
                <a:chExt cx="950" cy="384"/>
              </a:xfrm>
            </p:grpSpPr>
            <p:sp>
              <p:nvSpPr>
                <p:cNvPr id="61477" name="Rectangle 33"/>
                <p:cNvSpPr>
                  <a:spLocks noChangeArrowheads="1"/>
                </p:cNvSpPr>
                <p:nvPr/>
              </p:nvSpPr>
              <p:spPr bwMode="auto">
                <a:xfrm>
                  <a:off x="2835" y="2016"/>
                  <a:ext cx="864" cy="38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108236.91</a:t>
                  </a:r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  <a:p>
                  <a:pPr algn="ctr"/>
                  <a:endParaRPr lang="zh-CN" altLang="en-US" b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sp>
              <p:nvSpPr>
                <p:cNvPr id="61478" name="Rectangle 92"/>
                <p:cNvSpPr>
                  <a:spLocks noChangeArrowheads="1"/>
                </p:cNvSpPr>
                <p:nvPr/>
              </p:nvSpPr>
              <p:spPr bwMode="auto">
                <a:xfrm>
                  <a:off x="2792" y="2016"/>
                  <a:ext cx="950" cy="384"/>
                </a:xfrm>
                <a:prstGeom prst="rect">
                  <a:avLst/>
                </a:prstGeom>
                <a:noFill/>
                <a:ln w="7" cap="sq">
                  <a:solidFill>
                    <a:srgbClr val="A0A0A0"/>
                  </a:solidFill>
                  <a:miter lim="800000"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>
                    <a:solidFill>
                      <a:srgbClr val="000000"/>
                    </a:solidFill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1446" name="Rectangle 95"/>
            <p:cNvSpPr>
              <a:spLocks noChangeArrowheads="1"/>
            </p:cNvSpPr>
            <p:nvPr/>
          </p:nvSpPr>
          <p:spPr bwMode="auto">
            <a:xfrm>
              <a:off x="486" y="984"/>
              <a:ext cx="4752" cy="3051"/>
            </a:xfrm>
            <a:prstGeom prst="rect">
              <a:avLst/>
            </a:prstGeom>
            <a:noFill/>
            <a:ln w="9525" cap="sq">
              <a:solidFill>
                <a:srgbClr val="A0A0A0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2) </a:t>
            </a:r>
            <a:r>
              <a:rPr lang="zh-CN" altLang="en-US" smtClean="0"/>
              <a:t>投资回收期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noProof="1"/>
              <a:t>即多长时间可以收回成本</a:t>
            </a:r>
            <a:r>
              <a:rPr lang="en-US" altLang="zh-CN" noProof="1"/>
              <a:t>(50000</a:t>
            </a:r>
            <a:r>
              <a:rPr lang="zh-CN" altLang="en-US" noProof="1"/>
              <a:t>元</a:t>
            </a:r>
            <a:r>
              <a:rPr lang="en-US" altLang="zh-CN" noProof="1"/>
              <a:t>)</a:t>
            </a:r>
            <a:r>
              <a:rPr lang="zh-CN" altLang="en-US" noProof="1"/>
              <a:t>。</a:t>
            </a:r>
            <a:endParaRPr lang="zh-CN" altLang="en-US" noProof="1"/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noProof="1"/>
              <a:t>前</a:t>
            </a:r>
            <a:r>
              <a:rPr lang="en-US" altLang="zh-CN" noProof="1"/>
              <a:t>2</a:t>
            </a:r>
            <a:r>
              <a:rPr lang="zh-CN" altLang="en-US" noProof="1"/>
              <a:t>年回收</a:t>
            </a:r>
            <a:r>
              <a:rPr lang="en-US" altLang="zh-CN" noProof="1"/>
              <a:t>46485.26</a:t>
            </a:r>
            <a:r>
              <a:rPr lang="zh-CN" altLang="en-US" noProof="1"/>
              <a:t>元，还有</a:t>
            </a:r>
            <a:r>
              <a:rPr lang="en-US" altLang="zh-CN" noProof="1"/>
              <a:t>50000-</a:t>
            </a:r>
            <a:r>
              <a:rPr lang="en-US" altLang="zh-CN" noProof="1">
                <a:solidFill>
                  <a:srgbClr val="FF0000"/>
                </a:solidFill>
              </a:rPr>
              <a:t>46485.26</a:t>
            </a:r>
            <a:r>
              <a:rPr lang="en-US" altLang="zh-CN" noProof="1"/>
              <a:t>=3514.74</a:t>
            </a:r>
            <a:r>
              <a:rPr lang="zh-CN" altLang="en-US" noProof="1"/>
              <a:t>元需要回收；</a:t>
            </a:r>
            <a:endParaRPr lang="zh-CN" altLang="en-US" noProof="1"/>
          </a:p>
          <a:p>
            <a:pPr marL="514350" indent="-514350">
              <a:buFont typeface="+mj-ea"/>
              <a:buAutoNum type="circleNumDbPlain"/>
              <a:defRPr/>
            </a:pPr>
            <a:r>
              <a:rPr lang="en-US" altLang="zh-CN" noProof="1"/>
              <a:t>3514.74/</a:t>
            </a:r>
            <a:r>
              <a:rPr lang="en-US" altLang="zh-CN" noProof="1">
                <a:solidFill>
                  <a:srgbClr val="FF0000"/>
                </a:solidFill>
              </a:rPr>
              <a:t>21595.94</a:t>
            </a:r>
            <a:r>
              <a:rPr lang="en-US" altLang="zh-CN" noProof="1"/>
              <a:t>=0.16</a:t>
            </a:r>
            <a:r>
              <a:rPr lang="zh-CN" altLang="en-US" noProof="1"/>
              <a:t>年；</a:t>
            </a:r>
            <a:endParaRPr lang="zh-CN" altLang="en-US" noProof="1"/>
          </a:p>
          <a:p>
            <a:pPr marL="514350" indent="-514350">
              <a:buFont typeface="+mj-ea"/>
              <a:buAutoNum type="circleNumDbPlain"/>
              <a:defRPr/>
            </a:pPr>
            <a:r>
              <a:rPr lang="zh-CN" altLang="en-US" noProof="1"/>
              <a:t>因此，投资回收期为</a:t>
            </a:r>
            <a:r>
              <a:rPr lang="en-US" altLang="zh-CN" noProof="1"/>
              <a:t>2.16</a:t>
            </a:r>
            <a:r>
              <a:rPr lang="zh-CN" altLang="en-US" noProof="1"/>
              <a:t>年。</a:t>
            </a:r>
            <a:endParaRPr lang="zh-CN" altLang="en-US" noProof="1"/>
          </a:p>
          <a:p>
            <a:pPr marL="514350" indent="-514350">
              <a:buFont typeface="+mj-ea"/>
              <a:buAutoNum type="circleNumDbPlain"/>
              <a:defRPr/>
            </a:pPr>
            <a:endParaRPr lang="zh-CN" altLang="en-US" noProof="1"/>
          </a:p>
        </p:txBody>
      </p:sp>
      <p:sp>
        <p:nvSpPr>
          <p:cNvPr id="6246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9F6F3C5-1AC9-4074-B59D-429B4DDE57C0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3) </a:t>
            </a:r>
            <a:r>
              <a:rPr lang="zh-CN" altLang="en-US" smtClean="0"/>
              <a:t>纯收入</a:t>
            </a:r>
            <a:endParaRPr lang="zh-CN" altLang="en-US" smtClean="0"/>
          </a:p>
        </p:txBody>
      </p:sp>
      <p:sp>
        <p:nvSpPr>
          <p:cNvPr id="63491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zh-CN" altLang="en-US" smtClean="0"/>
              <a:t>累计的现在值</a:t>
            </a:r>
            <a:r>
              <a:rPr lang="en-US" altLang="zh-CN" smtClean="0"/>
              <a:t>-</a:t>
            </a:r>
            <a:r>
              <a:rPr lang="zh-CN" altLang="en-US" smtClean="0"/>
              <a:t>成本（或投资额）</a:t>
            </a:r>
            <a:endParaRPr lang="zh-CN" altLang="en-US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mtClean="0"/>
              <a:t>=108236.91-50000</a:t>
            </a:r>
            <a:endParaRPr lang="en-US" altLang="zh-CN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mtClean="0"/>
              <a:t>=58236.91 </a:t>
            </a:r>
            <a:r>
              <a:rPr lang="zh-CN" altLang="en-US" smtClean="0"/>
              <a:t>元</a:t>
            </a:r>
            <a:endParaRPr lang="zh-CN" altLang="en-US" smtClean="0"/>
          </a:p>
        </p:txBody>
      </p:sp>
      <p:sp>
        <p:nvSpPr>
          <p:cNvPr id="6349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9BFA90-569A-4858-9B42-CB96927092D5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  <p:bldP spid="63491" grpI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4) </a:t>
            </a:r>
            <a:r>
              <a:rPr lang="zh-CN" altLang="en-US" dirty="0" smtClean="0"/>
              <a:t>投资回收率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2010410"/>
            <a:ext cx="8676640" cy="431419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</a:rPr>
              <a:t>投资回收率（</a:t>
            </a:r>
            <a:r>
              <a:rPr lang="en-US" altLang="zh-CN" sz="2400" noProof="1">
                <a:solidFill>
                  <a:srgbClr val="FF0000"/>
                </a:solidFill>
              </a:rPr>
              <a:t>ROI</a:t>
            </a:r>
            <a:r>
              <a:rPr lang="zh-CN" altLang="en-US" sz="2400" noProof="1">
                <a:solidFill>
                  <a:srgbClr val="FF0000"/>
                </a:solidFill>
              </a:rPr>
              <a:t>，</a:t>
            </a:r>
            <a:r>
              <a:rPr lang="en-US" altLang="zh-CN" sz="2400" noProof="1">
                <a:solidFill>
                  <a:srgbClr val="FF0000"/>
                </a:solidFill>
              </a:rPr>
              <a:t>Return on Investment</a:t>
            </a:r>
            <a:r>
              <a:rPr lang="zh-CN" altLang="en-US" sz="2400" noProof="1">
                <a:solidFill>
                  <a:srgbClr val="FF0000"/>
                </a:solidFill>
              </a:rPr>
              <a:t>）</a:t>
            </a:r>
            <a:r>
              <a:rPr lang="zh-CN" altLang="en-US" sz="2400" noProof="1"/>
              <a:t>是指通过投资而应返回的价值，即企业从一项投资性商业活动的投资中得到的经济回报，核心是衡量</a:t>
            </a:r>
            <a:r>
              <a:rPr lang="zh-CN" altLang="en-US" sz="2400" noProof="1">
                <a:solidFill>
                  <a:srgbClr val="FF0000"/>
                </a:solidFill>
              </a:rPr>
              <a:t>投资的盈利效率</a:t>
            </a:r>
            <a:r>
              <a:rPr lang="zh-CN" altLang="en-US" sz="2400" noProof="1"/>
              <a:t>。</a:t>
            </a:r>
            <a:endParaRPr lang="zh-CN" altLang="en-US" sz="2400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noProof="1"/>
              <a:t> </a:t>
            </a:r>
            <a:endParaRPr lang="en-US" altLang="zh-CN" sz="2400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noProof="1"/>
              <a:t>如何计算：</a:t>
            </a:r>
            <a:endParaRPr lang="zh-CN" altLang="en-US" sz="2400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noProof="1"/>
              <a:t>投资回收率</a:t>
            </a:r>
            <a:r>
              <a:rPr lang="en-US" altLang="zh-CN" sz="2400" noProof="1"/>
              <a:t> = </a:t>
            </a:r>
            <a:r>
              <a:rPr lang="zh-CN" altLang="en-US" sz="2400" noProof="1"/>
              <a:t>（投资收益</a:t>
            </a:r>
            <a:r>
              <a:rPr lang="en-US" altLang="zh-CN" sz="2400" noProof="1"/>
              <a:t> - </a:t>
            </a:r>
            <a:r>
              <a:rPr lang="zh-CN" altLang="en-US" sz="2400" noProof="1"/>
              <a:t>投资成本）</a:t>
            </a:r>
            <a:r>
              <a:rPr lang="en-US" altLang="en-US" sz="2400" noProof="1"/>
              <a:t>÷</a:t>
            </a:r>
            <a:r>
              <a:rPr lang="en-US" altLang="zh-CN" sz="2400" noProof="1"/>
              <a:t> </a:t>
            </a:r>
            <a:r>
              <a:rPr lang="zh-CN" altLang="en-US" sz="2400" noProof="1"/>
              <a:t>投资成本</a:t>
            </a:r>
            <a:r>
              <a:rPr lang="en-US" altLang="zh-CN" sz="2400" noProof="1"/>
              <a:t> </a:t>
            </a:r>
            <a:r>
              <a:rPr lang="en-US" altLang="en-US" sz="2400" noProof="1"/>
              <a:t>×</a:t>
            </a:r>
            <a:r>
              <a:rPr lang="en-US" altLang="zh-CN" sz="2400" noProof="1"/>
              <a:t> 100%</a:t>
            </a:r>
            <a:endParaRPr lang="zh-CN" altLang="en-US" sz="2400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400" noProof="1"/>
              <a:t> </a:t>
            </a:r>
            <a:endParaRPr lang="en-US" altLang="zh-CN" sz="2400" noProof="1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400" noProof="1"/>
              <a:t>例如，若以</a:t>
            </a:r>
            <a:r>
              <a:rPr lang="en-US" altLang="zh-CN" sz="2400" noProof="1"/>
              <a:t>100</a:t>
            </a:r>
            <a:r>
              <a:rPr lang="zh-CN" altLang="en-US" sz="2400" noProof="1"/>
              <a:t>万元成本投资一个项目，最终获得</a:t>
            </a:r>
            <a:r>
              <a:rPr lang="en-US" altLang="zh-CN" sz="2400" noProof="1"/>
              <a:t>150</a:t>
            </a:r>
            <a:r>
              <a:rPr lang="zh-CN" altLang="en-US" sz="2400" noProof="1"/>
              <a:t>万元收益，该项目的投资回收率即为（</a:t>
            </a:r>
            <a:r>
              <a:rPr lang="en-US" altLang="zh-CN" sz="2400" noProof="1"/>
              <a:t>150-100</a:t>
            </a:r>
            <a:r>
              <a:rPr lang="zh-CN" altLang="en-US" sz="2400" noProof="1"/>
              <a:t>）</a:t>
            </a:r>
            <a:r>
              <a:rPr lang="en-US" altLang="en-US" sz="2400" noProof="1"/>
              <a:t>÷</a:t>
            </a:r>
            <a:r>
              <a:rPr lang="en-US" altLang="zh-CN" sz="2400" noProof="1"/>
              <a:t>100</a:t>
            </a:r>
            <a:r>
              <a:rPr lang="en-US" altLang="en-US" sz="2400" noProof="1"/>
              <a:t>×</a:t>
            </a:r>
            <a:r>
              <a:rPr lang="en-US" altLang="zh-CN" sz="2400" noProof="1"/>
              <a:t>100% = 50%</a:t>
            </a:r>
            <a:r>
              <a:rPr lang="zh-CN" altLang="en-US" sz="2400" noProof="1"/>
              <a:t>。</a:t>
            </a:r>
            <a:endParaRPr lang="zh-CN" altLang="en-US" sz="2400" noProof="1"/>
          </a:p>
        </p:txBody>
      </p:sp>
      <p:sp>
        <p:nvSpPr>
          <p:cNvPr id="6451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324021-7CBD-4DAB-85D7-1122540BAA7D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投资回收率</a:t>
            </a:r>
            <a:r>
              <a:rPr lang="en-US" altLang="zh-CN">
                <a:sym typeface="+mn-ea"/>
              </a:rPr>
              <a:t> = </a:t>
            </a:r>
            <a:r>
              <a:rPr lang="zh-CN" altLang="en-US">
                <a:sym typeface="+mn-ea"/>
              </a:rPr>
              <a:t>（投资收益</a:t>
            </a:r>
            <a:r>
              <a:rPr lang="en-US" altLang="zh-CN">
                <a:sym typeface="+mn-ea"/>
              </a:rPr>
              <a:t> - </a:t>
            </a:r>
            <a:r>
              <a:rPr lang="zh-CN" altLang="en-US">
                <a:sym typeface="+mn-ea"/>
              </a:rPr>
              <a:t>投资成本）</a:t>
            </a:r>
            <a:r>
              <a:rPr lang="en-US" altLang="en-US">
                <a:sym typeface="+mn-ea"/>
              </a:rPr>
              <a:t>÷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投资成本</a:t>
            </a:r>
            <a:r>
              <a:rPr lang="en-US" altLang="zh-CN">
                <a:sym typeface="+mn-ea"/>
              </a:rPr>
              <a:t> </a:t>
            </a:r>
            <a:r>
              <a:rPr lang="en-US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 100%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endParaRPr lang="en-US" altLang="zh-CN" noProof="1">
              <a:sym typeface="+mn-ea"/>
            </a:endParaRPr>
          </a:p>
          <a:p>
            <a:pPr marL="0" indent="0">
              <a:buNone/>
            </a:pPr>
            <a:r>
              <a:rPr lang="zh-CN" altLang="en-US">
                <a:sym typeface="+mn-ea"/>
              </a:rPr>
              <a:t>以上公式中，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“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投资收益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”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是将来值还是现在值？</a:t>
            </a:r>
            <a:endParaRPr lang="en-US" altLang="zh-CN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实际的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“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投资收益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</a:rPr>
              <a:t>”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在结算前是未知的，因而使用预期效益来估算。</a:t>
            </a:r>
            <a:endParaRPr lang="zh-CN" altLang="en-US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投资回收率的计算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605" y="2209800"/>
            <a:ext cx="8676640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noProof="1" smtClean="0"/>
              <a:t>假设下面的情形来计算投资回收率：      </a:t>
            </a:r>
            <a:endParaRPr lang="en-US" altLang="zh-CN" noProof="1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noProof="1" smtClean="0"/>
              <a:t>      将</a:t>
            </a:r>
            <a:r>
              <a:rPr lang="zh-CN" altLang="en-US" noProof="1">
                <a:solidFill>
                  <a:srgbClr val="0000FF"/>
                </a:solidFill>
              </a:rPr>
              <a:t>投资额（或成本</a:t>
            </a:r>
            <a:r>
              <a:rPr lang="zh-CN" altLang="en-US" noProof="1">
                <a:solidFill>
                  <a:srgbClr val="0000FF"/>
                </a:solidFill>
              </a:rPr>
              <a:t>）</a:t>
            </a:r>
            <a:r>
              <a:rPr lang="zh-CN" altLang="en-US" noProof="1"/>
              <a:t>存入银行，</a:t>
            </a:r>
            <a:r>
              <a:rPr lang="zh-CN" altLang="en-US" noProof="1">
                <a:solidFill>
                  <a:srgbClr val="0000FF"/>
                </a:solidFill>
              </a:rPr>
              <a:t>每年年底从银行取回的钱</a:t>
            </a:r>
            <a:r>
              <a:rPr lang="zh-CN" altLang="en-US" noProof="1"/>
              <a:t>等于每年的预期效益，时间等于</a:t>
            </a:r>
            <a:r>
              <a:rPr lang="zh-CN" altLang="en-US" noProof="1">
                <a:solidFill>
                  <a:srgbClr val="0000FF"/>
                </a:solidFill>
              </a:rPr>
              <a:t>系统寿命</a:t>
            </a:r>
            <a:r>
              <a:rPr lang="zh-CN" altLang="en-US" noProof="1"/>
              <a:t>时，正好把在银行的存款全部取完</a:t>
            </a:r>
            <a:r>
              <a:rPr lang="zh-CN" altLang="en-US" noProof="1" smtClean="0"/>
              <a:t>。</a:t>
            </a:r>
            <a:endParaRPr lang="en-US" altLang="zh-CN" noProof="1" smtClean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noProof="1" smtClean="0"/>
              <a:t>      </a:t>
            </a:r>
            <a:r>
              <a:rPr lang="zh-CN" altLang="en-US" u="sng" noProof="1" smtClean="0"/>
              <a:t>计算银行</a:t>
            </a:r>
            <a:r>
              <a:rPr lang="zh-CN" altLang="en-US" u="sng" noProof="1">
                <a:solidFill>
                  <a:srgbClr val="0000FF"/>
                </a:solidFill>
              </a:rPr>
              <a:t>年利率</a:t>
            </a:r>
            <a:r>
              <a:rPr lang="zh-CN" altLang="en-US" u="sng" noProof="1"/>
              <a:t>是多少？即投资回收率。</a:t>
            </a:r>
            <a:endParaRPr lang="zh-CN" altLang="en-US" u="sng" noProof="1"/>
          </a:p>
        </p:txBody>
      </p:sp>
      <p:sp>
        <p:nvSpPr>
          <p:cNvPr id="6451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2324021-7CBD-4DAB-85D7-1122540BAA7D}" type="datetime11">
              <a:rPr lang="zh-CN" altLang="en-US" sz="1400" smtClean="0"/>
            </a:fld>
            <a:endParaRPr lang="en-US" altLang="zh-CN" sz="1400" smtClean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FF0000"/>
                </a:solidFill>
              </a:rPr>
              <a:t>计算投资回收率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65539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8A03F87-1854-4E96-A180-DBE6416A2B95}" type="datetime11">
              <a:rPr lang="zh-CN" altLang="en-US" sz="1400" smtClean="0"/>
            </a:fld>
            <a:endParaRPr lang="en-US" altLang="zh-CN" sz="1400" smtClean="0"/>
          </a:p>
        </p:txBody>
      </p:sp>
      <p:graphicFrame>
        <p:nvGraphicFramePr>
          <p:cNvPr id="65540" name="内容占位符 4"/>
          <p:cNvGraphicFramePr>
            <a:graphicFrameLocks noGrp="1" noChangeAspect="1"/>
          </p:cNvGraphicFramePr>
          <p:nvPr>
            <p:ph idx="1"/>
          </p:nvPr>
        </p:nvGraphicFramePr>
        <p:xfrm>
          <a:off x="1047750" y="2146300"/>
          <a:ext cx="70596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47" name="" r:id="rId1" imgW="3429000" imgH="241300" progId="Equation.3">
                  <p:embed/>
                </p:oleObj>
              </mc:Choice>
              <mc:Fallback>
                <p:oleObj name="" r:id="rId1" imgW="3429000" imgH="241300" progId="Equation.3">
                  <p:embed/>
                  <p:pic>
                    <p:nvPicPr>
                      <p:cNvPr id="0" name="内容占位符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0" y="2146300"/>
                        <a:ext cx="70596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29005" y="2837180"/>
            <a:ext cx="770001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charset="0"/>
              <a:buChar char=""/>
              <a:defRPr/>
            </a:pPr>
            <a:r>
              <a:rPr lang="en-US" altLang="zh-CN" noProof="1"/>
              <a:t>P: </a:t>
            </a:r>
            <a:r>
              <a:rPr lang="zh-CN" altLang="en-US" noProof="1"/>
              <a:t>成本</a:t>
            </a:r>
            <a:r>
              <a:rPr lang="en-US" altLang="zh-CN" noProof="1"/>
              <a:t>/</a:t>
            </a:r>
            <a:r>
              <a:rPr lang="zh-CN" altLang="en-US" noProof="1"/>
              <a:t>投资额；</a:t>
            </a:r>
            <a:endParaRPr lang="zh-CN" altLang="en-US" noProof="1"/>
          </a:p>
          <a:p>
            <a:pPr marL="342900" indent="-342900">
              <a:buFont typeface="Wingdings" panose="05000000000000000000" charset="0"/>
              <a:buChar char=""/>
              <a:defRPr/>
            </a:pPr>
            <a:r>
              <a:rPr lang="en-US" altLang="zh-CN" noProof="1"/>
              <a:t>F</a:t>
            </a:r>
            <a:r>
              <a:rPr lang="en-US" altLang="zh-CN" baseline="-25000" noProof="1"/>
              <a:t>i</a:t>
            </a:r>
            <a:r>
              <a:rPr lang="en-US" altLang="zh-CN" noProof="1"/>
              <a:t>: </a:t>
            </a:r>
            <a:r>
              <a:rPr lang="zh-CN" altLang="en-US" noProof="1"/>
              <a:t>预计第</a:t>
            </a:r>
            <a:r>
              <a:rPr lang="en-US" altLang="zh-CN" noProof="1"/>
              <a:t>i</a:t>
            </a:r>
            <a:r>
              <a:rPr lang="zh-CN" altLang="en-US" noProof="1"/>
              <a:t>年（年底）的效益；</a:t>
            </a:r>
            <a:endParaRPr lang="zh-CN" altLang="en-US" noProof="1"/>
          </a:p>
          <a:p>
            <a:pPr marL="342900" indent="-342900">
              <a:buFont typeface="Wingdings" panose="05000000000000000000" charset="0"/>
              <a:buChar char=""/>
              <a:defRPr/>
            </a:pPr>
            <a:r>
              <a:rPr lang="en-US" altLang="zh-CN" noProof="1"/>
              <a:t>n</a:t>
            </a:r>
            <a:r>
              <a:rPr lang="zh-CN" altLang="en-US" noProof="1"/>
              <a:t>：系统的寿命；</a:t>
            </a:r>
            <a:endParaRPr lang="zh-CN" altLang="en-US" noProof="1"/>
          </a:p>
          <a:p>
            <a:pPr marL="342900" indent="-342900">
              <a:buFont typeface="Wingdings" panose="05000000000000000000" charset="0"/>
              <a:buChar char=""/>
              <a:defRPr/>
            </a:pPr>
            <a:r>
              <a:rPr lang="en-US" altLang="zh-CN" noProof="1">
                <a:solidFill>
                  <a:srgbClr val="FF0000"/>
                </a:solidFill>
              </a:rPr>
              <a:t>j: </a:t>
            </a:r>
            <a:r>
              <a:rPr lang="zh-CN" altLang="en-US" noProof="1">
                <a:solidFill>
                  <a:srgbClr val="FF0000"/>
                </a:solidFill>
              </a:rPr>
              <a:t>投资回收率</a:t>
            </a:r>
            <a:r>
              <a:rPr lang="zh-CN" altLang="en-US" noProof="1"/>
              <a:t>。</a:t>
            </a:r>
            <a:endParaRPr lang="zh-CN" altLang="en-US" noProof="1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FF0000"/>
                </a:solidFill>
              </a:rPr>
              <a:t>思考：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2060575"/>
            <a:ext cx="7876540" cy="4114800"/>
          </a:xfrm>
        </p:spPr>
        <p:txBody>
          <a:bodyPr/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、投资回收率</a:t>
            </a:r>
            <a:r>
              <a:rPr lang="en-US" altLang="zh-CN"/>
              <a:t> vs </a:t>
            </a:r>
            <a:r>
              <a:rPr lang="zh-CN" altLang="en-US"/>
              <a:t>（</a:t>
            </a:r>
            <a:r>
              <a:rPr lang="zh-CN" altLang="en-US">
                <a:solidFill>
                  <a:srgbClr val="FF0000"/>
                </a:solidFill>
                <a:highlight>
                  <a:srgbClr val="FFFF00"/>
                </a:highlight>
              </a:rPr>
              <a:t>实际的</a:t>
            </a:r>
            <a:r>
              <a:rPr lang="zh-CN" altLang="en-US"/>
              <a:t>）银行年利率的大小关系一般是怎样的？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en-US">
                <a:solidFill>
                  <a:srgbClr val="FF0000"/>
                </a:solidFill>
              </a:rPr>
              <a:t>投资回收率</a:t>
            </a:r>
            <a:r>
              <a:rPr lang="en-US" altLang="zh-CN">
                <a:solidFill>
                  <a:srgbClr val="FF0000"/>
                </a:solidFill>
              </a:rPr>
              <a:t>=</a:t>
            </a:r>
            <a:r>
              <a:rPr lang="zh-CN" altLang="en-US">
                <a:solidFill>
                  <a:srgbClr val="FF0000"/>
                </a:solidFill>
              </a:rPr>
              <a:t>银行年利率</a:t>
            </a:r>
            <a:r>
              <a:rPr lang="zh-CN" altLang="en-US"/>
              <a:t>意味着什么？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随</a:t>
            </a:r>
            <a:r>
              <a:rPr lang="zh-CN" altLang="en-US" dirty="0" smtClean="0"/>
              <a:t>堂练习</a:t>
            </a:r>
            <a:r>
              <a:rPr lang="en-US" altLang="zh-CN" dirty="0" smtClean="0"/>
              <a:t>-3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10 minutes</a:t>
            </a:r>
            <a:r>
              <a:rPr lang="zh-CN" altLang="en-US" dirty="0" smtClean="0"/>
              <a:t>）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zh-CN" dirty="0"/>
              <a:t>设计一个软件的开发成本为</a:t>
            </a:r>
            <a:r>
              <a:rPr lang="en-US" altLang="zh-CN" dirty="0"/>
              <a:t>50000</a:t>
            </a:r>
            <a:r>
              <a:rPr lang="zh-CN" altLang="zh-CN" dirty="0"/>
              <a:t>元，寿命为</a:t>
            </a:r>
            <a:r>
              <a:rPr lang="en-US" altLang="zh-CN" dirty="0"/>
              <a:t>3</a:t>
            </a:r>
            <a:r>
              <a:rPr lang="zh-CN" altLang="zh-CN" dirty="0"/>
              <a:t>年。这</a:t>
            </a:r>
            <a:r>
              <a:rPr lang="en-US" altLang="zh-CN" dirty="0"/>
              <a:t>3</a:t>
            </a:r>
            <a:r>
              <a:rPr lang="zh-CN" altLang="zh-CN" dirty="0"/>
              <a:t>年的每年收益预计分别为</a:t>
            </a:r>
            <a:r>
              <a:rPr lang="en-US" altLang="zh-CN" dirty="0"/>
              <a:t>22000</a:t>
            </a:r>
            <a:r>
              <a:rPr lang="zh-CN" altLang="zh-CN" dirty="0"/>
              <a:t>元、</a:t>
            </a:r>
            <a:r>
              <a:rPr lang="en-US" altLang="zh-CN" dirty="0"/>
              <a:t>24200</a:t>
            </a:r>
            <a:r>
              <a:rPr lang="zh-CN" altLang="zh-CN" dirty="0"/>
              <a:t>元、</a:t>
            </a:r>
            <a:r>
              <a:rPr lang="en-US" altLang="zh-CN" dirty="0"/>
              <a:t>26620</a:t>
            </a:r>
            <a:r>
              <a:rPr lang="zh-CN" altLang="zh-CN" dirty="0"/>
              <a:t>元。假定银行年利率为</a:t>
            </a:r>
            <a:r>
              <a:rPr lang="en-US" altLang="zh-CN" dirty="0"/>
              <a:t>10%</a:t>
            </a:r>
            <a:r>
              <a:rPr lang="zh-CN" altLang="zh-CN" dirty="0"/>
              <a:t>。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要求：对该项目进行成本</a:t>
            </a:r>
            <a:r>
              <a:rPr lang="en-US" altLang="zh-CN" dirty="0"/>
              <a:t>/</a:t>
            </a:r>
            <a:r>
              <a:rPr lang="zh-CN" altLang="zh-CN" dirty="0"/>
              <a:t>效益分析，计算投资回收期与纯收入。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093AE3-4783-441A-88EF-E038A43F06C7}" type="datetime11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参考答案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zh-CN" sz="2400" dirty="0"/>
              <a:t>未来</a:t>
            </a:r>
            <a:r>
              <a:rPr lang="en-US" altLang="zh-CN" sz="2400" dirty="0"/>
              <a:t>3</a:t>
            </a:r>
            <a:r>
              <a:rPr lang="zh-CN" altLang="zh-CN" sz="2400" dirty="0"/>
              <a:t>年的现在值分别为：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第一年：</a:t>
            </a:r>
            <a:r>
              <a:rPr lang="en-US" altLang="zh-CN" sz="2400" dirty="0"/>
              <a:t>22000/</a:t>
            </a:r>
            <a:r>
              <a:rPr lang="zh-CN" altLang="zh-CN" sz="2400" dirty="0"/>
              <a:t>（</a:t>
            </a:r>
            <a:r>
              <a:rPr lang="en-US" altLang="zh-CN" sz="2400" dirty="0"/>
              <a:t>1+0.10</a:t>
            </a:r>
            <a:r>
              <a:rPr lang="zh-CN" altLang="zh-CN" sz="2400" dirty="0"/>
              <a:t>）</a:t>
            </a:r>
            <a:r>
              <a:rPr lang="en-US" altLang="zh-CN" sz="2400" dirty="0"/>
              <a:t>=20000</a:t>
            </a:r>
            <a:r>
              <a:rPr lang="zh-CN" altLang="zh-CN" sz="2400" dirty="0"/>
              <a:t>元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第二年：</a:t>
            </a:r>
            <a:r>
              <a:rPr lang="en-US" altLang="zh-CN" sz="2400" dirty="0"/>
              <a:t>24200/</a:t>
            </a:r>
            <a:r>
              <a:rPr lang="zh-CN" altLang="zh-CN" sz="2400" dirty="0"/>
              <a:t>（</a:t>
            </a:r>
            <a:r>
              <a:rPr lang="en-US" altLang="zh-CN" sz="2400" dirty="0"/>
              <a:t>1+0.10</a:t>
            </a:r>
            <a:r>
              <a:rPr lang="zh-CN" altLang="zh-CN" sz="2400" dirty="0"/>
              <a:t>）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=20000</a:t>
            </a:r>
            <a:r>
              <a:rPr lang="zh-CN" altLang="zh-CN" sz="2400" dirty="0"/>
              <a:t>元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第三年：</a:t>
            </a:r>
            <a:r>
              <a:rPr lang="en-US" altLang="zh-CN" sz="2400" dirty="0"/>
              <a:t>26620/</a:t>
            </a:r>
            <a:r>
              <a:rPr lang="zh-CN" altLang="zh-CN" sz="2400" dirty="0"/>
              <a:t>（</a:t>
            </a:r>
            <a:r>
              <a:rPr lang="en-US" altLang="zh-CN" sz="2400" dirty="0"/>
              <a:t>1+0.10</a:t>
            </a:r>
            <a:r>
              <a:rPr lang="zh-CN" altLang="zh-CN" sz="2400" dirty="0"/>
              <a:t>）</a:t>
            </a:r>
            <a:r>
              <a:rPr lang="en-US" altLang="zh-CN" sz="2400" baseline="30000" dirty="0"/>
              <a:t>3</a:t>
            </a:r>
            <a:r>
              <a:rPr lang="en-US" altLang="zh-CN" sz="2400" dirty="0"/>
              <a:t>=20000</a:t>
            </a:r>
            <a:r>
              <a:rPr lang="zh-CN" altLang="zh-CN" sz="2400" dirty="0"/>
              <a:t>元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即未来</a:t>
            </a:r>
            <a:r>
              <a:rPr lang="en-US" altLang="zh-CN" sz="2400" dirty="0"/>
              <a:t>3</a:t>
            </a:r>
            <a:r>
              <a:rPr lang="zh-CN" altLang="zh-CN" sz="2400" dirty="0"/>
              <a:t>年每年收益的现在值均为</a:t>
            </a:r>
            <a:r>
              <a:rPr lang="en-US" altLang="zh-CN" sz="2400" dirty="0"/>
              <a:t>20000</a:t>
            </a:r>
            <a:r>
              <a:rPr lang="zh-CN" altLang="zh-CN" sz="2400" dirty="0"/>
              <a:t>元</a:t>
            </a:r>
            <a:r>
              <a:rPr lang="zh-CN" altLang="zh-CN" sz="2400" dirty="0" smtClean="0"/>
              <a:t>。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经简单计算，投资回收期为</a:t>
            </a:r>
            <a:r>
              <a:rPr lang="en-US" altLang="zh-CN" sz="2400" dirty="0"/>
              <a:t>2.5</a:t>
            </a:r>
            <a:r>
              <a:rPr lang="zh-CN" altLang="zh-CN" sz="2400" dirty="0"/>
              <a:t>年</a:t>
            </a:r>
            <a:r>
              <a:rPr lang="zh-CN" altLang="zh-CN" sz="2400" dirty="0" smtClean="0"/>
              <a:t>。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纯收入：</a:t>
            </a:r>
            <a:r>
              <a:rPr lang="en-US" altLang="zh-CN" sz="2400" dirty="0"/>
              <a:t>20000*3-50000=10000</a:t>
            </a:r>
            <a:r>
              <a:rPr lang="zh-CN" altLang="zh-CN" sz="2400" dirty="0"/>
              <a:t>元</a:t>
            </a:r>
            <a:r>
              <a:rPr lang="zh-CN" altLang="zh-CN" sz="2400" dirty="0" smtClean="0"/>
              <a:t>。</a:t>
            </a:r>
            <a:endParaRPr lang="zh-CN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4093AE3-4783-441A-88EF-E038A43F06C7}" type="datetime11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146810" y="2328545"/>
            <a:ext cx="6950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查资料，找到</a:t>
            </a:r>
            <a:r>
              <a:rPr lang="zh-CN" altLang="en-US">
                <a:highlight>
                  <a:srgbClr val="FFFF00"/>
                </a:highlight>
              </a:rPr>
              <a:t>一份完整的可行性研究报告</a:t>
            </a:r>
            <a:r>
              <a:rPr lang="zh-CN" altLang="en-US"/>
              <a:t>，并认真阅读分析。不用上交。</a:t>
            </a:r>
            <a:endParaRPr lang="zh-CN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第二次作业</a:t>
            </a:r>
            <a:endParaRPr lang="zh-CN" altLang="en-US"/>
          </a:p>
        </p:txBody>
      </p:sp>
      <p:graphicFrame>
        <p:nvGraphicFramePr>
          <p:cNvPr id="5" name="内容占位符 4"/>
          <p:cNvGraphicFramePr>
            <a:graphicFrameLocks noChangeAspect="1"/>
          </p:cNvGraphicFramePr>
          <p:nvPr>
            <p:ph idx="1"/>
          </p:nvPr>
        </p:nvGraphicFramePr>
        <p:xfrm>
          <a:off x="1403985" y="2996565"/>
          <a:ext cx="6253480" cy="326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4476750" imgH="2336800" progId="Paint.Picture">
                  <p:embed/>
                </p:oleObj>
              </mc:Choice>
              <mc:Fallback>
                <p:oleObj name="" r:id="rId1" imgW="4476750" imgH="23368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03985" y="2996565"/>
                        <a:ext cx="6253480" cy="32645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14093AE3-4783-441A-88EF-E038A43F06C7}" type="datetime11">
              <a:rPr lang="zh-CN" altLang="en-US"/>
            </a:fld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331595" y="1988820"/>
            <a:ext cx="6565900" cy="1182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针对该随堂练习，编写程序，得出投资回收率。</a:t>
            </a:r>
            <a:r>
              <a:rPr lang="zh-CN" altLang="en-US">
                <a:solidFill>
                  <a:srgbClr val="FF0000"/>
                </a:solidFill>
              </a:rPr>
              <a:t>编程语言不限。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31595" y="2830195"/>
            <a:ext cx="6348730" cy="3406775"/>
          </a:xfrm>
          <a:prstGeom prst="rect">
            <a:avLst/>
          </a:prstGeom>
          <a:noFill/>
          <a:ln w="9525" cap="flat" cmpd="sng" algn="ctr">
            <a:solidFill>
              <a:srgbClr val="7030A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2588d21a-f99e-460c-9e9b-79340820d44f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PLACING_PICTURE_USER_VIEWPORT" val="{&quot;height&quot;:5795,&quot;width&quot;:12550}"/>
</p:tagLst>
</file>

<file path=ppt/tags/tag4.xml><?xml version="1.0" encoding="utf-8"?>
<p:tagLst xmlns:p="http://schemas.openxmlformats.org/presentationml/2006/main">
  <p:tag name="KSO_WM_UNIT_TABLE_BEAUTIFY" val="smartTable{f375208a-4327-4691-97fe-b01838238272}"/>
</p:tagLst>
</file>

<file path=ppt/tags/tag5.xml><?xml version="1.0" encoding="utf-8"?>
<p:tagLst xmlns:p="http://schemas.openxmlformats.org/presentationml/2006/main">
  <p:tag name="COMMONDATA" val="eyJoZGlkIjoiMWRkYWM2NTk3YTg3N2JkZWYxNzVkMWE0MDlhMjU5MDQifQ=="/>
  <p:tag name="KSO_WPP_MARK_KEY" val="8456d5f2-f583-43b5-a6de-556742a7119b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SimSun"/>
        <a:cs typeface=""/>
      </a:majorFont>
      <a:minorFont>
        <a:latin typeface="Tahoma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5826</Words>
  <Application>WPS 演示</Application>
  <PresentationFormat>全屏显示(4:3)</PresentationFormat>
  <Paragraphs>1015</Paragraphs>
  <Slides>75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75</vt:i4>
      </vt:variant>
    </vt:vector>
  </HeadingPairs>
  <TitlesOfParts>
    <vt:vector size="94" baseType="lpstr">
      <vt:lpstr>Arial</vt:lpstr>
      <vt:lpstr>宋体</vt:lpstr>
      <vt:lpstr>Wingdings</vt:lpstr>
      <vt:lpstr>Tahoma</vt:lpstr>
      <vt:lpstr>Wingdings</vt:lpstr>
      <vt:lpstr>Times New Roman</vt:lpstr>
      <vt:lpstr>微软雅黑</vt:lpstr>
      <vt:lpstr>Arial Unicode MS</vt:lpstr>
      <vt:lpstr>Calibri</vt:lpstr>
      <vt:lpstr>黑体</vt:lpstr>
      <vt:lpstr>楷体_GB2312</vt:lpstr>
      <vt:lpstr>新宋体</vt:lpstr>
      <vt:lpstr>仿宋_GB2312</vt:lpstr>
      <vt:lpstr>仿宋</vt:lpstr>
      <vt:lpstr>Blends</vt:lpstr>
      <vt:lpstr>Equation.3</vt:lpstr>
      <vt:lpstr>Equation.3</vt:lpstr>
      <vt:lpstr>Equation.3</vt:lpstr>
      <vt:lpstr>Paint.Picture</vt:lpstr>
      <vt:lpstr>实验安排</vt:lpstr>
      <vt:lpstr>第一章内容回顾  Q1：软件生命周期包括哪些阶段？</vt:lpstr>
      <vt:lpstr>软件生命周期的组成</vt:lpstr>
      <vt:lpstr>Q2：我们学习了哪几种软件过程模型？</vt:lpstr>
      <vt:lpstr>PowerPoint 演示文稿</vt:lpstr>
      <vt:lpstr>第二章  可行性研究</vt:lpstr>
      <vt:lpstr>开发软件要回答三个问题</vt:lpstr>
      <vt:lpstr>2.1 可行性研究的目的与任务</vt:lpstr>
      <vt:lpstr>2.2 可行性研究的步骤（或过程）</vt:lpstr>
      <vt:lpstr>1) 复查系统规模和目标</vt:lpstr>
      <vt:lpstr>2) 研究现有系统功能</vt:lpstr>
      <vt:lpstr>3) 导出新系统模型</vt:lpstr>
      <vt:lpstr>4) 重新定义问题</vt:lpstr>
      <vt:lpstr>PowerPoint 演示文稿</vt:lpstr>
      <vt:lpstr>5) 导出和分析各种可选解决方案</vt:lpstr>
      <vt:lpstr>6) 推荐行动方针</vt:lpstr>
      <vt:lpstr>7) 草拟开发计划</vt:lpstr>
      <vt:lpstr>8) 书写文档提交审查</vt:lpstr>
      <vt:lpstr>可行性研究报告（百度百科）</vt:lpstr>
      <vt:lpstr>系统流程图</vt:lpstr>
      <vt:lpstr>程序流程图的例子</vt:lpstr>
      <vt:lpstr>描绘物理系统的符号</vt:lpstr>
      <vt:lpstr>描绘物理系统的符号(continued)</vt:lpstr>
      <vt:lpstr>描述：仓库中零件数量有变化（事务）时，及时更新库存清单主文件；如果哪种零件的库存量低于临界值，报告给采购部门以便订货，规定每天向采购部门送一次订货报告。</vt:lpstr>
      <vt:lpstr>可行性研究的工具之数据流图</vt:lpstr>
      <vt:lpstr>数据流图的基本符号</vt:lpstr>
      <vt:lpstr>数据流图的附加符号</vt:lpstr>
      <vt:lpstr>需注意的几点：</vt:lpstr>
      <vt:lpstr>数据流图的例子</vt:lpstr>
      <vt:lpstr>订货系统的基本系统模型</vt:lpstr>
      <vt:lpstr>订货系统的功能级数据流图</vt:lpstr>
      <vt:lpstr>给处理和数据存储加编号</vt:lpstr>
      <vt:lpstr>PowerPoint 演示文稿</vt:lpstr>
      <vt:lpstr>订货系统进一步分解后的数据流图</vt:lpstr>
      <vt:lpstr>数据流图中的命名</vt:lpstr>
      <vt:lpstr>数据流图中的命名 (continued)</vt:lpstr>
      <vt:lpstr>PowerPoint 演示文稿</vt:lpstr>
      <vt:lpstr>为“数据源点/终点”命名</vt:lpstr>
      <vt:lpstr>数据流图的用途</vt:lpstr>
      <vt:lpstr>数据流图中的自动化边界</vt:lpstr>
      <vt:lpstr>自动化边界划分方式一</vt:lpstr>
      <vt:lpstr>对应的物理实现方案</vt:lpstr>
      <vt:lpstr>自动化边界划分方式二</vt:lpstr>
      <vt:lpstr>对应的物理实现方案</vt:lpstr>
      <vt:lpstr>上次课回顾</vt:lpstr>
      <vt:lpstr>PowerPoint 演示文稿</vt:lpstr>
      <vt:lpstr>上次课回顾</vt:lpstr>
      <vt:lpstr>PowerPoint 演示文稿</vt:lpstr>
      <vt:lpstr>可行性研究的工具之数据字典</vt:lpstr>
      <vt:lpstr>数据字典的内容</vt:lpstr>
      <vt:lpstr>定义数据的方法</vt:lpstr>
      <vt:lpstr>数据字典中数据元素组成数据的表示符号</vt:lpstr>
      <vt:lpstr>数据字典的用途</vt:lpstr>
      <vt:lpstr>随堂练习-1 （5 minutes）</vt:lpstr>
      <vt:lpstr>参考答案</vt:lpstr>
      <vt:lpstr>随堂练习-2 （10 minutes）</vt:lpstr>
      <vt:lpstr>参考答案</vt:lpstr>
      <vt:lpstr>2.4 成本/效益分析</vt:lpstr>
      <vt:lpstr>2) 任务分解技术</vt:lpstr>
      <vt:lpstr>典型环境下软件开发各个阶段需投入的人力百分比</vt:lpstr>
      <vt:lpstr>（二）成本/效益分析的方法</vt:lpstr>
      <vt:lpstr>案例</vt:lpstr>
      <vt:lpstr>PowerPoint 演示文稿</vt:lpstr>
      <vt:lpstr>将来的收益折算成现在值</vt:lpstr>
      <vt:lpstr>2) 投资回收期</vt:lpstr>
      <vt:lpstr>3) 纯收入</vt:lpstr>
      <vt:lpstr>4) 投资回收率</vt:lpstr>
      <vt:lpstr>PowerPoint 演示文稿</vt:lpstr>
      <vt:lpstr>投资回收率的计算</vt:lpstr>
      <vt:lpstr>计算投资回收率</vt:lpstr>
      <vt:lpstr>思考：</vt:lpstr>
      <vt:lpstr>随堂练习-3 （10 minutes）</vt:lpstr>
      <vt:lpstr>参考答案</vt:lpstr>
      <vt:lpstr>PowerPoint 演示文稿</vt:lpstr>
      <vt:lpstr>第二次作业</vt:lpstr>
    </vt:vector>
  </TitlesOfParts>
  <Company>ecust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软件工程概论</dc:title>
  <dc:creator>chgu</dc:creator>
  <cp:lastModifiedBy>LV</cp:lastModifiedBy>
  <cp:revision>499</cp:revision>
  <dcterms:created xsi:type="dcterms:W3CDTF">2002-02-24T00:46:00Z</dcterms:created>
  <dcterms:modified xsi:type="dcterms:W3CDTF">2025-09-26T00:11:41Z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0EC823320FE04A6B8AB7928C84AC145D_12</vt:lpwstr>
  </property>
</Properties>
</file>