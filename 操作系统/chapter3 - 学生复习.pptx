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3"/>
  </p:notesMasterIdLst>
  <p:sldIdLst>
    <p:sldId id="256" r:id="rId2"/>
    <p:sldId id="262" r:id="rId3"/>
    <p:sldId id="291" r:id="rId4"/>
    <p:sldId id="691" r:id="rId5"/>
    <p:sldId id="692" r:id="rId6"/>
    <p:sldId id="693" r:id="rId7"/>
    <p:sldId id="694" r:id="rId8"/>
    <p:sldId id="695" r:id="rId9"/>
    <p:sldId id="696" r:id="rId10"/>
    <p:sldId id="697" r:id="rId11"/>
    <p:sldId id="449" r:id="rId12"/>
    <p:sldId id="508" r:id="rId13"/>
    <p:sldId id="509" r:id="rId14"/>
    <p:sldId id="510" r:id="rId15"/>
    <p:sldId id="701" r:id="rId16"/>
    <p:sldId id="698" r:id="rId17"/>
    <p:sldId id="511" r:id="rId18"/>
    <p:sldId id="512" r:id="rId19"/>
    <p:sldId id="513" r:id="rId20"/>
    <p:sldId id="514" r:id="rId21"/>
    <p:sldId id="515" r:id="rId22"/>
    <p:sldId id="516" r:id="rId23"/>
    <p:sldId id="517" r:id="rId24"/>
    <p:sldId id="717" r:id="rId25"/>
    <p:sldId id="518" r:id="rId26"/>
    <p:sldId id="702" r:id="rId27"/>
    <p:sldId id="703" r:id="rId28"/>
    <p:sldId id="448" r:id="rId29"/>
    <p:sldId id="705" r:id="rId30"/>
    <p:sldId id="706" r:id="rId31"/>
    <p:sldId id="707" r:id="rId32"/>
    <p:sldId id="522" r:id="rId33"/>
    <p:sldId id="523" r:id="rId34"/>
    <p:sldId id="704" r:id="rId35"/>
    <p:sldId id="524" r:id="rId36"/>
    <p:sldId id="525" r:id="rId37"/>
    <p:sldId id="526" r:id="rId38"/>
    <p:sldId id="527" r:id="rId39"/>
    <p:sldId id="529" r:id="rId40"/>
    <p:sldId id="530" r:id="rId41"/>
    <p:sldId id="531" r:id="rId42"/>
    <p:sldId id="532" r:id="rId43"/>
    <p:sldId id="708" r:id="rId44"/>
    <p:sldId id="709" r:id="rId45"/>
    <p:sldId id="710" r:id="rId46"/>
    <p:sldId id="450" r:id="rId47"/>
    <p:sldId id="711" r:id="rId48"/>
    <p:sldId id="712" r:id="rId49"/>
    <p:sldId id="534" r:id="rId50"/>
    <p:sldId id="535" r:id="rId51"/>
    <p:sldId id="536" r:id="rId52"/>
    <p:sldId id="537" r:id="rId53"/>
    <p:sldId id="538" r:id="rId54"/>
    <p:sldId id="539" r:id="rId55"/>
    <p:sldId id="540" r:id="rId56"/>
    <p:sldId id="541" r:id="rId57"/>
    <p:sldId id="542" r:id="rId58"/>
    <p:sldId id="543" r:id="rId59"/>
    <p:sldId id="544" r:id="rId60"/>
    <p:sldId id="460" r:id="rId61"/>
    <p:sldId id="545" r:id="rId62"/>
    <p:sldId id="718" r:id="rId63"/>
    <p:sldId id="719" r:id="rId64"/>
    <p:sldId id="546" r:id="rId65"/>
    <p:sldId id="547" r:id="rId66"/>
    <p:sldId id="713" r:id="rId67"/>
    <p:sldId id="548" r:id="rId68"/>
    <p:sldId id="714" r:id="rId69"/>
    <p:sldId id="715" r:id="rId70"/>
    <p:sldId id="716" r:id="rId71"/>
    <p:sldId id="549" r:id="rId72"/>
    <p:sldId id="550" r:id="rId73"/>
    <p:sldId id="451" r:id="rId74"/>
    <p:sldId id="589" r:id="rId75"/>
    <p:sldId id="590" r:id="rId76"/>
    <p:sldId id="552" r:id="rId77"/>
    <p:sldId id="553" r:id="rId78"/>
    <p:sldId id="554" r:id="rId79"/>
    <p:sldId id="555" r:id="rId80"/>
    <p:sldId id="556" r:id="rId81"/>
    <p:sldId id="596" r:id="rId82"/>
    <p:sldId id="557" r:id="rId83"/>
    <p:sldId id="558" r:id="rId84"/>
    <p:sldId id="559" r:id="rId85"/>
    <p:sldId id="560" r:id="rId86"/>
    <p:sldId id="562" r:id="rId87"/>
    <p:sldId id="563" r:id="rId88"/>
    <p:sldId id="564" r:id="rId89"/>
    <p:sldId id="566" r:id="rId90"/>
    <p:sldId id="568" r:id="rId91"/>
    <p:sldId id="569" r:id="rId92"/>
    <p:sldId id="570" r:id="rId93"/>
    <p:sldId id="572" r:id="rId94"/>
    <p:sldId id="571" r:id="rId95"/>
    <p:sldId id="574" r:id="rId96"/>
    <p:sldId id="575" r:id="rId97"/>
    <p:sldId id="573" r:id="rId98"/>
    <p:sldId id="576" r:id="rId99"/>
    <p:sldId id="577" r:id="rId100"/>
    <p:sldId id="578" r:id="rId101"/>
    <p:sldId id="580" r:id="rId102"/>
    <p:sldId id="597" r:id="rId103"/>
    <p:sldId id="583" r:id="rId104"/>
    <p:sldId id="584" r:id="rId105"/>
    <p:sldId id="586" r:id="rId106"/>
    <p:sldId id="598" r:id="rId107"/>
    <p:sldId id="581" r:id="rId108"/>
    <p:sldId id="582" r:id="rId109"/>
    <p:sldId id="585" r:id="rId110"/>
    <p:sldId id="948" r:id="rId111"/>
    <p:sldId id="587" r:id="rId112"/>
    <p:sldId id="599" r:id="rId113"/>
    <p:sldId id="600" r:id="rId114"/>
    <p:sldId id="601" r:id="rId115"/>
    <p:sldId id="604" r:id="rId116"/>
    <p:sldId id="605" r:id="rId117"/>
    <p:sldId id="603" r:id="rId118"/>
    <p:sldId id="602" r:id="rId119"/>
    <p:sldId id="607" r:id="rId120"/>
    <p:sldId id="608" r:id="rId121"/>
    <p:sldId id="609" r:id="rId122"/>
    <p:sldId id="610" r:id="rId123"/>
    <p:sldId id="612" r:id="rId124"/>
    <p:sldId id="613" r:id="rId125"/>
    <p:sldId id="611" r:id="rId126"/>
    <p:sldId id="614" r:id="rId127"/>
    <p:sldId id="675" r:id="rId128"/>
    <p:sldId id="615" r:id="rId129"/>
    <p:sldId id="616" r:id="rId130"/>
    <p:sldId id="727" r:id="rId131"/>
    <p:sldId id="953" r:id="rId132"/>
    <p:sldId id="954" r:id="rId133"/>
    <p:sldId id="955" r:id="rId134"/>
    <p:sldId id="956" r:id="rId135"/>
    <p:sldId id="617" r:id="rId136"/>
    <p:sldId id="618" r:id="rId137"/>
    <p:sldId id="619" r:id="rId138"/>
    <p:sldId id="620" r:id="rId139"/>
    <p:sldId id="621" r:id="rId140"/>
    <p:sldId id="622" r:id="rId141"/>
    <p:sldId id="623" r:id="rId142"/>
    <p:sldId id="624" r:id="rId143"/>
    <p:sldId id="625" r:id="rId144"/>
    <p:sldId id="626" r:id="rId145"/>
    <p:sldId id="627" r:id="rId146"/>
    <p:sldId id="628" r:id="rId147"/>
    <p:sldId id="629" r:id="rId148"/>
    <p:sldId id="630" r:id="rId149"/>
    <p:sldId id="933" r:id="rId150"/>
    <p:sldId id="934" r:id="rId151"/>
    <p:sldId id="935" r:id="rId152"/>
    <p:sldId id="936" r:id="rId153"/>
    <p:sldId id="938" r:id="rId154"/>
    <p:sldId id="937" r:id="rId155"/>
    <p:sldId id="939" r:id="rId156"/>
    <p:sldId id="940" r:id="rId157"/>
    <p:sldId id="941" r:id="rId158"/>
    <p:sldId id="942" r:id="rId159"/>
    <p:sldId id="943" r:id="rId160"/>
    <p:sldId id="944" r:id="rId161"/>
    <p:sldId id="945" r:id="rId162"/>
    <p:sldId id="947" r:id="rId163"/>
    <p:sldId id="946" r:id="rId164"/>
    <p:sldId id="952" r:id="rId165"/>
    <p:sldId id="951" r:id="rId166"/>
    <p:sldId id="631" r:id="rId167"/>
    <p:sldId id="632" r:id="rId168"/>
    <p:sldId id="633" r:id="rId169"/>
    <p:sldId id="452" r:id="rId170"/>
    <p:sldId id="634" r:id="rId171"/>
    <p:sldId id="635" r:id="rId172"/>
    <p:sldId id="636" r:id="rId173"/>
    <p:sldId id="637" r:id="rId174"/>
    <p:sldId id="638" r:id="rId175"/>
    <p:sldId id="760" r:id="rId176"/>
    <p:sldId id="761" r:id="rId177"/>
    <p:sldId id="762" r:id="rId178"/>
    <p:sldId id="763" r:id="rId179"/>
    <p:sldId id="764" r:id="rId180"/>
    <p:sldId id="765" r:id="rId181"/>
    <p:sldId id="766" r:id="rId182"/>
    <p:sldId id="767" r:id="rId183"/>
    <p:sldId id="768" r:id="rId184"/>
    <p:sldId id="639" r:id="rId185"/>
    <p:sldId id="640" r:id="rId186"/>
    <p:sldId id="641" r:id="rId187"/>
    <p:sldId id="642" r:id="rId188"/>
    <p:sldId id="720" r:id="rId189"/>
    <p:sldId id="721" r:id="rId190"/>
    <p:sldId id="722" r:id="rId191"/>
    <p:sldId id="644" r:id="rId192"/>
    <p:sldId id="643" r:id="rId193"/>
    <p:sldId id="663" r:id="rId194"/>
    <p:sldId id="664" r:id="rId195"/>
    <p:sldId id="732" r:id="rId196"/>
    <p:sldId id="665" r:id="rId197"/>
    <p:sldId id="666" r:id="rId198"/>
    <p:sldId id="667" r:id="rId199"/>
    <p:sldId id="668" r:id="rId200"/>
    <p:sldId id="733" r:id="rId201"/>
    <p:sldId id="734" r:id="rId202"/>
    <p:sldId id="735" r:id="rId203"/>
    <p:sldId id="741" r:id="rId204"/>
    <p:sldId id="742" r:id="rId205"/>
    <p:sldId id="743" r:id="rId206"/>
    <p:sldId id="744" r:id="rId207"/>
    <p:sldId id="745" r:id="rId208"/>
    <p:sldId id="746" r:id="rId209"/>
    <p:sldId id="736" r:id="rId210"/>
    <p:sldId id="737" r:id="rId211"/>
    <p:sldId id="738" r:id="rId212"/>
    <p:sldId id="739" r:id="rId213"/>
    <p:sldId id="769" r:id="rId214"/>
    <p:sldId id="670" r:id="rId215"/>
    <p:sldId id="747" r:id="rId216"/>
    <p:sldId id="680" r:id="rId217"/>
    <p:sldId id="681" r:id="rId218"/>
    <p:sldId id="748" r:id="rId219"/>
    <p:sldId id="682" r:id="rId220"/>
    <p:sldId id="683" r:id="rId221"/>
    <p:sldId id="749" r:id="rId222"/>
    <p:sldId id="770" r:id="rId223"/>
    <p:sldId id="750" r:id="rId224"/>
    <p:sldId id="751" r:id="rId225"/>
    <p:sldId id="752" r:id="rId226"/>
    <p:sldId id="753" r:id="rId227"/>
    <p:sldId id="754" r:id="rId228"/>
    <p:sldId id="684" r:id="rId229"/>
    <p:sldId id="755" r:id="rId230"/>
    <p:sldId id="685" r:id="rId231"/>
    <p:sldId id="686" r:id="rId232"/>
    <p:sldId id="687" r:id="rId233"/>
    <p:sldId id="688" r:id="rId234"/>
    <p:sldId id="690" r:id="rId235"/>
    <p:sldId id="756" r:id="rId236"/>
    <p:sldId id="950" r:id="rId237"/>
    <p:sldId id="949" r:id="rId238"/>
    <p:sldId id="759" r:id="rId239"/>
    <p:sldId id="758" r:id="rId240"/>
    <p:sldId id="689" r:id="rId241"/>
    <p:sldId id="260" r:id="rId24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CF49"/>
    <a:srgbClr val="FF5050"/>
    <a:srgbClr val="006600"/>
    <a:srgbClr val="FF3300"/>
    <a:srgbClr val="008000"/>
    <a:srgbClr val="0E2D07"/>
    <a:srgbClr val="33CC33"/>
    <a:srgbClr val="BCE292"/>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8793" autoAdjust="0"/>
  </p:normalViewPr>
  <p:slideViewPr>
    <p:cSldViewPr>
      <p:cViewPr varScale="1">
        <p:scale>
          <a:sx n="131" d="100"/>
          <a:sy n="131" d="100"/>
        </p:scale>
        <p:origin x="1002" y="12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theme" Target="theme/theme1.xml"/><Relationship Id="rId106" Type="http://schemas.openxmlformats.org/officeDocument/2006/relationships/slide" Target="slides/slide105.xml"/><Relationship Id="rId127" Type="http://schemas.openxmlformats.org/officeDocument/2006/relationships/slide" Target="slides/slide126.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1C97DC8-1791-410C-859F-1BB5199168B6}" type="doc">
      <dgm:prSet loTypeId="urn:microsoft.com/office/officeart/2005/8/layout/radial1#1" loCatId="relationship" qsTypeId="urn:microsoft.com/office/officeart/2005/8/quickstyle/3d1#1" qsCatId="3D" csTypeId="urn:microsoft.com/office/officeart/2005/8/colors/colorful1#1" csCatId="colorful" phldr="1"/>
      <dgm:spPr/>
      <dgm:t>
        <a:bodyPr/>
        <a:lstStyle/>
        <a:p>
          <a:endParaRPr lang="zh-CN" altLang="en-US"/>
        </a:p>
      </dgm:t>
    </dgm:pt>
    <dgm:pt modelId="{D48F0F64-0A38-4297-B4D7-6E98BDF70976}">
      <dgm:prSet phldrT="[文本]"/>
      <dgm:spPr/>
      <dgm:t>
        <a:bodyPr/>
        <a:lstStyle/>
        <a:p>
          <a:r>
            <a:rPr lang="zh-CN" altLang="en-US" b="1" dirty="0" smtClean="0"/>
            <a:t>类型</a:t>
          </a:r>
          <a:endParaRPr lang="zh-CN" altLang="en-US" b="1" dirty="0"/>
        </a:p>
      </dgm:t>
    </dgm:pt>
    <dgm:pt modelId="{6A03C138-6910-479D-98CA-B1A8827E980E}" type="parTrans" cxnId="{690375AE-E591-41E1-9807-22FF8A272935}">
      <dgm:prSet/>
      <dgm:spPr/>
      <dgm:t>
        <a:bodyPr/>
        <a:lstStyle/>
        <a:p>
          <a:endParaRPr lang="zh-CN" altLang="en-US"/>
        </a:p>
      </dgm:t>
    </dgm:pt>
    <dgm:pt modelId="{C99131F5-AAA5-4790-940A-494095246161}" type="sibTrans" cxnId="{690375AE-E591-41E1-9807-22FF8A272935}">
      <dgm:prSet/>
      <dgm:spPr/>
      <dgm:t>
        <a:bodyPr/>
        <a:lstStyle/>
        <a:p>
          <a:endParaRPr lang="zh-CN" altLang="en-US"/>
        </a:p>
      </dgm:t>
    </dgm:pt>
    <dgm:pt modelId="{3AF70802-C31E-4098-8A60-2DDA048DCD98}">
      <dgm:prSet phldrT="[文本]" custT="1"/>
      <dgm:spPr/>
      <dgm:t>
        <a:bodyPr/>
        <a:lstStyle/>
        <a:p>
          <a:r>
            <a:rPr lang="zh-CN" altLang="en-US" sz="2400" b="1" dirty="0" smtClean="0"/>
            <a:t>主从式</a:t>
          </a:r>
          <a:endParaRPr lang="zh-CN" altLang="en-US" sz="2400" b="1" dirty="0"/>
        </a:p>
      </dgm:t>
    </dgm:pt>
    <dgm:pt modelId="{80841F95-531E-48F1-BB99-24B17C29858B}" type="parTrans" cxnId="{A7AE12D1-23AE-4AD9-A803-AEB050666D8D}">
      <dgm:prSet/>
      <dgm:spPr/>
      <dgm:t>
        <a:bodyPr/>
        <a:lstStyle/>
        <a:p>
          <a:endParaRPr lang="zh-CN" altLang="en-US"/>
        </a:p>
      </dgm:t>
    </dgm:pt>
    <dgm:pt modelId="{B6D546D0-47B2-4306-8189-42FD736F89E6}" type="sibTrans" cxnId="{A7AE12D1-23AE-4AD9-A803-AEB050666D8D}">
      <dgm:prSet/>
      <dgm:spPr/>
      <dgm:t>
        <a:bodyPr/>
        <a:lstStyle/>
        <a:p>
          <a:endParaRPr lang="zh-CN" altLang="en-US"/>
        </a:p>
      </dgm:t>
    </dgm:pt>
    <dgm:pt modelId="{40E0E1BB-9FAA-49F8-B4DE-B9FE911D8DB1}">
      <dgm:prSet phldrT="[文本]" custT="1"/>
      <dgm:spPr/>
      <dgm:t>
        <a:bodyPr/>
        <a:lstStyle/>
        <a:p>
          <a:r>
            <a:rPr lang="zh-CN" altLang="en-US" sz="2400" b="1" dirty="0" smtClean="0"/>
            <a:t>会话式</a:t>
          </a:r>
          <a:endParaRPr lang="zh-CN" altLang="en-US" sz="2400" b="1" dirty="0"/>
        </a:p>
      </dgm:t>
    </dgm:pt>
    <dgm:pt modelId="{5029043E-09F3-491F-8BD9-A0FBEAF9E2ED}" type="parTrans" cxnId="{037EEABE-638A-4491-9AA0-CBEAAC3213B2}">
      <dgm:prSet/>
      <dgm:spPr/>
      <dgm:t>
        <a:bodyPr/>
        <a:lstStyle/>
        <a:p>
          <a:endParaRPr lang="zh-CN" altLang="en-US"/>
        </a:p>
      </dgm:t>
    </dgm:pt>
    <dgm:pt modelId="{60FBA313-244E-4095-93CF-7417CE2775FA}" type="sibTrans" cxnId="{037EEABE-638A-4491-9AA0-CBEAAC3213B2}">
      <dgm:prSet/>
      <dgm:spPr/>
      <dgm:t>
        <a:bodyPr/>
        <a:lstStyle/>
        <a:p>
          <a:endParaRPr lang="zh-CN" altLang="en-US"/>
        </a:p>
      </dgm:t>
    </dgm:pt>
    <dgm:pt modelId="{9846C11F-A0A1-44A7-BB47-8DD2057DD00C}">
      <dgm:prSet phldrT="[文本]" custT="1"/>
      <dgm:spPr/>
      <dgm:t>
        <a:bodyPr/>
        <a:lstStyle/>
        <a:p>
          <a:r>
            <a:rPr lang="zh-CN" altLang="en-US" sz="2400" b="1" dirty="0" smtClean="0"/>
            <a:t>消息或邮箱机制</a:t>
          </a:r>
          <a:endParaRPr lang="zh-CN" altLang="en-US" sz="2400" b="1" dirty="0"/>
        </a:p>
      </dgm:t>
    </dgm:pt>
    <dgm:pt modelId="{562EF5DC-DC92-468F-BC49-C2443D446BB8}" type="parTrans" cxnId="{DB7225E0-D48F-401D-AACF-F4DF321E8F40}">
      <dgm:prSet/>
      <dgm:spPr/>
      <dgm:t>
        <a:bodyPr/>
        <a:lstStyle/>
        <a:p>
          <a:endParaRPr lang="zh-CN" altLang="en-US"/>
        </a:p>
      </dgm:t>
    </dgm:pt>
    <dgm:pt modelId="{45FABD6E-43E8-4E3D-844F-32B5002CCCA1}" type="sibTrans" cxnId="{DB7225E0-D48F-401D-AACF-F4DF321E8F40}">
      <dgm:prSet/>
      <dgm:spPr/>
      <dgm:t>
        <a:bodyPr/>
        <a:lstStyle/>
        <a:p>
          <a:endParaRPr lang="zh-CN" altLang="en-US"/>
        </a:p>
      </dgm:t>
    </dgm:pt>
    <dgm:pt modelId="{614087CA-6C5D-4692-81BA-2EFACC6C0344}">
      <dgm:prSet phldrT="[文本]" custT="1"/>
      <dgm:spPr/>
      <dgm:t>
        <a:bodyPr/>
        <a:lstStyle/>
        <a:p>
          <a:r>
            <a:rPr lang="zh-CN" altLang="en-US" sz="2400" b="1" dirty="0" smtClean="0"/>
            <a:t>共享存储区方式</a:t>
          </a:r>
          <a:endParaRPr lang="zh-CN" altLang="en-US" sz="2400" b="1" dirty="0"/>
        </a:p>
      </dgm:t>
    </dgm:pt>
    <dgm:pt modelId="{073205C0-7E25-44FC-89F2-6A99368EF6A6}" type="parTrans" cxnId="{5DA82314-DFD3-489C-BF15-3779AFCA3FFA}">
      <dgm:prSet/>
      <dgm:spPr/>
      <dgm:t>
        <a:bodyPr/>
        <a:lstStyle/>
        <a:p>
          <a:endParaRPr lang="zh-CN" altLang="en-US"/>
        </a:p>
      </dgm:t>
    </dgm:pt>
    <dgm:pt modelId="{72150EC6-ED65-496D-9EFA-81FDBD7D8D65}" type="sibTrans" cxnId="{5DA82314-DFD3-489C-BF15-3779AFCA3FFA}">
      <dgm:prSet/>
      <dgm:spPr/>
      <dgm:t>
        <a:bodyPr/>
        <a:lstStyle/>
        <a:p>
          <a:endParaRPr lang="zh-CN" altLang="en-US"/>
        </a:p>
      </dgm:t>
    </dgm:pt>
    <dgm:pt modelId="{B5830C33-3316-4D11-B7ED-158A96E906B4}" type="pres">
      <dgm:prSet presAssocID="{41C97DC8-1791-410C-859F-1BB5199168B6}" presName="cycle" presStyleCnt="0">
        <dgm:presLayoutVars>
          <dgm:chMax val="1"/>
          <dgm:dir/>
          <dgm:animLvl val="ctr"/>
          <dgm:resizeHandles val="exact"/>
        </dgm:presLayoutVars>
      </dgm:prSet>
      <dgm:spPr/>
      <dgm:t>
        <a:bodyPr/>
        <a:lstStyle/>
        <a:p>
          <a:endParaRPr lang="zh-CN" altLang="en-US"/>
        </a:p>
      </dgm:t>
    </dgm:pt>
    <dgm:pt modelId="{4D4851B4-1D77-40D8-8CF6-9344035D608F}" type="pres">
      <dgm:prSet presAssocID="{D48F0F64-0A38-4297-B4D7-6E98BDF70976}" presName="centerShape" presStyleLbl="node0" presStyleIdx="0" presStyleCnt="1" custScaleX="65504" custScaleY="65504"/>
      <dgm:spPr/>
      <dgm:t>
        <a:bodyPr/>
        <a:lstStyle/>
        <a:p>
          <a:endParaRPr lang="zh-CN" altLang="en-US"/>
        </a:p>
      </dgm:t>
    </dgm:pt>
    <dgm:pt modelId="{D0F94BA1-22CE-4C79-9905-00D39DB39550}" type="pres">
      <dgm:prSet presAssocID="{80841F95-531E-48F1-BB99-24B17C29858B}" presName="Name9" presStyleLbl="parChTrans1D2" presStyleIdx="0" presStyleCnt="4"/>
      <dgm:spPr/>
      <dgm:t>
        <a:bodyPr/>
        <a:lstStyle/>
        <a:p>
          <a:endParaRPr lang="zh-CN" altLang="en-US"/>
        </a:p>
      </dgm:t>
    </dgm:pt>
    <dgm:pt modelId="{D3B761B2-D30C-4F66-A8EB-A8E3F9076624}" type="pres">
      <dgm:prSet presAssocID="{80841F95-531E-48F1-BB99-24B17C29858B}" presName="connTx" presStyleLbl="parChTrans1D2" presStyleIdx="0" presStyleCnt="4"/>
      <dgm:spPr/>
      <dgm:t>
        <a:bodyPr/>
        <a:lstStyle/>
        <a:p>
          <a:endParaRPr lang="zh-CN" altLang="en-US"/>
        </a:p>
      </dgm:t>
    </dgm:pt>
    <dgm:pt modelId="{77D1F0F1-1725-4E01-A0EF-F0F8DD9434B4}" type="pres">
      <dgm:prSet presAssocID="{3AF70802-C31E-4098-8A60-2DDA048DCD98}" presName="node" presStyleLbl="node1" presStyleIdx="0" presStyleCnt="4" custScaleX="126086" custScaleY="126086">
        <dgm:presLayoutVars>
          <dgm:bulletEnabled val="1"/>
        </dgm:presLayoutVars>
      </dgm:prSet>
      <dgm:spPr/>
      <dgm:t>
        <a:bodyPr/>
        <a:lstStyle/>
        <a:p>
          <a:endParaRPr lang="zh-CN" altLang="en-US"/>
        </a:p>
      </dgm:t>
    </dgm:pt>
    <dgm:pt modelId="{E0DFEABC-BC3D-4A43-A17C-E415318F6E71}" type="pres">
      <dgm:prSet presAssocID="{5029043E-09F3-491F-8BD9-A0FBEAF9E2ED}" presName="Name9" presStyleLbl="parChTrans1D2" presStyleIdx="1" presStyleCnt="4"/>
      <dgm:spPr/>
      <dgm:t>
        <a:bodyPr/>
        <a:lstStyle/>
        <a:p>
          <a:endParaRPr lang="zh-CN" altLang="en-US"/>
        </a:p>
      </dgm:t>
    </dgm:pt>
    <dgm:pt modelId="{37C04DE0-99C3-45EE-8C61-DE5EA502AB86}" type="pres">
      <dgm:prSet presAssocID="{5029043E-09F3-491F-8BD9-A0FBEAF9E2ED}" presName="connTx" presStyleLbl="parChTrans1D2" presStyleIdx="1" presStyleCnt="4"/>
      <dgm:spPr/>
      <dgm:t>
        <a:bodyPr/>
        <a:lstStyle/>
        <a:p>
          <a:endParaRPr lang="zh-CN" altLang="en-US"/>
        </a:p>
      </dgm:t>
    </dgm:pt>
    <dgm:pt modelId="{7B70E1F6-F2A8-430A-8D3C-DD1EBA64CDCF}" type="pres">
      <dgm:prSet presAssocID="{40E0E1BB-9FAA-49F8-B4DE-B9FE911D8DB1}" presName="node" presStyleLbl="node1" presStyleIdx="1" presStyleCnt="4" custScaleX="125625" custScaleY="125625">
        <dgm:presLayoutVars>
          <dgm:bulletEnabled val="1"/>
        </dgm:presLayoutVars>
      </dgm:prSet>
      <dgm:spPr/>
      <dgm:t>
        <a:bodyPr/>
        <a:lstStyle/>
        <a:p>
          <a:endParaRPr lang="zh-CN" altLang="en-US"/>
        </a:p>
      </dgm:t>
    </dgm:pt>
    <dgm:pt modelId="{3B173397-A5F8-45E7-9D98-C800269CF76A}" type="pres">
      <dgm:prSet presAssocID="{562EF5DC-DC92-468F-BC49-C2443D446BB8}" presName="Name9" presStyleLbl="parChTrans1D2" presStyleIdx="2" presStyleCnt="4"/>
      <dgm:spPr/>
      <dgm:t>
        <a:bodyPr/>
        <a:lstStyle/>
        <a:p>
          <a:endParaRPr lang="zh-CN" altLang="en-US"/>
        </a:p>
      </dgm:t>
    </dgm:pt>
    <dgm:pt modelId="{41EF01A0-7588-4E9E-84CD-54D35FF6A876}" type="pres">
      <dgm:prSet presAssocID="{562EF5DC-DC92-468F-BC49-C2443D446BB8}" presName="connTx" presStyleLbl="parChTrans1D2" presStyleIdx="2" presStyleCnt="4"/>
      <dgm:spPr/>
      <dgm:t>
        <a:bodyPr/>
        <a:lstStyle/>
        <a:p>
          <a:endParaRPr lang="zh-CN" altLang="en-US"/>
        </a:p>
      </dgm:t>
    </dgm:pt>
    <dgm:pt modelId="{C566E67D-D1F0-4067-8C7A-1ADD2A95E8DC}" type="pres">
      <dgm:prSet presAssocID="{9846C11F-A0A1-44A7-BB47-8DD2057DD00C}" presName="node" presStyleLbl="node1" presStyleIdx="2" presStyleCnt="4" custScaleX="127887" custScaleY="127887">
        <dgm:presLayoutVars>
          <dgm:bulletEnabled val="1"/>
        </dgm:presLayoutVars>
      </dgm:prSet>
      <dgm:spPr/>
      <dgm:t>
        <a:bodyPr/>
        <a:lstStyle/>
        <a:p>
          <a:endParaRPr lang="zh-CN" altLang="en-US"/>
        </a:p>
      </dgm:t>
    </dgm:pt>
    <dgm:pt modelId="{FCF7B786-69D0-4E33-8FE0-F1F42708B837}" type="pres">
      <dgm:prSet presAssocID="{073205C0-7E25-44FC-89F2-6A99368EF6A6}" presName="Name9" presStyleLbl="parChTrans1D2" presStyleIdx="3" presStyleCnt="4"/>
      <dgm:spPr/>
      <dgm:t>
        <a:bodyPr/>
        <a:lstStyle/>
        <a:p>
          <a:endParaRPr lang="zh-CN" altLang="en-US"/>
        </a:p>
      </dgm:t>
    </dgm:pt>
    <dgm:pt modelId="{32C33628-6243-46C7-A48F-177DB6F5C15C}" type="pres">
      <dgm:prSet presAssocID="{073205C0-7E25-44FC-89F2-6A99368EF6A6}" presName="connTx" presStyleLbl="parChTrans1D2" presStyleIdx="3" presStyleCnt="4"/>
      <dgm:spPr/>
      <dgm:t>
        <a:bodyPr/>
        <a:lstStyle/>
        <a:p>
          <a:endParaRPr lang="zh-CN" altLang="en-US"/>
        </a:p>
      </dgm:t>
    </dgm:pt>
    <dgm:pt modelId="{E74F3C33-FDCB-49DB-B5DF-8519460BE454}" type="pres">
      <dgm:prSet presAssocID="{614087CA-6C5D-4692-81BA-2EFACC6C0344}" presName="node" presStyleLbl="node1" presStyleIdx="3" presStyleCnt="4" custScaleX="128348" custScaleY="128348">
        <dgm:presLayoutVars>
          <dgm:bulletEnabled val="1"/>
        </dgm:presLayoutVars>
      </dgm:prSet>
      <dgm:spPr/>
      <dgm:t>
        <a:bodyPr/>
        <a:lstStyle/>
        <a:p>
          <a:endParaRPr lang="zh-CN" altLang="en-US"/>
        </a:p>
      </dgm:t>
    </dgm:pt>
  </dgm:ptLst>
  <dgm:cxnLst>
    <dgm:cxn modelId="{4FB8806D-8086-482C-BCE8-AB6D6D4B171D}" type="presOf" srcId="{D48F0F64-0A38-4297-B4D7-6E98BDF70976}" destId="{4D4851B4-1D77-40D8-8CF6-9344035D608F}" srcOrd="0" destOrd="0" presId="urn:microsoft.com/office/officeart/2005/8/layout/radial1#1"/>
    <dgm:cxn modelId="{A7AE12D1-23AE-4AD9-A803-AEB050666D8D}" srcId="{D48F0F64-0A38-4297-B4D7-6E98BDF70976}" destId="{3AF70802-C31E-4098-8A60-2DDA048DCD98}" srcOrd="0" destOrd="0" parTransId="{80841F95-531E-48F1-BB99-24B17C29858B}" sibTransId="{B6D546D0-47B2-4306-8189-42FD736F89E6}"/>
    <dgm:cxn modelId="{225DCEBD-00A5-4984-8C69-97C3D40E191C}" type="presOf" srcId="{073205C0-7E25-44FC-89F2-6A99368EF6A6}" destId="{32C33628-6243-46C7-A48F-177DB6F5C15C}" srcOrd="1" destOrd="0" presId="urn:microsoft.com/office/officeart/2005/8/layout/radial1#1"/>
    <dgm:cxn modelId="{A015FBF3-ECF4-4BB9-AEAF-891C83F04909}" type="presOf" srcId="{80841F95-531E-48F1-BB99-24B17C29858B}" destId="{D3B761B2-D30C-4F66-A8EB-A8E3F9076624}" srcOrd="1" destOrd="0" presId="urn:microsoft.com/office/officeart/2005/8/layout/radial1#1"/>
    <dgm:cxn modelId="{5DA82314-DFD3-489C-BF15-3779AFCA3FFA}" srcId="{D48F0F64-0A38-4297-B4D7-6E98BDF70976}" destId="{614087CA-6C5D-4692-81BA-2EFACC6C0344}" srcOrd="3" destOrd="0" parTransId="{073205C0-7E25-44FC-89F2-6A99368EF6A6}" sibTransId="{72150EC6-ED65-496D-9EFA-81FDBD7D8D65}"/>
    <dgm:cxn modelId="{DEF6233A-0F5F-4E4F-9554-163DDE840485}" type="presOf" srcId="{073205C0-7E25-44FC-89F2-6A99368EF6A6}" destId="{FCF7B786-69D0-4E33-8FE0-F1F42708B837}" srcOrd="0" destOrd="0" presId="urn:microsoft.com/office/officeart/2005/8/layout/radial1#1"/>
    <dgm:cxn modelId="{3976A7CA-879E-4A54-97D9-15A8B766C55F}" type="presOf" srcId="{9846C11F-A0A1-44A7-BB47-8DD2057DD00C}" destId="{C566E67D-D1F0-4067-8C7A-1ADD2A95E8DC}" srcOrd="0" destOrd="0" presId="urn:microsoft.com/office/officeart/2005/8/layout/radial1#1"/>
    <dgm:cxn modelId="{DB7225E0-D48F-401D-AACF-F4DF321E8F40}" srcId="{D48F0F64-0A38-4297-B4D7-6E98BDF70976}" destId="{9846C11F-A0A1-44A7-BB47-8DD2057DD00C}" srcOrd="2" destOrd="0" parTransId="{562EF5DC-DC92-468F-BC49-C2443D446BB8}" sibTransId="{45FABD6E-43E8-4E3D-844F-32B5002CCCA1}"/>
    <dgm:cxn modelId="{690375AE-E591-41E1-9807-22FF8A272935}" srcId="{41C97DC8-1791-410C-859F-1BB5199168B6}" destId="{D48F0F64-0A38-4297-B4D7-6E98BDF70976}" srcOrd="0" destOrd="0" parTransId="{6A03C138-6910-479D-98CA-B1A8827E980E}" sibTransId="{C99131F5-AAA5-4790-940A-494095246161}"/>
    <dgm:cxn modelId="{E5815E90-FAE8-43A9-A25C-4C2DDE75D7B7}" type="presOf" srcId="{562EF5DC-DC92-468F-BC49-C2443D446BB8}" destId="{41EF01A0-7588-4E9E-84CD-54D35FF6A876}" srcOrd="1" destOrd="0" presId="urn:microsoft.com/office/officeart/2005/8/layout/radial1#1"/>
    <dgm:cxn modelId="{133ACEDF-1AFD-40D9-9851-BB9F3BC0209A}" type="presOf" srcId="{5029043E-09F3-491F-8BD9-A0FBEAF9E2ED}" destId="{37C04DE0-99C3-45EE-8C61-DE5EA502AB86}" srcOrd="1" destOrd="0" presId="urn:microsoft.com/office/officeart/2005/8/layout/radial1#1"/>
    <dgm:cxn modelId="{293AF7E3-02B3-448A-AC25-75AD6AA557C0}" type="presOf" srcId="{3AF70802-C31E-4098-8A60-2DDA048DCD98}" destId="{77D1F0F1-1725-4E01-A0EF-F0F8DD9434B4}" srcOrd="0" destOrd="0" presId="urn:microsoft.com/office/officeart/2005/8/layout/radial1#1"/>
    <dgm:cxn modelId="{850A2A90-D293-4F4D-98D6-45E09DD8B0FC}" type="presOf" srcId="{80841F95-531E-48F1-BB99-24B17C29858B}" destId="{D0F94BA1-22CE-4C79-9905-00D39DB39550}" srcOrd="0" destOrd="0" presId="urn:microsoft.com/office/officeart/2005/8/layout/radial1#1"/>
    <dgm:cxn modelId="{DDD8092F-2FA5-4A0B-90AE-AA7CD12A1511}" type="presOf" srcId="{5029043E-09F3-491F-8BD9-A0FBEAF9E2ED}" destId="{E0DFEABC-BC3D-4A43-A17C-E415318F6E71}" srcOrd="0" destOrd="0" presId="urn:microsoft.com/office/officeart/2005/8/layout/radial1#1"/>
    <dgm:cxn modelId="{AA3F311F-9931-4D75-AABD-80A80CB96859}" type="presOf" srcId="{562EF5DC-DC92-468F-BC49-C2443D446BB8}" destId="{3B173397-A5F8-45E7-9D98-C800269CF76A}" srcOrd="0" destOrd="0" presId="urn:microsoft.com/office/officeart/2005/8/layout/radial1#1"/>
    <dgm:cxn modelId="{037EEABE-638A-4491-9AA0-CBEAAC3213B2}" srcId="{D48F0F64-0A38-4297-B4D7-6E98BDF70976}" destId="{40E0E1BB-9FAA-49F8-B4DE-B9FE911D8DB1}" srcOrd="1" destOrd="0" parTransId="{5029043E-09F3-491F-8BD9-A0FBEAF9E2ED}" sibTransId="{60FBA313-244E-4095-93CF-7417CE2775FA}"/>
    <dgm:cxn modelId="{306191BC-40B0-4402-A6B0-7933D8ADB808}" type="presOf" srcId="{40E0E1BB-9FAA-49F8-B4DE-B9FE911D8DB1}" destId="{7B70E1F6-F2A8-430A-8D3C-DD1EBA64CDCF}" srcOrd="0" destOrd="0" presId="urn:microsoft.com/office/officeart/2005/8/layout/radial1#1"/>
    <dgm:cxn modelId="{2C8E7A68-37FF-4758-B407-4B2FFDF3FC20}" type="presOf" srcId="{41C97DC8-1791-410C-859F-1BB5199168B6}" destId="{B5830C33-3316-4D11-B7ED-158A96E906B4}" srcOrd="0" destOrd="0" presId="urn:microsoft.com/office/officeart/2005/8/layout/radial1#1"/>
    <dgm:cxn modelId="{5DA57285-D5D5-4FEC-A917-880AD41B71E2}" type="presOf" srcId="{614087CA-6C5D-4692-81BA-2EFACC6C0344}" destId="{E74F3C33-FDCB-49DB-B5DF-8519460BE454}" srcOrd="0" destOrd="0" presId="urn:microsoft.com/office/officeart/2005/8/layout/radial1#1"/>
    <dgm:cxn modelId="{0D88C2F7-1840-472C-AB15-CFEF117EBCFE}" type="presParOf" srcId="{B5830C33-3316-4D11-B7ED-158A96E906B4}" destId="{4D4851B4-1D77-40D8-8CF6-9344035D608F}" srcOrd="0" destOrd="0" presId="urn:microsoft.com/office/officeart/2005/8/layout/radial1#1"/>
    <dgm:cxn modelId="{2825A968-DB60-4ADA-A9BC-CB5ED8583F9C}" type="presParOf" srcId="{B5830C33-3316-4D11-B7ED-158A96E906B4}" destId="{D0F94BA1-22CE-4C79-9905-00D39DB39550}" srcOrd="1" destOrd="0" presId="urn:microsoft.com/office/officeart/2005/8/layout/radial1#1"/>
    <dgm:cxn modelId="{40BE55B6-0C74-46AF-99C0-3E4D7D458F16}" type="presParOf" srcId="{D0F94BA1-22CE-4C79-9905-00D39DB39550}" destId="{D3B761B2-D30C-4F66-A8EB-A8E3F9076624}" srcOrd="0" destOrd="0" presId="urn:microsoft.com/office/officeart/2005/8/layout/radial1#1"/>
    <dgm:cxn modelId="{C572E6FA-1474-40CD-AE30-C44BD8505661}" type="presParOf" srcId="{B5830C33-3316-4D11-B7ED-158A96E906B4}" destId="{77D1F0F1-1725-4E01-A0EF-F0F8DD9434B4}" srcOrd="2" destOrd="0" presId="urn:microsoft.com/office/officeart/2005/8/layout/radial1#1"/>
    <dgm:cxn modelId="{5435EE60-5961-4266-AD22-29667D82AA81}" type="presParOf" srcId="{B5830C33-3316-4D11-B7ED-158A96E906B4}" destId="{E0DFEABC-BC3D-4A43-A17C-E415318F6E71}" srcOrd="3" destOrd="0" presId="urn:microsoft.com/office/officeart/2005/8/layout/radial1#1"/>
    <dgm:cxn modelId="{3CAF7868-CEAB-4F4D-9639-594C68DEFC73}" type="presParOf" srcId="{E0DFEABC-BC3D-4A43-A17C-E415318F6E71}" destId="{37C04DE0-99C3-45EE-8C61-DE5EA502AB86}" srcOrd="0" destOrd="0" presId="urn:microsoft.com/office/officeart/2005/8/layout/radial1#1"/>
    <dgm:cxn modelId="{ECD23126-0AF6-4F7F-B8A5-51CF5B9AA82C}" type="presParOf" srcId="{B5830C33-3316-4D11-B7ED-158A96E906B4}" destId="{7B70E1F6-F2A8-430A-8D3C-DD1EBA64CDCF}" srcOrd="4" destOrd="0" presId="urn:microsoft.com/office/officeart/2005/8/layout/radial1#1"/>
    <dgm:cxn modelId="{B1D8336D-A64D-4B4A-90CB-8FD40C6ADEFA}" type="presParOf" srcId="{B5830C33-3316-4D11-B7ED-158A96E906B4}" destId="{3B173397-A5F8-45E7-9D98-C800269CF76A}" srcOrd="5" destOrd="0" presId="urn:microsoft.com/office/officeart/2005/8/layout/radial1#1"/>
    <dgm:cxn modelId="{AB23258C-F23A-4096-9A9B-74160ACD60F1}" type="presParOf" srcId="{3B173397-A5F8-45E7-9D98-C800269CF76A}" destId="{41EF01A0-7588-4E9E-84CD-54D35FF6A876}" srcOrd="0" destOrd="0" presId="urn:microsoft.com/office/officeart/2005/8/layout/radial1#1"/>
    <dgm:cxn modelId="{991E8832-4249-416D-8F67-C7A8F5EFAD9A}" type="presParOf" srcId="{B5830C33-3316-4D11-B7ED-158A96E906B4}" destId="{C566E67D-D1F0-4067-8C7A-1ADD2A95E8DC}" srcOrd="6" destOrd="0" presId="urn:microsoft.com/office/officeart/2005/8/layout/radial1#1"/>
    <dgm:cxn modelId="{FDFDD284-4157-4961-8F6A-5148F72A6D0B}" type="presParOf" srcId="{B5830C33-3316-4D11-B7ED-158A96E906B4}" destId="{FCF7B786-69D0-4E33-8FE0-F1F42708B837}" srcOrd="7" destOrd="0" presId="urn:microsoft.com/office/officeart/2005/8/layout/radial1#1"/>
    <dgm:cxn modelId="{C6B183B5-77D8-4304-B68C-D6F3FA110948}" type="presParOf" srcId="{FCF7B786-69D0-4E33-8FE0-F1F42708B837}" destId="{32C33628-6243-46C7-A48F-177DB6F5C15C}" srcOrd="0" destOrd="0" presId="urn:microsoft.com/office/officeart/2005/8/layout/radial1#1"/>
    <dgm:cxn modelId="{81C1063C-5C2B-42FF-9C99-ACCAB609EF83}" type="presParOf" srcId="{B5830C33-3316-4D11-B7ED-158A96E906B4}" destId="{E74F3C33-FDCB-49DB-B5DF-8519460BE454}" srcOrd="8" destOrd="0" presId="urn:microsoft.com/office/officeart/2005/8/layout/radial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851B4-1D77-40D8-8CF6-9344035D608F}">
      <dsp:nvSpPr>
        <dsp:cNvPr id="0" name=""/>
        <dsp:cNvSpPr/>
      </dsp:nvSpPr>
      <dsp:spPr>
        <a:xfrm>
          <a:off x="2842901" y="1728693"/>
          <a:ext cx="762418" cy="762418"/>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b="1" kern="1200" dirty="0" smtClean="0"/>
            <a:t>类型</a:t>
          </a:r>
          <a:endParaRPr lang="zh-CN" altLang="en-US" sz="2000" b="1" kern="1200" dirty="0"/>
        </a:p>
      </dsp:txBody>
      <dsp:txXfrm>
        <a:off x="2954555" y="1840347"/>
        <a:ext cx="539110" cy="539110"/>
      </dsp:txXfrm>
    </dsp:sp>
    <dsp:sp modelId="{D0F94BA1-22CE-4C79-9905-00D39DB39550}">
      <dsp:nvSpPr>
        <dsp:cNvPr id="0" name=""/>
        <dsp:cNvSpPr/>
      </dsp:nvSpPr>
      <dsp:spPr>
        <a:xfrm rot="16200000">
          <a:off x="3024178" y="1512475"/>
          <a:ext cx="399866" cy="32570"/>
        </a:xfrm>
        <a:custGeom>
          <a:avLst/>
          <a:gdLst/>
          <a:ahLst/>
          <a:cxnLst/>
          <a:rect l="0" t="0" r="0" b="0"/>
          <a:pathLst>
            <a:path>
              <a:moveTo>
                <a:pt x="0" y="16285"/>
              </a:moveTo>
              <a:lnTo>
                <a:pt x="399866" y="16285"/>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214114" y="1518764"/>
        <a:ext cx="19993" cy="19993"/>
      </dsp:txXfrm>
    </dsp:sp>
    <dsp:sp modelId="{77D1F0F1-1725-4E01-A0EF-F0F8DD9434B4}">
      <dsp:nvSpPr>
        <dsp:cNvPr id="0" name=""/>
        <dsp:cNvSpPr/>
      </dsp:nvSpPr>
      <dsp:spPr>
        <a:xfrm>
          <a:off x="2490336" y="-138721"/>
          <a:ext cx="1467549" cy="146754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t>主从式</a:t>
          </a:r>
          <a:endParaRPr lang="zh-CN" altLang="en-US" sz="2400" b="1" kern="1200" dirty="0"/>
        </a:p>
      </dsp:txBody>
      <dsp:txXfrm>
        <a:off x="2705254" y="76197"/>
        <a:ext cx="1037713" cy="1037713"/>
      </dsp:txXfrm>
    </dsp:sp>
    <dsp:sp modelId="{E0DFEABC-BC3D-4A43-A17C-E415318F6E71}">
      <dsp:nvSpPr>
        <dsp:cNvPr id="0" name=""/>
        <dsp:cNvSpPr/>
      </dsp:nvSpPr>
      <dsp:spPr>
        <a:xfrm>
          <a:off x="3605320" y="2093618"/>
          <a:ext cx="402549" cy="32570"/>
        </a:xfrm>
        <a:custGeom>
          <a:avLst/>
          <a:gdLst/>
          <a:ahLst/>
          <a:cxnLst/>
          <a:rect l="0" t="0" r="0" b="0"/>
          <a:pathLst>
            <a:path>
              <a:moveTo>
                <a:pt x="0" y="16285"/>
              </a:moveTo>
              <a:lnTo>
                <a:pt x="402549" y="16285"/>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796531" y="2099839"/>
        <a:ext cx="20127" cy="20127"/>
      </dsp:txXfrm>
    </dsp:sp>
    <dsp:sp modelId="{7B70E1F6-F2A8-430A-8D3C-DD1EBA64CDCF}">
      <dsp:nvSpPr>
        <dsp:cNvPr id="0" name=""/>
        <dsp:cNvSpPr/>
      </dsp:nvSpPr>
      <dsp:spPr>
        <a:xfrm>
          <a:off x="4007870" y="1378811"/>
          <a:ext cx="1462183" cy="1462183"/>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t>会话式</a:t>
          </a:r>
          <a:endParaRPr lang="zh-CN" altLang="en-US" sz="2400" b="1" kern="1200" dirty="0"/>
        </a:p>
      </dsp:txBody>
      <dsp:txXfrm>
        <a:off x="4222002" y="1592943"/>
        <a:ext cx="1033919" cy="1033919"/>
      </dsp:txXfrm>
    </dsp:sp>
    <dsp:sp modelId="{3B173397-A5F8-45E7-9D98-C800269CF76A}">
      <dsp:nvSpPr>
        <dsp:cNvPr id="0" name=""/>
        <dsp:cNvSpPr/>
      </dsp:nvSpPr>
      <dsp:spPr>
        <a:xfrm rot="5400000">
          <a:off x="3029418" y="2669520"/>
          <a:ext cx="389385" cy="32570"/>
        </a:xfrm>
        <a:custGeom>
          <a:avLst/>
          <a:gdLst/>
          <a:ahLst/>
          <a:cxnLst/>
          <a:rect l="0" t="0" r="0" b="0"/>
          <a:pathLst>
            <a:path>
              <a:moveTo>
                <a:pt x="0" y="16285"/>
              </a:moveTo>
              <a:lnTo>
                <a:pt x="389385" y="16285"/>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214376" y="2676070"/>
        <a:ext cx="19469" cy="19469"/>
      </dsp:txXfrm>
    </dsp:sp>
    <dsp:sp modelId="{C566E67D-D1F0-4067-8C7A-1ADD2A95E8DC}">
      <dsp:nvSpPr>
        <dsp:cNvPr id="0" name=""/>
        <dsp:cNvSpPr/>
      </dsp:nvSpPr>
      <dsp:spPr>
        <a:xfrm>
          <a:off x="2479855" y="2880498"/>
          <a:ext cx="1488511" cy="1488511"/>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t>消息或邮箱机制</a:t>
          </a:r>
          <a:endParaRPr lang="zh-CN" altLang="en-US" sz="2400" b="1" kern="1200" dirty="0"/>
        </a:p>
      </dsp:txBody>
      <dsp:txXfrm>
        <a:off x="2697842" y="3098485"/>
        <a:ext cx="1052537" cy="1052537"/>
      </dsp:txXfrm>
    </dsp:sp>
    <dsp:sp modelId="{FCF7B786-69D0-4E33-8FE0-F1F42708B837}">
      <dsp:nvSpPr>
        <dsp:cNvPr id="0" name=""/>
        <dsp:cNvSpPr/>
      </dsp:nvSpPr>
      <dsp:spPr>
        <a:xfrm rot="10800000">
          <a:off x="2456199" y="2093618"/>
          <a:ext cx="386702" cy="32570"/>
        </a:xfrm>
        <a:custGeom>
          <a:avLst/>
          <a:gdLst/>
          <a:ahLst/>
          <a:cxnLst/>
          <a:rect l="0" t="0" r="0" b="0"/>
          <a:pathLst>
            <a:path>
              <a:moveTo>
                <a:pt x="0" y="16285"/>
              </a:moveTo>
              <a:lnTo>
                <a:pt x="386702" y="16285"/>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rot="10800000">
        <a:off x="2639883" y="2100235"/>
        <a:ext cx="19335" cy="19335"/>
      </dsp:txXfrm>
    </dsp:sp>
    <dsp:sp modelId="{E74F3C33-FDCB-49DB-B5DF-8519460BE454}">
      <dsp:nvSpPr>
        <dsp:cNvPr id="0" name=""/>
        <dsp:cNvSpPr/>
      </dsp:nvSpPr>
      <dsp:spPr>
        <a:xfrm>
          <a:off x="962322" y="1362964"/>
          <a:ext cx="1493877" cy="1493877"/>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t>共享存储区方式</a:t>
          </a:r>
          <a:endParaRPr lang="zh-CN" altLang="en-US" sz="2400" b="1" kern="1200" dirty="0"/>
        </a:p>
      </dsp:txBody>
      <dsp:txXfrm>
        <a:off x="1181095" y="1581737"/>
        <a:ext cx="1056331" cy="1056331"/>
      </dsp:txXfrm>
    </dsp:sp>
  </dsp:spTree>
</dsp:drawing>
</file>

<file path=ppt/diagrams/layout1.xml><?xml version="1.0" encoding="utf-8"?>
<dgm:layoutDef xmlns:dgm="http://schemas.openxmlformats.org/drawingml/2006/diagram" xmlns:a="http://schemas.openxmlformats.org/drawingml/2006/main" uniqueId="urn:microsoft.com/office/officeart/2005/8/layout/radial1#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CE70C7-2C26-4505-8578-4D978357873D}" type="datetimeFigureOut">
              <a:rPr lang="zh-CN" altLang="en-US" smtClean="0"/>
              <a:t>2025/11/02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63B0A5-B27C-4FBD-B1E5-E777625DAE1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切回去</a:t>
            </a:r>
            <a:r>
              <a:rPr lang="en-US" altLang="zh-CN" dirty="0" smtClean="0"/>
              <a:t>ax</a:t>
            </a:r>
            <a:r>
              <a:rPr lang="zh-CN" altLang="en-US" dirty="0" smtClean="0"/>
              <a:t>和</a:t>
            </a:r>
            <a:r>
              <a:rPr lang="en-US" altLang="zh-CN" dirty="0" err="1" smtClean="0"/>
              <a:t>bx</a:t>
            </a:r>
            <a:r>
              <a:rPr lang="zh-CN" altLang="en-US" dirty="0" smtClean="0"/>
              <a:t>的值变了，因此之前必须把原来的</a:t>
            </a:r>
            <a:r>
              <a:rPr lang="en-US" altLang="zh-CN" dirty="0" smtClean="0"/>
              <a:t>ax</a:t>
            </a:r>
            <a:r>
              <a:rPr lang="zh-CN" altLang="en-US" dirty="0" smtClean="0"/>
              <a:t>和</a:t>
            </a:r>
            <a:r>
              <a:rPr lang="en-US" altLang="zh-CN" dirty="0" err="1" smtClean="0"/>
              <a:t>bx</a:t>
            </a:r>
            <a:r>
              <a:rPr lang="zh-CN" altLang="en-US" dirty="0" smtClean="0"/>
              <a:t>的值记录下来。</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需要使用汇编语言编写，需要精细处理哪些数据放到那个寄存器中，不能使用</a:t>
            </a:r>
            <a:r>
              <a:rPr lang="en-US" altLang="zh-CN" dirty="0" smtClean="0"/>
              <a:t>C</a:t>
            </a:r>
            <a:r>
              <a:rPr lang="zh-CN" altLang="en-US" dirty="0" smtClean="0"/>
              <a:t>语言</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44</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49</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120</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122</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55000" lnSpcReduction="20000"/>
          </a:bodyPr>
          <a:lstStyle/>
          <a:p>
            <a:r>
              <a:rPr lang="zh-CN" altLang="en-US" sz="1200" b="1" i="0" kern="1200" dirty="0" smtClean="0">
                <a:solidFill>
                  <a:schemeClr val="tx1"/>
                </a:solidFill>
                <a:effectLst/>
                <a:latin typeface="+mn-lt"/>
                <a:ea typeface="+mn-ea"/>
                <a:cs typeface="+mn-cs"/>
              </a:rPr>
              <a:t>分析</a:t>
            </a:r>
            <a:r>
              <a:rPr lang="zh-CN" altLang="en-US" sz="1200" b="0" i="0" kern="1200" dirty="0" smtClean="0">
                <a:solidFill>
                  <a:schemeClr val="tx1"/>
                </a:solidFill>
                <a:effectLst/>
                <a:latin typeface="+mn-lt"/>
                <a:ea typeface="+mn-ea"/>
                <a:cs typeface="+mn-cs"/>
              </a:rPr>
              <a:t>在本题中，爸爸、儿子、女儿共用一个盘子，盘中一次只能放一个水果。当盘子为空时，爸爸可将一个水果放入果盘中。若放入果盘中的是桔子，则允许儿子吃，女儿必须等待；若放入果盘中的是苹果，则允许女儿吃，儿子必须等待。本题实际上是生产者</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消费者问题的一种变形。这里，生产者放入缓冲区的产品有两类，消费者也有两类，每类消费者只消费其中固定的一类产品。</a:t>
            </a:r>
          </a:p>
          <a:p>
            <a:r>
              <a:rPr lang="zh-CN" altLang="en-US" sz="1200" b="0" i="0" kern="1200" dirty="0" smtClean="0">
                <a:solidFill>
                  <a:schemeClr val="tx1"/>
                </a:solidFill>
                <a:effectLst/>
                <a:latin typeface="+mn-lt"/>
                <a:ea typeface="+mn-ea"/>
                <a:cs typeface="+mn-cs"/>
              </a:rPr>
              <a:t>    </a:t>
            </a:r>
            <a:r>
              <a:rPr lang="zh-CN" altLang="en-US" sz="1200" b="1" i="0" kern="1200" dirty="0" smtClean="0">
                <a:solidFill>
                  <a:schemeClr val="tx1"/>
                </a:solidFill>
                <a:effectLst/>
                <a:latin typeface="+mn-lt"/>
                <a:ea typeface="+mn-ea"/>
                <a:cs typeface="+mn-cs"/>
              </a:rPr>
              <a:t>解</a:t>
            </a:r>
            <a:r>
              <a:rPr lang="zh-CN" altLang="en-US" sz="1200" b="0" i="0" kern="1200" dirty="0" smtClean="0">
                <a:solidFill>
                  <a:schemeClr val="tx1"/>
                </a:solidFill>
                <a:effectLst/>
                <a:latin typeface="+mn-lt"/>
                <a:ea typeface="+mn-ea"/>
                <a:cs typeface="+mn-cs"/>
              </a:rPr>
              <a:t>：在本题中，应设置三个信号量</a:t>
            </a:r>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So</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Sa</a:t>
            </a:r>
            <a:r>
              <a:rPr lang="zh-CN" altLang="en-US" sz="1200" b="0" i="0" kern="1200" dirty="0" smtClean="0">
                <a:solidFill>
                  <a:schemeClr val="tx1"/>
                </a:solidFill>
                <a:effectLst/>
                <a:latin typeface="+mn-lt"/>
                <a:ea typeface="+mn-ea"/>
                <a:cs typeface="+mn-cs"/>
              </a:rPr>
              <a:t>，信号量</a:t>
            </a:r>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表示盘子是否为空，其初值为</a:t>
            </a:r>
            <a:r>
              <a:rPr lang="en-US" altLang="zh-CN" sz="1200" b="0" i="0" kern="1200" dirty="0" smtClean="0">
                <a:solidFill>
                  <a:schemeClr val="tx1"/>
                </a:solidFill>
                <a:effectLst/>
                <a:latin typeface="+mn-lt"/>
                <a:ea typeface="+mn-ea"/>
                <a:cs typeface="+mn-cs"/>
              </a:rPr>
              <a:t>l</a:t>
            </a:r>
            <a:r>
              <a:rPr lang="zh-CN" altLang="en-US" sz="1200" b="0" i="0" kern="1200" dirty="0" smtClean="0">
                <a:solidFill>
                  <a:schemeClr val="tx1"/>
                </a:solidFill>
                <a:effectLst/>
                <a:latin typeface="+mn-lt"/>
                <a:ea typeface="+mn-ea"/>
                <a:cs typeface="+mn-cs"/>
              </a:rPr>
              <a:t>；信号量</a:t>
            </a:r>
            <a:r>
              <a:rPr lang="en-US" altLang="zh-CN" sz="1200" b="0" i="0" kern="1200" dirty="0" smtClean="0">
                <a:solidFill>
                  <a:schemeClr val="tx1"/>
                </a:solidFill>
                <a:effectLst/>
                <a:latin typeface="+mn-lt"/>
                <a:ea typeface="+mn-ea"/>
                <a:cs typeface="+mn-cs"/>
              </a:rPr>
              <a:t>So</a:t>
            </a:r>
            <a:r>
              <a:rPr lang="zh-CN" altLang="en-US" sz="1200" b="0" i="0" kern="1200" dirty="0" smtClean="0">
                <a:solidFill>
                  <a:schemeClr val="tx1"/>
                </a:solidFill>
                <a:effectLst/>
                <a:latin typeface="+mn-lt"/>
                <a:ea typeface="+mn-ea"/>
                <a:cs typeface="+mn-cs"/>
              </a:rPr>
              <a:t>表示盘中是否有桔子，其初值为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；信号量</a:t>
            </a:r>
            <a:r>
              <a:rPr lang="en-US" altLang="zh-CN" sz="1200" b="0" i="0" kern="1200" dirty="0" smtClean="0">
                <a:solidFill>
                  <a:schemeClr val="tx1"/>
                </a:solidFill>
                <a:effectLst/>
                <a:latin typeface="+mn-lt"/>
                <a:ea typeface="+mn-ea"/>
                <a:cs typeface="+mn-cs"/>
              </a:rPr>
              <a:t>Sa</a:t>
            </a:r>
            <a:r>
              <a:rPr lang="zh-CN" altLang="en-US" sz="1200" b="0" i="0" kern="1200" dirty="0" smtClean="0">
                <a:solidFill>
                  <a:schemeClr val="tx1"/>
                </a:solidFill>
                <a:effectLst/>
                <a:latin typeface="+mn-lt"/>
                <a:ea typeface="+mn-ea"/>
                <a:cs typeface="+mn-cs"/>
              </a:rPr>
              <a:t>表示盘中是否有苹果，其初值为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。同步描述如下：</a:t>
            </a:r>
            <a:br>
              <a:rPr lang="zh-CN" altLang="en-US"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int</a:t>
            </a:r>
            <a:r>
              <a:rPr lang="en-US" altLang="zh-CN" sz="1200" b="0" i="0" kern="1200" dirty="0" smtClean="0">
                <a:solidFill>
                  <a:schemeClr val="tx1"/>
                </a:solidFill>
                <a:effectLst/>
                <a:latin typeface="+mn-lt"/>
                <a:ea typeface="+mn-ea"/>
                <a:cs typeface="+mn-cs"/>
              </a:rPr>
              <a:t> 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br>
              <a:rPr lang="en-US" altLang="zh-CN"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int</a:t>
            </a:r>
            <a:r>
              <a:rPr lang="en-US" altLang="zh-CN" sz="1200" b="0" i="0" kern="1200" dirty="0" smtClean="0">
                <a:solidFill>
                  <a:schemeClr val="tx1"/>
                </a:solidFill>
                <a:effectLst/>
                <a:latin typeface="+mn-lt"/>
                <a:ea typeface="+mn-ea"/>
                <a:cs typeface="+mn-cs"/>
              </a:rPr>
              <a:t> Sa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0;</a:t>
            </a:r>
            <a:br>
              <a:rPr lang="en-US" altLang="zh-CN"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int</a:t>
            </a:r>
            <a:r>
              <a:rPr lang="en-US" altLang="zh-CN" sz="1200" b="0" i="0" kern="1200" dirty="0" smtClean="0">
                <a:solidFill>
                  <a:schemeClr val="tx1"/>
                </a:solidFill>
                <a:effectLst/>
                <a:latin typeface="+mn-lt"/>
                <a:ea typeface="+mn-ea"/>
                <a:cs typeface="+mn-cs"/>
              </a:rPr>
              <a:t> So</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0;</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main()</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cobegin</a:t>
            </a:r>
            <a:r>
              <a:rPr lang="en-US" altLang="zh-CN" sz="1200" b="0" i="0" kern="1200" dirty="0" smtClean="0">
                <a:solidFill>
                  <a:schemeClr val="tx1"/>
                </a:solidFill>
                <a:effectLst/>
                <a:latin typeface="+mn-lt"/>
                <a:ea typeface="+mn-ea"/>
                <a:cs typeface="+mn-cs"/>
              </a:rPr>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father();      /*</a:t>
            </a:r>
            <a:r>
              <a:rPr lang="zh-CN" altLang="en-US" sz="1200" b="0" i="0" kern="1200" dirty="0" smtClean="0">
                <a:solidFill>
                  <a:schemeClr val="tx1"/>
                </a:solidFill>
                <a:effectLst/>
                <a:latin typeface="+mn-lt"/>
                <a:ea typeface="+mn-ea"/>
                <a:cs typeface="+mn-cs"/>
              </a:rPr>
              <a:t>父亲进程*</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son();        /*</a:t>
            </a:r>
            <a:r>
              <a:rPr lang="zh-CN" altLang="en-US" sz="1200" b="0" i="0" kern="1200" dirty="0" smtClean="0">
                <a:solidFill>
                  <a:schemeClr val="tx1"/>
                </a:solidFill>
                <a:effectLst/>
                <a:latin typeface="+mn-lt"/>
                <a:ea typeface="+mn-ea"/>
                <a:cs typeface="+mn-cs"/>
              </a:rPr>
              <a:t>儿子进程*</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daughter();    /*</a:t>
            </a:r>
            <a:r>
              <a:rPr lang="zh-CN" altLang="en-US" sz="1200" b="0" i="0" kern="1200" dirty="0" smtClean="0">
                <a:solidFill>
                  <a:schemeClr val="tx1"/>
                </a:solidFill>
                <a:effectLst/>
                <a:latin typeface="+mn-lt"/>
                <a:ea typeface="+mn-ea"/>
                <a:cs typeface="+mn-cs"/>
              </a:rPr>
              <a:t>女儿进程*</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coend</a:t>
            </a:r>
            <a:r>
              <a:rPr lang="en-US" altLang="zh-CN" sz="1200" b="0" i="0" kern="1200" dirty="0" smtClean="0">
                <a:solidFill>
                  <a:schemeClr val="tx1"/>
                </a:solidFill>
                <a:effectLst/>
                <a:latin typeface="+mn-lt"/>
                <a:ea typeface="+mn-ea"/>
                <a:cs typeface="+mn-cs"/>
              </a:rPr>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father()</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while(1)</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P(S);</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将水果放入盘中</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if</a:t>
            </a:r>
            <a:r>
              <a:rPr lang="zh-CN" altLang="en-US" sz="1200" b="0" i="0" kern="1200" dirty="0" smtClean="0">
                <a:solidFill>
                  <a:schemeClr val="tx1"/>
                </a:solidFill>
                <a:effectLst/>
                <a:latin typeface="+mn-lt"/>
                <a:ea typeface="+mn-ea"/>
                <a:cs typeface="+mn-cs"/>
              </a:rPr>
              <a:t>（放入的是桔子）</a:t>
            </a:r>
            <a:r>
              <a:rPr lang="en-US" altLang="zh-CN" sz="1200" b="0" i="0" kern="1200" dirty="0" smtClean="0">
                <a:solidFill>
                  <a:schemeClr val="tx1"/>
                </a:solidFill>
                <a:effectLst/>
                <a:latin typeface="+mn-lt"/>
                <a:ea typeface="+mn-ea"/>
                <a:cs typeface="+mn-cs"/>
              </a:rPr>
              <a:t>V(So);</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else  V(Sa);</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son()</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while(1)</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P(So);</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从盘中取出桔子</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V(S);</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吃桔子</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daughter()</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while(1)</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P(Sa);</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从盘中取出苹果</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V(S);</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吃苹果</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 </a:t>
            </a:r>
          </a:p>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55000" lnSpcReduction="20000"/>
          </a:bodyPr>
          <a:lstStyle/>
          <a:p>
            <a:r>
              <a:rPr lang="zh-CN" altLang="en-US" sz="1200" b="1" i="0" kern="1200" dirty="0" smtClean="0">
                <a:solidFill>
                  <a:schemeClr val="tx1"/>
                </a:solidFill>
                <a:effectLst/>
                <a:latin typeface="+mn-lt"/>
                <a:ea typeface="+mn-ea"/>
                <a:cs typeface="+mn-cs"/>
              </a:rPr>
              <a:t>分析</a:t>
            </a:r>
            <a:r>
              <a:rPr lang="zh-CN" altLang="en-US" sz="1200" b="0" i="0" kern="1200" dirty="0" smtClean="0">
                <a:solidFill>
                  <a:schemeClr val="tx1"/>
                </a:solidFill>
                <a:effectLst/>
                <a:latin typeface="+mn-lt"/>
                <a:ea typeface="+mn-ea"/>
                <a:cs typeface="+mn-cs"/>
              </a:rPr>
              <a:t>在本题中，爸爸、儿子、女儿共用一个盘子，盘中一次只能放一个水果。当盘子为空时，爸爸可将一个水果放入果盘中。若放入果盘中的是桔子，则允许儿子吃，女儿必须等待；若放入果盘中的是苹果，则允许女儿吃，儿子必须等待。本题实际上是生产者</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消费者问题的一种变形。这里，生产者放入缓冲区的产品有两类，消费者也有两类，每类消费者只消费其中固定的一类产品。</a:t>
            </a:r>
          </a:p>
          <a:p>
            <a:r>
              <a:rPr lang="zh-CN" altLang="en-US" sz="1200" b="0" i="0" kern="1200" dirty="0" smtClean="0">
                <a:solidFill>
                  <a:schemeClr val="tx1"/>
                </a:solidFill>
                <a:effectLst/>
                <a:latin typeface="+mn-lt"/>
                <a:ea typeface="+mn-ea"/>
                <a:cs typeface="+mn-cs"/>
              </a:rPr>
              <a:t>    </a:t>
            </a:r>
            <a:r>
              <a:rPr lang="zh-CN" altLang="en-US" sz="1200" b="1" i="0" kern="1200" dirty="0" smtClean="0">
                <a:solidFill>
                  <a:schemeClr val="tx1"/>
                </a:solidFill>
                <a:effectLst/>
                <a:latin typeface="+mn-lt"/>
                <a:ea typeface="+mn-ea"/>
                <a:cs typeface="+mn-cs"/>
              </a:rPr>
              <a:t>解</a:t>
            </a:r>
            <a:r>
              <a:rPr lang="zh-CN" altLang="en-US" sz="1200" b="0" i="0" kern="1200" dirty="0" smtClean="0">
                <a:solidFill>
                  <a:schemeClr val="tx1"/>
                </a:solidFill>
                <a:effectLst/>
                <a:latin typeface="+mn-lt"/>
                <a:ea typeface="+mn-ea"/>
                <a:cs typeface="+mn-cs"/>
              </a:rPr>
              <a:t>：在本题中，应设置三个信号量</a:t>
            </a:r>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So</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Sa</a:t>
            </a:r>
            <a:r>
              <a:rPr lang="zh-CN" altLang="en-US" sz="1200" b="0" i="0" kern="1200" dirty="0" smtClean="0">
                <a:solidFill>
                  <a:schemeClr val="tx1"/>
                </a:solidFill>
                <a:effectLst/>
                <a:latin typeface="+mn-lt"/>
                <a:ea typeface="+mn-ea"/>
                <a:cs typeface="+mn-cs"/>
              </a:rPr>
              <a:t>，信号量</a:t>
            </a:r>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表示盘子是否为空，其初值为</a:t>
            </a:r>
            <a:r>
              <a:rPr lang="en-US" altLang="zh-CN" sz="1200" b="0" i="0" kern="1200" dirty="0" smtClean="0">
                <a:solidFill>
                  <a:schemeClr val="tx1"/>
                </a:solidFill>
                <a:effectLst/>
                <a:latin typeface="+mn-lt"/>
                <a:ea typeface="+mn-ea"/>
                <a:cs typeface="+mn-cs"/>
              </a:rPr>
              <a:t>l</a:t>
            </a:r>
            <a:r>
              <a:rPr lang="zh-CN" altLang="en-US" sz="1200" b="0" i="0" kern="1200" dirty="0" smtClean="0">
                <a:solidFill>
                  <a:schemeClr val="tx1"/>
                </a:solidFill>
                <a:effectLst/>
                <a:latin typeface="+mn-lt"/>
                <a:ea typeface="+mn-ea"/>
                <a:cs typeface="+mn-cs"/>
              </a:rPr>
              <a:t>；信号量</a:t>
            </a:r>
            <a:r>
              <a:rPr lang="en-US" altLang="zh-CN" sz="1200" b="0" i="0" kern="1200" dirty="0" smtClean="0">
                <a:solidFill>
                  <a:schemeClr val="tx1"/>
                </a:solidFill>
                <a:effectLst/>
                <a:latin typeface="+mn-lt"/>
                <a:ea typeface="+mn-ea"/>
                <a:cs typeface="+mn-cs"/>
              </a:rPr>
              <a:t>So</a:t>
            </a:r>
            <a:r>
              <a:rPr lang="zh-CN" altLang="en-US" sz="1200" b="0" i="0" kern="1200" dirty="0" smtClean="0">
                <a:solidFill>
                  <a:schemeClr val="tx1"/>
                </a:solidFill>
                <a:effectLst/>
                <a:latin typeface="+mn-lt"/>
                <a:ea typeface="+mn-ea"/>
                <a:cs typeface="+mn-cs"/>
              </a:rPr>
              <a:t>表示盘中是否有桔子，其初值为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；信号量</a:t>
            </a:r>
            <a:r>
              <a:rPr lang="en-US" altLang="zh-CN" sz="1200" b="0" i="0" kern="1200" dirty="0" smtClean="0">
                <a:solidFill>
                  <a:schemeClr val="tx1"/>
                </a:solidFill>
                <a:effectLst/>
                <a:latin typeface="+mn-lt"/>
                <a:ea typeface="+mn-ea"/>
                <a:cs typeface="+mn-cs"/>
              </a:rPr>
              <a:t>Sa</a:t>
            </a:r>
            <a:r>
              <a:rPr lang="zh-CN" altLang="en-US" sz="1200" b="0" i="0" kern="1200" dirty="0" smtClean="0">
                <a:solidFill>
                  <a:schemeClr val="tx1"/>
                </a:solidFill>
                <a:effectLst/>
                <a:latin typeface="+mn-lt"/>
                <a:ea typeface="+mn-ea"/>
                <a:cs typeface="+mn-cs"/>
              </a:rPr>
              <a:t>表示盘中是否有苹果，其初值为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。同步描述如下：</a:t>
            </a:r>
            <a:br>
              <a:rPr lang="zh-CN" altLang="en-US"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int</a:t>
            </a:r>
            <a:r>
              <a:rPr lang="en-US" altLang="zh-CN" sz="1200" b="0" i="0" kern="1200" dirty="0" smtClean="0">
                <a:solidFill>
                  <a:schemeClr val="tx1"/>
                </a:solidFill>
                <a:effectLst/>
                <a:latin typeface="+mn-lt"/>
                <a:ea typeface="+mn-ea"/>
                <a:cs typeface="+mn-cs"/>
              </a:rPr>
              <a:t> 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br>
              <a:rPr lang="en-US" altLang="zh-CN"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int</a:t>
            </a:r>
            <a:r>
              <a:rPr lang="en-US" altLang="zh-CN" sz="1200" b="0" i="0" kern="1200" dirty="0" smtClean="0">
                <a:solidFill>
                  <a:schemeClr val="tx1"/>
                </a:solidFill>
                <a:effectLst/>
                <a:latin typeface="+mn-lt"/>
                <a:ea typeface="+mn-ea"/>
                <a:cs typeface="+mn-cs"/>
              </a:rPr>
              <a:t> Sa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0;</a:t>
            </a:r>
            <a:br>
              <a:rPr lang="en-US" altLang="zh-CN" sz="1200" b="0" i="0" kern="1200" dirty="0" smtClean="0">
                <a:solidFill>
                  <a:schemeClr val="tx1"/>
                </a:solidFill>
                <a:effectLst/>
                <a:latin typeface="+mn-lt"/>
                <a:ea typeface="+mn-ea"/>
                <a:cs typeface="+mn-cs"/>
              </a:rPr>
            </a:br>
            <a:r>
              <a:rPr lang="en-US" altLang="zh-CN" sz="1200" b="0" i="0" kern="1200" dirty="0" err="1" smtClean="0">
                <a:solidFill>
                  <a:schemeClr val="tx1"/>
                </a:solidFill>
                <a:effectLst/>
                <a:latin typeface="+mn-lt"/>
                <a:ea typeface="+mn-ea"/>
                <a:cs typeface="+mn-cs"/>
              </a:rPr>
              <a:t>int</a:t>
            </a:r>
            <a:r>
              <a:rPr lang="en-US" altLang="zh-CN" sz="1200" b="0" i="0" kern="1200" dirty="0" smtClean="0">
                <a:solidFill>
                  <a:schemeClr val="tx1"/>
                </a:solidFill>
                <a:effectLst/>
                <a:latin typeface="+mn-lt"/>
                <a:ea typeface="+mn-ea"/>
                <a:cs typeface="+mn-cs"/>
              </a:rPr>
              <a:t> So</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0;</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main()</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cobegin</a:t>
            </a:r>
            <a:r>
              <a:rPr lang="en-US" altLang="zh-CN" sz="1200" b="0" i="0" kern="1200" dirty="0" smtClean="0">
                <a:solidFill>
                  <a:schemeClr val="tx1"/>
                </a:solidFill>
                <a:effectLst/>
                <a:latin typeface="+mn-lt"/>
                <a:ea typeface="+mn-ea"/>
                <a:cs typeface="+mn-cs"/>
              </a:rPr>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father();      /*</a:t>
            </a:r>
            <a:r>
              <a:rPr lang="zh-CN" altLang="en-US" sz="1200" b="0" i="0" kern="1200" dirty="0" smtClean="0">
                <a:solidFill>
                  <a:schemeClr val="tx1"/>
                </a:solidFill>
                <a:effectLst/>
                <a:latin typeface="+mn-lt"/>
                <a:ea typeface="+mn-ea"/>
                <a:cs typeface="+mn-cs"/>
              </a:rPr>
              <a:t>父亲进程*</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son();        /*</a:t>
            </a:r>
            <a:r>
              <a:rPr lang="zh-CN" altLang="en-US" sz="1200" b="0" i="0" kern="1200" dirty="0" smtClean="0">
                <a:solidFill>
                  <a:schemeClr val="tx1"/>
                </a:solidFill>
                <a:effectLst/>
                <a:latin typeface="+mn-lt"/>
                <a:ea typeface="+mn-ea"/>
                <a:cs typeface="+mn-cs"/>
              </a:rPr>
              <a:t>儿子进程*</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daughter();    /*</a:t>
            </a:r>
            <a:r>
              <a:rPr lang="zh-CN" altLang="en-US" sz="1200" b="0" i="0" kern="1200" dirty="0" smtClean="0">
                <a:solidFill>
                  <a:schemeClr val="tx1"/>
                </a:solidFill>
                <a:effectLst/>
                <a:latin typeface="+mn-lt"/>
                <a:ea typeface="+mn-ea"/>
                <a:cs typeface="+mn-cs"/>
              </a:rPr>
              <a:t>女儿进程*</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coend</a:t>
            </a:r>
            <a:r>
              <a:rPr lang="en-US" altLang="zh-CN" sz="1200" b="0" i="0" kern="1200" dirty="0" smtClean="0">
                <a:solidFill>
                  <a:schemeClr val="tx1"/>
                </a:solidFill>
                <a:effectLst/>
                <a:latin typeface="+mn-lt"/>
                <a:ea typeface="+mn-ea"/>
                <a:cs typeface="+mn-cs"/>
              </a:rPr>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father()</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while(1)</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P(S);</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将水果放入盘中</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if</a:t>
            </a:r>
            <a:r>
              <a:rPr lang="zh-CN" altLang="en-US" sz="1200" b="0" i="0" kern="1200" dirty="0" smtClean="0">
                <a:solidFill>
                  <a:schemeClr val="tx1"/>
                </a:solidFill>
                <a:effectLst/>
                <a:latin typeface="+mn-lt"/>
                <a:ea typeface="+mn-ea"/>
                <a:cs typeface="+mn-cs"/>
              </a:rPr>
              <a:t>（放入的是桔子）</a:t>
            </a:r>
            <a:r>
              <a:rPr lang="en-US" altLang="zh-CN" sz="1200" b="0" i="0" kern="1200" dirty="0" smtClean="0">
                <a:solidFill>
                  <a:schemeClr val="tx1"/>
                </a:solidFill>
                <a:effectLst/>
                <a:latin typeface="+mn-lt"/>
                <a:ea typeface="+mn-ea"/>
                <a:cs typeface="+mn-cs"/>
              </a:rPr>
              <a:t>V(So);</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else  V(Sa);</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son()</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while(1)</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P(So);</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从盘中取出桔子</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V(S);</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吃桔子</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daughter()</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while(1)</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P(Sa);</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从盘中取出苹果</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V(S);</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吃苹果</a:t>
            </a:r>
            <a:r>
              <a:rPr lang="en-US" altLang="zh-CN" sz="1200" b="0" i="0" kern="1200" dirty="0" smtClean="0">
                <a:solidFill>
                  <a:schemeClr val="tx1"/>
                </a:solidFill>
                <a:effectLst/>
                <a:latin typeface="+mn-lt"/>
                <a:ea typeface="+mn-ea"/>
                <a:cs typeface="+mn-cs"/>
              </a:rPr>
              <a:t>;</a:t>
            </a:r>
            <a:br>
              <a:rPr lang="en-US" altLang="zh-CN"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 </a:t>
            </a:r>
          </a:p>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）定义二个信号量</a:t>
            </a:r>
            <a:r>
              <a:rPr lang="en-US" altLang="zh-CN" sz="1200" b="0" i="0" kern="1200" dirty="0" smtClean="0">
                <a:solidFill>
                  <a:schemeClr val="tx1"/>
                </a:solidFill>
                <a:effectLst/>
                <a:latin typeface="+mn-lt"/>
                <a:ea typeface="+mn-ea"/>
                <a:cs typeface="+mn-cs"/>
              </a:rPr>
              <a:t>S1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S2</a:t>
            </a:r>
            <a:r>
              <a:rPr lang="zh-CN" altLang="en-US" sz="1200" b="0" i="0" kern="1200" dirty="0" smtClean="0">
                <a:solidFill>
                  <a:schemeClr val="tx1"/>
                </a:solidFill>
                <a:effectLst/>
                <a:latin typeface="+mn-lt"/>
                <a:ea typeface="+mn-ea"/>
                <a:cs typeface="+mn-cs"/>
              </a:rPr>
              <a:t>，初值均为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，即：</a:t>
            </a:r>
            <a:r>
              <a:rPr lang="en-US" altLang="zh-CN" sz="1200" b="0" i="0" kern="1200" dirty="0" smtClean="0">
                <a:solidFill>
                  <a:schemeClr val="tx1"/>
                </a:solidFill>
                <a:effectLst/>
                <a:latin typeface="+mn-lt"/>
                <a:ea typeface="+mn-ea"/>
                <a:cs typeface="+mn-cs"/>
              </a:rPr>
              <a:t>S1=1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S2=1</a:t>
            </a:r>
            <a:r>
              <a:rPr lang="zh-CN" altLang="en-US" sz="1200" b="0" i="0" kern="1200" dirty="0" smtClean="0">
                <a:solidFill>
                  <a:schemeClr val="tx1"/>
                </a:solidFill>
                <a:effectLst/>
                <a:latin typeface="+mn-lt"/>
                <a:ea typeface="+mn-ea"/>
                <a:cs typeface="+mn-cs"/>
              </a:rPr>
              <a:t>。其中进程</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使用信号量</a:t>
            </a:r>
            <a:r>
              <a:rPr lang="en-US" altLang="zh-CN" sz="1200" b="0" i="0" kern="1200" dirty="0" smtClean="0">
                <a:solidFill>
                  <a:schemeClr val="tx1"/>
                </a:solidFill>
                <a:effectLst/>
                <a:latin typeface="+mn-lt"/>
                <a:ea typeface="+mn-ea"/>
                <a:cs typeface="+mn-cs"/>
              </a:rPr>
              <a:t>S1</a:t>
            </a:r>
            <a:r>
              <a:rPr lang="zh-CN" altLang="en-US" sz="1200" b="0" i="0" kern="1200" dirty="0" smtClean="0">
                <a:solidFill>
                  <a:schemeClr val="tx1"/>
                </a:solidFill>
                <a:effectLst/>
                <a:latin typeface="+mn-lt"/>
                <a:ea typeface="+mn-ea"/>
                <a:cs typeface="+mn-cs"/>
              </a:rPr>
              <a:t>，进程</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D</a:t>
            </a:r>
            <a:r>
              <a:rPr lang="zh-CN" altLang="en-US" sz="1200" b="0" i="0" kern="1200" dirty="0" smtClean="0">
                <a:solidFill>
                  <a:schemeClr val="tx1"/>
                </a:solidFill>
                <a:effectLst/>
                <a:latin typeface="+mn-lt"/>
                <a:ea typeface="+mn-ea"/>
                <a:cs typeface="+mn-cs"/>
              </a:rPr>
              <a:t>使用信号量</a:t>
            </a:r>
            <a:r>
              <a:rPr lang="en-US" altLang="zh-CN" sz="1200" b="0" i="0" kern="1200" dirty="0" smtClean="0">
                <a:solidFill>
                  <a:schemeClr val="tx1"/>
                </a:solidFill>
                <a:effectLst/>
                <a:latin typeface="+mn-lt"/>
                <a:ea typeface="+mn-ea"/>
                <a:cs typeface="+mn-cs"/>
              </a:rPr>
              <a:t>S2</a:t>
            </a:r>
            <a:r>
              <a:rPr lang="zh-CN" altLang="en-US" sz="1200" b="0" i="0" kern="1200" dirty="0" smtClean="0">
                <a:solidFill>
                  <a:schemeClr val="tx1"/>
                </a:solidFill>
                <a:effectLst/>
                <a:latin typeface="+mn-lt"/>
                <a:ea typeface="+mn-ea"/>
                <a:cs typeface="+mn-cs"/>
              </a:rPr>
              <a:t>。</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）从</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到</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分别为：</a:t>
            </a:r>
            <a:r>
              <a:rPr lang="en-US" altLang="zh-CN" sz="1200" b="0" i="0" kern="1200" dirty="0" smtClean="0">
                <a:solidFill>
                  <a:schemeClr val="tx1"/>
                </a:solidFill>
                <a:effectLst/>
                <a:latin typeface="+mn-lt"/>
                <a:ea typeface="+mn-ea"/>
                <a:cs typeface="+mn-cs"/>
              </a:rPr>
              <a:t>P(S1) V(S1) P(S2) V(S2) P(S1) V(S1) P(S2) V(S2)</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131</a:t>
            </a:fld>
            <a:endParaRPr lang="zh-CN" altLang="en-US"/>
          </a:p>
        </p:txBody>
      </p:sp>
    </p:spTree>
    <p:extLst>
      <p:ext uri="{BB962C8B-B14F-4D97-AF65-F5344CB8AC3E}">
        <p14:creationId xmlns:p14="http://schemas.microsoft.com/office/powerpoint/2010/main" val="762957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132</a:t>
            </a:fld>
            <a:endParaRPr lang="zh-CN" altLang="en-US"/>
          </a:p>
        </p:txBody>
      </p:sp>
    </p:spTree>
    <p:extLst>
      <p:ext uri="{BB962C8B-B14F-4D97-AF65-F5344CB8AC3E}">
        <p14:creationId xmlns:p14="http://schemas.microsoft.com/office/powerpoint/2010/main" val="13784155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133</a:t>
            </a:fld>
            <a:endParaRPr lang="zh-CN" altLang="en-US"/>
          </a:p>
        </p:txBody>
      </p:sp>
    </p:spTree>
    <p:extLst>
      <p:ext uri="{BB962C8B-B14F-4D97-AF65-F5344CB8AC3E}">
        <p14:creationId xmlns:p14="http://schemas.microsoft.com/office/powerpoint/2010/main" val="17695602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134</a:t>
            </a:fld>
            <a:endParaRPr lang="zh-CN" altLang="en-US"/>
          </a:p>
        </p:txBody>
      </p:sp>
    </p:spTree>
    <p:extLst>
      <p:ext uri="{BB962C8B-B14F-4D97-AF65-F5344CB8AC3E}">
        <p14:creationId xmlns:p14="http://schemas.microsoft.com/office/powerpoint/2010/main" val="2731691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153</a:t>
            </a:fld>
            <a:endParaRPr lang="zh-CN" altLang="en-US"/>
          </a:p>
        </p:txBody>
      </p:sp>
    </p:spTree>
    <p:extLst>
      <p:ext uri="{BB962C8B-B14F-4D97-AF65-F5344CB8AC3E}">
        <p14:creationId xmlns:p14="http://schemas.microsoft.com/office/powerpoint/2010/main" val="8072496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154</a:t>
            </a:fld>
            <a:endParaRPr lang="zh-CN" altLang="en-US"/>
          </a:p>
        </p:txBody>
      </p:sp>
    </p:spTree>
    <p:extLst>
      <p:ext uri="{BB962C8B-B14F-4D97-AF65-F5344CB8AC3E}">
        <p14:creationId xmlns:p14="http://schemas.microsoft.com/office/powerpoint/2010/main" val="3888266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155</a:t>
            </a:fld>
            <a:endParaRPr lang="zh-CN" altLang="en-US"/>
          </a:p>
        </p:txBody>
      </p:sp>
    </p:spTree>
    <p:extLst>
      <p:ext uri="{BB962C8B-B14F-4D97-AF65-F5344CB8AC3E}">
        <p14:creationId xmlns:p14="http://schemas.microsoft.com/office/powerpoint/2010/main" val="1753370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156</a:t>
            </a:fld>
            <a:endParaRPr lang="zh-CN" altLang="en-US"/>
          </a:p>
        </p:txBody>
      </p:sp>
    </p:spTree>
    <p:extLst>
      <p:ext uri="{BB962C8B-B14F-4D97-AF65-F5344CB8AC3E}">
        <p14:creationId xmlns:p14="http://schemas.microsoft.com/office/powerpoint/2010/main" val="9351489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157</a:t>
            </a:fld>
            <a:endParaRPr lang="zh-CN" altLang="en-US"/>
          </a:p>
        </p:txBody>
      </p:sp>
    </p:spTree>
    <p:extLst>
      <p:ext uri="{BB962C8B-B14F-4D97-AF65-F5344CB8AC3E}">
        <p14:creationId xmlns:p14="http://schemas.microsoft.com/office/powerpoint/2010/main" val="41866797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158</a:t>
            </a:fld>
            <a:endParaRPr lang="zh-CN" altLang="en-US"/>
          </a:p>
        </p:txBody>
      </p:sp>
    </p:spTree>
    <p:extLst>
      <p:ext uri="{BB962C8B-B14F-4D97-AF65-F5344CB8AC3E}">
        <p14:creationId xmlns:p14="http://schemas.microsoft.com/office/powerpoint/2010/main" val="32043652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159</a:t>
            </a:fld>
            <a:endParaRPr lang="zh-CN" altLang="en-US"/>
          </a:p>
        </p:txBody>
      </p:sp>
    </p:spTree>
    <p:extLst>
      <p:ext uri="{BB962C8B-B14F-4D97-AF65-F5344CB8AC3E}">
        <p14:creationId xmlns:p14="http://schemas.microsoft.com/office/powerpoint/2010/main" val="17468074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160</a:t>
            </a:fld>
            <a:endParaRPr lang="zh-CN" altLang="en-US"/>
          </a:p>
        </p:txBody>
      </p:sp>
    </p:spTree>
    <p:extLst>
      <p:ext uri="{BB962C8B-B14F-4D97-AF65-F5344CB8AC3E}">
        <p14:creationId xmlns:p14="http://schemas.microsoft.com/office/powerpoint/2010/main" val="9809404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161</a:t>
            </a:fld>
            <a:endParaRPr lang="zh-CN" altLang="en-US"/>
          </a:p>
        </p:txBody>
      </p:sp>
    </p:spTree>
    <p:extLst>
      <p:ext uri="{BB962C8B-B14F-4D97-AF65-F5344CB8AC3E}">
        <p14:creationId xmlns:p14="http://schemas.microsoft.com/office/powerpoint/2010/main" val="11378142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162</a:t>
            </a:fld>
            <a:endParaRPr lang="zh-CN" altLang="en-US"/>
          </a:p>
        </p:txBody>
      </p:sp>
    </p:spTree>
    <p:extLst>
      <p:ext uri="{BB962C8B-B14F-4D97-AF65-F5344CB8AC3E}">
        <p14:creationId xmlns:p14="http://schemas.microsoft.com/office/powerpoint/2010/main" val="12340946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163</a:t>
            </a:fld>
            <a:endParaRPr lang="zh-CN" altLang="en-US"/>
          </a:p>
        </p:txBody>
      </p:sp>
    </p:spTree>
    <p:extLst>
      <p:ext uri="{BB962C8B-B14F-4D97-AF65-F5344CB8AC3E}">
        <p14:creationId xmlns:p14="http://schemas.microsoft.com/office/powerpoint/2010/main" val="7974594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164</a:t>
            </a:fld>
            <a:endParaRPr lang="zh-CN" altLang="en-US"/>
          </a:p>
        </p:txBody>
      </p:sp>
    </p:spTree>
    <p:extLst>
      <p:ext uri="{BB962C8B-B14F-4D97-AF65-F5344CB8AC3E}">
        <p14:creationId xmlns:p14="http://schemas.microsoft.com/office/powerpoint/2010/main" val="32125203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P2,P1,P3</a:t>
            </a:r>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165</a:t>
            </a:fld>
            <a:endParaRPr lang="zh-CN" altLang="en-US"/>
          </a:p>
        </p:txBody>
      </p:sp>
    </p:spTree>
    <p:extLst>
      <p:ext uri="{BB962C8B-B14F-4D97-AF65-F5344CB8AC3E}">
        <p14:creationId xmlns:p14="http://schemas.microsoft.com/office/powerpoint/2010/main" val="30226426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170</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172</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173</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174</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175</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176</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178</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179</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180</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181</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182</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183</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184</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185</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186</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187</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188</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189</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190</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191</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192</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193</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194</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195</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196</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197</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198</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199</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200</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201</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202</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203</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204</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205</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207</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208</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209</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210</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211</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212</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213</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214</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215</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216</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217</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218</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219</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220</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221</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222</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223</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Cs:</a:t>
            </a:r>
            <a:r>
              <a:rPr lang="zh-CN" altLang="en-US" dirty="0" smtClean="0"/>
              <a:t>段基址</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224</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Cs:</a:t>
            </a:r>
            <a:r>
              <a:rPr lang="zh-CN" altLang="en-US" dirty="0" smtClean="0"/>
              <a:t>段基址</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225</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Cs:</a:t>
            </a:r>
            <a:r>
              <a:rPr lang="zh-CN" altLang="en-US" dirty="0" smtClean="0"/>
              <a:t>段基址</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226</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Cs:</a:t>
            </a:r>
            <a:r>
              <a:rPr lang="zh-CN" altLang="en-US" dirty="0" smtClean="0"/>
              <a:t>段基址</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227</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228</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229</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230</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231</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232</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233</a:t>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234</a:t>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235</a:t>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236</a:t>
            </a:fld>
            <a:endParaRPr lang="zh-CN" altLang="en-US"/>
          </a:p>
        </p:txBody>
      </p:sp>
    </p:spTree>
    <p:extLst>
      <p:ext uri="{BB962C8B-B14F-4D97-AF65-F5344CB8AC3E}">
        <p14:creationId xmlns:p14="http://schemas.microsoft.com/office/powerpoint/2010/main" val="315973320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237</a:t>
            </a:fld>
            <a:endParaRPr lang="zh-CN" altLang="en-US"/>
          </a:p>
        </p:txBody>
      </p:sp>
    </p:spTree>
    <p:extLst>
      <p:ext uri="{BB962C8B-B14F-4D97-AF65-F5344CB8AC3E}">
        <p14:creationId xmlns:p14="http://schemas.microsoft.com/office/powerpoint/2010/main" val="139221284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238</a:t>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239</a:t>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240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17" name="组合 16"/>
          <p:cNvGrpSpPr/>
          <p:nvPr userDrawn="1"/>
        </p:nvGrpSpPr>
        <p:grpSpPr>
          <a:xfrm>
            <a:off x="-11499" y="0"/>
            <a:ext cx="9174890" cy="5143500"/>
            <a:chOff x="-11499" y="0"/>
            <a:chExt cx="2891224" cy="1620838"/>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61" y="7637"/>
              <a:ext cx="2709804" cy="1443102"/>
            </a:xfrm>
            <a:prstGeom prst="rect">
              <a:avLst/>
            </a:prstGeom>
          </p:spPr>
        </p:pic>
        <p:pic>
          <p:nvPicPr>
            <p:cNvPr id="8" name="图片 7"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pic>
          <p:nvPicPr>
            <p:cNvPr id="9" name="图片 8" descr="桌子.png"/>
            <p:cNvPicPr>
              <a:picLocks noChangeAspect="1"/>
            </p:cNvPicPr>
            <p:nvPr userDrawn="1"/>
          </p:nvPicPr>
          <p:blipFill>
            <a:blip r:embed="rId4" cstate="print"/>
            <a:srcRect t="80530" r="40938"/>
            <a:stretch>
              <a:fillRect/>
            </a:stretch>
          </p:blipFill>
          <p:spPr>
            <a:xfrm>
              <a:off x="-11499" y="1353415"/>
              <a:ext cx="1247264" cy="267423"/>
            </a:xfrm>
            <a:prstGeom prst="rect">
              <a:avLst/>
            </a:prstGeom>
          </p:spPr>
        </p:pic>
        <p:pic>
          <p:nvPicPr>
            <p:cNvPr id="10" name="图片 9" descr="粉笔画.png"/>
            <p:cNvPicPr>
              <a:picLocks noChangeAspect="1"/>
            </p:cNvPicPr>
            <p:nvPr userDrawn="1"/>
          </p:nvPicPr>
          <p:blipFill>
            <a:blip r:embed="rId5" cstate="print"/>
            <a:srcRect l="49934" t="39179" b="17915"/>
            <a:stretch>
              <a:fillRect/>
            </a:stretch>
          </p:blipFill>
          <p:spPr>
            <a:xfrm>
              <a:off x="1632621" y="799729"/>
              <a:ext cx="1057298" cy="589321"/>
            </a:xfrm>
            <a:prstGeom prst="rect">
              <a:avLst/>
            </a:prstGeom>
          </p:spPr>
        </p:pic>
        <p:pic>
          <p:nvPicPr>
            <p:cNvPr id="11" name="图片 10" descr="书本.png"/>
            <p:cNvPicPr>
              <a:picLocks noChangeAspect="1"/>
            </p:cNvPicPr>
            <p:nvPr userDrawn="1"/>
          </p:nvPicPr>
          <p:blipFill>
            <a:blip r:embed="rId6" cstate="print"/>
            <a:stretch>
              <a:fillRect/>
            </a:stretch>
          </p:blipFill>
          <p:spPr>
            <a:xfrm>
              <a:off x="135905" y="1264247"/>
              <a:ext cx="331633" cy="283611"/>
            </a:xfrm>
            <a:prstGeom prst="rect">
              <a:avLst/>
            </a:prstGeom>
          </p:spPr>
        </p:pic>
        <p:pic>
          <p:nvPicPr>
            <p:cNvPr id="12" name="图片 11" descr="钟.PNG"/>
            <p:cNvPicPr>
              <a:picLocks noChangeAspect="1"/>
            </p:cNvPicPr>
            <p:nvPr userDrawn="1"/>
          </p:nvPicPr>
          <p:blipFill>
            <a:blip r:embed="rId7" cstate="print"/>
            <a:stretch>
              <a:fillRect/>
            </a:stretch>
          </p:blipFill>
          <p:spPr>
            <a:xfrm>
              <a:off x="586523" y="1346308"/>
              <a:ext cx="168944" cy="161364"/>
            </a:xfrm>
            <a:prstGeom prst="rect">
              <a:avLst/>
            </a:prstGeom>
          </p:spPr>
        </p:pic>
        <p:pic>
          <p:nvPicPr>
            <p:cNvPr id="13" name="图片 12" descr="铅笔筒.PNG"/>
            <p:cNvPicPr>
              <a:picLocks noChangeAspect="1"/>
            </p:cNvPicPr>
            <p:nvPr userDrawn="1"/>
          </p:nvPicPr>
          <p:blipFill>
            <a:blip r:embed="rId8" cstate="print"/>
            <a:stretch>
              <a:fillRect/>
            </a:stretch>
          </p:blipFill>
          <p:spPr>
            <a:xfrm>
              <a:off x="447336" y="1270428"/>
              <a:ext cx="223659" cy="242046"/>
            </a:xfrm>
            <a:prstGeom prst="rect">
              <a:avLst/>
            </a:prstGeom>
          </p:spPr>
        </p:pic>
        <p:pic>
          <p:nvPicPr>
            <p:cNvPr id="14" name="图片 13" descr="眼镜.PNG"/>
            <p:cNvPicPr>
              <a:picLocks noChangeAspect="1"/>
            </p:cNvPicPr>
            <p:nvPr userDrawn="1"/>
          </p:nvPicPr>
          <p:blipFill>
            <a:blip r:embed="rId9" cstate="print"/>
            <a:stretch>
              <a:fillRect/>
            </a:stretch>
          </p:blipFill>
          <p:spPr>
            <a:xfrm>
              <a:off x="818232" y="1467966"/>
              <a:ext cx="172083" cy="79411"/>
            </a:xfrm>
            <a:prstGeom prst="rect">
              <a:avLst/>
            </a:prstGeom>
          </p:spPr>
        </p:pic>
        <p:pic>
          <p:nvPicPr>
            <p:cNvPr id="15" name="图片 14" descr="贴贴子4张（空）.png"/>
            <p:cNvPicPr>
              <a:picLocks noChangeAspect="1"/>
            </p:cNvPicPr>
            <p:nvPr userDrawn="1"/>
          </p:nvPicPr>
          <p:blipFill>
            <a:blip r:embed="rId10" cstate="print"/>
            <a:srcRect t="33018" r="77449" b="52860"/>
            <a:stretch>
              <a:fillRect/>
            </a:stretch>
          </p:blipFill>
          <p:spPr>
            <a:xfrm>
              <a:off x="229424" y="152368"/>
              <a:ext cx="476228" cy="193957"/>
            </a:xfrm>
            <a:prstGeom prst="rect">
              <a:avLst/>
            </a:prstGeom>
          </p:spPr>
        </p:pic>
        <p:pic>
          <p:nvPicPr>
            <p:cNvPr id="16" name="图片 15" descr="贴贴子4张（空）.png"/>
            <p:cNvPicPr/>
            <p:nvPr userDrawn="1"/>
          </p:nvPicPr>
          <p:blipFill>
            <a:blip r:embed="rId10" cstate="print"/>
            <a:srcRect l="6702" t="47905" r="86794" b="38897"/>
            <a:stretch>
              <a:fillRect/>
            </a:stretch>
          </p:blipFill>
          <p:spPr>
            <a:xfrm rot="21420000">
              <a:off x="630039" y="230507"/>
              <a:ext cx="136050" cy="186588"/>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9" name="组合 8"/>
          <p:cNvGrpSpPr/>
          <p:nvPr userDrawn="1"/>
        </p:nvGrpSpPr>
        <p:grpSpPr>
          <a:xfrm>
            <a:off x="13811" y="-236562"/>
            <a:ext cx="9238709" cy="5353378"/>
            <a:chOff x="-7497" y="-117332"/>
            <a:chExt cx="3007002" cy="1742410"/>
          </a:xfrm>
        </p:grpSpPr>
        <p:pic>
          <p:nvPicPr>
            <p:cNvPr id="7" name="图片 6"/>
            <p:cNvPicPr/>
            <p:nvPr userDrawn="1"/>
          </p:nvPicPr>
          <p:blipFill>
            <a:blip r:embed="rId2" cstate="print">
              <a:extLst>
                <a:ext uri="{28A0092B-C50C-407E-A947-70E740481C1C}">
                  <a14:useLocalDpi xmlns:a14="http://schemas.microsoft.com/office/drawing/2010/main" val="0"/>
                </a:ext>
              </a:extLst>
            </a:blip>
            <a:stretch>
              <a:fillRect/>
            </a:stretch>
          </p:blipFill>
          <p:spPr>
            <a:xfrm>
              <a:off x="-7497" y="129677"/>
              <a:ext cx="2808011" cy="1495401"/>
            </a:xfrm>
            <a:prstGeom prst="rect">
              <a:avLst/>
            </a:prstGeom>
          </p:spPr>
        </p:pic>
        <p:pic>
          <p:nvPicPr>
            <p:cNvPr id="8" name="图片 7" descr="照片夹.png"/>
            <p:cNvPicPr>
              <a:picLocks noChangeAspect="1"/>
            </p:cNvPicPr>
            <p:nvPr userDrawn="1"/>
          </p:nvPicPr>
          <p:blipFill>
            <a:blip r:embed="rId3" cstate="print"/>
            <a:srcRect r="66645" b="79232"/>
            <a:stretch>
              <a:fillRect/>
            </a:stretch>
          </p:blipFill>
          <p:spPr>
            <a:xfrm flipH="1">
              <a:off x="1530573" y="-117332"/>
              <a:ext cx="1468932" cy="594851"/>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11" name="组合 10"/>
          <p:cNvGrpSpPr/>
          <p:nvPr userDrawn="1"/>
        </p:nvGrpSpPr>
        <p:grpSpPr>
          <a:xfrm>
            <a:off x="59328" y="-7204"/>
            <a:ext cx="9100573" cy="5243250"/>
            <a:chOff x="43427" y="0"/>
            <a:chExt cx="2836298" cy="1634119"/>
          </a:xfrm>
        </p:grpSpPr>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43427" y="152903"/>
              <a:ext cx="2781373" cy="1481216"/>
            </a:xfrm>
            <a:prstGeom prst="rect">
              <a:avLst/>
            </a:prstGeom>
          </p:spPr>
        </p:pic>
        <p:pic>
          <p:nvPicPr>
            <p:cNvPr id="10" name="图片 9"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grpSp>
        <p:nvGrpSpPr>
          <p:cNvPr id="12" name="组合 11"/>
          <p:cNvGrpSpPr/>
          <p:nvPr userDrawn="1"/>
        </p:nvGrpSpPr>
        <p:grpSpPr>
          <a:xfrm>
            <a:off x="-11499" y="0"/>
            <a:ext cx="9174890" cy="5143500"/>
            <a:chOff x="-11499" y="0"/>
            <a:chExt cx="2891224" cy="1620838"/>
          </a:xfrm>
        </p:grpSpPr>
        <p:pic>
          <p:nvPicPr>
            <p:cNvPr id="10" name="图片 9"/>
            <p:cNvPicPr/>
            <p:nvPr userDrawn="1"/>
          </p:nvPicPr>
          <p:blipFill>
            <a:blip r:embed="rId2" cstate="print">
              <a:extLst>
                <a:ext uri="{28A0092B-C50C-407E-A947-70E740481C1C}">
                  <a14:useLocalDpi xmlns:a14="http://schemas.microsoft.com/office/drawing/2010/main" val="0"/>
                </a:ext>
              </a:extLst>
            </a:blip>
            <a:stretch>
              <a:fillRect/>
            </a:stretch>
          </p:blipFill>
          <p:spPr>
            <a:xfrm>
              <a:off x="-11499" y="0"/>
              <a:ext cx="2890797" cy="1620838"/>
            </a:xfrm>
            <a:prstGeom prst="rect">
              <a:avLst/>
            </a:prstGeom>
          </p:spPr>
        </p:pic>
        <p:pic>
          <p:nvPicPr>
            <p:cNvPr id="11" name="图片 10"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jpg"/>
          <p:cNvPicPr>
            <a:picLocks noChangeAspect="1"/>
          </p:cNvPicPr>
          <p:nvPr/>
        </p:nvPicPr>
        <p:blipFill>
          <a:blip r:embed="rId7" cstate="print"/>
          <a:srcRect r="2304" b="7492"/>
          <a:stretch>
            <a:fillRect/>
          </a:stretch>
        </p:blipFill>
        <p:spPr>
          <a:xfrm>
            <a:off x="-11499" y="0"/>
            <a:ext cx="917489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2.png"/></Relationships>
</file>

<file path=ppt/slides/_rels/slide7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slideLayout" Target="../slideLayouts/slideLayout2.xml"/><Relationship Id="rId4" Type="http://schemas.openxmlformats.org/officeDocument/2006/relationships/image" Target="../media/image57.w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5.wmf"/><Relationship Id="rId1" Type="http://schemas.openxmlformats.org/officeDocument/2006/relationships/slideLayout" Target="../slideLayouts/slideLayout2.xml"/><Relationship Id="rId6" Type="http://schemas.openxmlformats.org/officeDocument/2006/relationships/image" Target="../media/image56.wmf"/><Relationship Id="rId5" Type="http://schemas.openxmlformats.org/officeDocument/2006/relationships/image" Target="../media/image60.jpeg"/><Relationship Id="rId4" Type="http://schemas.openxmlformats.org/officeDocument/2006/relationships/image" Target="../media/image59.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5.wmf"/><Relationship Id="rId1" Type="http://schemas.openxmlformats.org/officeDocument/2006/relationships/slideLayout" Target="../slideLayouts/slideLayout2.xml"/><Relationship Id="rId4" Type="http://schemas.openxmlformats.org/officeDocument/2006/relationships/image" Target="../media/image56.wmf"/></Relationships>
</file>

<file path=ppt/slides/_rels/slide10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70.wmf"/><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slide" Target="slide142.xm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slide" Target="slide14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6.wmf"/><Relationship Id="rId4" Type="http://schemas.openxmlformats.org/officeDocument/2006/relationships/oleObject" Target="../embeddings/oleObject2.bin"/></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77.wmf"/><Relationship Id="rId4" Type="http://schemas.openxmlformats.org/officeDocument/2006/relationships/oleObject" Target="../embeddings/oleObject3.bin"/></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hyperlink" Target="&#23454;&#39564;&#22235;--&#38134;&#34892;&#23478;&#31639;&#27861;&#27169;&#25311;&#23454;&#29616;.pdf"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1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10.xm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22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22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5.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1357290" y="1307333"/>
            <a:ext cx="6357982" cy="1200331"/>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ctr" defTabSz="913765"/>
            <a:r>
              <a:rPr lang="zh-CN" altLang="en-US" sz="7200" b="1" dirty="0" smtClean="0">
                <a:ln w="50800"/>
                <a:solidFill>
                  <a:schemeClr val="bg1">
                    <a:shade val="50000"/>
                  </a:schemeClr>
                </a:solidFill>
                <a:latin typeface="黑体" panose="02010609060101010101" pitchFamily="49" charset="-122"/>
                <a:ea typeface="黑体" panose="02010609060101010101" pitchFamily="49" charset="-122"/>
              </a:rPr>
              <a:t>操作系统</a:t>
            </a:r>
            <a:endParaRPr lang="zh-CN" altLang="en-US" sz="7200" b="1" dirty="0">
              <a:ln w="50800"/>
              <a:solidFill>
                <a:schemeClr val="bg1">
                  <a:shade val="50000"/>
                </a:schemeClr>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p:cTn id="7" dur="500" decel="50000" fill="hold">
                                          <p:stCondLst>
                                            <p:cond delay="0"/>
                                          </p:stCondLst>
                                        </p:cTn>
                                        <p:tgtEl>
                                          <p:spTgt spid="20">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0">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0">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0">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0">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0">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0">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sp>
        <p:nvSpPr>
          <p:cNvPr id="88" name="矩形 87"/>
          <p:cNvSpPr/>
          <p:nvPr/>
        </p:nvSpPr>
        <p:spPr>
          <a:xfrm>
            <a:off x="2531923" y="2214560"/>
            <a:ext cx="3874392" cy="769443"/>
          </a:xfrm>
          <a:prstGeom prst="rect">
            <a:avLst/>
          </a:prstGeom>
        </p:spPr>
        <p:txBody>
          <a:bodyPr wrap="square" lIns="91441" tIns="45721" rIns="91441" bIns="45721">
            <a:spAutoFit/>
          </a:bodyPr>
          <a:lstStyle/>
          <a:p>
            <a:pPr algn="ctr" defTabSz="913765"/>
            <a:r>
              <a:rPr lang="zh-CN" altLang="en-US" sz="4400" b="1" dirty="0" smtClean="0">
                <a:solidFill>
                  <a:prstClr val="white">
                    <a:lumMod val="75000"/>
                  </a:prstClr>
                </a:solidFill>
                <a:latin typeface="方正特粗光辉简体" panose="02000000000000000000" pitchFamily="2" charset="-122"/>
                <a:ea typeface="方正特粗光辉简体" panose="02000000000000000000" pitchFamily="2" charset="-122"/>
              </a:rPr>
              <a:t>进  程  管  理</a:t>
            </a:r>
            <a:endParaRPr lang="zh-CN" altLang="en-US" sz="4400" b="1" dirty="0">
              <a:solidFill>
                <a:prstClr val="white">
                  <a:lumMod val="75000"/>
                </a:prstClr>
              </a:solidFill>
              <a:latin typeface="方正特粗光辉简体" panose="02000000000000000000" pitchFamily="2" charset="-122"/>
              <a:ea typeface="方正特粗光辉简体" panose="02000000000000000000" pitchFamily="2" charset="-122"/>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229162" y="1307333"/>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3765"/>
            <a:r>
              <a:rPr lang="en-US" altLang="zh-CN" sz="5400" b="1" dirty="0">
                <a:ln w="50800"/>
                <a:solidFill>
                  <a:schemeClr val="bg1">
                    <a:shade val="50000"/>
                  </a:schemeClr>
                </a:solidFill>
                <a:latin typeface="黑体" panose="02010609060101010101" pitchFamily="49" charset="-122"/>
                <a:ea typeface="黑体" panose="02010609060101010101" pitchFamily="49" charset="-122"/>
              </a:rPr>
              <a:t>Chapter</a:t>
            </a:r>
            <a:r>
              <a:rPr lang="en-US" altLang="zh-CN" sz="5400" b="1" dirty="0" smtClean="0">
                <a:ln w="50800"/>
                <a:solidFill>
                  <a:schemeClr val="bg1">
                    <a:shade val="50000"/>
                  </a:schemeClr>
                </a:solidFill>
                <a:latin typeface="黑体" panose="02010609060101010101" pitchFamily="49" charset="-122"/>
                <a:ea typeface="黑体" panose="02010609060101010101" pitchFamily="49" charset="-122"/>
              </a:rPr>
              <a:t> 3</a:t>
            </a:r>
            <a:endParaRPr lang="zh-CN" altLang="en-US" sz="5400" b="1" dirty="0">
              <a:ln w="50800"/>
              <a:solidFill>
                <a:schemeClr val="bg1">
                  <a:shade val="50000"/>
                </a:schemeClr>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进程的概念及描述</a:t>
              </a:r>
              <a:endParaRPr lang="en-US" altLang="zh-CN"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进程状态及其转换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进程控制、互斥、同步与通信</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3</a:t>
              </a:r>
            </a:p>
          </p:txBody>
        </p:sp>
      </p:grpSp>
      <p:grpSp>
        <p:nvGrpSpPr>
          <p:cNvPr id="27" name="Group 61"/>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死锁问题               </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4</a:t>
              </a:r>
            </a:p>
          </p:txBody>
        </p:sp>
      </p:grpSp>
      <p:grpSp>
        <p:nvGrpSpPr>
          <p:cNvPr id="32" name="Group 51"/>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线程的概念、分类与执行</a:t>
              </a:r>
              <a:endParaRPr lang="en-US" altLang="zh-CN"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1000" fill="hold"/>
                                        <p:tgtEl>
                                          <p:spTgt spid="16"/>
                                        </p:tgtEl>
                                        <p:attrNameLst>
                                          <p:attrName>ppt_w</p:attrName>
                                        </p:attrNameLst>
                                      </p:cBhvr>
                                      <p:tavLst>
                                        <p:tav tm="0">
                                          <p:val>
                                            <p:strVal val="#ppt_w*0.70"/>
                                          </p:val>
                                        </p:tav>
                                        <p:tav tm="100000">
                                          <p:val>
                                            <p:strVal val="#ppt_w"/>
                                          </p:val>
                                        </p:tav>
                                      </p:tavLst>
                                    </p:anim>
                                    <p:anim calcmode="lin" valueType="num">
                                      <p:cBhvr>
                                        <p:cTn id="15" dur="1000" fill="hold"/>
                                        <p:tgtEl>
                                          <p:spTgt spid="16"/>
                                        </p:tgtEl>
                                        <p:attrNameLst>
                                          <p:attrName>ppt_h</p:attrName>
                                        </p:attrNameLst>
                                      </p:cBhvr>
                                      <p:tavLst>
                                        <p:tav tm="0">
                                          <p:val>
                                            <p:strVal val="#ppt_h"/>
                                          </p:val>
                                        </p:tav>
                                        <p:tav tm="100000">
                                          <p:val>
                                            <p:strVal val="#ppt_h"/>
                                          </p:val>
                                        </p:tav>
                                      </p:tavLst>
                                    </p:anim>
                                    <p:animEffect transition="in" filter="fade">
                                      <p:cBhvr>
                                        <p:cTn id="16" dur="1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1000" fill="hold"/>
                                        <p:tgtEl>
                                          <p:spTgt spid="22"/>
                                        </p:tgtEl>
                                        <p:attrNameLst>
                                          <p:attrName>ppt_w</p:attrName>
                                        </p:attrNameLst>
                                      </p:cBhvr>
                                      <p:tavLst>
                                        <p:tav tm="0">
                                          <p:val>
                                            <p:strVal val="#ppt_w*0.70"/>
                                          </p:val>
                                        </p:tav>
                                        <p:tav tm="100000">
                                          <p:val>
                                            <p:strVal val="#ppt_w"/>
                                          </p:val>
                                        </p:tav>
                                      </p:tavLst>
                                    </p:anim>
                                    <p:anim calcmode="lin" valueType="num">
                                      <p:cBhvr>
                                        <p:cTn id="22" dur="1000" fill="hold"/>
                                        <p:tgtEl>
                                          <p:spTgt spid="22"/>
                                        </p:tgtEl>
                                        <p:attrNameLst>
                                          <p:attrName>ppt_h</p:attrName>
                                        </p:attrNameLst>
                                      </p:cBhvr>
                                      <p:tavLst>
                                        <p:tav tm="0">
                                          <p:val>
                                            <p:strVal val="#ppt_h"/>
                                          </p:val>
                                        </p:tav>
                                        <p:tav tm="100000">
                                          <p:val>
                                            <p:strVal val="#ppt_h"/>
                                          </p:val>
                                        </p:tav>
                                      </p:tavLst>
                                    </p:anim>
                                    <p:animEffect transition="in" filter="fade">
                                      <p:cBhvr>
                                        <p:cTn id="23" dur="10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1000" fill="hold"/>
                                        <p:tgtEl>
                                          <p:spTgt spid="27"/>
                                        </p:tgtEl>
                                        <p:attrNameLst>
                                          <p:attrName>ppt_w</p:attrName>
                                        </p:attrNameLst>
                                      </p:cBhvr>
                                      <p:tavLst>
                                        <p:tav tm="0">
                                          <p:val>
                                            <p:strVal val="#ppt_w*0.70"/>
                                          </p:val>
                                        </p:tav>
                                        <p:tav tm="100000">
                                          <p:val>
                                            <p:strVal val="#ppt_w"/>
                                          </p:val>
                                        </p:tav>
                                      </p:tavLst>
                                    </p:anim>
                                    <p:anim calcmode="lin" valueType="num">
                                      <p:cBhvr>
                                        <p:cTn id="29" dur="1000" fill="hold"/>
                                        <p:tgtEl>
                                          <p:spTgt spid="27"/>
                                        </p:tgtEl>
                                        <p:attrNameLst>
                                          <p:attrName>ppt_h</p:attrName>
                                        </p:attrNameLst>
                                      </p:cBhvr>
                                      <p:tavLst>
                                        <p:tav tm="0">
                                          <p:val>
                                            <p:strVal val="#ppt_h"/>
                                          </p:val>
                                        </p:tav>
                                        <p:tav tm="100000">
                                          <p:val>
                                            <p:strVal val="#ppt_h"/>
                                          </p:val>
                                        </p:tav>
                                      </p:tavLst>
                                    </p:anim>
                                    <p:animEffect transition="in" filter="fade">
                                      <p:cBhvr>
                                        <p:cTn id="30" dur="10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1000" fill="hold"/>
                                        <p:tgtEl>
                                          <p:spTgt spid="32"/>
                                        </p:tgtEl>
                                        <p:attrNameLst>
                                          <p:attrName>ppt_w</p:attrName>
                                        </p:attrNameLst>
                                      </p:cBhvr>
                                      <p:tavLst>
                                        <p:tav tm="0">
                                          <p:val>
                                            <p:strVal val="#ppt_w*0.70"/>
                                          </p:val>
                                        </p:tav>
                                        <p:tav tm="100000">
                                          <p:val>
                                            <p:strVal val="#ppt_w"/>
                                          </p:val>
                                        </p:tav>
                                      </p:tavLst>
                                    </p:anim>
                                    <p:anim calcmode="lin" valueType="num">
                                      <p:cBhvr>
                                        <p:cTn id="36" dur="1000" fill="hold"/>
                                        <p:tgtEl>
                                          <p:spTgt spid="32"/>
                                        </p:tgtEl>
                                        <p:attrNameLst>
                                          <p:attrName>ppt_h</p:attrName>
                                        </p:attrNameLst>
                                      </p:cBhvr>
                                      <p:tavLst>
                                        <p:tav tm="0">
                                          <p:val>
                                            <p:strVal val="#ppt_h"/>
                                          </p:val>
                                        </p:tav>
                                        <p:tav tm="100000">
                                          <p:val>
                                            <p:strVal val="#ppt_h"/>
                                          </p:val>
                                        </p:tav>
                                      </p:tavLst>
                                    </p:anim>
                                    <p:animEffect transition="in" filter="fade">
                                      <p:cBhvr>
                                        <p:cTn id="37" dur="10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mph" presetSubtype="0" fill="hold" nodeType="clickEffect">
                                  <p:stCondLst>
                                    <p:cond delay="0"/>
                                  </p:stCondLst>
                                  <p:childTnLst>
                                    <p:animScale>
                                      <p:cBhvr>
                                        <p:cTn id="41" dur="2000" fill="hold"/>
                                        <p:tgtEl>
                                          <p:spTgt spid="11"/>
                                        </p:tgtEl>
                                      </p:cBhvr>
                                      <p:by x="150000" y="150000"/>
                                    </p:animScale>
                                  </p:childTnLst>
                                </p:cTn>
                              </p:par>
                              <p:par>
                                <p:cTn id="42" presetID="42" presetClass="path" presetSubtype="0" accel="50000" decel="50000" fill="hold" nodeType="withEffect">
                                  <p:stCondLst>
                                    <p:cond delay="0"/>
                                  </p:stCondLst>
                                  <p:childTnLst>
                                    <p:animMotion origin="layout" path="M 3.05556E-6 -3.95062E-6 L -0.00643 0.25525 " pathEditMode="relative" rAng="0" ptsTypes="AA">
                                      <p:cBhvr>
                                        <p:cTn id="43" dur="2000" fill="hold"/>
                                        <p:tgtEl>
                                          <p:spTgt spid="11"/>
                                        </p:tgtEl>
                                        <p:attrNameLst>
                                          <p:attrName>ppt_x</p:attrName>
                                          <p:attrName>ppt_y</p:attrName>
                                        </p:attrNameLst>
                                      </p:cBhvr>
                                      <p:rCtr x="-330" y="12747"/>
                                    </p:animMotion>
                                  </p:childTnLst>
                                </p:cTn>
                              </p:par>
                              <p:par>
                                <p:cTn id="44" presetID="10" presetClass="exit" presetSubtype="0" fill="hold" nodeType="withEffect">
                                  <p:stCondLst>
                                    <p:cond delay="0"/>
                                  </p:stCondLst>
                                  <p:childTnLst>
                                    <p:animEffect transition="out" filter="fade">
                                      <p:cBhvr>
                                        <p:cTn id="45" dur="2000"/>
                                        <p:tgtEl>
                                          <p:spTgt spid="16"/>
                                        </p:tgtEl>
                                      </p:cBhvr>
                                    </p:animEffect>
                                    <p:set>
                                      <p:cBhvr>
                                        <p:cTn id="46" dur="1" fill="hold">
                                          <p:stCondLst>
                                            <p:cond delay="1999"/>
                                          </p:stCondLst>
                                        </p:cTn>
                                        <p:tgtEl>
                                          <p:spTgt spid="16"/>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2000"/>
                                        <p:tgtEl>
                                          <p:spTgt spid="22"/>
                                        </p:tgtEl>
                                      </p:cBhvr>
                                    </p:animEffect>
                                    <p:set>
                                      <p:cBhvr>
                                        <p:cTn id="49" dur="1" fill="hold">
                                          <p:stCondLst>
                                            <p:cond delay="1999"/>
                                          </p:stCondLst>
                                        </p:cTn>
                                        <p:tgtEl>
                                          <p:spTgt spid="22"/>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2000"/>
                                        <p:tgtEl>
                                          <p:spTgt spid="27"/>
                                        </p:tgtEl>
                                      </p:cBhvr>
                                    </p:animEffect>
                                    <p:set>
                                      <p:cBhvr>
                                        <p:cTn id="52" dur="1" fill="hold">
                                          <p:stCondLst>
                                            <p:cond delay="1999"/>
                                          </p:stCondLst>
                                        </p:cTn>
                                        <p:tgtEl>
                                          <p:spTgt spid="27"/>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2000"/>
                                        <p:tgtEl>
                                          <p:spTgt spid="32"/>
                                        </p:tgtEl>
                                      </p:cBhvr>
                                    </p:animEffect>
                                    <p:set>
                                      <p:cBhvr>
                                        <p:cTn id="55" dur="1" fill="hold">
                                          <p:stCondLst>
                                            <p:cond delay="19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37508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管理</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CPU</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，先要使用</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CPU…</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929890"/>
            <a:ext cx="6912768" cy="111376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en-US" altLang="zh-CN" sz="2400" b="1" dirty="0" smtClean="0">
                <a:solidFill>
                  <a:srgbClr val="FFFF00"/>
                </a:solidFill>
                <a:latin typeface="+mn-ea"/>
              </a:rPr>
              <a:t>CPU</a:t>
            </a:r>
            <a:r>
              <a:rPr lang="zh-CN" altLang="en-US" sz="2400" b="1" dirty="0" smtClean="0">
                <a:solidFill>
                  <a:srgbClr val="FFFF00"/>
                </a:solidFill>
                <a:latin typeface="+mn-ea"/>
              </a:rPr>
              <a:t>的工作原理</a:t>
            </a:r>
            <a:endParaRPr lang="en-US" altLang="zh-CN" sz="2400" b="1" dirty="0" smtClean="0">
              <a:solidFill>
                <a:srgbClr val="FFFF00"/>
              </a:solidFill>
              <a:latin typeface="+mn-ea"/>
            </a:endParaRPr>
          </a:p>
          <a:p>
            <a:pPr marL="0" lvl="1" algn="just">
              <a:lnSpc>
                <a:spcPct val="150000"/>
              </a:lnSpc>
              <a:buClr>
                <a:schemeClr val="accent6">
                  <a:lumMod val="60000"/>
                  <a:lumOff val="40000"/>
                </a:schemeClr>
              </a:buClr>
            </a:pPr>
            <a:r>
              <a:rPr lang="en-US" altLang="zh-CN" sz="2400" b="1" dirty="0">
                <a:solidFill>
                  <a:srgbClr val="FFFF00"/>
                </a:solidFill>
                <a:latin typeface="+mn-ea"/>
              </a:rPr>
              <a:t>  </a:t>
            </a:r>
            <a:r>
              <a:rPr lang="en-US" altLang="zh-CN" sz="2400" b="1" dirty="0" smtClean="0">
                <a:solidFill>
                  <a:srgbClr val="FFFF00"/>
                </a:solidFill>
                <a:latin typeface="+mn-ea"/>
              </a:rPr>
              <a:t>---</a:t>
            </a:r>
            <a:r>
              <a:rPr lang="en-US" altLang="zh-CN" sz="2400" b="1" dirty="0" smtClean="0">
                <a:solidFill>
                  <a:schemeClr val="bg1"/>
                </a:solidFill>
                <a:latin typeface="+mn-ea"/>
              </a:rPr>
              <a:t>CPU</a:t>
            </a:r>
            <a:r>
              <a:rPr lang="zh-CN" altLang="en-US" sz="2400" b="1" dirty="0">
                <a:solidFill>
                  <a:schemeClr val="bg1"/>
                </a:solidFill>
                <a:latin typeface="+mn-ea"/>
              </a:rPr>
              <a:t>上电以后发生了什么</a:t>
            </a:r>
            <a:r>
              <a:rPr lang="en-US" altLang="zh-CN" sz="2400" b="1" dirty="0" smtClean="0">
                <a:solidFill>
                  <a:schemeClr val="bg1"/>
                </a:solidFill>
                <a:latin typeface="+mn-ea"/>
              </a:rPr>
              <a:t>?</a:t>
            </a:r>
          </a:p>
        </p:txBody>
      </p:sp>
      <p:pic>
        <p:nvPicPr>
          <p:cNvPr id="3" name="图片 2"/>
          <p:cNvPicPr>
            <a:picLocks noChangeAspect="1"/>
          </p:cNvPicPr>
          <p:nvPr/>
        </p:nvPicPr>
        <p:blipFill>
          <a:blip r:embed="rId2"/>
          <a:stretch>
            <a:fillRect/>
          </a:stretch>
        </p:blipFill>
        <p:spPr>
          <a:xfrm>
            <a:off x="1835696" y="2695621"/>
            <a:ext cx="4823878" cy="1265030"/>
          </a:xfrm>
          <a:prstGeom prst="rect">
            <a:avLst/>
          </a:prstGeom>
        </p:spPr>
      </p:pic>
      <p:pic>
        <p:nvPicPr>
          <p:cNvPr id="4" name="图片 3"/>
          <p:cNvPicPr>
            <a:picLocks noChangeAspect="1"/>
          </p:cNvPicPr>
          <p:nvPr/>
        </p:nvPicPr>
        <p:blipFill>
          <a:blip r:embed="rId3"/>
          <a:stretch>
            <a:fillRect/>
          </a:stretch>
        </p:blipFill>
        <p:spPr>
          <a:xfrm>
            <a:off x="6804248" y="2211709"/>
            <a:ext cx="2057578" cy="2232853"/>
          </a:xfrm>
          <a:prstGeom prst="rect">
            <a:avLst/>
          </a:prstGeom>
        </p:spPr>
      </p:pic>
      <p:sp>
        <p:nvSpPr>
          <p:cNvPr id="5" name="矩形标注 4"/>
          <p:cNvSpPr/>
          <p:nvPr/>
        </p:nvSpPr>
        <p:spPr>
          <a:xfrm>
            <a:off x="6012160" y="1486773"/>
            <a:ext cx="864096" cy="556883"/>
          </a:xfrm>
          <a:prstGeom prst="wedgeRectCallout">
            <a:avLst>
              <a:gd name="adj1" fmla="val 55888"/>
              <a:gd name="adj2" fmla="val 76183"/>
            </a:avLst>
          </a:prstGeom>
          <a:ln w="28575">
            <a:solidFill>
              <a:srgbClr val="006600"/>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b="1" dirty="0" smtClean="0">
                <a:latin typeface="+mn-ea"/>
              </a:rPr>
              <a:t>PC=50</a:t>
            </a:r>
            <a:endParaRPr lang="zh-CN" altLang="en-US" b="1" dirty="0">
              <a:latin typeface="+mn-ea"/>
            </a:endParaRPr>
          </a:p>
        </p:txBody>
      </p:sp>
      <p:grpSp>
        <p:nvGrpSpPr>
          <p:cNvPr id="49" name="组合 48"/>
          <p:cNvGrpSpPr/>
          <p:nvPr/>
        </p:nvGrpSpPr>
        <p:grpSpPr>
          <a:xfrm>
            <a:off x="2982104" y="3097292"/>
            <a:ext cx="2670016" cy="338554"/>
            <a:chOff x="2982104" y="3097292"/>
            <a:chExt cx="2670016" cy="338554"/>
          </a:xfrm>
        </p:grpSpPr>
        <p:cxnSp>
          <p:nvCxnSpPr>
            <p:cNvPr id="7" name="肘形连接符 6"/>
            <p:cNvCxnSpPr/>
            <p:nvPr/>
          </p:nvCxnSpPr>
          <p:spPr>
            <a:xfrm>
              <a:off x="2987824" y="3219822"/>
              <a:ext cx="2664296" cy="216024"/>
            </a:xfrm>
            <a:prstGeom prst="bentConnector3">
              <a:avLst>
                <a:gd name="adj1" fmla="val -33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982104" y="3097292"/>
              <a:ext cx="2664296" cy="338554"/>
            </a:xfrm>
            <a:prstGeom prst="rect">
              <a:avLst/>
            </a:prstGeom>
            <a:noFill/>
          </p:spPr>
          <p:txBody>
            <a:bodyPr wrap="square" rtlCol="0">
              <a:spAutoFit/>
            </a:bodyPr>
            <a:lstStyle/>
            <a:p>
              <a:r>
                <a:rPr lang="zh-CN" altLang="en-US" sz="1600" b="1" dirty="0" smtClean="0">
                  <a:latin typeface="+mj-ea"/>
                  <a:ea typeface="+mj-ea"/>
                </a:rPr>
                <a:t>在地址总线上发送地址：</a:t>
              </a:r>
              <a:r>
                <a:rPr lang="en-US" altLang="zh-CN" sz="1600" b="1" dirty="0" smtClean="0">
                  <a:latin typeface="+mj-ea"/>
                  <a:ea typeface="+mj-ea"/>
                </a:rPr>
                <a:t>50</a:t>
              </a:r>
              <a:endParaRPr lang="zh-CN" altLang="en-US" sz="1600" b="1" dirty="0">
                <a:latin typeface="+mj-ea"/>
                <a:ea typeface="+mj-ea"/>
              </a:endParaRPr>
            </a:p>
          </p:txBody>
        </p:sp>
      </p:grpSp>
      <p:grpSp>
        <p:nvGrpSpPr>
          <p:cNvPr id="50" name="组合 49"/>
          <p:cNvGrpSpPr/>
          <p:nvPr/>
        </p:nvGrpSpPr>
        <p:grpSpPr>
          <a:xfrm>
            <a:off x="2555776" y="3579862"/>
            <a:ext cx="3491448" cy="701149"/>
            <a:chOff x="2555776" y="3579862"/>
            <a:chExt cx="3491448" cy="701149"/>
          </a:xfrm>
        </p:grpSpPr>
        <p:grpSp>
          <p:nvGrpSpPr>
            <p:cNvPr id="47" name="组合 46"/>
            <p:cNvGrpSpPr/>
            <p:nvPr/>
          </p:nvGrpSpPr>
          <p:grpSpPr>
            <a:xfrm>
              <a:off x="2555776" y="3579862"/>
              <a:ext cx="3312368" cy="288032"/>
              <a:chOff x="2555776" y="3579862"/>
              <a:chExt cx="3312368" cy="288032"/>
            </a:xfrm>
          </p:grpSpPr>
          <p:cxnSp>
            <p:nvCxnSpPr>
              <p:cNvPr id="40" name="直接箭头连接符 39"/>
              <p:cNvCxnSpPr/>
              <p:nvPr/>
            </p:nvCxnSpPr>
            <p:spPr>
              <a:xfrm flipV="1">
                <a:off x="2555776" y="3579862"/>
                <a:ext cx="0" cy="2880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2555776" y="3867894"/>
                <a:ext cx="33123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868144" y="3579862"/>
                <a:ext cx="0" cy="28803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文本框 47"/>
            <p:cNvSpPr txBox="1"/>
            <p:nvPr/>
          </p:nvSpPr>
          <p:spPr>
            <a:xfrm>
              <a:off x="3382928" y="3911679"/>
              <a:ext cx="2664296" cy="369332"/>
            </a:xfrm>
            <a:prstGeom prst="rect">
              <a:avLst/>
            </a:prstGeom>
            <a:noFill/>
          </p:spPr>
          <p:txBody>
            <a:bodyPr wrap="square" rtlCol="0">
              <a:spAutoFit/>
            </a:bodyPr>
            <a:lstStyle/>
            <a:p>
              <a:r>
                <a:rPr lang="en-US" altLang="zh-CN" b="1" dirty="0" err="1">
                  <a:solidFill>
                    <a:srgbClr val="FFFF00"/>
                  </a:solidFill>
                  <a:latin typeface="+mj-ea"/>
                  <a:ea typeface="+mj-ea"/>
                </a:rPr>
                <a:t>mov</a:t>
              </a:r>
              <a:r>
                <a:rPr lang="en-US" altLang="zh-CN" b="1" dirty="0">
                  <a:solidFill>
                    <a:srgbClr val="FFFF00"/>
                  </a:solidFill>
                  <a:latin typeface="+mj-ea"/>
                  <a:ea typeface="+mj-ea"/>
                </a:rPr>
                <a:t> ax, [100]</a:t>
              </a:r>
              <a:endParaRPr lang="zh-CN" altLang="en-US" b="1" dirty="0">
                <a:solidFill>
                  <a:srgbClr val="FFFF00"/>
                </a:solidFill>
                <a:latin typeface="+mj-ea"/>
                <a:ea typeface="+mj-ea"/>
              </a:endParaRPr>
            </a:p>
          </p:txBody>
        </p:sp>
      </p:grpSp>
      <p:pic>
        <p:nvPicPr>
          <p:cNvPr id="51" name="图片 50"/>
          <p:cNvPicPr>
            <a:picLocks noChangeAspect="1"/>
          </p:cNvPicPr>
          <p:nvPr/>
        </p:nvPicPr>
        <p:blipFill>
          <a:blip r:embed="rId4"/>
          <a:stretch>
            <a:fillRect/>
          </a:stretch>
        </p:blipFill>
        <p:spPr>
          <a:xfrm>
            <a:off x="1115616" y="2209839"/>
            <a:ext cx="2057578" cy="441998"/>
          </a:xfrm>
          <a:prstGeom prst="rect">
            <a:avLst/>
          </a:prstGeom>
        </p:spPr>
      </p:pic>
      <p:sp>
        <p:nvSpPr>
          <p:cNvPr id="52" name="文本框 51"/>
          <p:cNvSpPr txBox="1"/>
          <p:nvPr/>
        </p:nvSpPr>
        <p:spPr>
          <a:xfrm>
            <a:off x="4572000" y="2109103"/>
            <a:ext cx="648072" cy="461665"/>
          </a:xfrm>
          <a:prstGeom prst="rect">
            <a:avLst/>
          </a:prstGeom>
          <a:noFill/>
        </p:spPr>
        <p:txBody>
          <a:bodyPr wrap="square" rtlCol="0">
            <a:spAutoFit/>
          </a:bodyPr>
          <a:lstStyle/>
          <a:p>
            <a:r>
              <a:rPr lang="en-US" altLang="zh-CN" sz="2400" b="1" dirty="0" smtClean="0">
                <a:solidFill>
                  <a:srgbClr val="FFFF00"/>
                </a:solidFill>
                <a:latin typeface="+mn-ea"/>
              </a:rPr>
              <a:t>ax</a:t>
            </a:r>
            <a:endParaRPr lang="zh-CN" altLang="en-US" sz="2400" b="1" dirty="0">
              <a:solidFill>
                <a:srgbClr val="FFFF00"/>
              </a:solidFill>
              <a:latin typeface="+mn-ea"/>
            </a:endParaRPr>
          </a:p>
        </p:txBody>
      </p:sp>
      <p:sp>
        <p:nvSpPr>
          <p:cNvPr id="53" name="文本框 52"/>
          <p:cNvSpPr txBox="1"/>
          <p:nvPr/>
        </p:nvSpPr>
        <p:spPr>
          <a:xfrm>
            <a:off x="4065369" y="2109103"/>
            <a:ext cx="497766" cy="461665"/>
          </a:xfrm>
          <a:prstGeom prst="rect">
            <a:avLst/>
          </a:prstGeom>
          <a:noFill/>
          <a:ln>
            <a:solidFill>
              <a:srgbClr val="FFFF00"/>
            </a:solidFill>
          </a:ln>
        </p:spPr>
        <p:txBody>
          <a:bodyPr wrap="square" rtlCol="0">
            <a:spAutoFit/>
          </a:bodyPr>
          <a:lstStyle/>
          <a:p>
            <a:pPr algn="ctr"/>
            <a:r>
              <a:rPr lang="en-US" altLang="zh-CN" sz="2400" b="1" dirty="0" smtClean="0">
                <a:solidFill>
                  <a:schemeClr val="bg1"/>
                </a:solidFill>
                <a:latin typeface="+mn-ea"/>
              </a:rPr>
              <a:t>0</a:t>
            </a:r>
            <a:endParaRPr lang="zh-CN" altLang="en-US" sz="2400" b="1" dirty="0">
              <a:solidFill>
                <a:schemeClr val="bg1"/>
              </a:solidFill>
              <a:latin typeface="+mn-ea"/>
            </a:endParaRPr>
          </a:p>
        </p:txBody>
      </p:sp>
      <p:sp>
        <p:nvSpPr>
          <p:cNvPr id="54" name="矩形标注 53"/>
          <p:cNvSpPr/>
          <p:nvPr/>
        </p:nvSpPr>
        <p:spPr>
          <a:xfrm>
            <a:off x="4115348" y="970314"/>
            <a:ext cx="1747076" cy="671904"/>
          </a:xfrm>
          <a:prstGeom prst="wedgeRectCallout">
            <a:avLst>
              <a:gd name="adj1" fmla="val -114936"/>
              <a:gd name="adj2" fmla="val -673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smtClean="0"/>
              <a:t>自动取指执行，</a:t>
            </a:r>
            <a:r>
              <a:rPr lang="en-US" altLang="zh-CN" sz="2000" b="1" dirty="0" smtClean="0"/>
              <a:t>PC</a:t>
            </a:r>
            <a:r>
              <a:rPr lang="zh-CN" altLang="en-US" sz="2000" b="1" dirty="0" smtClean="0"/>
              <a:t>自动累加</a:t>
            </a:r>
            <a:endParaRPr lang="zh-CN" altLang="en-US" sz="2000"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left)">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wipe(right)">
                                      <p:cBhvr>
                                        <p:cTn id="37" dur="500"/>
                                        <p:tgtEl>
                                          <p:spTgt spid="5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wipe(left)">
                                      <p:cBhvr>
                                        <p:cTn id="5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2" grpId="0"/>
      <p:bldP spid="53" grpId="0" animBg="1"/>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37508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管理</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CPU</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的最直观方法</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929890"/>
            <a:ext cx="6912768" cy="64633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设好初值就完事</a:t>
            </a:r>
            <a:endParaRPr lang="en-US" altLang="zh-CN" sz="2400" b="1" dirty="0" smtClean="0">
              <a:solidFill>
                <a:schemeClr val="bg1"/>
              </a:solidFill>
              <a:latin typeface="+mn-ea"/>
            </a:endParaRPr>
          </a:p>
        </p:txBody>
      </p:sp>
      <p:pic>
        <p:nvPicPr>
          <p:cNvPr id="6" name="图片 5"/>
          <p:cNvPicPr>
            <a:picLocks noChangeAspect="1"/>
          </p:cNvPicPr>
          <p:nvPr/>
        </p:nvPicPr>
        <p:blipFill>
          <a:blip r:embed="rId2"/>
          <a:stretch>
            <a:fillRect/>
          </a:stretch>
        </p:blipFill>
        <p:spPr>
          <a:xfrm>
            <a:off x="2203952" y="1635646"/>
            <a:ext cx="2152024" cy="2702739"/>
          </a:xfrm>
          <a:prstGeom prst="rect">
            <a:avLst/>
          </a:prstGeom>
        </p:spPr>
      </p:pic>
      <p:grpSp>
        <p:nvGrpSpPr>
          <p:cNvPr id="11" name="组合 10"/>
          <p:cNvGrpSpPr/>
          <p:nvPr/>
        </p:nvGrpSpPr>
        <p:grpSpPr>
          <a:xfrm>
            <a:off x="971600" y="1576221"/>
            <a:ext cx="1232352" cy="400110"/>
            <a:chOff x="971600" y="1576221"/>
            <a:chExt cx="1232352" cy="400110"/>
          </a:xfrm>
        </p:grpSpPr>
        <p:sp>
          <p:nvSpPr>
            <p:cNvPr id="8" name="文本框 7"/>
            <p:cNvSpPr txBox="1"/>
            <p:nvPr/>
          </p:nvSpPr>
          <p:spPr>
            <a:xfrm>
              <a:off x="971600" y="1576221"/>
              <a:ext cx="504056"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smtClean="0"/>
                <a:t>PC</a:t>
              </a:r>
              <a:endParaRPr lang="zh-CN" altLang="en-US" sz="2000" b="1" dirty="0"/>
            </a:p>
          </p:txBody>
        </p:sp>
        <p:sp>
          <p:nvSpPr>
            <p:cNvPr id="10" name="右箭头 9"/>
            <p:cNvSpPr/>
            <p:nvPr/>
          </p:nvSpPr>
          <p:spPr>
            <a:xfrm>
              <a:off x="1475656" y="1709654"/>
              <a:ext cx="728296" cy="17332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grpSp>
      <p:grpSp>
        <p:nvGrpSpPr>
          <p:cNvPr id="13" name="组合 12"/>
          <p:cNvGrpSpPr/>
          <p:nvPr/>
        </p:nvGrpSpPr>
        <p:grpSpPr>
          <a:xfrm>
            <a:off x="4386436" y="1576221"/>
            <a:ext cx="3065884" cy="420150"/>
            <a:chOff x="4386436" y="1576221"/>
            <a:chExt cx="3065884" cy="420150"/>
          </a:xfrm>
        </p:grpSpPr>
        <p:grpSp>
          <p:nvGrpSpPr>
            <p:cNvPr id="39" name="组合 38"/>
            <p:cNvGrpSpPr/>
            <p:nvPr/>
          </p:nvGrpSpPr>
          <p:grpSpPr>
            <a:xfrm>
              <a:off x="4386436" y="1596261"/>
              <a:ext cx="2486352" cy="400110"/>
              <a:chOff x="308828" y="1564942"/>
              <a:chExt cx="2486352" cy="400110"/>
            </a:xfrm>
          </p:grpSpPr>
          <p:sp>
            <p:nvSpPr>
              <p:cNvPr id="41" name="文本框 40"/>
              <p:cNvSpPr txBox="1"/>
              <p:nvPr/>
            </p:nvSpPr>
            <p:spPr>
              <a:xfrm>
                <a:off x="1040140" y="1564942"/>
                <a:ext cx="1755040"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err="1"/>
                  <a:t>mov</a:t>
                </a:r>
                <a:r>
                  <a:rPr lang="en-US" altLang="zh-CN" sz="2000" b="1" dirty="0"/>
                  <a:t> ax, [100]</a:t>
                </a:r>
                <a:endParaRPr lang="zh-CN" altLang="en-US" sz="2000" b="1" dirty="0"/>
              </a:p>
            </p:txBody>
          </p:sp>
          <p:sp>
            <p:nvSpPr>
              <p:cNvPr id="42" name="右箭头 41"/>
              <p:cNvSpPr/>
              <p:nvPr/>
            </p:nvSpPr>
            <p:spPr>
              <a:xfrm>
                <a:off x="308828" y="1719034"/>
                <a:ext cx="728296" cy="17332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grpSp>
        <p:sp>
          <p:nvSpPr>
            <p:cNvPr id="12" name="文本框 11"/>
            <p:cNvSpPr txBox="1"/>
            <p:nvPr/>
          </p:nvSpPr>
          <p:spPr>
            <a:xfrm>
              <a:off x="6948264" y="1576221"/>
              <a:ext cx="504056" cy="400110"/>
            </a:xfrm>
            <a:prstGeom prst="rect">
              <a:avLst/>
            </a:prstGeom>
            <a:noFill/>
          </p:spPr>
          <p:txBody>
            <a:bodyPr wrap="square" rtlCol="0">
              <a:spAutoFit/>
            </a:bodyPr>
            <a:lstStyle/>
            <a:p>
              <a:r>
                <a:rPr lang="en-US" altLang="zh-CN" sz="2000" b="1" dirty="0" smtClean="0">
                  <a:solidFill>
                    <a:schemeClr val="bg1"/>
                  </a:solidFill>
                  <a:latin typeface="+mn-ea"/>
                </a:rPr>
                <a:t>IR</a:t>
              </a:r>
              <a:endParaRPr lang="zh-CN" altLang="en-US" sz="2000" b="1" dirty="0">
                <a:solidFill>
                  <a:schemeClr val="bg1"/>
                </a:solidFill>
                <a:latin typeface="+mn-ea"/>
              </a:endParaRPr>
            </a:p>
          </p:txBody>
        </p:sp>
      </p:grpSp>
      <p:grpSp>
        <p:nvGrpSpPr>
          <p:cNvPr id="44" name="组合 43"/>
          <p:cNvGrpSpPr/>
          <p:nvPr/>
        </p:nvGrpSpPr>
        <p:grpSpPr>
          <a:xfrm>
            <a:off x="971600" y="1961022"/>
            <a:ext cx="1232352" cy="400110"/>
            <a:chOff x="971600" y="1576221"/>
            <a:chExt cx="1232352" cy="400110"/>
          </a:xfrm>
        </p:grpSpPr>
        <p:sp>
          <p:nvSpPr>
            <p:cNvPr id="55" name="文本框 54"/>
            <p:cNvSpPr txBox="1"/>
            <p:nvPr/>
          </p:nvSpPr>
          <p:spPr>
            <a:xfrm>
              <a:off x="971600" y="1576221"/>
              <a:ext cx="504056"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smtClean="0"/>
                <a:t>PC</a:t>
              </a:r>
              <a:endParaRPr lang="zh-CN" altLang="en-US" sz="2000" b="1" dirty="0"/>
            </a:p>
          </p:txBody>
        </p:sp>
        <p:sp>
          <p:nvSpPr>
            <p:cNvPr id="56" name="右箭头 55"/>
            <p:cNvSpPr/>
            <p:nvPr/>
          </p:nvSpPr>
          <p:spPr>
            <a:xfrm>
              <a:off x="1475656" y="1709654"/>
              <a:ext cx="728296" cy="17332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grpSp>
      <p:grpSp>
        <p:nvGrpSpPr>
          <p:cNvPr id="57" name="组合 56"/>
          <p:cNvGrpSpPr/>
          <p:nvPr/>
        </p:nvGrpSpPr>
        <p:grpSpPr>
          <a:xfrm>
            <a:off x="4392404" y="1981063"/>
            <a:ext cx="3065884" cy="420150"/>
            <a:chOff x="4386436" y="1576221"/>
            <a:chExt cx="3065884" cy="420150"/>
          </a:xfrm>
        </p:grpSpPr>
        <p:grpSp>
          <p:nvGrpSpPr>
            <p:cNvPr id="58" name="组合 57"/>
            <p:cNvGrpSpPr/>
            <p:nvPr/>
          </p:nvGrpSpPr>
          <p:grpSpPr>
            <a:xfrm>
              <a:off x="4386436" y="1596261"/>
              <a:ext cx="2486352" cy="400110"/>
              <a:chOff x="308828" y="1564942"/>
              <a:chExt cx="2486352" cy="400110"/>
            </a:xfrm>
          </p:grpSpPr>
          <p:sp>
            <p:nvSpPr>
              <p:cNvPr id="60" name="文本框 59"/>
              <p:cNvSpPr txBox="1"/>
              <p:nvPr/>
            </p:nvSpPr>
            <p:spPr>
              <a:xfrm>
                <a:off x="1040140" y="1564942"/>
                <a:ext cx="1755040"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err="1"/>
                  <a:t>mov</a:t>
                </a:r>
                <a:r>
                  <a:rPr lang="en-US" altLang="zh-CN" sz="2000" b="1" dirty="0"/>
                  <a:t> </a:t>
                </a:r>
                <a:r>
                  <a:rPr lang="en-US" altLang="zh-CN" sz="2000" b="1" dirty="0" err="1" smtClean="0"/>
                  <a:t>bx</a:t>
                </a:r>
                <a:r>
                  <a:rPr lang="en-US" altLang="zh-CN" sz="2000" b="1" dirty="0"/>
                  <a:t>, [</a:t>
                </a:r>
                <a:r>
                  <a:rPr lang="en-US" altLang="zh-CN" sz="2000" b="1" dirty="0" smtClean="0"/>
                  <a:t>101]</a:t>
                </a:r>
                <a:endParaRPr lang="zh-CN" altLang="en-US" sz="2000" b="1" dirty="0"/>
              </a:p>
            </p:txBody>
          </p:sp>
          <p:sp>
            <p:nvSpPr>
              <p:cNvPr id="61" name="右箭头 60"/>
              <p:cNvSpPr/>
              <p:nvPr/>
            </p:nvSpPr>
            <p:spPr>
              <a:xfrm>
                <a:off x="308828" y="1719034"/>
                <a:ext cx="728296" cy="17332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grpSp>
        <p:sp>
          <p:nvSpPr>
            <p:cNvPr id="59" name="文本框 58"/>
            <p:cNvSpPr txBox="1"/>
            <p:nvPr/>
          </p:nvSpPr>
          <p:spPr>
            <a:xfrm>
              <a:off x="6948264" y="1576221"/>
              <a:ext cx="504056" cy="400110"/>
            </a:xfrm>
            <a:prstGeom prst="rect">
              <a:avLst/>
            </a:prstGeom>
            <a:noFill/>
          </p:spPr>
          <p:txBody>
            <a:bodyPr wrap="square" rtlCol="0">
              <a:spAutoFit/>
            </a:bodyPr>
            <a:lstStyle/>
            <a:p>
              <a:r>
                <a:rPr lang="en-US" altLang="zh-CN" sz="2000" b="1" dirty="0" smtClean="0">
                  <a:solidFill>
                    <a:schemeClr val="bg1"/>
                  </a:solidFill>
                  <a:latin typeface="+mn-ea"/>
                </a:rPr>
                <a:t>IR</a:t>
              </a:r>
              <a:endParaRPr lang="zh-CN" altLang="en-US" sz="2000" b="1" dirty="0">
                <a:solidFill>
                  <a:schemeClr val="bg1"/>
                </a:solidFill>
                <a:latin typeface="+mn-ea"/>
              </a:endParaRPr>
            </a:p>
          </p:txBody>
        </p:sp>
      </p:grpSp>
      <p:grpSp>
        <p:nvGrpSpPr>
          <p:cNvPr id="62" name="组合 61"/>
          <p:cNvGrpSpPr/>
          <p:nvPr/>
        </p:nvGrpSpPr>
        <p:grpSpPr>
          <a:xfrm>
            <a:off x="971600" y="2381173"/>
            <a:ext cx="1232352" cy="400110"/>
            <a:chOff x="971600" y="1576221"/>
            <a:chExt cx="1232352" cy="400110"/>
          </a:xfrm>
        </p:grpSpPr>
        <p:sp>
          <p:nvSpPr>
            <p:cNvPr id="63" name="文本框 62"/>
            <p:cNvSpPr txBox="1"/>
            <p:nvPr/>
          </p:nvSpPr>
          <p:spPr>
            <a:xfrm>
              <a:off x="971600" y="1576221"/>
              <a:ext cx="504056"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smtClean="0"/>
                <a:t>PC</a:t>
              </a:r>
              <a:endParaRPr lang="zh-CN" altLang="en-US" sz="2000" b="1" dirty="0"/>
            </a:p>
          </p:txBody>
        </p:sp>
        <p:sp>
          <p:nvSpPr>
            <p:cNvPr id="64" name="右箭头 63"/>
            <p:cNvSpPr/>
            <p:nvPr/>
          </p:nvSpPr>
          <p:spPr>
            <a:xfrm>
              <a:off x="1475656" y="1709654"/>
              <a:ext cx="728296" cy="17332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grpSp>
      <p:grpSp>
        <p:nvGrpSpPr>
          <p:cNvPr id="65" name="组合 64"/>
          <p:cNvGrpSpPr/>
          <p:nvPr/>
        </p:nvGrpSpPr>
        <p:grpSpPr>
          <a:xfrm>
            <a:off x="4386436" y="2391193"/>
            <a:ext cx="3065884" cy="420150"/>
            <a:chOff x="4386436" y="1576221"/>
            <a:chExt cx="3065884" cy="420150"/>
          </a:xfrm>
        </p:grpSpPr>
        <p:grpSp>
          <p:nvGrpSpPr>
            <p:cNvPr id="66" name="组合 65"/>
            <p:cNvGrpSpPr/>
            <p:nvPr/>
          </p:nvGrpSpPr>
          <p:grpSpPr>
            <a:xfrm>
              <a:off x="4386436" y="1596261"/>
              <a:ext cx="2486352" cy="400110"/>
              <a:chOff x="308828" y="1564942"/>
              <a:chExt cx="2486352" cy="400110"/>
            </a:xfrm>
          </p:grpSpPr>
          <p:sp>
            <p:nvSpPr>
              <p:cNvPr id="68" name="文本框 67"/>
              <p:cNvSpPr txBox="1"/>
              <p:nvPr/>
            </p:nvSpPr>
            <p:spPr>
              <a:xfrm>
                <a:off x="1040140" y="1564942"/>
                <a:ext cx="1755040"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a:t>add ax, </a:t>
                </a:r>
                <a:r>
                  <a:rPr lang="en-US" altLang="zh-CN" sz="2000" b="1" dirty="0" err="1"/>
                  <a:t>bx</a:t>
                </a:r>
                <a:endParaRPr lang="zh-CN" altLang="en-US" sz="2000" b="1" dirty="0"/>
              </a:p>
            </p:txBody>
          </p:sp>
          <p:sp>
            <p:nvSpPr>
              <p:cNvPr id="69" name="右箭头 68"/>
              <p:cNvSpPr/>
              <p:nvPr/>
            </p:nvSpPr>
            <p:spPr>
              <a:xfrm>
                <a:off x="308828" y="1719034"/>
                <a:ext cx="728296" cy="17332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grpSp>
        <p:sp>
          <p:nvSpPr>
            <p:cNvPr id="67" name="文本框 66"/>
            <p:cNvSpPr txBox="1"/>
            <p:nvPr/>
          </p:nvSpPr>
          <p:spPr>
            <a:xfrm>
              <a:off x="6948264" y="1576221"/>
              <a:ext cx="504056" cy="400110"/>
            </a:xfrm>
            <a:prstGeom prst="rect">
              <a:avLst/>
            </a:prstGeom>
            <a:noFill/>
          </p:spPr>
          <p:txBody>
            <a:bodyPr wrap="square" rtlCol="0">
              <a:spAutoFit/>
            </a:bodyPr>
            <a:lstStyle/>
            <a:p>
              <a:r>
                <a:rPr lang="en-US" altLang="zh-CN" sz="2000" b="1" dirty="0" smtClean="0">
                  <a:solidFill>
                    <a:schemeClr val="bg1"/>
                  </a:solidFill>
                  <a:latin typeface="+mn-ea"/>
                </a:rPr>
                <a:t>IR</a:t>
              </a:r>
              <a:endParaRPr lang="zh-CN" altLang="en-US" sz="2000" b="1" dirty="0">
                <a:solidFill>
                  <a:schemeClr val="bg1"/>
                </a:solidFill>
                <a:latin typeface="+mn-ea"/>
              </a:endParaRPr>
            </a:p>
          </p:txBody>
        </p:sp>
      </p:grpSp>
      <p:grpSp>
        <p:nvGrpSpPr>
          <p:cNvPr id="70" name="组合 69"/>
          <p:cNvGrpSpPr/>
          <p:nvPr/>
        </p:nvGrpSpPr>
        <p:grpSpPr>
          <a:xfrm>
            <a:off x="6444208" y="3206165"/>
            <a:ext cx="990932" cy="440190"/>
            <a:chOff x="6438240" y="1556181"/>
            <a:chExt cx="990932" cy="440190"/>
          </a:xfrm>
        </p:grpSpPr>
        <p:sp>
          <p:nvSpPr>
            <p:cNvPr id="73" name="文本框 72"/>
            <p:cNvSpPr txBox="1"/>
            <p:nvPr/>
          </p:nvSpPr>
          <p:spPr>
            <a:xfrm>
              <a:off x="6438240" y="1596261"/>
              <a:ext cx="434548"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smtClean="0"/>
                <a:t>0</a:t>
              </a:r>
              <a:endParaRPr lang="zh-CN" altLang="en-US" sz="2000" b="1" dirty="0"/>
            </a:p>
          </p:txBody>
        </p:sp>
        <p:sp>
          <p:nvSpPr>
            <p:cNvPr id="72" name="文本框 71"/>
            <p:cNvSpPr txBox="1"/>
            <p:nvPr/>
          </p:nvSpPr>
          <p:spPr>
            <a:xfrm>
              <a:off x="6925116" y="1556181"/>
              <a:ext cx="504056" cy="400110"/>
            </a:xfrm>
            <a:prstGeom prst="rect">
              <a:avLst/>
            </a:prstGeom>
            <a:noFill/>
          </p:spPr>
          <p:txBody>
            <a:bodyPr wrap="square" rtlCol="0">
              <a:spAutoFit/>
            </a:bodyPr>
            <a:lstStyle/>
            <a:p>
              <a:r>
                <a:rPr lang="en-US" altLang="zh-CN" sz="2000" b="1" dirty="0" smtClean="0">
                  <a:solidFill>
                    <a:schemeClr val="bg1"/>
                  </a:solidFill>
                  <a:latin typeface="+mn-ea"/>
                </a:rPr>
                <a:t>ax</a:t>
              </a:r>
              <a:endParaRPr lang="zh-CN" altLang="en-US" sz="2000" b="1" dirty="0">
                <a:solidFill>
                  <a:schemeClr val="bg1"/>
                </a:solidFill>
                <a:latin typeface="+mn-ea"/>
              </a:endParaRPr>
            </a:p>
          </p:txBody>
        </p:sp>
      </p:grpSp>
      <p:grpSp>
        <p:nvGrpSpPr>
          <p:cNvPr id="75" name="组合 74"/>
          <p:cNvGrpSpPr/>
          <p:nvPr/>
        </p:nvGrpSpPr>
        <p:grpSpPr>
          <a:xfrm>
            <a:off x="6452798" y="3723878"/>
            <a:ext cx="990932" cy="440190"/>
            <a:chOff x="6438240" y="1556181"/>
            <a:chExt cx="990932" cy="440190"/>
          </a:xfrm>
        </p:grpSpPr>
        <p:sp>
          <p:nvSpPr>
            <p:cNvPr id="76" name="文本框 75"/>
            <p:cNvSpPr txBox="1"/>
            <p:nvPr/>
          </p:nvSpPr>
          <p:spPr>
            <a:xfrm>
              <a:off x="6438240" y="1596261"/>
              <a:ext cx="434548"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ltLang="zh-CN" sz="2000" b="1" dirty="0" smtClean="0"/>
                <a:t>1</a:t>
              </a:r>
              <a:endParaRPr lang="zh-CN" altLang="en-US" sz="2000" b="1" dirty="0"/>
            </a:p>
          </p:txBody>
        </p:sp>
        <p:sp>
          <p:nvSpPr>
            <p:cNvPr id="77" name="文本框 76"/>
            <p:cNvSpPr txBox="1"/>
            <p:nvPr/>
          </p:nvSpPr>
          <p:spPr>
            <a:xfrm>
              <a:off x="6925116" y="1556181"/>
              <a:ext cx="504056" cy="400110"/>
            </a:xfrm>
            <a:prstGeom prst="rect">
              <a:avLst/>
            </a:prstGeom>
            <a:noFill/>
          </p:spPr>
          <p:txBody>
            <a:bodyPr wrap="square" rtlCol="0">
              <a:spAutoFit/>
            </a:bodyPr>
            <a:lstStyle/>
            <a:p>
              <a:r>
                <a:rPr lang="en-US" altLang="zh-CN" sz="2000" b="1" dirty="0" err="1" smtClean="0">
                  <a:solidFill>
                    <a:schemeClr val="bg1"/>
                  </a:solidFill>
                  <a:latin typeface="+mn-ea"/>
                </a:rPr>
                <a:t>bx</a:t>
              </a:r>
              <a:endParaRPr lang="zh-CN" altLang="en-US" sz="2000" b="1" dirty="0">
                <a:solidFill>
                  <a:schemeClr val="bg1"/>
                </a:solidFill>
                <a:latin typeface="+mn-ea"/>
              </a:endParaRPr>
            </a:p>
          </p:txBody>
        </p:sp>
      </p:grpSp>
      <p:sp>
        <p:nvSpPr>
          <p:cNvPr id="29" name="矩形标注 28"/>
          <p:cNvSpPr/>
          <p:nvPr/>
        </p:nvSpPr>
        <p:spPr>
          <a:xfrm>
            <a:off x="3544699" y="3452990"/>
            <a:ext cx="1963405" cy="1062976"/>
          </a:xfrm>
          <a:prstGeom prst="wedgeRectCallout">
            <a:avLst>
              <a:gd name="adj1" fmla="val -54598"/>
              <a:gd name="adj2" fmla="val -11384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a:latin typeface="+mn-ea"/>
              </a:rPr>
              <a:t>把程序读到内存</a:t>
            </a:r>
            <a:r>
              <a:rPr lang="en-US" altLang="zh-CN" b="1" dirty="0">
                <a:latin typeface="+mn-ea"/>
              </a:rPr>
              <a:t>50</a:t>
            </a:r>
            <a:r>
              <a:rPr lang="zh-CN" altLang="en-US" b="1" dirty="0">
                <a:latin typeface="+mn-ea"/>
              </a:rPr>
              <a:t>处，设</a:t>
            </a:r>
            <a:r>
              <a:rPr lang="en-US" altLang="zh-CN" b="1" dirty="0">
                <a:latin typeface="+mn-ea"/>
              </a:rPr>
              <a:t>PC = 50</a:t>
            </a:r>
            <a:r>
              <a:rPr lang="zh-CN" altLang="en-US" b="1" dirty="0">
                <a:latin typeface="+mn-ea"/>
              </a:rPr>
              <a:t>，</a:t>
            </a:r>
            <a:r>
              <a:rPr lang="en-US" altLang="zh-CN" b="1" dirty="0">
                <a:latin typeface="+mn-ea"/>
              </a:rPr>
              <a:t>CPU</a:t>
            </a:r>
            <a:r>
              <a:rPr lang="zh-CN" altLang="en-US" b="1" dirty="0">
                <a:latin typeface="+mn-ea"/>
              </a:rPr>
              <a:t>开始干活</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wipe(left)">
                                      <p:cBhvr>
                                        <p:cTn id="27" dur="500"/>
                                        <p:tgtEl>
                                          <p:spTgt spid="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5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wipe(left)">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left)">
                                      <p:cBhvr>
                                        <p:cTn id="42" dur="500"/>
                                        <p:tgtEl>
                                          <p:spTgt spid="7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wipe(left)">
                                      <p:cBhvr>
                                        <p:cTn id="47" dur="500"/>
                                        <p:tgtEl>
                                          <p:spTgt spid="6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5"/>
                                        </p:tgtEl>
                                        <p:attrNameLst>
                                          <p:attrName>style.visibility</p:attrName>
                                        </p:attrNameLst>
                                      </p:cBhvr>
                                      <p:to>
                                        <p:strVal val="visible"/>
                                      </p:to>
                                    </p:set>
                                    <p:animEffect transition="in" filter="wipe(left)">
                                      <p:cBhvr>
                                        <p:cTn id="52" dur="500"/>
                                        <p:tgtEl>
                                          <p:spTgt spid="6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731118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看看这样做有没有问题</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2"/>
          <a:stretch>
            <a:fillRect/>
          </a:stretch>
        </p:blipFill>
        <p:spPr>
          <a:xfrm>
            <a:off x="755576" y="997070"/>
            <a:ext cx="2952328" cy="3581271"/>
          </a:xfrm>
          <a:prstGeom prst="rect">
            <a:avLst/>
          </a:prstGeom>
        </p:spPr>
      </p:pic>
      <p:sp>
        <p:nvSpPr>
          <p:cNvPr id="4" name="矩形 3"/>
          <p:cNvSpPr/>
          <p:nvPr/>
        </p:nvSpPr>
        <p:spPr>
          <a:xfrm>
            <a:off x="3779912" y="1407374"/>
            <a:ext cx="4176464" cy="400110"/>
          </a:xfrm>
          <a:prstGeom prst="rect">
            <a:avLst/>
          </a:prstGeom>
        </p:spPr>
        <p:txBody>
          <a:bodyPr wrap="square">
            <a:spAutoFit/>
          </a:bodyPr>
          <a:lstStyle/>
          <a:p>
            <a:r>
              <a:rPr lang="en-US" altLang="zh-CN" sz="2000" b="1" dirty="0" err="1">
                <a:solidFill>
                  <a:schemeClr val="bg1"/>
                </a:solidFill>
                <a:latin typeface="+mn-ea"/>
              </a:rPr>
              <a:t>fprintf</a:t>
            </a:r>
            <a:r>
              <a:rPr lang="zh-CN" altLang="en-US" sz="2000" b="1" dirty="0">
                <a:solidFill>
                  <a:schemeClr val="bg1"/>
                </a:solidFill>
                <a:latin typeface="+mn-ea"/>
              </a:rPr>
              <a:t>用一条其他</a:t>
            </a:r>
            <a:r>
              <a:rPr lang="zh-CN" altLang="en-US" sz="2000" b="1" dirty="0" smtClean="0">
                <a:solidFill>
                  <a:schemeClr val="bg1"/>
                </a:solidFill>
                <a:latin typeface="+mn-ea"/>
              </a:rPr>
              <a:t>计算</a:t>
            </a:r>
            <a:r>
              <a:rPr lang="zh-CN" altLang="en-US" sz="2000" b="1" dirty="0">
                <a:solidFill>
                  <a:schemeClr val="bg1"/>
                </a:solidFill>
                <a:latin typeface="+mn-ea"/>
              </a:rPr>
              <a:t>语句代替</a:t>
            </a:r>
          </a:p>
        </p:txBody>
      </p:sp>
      <p:pic>
        <p:nvPicPr>
          <p:cNvPr id="5" name="图片 4"/>
          <p:cNvPicPr>
            <a:picLocks noChangeAspect="1"/>
          </p:cNvPicPr>
          <p:nvPr/>
        </p:nvPicPr>
        <p:blipFill>
          <a:blip r:embed="rId3"/>
          <a:stretch>
            <a:fillRect/>
          </a:stretch>
        </p:blipFill>
        <p:spPr>
          <a:xfrm>
            <a:off x="4081277" y="1848593"/>
            <a:ext cx="3485795" cy="504056"/>
          </a:xfrm>
          <a:prstGeom prst="rect">
            <a:avLst/>
          </a:prstGeom>
        </p:spPr>
      </p:pic>
      <p:pic>
        <p:nvPicPr>
          <p:cNvPr id="7" name="图片 6"/>
          <p:cNvPicPr>
            <a:picLocks noChangeAspect="1"/>
          </p:cNvPicPr>
          <p:nvPr/>
        </p:nvPicPr>
        <p:blipFill>
          <a:blip r:embed="rId4"/>
          <a:stretch>
            <a:fillRect/>
          </a:stretch>
        </p:blipFill>
        <p:spPr>
          <a:xfrm>
            <a:off x="4081277" y="3075806"/>
            <a:ext cx="3817951" cy="502964"/>
          </a:xfrm>
          <a:prstGeom prst="rect">
            <a:avLst/>
          </a:prstGeom>
        </p:spPr>
      </p:pic>
      <p:sp>
        <p:nvSpPr>
          <p:cNvPr id="71" name="矩形 70"/>
          <p:cNvSpPr/>
          <p:nvPr/>
        </p:nvSpPr>
        <p:spPr>
          <a:xfrm>
            <a:off x="3814584" y="2574843"/>
            <a:ext cx="4176464" cy="400110"/>
          </a:xfrm>
          <a:prstGeom prst="rect">
            <a:avLst/>
          </a:prstGeom>
        </p:spPr>
        <p:txBody>
          <a:bodyPr wrap="square">
            <a:spAutoFit/>
          </a:bodyPr>
          <a:lstStyle/>
          <a:p>
            <a:r>
              <a:rPr lang="zh-CN" altLang="en-US" sz="2000" b="1" dirty="0" smtClean="0">
                <a:solidFill>
                  <a:schemeClr val="bg1"/>
                </a:solidFill>
                <a:latin typeface="+mn-ea"/>
              </a:rPr>
              <a:t>有</a:t>
            </a:r>
            <a:r>
              <a:rPr lang="en-US" altLang="zh-CN" sz="2000" b="1" dirty="0" err="1" smtClean="0">
                <a:solidFill>
                  <a:schemeClr val="bg1"/>
                </a:solidFill>
                <a:latin typeface="+mn-ea"/>
              </a:rPr>
              <a:t>fprintf</a:t>
            </a:r>
            <a:endParaRPr lang="zh-CN" altLang="en-US" sz="2000" b="1" dirty="0">
              <a:solidFill>
                <a:schemeClr val="bg1"/>
              </a:solidFill>
              <a:latin typeface="+mn-ea"/>
            </a:endParaRPr>
          </a:p>
        </p:txBody>
      </p:sp>
      <p:pic>
        <p:nvPicPr>
          <p:cNvPr id="9" name="图片 8"/>
          <p:cNvPicPr>
            <a:picLocks noChangeAspect="1"/>
          </p:cNvPicPr>
          <p:nvPr/>
        </p:nvPicPr>
        <p:blipFill>
          <a:blip r:embed="rId5"/>
          <a:stretch>
            <a:fillRect/>
          </a:stretch>
        </p:blipFill>
        <p:spPr>
          <a:xfrm>
            <a:off x="4788024" y="3795886"/>
            <a:ext cx="1966130" cy="4877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wipe(left)">
                                      <p:cBhvr>
                                        <p:cTn id="24" dur="500"/>
                                        <p:tgtEl>
                                          <p:spTgt spid="7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731118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怎么解决？</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2"/>
          <a:stretch>
            <a:fillRect/>
          </a:stretch>
        </p:blipFill>
        <p:spPr>
          <a:xfrm>
            <a:off x="5796136" y="339502"/>
            <a:ext cx="2484184" cy="3221539"/>
          </a:xfrm>
          <a:prstGeom prst="rect">
            <a:avLst/>
          </a:prstGeom>
        </p:spPr>
      </p:pic>
      <p:pic>
        <p:nvPicPr>
          <p:cNvPr id="6" name="图片 5"/>
          <p:cNvPicPr>
            <a:picLocks noChangeAspect="1"/>
          </p:cNvPicPr>
          <p:nvPr/>
        </p:nvPicPr>
        <p:blipFill>
          <a:blip r:embed="rId3"/>
          <a:stretch>
            <a:fillRect/>
          </a:stretch>
        </p:blipFill>
        <p:spPr>
          <a:xfrm>
            <a:off x="3147691" y="435989"/>
            <a:ext cx="1836579" cy="2217612"/>
          </a:xfrm>
          <a:prstGeom prst="rect">
            <a:avLst/>
          </a:prstGeom>
        </p:spPr>
      </p:pic>
      <p:cxnSp>
        <p:nvCxnSpPr>
          <p:cNvPr id="10" name="直接箭头连接符 9"/>
          <p:cNvCxnSpPr/>
          <p:nvPr/>
        </p:nvCxnSpPr>
        <p:spPr>
          <a:xfrm flipH="1" flipV="1">
            <a:off x="4716016" y="695016"/>
            <a:ext cx="1296144" cy="1012638"/>
          </a:xfrm>
          <a:prstGeom prst="straightConnector1">
            <a:avLst/>
          </a:prstGeom>
          <a:ln w="38100">
            <a:solidFill>
              <a:srgbClr val="FF3300"/>
            </a:solidFill>
            <a:tailEnd type="triangle"/>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4"/>
          <a:stretch>
            <a:fillRect/>
          </a:stretch>
        </p:blipFill>
        <p:spPr>
          <a:xfrm>
            <a:off x="755576" y="3592930"/>
            <a:ext cx="7140559" cy="1280271"/>
          </a:xfrm>
          <a:prstGeom prst="rect">
            <a:avLst/>
          </a:prstGeom>
        </p:spPr>
      </p:pic>
      <p:sp>
        <p:nvSpPr>
          <p:cNvPr id="32" name="矩形 31"/>
          <p:cNvSpPr/>
          <p:nvPr/>
        </p:nvSpPr>
        <p:spPr>
          <a:xfrm>
            <a:off x="971600" y="1923678"/>
            <a:ext cx="2016224"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变成了现在的这个样子</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xEl>
                                              <p:pRg st="0" end="0"/>
                                            </p:txEl>
                                          </p:spTgt>
                                        </p:tgtEl>
                                        <p:attrNameLst>
                                          <p:attrName>style.visibility</p:attrName>
                                        </p:attrNameLst>
                                      </p:cBhvr>
                                      <p:to>
                                        <p:strVal val="visible"/>
                                      </p:to>
                                    </p:set>
                                    <p:animEffect transition="in" filter="wipe(left)">
                                      <p:cBhvr>
                                        <p:cTn id="22" dur="500"/>
                                        <p:tgtEl>
                                          <p:spTgt spid="3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731118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多道程序、交替执行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2"/>
          <a:stretch>
            <a:fillRect/>
          </a:stretch>
        </p:blipFill>
        <p:spPr>
          <a:xfrm>
            <a:off x="755576" y="819174"/>
            <a:ext cx="7483253" cy="42803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731118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一个</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CPU</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面对多个程序</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p>
        </p:txBody>
      </p:sp>
      <p:pic>
        <p:nvPicPr>
          <p:cNvPr id="2" name="图片 1"/>
          <p:cNvPicPr>
            <a:picLocks noChangeAspect="1"/>
          </p:cNvPicPr>
          <p:nvPr/>
        </p:nvPicPr>
        <p:blipFill>
          <a:blip r:embed="rId2"/>
          <a:stretch>
            <a:fillRect/>
          </a:stretch>
        </p:blipFill>
        <p:spPr>
          <a:xfrm>
            <a:off x="1763688" y="1554392"/>
            <a:ext cx="2126164" cy="2034716"/>
          </a:xfrm>
          <a:prstGeom prst="rect">
            <a:avLst/>
          </a:prstGeom>
        </p:spPr>
      </p:pic>
      <p:pic>
        <p:nvPicPr>
          <p:cNvPr id="4" name="图片 3"/>
          <p:cNvPicPr>
            <a:picLocks noChangeAspect="1"/>
          </p:cNvPicPr>
          <p:nvPr/>
        </p:nvPicPr>
        <p:blipFill>
          <a:blip r:embed="rId3"/>
          <a:stretch>
            <a:fillRect/>
          </a:stretch>
        </p:blipFill>
        <p:spPr>
          <a:xfrm>
            <a:off x="5364088" y="1645840"/>
            <a:ext cx="2118544" cy="1851820"/>
          </a:xfrm>
          <a:prstGeom prst="rect">
            <a:avLst/>
          </a:prstGeom>
        </p:spPr>
      </p:pic>
      <p:sp>
        <p:nvSpPr>
          <p:cNvPr id="5" name="下箭头 4"/>
          <p:cNvSpPr/>
          <p:nvPr/>
        </p:nvSpPr>
        <p:spPr>
          <a:xfrm>
            <a:off x="1626686" y="1566268"/>
            <a:ext cx="45719" cy="1141934"/>
          </a:xfrm>
          <a:prstGeom prst="downArrow">
            <a:avLst/>
          </a:prstGeom>
          <a:solidFill>
            <a:srgbClr val="FF3300"/>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V="1">
            <a:off x="1669976" y="2139702"/>
            <a:ext cx="3780420" cy="864096"/>
          </a:xfrm>
          <a:prstGeom prst="straightConnector1">
            <a:avLst/>
          </a:prstGeom>
          <a:ln w="28575">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下箭头 28"/>
          <p:cNvSpPr/>
          <p:nvPr/>
        </p:nvSpPr>
        <p:spPr>
          <a:xfrm>
            <a:off x="5440680" y="2067694"/>
            <a:ext cx="45719" cy="864096"/>
          </a:xfrm>
          <a:prstGeom prst="downArrow">
            <a:avLst/>
          </a:prstGeom>
          <a:solidFill>
            <a:srgbClr val="FF3300"/>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p:nvPr/>
        </p:nvCxnSpPr>
        <p:spPr>
          <a:xfrm flipH="1">
            <a:off x="1669976" y="3003798"/>
            <a:ext cx="3780420" cy="7200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下箭头 29"/>
          <p:cNvSpPr/>
          <p:nvPr/>
        </p:nvSpPr>
        <p:spPr>
          <a:xfrm>
            <a:off x="1644668" y="3075806"/>
            <a:ext cx="47012" cy="441294"/>
          </a:xfrm>
          <a:prstGeom prst="downArrow">
            <a:avLst/>
          </a:prstGeom>
          <a:solidFill>
            <a:srgbClr val="FF3300"/>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907704" y="3685102"/>
            <a:ext cx="5291833" cy="646331"/>
          </a:xfrm>
          <a:prstGeom prst="rect">
            <a:avLst/>
          </a:prstGeom>
        </p:spPr>
        <p:txBody>
          <a:bodyPr wrap="none">
            <a:spAutoFit/>
          </a:bodyPr>
          <a:lstStyle/>
          <a:p>
            <a:pPr marL="0" lvl="1" algn="just">
              <a:lnSpc>
                <a:spcPct val="150000"/>
              </a:lnSpc>
              <a:buClr>
                <a:schemeClr val="accent6">
                  <a:lumMod val="60000"/>
                  <a:lumOff val="40000"/>
                </a:schemeClr>
              </a:buClr>
            </a:pPr>
            <a:r>
              <a:rPr lang="zh-CN" altLang="en-US" sz="2400" b="1" dirty="0">
                <a:solidFill>
                  <a:schemeClr val="bg1"/>
                </a:solidFill>
                <a:latin typeface="+mn-ea"/>
              </a:rPr>
              <a:t>一个</a:t>
            </a:r>
            <a:r>
              <a:rPr lang="en-US" altLang="zh-CN" sz="2400" b="1" dirty="0">
                <a:solidFill>
                  <a:schemeClr val="bg1"/>
                </a:solidFill>
                <a:latin typeface="+mn-ea"/>
              </a:rPr>
              <a:t>CPU</a:t>
            </a:r>
            <a:r>
              <a:rPr lang="zh-CN" altLang="en-US" sz="2400" b="1" dirty="0">
                <a:solidFill>
                  <a:schemeClr val="bg1"/>
                </a:solidFill>
                <a:latin typeface="+mn-ea"/>
              </a:rPr>
              <a:t>上交替的执行多个程序：</a:t>
            </a:r>
            <a:r>
              <a:rPr lang="zh-CN" altLang="en-US" sz="2400" b="1" dirty="0">
                <a:solidFill>
                  <a:srgbClr val="FFFF00"/>
                </a:solidFill>
                <a:latin typeface="+mn-ea"/>
              </a:rPr>
              <a:t>并发</a:t>
            </a:r>
          </a:p>
        </p:txBody>
      </p:sp>
      <p:grpSp>
        <p:nvGrpSpPr>
          <p:cNvPr id="31" name="组合 30"/>
          <p:cNvGrpSpPr/>
          <p:nvPr/>
        </p:nvGrpSpPr>
        <p:grpSpPr>
          <a:xfrm>
            <a:off x="1043608" y="2675994"/>
            <a:ext cx="679431" cy="369332"/>
            <a:chOff x="1105961" y="2753866"/>
            <a:chExt cx="679431" cy="369332"/>
          </a:xfrm>
        </p:grpSpPr>
        <p:sp>
          <p:nvSpPr>
            <p:cNvPr id="11" name="文本框 10"/>
            <p:cNvSpPr txBox="1"/>
            <p:nvPr/>
          </p:nvSpPr>
          <p:spPr>
            <a:xfrm>
              <a:off x="1105961" y="2753866"/>
              <a:ext cx="504056" cy="369332"/>
            </a:xfrm>
            <a:prstGeom prst="rect">
              <a:avLst/>
            </a:prstGeom>
            <a:noFill/>
          </p:spPr>
          <p:txBody>
            <a:bodyPr wrap="square" rtlCol="0">
              <a:spAutoFit/>
            </a:bodyPr>
            <a:lstStyle/>
            <a:p>
              <a:r>
                <a:rPr lang="en-US" altLang="zh-CN" dirty="0" smtClean="0">
                  <a:solidFill>
                    <a:schemeClr val="bg1"/>
                  </a:solidFill>
                </a:rPr>
                <a:t>PC</a:t>
              </a:r>
              <a:endParaRPr lang="zh-CN" altLang="en-US" dirty="0">
                <a:solidFill>
                  <a:schemeClr val="bg1"/>
                </a:solidFill>
              </a:endParaRPr>
            </a:p>
          </p:txBody>
        </p:sp>
        <p:cxnSp>
          <p:nvCxnSpPr>
            <p:cNvPr id="13" name="直接箭头连接符 12"/>
            <p:cNvCxnSpPr/>
            <p:nvPr/>
          </p:nvCxnSpPr>
          <p:spPr>
            <a:xfrm>
              <a:off x="1473364" y="2931790"/>
              <a:ext cx="312028" cy="0"/>
            </a:xfrm>
            <a:prstGeom prst="straightConnector1">
              <a:avLst/>
            </a:prstGeom>
            <a:ln w="28575">
              <a:solidFill>
                <a:srgbClr val="FF33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4700093" y="1939554"/>
            <a:ext cx="679431" cy="369332"/>
            <a:chOff x="1105961" y="2753866"/>
            <a:chExt cx="679431" cy="369332"/>
          </a:xfrm>
        </p:grpSpPr>
        <p:sp>
          <p:nvSpPr>
            <p:cNvPr id="34" name="文本框 33"/>
            <p:cNvSpPr txBox="1"/>
            <p:nvPr/>
          </p:nvSpPr>
          <p:spPr>
            <a:xfrm>
              <a:off x="1105961" y="2753866"/>
              <a:ext cx="504056" cy="369332"/>
            </a:xfrm>
            <a:prstGeom prst="rect">
              <a:avLst/>
            </a:prstGeom>
            <a:noFill/>
          </p:spPr>
          <p:txBody>
            <a:bodyPr wrap="square" rtlCol="0">
              <a:spAutoFit/>
            </a:bodyPr>
            <a:lstStyle/>
            <a:p>
              <a:r>
                <a:rPr lang="en-US" altLang="zh-CN" dirty="0" smtClean="0">
                  <a:solidFill>
                    <a:schemeClr val="bg1"/>
                  </a:solidFill>
                </a:rPr>
                <a:t>PC</a:t>
              </a:r>
              <a:endParaRPr lang="zh-CN" altLang="en-US" dirty="0">
                <a:solidFill>
                  <a:schemeClr val="bg1"/>
                </a:solidFill>
              </a:endParaRPr>
            </a:p>
          </p:txBody>
        </p:sp>
        <p:cxnSp>
          <p:nvCxnSpPr>
            <p:cNvPr id="35" name="直接箭头连接符 34"/>
            <p:cNvCxnSpPr/>
            <p:nvPr/>
          </p:nvCxnSpPr>
          <p:spPr>
            <a:xfrm>
              <a:off x="1473364" y="2931790"/>
              <a:ext cx="312028" cy="0"/>
            </a:xfrm>
            <a:prstGeom prst="straightConnector1">
              <a:avLst/>
            </a:prstGeom>
            <a:ln w="28575">
              <a:solidFill>
                <a:srgbClr val="FF33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矩形标注 31"/>
          <p:cNvSpPr/>
          <p:nvPr/>
        </p:nvSpPr>
        <p:spPr>
          <a:xfrm>
            <a:off x="4435134" y="594770"/>
            <a:ext cx="1857908" cy="823994"/>
          </a:xfrm>
          <a:prstGeom prst="wedgeRectCallout">
            <a:avLst>
              <a:gd name="adj1" fmla="val -20013"/>
              <a:gd name="adj2" fmla="val 119835"/>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a:t>需要切到另一个程序时， </a:t>
            </a:r>
            <a:r>
              <a:rPr lang="en-US" altLang="zh-CN" b="1" dirty="0"/>
              <a:t>OS</a:t>
            </a:r>
            <a:r>
              <a:rPr lang="zh-CN" altLang="en-US" b="1" dirty="0"/>
              <a:t>修改</a:t>
            </a:r>
            <a:r>
              <a:rPr lang="en-US" altLang="zh-CN" b="1" dirty="0" smtClean="0"/>
              <a:t>PC=200</a:t>
            </a:r>
            <a:endParaRPr lang="zh-CN" altLang="en-US"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down)">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up)">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righ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up)">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9" grpId="0" animBg="1"/>
      <p:bldP spid="30" grpId="0" animBg="1"/>
      <p:bldP spid="10" grpId="0"/>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731118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怎么做到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修改寄存器</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PC</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就行了吗</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p>
        </p:txBody>
      </p:sp>
      <p:pic>
        <p:nvPicPr>
          <p:cNvPr id="8" name="图片 7"/>
          <p:cNvPicPr>
            <a:picLocks noChangeAspect="1"/>
          </p:cNvPicPr>
          <p:nvPr/>
        </p:nvPicPr>
        <p:blipFill>
          <a:blip r:embed="rId3"/>
          <a:stretch>
            <a:fillRect/>
          </a:stretch>
        </p:blipFill>
        <p:spPr>
          <a:xfrm>
            <a:off x="1547664" y="1059582"/>
            <a:ext cx="2049958" cy="1905165"/>
          </a:xfrm>
          <a:prstGeom prst="rect">
            <a:avLst/>
          </a:prstGeom>
        </p:spPr>
      </p:pic>
      <p:pic>
        <p:nvPicPr>
          <p:cNvPr id="11" name="图片 10"/>
          <p:cNvPicPr>
            <a:picLocks noChangeAspect="1"/>
          </p:cNvPicPr>
          <p:nvPr/>
        </p:nvPicPr>
        <p:blipFill>
          <a:blip r:embed="rId4"/>
          <a:stretch>
            <a:fillRect/>
          </a:stretch>
        </p:blipFill>
        <p:spPr>
          <a:xfrm>
            <a:off x="4788024" y="1066056"/>
            <a:ext cx="2103302" cy="1928027"/>
          </a:xfrm>
          <a:prstGeom prst="rect">
            <a:avLst/>
          </a:prstGeom>
        </p:spPr>
      </p:pic>
      <p:cxnSp>
        <p:nvCxnSpPr>
          <p:cNvPr id="13" name="直接箭头连接符 12"/>
          <p:cNvCxnSpPr/>
          <p:nvPr/>
        </p:nvCxnSpPr>
        <p:spPr>
          <a:xfrm flipV="1">
            <a:off x="3059832" y="1562124"/>
            <a:ext cx="1728192" cy="72008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32" name="直接箭头连接符 31"/>
          <p:cNvCxnSpPr/>
          <p:nvPr/>
        </p:nvCxnSpPr>
        <p:spPr>
          <a:xfrm>
            <a:off x="4788024" y="1634132"/>
            <a:ext cx="0" cy="792088"/>
          </a:xfrm>
          <a:prstGeom prst="straightConnector1">
            <a:avLst/>
          </a:prstGeom>
          <a:ln w="38100">
            <a:solidFill>
              <a:srgbClr val="FF3300"/>
            </a:solidFill>
            <a:tailEnd type="triangle"/>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4108593" y="1333892"/>
            <a:ext cx="679431" cy="369332"/>
            <a:chOff x="1105961" y="2753866"/>
            <a:chExt cx="679431" cy="369332"/>
          </a:xfrm>
        </p:grpSpPr>
        <p:sp>
          <p:nvSpPr>
            <p:cNvPr id="37" name="文本框 36"/>
            <p:cNvSpPr txBox="1"/>
            <p:nvPr/>
          </p:nvSpPr>
          <p:spPr>
            <a:xfrm>
              <a:off x="1105961" y="2753866"/>
              <a:ext cx="504056" cy="369332"/>
            </a:xfrm>
            <a:prstGeom prst="rect">
              <a:avLst/>
            </a:prstGeom>
            <a:noFill/>
          </p:spPr>
          <p:txBody>
            <a:bodyPr wrap="square" rtlCol="0">
              <a:spAutoFit/>
            </a:bodyPr>
            <a:lstStyle/>
            <a:p>
              <a:r>
                <a:rPr lang="en-US" altLang="zh-CN" dirty="0" smtClean="0">
                  <a:solidFill>
                    <a:schemeClr val="bg1"/>
                  </a:solidFill>
                </a:rPr>
                <a:t>PC</a:t>
              </a:r>
              <a:endParaRPr lang="zh-CN" altLang="en-US" dirty="0">
                <a:solidFill>
                  <a:schemeClr val="bg1"/>
                </a:solidFill>
              </a:endParaRPr>
            </a:p>
          </p:txBody>
        </p:sp>
        <p:cxnSp>
          <p:nvCxnSpPr>
            <p:cNvPr id="38" name="直接箭头连接符 37"/>
            <p:cNvCxnSpPr/>
            <p:nvPr/>
          </p:nvCxnSpPr>
          <p:spPr>
            <a:xfrm>
              <a:off x="1473364" y="2931790"/>
              <a:ext cx="312028" cy="0"/>
            </a:xfrm>
            <a:prstGeom prst="straightConnector1">
              <a:avLst/>
            </a:prstGeom>
            <a:ln w="28575">
              <a:solidFill>
                <a:srgbClr val="FF33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1835696" y="2054344"/>
            <a:ext cx="2952328" cy="443884"/>
            <a:chOff x="1835696" y="2415898"/>
            <a:chExt cx="2952328" cy="443884"/>
          </a:xfrm>
        </p:grpSpPr>
        <p:cxnSp>
          <p:nvCxnSpPr>
            <p:cNvPr id="39" name="直接箭头连接符 38"/>
            <p:cNvCxnSpPr/>
            <p:nvPr/>
          </p:nvCxnSpPr>
          <p:spPr>
            <a:xfrm flipH="1">
              <a:off x="1835696" y="2787774"/>
              <a:ext cx="2952328" cy="72008"/>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40" name="文本框 39"/>
            <p:cNvSpPr txBox="1"/>
            <p:nvPr/>
          </p:nvSpPr>
          <p:spPr>
            <a:xfrm>
              <a:off x="3590146" y="2415898"/>
              <a:ext cx="920181" cy="369332"/>
            </a:xfrm>
            <a:prstGeom prst="rect">
              <a:avLst/>
            </a:prstGeom>
            <a:noFill/>
          </p:spPr>
          <p:txBody>
            <a:bodyPr wrap="square" rtlCol="0">
              <a:spAutoFit/>
            </a:bodyPr>
            <a:lstStyle/>
            <a:p>
              <a:r>
                <a:rPr lang="zh-CN" altLang="en-US" b="1" dirty="0" smtClean="0">
                  <a:solidFill>
                    <a:schemeClr val="bg1"/>
                  </a:solidFill>
                </a:rPr>
                <a:t>切回去</a:t>
              </a:r>
              <a:endParaRPr lang="zh-CN" altLang="en-US" b="1" dirty="0">
                <a:solidFill>
                  <a:schemeClr val="bg1"/>
                </a:solidFill>
              </a:endParaRPr>
            </a:p>
          </p:txBody>
        </p:sp>
      </p:grpSp>
      <p:pic>
        <p:nvPicPr>
          <p:cNvPr id="42" name="图片 41"/>
          <p:cNvPicPr>
            <a:picLocks noChangeAspect="1"/>
          </p:cNvPicPr>
          <p:nvPr/>
        </p:nvPicPr>
        <p:blipFill>
          <a:blip r:embed="rId5"/>
          <a:stretch>
            <a:fillRect/>
          </a:stretch>
        </p:blipFill>
        <p:spPr>
          <a:xfrm>
            <a:off x="1801436" y="3219629"/>
            <a:ext cx="1440305" cy="1806097"/>
          </a:xfrm>
          <a:prstGeom prst="rect">
            <a:avLst/>
          </a:prstGeom>
        </p:spPr>
      </p:pic>
      <p:sp>
        <p:nvSpPr>
          <p:cNvPr id="43" name="矩形标注 42"/>
          <p:cNvSpPr/>
          <p:nvPr/>
        </p:nvSpPr>
        <p:spPr>
          <a:xfrm>
            <a:off x="4160134" y="3069862"/>
            <a:ext cx="3359082" cy="903147"/>
          </a:xfrm>
          <a:prstGeom prst="wedgeRectCallout">
            <a:avLst>
              <a:gd name="adj1" fmla="val -83308"/>
              <a:gd name="adj2" fmla="val 60813"/>
            </a:avLst>
          </a:prstGeom>
        </p:spPr>
        <p:style>
          <a:lnRef idx="1">
            <a:schemeClr val="accent6"/>
          </a:lnRef>
          <a:fillRef idx="2">
            <a:schemeClr val="accent6"/>
          </a:fillRef>
          <a:effectRef idx="1">
            <a:schemeClr val="accent6"/>
          </a:effectRef>
          <a:fontRef idx="minor">
            <a:schemeClr val="dk1"/>
          </a:fontRef>
        </p:style>
        <p:txBody>
          <a:bodyPr rtlCol="0" anchor="ctr"/>
          <a:lstStyle/>
          <a:p>
            <a:pPr>
              <a:buFont typeface="Wingdings" panose="05000000000000000000" pitchFamily="2" charset="2"/>
              <a:buChar char="ü"/>
            </a:pPr>
            <a:r>
              <a:rPr lang="zh-CN" altLang="en-US" b="1" dirty="0"/>
              <a:t>要记录返回地址，要记录</a:t>
            </a:r>
            <a:r>
              <a:rPr lang="en-US" altLang="zh-CN" b="1" dirty="0"/>
              <a:t>ax… </a:t>
            </a:r>
            <a:endParaRPr lang="en-US" altLang="zh-CN" b="1" dirty="0" smtClean="0"/>
          </a:p>
          <a:p>
            <a:pPr>
              <a:buFont typeface="Wingdings" panose="05000000000000000000" pitchFamily="2" charset="2"/>
              <a:buChar char="ü"/>
            </a:pPr>
            <a:r>
              <a:rPr lang="zh-CN" altLang="en-US" b="1" dirty="0"/>
              <a:t>每个程序有了一个</a:t>
            </a:r>
            <a:r>
              <a:rPr lang="zh-CN" altLang="en-US" b="1" dirty="0" smtClean="0"/>
              <a:t>存放信息</a:t>
            </a:r>
            <a:r>
              <a:rPr lang="zh-CN" altLang="en-US" b="1" dirty="0"/>
              <a:t>的结构</a:t>
            </a:r>
            <a:r>
              <a:rPr lang="en-US" altLang="zh-CN" b="1" dirty="0"/>
              <a:t>: PCB</a:t>
            </a:r>
            <a:endParaRPr lang="zh-CN" altLang="en-US" b="1" dirty="0"/>
          </a:p>
        </p:txBody>
      </p:sp>
      <p:sp>
        <p:nvSpPr>
          <p:cNvPr id="44" name="矩形 43"/>
          <p:cNvSpPr/>
          <p:nvPr/>
        </p:nvSpPr>
        <p:spPr>
          <a:xfrm>
            <a:off x="3323280" y="4076567"/>
            <a:ext cx="4671472" cy="461665"/>
          </a:xfrm>
          <a:prstGeom prst="rect">
            <a:avLst/>
          </a:prstGeom>
        </p:spPr>
        <p:txBody>
          <a:bodyPr wrap="none">
            <a:spAutoFit/>
          </a:bodyPr>
          <a:lstStyle/>
          <a:p>
            <a:r>
              <a:rPr lang="zh-CN" altLang="en-US" sz="2400" b="1" dirty="0">
                <a:solidFill>
                  <a:schemeClr val="bg1"/>
                </a:solidFill>
                <a:latin typeface="+mn-ea"/>
              </a:rPr>
              <a:t>运行的程序和</a:t>
            </a:r>
            <a:r>
              <a:rPr lang="zh-CN" altLang="en-US" sz="2400" b="1" dirty="0" smtClean="0">
                <a:solidFill>
                  <a:schemeClr val="bg1"/>
                </a:solidFill>
                <a:latin typeface="+mn-ea"/>
              </a:rPr>
              <a:t>静态程序</a:t>
            </a:r>
            <a:r>
              <a:rPr lang="zh-CN" altLang="en-US" sz="2400" b="1" dirty="0">
                <a:solidFill>
                  <a:schemeClr val="bg1"/>
                </a:solidFill>
                <a:latin typeface="+mn-ea"/>
              </a:rPr>
              <a:t>不一样</a:t>
            </a:r>
            <a:r>
              <a:rPr lang="zh-CN" altLang="en-US" sz="2400" b="1" dirty="0" smtClean="0">
                <a:solidFill>
                  <a:schemeClr val="bg1"/>
                </a:solidFill>
                <a:latin typeface="+mn-ea"/>
              </a:rPr>
              <a:t>了</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path" presetSubtype="0" accel="50000" decel="50000" fill="hold" nodeType="clickEffect">
                                  <p:stCondLst>
                                    <p:cond delay="0"/>
                                  </p:stCondLst>
                                  <p:childTnLst>
                                    <p:animMotion origin="layout" path="M 1.66667E-6 -1.7284E-6 L 0.00312 0.16266 " pathEditMode="relative" rAng="0" ptsTypes="AA">
                                      <p:cBhvr>
                                        <p:cTn id="31" dur="2000" fill="hold"/>
                                        <p:tgtEl>
                                          <p:spTgt spid="36"/>
                                        </p:tgtEl>
                                        <p:attrNameLst>
                                          <p:attrName>ppt_x</p:attrName>
                                          <p:attrName>ppt_y</p:attrName>
                                        </p:attrNameLst>
                                      </p:cBhvr>
                                      <p:rCtr x="156" y="8117"/>
                                    </p:animMotion>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wipe(right)">
                                      <p:cBhvr>
                                        <p:cTn id="36" dur="500"/>
                                        <p:tgtEl>
                                          <p:spTgt spid="4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wipe(left)">
                                      <p:cBhvr>
                                        <p:cTn id="46" dur="500"/>
                                        <p:tgtEl>
                                          <p:spTgt spid="43"/>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anim calcmode="lin" valueType="num">
                                      <p:cBhvr>
                                        <p:cTn id="51" dur="500" fill="hold"/>
                                        <p:tgtEl>
                                          <p:spTgt spid="44"/>
                                        </p:tgtEl>
                                        <p:attrNameLst>
                                          <p:attrName>ppt_w</p:attrName>
                                        </p:attrNameLst>
                                      </p:cBhvr>
                                      <p:tavLst>
                                        <p:tav tm="0">
                                          <p:val>
                                            <p:fltVal val="0"/>
                                          </p:val>
                                        </p:tav>
                                        <p:tav tm="100000">
                                          <p:val>
                                            <p:strVal val="#ppt_w"/>
                                          </p:val>
                                        </p:tav>
                                      </p:tavLst>
                                    </p:anim>
                                    <p:anim calcmode="lin" valueType="num">
                                      <p:cBhvr>
                                        <p:cTn id="52" dur="500" fill="hold"/>
                                        <p:tgtEl>
                                          <p:spTgt spid="44"/>
                                        </p:tgtEl>
                                        <p:attrNameLst>
                                          <p:attrName>ppt_h</p:attrName>
                                        </p:attrNameLst>
                                      </p:cBhvr>
                                      <p:tavLst>
                                        <p:tav tm="0">
                                          <p:val>
                                            <p:fltVal val="0"/>
                                          </p:val>
                                        </p:tav>
                                        <p:tav tm="100000">
                                          <p:val>
                                            <p:strVal val="#ppt_h"/>
                                          </p:val>
                                        </p:tav>
                                      </p:tavLst>
                                    </p:anim>
                                    <p:animEffect transition="in" filter="fade">
                                      <p:cBhvr>
                                        <p:cTn id="5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程序</a:t>
            </a:r>
            <a:r>
              <a:rPr lang="zh-CN" altLang="en-US" sz="2400" b="1" dirty="0" smtClean="0">
                <a:solidFill>
                  <a:schemeClr val="bg1"/>
                </a:solidFill>
                <a:latin typeface="+mn-ea"/>
              </a:rPr>
              <a:t>是描述计算机所要完成的具有独立功能的，并在</a:t>
            </a:r>
            <a:r>
              <a:rPr lang="zh-CN" altLang="en-US" sz="2400" b="1" dirty="0">
                <a:solidFill>
                  <a:schemeClr val="bg1"/>
                </a:solidFill>
                <a:latin typeface="+mn-ea"/>
              </a:rPr>
              <a:t>时间上按严格次序前后相继的操作序列，是一个</a:t>
            </a:r>
            <a:r>
              <a:rPr lang="zh-CN" altLang="en-US" sz="2400" b="1" dirty="0">
                <a:solidFill>
                  <a:srgbClr val="FFFF00"/>
                </a:solidFill>
                <a:latin typeface="+mn-ea"/>
              </a:rPr>
              <a:t>静态的概念</a:t>
            </a:r>
            <a:r>
              <a:rPr lang="zh-CN" altLang="en-US" sz="2400" b="1" dirty="0">
                <a:solidFill>
                  <a:schemeClr val="bg1"/>
                </a:solidFill>
                <a:latin typeface="+mn-ea"/>
              </a:rPr>
              <a:t>。程序体现了编程人员要求计算机完成所要求功能时所应该采取的顺序步骤。</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程序的顺序执行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2862322"/>
          </a:xfrm>
          <a:prstGeom prst="rect">
            <a:avLst/>
          </a:prstGeom>
        </p:spPr>
        <p:txBody>
          <a:bodyPr wrap="square">
            <a:spAutoFit/>
          </a:bodyPr>
          <a:lstStyle/>
          <a:p>
            <a:pPr marL="0" lvl="1" algn="just">
              <a:lnSpc>
                <a:spcPct val="150000"/>
              </a:lnSpc>
              <a:buClr>
                <a:schemeClr val="accent6">
                  <a:lumMod val="60000"/>
                  <a:lumOff val="40000"/>
                </a:schemeClr>
              </a:buClr>
            </a:pPr>
            <a:r>
              <a:rPr lang="zh-CN" altLang="en-US" sz="2400" b="1" dirty="0">
                <a:solidFill>
                  <a:schemeClr val="bg1"/>
                </a:solidFill>
                <a:latin typeface="+mn-ea"/>
              </a:rPr>
              <a:t>其执行过程可以描述为：</a:t>
            </a:r>
          </a:p>
          <a:p>
            <a:pPr marL="0" lvl="1" algn="just">
              <a:lnSpc>
                <a:spcPct val="150000"/>
              </a:lnSpc>
              <a:spcBef>
                <a:spcPct val="0"/>
              </a:spcBef>
              <a:buClr>
                <a:schemeClr val="accent6">
                  <a:lumMod val="60000"/>
                  <a:lumOff val="40000"/>
                </a:schemeClr>
              </a:buClr>
            </a:pPr>
            <a:r>
              <a:rPr lang="zh-CN" altLang="en-US" sz="2400" b="1" dirty="0">
                <a:solidFill>
                  <a:schemeClr val="bg1"/>
                </a:solidFill>
                <a:latin typeface="+mn-ea"/>
              </a:rPr>
              <a:t>	</a:t>
            </a:r>
            <a:r>
              <a:rPr lang="en-US" altLang="zh-CN" sz="2400" b="1" dirty="0">
                <a:solidFill>
                  <a:schemeClr val="bg1"/>
                </a:solidFill>
                <a:latin typeface="+mn-ea"/>
              </a:rPr>
              <a:t>Repeat  IR ← M </a:t>
            </a:r>
            <a:r>
              <a:rPr lang="zh-CN" altLang="en-US" sz="2400" b="1" dirty="0" smtClean="0">
                <a:solidFill>
                  <a:schemeClr val="bg1"/>
                </a:solidFill>
                <a:latin typeface="+mn-ea"/>
              </a:rPr>
              <a:t>［</a:t>
            </a:r>
            <a:r>
              <a:rPr lang="en-US" altLang="zh-CN" sz="2400" b="1" dirty="0" smtClean="0">
                <a:solidFill>
                  <a:schemeClr val="bg1"/>
                </a:solidFill>
                <a:latin typeface="+mn-ea"/>
              </a:rPr>
              <a:t>PC</a:t>
            </a:r>
            <a:r>
              <a:rPr lang="zh-CN" altLang="en-US" sz="2400" b="1" dirty="0" smtClean="0">
                <a:solidFill>
                  <a:schemeClr val="bg1"/>
                </a:solidFill>
                <a:latin typeface="+mn-ea"/>
              </a:rPr>
              <a:t>］</a:t>
            </a:r>
            <a:endParaRPr lang="zh-CN" altLang="en-US" sz="2400" b="1" dirty="0">
              <a:solidFill>
                <a:schemeClr val="bg1"/>
              </a:solidFill>
              <a:latin typeface="+mn-ea"/>
            </a:endParaRPr>
          </a:p>
          <a:p>
            <a:pPr marL="0" lvl="1" algn="just">
              <a:lnSpc>
                <a:spcPct val="150000"/>
              </a:lnSpc>
              <a:spcBef>
                <a:spcPct val="0"/>
              </a:spcBef>
              <a:buClr>
                <a:schemeClr val="accent6">
                  <a:lumMod val="60000"/>
                  <a:lumOff val="40000"/>
                </a:schemeClr>
              </a:buClr>
            </a:pPr>
            <a:r>
              <a:rPr lang="zh-CN" altLang="en-US" sz="2400" b="1" dirty="0">
                <a:solidFill>
                  <a:schemeClr val="bg1"/>
                </a:solidFill>
                <a:latin typeface="+mn-ea"/>
              </a:rPr>
              <a:t>		</a:t>
            </a:r>
            <a:r>
              <a:rPr lang="en-US" altLang="zh-CN" sz="2400" b="1" dirty="0" smtClean="0">
                <a:solidFill>
                  <a:schemeClr val="bg1"/>
                </a:solidFill>
                <a:latin typeface="+mn-ea"/>
              </a:rPr>
              <a:t>PC </a:t>
            </a:r>
            <a:r>
              <a:rPr lang="en-US" altLang="zh-CN" sz="2400" b="1" dirty="0">
                <a:solidFill>
                  <a:schemeClr val="bg1"/>
                </a:solidFill>
                <a:latin typeface="+mn-ea"/>
              </a:rPr>
              <a:t>← </a:t>
            </a:r>
            <a:r>
              <a:rPr lang="en-US" altLang="zh-CN" sz="2400" b="1" dirty="0" smtClean="0">
                <a:solidFill>
                  <a:schemeClr val="bg1"/>
                </a:solidFill>
                <a:latin typeface="+mn-ea"/>
              </a:rPr>
              <a:t>PC+1</a:t>
            </a:r>
            <a:endParaRPr lang="en-US" altLang="zh-CN" sz="2400" b="1" dirty="0">
              <a:solidFill>
                <a:schemeClr val="bg1"/>
              </a:solidFill>
              <a:latin typeface="+mn-ea"/>
            </a:endParaRP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 Execute (instruction in IR)〉</a:t>
            </a: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Until CPU halt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程序的顺序执行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166776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我们把一个具有</a:t>
            </a:r>
            <a:r>
              <a:rPr lang="zh-CN" altLang="en-US" sz="2400" b="1" dirty="0">
                <a:solidFill>
                  <a:srgbClr val="FFFF00"/>
                </a:solidFill>
                <a:latin typeface="+mn-ea"/>
              </a:rPr>
              <a:t>独立功能</a:t>
            </a:r>
            <a:r>
              <a:rPr lang="zh-CN" altLang="en-US" sz="2400" b="1" dirty="0">
                <a:solidFill>
                  <a:schemeClr val="bg1"/>
                </a:solidFill>
                <a:latin typeface="+mn-ea"/>
              </a:rPr>
              <a:t>的程序</a:t>
            </a:r>
            <a:r>
              <a:rPr lang="zh-CN" altLang="en-US" sz="2400" b="1" dirty="0">
                <a:solidFill>
                  <a:srgbClr val="FFFF00"/>
                </a:solidFill>
                <a:latin typeface="+mn-ea"/>
              </a:rPr>
              <a:t>独占处理机</a:t>
            </a:r>
            <a:r>
              <a:rPr lang="zh-CN" altLang="en-US" sz="2400" b="1" dirty="0">
                <a:solidFill>
                  <a:schemeClr val="bg1"/>
                </a:solidFill>
                <a:latin typeface="+mn-ea"/>
              </a:rPr>
              <a:t>直至</a:t>
            </a:r>
            <a:r>
              <a:rPr lang="zh-CN" altLang="en-US" sz="2400" b="1" dirty="0">
                <a:solidFill>
                  <a:srgbClr val="FFFF00"/>
                </a:solidFill>
                <a:latin typeface="+mn-ea"/>
              </a:rPr>
              <a:t>最终结束</a:t>
            </a:r>
            <a:r>
              <a:rPr lang="zh-CN" altLang="en-US" sz="2400" b="1" dirty="0">
                <a:solidFill>
                  <a:schemeClr val="bg1"/>
                </a:solidFill>
                <a:latin typeface="+mn-ea"/>
              </a:rPr>
              <a:t>的过程称为程序的顺序执行。程序的顺序执行具有如下特点</a:t>
            </a:r>
          </a:p>
        </p:txBody>
      </p:sp>
      <p:grpSp>
        <p:nvGrpSpPr>
          <p:cNvPr id="29" name="组合 28"/>
          <p:cNvGrpSpPr/>
          <p:nvPr/>
        </p:nvGrpSpPr>
        <p:grpSpPr>
          <a:xfrm>
            <a:off x="758308" y="2283717"/>
            <a:ext cx="2569351" cy="2515671"/>
            <a:chOff x="987631" y="1824011"/>
            <a:chExt cx="2186299" cy="2150883"/>
          </a:xfrm>
        </p:grpSpPr>
        <p:sp>
          <p:nvSpPr>
            <p:cNvPr id="30" name="任意多边形 29"/>
            <p:cNvSpPr/>
            <p:nvPr/>
          </p:nvSpPr>
          <p:spPr>
            <a:xfrm>
              <a:off x="987631" y="1824011"/>
              <a:ext cx="1982844" cy="1323489"/>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程序顺序执行时，其执行过程可看作一系列严格按程序规定的状态转移过程。</a:t>
              </a:r>
            </a:p>
          </p:txBody>
        </p:sp>
        <p:sp>
          <p:nvSpPr>
            <p:cNvPr id="31" name="任意多边形 30"/>
            <p:cNvSpPr/>
            <p:nvPr/>
          </p:nvSpPr>
          <p:spPr>
            <a:xfrm>
              <a:off x="987631"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kern="1200" dirty="0" smtClean="0"/>
                <a:t>顺序性</a:t>
              </a:r>
              <a:endParaRPr lang="zh-CN" altLang="en-US" sz="2400" b="1" kern="1200" dirty="0"/>
            </a:p>
          </p:txBody>
        </p:sp>
        <p:sp>
          <p:nvSpPr>
            <p:cNvPr id="32" name="椭圆 31"/>
            <p:cNvSpPr/>
            <p:nvPr/>
          </p:nvSpPr>
          <p:spPr>
            <a:xfrm>
              <a:off x="2479935" y="3280899"/>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3424445" y="2283718"/>
            <a:ext cx="2564578" cy="2501632"/>
            <a:chOff x="3306020" y="1844832"/>
            <a:chExt cx="2146456" cy="2097759"/>
          </a:xfrm>
        </p:grpSpPr>
        <p:sp>
          <p:nvSpPr>
            <p:cNvPr id="34" name="任意多边形 33"/>
            <p:cNvSpPr/>
            <p:nvPr/>
          </p:nvSpPr>
          <p:spPr>
            <a:xfrm>
              <a:off x="3306020" y="1844832"/>
              <a:ext cx="1982844" cy="1419654"/>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程序执行得到的最终结果由给定的初始条件决定，不受外界因素的影响</a:t>
              </a:r>
            </a:p>
          </p:txBody>
        </p:sp>
        <p:sp>
          <p:nvSpPr>
            <p:cNvPr id="35" name="任意多边形 34"/>
            <p:cNvSpPr/>
            <p:nvPr/>
          </p:nvSpPr>
          <p:spPr>
            <a:xfrm>
              <a:off x="330602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smtClean="0"/>
                <a:t>封闭性</a:t>
              </a:r>
              <a:endParaRPr lang="zh-CN" altLang="en-US" sz="2400" b="1" dirty="0"/>
            </a:p>
          </p:txBody>
        </p:sp>
        <p:sp>
          <p:nvSpPr>
            <p:cNvPr id="36" name="椭圆 35"/>
            <p:cNvSpPr/>
            <p:nvPr/>
          </p:nvSpPr>
          <p:spPr>
            <a:xfrm>
              <a:off x="4758481" y="324859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7" name="组合 36"/>
          <p:cNvGrpSpPr/>
          <p:nvPr/>
        </p:nvGrpSpPr>
        <p:grpSpPr>
          <a:xfrm>
            <a:off x="6108450" y="2283399"/>
            <a:ext cx="2768516" cy="2491051"/>
            <a:chOff x="5624409" y="1797129"/>
            <a:chExt cx="2332229" cy="2116766"/>
          </a:xfrm>
        </p:grpSpPr>
        <p:sp>
          <p:nvSpPr>
            <p:cNvPr id="38" name="任意多边形 37"/>
            <p:cNvSpPr/>
            <p:nvPr/>
          </p:nvSpPr>
          <p:spPr>
            <a:xfrm>
              <a:off x="5624409" y="1797129"/>
              <a:ext cx="2083453" cy="1350370"/>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只要输入的初始条件相同，则无论何时重复执行该程序都会得到相同的结果，与执行速度无关</a:t>
              </a:r>
            </a:p>
          </p:txBody>
        </p:sp>
        <p:sp>
          <p:nvSpPr>
            <p:cNvPr id="39" name="任意多边形 38"/>
            <p:cNvSpPr/>
            <p:nvPr/>
          </p:nvSpPr>
          <p:spPr>
            <a:xfrm>
              <a:off x="5624409" y="3147499"/>
              <a:ext cx="2083452"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smtClean="0"/>
                <a:t>可再现性</a:t>
              </a:r>
              <a:endParaRPr lang="zh-CN" altLang="en-US" sz="2400" b="1" dirty="0"/>
            </a:p>
          </p:txBody>
        </p:sp>
        <p:sp>
          <p:nvSpPr>
            <p:cNvPr id="40" name="椭圆 39"/>
            <p:cNvSpPr/>
            <p:nvPr/>
          </p:nvSpPr>
          <p:spPr>
            <a:xfrm>
              <a:off x="7262643" y="3219900"/>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down)">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8791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多道程序中程序执行环境的变化</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1200329"/>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为了提高</a:t>
            </a:r>
            <a:r>
              <a:rPr lang="en-US" altLang="zh-CN" sz="2400" b="1" dirty="0" smtClean="0">
                <a:solidFill>
                  <a:schemeClr val="bg1"/>
                </a:solidFill>
                <a:latin typeface="+mn-ea"/>
              </a:rPr>
              <a:t>CPU</a:t>
            </a:r>
            <a:r>
              <a:rPr lang="zh-CN" altLang="en-US" sz="2400" b="1" dirty="0" smtClean="0">
                <a:solidFill>
                  <a:schemeClr val="bg1"/>
                </a:solidFill>
                <a:latin typeface="+mn-ea"/>
              </a:rPr>
              <a:t>的使用效率，</a:t>
            </a:r>
            <a:r>
              <a:rPr lang="zh-CN" altLang="en-US" sz="2400" b="1" dirty="0">
                <a:solidFill>
                  <a:schemeClr val="bg1"/>
                </a:solidFill>
                <a:latin typeface="+mn-ea"/>
              </a:rPr>
              <a:t>需要计算机能够同时处理多个具有独立功能的程序</a:t>
            </a:r>
            <a:r>
              <a:rPr lang="zh-CN" altLang="en-US" sz="2400" b="1" dirty="0" smtClean="0">
                <a:solidFill>
                  <a:schemeClr val="bg1"/>
                </a:solidFill>
                <a:latin typeface="+mn-ea"/>
              </a:rPr>
              <a:t>。</a:t>
            </a:r>
            <a:endParaRPr lang="zh-CN" altLang="en-US" sz="2400" b="1" dirty="0">
              <a:solidFill>
                <a:schemeClr val="bg1"/>
              </a:solidFill>
              <a:latin typeface="+mn-ea"/>
            </a:endParaRPr>
          </a:p>
        </p:txBody>
      </p:sp>
      <p:grpSp>
        <p:nvGrpSpPr>
          <p:cNvPr id="3" name="组合 2"/>
          <p:cNvGrpSpPr/>
          <p:nvPr/>
        </p:nvGrpSpPr>
        <p:grpSpPr>
          <a:xfrm>
            <a:off x="1547664" y="1059582"/>
            <a:ext cx="6447088" cy="3966144"/>
            <a:chOff x="1547664" y="1059582"/>
            <a:chExt cx="6447088" cy="3966144"/>
          </a:xfrm>
        </p:grpSpPr>
        <p:pic>
          <p:nvPicPr>
            <p:cNvPr id="41" name="图片 40"/>
            <p:cNvPicPr>
              <a:picLocks noChangeAspect="1"/>
            </p:cNvPicPr>
            <p:nvPr/>
          </p:nvPicPr>
          <p:blipFill>
            <a:blip r:embed="rId2"/>
            <a:stretch>
              <a:fillRect/>
            </a:stretch>
          </p:blipFill>
          <p:spPr>
            <a:xfrm>
              <a:off x="1547664" y="1059582"/>
              <a:ext cx="2049958" cy="1905165"/>
            </a:xfrm>
            <a:prstGeom prst="rect">
              <a:avLst/>
            </a:prstGeom>
          </p:spPr>
        </p:pic>
        <p:pic>
          <p:nvPicPr>
            <p:cNvPr id="42" name="图片 41"/>
            <p:cNvPicPr>
              <a:picLocks noChangeAspect="1"/>
            </p:cNvPicPr>
            <p:nvPr/>
          </p:nvPicPr>
          <p:blipFill>
            <a:blip r:embed="rId3"/>
            <a:stretch>
              <a:fillRect/>
            </a:stretch>
          </p:blipFill>
          <p:spPr>
            <a:xfrm>
              <a:off x="4788024" y="1066056"/>
              <a:ext cx="2103302" cy="1928027"/>
            </a:xfrm>
            <a:prstGeom prst="rect">
              <a:avLst/>
            </a:prstGeom>
          </p:spPr>
        </p:pic>
        <p:cxnSp>
          <p:nvCxnSpPr>
            <p:cNvPr id="43" name="直接箭头连接符 42"/>
            <p:cNvCxnSpPr/>
            <p:nvPr/>
          </p:nvCxnSpPr>
          <p:spPr>
            <a:xfrm flipV="1">
              <a:off x="3059832" y="1562124"/>
              <a:ext cx="1728192" cy="72008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44" name="直接箭头连接符 43"/>
            <p:cNvCxnSpPr/>
            <p:nvPr/>
          </p:nvCxnSpPr>
          <p:spPr>
            <a:xfrm>
              <a:off x="4788024" y="1634132"/>
              <a:ext cx="0" cy="792088"/>
            </a:xfrm>
            <a:prstGeom prst="straightConnector1">
              <a:avLst/>
            </a:prstGeom>
            <a:ln w="38100">
              <a:solidFill>
                <a:srgbClr val="FF3300"/>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4700093" y="1578000"/>
              <a:ext cx="504056" cy="369332"/>
            </a:xfrm>
            <a:prstGeom prst="rect">
              <a:avLst/>
            </a:prstGeom>
            <a:noFill/>
          </p:spPr>
          <p:txBody>
            <a:bodyPr wrap="square" rtlCol="0">
              <a:spAutoFit/>
            </a:bodyPr>
            <a:lstStyle/>
            <a:p>
              <a:r>
                <a:rPr lang="en-US" altLang="zh-CN" dirty="0" smtClean="0">
                  <a:solidFill>
                    <a:schemeClr val="bg1"/>
                  </a:solidFill>
                </a:rPr>
                <a:t>PC</a:t>
              </a:r>
              <a:endParaRPr lang="zh-CN" altLang="en-US" dirty="0">
                <a:solidFill>
                  <a:schemeClr val="bg1"/>
                </a:solidFill>
              </a:endParaRPr>
            </a:p>
          </p:txBody>
        </p:sp>
        <p:grpSp>
          <p:nvGrpSpPr>
            <p:cNvPr id="47" name="组合 46"/>
            <p:cNvGrpSpPr/>
            <p:nvPr/>
          </p:nvGrpSpPr>
          <p:grpSpPr>
            <a:xfrm>
              <a:off x="4108593" y="1333892"/>
              <a:ext cx="679431" cy="369332"/>
              <a:chOff x="1105961" y="2753866"/>
              <a:chExt cx="679431" cy="369332"/>
            </a:xfrm>
          </p:grpSpPr>
          <p:sp>
            <p:nvSpPr>
              <p:cNvPr id="48" name="文本框 47"/>
              <p:cNvSpPr txBox="1"/>
              <p:nvPr/>
            </p:nvSpPr>
            <p:spPr>
              <a:xfrm>
                <a:off x="1105961" y="2753866"/>
                <a:ext cx="504056" cy="369332"/>
              </a:xfrm>
              <a:prstGeom prst="rect">
                <a:avLst/>
              </a:prstGeom>
              <a:noFill/>
            </p:spPr>
            <p:txBody>
              <a:bodyPr wrap="square" rtlCol="0">
                <a:spAutoFit/>
              </a:bodyPr>
              <a:lstStyle/>
              <a:p>
                <a:r>
                  <a:rPr lang="en-US" altLang="zh-CN" dirty="0" smtClean="0">
                    <a:solidFill>
                      <a:schemeClr val="bg1"/>
                    </a:solidFill>
                  </a:rPr>
                  <a:t>PC</a:t>
                </a:r>
                <a:endParaRPr lang="zh-CN" altLang="en-US" dirty="0">
                  <a:solidFill>
                    <a:schemeClr val="bg1"/>
                  </a:solidFill>
                </a:endParaRPr>
              </a:p>
            </p:txBody>
          </p:sp>
          <p:cxnSp>
            <p:nvCxnSpPr>
              <p:cNvPr id="49" name="直接箭头连接符 48"/>
              <p:cNvCxnSpPr/>
              <p:nvPr/>
            </p:nvCxnSpPr>
            <p:spPr>
              <a:xfrm>
                <a:off x="1473364" y="2931790"/>
                <a:ext cx="312028" cy="0"/>
              </a:xfrm>
              <a:prstGeom prst="straightConnector1">
                <a:avLst/>
              </a:prstGeom>
              <a:ln w="28575">
                <a:solidFill>
                  <a:srgbClr val="FF33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p:nvGrpSpPr>
          <p:grpSpPr>
            <a:xfrm>
              <a:off x="1835696" y="2054344"/>
              <a:ext cx="2952328" cy="443884"/>
              <a:chOff x="1835696" y="2415898"/>
              <a:chExt cx="2952328" cy="443884"/>
            </a:xfrm>
          </p:grpSpPr>
          <p:cxnSp>
            <p:nvCxnSpPr>
              <p:cNvPr id="51" name="直接箭头连接符 50"/>
              <p:cNvCxnSpPr/>
              <p:nvPr/>
            </p:nvCxnSpPr>
            <p:spPr>
              <a:xfrm flipH="1">
                <a:off x="1835696" y="2787774"/>
                <a:ext cx="2952328" cy="72008"/>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52" name="文本框 51"/>
              <p:cNvSpPr txBox="1"/>
              <p:nvPr/>
            </p:nvSpPr>
            <p:spPr>
              <a:xfrm>
                <a:off x="3590146" y="2415898"/>
                <a:ext cx="920181" cy="369332"/>
              </a:xfrm>
              <a:prstGeom prst="rect">
                <a:avLst/>
              </a:prstGeom>
              <a:noFill/>
            </p:spPr>
            <p:txBody>
              <a:bodyPr wrap="square" rtlCol="0">
                <a:spAutoFit/>
              </a:bodyPr>
              <a:lstStyle/>
              <a:p>
                <a:r>
                  <a:rPr lang="zh-CN" altLang="en-US" b="1" dirty="0" smtClean="0">
                    <a:solidFill>
                      <a:schemeClr val="bg1"/>
                    </a:solidFill>
                  </a:rPr>
                  <a:t>切回去</a:t>
                </a:r>
                <a:endParaRPr lang="zh-CN" altLang="en-US" b="1" dirty="0">
                  <a:solidFill>
                    <a:schemeClr val="bg1"/>
                  </a:solidFill>
                </a:endParaRPr>
              </a:p>
            </p:txBody>
          </p:sp>
        </p:grpSp>
        <p:pic>
          <p:nvPicPr>
            <p:cNvPr id="53" name="图片 52"/>
            <p:cNvPicPr>
              <a:picLocks noChangeAspect="1"/>
            </p:cNvPicPr>
            <p:nvPr/>
          </p:nvPicPr>
          <p:blipFill>
            <a:blip r:embed="rId4"/>
            <a:stretch>
              <a:fillRect/>
            </a:stretch>
          </p:blipFill>
          <p:spPr>
            <a:xfrm>
              <a:off x="1801436" y="3219629"/>
              <a:ext cx="1440305" cy="1806097"/>
            </a:xfrm>
            <a:prstGeom prst="rect">
              <a:avLst/>
            </a:prstGeom>
          </p:spPr>
        </p:pic>
        <p:sp>
          <p:nvSpPr>
            <p:cNvPr id="54" name="矩形标注 53"/>
            <p:cNvSpPr/>
            <p:nvPr/>
          </p:nvSpPr>
          <p:spPr>
            <a:xfrm>
              <a:off x="4160134" y="3069862"/>
              <a:ext cx="3359082" cy="903147"/>
            </a:xfrm>
            <a:prstGeom prst="wedgeRectCallout">
              <a:avLst>
                <a:gd name="adj1" fmla="val -83308"/>
                <a:gd name="adj2" fmla="val 60813"/>
              </a:avLst>
            </a:prstGeom>
          </p:spPr>
          <p:style>
            <a:lnRef idx="1">
              <a:schemeClr val="accent6"/>
            </a:lnRef>
            <a:fillRef idx="2">
              <a:schemeClr val="accent6"/>
            </a:fillRef>
            <a:effectRef idx="1">
              <a:schemeClr val="accent6"/>
            </a:effectRef>
            <a:fontRef idx="minor">
              <a:schemeClr val="dk1"/>
            </a:fontRef>
          </p:style>
          <p:txBody>
            <a:bodyPr rtlCol="0" anchor="ctr"/>
            <a:lstStyle/>
            <a:p>
              <a:pPr>
                <a:buFont typeface="Wingdings" panose="05000000000000000000" pitchFamily="2" charset="2"/>
                <a:buChar char="ü"/>
              </a:pPr>
              <a:r>
                <a:rPr lang="zh-CN" altLang="en-US" b="1" dirty="0"/>
                <a:t>要记录返回地址，要记录</a:t>
              </a:r>
              <a:r>
                <a:rPr lang="en-US" altLang="zh-CN" b="1" dirty="0"/>
                <a:t>ax… </a:t>
              </a:r>
              <a:endParaRPr lang="en-US" altLang="zh-CN" b="1" dirty="0" smtClean="0"/>
            </a:p>
            <a:p>
              <a:pPr>
                <a:buFont typeface="Wingdings" panose="05000000000000000000" pitchFamily="2" charset="2"/>
                <a:buChar char="ü"/>
              </a:pPr>
              <a:r>
                <a:rPr lang="zh-CN" altLang="en-US" b="1" dirty="0"/>
                <a:t>每个程序有了一个存放 信息的结构</a:t>
              </a:r>
              <a:r>
                <a:rPr lang="en-US" altLang="zh-CN" b="1" dirty="0"/>
                <a:t>: PCB</a:t>
              </a:r>
              <a:endParaRPr lang="zh-CN" altLang="en-US" b="1" dirty="0"/>
            </a:p>
          </p:txBody>
        </p:sp>
        <p:sp>
          <p:nvSpPr>
            <p:cNvPr id="55" name="矩形 54"/>
            <p:cNvSpPr/>
            <p:nvPr/>
          </p:nvSpPr>
          <p:spPr>
            <a:xfrm>
              <a:off x="3323280" y="4076567"/>
              <a:ext cx="4671472" cy="461665"/>
            </a:xfrm>
            <a:prstGeom prst="rect">
              <a:avLst/>
            </a:prstGeom>
          </p:spPr>
          <p:txBody>
            <a:bodyPr wrap="none">
              <a:spAutoFit/>
            </a:bodyPr>
            <a:lstStyle/>
            <a:p>
              <a:r>
                <a:rPr lang="zh-CN" altLang="en-US" sz="2400" b="1" dirty="0">
                  <a:solidFill>
                    <a:schemeClr val="bg1"/>
                  </a:solidFill>
                  <a:latin typeface="+mn-ea"/>
                </a:rPr>
                <a:t>运行的程序和</a:t>
              </a:r>
              <a:r>
                <a:rPr lang="zh-CN" altLang="en-US" sz="2400" b="1" dirty="0" smtClean="0">
                  <a:solidFill>
                    <a:schemeClr val="bg1"/>
                  </a:solidFill>
                  <a:latin typeface="+mn-ea"/>
                </a:rPr>
                <a:t>静态程序</a:t>
              </a:r>
              <a:r>
                <a:rPr lang="zh-CN" altLang="en-US" sz="2400" b="1" dirty="0">
                  <a:solidFill>
                    <a:schemeClr val="bg1"/>
                  </a:solidFill>
                  <a:latin typeface="+mn-ea"/>
                </a:rPr>
                <a:t>不一样</a:t>
              </a:r>
              <a:r>
                <a:rPr lang="zh-CN" altLang="en-US" sz="2400" b="1" dirty="0" smtClean="0">
                  <a:solidFill>
                    <a:schemeClr val="bg1"/>
                  </a:solidFill>
                  <a:latin typeface="+mn-ea"/>
                </a:rPr>
                <a:t>了</a:t>
              </a:r>
              <a:endParaRPr lang="zh-CN" altLang="en-US" sz="2400" b="1" dirty="0">
                <a:solidFill>
                  <a:schemeClr val="bg1"/>
                </a:solidFill>
                <a:latin typeface="+mn-ea"/>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2">
                                            <p:txEl>
                                              <p:pRg st="0" end="0"/>
                                            </p:txEl>
                                          </p:spTgt>
                                        </p:tgtEl>
                                      </p:cBhvr>
                                    </p:animEffect>
                                    <p:set>
                                      <p:cBhvr>
                                        <p:cTn id="12" dur="1" fill="hold">
                                          <p:stCondLst>
                                            <p:cond delay="499"/>
                                          </p:stCondLst>
                                        </p:cTn>
                                        <p:tgtEl>
                                          <p:spTgt spid="2">
                                            <p:txEl>
                                              <p:pRg st="0" end="0"/>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引入“进程”概念</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4" name="图片 3"/>
          <p:cNvPicPr>
            <a:picLocks noChangeAspect="1"/>
          </p:cNvPicPr>
          <p:nvPr/>
        </p:nvPicPr>
        <p:blipFill>
          <a:blip r:embed="rId2"/>
          <a:stretch>
            <a:fillRect/>
          </a:stretch>
        </p:blipFill>
        <p:spPr>
          <a:xfrm>
            <a:off x="404199" y="495096"/>
            <a:ext cx="8352244" cy="44961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8791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多道程序中程序执行环境的变化</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1754326"/>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批处理</a:t>
            </a:r>
            <a:r>
              <a:rPr lang="zh-CN" altLang="en-US" sz="2400" b="1" dirty="0">
                <a:solidFill>
                  <a:schemeClr val="bg1"/>
                </a:solidFill>
                <a:latin typeface="+mn-ea"/>
              </a:rPr>
              <a:t>系统、分时系统、实时系统以及网络与分布式系统等都是这样的系统。这样的执行环境具有下述三个特点</a:t>
            </a:r>
          </a:p>
        </p:txBody>
      </p:sp>
      <p:grpSp>
        <p:nvGrpSpPr>
          <p:cNvPr id="29" name="组合 28"/>
          <p:cNvGrpSpPr/>
          <p:nvPr/>
        </p:nvGrpSpPr>
        <p:grpSpPr>
          <a:xfrm>
            <a:off x="758308" y="2283717"/>
            <a:ext cx="2569351" cy="2515671"/>
            <a:chOff x="987631" y="1824011"/>
            <a:chExt cx="2186299" cy="2150883"/>
          </a:xfrm>
        </p:grpSpPr>
        <p:sp>
          <p:nvSpPr>
            <p:cNvPr id="30" name="任意多边形 29"/>
            <p:cNvSpPr/>
            <p:nvPr/>
          </p:nvSpPr>
          <p:spPr>
            <a:xfrm>
              <a:off x="987631" y="1824011"/>
              <a:ext cx="1982844" cy="1323489"/>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每道程序都是逻辑上独立的，它们之间不存在逻辑上的制约关系</a:t>
              </a:r>
            </a:p>
          </p:txBody>
        </p:sp>
        <p:sp>
          <p:nvSpPr>
            <p:cNvPr id="31" name="任意多边形 30"/>
            <p:cNvSpPr/>
            <p:nvPr/>
          </p:nvSpPr>
          <p:spPr>
            <a:xfrm>
              <a:off x="987631"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kern="1200" dirty="0" smtClean="0"/>
                <a:t>独立性</a:t>
              </a:r>
              <a:endParaRPr lang="zh-CN" altLang="en-US" sz="2400" b="1" kern="1200" dirty="0"/>
            </a:p>
          </p:txBody>
        </p:sp>
        <p:sp>
          <p:nvSpPr>
            <p:cNvPr id="32" name="椭圆 31"/>
            <p:cNvSpPr/>
            <p:nvPr/>
          </p:nvSpPr>
          <p:spPr>
            <a:xfrm>
              <a:off x="2479935" y="3280899"/>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3424445" y="2283718"/>
            <a:ext cx="2564578" cy="2501632"/>
            <a:chOff x="3306020" y="1844832"/>
            <a:chExt cx="2146456" cy="2097759"/>
          </a:xfrm>
        </p:grpSpPr>
        <p:sp>
          <p:nvSpPr>
            <p:cNvPr id="34" name="任意多边形 33"/>
            <p:cNvSpPr/>
            <p:nvPr/>
          </p:nvSpPr>
          <p:spPr>
            <a:xfrm>
              <a:off x="3306020" y="1844832"/>
              <a:ext cx="1982844" cy="1419654"/>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在多道程序环境下，特别是在多用户环境下，程序和数据的输入与执行开始时间都是随机的</a:t>
              </a:r>
            </a:p>
          </p:txBody>
        </p:sp>
        <p:sp>
          <p:nvSpPr>
            <p:cNvPr id="35" name="任意多边形 34"/>
            <p:cNvSpPr/>
            <p:nvPr/>
          </p:nvSpPr>
          <p:spPr>
            <a:xfrm>
              <a:off x="330602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smtClean="0"/>
                <a:t>随机性</a:t>
              </a:r>
              <a:endParaRPr lang="zh-CN" altLang="en-US" sz="2400" b="1" dirty="0"/>
            </a:p>
          </p:txBody>
        </p:sp>
        <p:sp>
          <p:nvSpPr>
            <p:cNvPr id="36" name="椭圆 35"/>
            <p:cNvSpPr/>
            <p:nvPr/>
          </p:nvSpPr>
          <p:spPr>
            <a:xfrm>
              <a:off x="4758481" y="324859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7" name="组合 36"/>
          <p:cNvGrpSpPr/>
          <p:nvPr/>
        </p:nvGrpSpPr>
        <p:grpSpPr>
          <a:xfrm>
            <a:off x="6108453" y="2283399"/>
            <a:ext cx="2547990" cy="2524821"/>
            <a:chOff x="5624410" y="1797129"/>
            <a:chExt cx="2146455" cy="2145462"/>
          </a:xfrm>
        </p:grpSpPr>
        <p:sp>
          <p:nvSpPr>
            <p:cNvPr id="38" name="任意多边形 37"/>
            <p:cNvSpPr/>
            <p:nvPr/>
          </p:nvSpPr>
          <p:spPr>
            <a:xfrm>
              <a:off x="5624410" y="1797129"/>
              <a:ext cx="1982844" cy="1350370"/>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资源共享将导致对进程执行速度的制约</a:t>
              </a:r>
            </a:p>
          </p:txBody>
        </p:sp>
        <p:sp>
          <p:nvSpPr>
            <p:cNvPr id="39" name="任意多边形 38"/>
            <p:cNvSpPr/>
            <p:nvPr/>
          </p:nvSpPr>
          <p:spPr>
            <a:xfrm>
              <a:off x="562441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smtClean="0"/>
                <a:t>资源共享性</a:t>
              </a:r>
              <a:endParaRPr lang="zh-CN" altLang="en-US" sz="2400" b="1" dirty="0"/>
            </a:p>
          </p:txBody>
        </p:sp>
        <p:sp>
          <p:nvSpPr>
            <p:cNvPr id="40" name="椭圆 39"/>
            <p:cNvSpPr/>
            <p:nvPr/>
          </p:nvSpPr>
          <p:spPr>
            <a:xfrm>
              <a:off x="7076870" y="3248596"/>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down)">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所谓</a:t>
            </a:r>
            <a:r>
              <a:rPr lang="zh-CN" altLang="en-US" sz="2400" b="1" dirty="0">
                <a:solidFill>
                  <a:srgbClr val="FFFF00"/>
                </a:solidFill>
                <a:latin typeface="+mn-ea"/>
              </a:rPr>
              <a:t>并发执行</a:t>
            </a:r>
            <a:r>
              <a:rPr lang="zh-CN" altLang="en-US" sz="2400" b="1" dirty="0">
                <a:solidFill>
                  <a:schemeClr val="bg1"/>
                </a:solidFill>
                <a:latin typeface="+mn-ea"/>
              </a:rPr>
              <a:t>，是为了增强计算机系统的处理能力和提高资源利用率所采取的一种同时操作技术。</a:t>
            </a:r>
          </a:p>
        </p:txBody>
      </p:sp>
      <p:grpSp>
        <p:nvGrpSpPr>
          <p:cNvPr id="29" name="组合 28"/>
          <p:cNvGrpSpPr/>
          <p:nvPr/>
        </p:nvGrpSpPr>
        <p:grpSpPr>
          <a:xfrm>
            <a:off x="714481" y="1229306"/>
            <a:ext cx="3767915" cy="3479571"/>
            <a:chOff x="987631" y="922496"/>
            <a:chExt cx="3206175" cy="2975011"/>
          </a:xfrm>
        </p:grpSpPr>
        <p:sp>
          <p:nvSpPr>
            <p:cNvPr id="30" name="任意多边形 29"/>
            <p:cNvSpPr/>
            <p:nvPr/>
          </p:nvSpPr>
          <p:spPr>
            <a:xfrm>
              <a:off x="987631" y="922496"/>
              <a:ext cx="3000037" cy="2225004"/>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由于资源的有限性，多道程序的并发执行总是伴随着资源的共享与竞争。从而制约各道程序的执行速度。而无法作到在微观上，也就是在指令级上的同时执行。因此，尽管多道程序的并发执行在</a:t>
              </a:r>
              <a:r>
                <a:rPr lang="zh-CN" altLang="en-US" sz="2000" b="1" dirty="0">
                  <a:solidFill>
                    <a:srgbClr val="FF0000"/>
                  </a:solidFill>
                </a:rPr>
                <a:t>宏观上是同时</a:t>
              </a:r>
              <a:r>
                <a:rPr lang="zh-CN" altLang="en-US" sz="2000" b="1" dirty="0"/>
                <a:t>进行的，但在</a:t>
              </a:r>
              <a:r>
                <a:rPr lang="zh-CN" altLang="en-US" sz="2000" b="1" dirty="0">
                  <a:solidFill>
                    <a:srgbClr val="FF0000"/>
                  </a:solidFill>
                </a:rPr>
                <a:t>微观上仍是顺序执行</a:t>
              </a:r>
              <a:r>
                <a:rPr lang="zh-CN" altLang="en-US" sz="2000" b="1" dirty="0"/>
                <a:t>的</a:t>
              </a:r>
            </a:p>
          </p:txBody>
        </p:sp>
        <p:sp>
          <p:nvSpPr>
            <p:cNvPr id="31" name="任意多边形 30"/>
            <p:cNvSpPr/>
            <p:nvPr/>
          </p:nvSpPr>
          <p:spPr>
            <a:xfrm>
              <a:off x="987631" y="3147499"/>
              <a:ext cx="3000037"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dirty="0"/>
                <a:t>多道程序的并发执行</a:t>
              </a:r>
            </a:p>
          </p:txBody>
        </p:sp>
        <p:sp>
          <p:nvSpPr>
            <p:cNvPr id="32" name="椭圆 31"/>
            <p:cNvSpPr/>
            <p:nvPr/>
          </p:nvSpPr>
          <p:spPr>
            <a:xfrm>
              <a:off x="3499811" y="3203512"/>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4427984" y="1203598"/>
            <a:ext cx="3879261" cy="3485953"/>
            <a:chOff x="3289532" y="1844832"/>
            <a:chExt cx="3246796" cy="2923167"/>
          </a:xfrm>
        </p:grpSpPr>
        <p:sp>
          <p:nvSpPr>
            <p:cNvPr id="34" name="任意多边形 33"/>
            <p:cNvSpPr/>
            <p:nvPr/>
          </p:nvSpPr>
          <p:spPr>
            <a:xfrm>
              <a:off x="3306020" y="1844832"/>
              <a:ext cx="2883311" cy="2194929"/>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在某道程序的几个程序段中（例如几个程序），包含着一部分可以同时执行或顺序颠倒执行的</a:t>
              </a:r>
              <a:r>
                <a:rPr lang="zh-CN" altLang="en-US" sz="2000" b="1" dirty="0" smtClean="0"/>
                <a:t>代码。</a:t>
              </a:r>
              <a:endParaRPr lang="en-US" altLang="zh-CN" sz="2000" b="1" dirty="0" smtClean="0"/>
            </a:p>
            <a:p>
              <a:pPr marL="0" lvl="4" algn="just" defTabSz="577850">
                <a:lnSpc>
                  <a:spcPct val="90000"/>
                </a:lnSpc>
                <a:spcBef>
                  <a:spcPct val="0"/>
                </a:spcBef>
                <a:spcAft>
                  <a:spcPct val="15000"/>
                </a:spcAft>
                <a:buChar char="•"/>
              </a:pPr>
              <a:r>
                <a:rPr lang="zh-CN" altLang="en-US" sz="2000" b="1" dirty="0"/>
                <a:t>例如：</a:t>
              </a:r>
              <a:r>
                <a:rPr lang="en-US" altLang="zh-CN" sz="2000" b="1" dirty="0"/>
                <a:t>read (a) </a:t>
              </a:r>
              <a:r>
                <a:rPr lang="zh-CN" altLang="en-US" sz="2000" b="1" dirty="0"/>
                <a:t>；</a:t>
              </a:r>
            </a:p>
            <a:p>
              <a:pPr marL="0" lvl="4" algn="just" defTabSz="577850">
                <a:lnSpc>
                  <a:spcPct val="90000"/>
                </a:lnSpc>
                <a:spcBef>
                  <a:spcPct val="0"/>
                </a:spcBef>
                <a:spcAft>
                  <a:spcPct val="15000"/>
                </a:spcAft>
              </a:pPr>
              <a:r>
                <a:rPr lang="zh-CN" altLang="en-US" sz="2000" b="1" dirty="0"/>
                <a:t> </a:t>
              </a:r>
              <a:r>
                <a:rPr lang="zh-CN" altLang="en-US" sz="2000" b="1" dirty="0" smtClean="0"/>
                <a:t>               </a:t>
              </a:r>
              <a:r>
                <a:rPr lang="en-US" altLang="zh-CN" sz="2000" b="1" dirty="0" smtClean="0"/>
                <a:t>read </a:t>
              </a:r>
              <a:r>
                <a:rPr lang="en-US" altLang="zh-CN" sz="2000" b="1" dirty="0"/>
                <a:t>(b) </a:t>
              </a:r>
              <a:r>
                <a:rPr lang="zh-CN" altLang="en-US" sz="2000" b="1" dirty="0"/>
                <a:t>；</a:t>
              </a:r>
            </a:p>
            <a:p>
              <a:pPr marL="0" lvl="4" algn="just" defTabSz="577850">
                <a:lnSpc>
                  <a:spcPct val="90000"/>
                </a:lnSpc>
                <a:spcBef>
                  <a:spcPct val="0"/>
                </a:spcBef>
                <a:spcAft>
                  <a:spcPct val="15000"/>
                </a:spcAft>
                <a:buChar char="•"/>
              </a:pPr>
              <a:endParaRPr lang="zh-CN" altLang="en-US" sz="2000" b="1" dirty="0"/>
            </a:p>
          </p:txBody>
        </p:sp>
        <p:sp>
          <p:nvSpPr>
            <p:cNvPr id="35" name="任意多边形 34"/>
            <p:cNvSpPr/>
            <p:nvPr/>
          </p:nvSpPr>
          <p:spPr>
            <a:xfrm>
              <a:off x="3289532" y="4028899"/>
              <a:ext cx="2899799"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smtClean="0"/>
                <a:t>部分程序段并发执行</a:t>
              </a:r>
              <a:endParaRPr lang="zh-CN" altLang="en-US" sz="2400" b="1" dirty="0"/>
            </a:p>
          </p:txBody>
        </p:sp>
        <p:sp>
          <p:nvSpPr>
            <p:cNvPr id="36" name="椭圆 35"/>
            <p:cNvSpPr/>
            <p:nvPr/>
          </p:nvSpPr>
          <p:spPr>
            <a:xfrm>
              <a:off x="5842333" y="4074004"/>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一组在逻辑上互相独立的程序或程序段在执行过程中，其</a:t>
            </a:r>
            <a:r>
              <a:rPr lang="zh-CN" altLang="en-US" sz="2400" b="1" dirty="0">
                <a:solidFill>
                  <a:srgbClr val="FFFF00"/>
                </a:solidFill>
                <a:latin typeface="+mn-ea"/>
              </a:rPr>
              <a:t>执行时间在客观上互相重叠</a:t>
            </a:r>
            <a:r>
              <a:rPr lang="zh-CN" altLang="en-US" sz="2400" b="1" dirty="0">
                <a:solidFill>
                  <a:schemeClr val="bg1"/>
                </a:solidFill>
                <a:latin typeface="+mn-ea"/>
              </a:rPr>
              <a:t>，即</a:t>
            </a:r>
            <a:r>
              <a:rPr lang="zh-CN" altLang="en-US" sz="2400" b="1" dirty="0">
                <a:solidFill>
                  <a:srgbClr val="FFFF00"/>
                </a:solidFill>
                <a:latin typeface="+mn-ea"/>
              </a:rPr>
              <a:t>一个程序段</a:t>
            </a:r>
            <a:r>
              <a:rPr lang="zh-CN" altLang="en-US" sz="2400" b="1" dirty="0">
                <a:solidFill>
                  <a:schemeClr val="bg1"/>
                </a:solidFill>
                <a:latin typeface="+mn-ea"/>
              </a:rPr>
              <a:t>的执行</a:t>
            </a:r>
            <a:r>
              <a:rPr lang="zh-CN" altLang="en-US" sz="2400" b="1" dirty="0">
                <a:solidFill>
                  <a:srgbClr val="FFFF00"/>
                </a:solidFill>
                <a:latin typeface="+mn-ea"/>
              </a:rPr>
              <a:t>尚未结束</a:t>
            </a:r>
            <a:r>
              <a:rPr lang="zh-CN" altLang="en-US" sz="2400" b="1" dirty="0">
                <a:solidFill>
                  <a:schemeClr val="bg1"/>
                </a:solidFill>
                <a:latin typeface="+mn-ea"/>
              </a:rPr>
              <a:t>，另一个程序段的执行</a:t>
            </a:r>
            <a:r>
              <a:rPr lang="zh-CN" altLang="en-US" sz="2400" b="1" dirty="0">
                <a:solidFill>
                  <a:srgbClr val="FFFF00"/>
                </a:solidFill>
                <a:latin typeface="+mn-ea"/>
              </a:rPr>
              <a:t>已经开始</a:t>
            </a:r>
            <a:r>
              <a:rPr lang="zh-CN" altLang="en-US" sz="2400" b="1" dirty="0">
                <a:solidFill>
                  <a:schemeClr val="bg1"/>
                </a:solidFill>
                <a:latin typeface="+mn-ea"/>
              </a:rPr>
              <a:t>的这种执行</a:t>
            </a:r>
            <a:r>
              <a:rPr lang="zh-CN" altLang="en-US" sz="2400" b="1" dirty="0" smtClean="0">
                <a:solidFill>
                  <a:schemeClr val="bg1"/>
                </a:solidFill>
                <a:latin typeface="+mn-ea"/>
              </a:rPr>
              <a:t>方式。</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344876"/>
            <a:ext cx="6912768" cy="2862322"/>
          </a:xfrm>
          <a:prstGeom prst="rect">
            <a:avLst/>
          </a:prstGeom>
        </p:spPr>
        <p:txBody>
          <a:bodyPr wrap="square">
            <a:spAutoFit/>
          </a:bodyPr>
          <a:lstStyle/>
          <a:p>
            <a:pPr marL="0" lvl="1" algn="just">
              <a:lnSpc>
                <a:spcPct val="150000"/>
              </a:lnSpc>
              <a:spcBef>
                <a:spcPct val="0"/>
              </a:spcBef>
              <a:buClr>
                <a:schemeClr val="accent6">
                  <a:lumMod val="60000"/>
                  <a:lumOff val="40000"/>
                </a:schemeClr>
              </a:buClr>
            </a:pPr>
            <a:r>
              <a:rPr lang="en-US" altLang="zh-CN" sz="2400" b="1" dirty="0" smtClean="0">
                <a:solidFill>
                  <a:schemeClr val="bg1"/>
                </a:solidFill>
                <a:latin typeface="+mn-ea"/>
              </a:rPr>
              <a:t>   S0</a:t>
            </a:r>
            <a:endParaRPr lang="en-US" altLang="zh-CN" sz="2400" b="1" dirty="0">
              <a:solidFill>
                <a:schemeClr val="bg1"/>
              </a:solidFill>
              <a:latin typeface="+mn-ea"/>
            </a:endParaRP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a:t>
            </a:r>
            <a:r>
              <a:rPr lang="en-US" altLang="zh-CN" sz="2400" b="1" dirty="0" err="1" smtClean="0">
                <a:solidFill>
                  <a:schemeClr val="bg1"/>
                </a:solidFill>
                <a:latin typeface="+mn-ea"/>
              </a:rPr>
              <a:t>Cobegin</a:t>
            </a:r>
            <a:endParaRPr lang="en-US" altLang="zh-CN" sz="2400" b="1" dirty="0">
              <a:solidFill>
                <a:schemeClr val="bg1"/>
              </a:solidFill>
              <a:latin typeface="+mn-ea"/>
            </a:endParaRP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P1</a:t>
            </a:r>
            <a:r>
              <a:rPr lang="zh-CN" altLang="en-US" sz="2400" b="1" dirty="0">
                <a:solidFill>
                  <a:schemeClr val="bg1"/>
                </a:solidFill>
                <a:latin typeface="+mn-ea"/>
              </a:rPr>
              <a:t>；</a:t>
            </a:r>
            <a:r>
              <a:rPr lang="en-US" altLang="zh-CN" sz="2400" b="1" dirty="0">
                <a:solidFill>
                  <a:schemeClr val="bg1"/>
                </a:solidFill>
                <a:latin typeface="+mn-ea"/>
              </a:rPr>
              <a:t>P2</a:t>
            </a:r>
            <a:r>
              <a:rPr lang="zh-CN" altLang="en-US" sz="2400" b="1" dirty="0">
                <a:solidFill>
                  <a:schemeClr val="bg1"/>
                </a:solidFill>
                <a:latin typeface="+mn-ea"/>
              </a:rPr>
              <a:t>；</a:t>
            </a:r>
            <a:r>
              <a:rPr lang="en-US" altLang="zh-CN" sz="2400" b="1" dirty="0">
                <a:solidFill>
                  <a:schemeClr val="bg1"/>
                </a:solidFill>
                <a:latin typeface="+mn-ea"/>
              </a:rPr>
              <a:t>... </a:t>
            </a:r>
            <a:r>
              <a:rPr lang="en-US" altLang="zh-CN" sz="2400" b="1" dirty="0" err="1">
                <a:solidFill>
                  <a:schemeClr val="bg1"/>
                </a:solidFill>
                <a:latin typeface="+mn-ea"/>
              </a:rPr>
              <a:t>Pn</a:t>
            </a:r>
            <a:endParaRPr lang="en-US" altLang="zh-CN" sz="2400" b="1" dirty="0">
              <a:solidFill>
                <a:schemeClr val="bg1"/>
              </a:solidFill>
              <a:latin typeface="+mn-ea"/>
            </a:endParaRP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a:t>
            </a:r>
            <a:r>
              <a:rPr lang="en-US" altLang="zh-CN" sz="2400" b="1" dirty="0" err="1" smtClean="0">
                <a:solidFill>
                  <a:schemeClr val="bg1"/>
                </a:solidFill>
                <a:latin typeface="+mn-ea"/>
              </a:rPr>
              <a:t>Coend</a:t>
            </a:r>
            <a:endParaRPr lang="en-US" altLang="zh-CN" sz="2400" b="1" dirty="0">
              <a:solidFill>
                <a:schemeClr val="bg1"/>
              </a:solidFill>
              <a:latin typeface="+mn-ea"/>
            </a:endParaRP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Sn</a:t>
            </a:r>
            <a:endParaRPr lang="en-US" altLang="zh-CN" sz="2400" b="1" dirty="0">
              <a:solidFill>
                <a:schemeClr val="bg1"/>
              </a:solidFill>
              <a:latin typeface="+mn-ea"/>
            </a:endParaRPr>
          </a:p>
        </p:txBody>
      </p:sp>
      <p:sp>
        <p:nvSpPr>
          <p:cNvPr id="3" name="线形标注 1 2"/>
          <p:cNvSpPr/>
          <p:nvPr/>
        </p:nvSpPr>
        <p:spPr>
          <a:xfrm>
            <a:off x="3851920" y="844107"/>
            <a:ext cx="4392488" cy="1536087"/>
          </a:xfrm>
          <a:prstGeom prst="borderCallout1">
            <a:avLst>
              <a:gd name="adj1" fmla="val 18750"/>
              <a:gd name="adj2" fmla="val -8333"/>
              <a:gd name="adj3" fmla="val 57328"/>
              <a:gd name="adj4" fmla="val -43664"/>
            </a:avLst>
          </a:prstGeom>
          <a:effectLst>
            <a:glow rad="101600">
              <a:schemeClr val="accent2">
                <a:satMod val="175000"/>
                <a:alpha val="40000"/>
              </a:schemeClr>
            </a:glow>
            <a:outerShdw blurRad="40000" dist="20000" dir="5400000" rotWithShape="0">
              <a:srgbClr val="000000">
                <a:alpha val="38000"/>
              </a:srgbClr>
            </a:outerShdw>
          </a:effectLst>
        </p:spPr>
        <p:style>
          <a:lnRef idx="3">
            <a:schemeClr val="lt1"/>
          </a:lnRef>
          <a:fillRef idx="1">
            <a:schemeClr val="accent2"/>
          </a:fillRef>
          <a:effectRef idx="1">
            <a:schemeClr val="accent2"/>
          </a:effectRef>
          <a:fontRef idx="minor">
            <a:schemeClr val="lt1"/>
          </a:fontRef>
        </p:style>
        <p:txBody>
          <a:bodyPr rtlCol="0" anchor="ctr"/>
          <a:lstStyle/>
          <a:p>
            <a:pPr marL="0" lvl="1" indent="-285750" algn="just">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S0</a:t>
            </a:r>
            <a:r>
              <a:rPr lang="zh-CN" altLang="en-US" sz="2000" b="1" dirty="0">
                <a:solidFill>
                  <a:schemeClr val="bg1"/>
                </a:solidFill>
                <a:latin typeface="+mn-ea"/>
              </a:rPr>
              <a:t>，</a:t>
            </a:r>
            <a:r>
              <a:rPr lang="en-US" altLang="zh-CN" sz="2000" b="1" dirty="0">
                <a:solidFill>
                  <a:schemeClr val="bg1"/>
                </a:solidFill>
                <a:latin typeface="+mn-ea"/>
              </a:rPr>
              <a:t>Sn</a:t>
            </a:r>
            <a:r>
              <a:rPr lang="zh-CN" altLang="en-US" sz="2000" b="1" dirty="0">
                <a:solidFill>
                  <a:schemeClr val="bg1"/>
                </a:solidFill>
                <a:latin typeface="+mn-ea"/>
              </a:rPr>
              <a:t>分别表示并发程序段</a:t>
            </a:r>
            <a:r>
              <a:rPr lang="en-US" altLang="zh-CN" sz="2000" b="1" dirty="0">
                <a:solidFill>
                  <a:schemeClr val="bg1"/>
                </a:solidFill>
                <a:latin typeface="+mn-ea"/>
              </a:rPr>
              <a:t>P1</a:t>
            </a:r>
            <a:r>
              <a:rPr lang="zh-CN" altLang="en-US" sz="2000" b="1" dirty="0">
                <a:solidFill>
                  <a:schemeClr val="bg1"/>
                </a:solidFill>
                <a:latin typeface="+mn-ea"/>
              </a:rPr>
              <a:t>，</a:t>
            </a:r>
            <a:r>
              <a:rPr lang="en-US" altLang="zh-CN" sz="2000" b="1" dirty="0">
                <a:solidFill>
                  <a:schemeClr val="bg1"/>
                </a:solidFill>
                <a:latin typeface="+mn-ea"/>
              </a:rPr>
              <a:t>P2</a:t>
            </a:r>
            <a:r>
              <a:rPr lang="zh-CN" altLang="en-US" sz="2000" b="1" dirty="0">
                <a:solidFill>
                  <a:schemeClr val="bg1"/>
                </a:solidFill>
                <a:latin typeface="+mn-ea"/>
              </a:rPr>
              <a:t>，</a:t>
            </a:r>
            <a:r>
              <a:rPr lang="en-US" altLang="zh-CN" sz="2000" b="1" dirty="0">
                <a:solidFill>
                  <a:schemeClr val="bg1"/>
                </a:solidFill>
                <a:latin typeface="+mn-ea"/>
              </a:rPr>
              <a:t>…</a:t>
            </a:r>
            <a:r>
              <a:rPr lang="zh-CN" altLang="en-US" sz="2000" b="1" dirty="0">
                <a:solidFill>
                  <a:schemeClr val="bg1"/>
                </a:solidFill>
                <a:latin typeface="+mn-ea"/>
              </a:rPr>
              <a:t>，</a:t>
            </a:r>
            <a:r>
              <a:rPr lang="en-US" altLang="zh-CN" sz="2000" b="1" dirty="0" err="1">
                <a:solidFill>
                  <a:schemeClr val="bg1"/>
                </a:solidFill>
                <a:latin typeface="+mn-ea"/>
              </a:rPr>
              <a:t>Pn</a:t>
            </a:r>
            <a:r>
              <a:rPr lang="zh-CN" altLang="en-US" sz="2000" b="1" dirty="0">
                <a:solidFill>
                  <a:schemeClr val="bg1"/>
                </a:solidFill>
                <a:latin typeface="+mn-ea"/>
              </a:rPr>
              <a:t>开始执行前和并发执行结束后的语句。</a:t>
            </a:r>
            <a:r>
              <a:rPr lang="en-US" altLang="zh-CN" sz="2000" b="1" dirty="0">
                <a:solidFill>
                  <a:schemeClr val="bg1"/>
                </a:solidFill>
                <a:latin typeface="+mn-ea"/>
              </a:rPr>
              <a:t>P1</a:t>
            </a:r>
            <a:r>
              <a:rPr lang="zh-CN" altLang="en-US" sz="2000" b="1" dirty="0">
                <a:solidFill>
                  <a:schemeClr val="bg1"/>
                </a:solidFill>
                <a:latin typeface="+mn-ea"/>
              </a:rPr>
              <a:t>，</a:t>
            </a:r>
            <a:r>
              <a:rPr lang="en-US" altLang="zh-CN" sz="2000" b="1" dirty="0">
                <a:solidFill>
                  <a:schemeClr val="bg1"/>
                </a:solidFill>
                <a:latin typeface="+mn-ea"/>
              </a:rPr>
              <a:t>P2</a:t>
            </a:r>
            <a:r>
              <a:rPr lang="zh-CN" altLang="en-US" sz="2000" b="1" dirty="0">
                <a:solidFill>
                  <a:schemeClr val="bg1"/>
                </a:solidFill>
                <a:latin typeface="+mn-ea"/>
              </a:rPr>
              <a:t>，</a:t>
            </a:r>
            <a:r>
              <a:rPr lang="en-US" altLang="zh-CN" sz="2000" b="1" dirty="0">
                <a:solidFill>
                  <a:schemeClr val="bg1"/>
                </a:solidFill>
                <a:latin typeface="+mn-ea"/>
              </a:rPr>
              <a:t>…</a:t>
            </a:r>
            <a:r>
              <a:rPr lang="zh-CN" altLang="en-US" sz="2000" b="1" dirty="0">
                <a:solidFill>
                  <a:schemeClr val="bg1"/>
                </a:solidFill>
                <a:latin typeface="+mn-ea"/>
              </a:rPr>
              <a:t>，</a:t>
            </a:r>
            <a:r>
              <a:rPr lang="en-US" altLang="zh-CN" sz="2000" b="1" dirty="0" err="1">
                <a:solidFill>
                  <a:schemeClr val="bg1"/>
                </a:solidFill>
                <a:latin typeface="+mn-ea"/>
              </a:rPr>
              <a:t>Pn</a:t>
            </a:r>
            <a:r>
              <a:rPr lang="zh-CN" altLang="en-US" sz="2000" b="1" dirty="0">
                <a:solidFill>
                  <a:schemeClr val="bg1"/>
                </a:solidFill>
                <a:latin typeface="+mn-ea"/>
              </a:rPr>
              <a:t>也可以由同一程序段中的不同语句组成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两相邻语句</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S1</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S2</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可以并发执行的</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条件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12768" cy="3600986"/>
          </a:xfrm>
          <a:prstGeom prst="rect">
            <a:avLst/>
          </a:prstGeom>
        </p:spPr>
        <p:txBody>
          <a:bodyPr wrap="square">
            <a:spAutoFit/>
          </a:bodyPr>
          <a:lstStyle/>
          <a:p>
            <a:pPr marL="0" lvl="1" algn="just">
              <a:lnSpc>
                <a:spcPct val="114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将程序中任一语句</a:t>
            </a:r>
            <a:r>
              <a:rPr lang="en-US" altLang="zh-CN" sz="2000" b="1" dirty="0">
                <a:solidFill>
                  <a:schemeClr val="bg1"/>
                </a:solidFill>
                <a:latin typeface="+mn-ea"/>
              </a:rPr>
              <a:t>Si</a:t>
            </a:r>
            <a:r>
              <a:rPr lang="zh-CN" altLang="en-US" sz="2000" b="1" dirty="0">
                <a:solidFill>
                  <a:schemeClr val="bg1"/>
                </a:solidFill>
                <a:latin typeface="+mn-ea"/>
              </a:rPr>
              <a:t>划分为两个变量的集合</a:t>
            </a:r>
            <a:r>
              <a:rPr lang="en-US" altLang="zh-CN" sz="2000" b="1" dirty="0">
                <a:solidFill>
                  <a:schemeClr val="bg1"/>
                </a:solidFill>
                <a:latin typeface="+mn-ea"/>
              </a:rPr>
              <a:t>R(Si)</a:t>
            </a:r>
            <a:r>
              <a:rPr lang="zh-CN" altLang="en-US" sz="2000" b="1" dirty="0">
                <a:solidFill>
                  <a:schemeClr val="bg1"/>
                </a:solidFill>
                <a:latin typeface="+mn-ea"/>
              </a:rPr>
              <a:t>和</a:t>
            </a:r>
            <a:r>
              <a:rPr lang="en-US" altLang="zh-CN" sz="2000" b="1" dirty="0">
                <a:solidFill>
                  <a:schemeClr val="bg1"/>
                </a:solidFill>
                <a:latin typeface="+mn-ea"/>
              </a:rPr>
              <a:t>W(Si)</a:t>
            </a:r>
            <a:r>
              <a:rPr lang="zh-CN" altLang="en-US" sz="2000" b="1" dirty="0">
                <a:solidFill>
                  <a:schemeClr val="bg1"/>
                </a:solidFill>
                <a:latin typeface="+mn-ea"/>
              </a:rPr>
              <a:t>。</a:t>
            </a:r>
            <a:r>
              <a:rPr lang="zh-CN" altLang="en-US" sz="2000" b="1" dirty="0" smtClean="0">
                <a:solidFill>
                  <a:schemeClr val="bg1"/>
                </a:solidFill>
                <a:latin typeface="+mn-ea"/>
              </a:rPr>
              <a:t>其中</a:t>
            </a:r>
            <a:r>
              <a:rPr lang="en-US" altLang="zh-CN" sz="2000" b="1" dirty="0" smtClean="0">
                <a:solidFill>
                  <a:schemeClr val="bg1"/>
                </a:solidFill>
                <a:latin typeface="+mn-ea"/>
              </a:rPr>
              <a:t>:R(Si)={a1 a2 … am}</a:t>
            </a:r>
            <a:r>
              <a:rPr lang="zh-CN" altLang="en-US" sz="2000" b="1" dirty="0" smtClean="0">
                <a:solidFill>
                  <a:schemeClr val="bg1"/>
                </a:solidFill>
                <a:latin typeface="+mn-ea"/>
              </a:rPr>
              <a:t>，</a:t>
            </a:r>
            <a:r>
              <a:rPr lang="en-US" altLang="zh-CN" sz="2000" b="1" dirty="0" err="1" smtClean="0">
                <a:solidFill>
                  <a:schemeClr val="bg1"/>
                </a:solidFill>
                <a:latin typeface="+mn-ea"/>
              </a:rPr>
              <a:t>aj</a:t>
            </a:r>
            <a:r>
              <a:rPr lang="en-US" altLang="zh-CN" sz="2000" b="1" dirty="0" smtClean="0">
                <a:solidFill>
                  <a:schemeClr val="bg1"/>
                </a:solidFill>
                <a:latin typeface="+mn-ea"/>
              </a:rPr>
              <a:t>(j=1</a:t>
            </a:r>
            <a:r>
              <a:rPr lang="zh-CN" altLang="en-US" sz="2000" b="1" dirty="0" smtClean="0">
                <a:solidFill>
                  <a:schemeClr val="bg1"/>
                </a:solidFill>
                <a:latin typeface="+mn-ea"/>
              </a:rPr>
              <a:t>，</a:t>
            </a:r>
            <a:r>
              <a:rPr lang="en-US" altLang="zh-CN" sz="2000" b="1" dirty="0" smtClean="0">
                <a:solidFill>
                  <a:schemeClr val="bg1"/>
                </a:solidFill>
                <a:latin typeface="+mn-ea"/>
              </a:rPr>
              <a:t>…</a:t>
            </a:r>
            <a:r>
              <a:rPr lang="zh-CN" altLang="en-US" sz="2000" b="1" dirty="0" smtClean="0">
                <a:solidFill>
                  <a:schemeClr val="bg1"/>
                </a:solidFill>
                <a:latin typeface="+mn-ea"/>
              </a:rPr>
              <a:t>，</a:t>
            </a:r>
            <a:r>
              <a:rPr lang="en-US" altLang="zh-CN" sz="2000" b="1" dirty="0" smtClean="0">
                <a:solidFill>
                  <a:schemeClr val="bg1"/>
                </a:solidFill>
                <a:latin typeface="+mn-ea"/>
              </a:rPr>
              <a:t>m)</a:t>
            </a:r>
          </a:p>
          <a:p>
            <a:pPr marL="0" lvl="1" algn="just">
              <a:lnSpc>
                <a:spcPct val="114000"/>
              </a:lnSpc>
              <a:buClr>
                <a:schemeClr val="accent6">
                  <a:lumMod val="60000"/>
                  <a:lumOff val="40000"/>
                </a:schemeClr>
              </a:buClr>
            </a:pPr>
            <a:r>
              <a:rPr lang="zh-CN" altLang="en-US" sz="2000" b="1" dirty="0" smtClean="0">
                <a:solidFill>
                  <a:schemeClr val="bg1"/>
                </a:solidFill>
                <a:latin typeface="+mn-ea"/>
              </a:rPr>
              <a:t>       </a:t>
            </a:r>
            <a:r>
              <a:rPr lang="en-US" altLang="zh-CN" sz="2000" b="1" dirty="0" smtClean="0">
                <a:solidFill>
                  <a:schemeClr val="bg1"/>
                </a:solidFill>
                <a:latin typeface="+mn-ea"/>
              </a:rPr>
              <a:t>---</a:t>
            </a:r>
            <a:r>
              <a:rPr lang="zh-CN" altLang="en-US" sz="2000" b="1" dirty="0" smtClean="0">
                <a:solidFill>
                  <a:schemeClr val="bg1"/>
                </a:solidFill>
                <a:latin typeface="+mn-ea"/>
              </a:rPr>
              <a:t>是</a:t>
            </a:r>
            <a:r>
              <a:rPr lang="zh-CN" altLang="en-US" sz="2000" b="1" dirty="0">
                <a:solidFill>
                  <a:schemeClr val="bg1"/>
                </a:solidFill>
                <a:latin typeface="+mn-ea"/>
              </a:rPr>
              <a:t>语句</a:t>
            </a:r>
            <a:r>
              <a:rPr lang="en-US" altLang="zh-CN" sz="2000" b="1" dirty="0">
                <a:solidFill>
                  <a:schemeClr val="bg1"/>
                </a:solidFill>
                <a:latin typeface="+mn-ea"/>
              </a:rPr>
              <a:t>Si</a:t>
            </a:r>
            <a:r>
              <a:rPr lang="zh-CN" altLang="en-US" sz="2000" b="1" dirty="0">
                <a:solidFill>
                  <a:schemeClr val="bg1"/>
                </a:solidFill>
                <a:latin typeface="+mn-ea"/>
              </a:rPr>
              <a:t>在执行期间必须对其进行</a:t>
            </a:r>
            <a:r>
              <a:rPr lang="zh-CN" altLang="en-US" sz="2000" b="1" dirty="0" smtClean="0">
                <a:solidFill>
                  <a:schemeClr val="bg1"/>
                </a:solidFill>
                <a:latin typeface="+mn-ea"/>
              </a:rPr>
              <a:t>读的</a:t>
            </a:r>
            <a:r>
              <a:rPr lang="zh-CN" altLang="en-US" sz="2000" b="1" dirty="0">
                <a:solidFill>
                  <a:schemeClr val="bg1"/>
                </a:solidFill>
                <a:latin typeface="+mn-ea"/>
              </a:rPr>
              <a:t>变量</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14000"/>
              </a:lnSpc>
              <a:buClr>
                <a:schemeClr val="accent6">
                  <a:lumMod val="60000"/>
                  <a:lumOff val="40000"/>
                </a:schemeClr>
              </a:buClr>
            </a:pPr>
            <a:r>
              <a:rPr lang="en-US" altLang="zh-CN" sz="2000" b="1" dirty="0" smtClean="0">
                <a:solidFill>
                  <a:schemeClr val="bg1"/>
                </a:solidFill>
                <a:latin typeface="+mn-ea"/>
              </a:rPr>
              <a:t>     W(Si</a:t>
            </a:r>
            <a:r>
              <a:rPr lang="en-US" altLang="zh-CN" sz="2000" b="1" dirty="0">
                <a:solidFill>
                  <a:schemeClr val="bg1"/>
                </a:solidFill>
                <a:latin typeface="+mn-ea"/>
              </a:rPr>
              <a:t>)={b1 b2 … </a:t>
            </a:r>
            <a:r>
              <a:rPr lang="en-US" altLang="zh-CN" sz="2000" b="1" dirty="0" err="1">
                <a:solidFill>
                  <a:schemeClr val="bg1"/>
                </a:solidFill>
                <a:latin typeface="+mn-ea"/>
              </a:rPr>
              <a:t>bn</a:t>
            </a:r>
            <a:r>
              <a:rPr lang="en-US" altLang="zh-CN" sz="2000" b="1" dirty="0">
                <a:solidFill>
                  <a:schemeClr val="bg1"/>
                </a:solidFill>
                <a:latin typeface="+mn-ea"/>
              </a:rPr>
              <a:t>}</a:t>
            </a:r>
            <a:r>
              <a:rPr lang="zh-CN" altLang="en-US" sz="2000" b="1" dirty="0">
                <a:solidFill>
                  <a:schemeClr val="bg1"/>
                </a:solidFill>
                <a:latin typeface="+mn-ea"/>
              </a:rPr>
              <a:t>，</a:t>
            </a:r>
            <a:r>
              <a:rPr lang="en-US" altLang="zh-CN" sz="2000" b="1" dirty="0" err="1">
                <a:solidFill>
                  <a:schemeClr val="bg1"/>
                </a:solidFill>
                <a:latin typeface="+mn-ea"/>
              </a:rPr>
              <a:t>bj</a:t>
            </a:r>
            <a:r>
              <a:rPr lang="en-US" altLang="zh-CN" sz="2000" b="1" dirty="0">
                <a:solidFill>
                  <a:schemeClr val="bg1"/>
                </a:solidFill>
                <a:latin typeface="+mn-ea"/>
              </a:rPr>
              <a:t>(j=1</a:t>
            </a:r>
            <a:r>
              <a:rPr lang="zh-CN" altLang="en-US" sz="2000" b="1" dirty="0">
                <a:solidFill>
                  <a:schemeClr val="bg1"/>
                </a:solidFill>
                <a:latin typeface="+mn-ea"/>
              </a:rPr>
              <a:t>，</a:t>
            </a:r>
            <a:r>
              <a:rPr lang="en-US" altLang="zh-CN" sz="2000" b="1" dirty="0">
                <a:solidFill>
                  <a:schemeClr val="bg1"/>
                </a:solidFill>
                <a:latin typeface="+mn-ea"/>
              </a:rPr>
              <a:t>…</a:t>
            </a:r>
            <a:r>
              <a:rPr lang="zh-CN" altLang="en-US" sz="2000" b="1" dirty="0">
                <a:solidFill>
                  <a:schemeClr val="bg1"/>
                </a:solidFill>
                <a:latin typeface="+mn-ea"/>
              </a:rPr>
              <a:t>，</a:t>
            </a:r>
            <a:r>
              <a:rPr lang="en-US" altLang="zh-CN" sz="2000" b="1" dirty="0">
                <a:solidFill>
                  <a:schemeClr val="bg1"/>
                </a:solidFill>
                <a:latin typeface="+mn-ea"/>
              </a:rPr>
              <a:t>n)</a:t>
            </a:r>
          </a:p>
          <a:p>
            <a:pPr marL="0" lvl="1" algn="just">
              <a:lnSpc>
                <a:spcPct val="114000"/>
              </a:lnSpc>
              <a:buClr>
                <a:schemeClr val="accent6">
                  <a:lumMod val="60000"/>
                  <a:lumOff val="40000"/>
                </a:schemeClr>
              </a:buClr>
            </a:pPr>
            <a:r>
              <a:rPr lang="zh-CN" altLang="en-US" sz="2000" b="1" dirty="0" smtClean="0">
                <a:solidFill>
                  <a:schemeClr val="bg1"/>
                </a:solidFill>
                <a:latin typeface="+mn-ea"/>
              </a:rPr>
              <a:t>   </a:t>
            </a:r>
            <a:r>
              <a:rPr lang="en-US" altLang="zh-CN" sz="2000" b="1" dirty="0" smtClean="0">
                <a:solidFill>
                  <a:schemeClr val="bg1"/>
                </a:solidFill>
                <a:latin typeface="+mn-ea"/>
              </a:rPr>
              <a:t>---</a:t>
            </a:r>
            <a:r>
              <a:rPr lang="zh-CN" altLang="en-US" sz="2000" b="1" dirty="0" smtClean="0">
                <a:solidFill>
                  <a:schemeClr val="bg1"/>
                </a:solidFill>
                <a:latin typeface="+mn-ea"/>
              </a:rPr>
              <a:t>是</a:t>
            </a:r>
            <a:r>
              <a:rPr lang="zh-CN" altLang="en-US" sz="2000" b="1" dirty="0">
                <a:solidFill>
                  <a:schemeClr val="bg1"/>
                </a:solidFill>
                <a:latin typeface="+mn-ea"/>
              </a:rPr>
              <a:t>语句</a:t>
            </a:r>
            <a:r>
              <a:rPr lang="en-US" altLang="zh-CN" sz="2000" b="1" dirty="0">
                <a:solidFill>
                  <a:schemeClr val="bg1"/>
                </a:solidFill>
                <a:latin typeface="+mn-ea"/>
              </a:rPr>
              <a:t>Si</a:t>
            </a:r>
            <a:r>
              <a:rPr lang="zh-CN" altLang="en-US" sz="2000" b="1" dirty="0">
                <a:solidFill>
                  <a:schemeClr val="bg1"/>
                </a:solidFill>
                <a:latin typeface="+mn-ea"/>
              </a:rPr>
              <a:t>在执行期间必须对其进行修改、访问的变量；</a:t>
            </a:r>
          </a:p>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如果对于语句</a:t>
            </a:r>
            <a:r>
              <a:rPr lang="en-US" altLang="zh-CN" sz="2000" b="1" dirty="0">
                <a:solidFill>
                  <a:schemeClr val="bg1"/>
                </a:solidFill>
                <a:latin typeface="+mn-ea"/>
              </a:rPr>
              <a:t>S1</a:t>
            </a:r>
            <a:r>
              <a:rPr lang="zh-CN" altLang="en-US" sz="2000" b="1" dirty="0">
                <a:solidFill>
                  <a:schemeClr val="bg1"/>
                </a:solidFill>
                <a:latin typeface="+mn-ea"/>
              </a:rPr>
              <a:t>和</a:t>
            </a:r>
            <a:r>
              <a:rPr lang="en-US" altLang="zh-CN" sz="2000" b="1" dirty="0">
                <a:solidFill>
                  <a:schemeClr val="bg1"/>
                </a:solidFill>
                <a:latin typeface="+mn-ea"/>
              </a:rPr>
              <a:t>S2</a:t>
            </a:r>
            <a:r>
              <a:rPr lang="zh-CN" altLang="en-US" sz="2000" b="1" dirty="0">
                <a:solidFill>
                  <a:schemeClr val="bg1"/>
                </a:solidFill>
                <a:latin typeface="+mn-ea"/>
              </a:rPr>
              <a:t>，有</a:t>
            </a:r>
          </a:p>
          <a:p>
            <a:pPr marL="0" lvl="1" algn="just">
              <a:lnSpc>
                <a:spcPct val="114000"/>
              </a:lnSpc>
              <a:buClr>
                <a:schemeClr val="accent6">
                  <a:lumMod val="60000"/>
                  <a:lumOff val="40000"/>
                </a:schemeClr>
              </a:buClr>
            </a:pPr>
            <a:r>
              <a:rPr lang="zh-CN" altLang="en-US" sz="2000" b="1" dirty="0" smtClean="0">
                <a:solidFill>
                  <a:schemeClr val="bg1"/>
                </a:solidFill>
                <a:latin typeface="+mn-ea"/>
              </a:rPr>
              <a:t>   </a:t>
            </a:r>
            <a:r>
              <a:rPr lang="zh-CN" altLang="en-US" sz="2000" b="1" dirty="0" smtClean="0">
                <a:solidFill>
                  <a:srgbClr val="FFFF00"/>
                </a:solidFill>
                <a:latin typeface="+mn-ea"/>
              </a:rPr>
              <a:t>① </a:t>
            </a:r>
            <a:r>
              <a:rPr lang="en-US" altLang="zh-CN" sz="2000" b="1" dirty="0">
                <a:solidFill>
                  <a:srgbClr val="FFFF00"/>
                </a:solidFill>
                <a:latin typeface="+mn-ea"/>
              </a:rPr>
              <a:t>R(S1)∩ W(S2</a:t>
            </a:r>
            <a:r>
              <a:rPr lang="en-US" altLang="zh-CN" sz="2000" b="1" dirty="0" smtClean="0">
                <a:solidFill>
                  <a:srgbClr val="FFFF00"/>
                </a:solidFill>
                <a:latin typeface="+mn-ea"/>
              </a:rPr>
              <a:t>)={Ø}</a:t>
            </a:r>
            <a:r>
              <a:rPr lang="zh-CN" altLang="en-US" sz="2000" b="1" dirty="0" smtClean="0">
                <a:solidFill>
                  <a:srgbClr val="FFFF00"/>
                </a:solidFill>
                <a:latin typeface="+mn-ea"/>
              </a:rPr>
              <a:t>，  ② </a:t>
            </a:r>
            <a:r>
              <a:rPr lang="en-US" altLang="zh-CN" sz="2000" b="1" dirty="0">
                <a:solidFill>
                  <a:srgbClr val="FFFF00"/>
                </a:solidFill>
                <a:latin typeface="+mn-ea"/>
              </a:rPr>
              <a:t>W(S1)∩ R(S2)={Ø}</a:t>
            </a:r>
            <a:r>
              <a:rPr lang="zh-CN" altLang="en-US" sz="2000" b="1" dirty="0">
                <a:solidFill>
                  <a:srgbClr val="FFFF00"/>
                </a:solidFill>
                <a:latin typeface="+mn-ea"/>
              </a:rPr>
              <a:t>，</a:t>
            </a:r>
          </a:p>
          <a:p>
            <a:pPr marL="0" lvl="1" algn="just">
              <a:lnSpc>
                <a:spcPct val="114000"/>
              </a:lnSpc>
              <a:buClr>
                <a:schemeClr val="accent6">
                  <a:lumMod val="60000"/>
                  <a:lumOff val="40000"/>
                </a:schemeClr>
              </a:buClr>
            </a:pPr>
            <a:r>
              <a:rPr lang="zh-CN" altLang="en-US" sz="2000" b="1" dirty="0" smtClean="0">
                <a:solidFill>
                  <a:srgbClr val="FFFF00"/>
                </a:solidFill>
                <a:latin typeface="+mn-ea"/>
              </a:rPr>
              <a:t>   ③ </a:t>
            </a:r>
            <a:r>
              <a:rPr lang="en-US" altLang="zh-CN" sz="2000" b="1" dirty="0">
                <a:solidFill>
                  <a:srgbClr val="FFFF00"/>
                </a:solidFill>
                <a:latin typeface="+mn-ea"/>
              </a:rPr>
              <a:t>W(S1)∩ W(S2)={Ø} </a:t>
            </a:r>
            <a:endParaRPr lang="en-US" altLang="zh-CN" sz="2000" b="1" dirty="0" smtClean="0">
              <a:solidFill>
                <a:srgbClr val="FFFF00"/>
              </a:solidFill>
              <a:latin typeface="+mn-ea"/>
            </a:endParaRPr>
          </a:p>
          <a:p>
            <a:pPr marL="0" lvl="1" algn="just">
              <a:lnSpc>
                <a:spcPct val="114000"/>
              </a:lnSpc>
              <a:buClr>
                <a:schemeClr val="accent6">
                  <a:lumMod val="60000"/>
                  <a:lumOff val="40000"/>
                </a:schemeClr>
              </a:buClr>
            </a:pPr>
            <a:r>
              <a:rPr lang="en-US" altLang="zh-CN" sz="2000" b="1" dirty="0">
                <a:solidFill>
                  <a:schemeClr val="bg1"/>
                </a:solidFill>
                <a:latin typeface="+mn-ea"/>
              </a:rPr>
              <a:t> </a:t>
            </a:r>
            <a:r>
              <a:rPr lang="en-US" altLang="zh-CN" sz="2000" b="1" dirty="0" smtClean="0">
                <a:solidFill>
                  <a:schemeClr val="bg1"/>
                </a:solidFill>
                <a:latin typeface="+mn-ea"/>
              </a:rPr>
              <a:t>  </a:t>
            </a:r>
            <a:r>
              <a:rPr lang="zh-CN" altLang="en-US" sz="2000" b="1" dirty="0" smtClean="0">
                <a:solidFill>
                  <a:srgbClr val="FFFF00"/>
                </a:solidFill>
                <a:latin typeface="+mn-ea"/>
              </a:rPr>
              <a:t>同时</a:t>
            </a:r>
            <a:r>
              <a:rPr lang="zh-CN" altLang="en-US" sz="2000" b="1" dirty="0">
                <a:solidFill>
                  <a:srgbClr val="FFFF00"/>
                </a:solidFill>
                <a:latin typeface="+mn-ea"/>
              </a:rPr>
              <a:t>成立</a:t>
            </a:r>
            <a:r>
              <a:rPr lang="zh-CN" altLang="en-US" sz="2000" b="1" dirty="0">
                <a:solidFill>
                  <a:schemeClr val="bg1"/>
                </a:solidFill>
                <a:latin typeface="+mn-ea"/>
              </a:rPr>
              <a:t>，则语句</a:t>
            </a:r>
            <a:r>
              <a:rPr lang="en-US" altLang="zh-CN" sz="2000" b="1" dirty="0">
                <a:solidFill>
                  <a:schemeClr val="bg1"/>
                </a:solidFill>
                <a:latin typeface="+mn-ea"/>
              </a:rPr>
              <a:t>S1</a:t>
            </a:r>
            <a:r>
              <a:rPr lang="zh-CN" altLang="en-US" sz="2000" b="1" dirty="0">
                <a:solidFill>
                  <a:schemeClr val="bg1"/>
                </a:solidFill>
                <a:latin typeface="+mn-ea"/>
              </a:rPr>
              <a:t>和</a:t>
            </a:r>
            <a:r>
              <a:rPr lang="en-US" altLang="zh-CN" sz="2000" b="1" dirty="0">
                <a:solidFill>
                  <a:schemeClr val="bg1"/>
                </a:solidFill>
                <a:latin typeface="+mn-ea"/>
              </a:rPr>
              <a:t>S2</a:t>
            </a:r>
            <a:r>
              <a:rPr lang="zh-CN" altLang="en-US" sz="2000" b="1" dirty="0">
                <a:solidFill>
                  <a:schemeClr val="bg1"/>
                </a:solidFill>
                <a:latin typeface="+mn-ea"/>
              </a:rPr>
              <a:t>是可以</a:t>
            </a:r>
            <a:r>
              <a:rPr lang="zh-CN" altLang="en-US" sz="2000" b="1" dirty="0">
                <a:solidFill>
                  <a:srgbClr val="FFFF00"/>
                </a:solidFill>
                <a:latin typeface="+mn-ea"/>
              </a:rPr>
              <a:t>并发执行</a:t>
            </a:r>
            <a:r>
              <a:rPr lang="zh-CN" altLang="en-US" sz="2000" b="1" dirty="0">
                <a:solidFill>
                  <a:schemeClr val="bg1"/>
                </a:solidFill>
                <a:latin typeface="+mn-ea"/>
              </a:rPr>
              <a:t>的。</a:t>
            </a:r>
          </a:p>
          <a:p>
            <a:pPr marL="0" lvl="1" indent="-342900" algn="just">
              <a:lnSpc>
                <a:spcPct val="114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程序的并发执行所带来的影响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由于系统资源有限，程序的并发执行必然导致</a:t>
            </a:r>
            <a:r>
              <a:rPr lang="zh-CN" altLang="en-US" sz="2400" b="1" dirty="0">
                <a:solidFill>
                  <a:srgbClr val="FFFF00"/>
                </a:solidFill>
                <a:latin typeface="+mn-ea"/>
              </a:rPr>
              <a:t>资源共享和资源竞争</a:t>
            </a:r>
            <a:r>
              <a:rPr lang="zh-CN" altLang="en-US" sz="2400" b="1" dirty="0">
                <a:solidFill>
                  <a:schemeClr val="bg1"/>
                </a:solidFill>
                <a:latin typeface="+mn-ea"/>
              </a:rPr>
              <a:t>，从而改变程序的执行速度。如果并发执行的各程序段中语句或指令满足上述</a:t>
            </a:r>
            <a:r>
              <a:rPr lang="en-US" altLang="zh-CN" sz="2400" b="1" dirty="0" smtClean="0">
                <a:solidFill>
                  <a:schemeClr val="bg1"/>
                </a:solidFill>
                <a:latin typeface="+mn-ea"/>
              </a:rPr>
              <a:t>Bernstein</a:t>
            </a:r>
            <a:r>
              <a:rPr lang="zh-CN" altLang="en-US" sz="2400" b="1" dirty="0" smtClean="0">
                <a:solidFill>
                  <a:schemeClr val="bg1"/>
                </a:solidFill>
                <a:latin typeface="+mn-ea"/>
              </a:rPr>
              <a:t>的</a:t>
            </a:r>
            <a:r>
              <a:rPr lang="zh-CN" altLang="en-US" sz="2400" b="1" dirty="0">
                <a:solidFill>
                  <a:schemeClr val="bg1"/>
                </a:solidFill>
                <a:latin typeface="+mn-ea"/>
              </a:rPr>
              <a:t>三个条件，则认为并发执行不会对执行结果的封闭性和可再现性产生</a:t>
            </a:r>
            <a:r>
              <a:rPr lang="zh-CN" altLang="en-US" sz="2400" b="1" dirty="0" smtClean="0">
                <a:solidFill>
                  <a:schemeClr val="bg1"/>
                </a:solidFill>
                <a:latin typeface="+mn-ea"/>
              </a:rPr>
              <a:t>影响。</a:t>
            </a:r>
            <a:endParaRPr lang="en-US" altLang="zh-CN" sz="2400" b="1" dirty="0" smtClean="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程序的并发执行所带来的影响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23020" y="939178"/>
            <a:ext cx="5101108" cy="984500"/>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例：设有堆栈</a:t>
            </a:r>
            <a:r>
              <a:rPr lang="en-US" altLang="zh-CN" sz="2400" b="1" dirty="0">
                <a:solidFill>
                  <a:schemeClr val="bg1"/>
                </a:solidFill>
                <a:latin typeface="+mn-ea"/>
              </a:rPr>
              <a:t>S</a:t>
            </a:r>
            <a:r>
              <a:rPr lang="zh-CN" altLang="en-US" sz="2400" b="1" dirty="0">
                <a:solidFill>
                  <a:schemeClr val="bg1"/>
                </a:solidFill>
                <a:latin typeface="+mn-ea"/>
              </a:rPr>
              <a:t>，栈指针</a:t>
            </a:r>
            <a:r>
              <a:rPr lang="en-US" altLang="zh-CN" sz="2400" b="1" dirty="0">
                <a:solidFill>
                  <a:schemeClr val="bg1"/>
                </a:solidFill>
                <a:latin typeface="+mn-ea"/>
              </a:rPr>
              <a:t>top</a:t>
            </a:r>
            <a:r>
              <a:rPr lang="zh-CN" altLang="en-US" sz="2400" b="1" dirty="0">
                <a:solidFill>
                  <a:schemeClr val="bg1"/>
                </a:solidFill>
                <a:latin typeface="+mn-ea"/>
              </a:rPr>
              <a:t>，栈中存放内存中相应数据块地址</a:t>
            </a:r>
          </a:p>
        </p:txBody>
      </p:sp>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58" y="1923678"/>
            <a:ext cx="8164016" cy="3051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竖卷形 2"/>
          <p:cNvSpPr/>
          <p:nvPr/>
        </p:nvSpPr>
        <p:spPr>
          <a:xfrm>
            <a:off x="560299" y="54331"/>
            <a:ext cx="2970482" cy="2183438"/>
          </a:xfrm>
          <a:prstGeom prst="verticalScroll">
            <a:avLst/>
          </a:prstGeom>
          <a:effectLst>
            <a:glow rad="101600">
              <a:schemeClr val="accent3">
                <a:satMod val="175000"/>
                <a:alpha val="40000"/>
              </a:schemeClr>
            </a:glow>
            <a:outerShdw blurRad="40000" dist="20000" dir="5400000" rotWithShape="0">
              <a:srgbClr val="000000">
                <a:alpha val="38000"/>
              </a:srgbClr>
            </a:outerShdw>
          </a:effectLst>
          <a:scene3d>
            <a:camera prst="perspectiveAbove"/>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spcBef>
                <a:spcPct val="0"/>
              </a:spcBef>
            </a:pPr>
            <a:r>
              <a:rPr lang="en-US" altLang="zh-CN" dirty="0"/>
              <a:t>procedure </a:t>
            </a:r>
            <a:r>
              <a:rPr lang="en-US" altLang="zh-CN" dirty="0" err="1"/>
              <a:t>getaddr</a:t>
            </a:r>
            <a:r>
              <a:rPr lang="en-US" altLang="zh-CN" dirty="0"/>
              <a:t>(top)</a:t>
            </a:r>
          </a:p>
          <a:p>
            <a:pPr>
              <a:spcBef>
                <a:spcPct val="0"/>
              </a:spcBef>
            </a:pPr>
            <a:r>
              <a:rPr lang="en-US" altLang="zh-CN" dirty="0" smtClean="0"/>
              <a:t>     begin</a:t>
            </a:r>
            <a:endParaRPr lang="en-US" altLang="zh-CN" dirty="0"/>
          </a:p>
          <a:p>
            <a:pPr>
              <a:spcBef>
                <a:spcPct val="0"/>
              </a:spcBef>
            </a:pPr>
            <a:r>
              <a:rPr lang="en-US" altLang="zh-CN" dirty="0" smtClean="0"/>
              <a:t>     local </a:t>
            </a:r>
            <a:r>
              <a:rPr lang="en-US" altLang="zh-CN" dirty="0"/>
              <a:t>r</a:t>
            </a:r>
          </a:p>
          <a:p>
            <a:pPr>
              <a:spcBef>
                <a:spcPct val="0"/>
              </a:spcBef>
            </a:pPr>
            <a:r>
              <a:rPr lang="en-US" altLang="zh-CN" dirty="0" smtClean="0"/>
              <a:t>     r </a:t>
            </a:r>
            <a:r>
              <a:rPr lang="en-US" altLang="zh-CN" dirty="0"/>
              <a:t>←(top)</a:t>
            </a:r>
          </a:p>
          <a:p>
            <a:pPr>
              <a:spcBef>
                <a:spcPct val="0"/>
              </a:spcBef>
            </a:pPr>
            <a:r>
              <a:rPr lang="en-US" altLang="zh-CN" dirty="0" smtClean="0"/>
              <a:t>     top </a:t>
            </a:r>
            <a:r>
              <a:rPr lang="en-US" altLang="zh-CN" dirty="0"/>
              <a:t>← top-1</a:t>
            </a:r>
          </a:p>
          <a:p>
            <a:pPr>
              <a:spcBef>
                <a:spcPct val="0"/>
              </a:spcBef>
            </a:pPr>
            <a:r>
              <a:rPr lang="en-US" altLang="zh-CN" dirty="0" smtClean="0"/>
              <a:t>     return(r</a:t>
            </a:r>
            <a:r>
              <a:rPr lang="en-US" altLang="zh-CN" dirty="0"/>
              <a:t>)</a:t>
            </a:r>
          </a:p>
          <a:p>
            <a:pPr>
              <a:spcBef>
                <a:spcPct val="0"/>
              </a:spcBef>
            </a:pPr>
            <a:r>
              <a:rPr lang="en-US" altLang="zh-CN" dirty="0" smtClean="0"/>
              <a:t>     end</a:t>
            </a:r>
            <a:endParaRPr lang="en-US" altLang="zh-CN" dirty="0"/>
          </a:p>
        </p:txBody>
      </p:sp>
      <p:sp>
        <p:nvSpPr>
          <p:cNvPr id="30" name="竖卷形 29"/>
          <p:cNvSpPr/>
          <p:nvPr/>
        </p:nvSpPr>
        <p:spPr>
          <a:xfrm>
            <a:off x="5997707" y="214432"/>
            <a:ext cx="2849949" cy="1696022"/>
          </a:xfrm>
          <a:prstGeom prst="verticalScroll">
            <a:avLst/>
          </a:prstGeom>
          <a:effectLst>
            <a:glow rad="101600">
              <a:schemeClr val="accent3">
                <a:satMod val="175000"/>
                <a:alpha val="40000"/>
              </a:schemeClr>
            </a:glow>
            <a:outerShdw blurRad="40000" dist="20000" dir="5400000" rotWithShape="0">
              <a:srgbClr val="000000">
                <a:alpha val="38000"/>
              </a:srgbClr>
            </a:outerShdw>
          </a:effectLst>
          <a:scene3d>
            <a:camera prst="perspectiveAbove"/>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spcBef>
                <a:spcPct val="0"/>
              </a:spcBef>
            </a:pPr>
            <a:r>
              <a:rPr lang="en-US" altLang="zh-CN" dirty="0" smtClean="0"/>
              <a:t>procedure </a:t>
            </a:r>
            <a:r>
              <a:rPr lang="en-US" altLang="zh-CN" dirty="0" err="1"/>
              <a:t>reladdr</a:t>
            </a:r>
            <a:r>
              <a:rPr lang="en-US" altLang="zh-CN" dirty="0"/>
              <a:t>(</a:t>
            </a:r>
            <a:r>
              <a:rPr lang="en-US" altLang="zh-CN" dirty="0" err="1"/>
              <a:t>blk</a:t>
            </a:r>
            <a:r>
              <a:rPr lang="en-US" altLang="zh-CN" dirty="0" smtClean="0"/>
              <a:t>)</a:t>
            </a:r>
          </a:p>
          <a:p>
            <a:pPr>
              <a:spcBef>
                <a:spcPct val="0"/>
              </a:spcBef>
            </a:pPr>
            <a:r>
              <a:rPr lang="en-US" altLang="zh-CN" dirty="0" smtClean="0"/>
              <a:t>   begin</a:t>
            </a:r>
            <a:endParaRPr lang="en-US" altLang="zh-CN" dirty="0"/>
          </a:p>
          <a:p>
            <a:pPr>
              <a:spcBef>
                <a:spcPct val="0"/>
              </a:spcBef>
            </a:pPr>
            <a:r>
              <a:rPr lang="en-US" altLang="zh-CN" dirty="0" smtClean="0"/>
              <a:t>   top </a:t>
            </a:r>
            <a:r>
              <a:rPr lang="en-US" altLang="zh-CN" dirty="0"/>
              <a:t>← top+1</a:t>
            </a:r>
          </a:p>
          <a:p>
            <a:pPr>
              <a:spcBef>
                <a:spcPct val="0"/>
              </a:spcBef>
            </a:pPr>
            <a:r>
              <a:rPr lang="en-US" altLang="zh-CN" dirty="0" smtClean="0"/>
              <a:t>   (</a:t>
            </a:r>
            <a:r>
              <a:rPr lang="en-US" altLang="zh-CN" dirty="0"/>
              <a:t>top)← </a:t>
            </a:r>
            <a:r>
              <a:rPr lang="en-US" altLang="zh-CN" dirty="0" err="1"/>
              <a:t>blk</a:t>
            </a:r>
            <a:endParaRPr lang="en-US" altLang="zh-CN" dirty="0"/>
          </a:p>
          <a:p>
            <a:pPr>
              <a:spcBef>
                <a:spcPct val="0"/>
              </a:spcBef>
            </a:pPr>
            <a:r>
              <a:rPr lang="en-US" altLang="zh-CN" dirty="0" smtClean="0"/>
              <a:t>   end</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up)">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程序的并发执行所带来的影响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7056784" cy="369331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在某些情况下，程序的并发执行使得其执行结果不再具有封闭性和可再现性，且可能造成程序出现</a:t>
            </a:r>
            <a:r>
              <a:rPr lang="zh-CN" altLang="en-US" sz="2200" b="1" dirty="0" smtClean="0">
                <a:solidFill>
                  <a:schemeClr val="bg1"/>
                </a:solidFill>
                <a:latin typeface="+mn-ea"/>
              </a:rPr>
              <a:t>错误</a:t>
            </a:r>
            <a:r>
              <a:rPr lang="zh-CN" altLang="en-US" sz="2200" b="1" dirty="0">
                <a:solidFill>
                  <a:schemeClr val="bg1"/>
                </a:solidFill>
                <a:latin typeface="+mn-ea"/>
              </a:rPr>
              <a:t>。</a:t>
            </a:r>
            <a:endParaRPr lang="en-US" altLang="zh-CN" sz="22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上例中的程序段并发执行出现错误结果是由于两程序段共享资源堆栈</a:t>
            </a:r>
            <a:r>
              <a:rPr lang="en-US" altLang="zh-CN" sz="2200" b="1" dirty="0">
                <a:solidFill>
                  <a:schemeClr val="bg1"/>
                </a:solidFill>
                <a:latin typeface="+mn-ea"/>
              </a:rPr>
              <a:t>S</a:t>
            </a:r>
            <a:r>
              <a:rPr lang="zh-CN" altLang="en-US" sz="2200" b="1" dirty="0">
                <a:solidFill>
                  <a:schemeClr val="bg1"/>
                </a:solidFill>
                <a:latin typeface="+mn-ea"/>
              </a:rPr>
              <a:t>，从而使得执行结果受执行速度影响。一般情况下，</a:t>
            </a:r>
            <a:r>
              <a:rPr lang="zh-CN" altLang="en-US" sz="2200" b="1" dirty="0">
                <a:solidFill>
                  <a:srgbClr val="FFFF00"/>
                </a:solidFill>
                <a:latin typeface="+mn-ea"/>
              </a:rPr>
              <a:t>并发执行的各程序段如果共享软、硬件资源，都会造成其执行结果受执行速度影响的局面</a:t>
            </a:r>
            <a:r>
              <a:rPr lang="zh-CN" altLang="en-US" sz="22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程序的并发执行所带来的影响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但</a:t>
            </a:r>
            <a:r>
              <a:rPr lang="zh-CN" altLang="en-US" sz="2400" b="1" dirty="0">
                <a:solidFill>
                  <a:schemeClr val="bg1"/>
                </a:solidFill>
                <a:latin typeface="+mn-ea"/>
              </a:rPr>
              <a:t>在一般情况下，</a:t>
            </a:r>
            <a:r>
              <a:rPr lang="zh-CN" altLang="en-US" sz="2400" b="1" dirty="0">
                <a:solidFill>
                  <a:srgbClr val="FFFF00"/>
                </a:solidFill>
                <a:latin typeface="+mn-ea"/>
              </a:rPr>
              <a:t>系统要判定并发执行的各程序段是否满足</a:t>
            </a:r>
            <a:r>
              <a:rPr lang="en-US" altLang="zh-CN" sz="2400" b="1" dirty="0">
                <a:solidFill>
                  <a:srgbClr val="FFFF00"/>
                </a:solidFill>
                <a:latin typeface="+mn-ea"/>
              </a:rPr>
              <a:t>Bernstein </a:t>
            </a:r>
            <a:r>
              <a:rPr lang="zh-CN" altLang="en-US" sz="2400" b="1" dirty="0">
                <a:solidFill>
                  <a:srgbClr val="FFFF00"/>
                </a:solidFill>
                <a:latin typeface="+mn-ea"/>
              </a:rPr>
              <a:t>条件是相当困难</a:t>
            </a:r>
            <a:r>
              <a:rPr lang="zh-CN" altLang="en-US" sz="2400" b="1" dirty="0">
                <a:solidFill>
                  <a:schemeClr val="bg1"/>
                </a:solidFill>
                <a:latin typeface="+mn-ea"/>
              </a:rPr>
              <a:t>的。从而，如果并发执行的程序段不按照特定的规则和方法进行资源共享和竞争，则其执行结果将不可避免地失去封闭性和可再现性。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程序的并发执行所带来的影响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7056784"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为了使得在并发执行时不出现错误结果，必须采取某些</a:t>
            </a:r>
            <a:r>
              <a:rPr lang="zh-CN" altLang="en-US" sz="2400" b="1" dirty="0">
                <a:solidFill>
                  <a:srgbClr val="FFFF00"/>
                </a:solidFill>
                <a:latin typeface="+mn-ea"/>
              </a:rPr>
              <a:t>措施来制约</a:t>
            </a:r>
            <a:r>
              <a:rPr lang="zh-CN" altLang="en-US" sz="2400" b="1" dirty="0">
                <a:solidFill>
                  <a:schemeClr val="bg1"/>
                </a:solidFill>
                <a:latin typeface="+mn-ea"/>
              </a:rPr>
              <a:t>、</a:t>
            </a:r>
            <a:r>
              <a:rPr lang="zh-CN" altLang="en-US" sz="2400" b="1" dirty="0">
                <a:solidFill>
                  <a:srgbClr val="FFFF00"/>
                </a:solidFill>
                <a:latin typeface="+mn-ea"/>
              </a:rPr>
              <a:t>控制各并发程序段的执行速度</a:t>
            </a:r>
            <a:r>
              <a:rPr lang="zh-CN" altLang="en-US" sz="2400" b="1" dirty="0">
                <a:solidFill>
                  <a:schemeClr val="bg1"/>
                </a:solidFill>
                <a:latin typeface="+mn-ea"/>
              </a:rPr>
              <a:t>。为了控制和协调各程序段执行过程中的软、硬件资源的共享和竞争，显然，必须应该有一个</a:t>
            </a:r>
            <a:r>
              <a:rPr lang="zh-CN" altLang="en-US" sz="2400" b="1" dirty="0">
                <a:solidFill>
                  <a:srgbClr val="FFFF00"/>
                </a:solidFill>
                <a:latin typeface="+mn-ea"/>
              </a:rPr>
              <a:t>描述各程序段执行过程和共享资源的基本单位</a:t>
            </a:r>
            <a:r>
              <a:rPr lang="zh-CN" altLang="en-US" sz="24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进程的定义</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74404"/>
            <a:ext cx="6840760" cy="3453253"/>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进程是可以</a:t>
            </a:r>
            <a:r>
              <a:rPr lang="zh-CN" altLang="en-US" sz="2400" b="1" dirty="0" smtClean="0">
                <a:solidFill>
                  <a:srgbClr val="FFFF00"/>
                </a:solidFill>
                <a:latin typeface="+mn-ea"/>
              </a:rPr>
              <a:t>并发执行的计算部分</a:t>
            </a:r>
            <a:r>
              <a:rPr lang="zh-CN" altLang="en-US" sz="2400" b="1" dirty="0" smtClean="0">
                <a:solidFill>
                  <a:schemeClr val="bg1"/>
                </a:solidFill>
                <a:latin typeface="+mn-ea"/>
              </a:rPr>
              <a:t>（</a:t>
            </a:r>
            <a:r>
              <a:rPr lang="en-US" altLang="zh-CN" sz="2400" b="1" dirty="0" err="1" smtClean="0">
                <a:solidFill>
                  <a:schemeClr val="bg1"/>
                </a:solidFill>
                <a:latin typeface="+mn-ea"/>
              </a:rPr>
              <a:t>S.E.Madnick</a:t>
            </a:r>
            <a:r>
              <a:rPr lang="zh-CN" altLang="en-US" sz="2400" b="1" dirty="0" smtClean="0">
                <a:solidFill>
                  <a:schemeClr val="bg1"/>
                </a:solidFill>
                <a:latin typeface="+mn-ea"/>
              </a:rPr>
              <a:t>，</a:t>
            </a:r>
            <a:r>
              <a:rPr lang="en-US" altLang="zh-CN" sz="2400" b="1" dirty="0" err="1" smtClean="0">
                <a:solidFill>
                  <a:schemeClr val="bg1"/>
                </a:solidFill>
                <a:latin typeface="+mn-ea"/>
              </a:rPr>
              <a:t>J.T.Donovan</a:t>
            </a:r>
            <a:r>
              <a:rPr lang="zh-CN" altLang="en-US" sz="2400" b="1" dirty="0" smtClean="0">
                <a:solidFill>
                  <a:schemeClr val="bg1"/>
                </a:solidFill>
                <a:latin typeface="+mn-ea"/>
              </a:rPr>
              <a:t>）；</a:t>
            </a:r>
          </a:p>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进程是一个</a:t>
            </a:r>
            <a:r>
              <a:rPr lang="zh-CN" altLang="en-US" sz="2400" b="1" dirty="0" smtClean="0">
                <a:solidFill>
                  <a:srgbClr val="FFFF00"/>
                </a:solidFill>
                <a:latin typeface="+mn-ea"/>
              </a:rPr>
              <a:t>独立的可以调度的活动</a:t>
            </a:r>
            <a:r>
              <a:rPr lang="zh-CN" altLang="en-US" sz="2400" b="1" dirty="0" smtClean="0">
                <a:solidFill>
                  <a:schemeClr val="bg1"/>
                </a:solidFill>
                <a:latin typeface="+mn-ea"/>
              </a:rPr>
              <a:t>（</a:t>
            </a:r>
            <a:r>
              <a:rPr lang="en-US" altLang="zh-CN" sz="2400" b="1" dirty="0" err="1" smtClean="0">
                <a:solidFill>
                  <a:schemeClr val="bg1"/>
                </a:solidFill>
                <a:latin typeface="+mn-ea"/>
              </a:rPr>
              <a:t>E.Cohen</a:t>
            </a:r>
            <a:r>
              <a:rPr lang="zh-CN" altLang="en-US" sz="2400" b="1" dirty="0" smtClean="0">
                <a:solidFill>
                  <a:schemeClr val="bg1"/>
                </a:solidFill>
                <a:latin typeface="+mn-ea"/>
              </a:rPr>
              <a:t>，</a:t>
            </a:r>
            <a:r>
              <a:rPr lang="en-US" altLang="zh-CN" sz="2400" b="1" dirty="0" err="1" smtClean="0">
                <a:solidFill>
                  <a:schemeClr val="bg1"/>
                </a:solidFill>
                <a:latin typeface="+mn-ea"/>
              </a:rPr>
              <a:t>D.Jofferson</a:t>
            </a:r>
            <a:r>
              <a:rPr lang="zh-CN" altLang="en-US" sz="2400" b="1" dirty="0" smtClean="0">
                <a:solidFill>
                  <a:schemeClr val="bg1"/>
                </a:solidFill>
                <a:latin typeface="+mn-ea"/>
              </a:rPr>
              <a:t>）；</a:t>
            </a:r>
          </a:p>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进程是一抽象实体，当它执行某个任务时，将要</a:t>
            </a:r>
            <a:r>
              <a:rPr lang="zh-CN" altLang="en-US" sz="2400" b="1" dirty="0" smtClean="0">
                <a:solidFill>
                  <a:srgbClr val="FFFF00"/>
                </a:solidFill>
                <a:latin typeface="+mn-ea"/>
              </a:rPr>
              <a:t>分配和释放各种资源</a:t>
            </a:r>
            <a:r>
              <a:rPr lang="zh-CN" altLang="en-US" sz="2400" b="1" dirty="0" smtClean="0">
                <a:solidFill>
                  <a:schemeClr val="bg1"/>
                </a:solidFill>
                <a:latin typeface="+mn-ea"/>
              </a:rPr>
              <a:t>（</a:t>
            </a:r>
            <a:r>
              <a:rPr lang="en-US" altLang="zh-CN" sz="2400" b="1" dirty="0" err="1" smtClean="0">
                <a:solidFill>
                  <a:schemeClr val="bg1"/>
                </a:solidFill>
                <a:latin typeface="+mn-ea"/>
              </a:rPr>
              <a:t>P.Denning</a:t>
            </a:r>
            <a:r>
              <a:rPr lang="zh-CN" altLang="en-US" sz="2400" b="1" dirty="0" smtClean="0">
                <a:solidFill>
                  <a:schemeClr val="bg1"/>
                </a:solidFill>
                <a:latin typeface="+mn-ea"/>
              </a:rPr>
              <a:t>）；</a:t>
            </a:r>
          </a:p>
          <a:p>
            <a:pPr marL="0" lvl="1" indent="-285750" algn="just">
              <a:lnSpc>
                <a:spcPct val="13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a:t>
            </a:r>
            <a:endParaRPr lang="zh-CN" altLang="en-US" sz="2400" b="1" dirty="0">
              <a:solidFill>
                <a:schemeClr val="bg1"/>
              </a:solidFill>
              <a:latin typeface="+mn-ea"/>
            </a:endParaRPr>
          </a:p>
        </p:txBody>
      </p:sp>
      <p:sp>
        <p:nvSpPr>
          <p:cNvPr id="3" name="云形 2"/>
          <p:cNvSpPr/>
          <p:nvPr/>
        </p:nvSpPr>
        <p:spPr>
          <a:xfrm>
            <a:off x="3347864" y="103063"/>
            <a:ext cx="3888432" cy="1178405"/>
          </a:xfrm>
          <a:prstGeom prst="cloud">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bg1"/>
                </a:solidFill>
                <a:latin typeface="+mn-ea"/>
              </a:rPr>
              <a:t>进程是一个动态的执行过程</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进程的定义</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74404"/>
            <a:ext cx="6840760" cy="166776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也</a:t>
            </a:r>
            <a:r>
              <a:rPr lang="zh-CN" altLang="en-US" sz="2400" b="1" dirty="0">
                <a:solidFill>
                  <a:schemeClr val="bg1"/>
                </a:solidFill>
                <a:latin typeface="+mn-ea"/>
              </a:rPr>
              <a:t>可以这样定义进程：一个具有</a:t>
            </a:r>
            <a:r>
              <a:rPr lang="zh-CN" altLang="en-US" sz="2400" b="1" dirty="0">
                <a:solidFill>
                  <a:srgbClr val="FFFF00"/>
                </a:solidFill>
                <a:latin typeface="+mn-ea"/>
              </a:rPr>
              <a:t>独立功能的</a:t>
            </a:r>
            <a:r>
              <a:rPr lang="zh-CN" altLang="en-US" sz="2400" b="1" u="sng" dirty="0">
                <a:solidFill>
                  <a:srgbClr val="FFFF00"/>
                </a:solidFill>
                <a:latin typeface="+mn-ea"/>
              </a:rPr>
              <a:t>程序</a:t>
            </a:r>
            <a:r>
              <a:rPr lang="zh-CN" altLang="en-US" sz="2400" b="1" dirty="0">
                <a:solidFill>
                  <a:schemeClr val="bg1"/>
                </a:solidFill>
                <a:latin typeface="+mn-ea"/>
              </a:rPr>
              <a:t>对某个</a:t>
            </a:r>
            <a:r>
              <a:rPr lang="zh-CN" altLang="en-US" sz="2400" b="1" u="sng" dirty="0">
                <a:solidFill>
                  <a:srgbClr val="FFFF00"/>
                </a:solidFill>
                <a:latin typeface="+mn-ea"/>
              </a:rPr>
              <a:t>数据集</a:t>
            </a:r>
            <a:r>
              <a:rPr lang="zh-CN" altLang="en-US" sz="2400" b="1" dirty="0">
                <a:solidFill>
                  <a:schemeClr val="bg1"/>
                </a:solidFill>
                <a:latin typeface="+mn-ea"/>
              </a:rPr>
              <a:t>在处理机上的</a:t>
            </a:r>
            <a:r>
              <a:rPr lang="zh-CN" altLang="en-US" sz="2400" b="1" dirty="0">
                <a:solidFill>
                  <a:srgbClr val="FFFF00"/>
                </a:solidFill>
                <a:latin typeface="+mn-ea"/>
              </a:rPr>
              <a:t>执行过程</a:t>
            </a:r>
            <a:r>
              <a:rPr lang="zh-CN" altLang="en-US" sz="2400" b="1" dirty="0">
                <a:solidFill>
                  <a:schemeClr val="bg1"/>
                </a:solidFill>
                <a:latin typeface="+mn-ea"/>
              </a:rPr>
              <a:t>和</a:t>
            </a:r>
            <a:r>
              <a:rPr lang="zh-CN" altLang="en-US" sz="2400" b="1" dirty="0">
                <a:solidFill>
                  <a:srgbClr val="FFFF00"/>
                </a:solidFill>
                <a:latin typeface="+mn-ea"/>
              </a:rPr>
              <a:t>分配资源的基本单位</a:t>
            </a:r>
            <a:r>
              <a:rPr lang="zh-CN" altLang="en-US" sz="2400" b="1" dirty="0">
                <a:solidFill>
                  <a:schemeClr val="bg1"/>
                </a:solidFill>
                <a:latin typeface="+mn-ea"/>
              </a:rPr>
              <a:t>。</a:t>
            </a:r>
          </a:p>
        </p:txBody>
      </p:sp>
      <p:sp>
        <p:nvSpPr>
          <p:cNvPr id="3" name="线形标注 2 2"/>
          <p:cNvSpPr/>
          <p:nvPr/>
        </p:nvSpPr>
        <p:spPr>
          <a:xfrm>
            <a:off x="1475656" y="3651870"/>
            <a:ext cx="2592288" cy="720080"/>
          </a:xfrm>
          <a:prstGeom prst="borderCallout2">
            <a:avLst>
              <a:gd name="adj1" fmla="val 18750"/>
              <a:gd name="adj2" fmla="val -1189"/>
              <a:gd name="adj3" fmla="val 18750"/>
              <a:gd name="adj4" fmla="val -14435"/>
              <a:gd name="adj5" fmla="val -180719"/>
              <a:gd name="adj6" fmla="val -17249"/>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400" b="1" dirty="0"/>
              <a:t>指一组操作序列</a:t>
            </a:r>
          </a:p>
        </p:txBody>
      </p:sp>
      <p:sp>
        <p:nvSpPr>
          <p:cNvPr id="29" name="线形标注 2 28"/>
          <p:cNvSpPr/>
          <p:nvPr/>
        </p:nvSpPr>
        <p:spPr>
          <a:xfrm>
            <a:off x="4355976" y="2786698"/>
            <a:ext cx="3240360" cy="720080"/>
          </a:xfrm>
          <a:prstGeom prst="borderCallout2">
            <a:avLst>
              <a:gd name="adj1" fmla="val 18750"/>
              <a:gd name="adj2" fmla="val -8333"/>
              <a:gd name="adj3" fmla="val 18750"/>
              <a:gd name="adj4" fmla="val -16667"/>
              <a:gd name="adj5" fmla="val -64985"/>
              <a:gd name="adj6" fmla="val -59221"/>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2400" b="1" dirty="0"/>
              <a:t>接受程序规定操作的一组存储单元的内容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进程和程序的区别</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4" name="组合 33"/>
          <p:cNvGrpSpPr/>
          <p:nvPr/>
        </p:nvGrpSpPr>
        <p:grpSpPr>
          <a:xfrm>
            <a:off x="179512" y="973617"/>
            <a:ext cx="2061727" cy="3701946"/>
            <a:chOff x="974280" y="926790"/>
            <a:chExt cx="1611636" cy="3701946"/>
          </a:xfrm>
        </p:grpSpPr>
        <p:sp>
          <p:nvSpPr>
            <p:cNvPr id="10" name="任意多边形 9"/>
            <p:cNvSpPr/>
            <p:nvPr/>
          </p:nvSpPr>
          <p:spPr>
            <a:xfrm>
              <a:off x="974280"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US" altLang="zh-CN" sz="2400" b="1" kern="1200"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1</a:t>
              </a:r>
              <a:endParaRPr lang="zh-CN" altLang="en-US" sz="2400" b="1" kern="1200"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1" name="任意多边形 10"/>
            <p:cNvSpPr/>
            <p:nvPr/>
          </p:nvSpPr>
          <p:spPr>
            <a:xfrm>
              <a:off x="974280" y="1458262"/>
              <a:ext cx="1611636" cy="3170474"/>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algn="l" defTabSz="622300">
                <a:lnSpc>
                  <a:spcPct val="90000"/>
                </a:lnSpc>
                <a:spcBef>
                  <a:spcPct val="0"/>
                </a:spcBef>
                <a:spcAft>
                  <a:spcPct val="15000"/>
                </a:spcAft>
                <a:buClr>
                  <a:srgbClr val="002060"/>
                </a:buClr>
                <a:buFont typeface="Wingdings" panose="05000000000000000000" pitchFamily="2" charset="2"/>
                <a:buChar char="Ø"/>
              </a:pPr>
              <a:r>
                <a:rPr lang="zh-CN" altLang="en-US" sz="2000" b="1" kern="1200" dirty="0" smtClean="0">
                  <a:solidFill>
                    <a:srgbClr val="FF0000"/>
                  </a:solidFill>
                </a:rPr>
                <a:t>进程</a:t>
              </a:r>
              <a:r>
                <a:rPr lang="zh-CN" altLang="en-US" sz="2000" b="1" kern="1200" dirty="0" smtClean="0"/>
                <a:t>是一个</a:t>
              </a:r>
              <a:r>
                <a:rPr lang="zh-CN" altLang="en-US" sz="2000" b="1" kern="1200" dirty="0" smtClean="0">
                  <a:solidFill>
                    <a:srgbClr val="FF0000"/>
                  </a:solidFill>
                </a:rPr>
                <a:t>动态</a:t>
              </a:r>
              <a:r>
                <a:rPr lang="zh-CN" altLang="en-US" sz="2000" b="1" kern="1200" dirty="0" smtClean="0"/>
                <a:t>概念，</a:t>
              </a:r>
              <a:r>
                <a:rPr lang="zh-CN" altLang="en-US" sz="2000" b="1" kern="1200" dirty="0" smtClean="0">
                  <a:solidFill>
                    <a:srgbClr val="006600"/>
                  </a:solidFill>
                </a:rPr>
                <a:t>程序</a:t>
              </a:r>
              <a:r>
                <a:rPr lang="zh-CN" altLang="en-US" sz="2000" b="1" kern="1200" dirty="0" smtClean="0"/>
                <a:t>则是一个</a:t>
              </a:r>
              <a:r>
                <a:rPr lang="zh-CN" altLang="en-US" sz="2000" b="1" kern="1200" dirty="0" smtClean="0">
                  <a:solidFill>
                    <a:srgbClr val="006600"/>
                  </a:solidFill>
                </a:rPr>
                <a:t>静态</a:t>
              </a:r>
              <a:r>
                <a:rPr lang="zh-CN" altLang="en-US" sz="2000" b="1" kern="1200" dirty="0" smtClean="0"/>
                <a:t>概念</a:t>
              </a:r>
              <a:endParaRPr lang="zh-CN" altLang="en-US" sz="2000" b="1" kern="1200" dirty="0"/>
            </a:p>
            <a:p>
              <a:pPr marL="0" lvl="1" algn="l" defTabSz="622300">
                <a:lnSpc>
                  <a:spcPct val="90000"/>
                </a:lnSpc>
                <a:spcBef>
                  <a:spcPct val="0"/>
                </a:spcBef>
                <a:spcAft>
                  <a:spcPct val="15000"/>
                </a:spcAft>
                <a:buClr>
                  <a:srgbClr val="002060"/>
                </a:buClr>
                <a:buFont typeface="Wingdings" panose="05000000000000000000" pitchFamily="2" charset="2"/>
                <a:buChar char="Ø"/>
              </a:pPr>
              <a:r>
                <a:rPr lang="zh-CN" altLang="en-US" sz="2000" b="1" kern="1200" dirty="0" smtClean="0"/>
                <a:t>程序是指令的有序集合，没有任何执行的含义。而进程则强调执行过程，它动态地被创建，并被调度执行后消亡</a:t>
              </a:r>
              <a:endParaRPr lang="zh-CN" altLang="en-US" sz="2000" b="1" kern="1200" dirty="0"/>
            </a:p>
          </p:txBody>
        </p:sp>
      </p:grpSp>
      <p:grpSp>
        <p:nvGrpSpPr>
          <p:cNvPr id="35" name="组合 34"/>
          <p:cNvGrpSpPr/>
          <p:nvPr/>
        </p:nvGrpSpPr>
        <p:grpSpPr>
          <a:xfrm>
            <a:off x="2412543" y="962043"/>
            <a:ext cx="2735521" cy="3701946"/>
            <a:chOff x="2811545" y="926790"/>
            <a:chExt cx="1611636" cy="3701946"/>
          </a:xfrm>
        </p:grpSpPr>
        <p:sp>
          <p:nvSpPr>
            <p:cNvPr id="12" name="任意多边形 11"/>
            <p:cNvSpPr/>
            <p:nvPr/>
          </p:nvSpPr>
          <p:spPr>
            <a:xfrm>
              <a:off x="2811545"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3311292"/>
                <a:satOff val="13270"/>
                <a:lumOff val="2876"/>
                <a:alphaOff val="0"/>
              </a:schemeClr>
            </a:lnRef>
            <a:fillRef idx="1">
              <a:schemeClr val="accent5">
                <a:hueOff val="-3311292"/>
                <a:satOff val="13270"/>
                <a:lumOff val="2876"/>
                <a:alphaOff val="0"/>
              </a:schemeClr>
            </a:fillRef>
            <a:effectRef idx="0">
              <a:schemeClr val="accent5">
                <a:hueOff val="-3311292"/>
                <a:satOff val="13270"/>
                <a:lumOff val="2876"/>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US" altLang="zh-CN" sz="2400" b="1" kern="1200"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2</a:t>
              </a:r>
              <a:endParaRPr lang="zh-CN" altLang="en-US" sz="2400" b="1" kern="1200"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3" name="任意多边形 12"/>
            <p:cNvSpPr/>
            <p:nvPr/>
          </p:nvSpPr>
          <p:spPr>
            <a:xfrm>
              <a:off x="2811545" y="1458262"/>
              <a:ext cx="1611636" cy="3170474"/>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3580161"/>
                <a:satOff val="16084"/>
                <a:lumOff val="1106"/>
                <a:alphaOff val="0"/>
              </a:schemeClr>
            </a:lnRef>
            <a:fillRef idx="1">
              <a:schemeClr val="accent5">
                <a:tint val="40000"/>
                <a:alpha val="90000"/>
                <a:hueOff val="-3580161"/>
                <a:satOff val="16084"/>
                <a:lumOff val="1106"/>
                <a:alphaOff val="0"/>
              </a:schemeClr>
            </a:fillRef>
            <a:effectRef idx="0">
              <a:schemeClr val="accent5">
                <a:tint val="40000"/>
                <a:alpha val="90000"/>
                <a:hueOff val="-3580161"/>
                <a:satOff val="16084"/>
                <a:lumOff val="1106"/>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algn="just"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进程具有</a:t>
              </a:r>
              <a:r>
                <a:rPr lang="zh-CN" altLang="en-US" sz="2000" b="1" dirty="0" smtClean="0"/>
                <a:t>并发特征</a:t>
              </a:r>
              <a:r>
                <a:rPr lang="zh-CN" altLang="en-US" sz="2000" b="1" dirty="0"/>
                <a:t>，程序</a:t>
              </a:r>
              <a:r>
                <a:rPr lang="zh-CN" altLang="en-US" sz="2000" b="1" dirty="0" smtClean="0"/>
                <a:t>没有。</a:t>
              </a:r>
              <a:endParaRPr lang="zh-CN" altLang="en-US" sz="2000" b="1" dirty="0"/>
            </a:p>
            <a:p>
              <a:pPr marL="0" lvl="1" algn="just"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进程具有</a:t>
              </a:r>
              <a:r>
                <a:rPr lang="zh-CN" altLang="en-US" sz="2000" b="1" dirty="0" smtClean="0"/>
                <a:t>并发特征</a:t>
              </a:r>
              <a:r>
                <a:rPr lang="zh-CN" altLang="en-US" sz="2000" b="1" dirty="0"/>
                <a:t>的两个方面，即</a:t>
              </a:r>
              <a:r>
                <a:rPr lang="zh-CN" altLang="en-US" sz="2000" b="1" dirty="0">
                  <a:solidFill>
                    <a:srgbClr val="FF0000"/>
                  </a:solidFill>
                </a:rPr>
                <a:t>独立性</a:t>
              </a:r>
              <a:r>
                <a:rPr lang="zh-CN" altLang="en-US" sz="2000" b="1" dirty="0"/>
                <a:t>和</a:t>
              </a:r>
              <a:r>
                <a:rPr lang="zh-CN" altLang="en-US" sz="2000" b="1" dirty="0">
                  <a:solidFill>
                    <a:srgbClr val="FF0000"/>
                  </a:solidFill>
                </a:rPr>
                <a:t>异步性</a:t>
              </a:r>
              <a:r>
                <a:rPr lang="zh-CN" altLang="en-US" sz="2000" b="1" dirty="0"/>
                <a:t>。也就是说，在不考虑资源共享的情况下，各进程的执行是独立的，执行速度是异步的。显然，由于程序不反映执行过程，所以不具有</a:t>
              </a:r>
              <a:r>
                <a:rPr lang="zh-CN" altLang="en-US" sz="2000" b="1" dirty="0" smtClean="0"/>
                <a:t>并发特征</a:t>
              </a:r>
              <a:r>
                <a:rPr lang="zh-CN" altLang="en-US" sz="2000" b="1" dirty="0"/>
                <a:t>。</a:t>
              </a:r>
            </a:p>
          </p:txBody>
        </p:sp>
      </p:grpSp>
      <p:grpSp>
        <p:nvGrpSpPr>
          <p:cNvPr id="37" name="组合 36"/>
          <p:cNvGrpSpPr/>
          <p:nvPr/>
        </p:nvGrpSpPr>
        <p:grpSpPr>
          <a:xfrm>
            <a:off x="5348641" y="963387"/>
            <a:ext cx="1743639" cy="3701946"/>
            <a:chOff x="4648810" y="926790"/>
            <a:chExt cx="1611636" cy="3701946"/>
          </a:xfrm>
        </p:grpSpPr>
        <p:sp>
          <p:nvSpPr>
            <p:cNvPr id="30" name="任意多边形 29"/>
            <p:cNvSpPr/>
            <p:nvPr/>
          </p:nvSpPr>
          <p:spPr>
            <a:xfrm>
              <a:off x="4648810"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6622584"/>
                <a:satOff val="26541"/>
                <a:lumOff val="5752"/>
                <a:alphaOff val="0"/>
              </a:schemeClr>
            </a:lnRef>
            <a:fillRef idx="1">
              <a:schemeClr val="accent5">
                <a:hueOff val="-6622584"/>
                <a:satOff val="26541"/>
                <a:lumOff val="5752"/>
                <a:alphaOff val="0"/>
              </a:schemeClr>
            </a:fillRef>
            <a:effectRef idx="0">
              <a:schemeClr val="accent5">
                <a:hueOff val="-6622584"/>
                <a:satOff val="26541"/>
                <a:lumOff val="5752"/>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US" altLang="zh-CN" sz="2400" b="1" kern="1200"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3</a:t>
              </a:r>
              <a:endParaRPr lang="zh-CN" altLang="en-US" sz="2400" b="1" kern="1200"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1" name="任意多边形 30"/>
            <p:cNvSpPr/>
            <p:nvPr/>
          </p:nvSpPr>
          <p:spPr>
            <a:xfrm>
              <a:off x="4648810" y="1458262"/>
              <a:ext cx="1611636" cy="3170474"/>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7160321"/>
                <a:satOff val="32169"/>
                <a:lumOff val="2211"/>
                <a:alphaOff val="0"/>
              </a:schemeClr>
            </a:lnRef>
            <a:fillRef idx="1">
              <a:schemeClr val="accent5">
                <a:tint val="40000"/>
                <a:alpha val="90000"/>
                <a:hueOff val="-7160321"/>
                <a:satOff val="32169"/>
                <a:lumOff val="2211"/>
                <a:alphaOff val="0"/>
              </a:schemeClr>
            </a:fillRef>
            <a:effectRef idx="0">
              <a:schemeClr val="accent5">
                <a:tint val="40000"/>
                <a:alpha val="90000"/>
                <a:hueOff val="-7160321"/>
                <a:satOff val="32169"/>
                <a:lumOff val="2211"/>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进程是竞争计算机系统资源的基本单位，从而其</a:t>
              </a:r>
              <a:r>
                <a:rPr lang="zh-CN" altLang="en-US" sz="2000" b="1" dirty="0" smtClean="0"/>
                <a:t>并发性</a:t>
              </a:r>
              <a:r>
                <a:rPr lang="zh-CN" altLang="en-US" sz="2000" b="1" dirty="0"/>
                <a:t>受到系统自己的制约。</a:t>
              </a:r>
            </a:p>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制约就是对进程独立性和异步性的限制</a:t>
              </a:r>
            </a:p>
          </p:txBody>
        </p:sp>
      </p:grpSp>
      <p:grpSp>
        <p:nvGrpSpPr>
          <p:cNvPr id="36" name="组合 35"/>
          <p:cNvGrpSpPr/>
          <p:nvPr/>
        </p:nvGrpSpPr>
        <p:grpSpPr>
          <a:xfrm>
            <a:off x="7280844" y="926790"/>
            <a:ext cx="1611636" cy="3737198"/>
            <a:chOff x="6486075" y="926790"/>
            <a:chExt cx="1611636" cy="3737198"/>
          </a:xfrm>
        </p:grpSpPr>
        <p:sp>
          <p:nvSpPr>
            <p:cNvPr id="32" name="任意多边形 31"/>
            <p:cNvSpPr/>
            <p:nvPr/>
          </p:nvSpPr>
          <p:spPr>
            <a:xfrm>
              <a:off x="6486075"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9933876"/>
                <a:satOff val="39811"/>
                <a:lumOff val="8628"/>
                <a:alphaOff val="0"/>
              </a:schemeClr>
            </a:lnRef>
            <a:fillRef idx="1">
              <a:schemeClr val="accent5">
                <a:hueOff val="-9933876"/>
                <a:satOff val="39811"/>
                <a:lumOff val="8628"/>
                <a:alphaOff val="0"/>
              </a:schemeClr>
            </a:fillRef>
            <a:effectRef idx="0">
              <a:schemeClr val="accent5">
                <a:hueOff val="-9933876"/>
                <a:satOff val="39811"/>
                <a:lumOff val="8628"/>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US" altLang="zh-CN" sz="2400" b="1" kern="1200"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4</a:t>
              </a:r>
              <a:endParaRPr lang="zh-CN" altLang="en-US" sz="2400" b="1" kern="1200"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3" name="任意多边形 32"/>
            <p:cNvSpPr/>
            <p:nvPr/>
          </p:nvSpPr>
          <p:spPr>
            <a:xfrm>
              <a:off x="6486075" y="1458261"/>
              <a:ext cx="1611636" cy="3205727"/>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10740482"/>
                <a:satOff val="48253"/>
                <a:lumOff val="3317"/>
                <a:alphaOff val="0"/>
              </a:schemeClr>
            </a:lnRef>
            <a:fillRef idx="1">
              <a:schemeClr val="accent5">
                <a:tint val="40000"/>
                <a:alpha val="90000"/>
                <a:hueOff val="-10740482"/>
                <a:satOff val="48253"/>
                <a:lumOff val="3317"/>
                <a:alphaOff val="0"/>
              </a:schemeClr>
            </a:fillRef>
            <a:effectRef idx="0">
              <a:schemeClr val="accent5">
                <a:tint val="40000"/>
                <a:alpha val="90000"/>
                <a:hueOff val="-10740482"/>
                <a:satOff val="48253"/>
                <a:lumOff val="3317"/>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不同的进程可以包含同一程序，只要该程序所对应的数据集不同</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up)">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up)">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进程从</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启动开始到关机结束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251520" y="984232"/>
            <a:ext cx="8771997" cy="3931263"/>
          </a:xfrm>
          <a:prstGeom prst="rect">
            <a:avLst/>
          </a:prstGeom>
        </p:spPr>
      </p:pic>
      <p:pic>
        <p:nvPicPr>
          <p:cNvPr id="4" name="图片 3"/>
          <p:cNvPicPr>
            <a:picLocks noChangeAspect="1"/>
          </p:cNvPicPr>
          <p:nvPr/>
        </p:nvPicPr>
        <p:blipFill>
          <a:blip r:embed="rId4"/>
          <a:stretch>
            <a:fillRect/>
          </a:stretch>
        </p:blipFill>
        <p:spPr>
          <a:xfrm>
            <a:off x="1958894" y="600838"/>
            <a:ext cx="5227390" cy="46326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进程如何组织</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611560" y="600838"/>
            <a:ext cx="7986452" cy="44657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多进程的组织：</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PCB+</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状态</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队列</a:t>
            </a:r>
          </a:p>
        </p:txBody>
      </p:sp>
      <p:pic>
        <p:nvPicPr>
          <p:cNvPr id="3" name="图片 2"/>
          <p:cNvPicPr>
            <a:picLocks noChangeAspect="1"/>
          </p:cNvPicPr>
          <p:nvPr/>
        </p:nvPicPr>
        <p:blipFill>
          <a:blip r:embed="rId3"/>
          <a:stretch>
            <a:fillRect/>
          </a:stretch>
        </p:blipFill>
        <p:spPr>
          <a:xfrm>
            <a:off x="971600" y="893741"/>
            <a:ext cx="6614733" cy="39093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进程的静态描述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4" name="组合 33"/>
          <p:cNvGrpSpPr/>
          <p:nvPr/>
        </p:nvGrpSpPr>
        <p:grpSpPr>
          <a:xfrm>
            <a:off x="471730" y="844107"/>
            <a:ext cx="4189513" cy="3701946"/>
            <a:chOff x="974280" y="926790"/>
            <a:chExt cx="1611636" cy="3701946"/>
          </a:xfrm>
        </p:grpSpPr>
        <p:sp>
          <p:nvSpPr>
            <p:cNvPr id="10" name="任意多边形 9"/>
            <p:cNvSpPr/>
            <p:nvPr/>
          </p:nvSpPr>
          <p:spPr>
            <a:xfrm>
              <a:off x="974280"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800">
                <a:lnSpc>
                  <a:spcPct val="90000"/>
                </a:lnSpc>
                <a:spcBef>
                  <a:spcPct val="0"/>
                </a:spcBef>
                <a:spcAft>
                  <a:spcPct val="35000"/>
                </a:spcAft>
              </a:pPr>
              <a:r>
                <a:rPr lang="zh-CN" altLang="en-US" sz="2400" b="1" dirty="0">
                  <a:ln w="22225">
                    <a:solidFill>
                      <a:schemeClr val="accent2"/>
                    </a:solidFill>
                    <a:prstDash val="solid"/>
                  </a:ln>
                  <a:solidFill>
                    <a:schemeClr val="accent2">
                      <a:lumMod val="40000"/>
                      <a:lumOff val="60000"/>
                    </a:schemeClr>
                  </a:solidFill>
                </a:rPr>
                <a:t>进程控制块</a:t>
              </a:r>
              <a:r>
                <a:rPr lang="en-US" altLang="zh-CN" sz="2400" b="1" dirty="0">
                  <a:ln w="22225">
                    <a:solidFill>
                      <a:schemeClr val="accent2"/>
                    </a:solidFill>
                    <a:prstDash val="solid"/>
                  </a:ln>
                  <a:solidFill>
                    <a:schemeClr val="accent2">
                      <a:lumMod val="40000"/>
                      <a:lumOff val="60000"/>
                    </a:schemeClr>
                  </a:solidFill>
                </a:rPr>
                <a:t>PCB</a:t>
              </a:r>
              <a:endParaRPr lang="zh-CN" altLang="en-US" sz="2400" b="1" dirty="0">
                <a:ln w="22225">
                  <a:solidFill>
                    <a:schemeClr val="accent2"/>
                  </a:solidFill>
                  <a:prstDash val="solid"/>
                </a:ln>
                <a:solidFill>
                  <a:schemeClr val="accent2">
                    <a:lumMod val="40000"/>
                    <a:lumOff val="60000"/>
                  </a:schemeClr>
                </a:solidFill>
              </a:endParaRPr>
            </a:p>
          </p:txBody>
        </p:sp>
        <p:sp>
          <p:nvSpPr>
            <p:cNvPr id="11" name="任意多边形 10"/>
            <p:cNvSpPr/>
            <p:nvPr/>
          </p:nvSpPr>
          <p:spPr>
            <a:xfrm>
              <a:off x="974280" y="1458262"/>
              <a:ext cx="1611636" cy="3170474"/>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包含了有关进程的</a:t>
              </a:r>
              <a:r>
                <a:rPr lang="zh-CN" altLang="en-US" sz="2000" b="1" dirty="0">
                  <a:solidFill>
                    <a:srgbClr val="FF0000"/>
                  </a:solidFill>
                </a:rPr>
                <a:t>描述信息</a:t>
              </a:r>
              <a:r>
                <a:rPr lang="zh-CN" altLang="en-US" sz="2000" b="1" dirty="0"/>
                <a:t>、</a:t>
              </a:r>
              <a:r>
                <a:rPr lang="zh-CN" altLang="en-US" sz="2000" b="1" dirty="0">
                  <a:solidFill>
                    <a:srgbClr val="FF0000"/>
                  </a:solidFill>
                </a:rPr>
                <a:t>控制信息</a:t>
              </a:r>
              <a:r>
                <a:rPr lang="zh-CN" altLang="en-US" sz="2000" b="1" dirty="0"/>
                <a:t>以及</a:t>
              </a:r>
              <a:r>
                <a:rPr lang="zh-CN" altLang="en-US" sz="2000" b="1" dirty="0">
                  <a:solidFill>
                    <a:srgbClr val="FF0000"/>
                  </a:solidFill>
                </a:rPr>
                <a:t>资源信息</a:t>
              </a:r>
              <a:r>
                <a:rPr lang="zh-CN" altLang="en-US" sz="2000" b="1" dirty="0"/>
                <a:t>，是进程</a:t>
              </a:r>
              <a:r>
                <a:rPr lang="zh-CN" altLang="en-US" sz="2000" b="1" dirty="0">
                  <a:solidFill>
                    <a:srgbClr val="FF0000"/>
                  </a:solidFill>
                </a:rPr>
                <a:t>动态特征</a:t>
              </a:r>
              <a:r>
                <a:rPr lang="zh-CN" altLang="en-US" sz="2000" b="1" dirty="0"/>
                <a:t>的集中反映</a:t>
              </a:r>
              <a:r>
                <a:rPr lang="zh-CN" altLang="en-US" sz="2000" b="1" dirty="0" smtClean="0"/>
                <a:t>。</a:t>
              </a:r>
              <a:endParaRPr lang="en-US" altLang="zh-CN" sz="2000" b="1" dirty="0" smtClean="0"/>
            </a:p>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smtClean="0"/>
                <a:t>系统</a:t>
              </a:r>
              <a:r>
                <a:rPr lang="zh-CN" altLang="en-US" sz="2000" b="1" dirty="0"/>
                <a:t>根据</a:t>
              </a:r>
              <a:r>
                <a:rPr lang="en-US" altLang="zh-CN" sz="2000" b="1" dirty="0"/>
                <a:t>PCB</a:t>
              </a:r>
              <a:r>
                <a:rPr lang="zh-CN" altLang="en-US" sz="2000" b="1" dirty="0"/>
                <a:t>感知进程的存在和通过</a:t>
              </a:r>
              <a:r>
                <a:rPr lang="en-US" altLang="zh-CN" sz="2000" b="1" dirty="0"/>
                <a:t>PCB</a:t>
              </a:r>
              <a:r>
                <a:rPr lang="zh-CN" altLang="en-US" sz="2000" b="1" dirty="0"/>
                <a:t>中所包含的各项变量的变化，掌握进程所处的状态以达到控制进程活动的目的</a:t>
              </a:r>
              <a:r>
                <a:rPr lang="zh-CN" altLang="en-US" sz="2000" b="1" dirty="0" smtClean="0"/>
                <a:t>。</a:t>
              </a:r>
              <a:endParaRPr lang="en-US" altLang="zh-CN" sz="2000" b="1" dirty="0" smtClean="0"/>
            </a:p>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smtClean="0"/>
                <a:t>由于</a:t>
              </a:r>
              <a:r>
                <a:rPr lang="zh-CN" altLang="en-US" sz="2000" b="1" dirty="0"/>
                <a:t>进程的</a:t>
              </a:r>
              <a:r>
                <a:rPr lang="en-US" altLang="zh-CN" sz="2000" b="1" dirty="0"/>
                <a:t>PCB </a:t>
              </a:r>
              <a:r>
                <a:rPr lang="zh-CN" altLang="en-US" sz="2000" b="1" dirty="0"/>
                <a:t>是系统感知进程的唯一实体，因此，在几乎所有的多道操作系统中，一个进程的</a:t>
              </a:r>
              <a:r>
                <a:rPr lang="en-US" altLang="zh-CN" sz="2000" b="1" dirty="0">
                  <a:solidFill>
                    <a:srgbClr val="FF0000"/>
                  </a:solidFill>
                </a:rPr>
                <a:t>PCB</a:t>
              </a:r>
              <a:r>
                <a:rPr lang="zh-CN" altLang="en-US" sz="2000" b="1" dirty="0">
                  <a:solidFill>
                    <a:srgbClr val="FF0000"/>
                  </a:solidFill>
                </a:rPr>
                <a:t>结构</a:t>
              </a:r>
              <a:r>
                <a:rPr lang="zh-CN" altLang="en-US" sz="2000" b="1" dirty="0"/>
                <a:t>都是</a:t>
              </a:r>
              <a:r>
                <a:rPr lang="zh-CN" altLang="en-US" sz="2000" b="1" dirty="0">
                  <a:solidFill>
                    <a:srgbClr val="FF0000"/>
                  </a:solidFill>
                </a:rPr>
                <a:t>全部或部分常驻内存</a:t>
              </a:r>
              <a:r>
                <a:rPr lang="zh-CN" altLang="en-US" sz="2000" b="1" dirty="0" smtClean="0">
                  <a:solidFill>
                    <a:srgbClr val="FF0000"/>
                  </a:solidFill>
                </a:rPr>
                <a:t>的</a:t>
              </a:r>
              <a:r>
                <a:rPr lang="zh-CN" altLang="en-US" sz="2000" b="1" dirty="0" smtClean="0"/>
                <a:t>。</a:t>
              </a:r>
              <a:endParaRPr lang="zh-CN" altLang="en-US" sz="2000" b="1" dirty="0"/>
            </a:p>
          </p:txBody>
        </p:sp>
      </p:grpSp>
      <p:grpSp>
        <p:nvGrpSpPr>
          <p:cNvPr id="35" name="组合 34"/>
          <p:cNvGrpSpPr/>
          <p:nvPr/>
        </p:nvGrpSpPr>
        <p:grpSpPr>
          <a:xfrm>
            <a:off x="5004048" y="1213294"/>
            <a:ext cx="2016224" cy="1358456"/>
            <a:chOff x="2811545" y="926790"/>
            <a:chExt cx="1611636" cy="1358456"/>
          </a:xfrm>
        </p:grpSpPr>
        <p:sp>
          <p:nvSpPr>
            <p:cNvPr id="12" name="任意多边形 11"/>
            <p:cNvSpPr/>
            <p:nvPr/>
          </p:nvSpPr>
          <p:spPr>
            <a:xfrm>
              <a:off x="2811545"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3311292"/>
                <a:satOff val="13270"/>
                <a:lumOff val="2876"/>
                <a:alphaOff val="0"/>
              </a:schemeClr>
            </a:lnRef>
            <a:fillRef idx="1">
              <a:schemeClr val="accent5">
                <a:hueOff val="-3311292"/>
                <a:satOff val="13270"/>
                <a:lumOff val="2876"/>
                <a:alphaOff val="0"/>
              </a:schemeClr>
            </a:fillRef>
            <a:effectRef idx="0">
              <a:schemeClr val="accent5">
                <a:hueOff val="-3311292"/>
                <a:satOff val="13270"/>
                <a:lumOff val="2876"/>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2400" b="1" dirty="0">
                  <a:ln w="22225">
                    <a:solidFill>
                      <a:schemeClr val="accent2"/>
                    </a:solidFill>
                    <a:prstDash val="solid"/>
                  </a:ln>
                  <a:solidFill>
                    <a:schemeClr val="accent2">
                      <a:lumMod val="40000"/>
                      <a:lumOff val="60000"/>
                    </a:schemeClr>
                  </a:solidFill>
                </a:rPr>
                <a:t>有关程序段</a:t>
              </a:r>
            </a:p>
          </p:txBody>
        </p:sp>
        <p:sp>
          <p:nvSpPr>
            <p:cNvPr id="13" name="任意多边形 12"/>
            <p:cNvSpPr/>
            <p:nvPr/>
          </p:nvSpPr>
          <p:spPr>
            <a:xfrm>
              <a:off x="2811545" y="1458262"/>
              <a:ext cx="1611636" cy="826984"/>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3580161"/>
                <a:satOff val="16084"/>
                <a:lumOff val="1106"/>
                <a:alphaOff val="0"/>
              </a:schemeClr>
            </a:lnRef>
            <a:fillRef idx="1">
              <a:schemeClr val="accent5">
                <a:tint val="40000"/>
                <a:alpha val="90000"/>
                <a:hueOff val="-3580161"/>
                <a:satOff val="16084"/>
                <a:lumOff val="1106"/>
                <a:alphaOff val="0"/>
              </a:schemeClr>
            </a:fillRef>
            <a:effectRef idx="0">
              <a:schemeClr val="accent5">
                <a:tint val="40000"/>
                <a:alpha val="90000"/>
                <a:hueOff val="-3580161"/>
                <a:satOff val="16084"/>
                <a:lumOff val="1106"/>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描述进程所要完成的功能</a:t>
              </a:r>
            </a:p>
          </p:txBody>
        </p:sp>
      </p:grpSp>
      <p:grpSp>
        <p:nvGrpSpPr>
          <p:cNvPr id="37" name="组合 36"/>
          <p:cNvGrpSpPr/>
          <p:nvPr/>
        </p:nvGrpSpPr>
        <p:grpSpPr>
          <a:xfrm>
            <a:off x="5004199" y="2845825"/>
            <a:ext cx="2016073" cy="1526125"/>
            <a:chOff x="4585992" y="926790"/>
            <a:chExt cx="1611636" cy="1526125"/>
          </a:xfrm>
        </p:grpSpPr>
        <p:sp>
          <p:nvSpPr>
            <p:cNvPr id="30" name="任意多边形 29"/>
            <p:cNvSpPr/>
            <p:nvPr/>
          </p:nvSpPr>
          <p:spPr>
            <a:xfrm>
              <a:off x="4585992"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6622584"/>
                <a:satOff val="26541"/>
                <a:lumOff val="5752"/>
                <a:alphaOff val="0"/>
              </a:schemeClr>
            </a:lnRef>
            <a:fillRef idx="1">
              <a:schemeClr val="accent5">
                <a:hueOff val="-6622584"/>
                <a:satOff val="26541"/>
                <a:lumOff val="5752"/>
                <a:alphaOff val="0"/>
              </a:schemeClr>
            </a:fillRef>
            <a:effectRef idx="0">
              <a:schemeClr val="accent5">
                <a:hueOff val="-6622584"/>
                <a:satOff val="26541"/>
                <a:lumOff val="5752"/>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800">
                <a:lnSpc>
                  <a:spcPct val="90000"/>
                </a:lnSpc>
                <a:spcBef>
                  <a:spcPct val="0"/>
                </a:spcBef>
                <a:spcAft>
                  <a:spcPct val="35000"/>
                </a:spcAft>
              </a:pPr>
              <a:r>
                <a:rPr lang="zh-CN" altLang="en-US" sz="2400" b="1" dirty="0">
                  <a:ln w="22225">
                    <a:solidFill>
                      <a:schemeClr val="accent2"/>
                    </a:solidFill>
                    <a:prstDash val="solid"/>
                  </a:ln>
                  <a:solidFill>
                    <a:schemeClr val="accent2">
                      <a:lumMod val="40000"/>
                      <a:lumOff val="60000"/>
                    </a:schemeClr>
                  </a:solidFill>
                </a:rPr>
                <a:t>数据结构集</a:t>
              </a:r>
            </a:p>
          </p:txBody>
        </p:sp>
        <p:sp>
          <p:nvSpPr>
            <p:cNvPr id="31" name="任意多边形 30"/>
            <p:cNvSpPr/>
            <p:nvPr/>
          </p:nvSpPr>
          <p:spPr>
            <a:xfrm>
              <a:off x="4585992" y="1458262"/>
              <a:ext cx="1611636" cy="994653"/>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7160321"/>
                <a:satOff val="32169"/>
                <a:lumOff val="2211"/>
                <a:alphaOff val="0"/>
              </a:schemeClr>
            </a:lnRef>
            <a:fillRef idx="1">
              <a:schemeClr val="accent5">
                <a:tint val="40000"/>
                <a:alpha val="90000"/>
                <a:hueOff val="-7160321"/>
                <a:satOff val="32169"/>
                <a:lumOff val="2211"/>
                <a:alphaOff val="0"/>
              </a:schemeClr>
            </a:fillRef>
            <a:effectRef idx="0">
              <a:schemeClr val="accent5">
                <a:tint val="40000"/>
                <a:alpha val="90000"/>
                <a:hueOff val="-7160321"/>
                <a:satOff val="32169"/>
                <a:lumOff val="2211"/>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程序在执行时必不可少的工作区和操作对象</a:t>
              </a:r>
            </a:p>
          </p:txBody>
        </p:sp>
      </p:grpSp>
      <p:sp>
        <p:nvSpPr>
          <p:cNvPr id="2" name="圆角矩形 1"/>
          <p:cNvSpPr/>
          <p:nvPr/>
        </p:nvSpPr>
        <p:spPr>
          <a:xfrm>
            <a:off x="4716016" y="1062443"/>
            <a:ext cx="2520280" cy="3483610"/>
          </a:xfrm>
          <a:prstGeom prst="round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线形标注 2 2"/>
          <p:cNvSpPr/>
          <p:nvPr/>
        </p:nvSpPr>
        <p:spPr>
          <a:xfrm>
            <a:off x="7524328" y="174247"/>
            <a:ext cx="1516354" cy="4795005"/>
          </a:xfrm>
          <a:prstGeom prst="borderCallout2">
            <a:avLst>
              <a:gd name="adj1" fmla="val 10306"/>
              <a:gd name="adj2" fmla="val -3387"/>
              <a:gd name="adj3" fmla="val 12417"/>
              <a:gd name="adj4" fmla="val -18522"/>
              <a:gd name="adj5" fmla="val 19113"/>
              <a:gd name="adj6" fmla="val -34850"/>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b="1" dirty="0"/>
              <a:t>进程完成所需功能的物质基础。由于进程的这两部分内容与控制进程的执行及完成进程功能直接有关，因而，在大部分多道操作系统中，这两部分内容放在外存中，直到该进程执行时再调入内存</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up)">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进程控制块</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描述信息</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043608" y="1563638"/>
            <a:ext cx="6624736" cy="230832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进程名或进程标识号</a:t>
            </a: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用户名</a:t>
            </a:r>
            <a:r>
              <a:rPr lang="zh-CN" altLang="en-US" sz="2400" b="1" dirty="0">
                <a:solidFill>
                  <a:schemeClr val="bg1"/>
                </a:solidFill>
                <a:latin typeface="+mn-ea"/>
              </a:rPr>
              <a:t>或用户标识号</a:t>
            </a: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家族关系（每个进程必有一个父进程，</a:t>
            </a:r>
            <a:r>
              <a:rPr lang="en-US" altLang="zh-CN" sz="2400" b="1" dirty="0" smtClean="0">
                <a:solidFill>
                  <a:schemeClr val="bg1"/>
                </a:solidFill>
                <a:latin typeface="+mn-ea"/>
              </a:rPr>
              <a:t>0</a:t>
            </a:r>
            <a:r>
              <a:rPr lang="zh-CN" altLang="en-US" sz="2400" b="1" dirty="0" smtClean="0">
                <a:solidFill>
                  <a:schemeClr val="bg1"/>
                </a:solidFill>
                <a:latin typeface="+mn-ea"/>
              </a:rPr>
              <a:t>或多个子进程）</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进程控制块</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控制信息</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29306"/>
            <a:ext cx="6408712" cy="166776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accent6">
                    <a:lumMod val="40000"/>
                    <a:lumOff val="60000"/>
                  </a:schemeClr>
                </a:solidFill>
                <a:latin typeface="+mn-ea"/>
              </a:rPr>
              <a:t>进程当前状态</a:t>
            </a:r>
          </a:p>
          <a:p>
            <a:pPr marL="0" lvl="1" algn="just">
              <a:lnSpc>
                <a:spcPct val="150000"/>
              </a:lnSpc>
              <a:buClr>
                <a:schemeClr val="accent4">
                  <a:lumMod val="60000"/>
                  <a:lumOff val="40000"/>
                </a:schemeClr>
              </a:buClr>
              <a:buFont typeface="Wingdings" panose="05000000000000000000" pitchFamily="2" charset="2"/>
              <a:buChar char="l"/>
            </a:pPr>
            <a:r>
              <a:rPr lang="zh-CN" altLang="en-US" sz="2400" b="1" dirty="0">
                <a:solidFill>
                  <a:schemeClr val="bg1"/>
                </a:solidFill>
                <a:latin typeface="+mn-ea"/>
              </a:rPr>
              <a:t>进程在活动期间可分为</a:t>
            </a:r>
            <a:r>
              <a:rPr lang="zh-CN" altLang="en-US" sz="2400" b="1" dirty="0">
                <a:solidFill>
                  <a:srgbClr val="FFFF00"/>
                </a:solidFill>
                <a:latin typeface="+mn-ea"/>
              </a:rPr>
              <a:t>初始态</a:t>
            </a:r>
            <a:r>
              <a:rPr lang="zh-CN" altLang="en-US" sz="2400" b="1" dirty="0">
                <a:solidFill>
                  <a:schemeClr val="bg1"/>
                </a:solidFill>
                <a:latin typeface="+mn-ea"/>
              </a:rPr>
              <a:t>、</a:t>
            </a:r>
            <a:r>
              <a:rPr lang="zh-CN" altLang="en-US" sz="2400" b="1" dirty="0">
                <a:solidFill>
                  <a:srgbClr val="FFFF00"/>
                </a:solidFill>
                <a:latin typeface="+mn-ea"/>
              </a:rPr>
              <a:t>就绪态</a:t>
            </a:r>
            <a:r>
              <a:rPr lang="zh-CN" altLang="en-US" sz="2400" b="1" dirty="0">
                <a:solidFill>
                  <a:schemeClr val="bg1"/>
                </a:solidFill>
                <a:latin typeface="+mn-ea"/>
              </a:rPr>
              <a:t>、</a:t>
            </a:r>
            <a:r>
              <a:rPr lang="zh-CN" altLang="en-US" sz="2400" b="1" dirty="0">
                <a:solidFill>
                  <a:srgbClr val="FFFF00"/>
                </a:solidFill>
                <a:latin typeface="+mn-ea"/>
              </a:rPr>
              <a:t>执行态</a:t>
            </a:r>
            <a:r>
              <a:rPr lang="zh-CN" altLang="en-US" sz="2400" b="1" dirty="0">
                <a:solidFill>
                  <a:schemeClr val="bg1"/>
                </a:solidFill>
                <a:latin typeface="+mn-ea"/>
              </a:rPr>
              <a:t>和</a:t>
            </a:r>
            <a:r>
              <a:rPr lang="zh-CN" altLang="en-US" sz="2400" b="1" dirty="0">
                <a:solidFill>
                  <a:srgbClr val="FFFF00"/>
                </a:solidFill>
                <a:latin typeface="+mn-ea"/>
              </a:rPr>
              <a:t>等待状态</a:t>
            </a:r>
            <a:r>
              <a:rPr lang="zh-CN" altLang="en-US" sz="2400" b="1" dirty="0">
                <a:solidFill>
                  <a:schemeClr val="bg1"/>
                </a:solidFill>
                <a:latin typeface="+mn-ea"/>
              </a:rPr>
              <a:t>、</a:t>
            </a:r>
            <a:r>
              <a:rPr lang="zh-CN" altLang="en-US" sz="2400" b="1" dirty="0">
                <a:solidFill>
                  <a:srgbClr val="FFFF00"/>
                </a:solidFill>
                <a:latin typeface="+mn-ea"/>
              </a:rPr>
              <a:t>终止状态</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29" name="图片 28"/>
          <p:cNvPicPr>
            <a:picLocks noChangeAspect="1"/>
          </p:cNvPicPr>
          <p:nvPr/>
        </p:nvPicPr>
        <p:blipFill rotWithShape="1">
          <a:blip r:embed="rId2"/>
          <a:srcRect t="13451" b="29449"/>
          <a:stretch>
            <a:fillRect/>
          </a:stretch>
        </p:blipFill>
        <p:spPr>
          <a:xfrm>
            <a:off x="1547664" y="3003798"/>
            <a:ext cx="5832648" cy="19683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进程控制块</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控制信息</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08856" y="1107671"/>
            <a:ext cx="7272808" cy="38164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accent6">
                    <a:lumMod val="40000"/>
                    <a:lumOff val="60000"/>
                  </a:schemeClr>
                </a:solidFill>
                <a:latin typeface="+mn-ea"/>
              </a:rPr>
              <a:t>进程优先级</a:t>
            </a:r>
            <a:r>
              <a:rPr lang="zh-CN" altLang="en-US" sz="2400" b="1" dirty="0" smtClean="0">
                <a:solidFill>
                  <a:schemeClr val="bg1"/>
                </a:solidFill>
                <a:latin typeface="+mn-ea"/>
              </a:rPr>
              <a:t>：进程</a:t>
            </a:r>
            <a:r>
              <a:rPr lang="zh-CN" altLang="en-US" sz="2400" b="1" dirty="0">
                <a:solidFill>
                  <a:schemeClr val="bg1"/>
                </a:solidFill>
                <a:latin typeface="+mn-ea"/>
              </a:rPr>
              <a:t>优先级是选取进程占有处理机的重要依据。与进程优先级有关的</a:t>
            </a:r>
            <a:r>
              <a:rPr lang="en-US" altLang="zh-CN" sz="2400" b="1" dirty="0">
                <a:solidFill>
                  <a:schemeClr val="bg1"/>
                </a:solidFill>
                <a:latin typeface="+mn-ea"/>
              </a:rPr>
              <a:t>PCB</a:t>
            </a:r>
            <a:r>
              <a:rPr lang="zh-CN" altLang="en-US" sz="2400" b="1" dirty="0">
                <a:solidFill>
                  <a:schemeClr val="bg1"/>
                </a:solidFill>
                <a:latin typeface="+mn-ea"/>
              </a:rPr>
              <a:t>表项有：</a:t>
            </a:r>
          </a:p>
          <a:p>
            <a:pPr marL="266700" lvl="1" algn="just">
              <a:lnSpc>
                <a:spcPct val="150000"/>
              </a:lnSpc>
              <a:buClr>
                <a:schemeClr val="accent4">
                  <a:lumMod val="60000"/>
                  <a:lumOff val="40000"/>
                </a:schemeClr>
              </a:buClr>
              <a:buFont typeface="Wingdings" panose="05000000000000000000" pitchFamily="2" charset="2"/>
              <a:buChar char="l"/>
            </a:pPr>
            <a:r>
              <a:rPr lang="zh-CN" altLang="en-US" sz="2400" b="1" dirty="0" smtClean="0">
                <a:solidFill>
                  <a:schemeClr val="bg1"/>
                </a:solidFill>
                <a:latin typeface="+mn-ea"/>
              </a:rPr>
              <a:t>占有</a:t>
            </a:r>
            <a:r>
              <a:rPr lang="en-US" altLang="zh-CN" sz="2400" b="1" dirty="0">
                <a:solidFill>
                  <a:schemeClr val="bg1"/>
                </a:solidFill>
                <a:latin typeface="+mn-ea"/>
              </a:rPr>
              <a:t>CPU</a:t>
            </a:r>
            <a:r>
              <a:rPr lang="zh-CN" altLang="en-US" sz="2400" b="1" dirty="0">
                <a:solidFill>
                  <a:schemeClr val="bg1"/>
                </a:solidFill>
                <a:latin typeface="+mn-ea"/>
              </a:rPr>
              <a:t>时间；</a:t>
            </a:r>
          </a:p>
          <a:p>
            <a:pPr marL="266700" lvl="1" algn="just">
              <a:lnSpc>
                <a:spcPct val="150000"/>
              </a:lnSpc>
              <a:buClr>
                <a:schemeClr val="accent4">
                  <a:lumMod val="60000"/>
                  <a:lumOff val="40000"/>
                </a:schemeClr>
              </a:buClr>
              <a:buFont typeface="Wingdings" panose="05000000000000000000" pitchFamily="2" charset="2"/>
              <a:buChar char="l"/>
            </a:pPr>
            <a:r>
              <a:rPr lang="zh-CN" altLang="en-US" sz="2400" b="1" dirty="0" smtClean="0">
                <a:solidFill>
                  <a:schemeClr val="bg1"/>
                </a:solidFill>
                <a:latin typeface="+mn-ea"/>
              </a:rPr>
              <a:t>进程</a:t>
            </a:r>
            <a:r>
              <a:rPr lang="zh-CN" altLang="en-US" sz="2400" b="1" dirty="0">
                <a:solidFill>
                  <a:schemeClr val="bg1"/>
                </a:solidFill>
                <a:latin typeface="+mn-ea"/>
              </a:rPr>
              <a:t>优先级偏移；</a:t>
            </a:r>
          </a:p>
          <a:p>
            <a:pPr marL="266700" lvl="1" algn="just">
              <a:lnSpc>
                <a:spcPct val="150000"/>
              </a:lnSpc>
              <a:buClr>
                <a:schemeClr val="accent4">
                  <a:lumMod val="60000"/>
                  <a:lumOff val="40000"/>
                </a:schemeClr>
              </a:buClr>
              <a:buFont typeface="Wingdings" panose="05000000000000000000" pitchFamily="2" charset="2"/>
              <a:buChar char="l"/>
            </a:pPr>
            <a:r>
              <a:rPr lang="zh-CN" altLang="en-US" sz="2400" b="1" dirty="0" smtClean="0">
                <a:solidFill>
                  <a:schemeClr val="bg1"/>
                </a:solidFill>
                <a:latin typeface="+mn-ea"/>
              </a:rPr>
              <a:t>占据</a:t>
            </a:r>
            <a:r>
              <a:rPr lang="zh-CN" altLang="en-US" sz="2400" b="1" dirty="0">
                <a:solidFill>
                  <a:schemeClr val="bg1"/>
                </a:solidFill>
                <a:latin typeface="+mn-ea"/>
              </a:rPr>
              <a:t>内存</a:t>
            </a:r>
            <a:r>
              <a:rPr lang="zh-CN" altLang="en-US" sz="2400" b="1" dirty="0" smtClean="0">
                <a:solidFill>
                  <a:schemeClr val="bg1"/>
                </a:solidFill>
                <a:latin typeface="+mn-ea"/>
              </a:rPr>
              <a:t>时间</a:t>
            </a:r>
            <a:r>
              <a:rPr lang="en-US" altLang="zh-CN" sz="2400" b="1" dirty="0" smtClean="0">
                <a:solidFill>
                  <a:schemeClr val="bg1"/>
                </a:solidFill>
                <a:latin typeface="+mn-ea"/>
              </a:rPr>
              <a:t>……</a:t>
            </a:r>
          </a:p>
          <a:p>
            <a:pPr marL="266700" lvl="1" algn="just">
              <a:lnSpc>
                <a:spcPct val="150000"/>
              </a:lnSpc>
              <a:buClr>
                <a:schemeClr val="accent4">
                  <a:lumMod val="60000"/>
                  <a:lumOff val="40000"/>
                </a:schemeClr>
              </a:buClr>
              <a:buFont typeface="Wingdings" panose="05000000000000000000" pitchFamily="2" charset="2"/>
              <a:buChar char="l"/>
            </a:pPr>
            <a:r>
              <a:rPr lang="zh-CN" altLang="en-US" sz="2400" b="1" dirty="0">
                <a:solidFill>
                  <a:schemeClr val="bg1"/>
                </a:solidFill>
                <a:latin typeface="+mn-ea"/>
              </a:rPr>
              <a:t>程序开始地址</a:t>
            </a:r>
          </a:p>
          <a:p>
            <a:pPr marL="266700" lvl="1" algn="just">
              <a:lnSpc>
                <a:spcPct val="130000"/>
              </a:lnSpc>
              <a:buClr>
                <a:schemeClr val="accent4">
                  <a:lumMod val="60000"/>
                  <a:lumOff val="40000"/>
                </a:schemeClr>
              </a:buClr>
              <a:buFont typeface="Wingdings" panose="05000000000000000000" pitchFamily="2" charset="2"/>
              <a:buChar char="l"/>
            </a:pPr>
            <a:endParaRPr lang="zh-CN" altLang="en-US" sz="2000" b="1" dirty="0">
              <a:solidFill>
                <a:schemeClr val="bg1"/>
              </a:solidFill>
              <a:latin typeface="+mn-ea"/>
            </a:endParaRPr>
          </a:p>
        </p:txBody>
      </p:sp>
      <p:sp>
        <p:nvSpPr>
          <p:cNvPr id="3" name="矩形 2"/>
          <p:cNvSpPr/>
          <p:nvPr/>
        </p:nvSpPr>
        <p:spPr>
          <a:xfrm>
            <a:off x="3652710" y="2211710"/>
            <a:ext cx="4228953" cy="2424895"/>
          </a:xfrm>
          <a:prstGeom prst="rect">
            <a:avLst/>
          </a:prstGeom>
        </p:spPr>
        <p:txBody>
          <a:bodyPr wrap="square">
            <a:spAutoFit/>
          </a:bodyPr>
          <a:lstStyle/>
          <a:p>
            <a:pPr marL="0" lvl="1" algn="just">
              <a:lnSpc>
                <a:spcPct val="130000"/>
              </a:lnSpc>
              <a:buClr>
                <a:schemeClr val="accent4">
                  <a:lumMod val="60000"/>
                  <a:lumOff val="40000"/>
                </a:schemeClr>
              </a:buClr>
              <a:buFont typeface="Wingdings" panose="05000000000000000000" pitchFamily="2" charset="2"/>
              <a:buChar char="l"/>
            </a:pPr>
            <a:r>
              <a:rPr lang="zh-CN" altLang="en-US" sz="2400" b="1" dirty="0" smtClean="0">
                <a:solidFill>
                  <a:schemeClr val="bg1"/>
                </a:solidFill>
                <a:latin typeface="+mn-ea"/>
              </a:rPr>
              <a:t>各种</a:t>
            </a:r>
            <a:r>
              <a:rPr lang="zh-CN" altLang="en-US" sz="2400" b="1" dirty="0">
                <a:solidFill>
                  <a:schemeClr val="bg1"/>
                </a:solidFill>
                <a:latin typeface="+mn-ea"/>
              </a:rPr>
              <a:t>计时</a:t>
            </a:r>
            <a:r>
              <a:rPr lang="zh-CN" altLang="en-US" sz="2400" b="1" dirty="0" smtClean="0">
                <a:solidFill>
                  <a:schemeClr val="bg1"/>
                </a:solidFill>
                <a:latin typeface="+mn-ea"/>
              </a:rPr>
              <a:t>信息：给</a:t>
            </a:r>
            <a:r>
              <a:rPr lang="zh-CN" altLang="en-US" sz="2400" b="1" dirty="0">
                <a:solidFill>
                  <a:schemeClr val="bg1"/>
                </a:solidFill>
                <a:latin typeface="+mn-ea"/>
              </a:rPr>
              <a:t>出进程占有和利用资源的有关情况。</a:t>
            </a:r>
          </a:p>
          <a:p>
            <a:pPr marL="0" lvl="1" algn="just">
              <a:lnSpc>
                <a:spcPct val="130000"/>
              </a:lnSpc>
              <a:buClr>
                <a:schemeClr val="accent4">
                  <a:lumMod val="60000"/>
                  <a:lumOff val="40000"/>
                </a:schemeClr>
              </a:buClr>
              <a:buFont typeface="Wingdings" panose="05000000000000000000" pitchFamily="2" charset="2"/>
              <a:buChar char="l"/>
            </a:pPr>
            <a:r>
              <a:rPr lang="zh-CN" altLang="en-US" sz="2400" b="1" dirty="0" smtClean="0">
                <a:solidFill>
                  <a:schemeClr val="bg1"/>
                </a:solidFill>
                <a:latin typeface="+mn-ea"/>
              </a:rPr>
              <a:t>通信信息：通信</a:t>
            </a:r>
            <a:r>
              <a:rPr lang="zh-CN" altLang="en-US" sz="2400" b="1" dirty="0">
                <a:solidFill>
                  <a:schemeClr val="bg1"/>
                </a:solidFill>
                <a:latin typeface="+mn-ea"/>
              </a:rPr>
              <a:t>信息用来说明该进程在执行过程中与别的进程所发生的信息交换情况。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wipe(left)">
                                      <p:cBhvr>
                                        <p:cTn id="32" dur="5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wipe(left)">
                                      <p:cBhvr>
                                        <p:cTn id="3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进程控制块</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资源管理信息</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81469"/>
            <a:ext cx="6840760"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占用内存大小及其管理用数据结构指针</a:t>
            </a:r>
            <a:r>
              <a:rPr lang="zh-CN" altLang="en-US" sz="2400" b="1" dirty="0">
                <a:solidFill>
                  <a:schemeClr val="bg1"/>
                </a:solidFill>
                <a:latin typeface="+mn-ea"/>
              </a:rPr>
              <a:t>，</a:t>
            </a:r>
            <a:r>
              <a:rPr lang="zh-CN" altLang="en-US" sz="2400" b="1" dirty="0" smtClean="0">
                <a:solidFill>
                  <a:schemeClr val="bg1"/>
                </a:solidFill>
                <a:latin typeface="+mn-ea"/>
              </a:rPr>
              <a:t>例如</a:t>
            </a:r>
            <a:r>
              <a:rPr lang="en-US" altLang="zh-CN" sz="2400" b="1" dirty="0" smtClean="0">
                <a:solidFill>
                  <a:schemeClr val="bg1"/>
                </a:solidFill>
                <a:latin typeface="+mn-ea"/>
              </a:rPr>
              <a:t>5.3.2</a:t>
            </a:r>
            <a:r>
              <a:rPr lang="zh-CN" altLang="en-US" sz="2400" b="1" dirty="0" smtClean="0">
                <a:solidFill>
                  <a:schemeClr val="bg1"/>
                </a:solidFill>
                <a:latin typeface="+mn-ea"/>
              </a:rPr>
              <a:t>节内存</a:t>
            </a:r>
            <a:r>
              <a:rPr lang="zh-CN" altLang="en-US" sz="2400" b="1" dirty="0">
                <a:solidFill>
                  <a:schemeClr val="bg1"/>
                </a:solidFill>
                <a:latin typeface="+mn-ea"/>
              </a:rPr>
              <a:t>管理中所用到的进程页表指针等。</a:t>
            </a:r>
            <a:endParaRPr lang="en-US" altLang="zh-CN" sz="24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在某些复杂系统中，还有</a:t>
            </a:r>
            <a:r>
              <a:rPr lang="zh-CN" altLang="en-US" sz="2400" b="1" dirty="0">
                <a:solidFill>
                  <a:srgbClr val="FFFF00"/>
                </a:solidFill>
                <a:latin typeface="+mn-ea"/>
              </a:rPr>
              <a:t>对换或覆盖用的有关信息</a:t>
            </a:r>
            <a:r>
              <a:rPr lang="zh-CN" altLang="en-US" sz="2400" b="1" dirty="0">
                <a:solidFill>
                  <a:schemeClr val="bg1"/>
                </a:solidFill>
                <a:latin typeface="+mn-ea"/>
              </a:rPr>
              <a:t>，如对换程序段长度，对换外存地址等。这些信息在进程申请、释放内存中使用</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进程控制块</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资源管理信息</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131590"/>
            <a:ext cx="6840760" cy="385336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共享</a:t>
            </a:r>
            <a:r>
              <a:rPr lang="zh-CN" altLang="en-US" sz="2400" b="1" dirty="0">
                <a:solidFill>
                  <a:srgbClr val="FFFF00"/>
                </a:solidFill>
                <a:latin typeface="+mn-ea"/>
              </a:rPr>
              <a:t>程序段大小及起始地址</a:t>
            </a:r>
            <a:r>
              <a:rPr lang="zh-CN" altLang="en-US" sz="2400" b="1" dirty="0">
                <a:solidFill>
                  <a:schemeClr val="bg1"/>
                </a:solidFill>
                <a:latin typeface="+mn-ea"/>
              </a:rPr>
              <a:t>。</a:t>
            </a: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输入输出设备</a:t>
            </a:r>
            <a:r>
              <a:rPr lang="zh-CN" altLang="en-US" sz="2400" b="1" dirty="0">
                <a:solidFill>
                  <a:schemeClr val="bg1"/>
                </a:solidFill>
                <a:latin typeface="+mn-ea"/>
              </a:rPr>
              <a:t>的</a:t>
            </a:r>
            <a:r>
              <a:rPr lang="zh-CN" altLang="en-US" sz="2400" b="1" dirty="0">
                <a:solidFill>
                  <a:srgbClr val="FFFF00"/>
                </a:solidFill>
                <a:latin typeface="+mn-ea"/>
              </a:rPr>
              <a:t>设备号</a:t>
            </a:r>
            <a:r>
              <a:rPr lang="zh-CN" altLang="en-US" sz="2400" b="1" dirty="0">
                <a:solidFill>
                  <a:schemeClr val="bg1"/>
                </a:solidFill>
                <a:latin typeface="+mn-ea"/>
              </a:rPr>
              <a:t>，所要传送的</a:t>
            </a:r>
            <a:r>
              <a:rPr lang="zh-CN" altLang="en-US" sz="2400" b="1" dirty="0">
                <a:solidFill>
                  <a:srgbClr val="FFFF00"/>
                </a:solidFill>
                <a:latin typeface="+mn-ea"/>
              </a:rPr>
              <a:t>数据长度</a:t>
            </a:r>
            <a:r>
              <a:rPr lang="zh-CN" altLang="en-US" sz="2400" b="1" dirty="0">
                <a:solidFill>
                  <a:schemeClr val="bg1"/>
                </a:solidFill>
                <a:latin typeface="+mn-ea"/>
              </a:rPr>
              <a:t>、</a:t>
            </a:r>
            <a:r>
              <a:rPr lang="zh-CN" altLang="en-US" sz="2400" b="1" dirty="0">
                <a:solidFill>
                  <a:srgbClr val="FFFF00"/>
                </a:solidFill>
                <a:latin typeface="+mn-ea"/>
              </a:rPr>
              <a:t>缓冲区地址</a:t>
            </a:r>
            <a:r>
              <a:rPr lang="zh-CN" altLang="en-US" sz="2400" b="1" dirty="0">
                <a:solidFill>
                  <a:schemeClr val="bg1"/>
                </a:solidFill>
                <a:latin typeface="+mn-ea"/>
              </a:rPr>
              <a:t>、缓冲区长度及所用设备的有关</a:t>
            </a:r>
            <a:r>
              <a:rPr lang="zh-CN" altLang="en-US" sz="2400" b="1" dirty="0">
                <a:solidFill>
                  <a:srgbClr val="FFFF00"/>
                </a:solidFill>
                <a:latin typeface="+mn-ea"/>
              </a:rPr>
              <a:t>数据结构指针</a:t>
            </a:r>
            <a:r>
              <a:rPr lang="zh-CN" altLang="en-US" sz="2400" b="1" dirty="0">
                <a:solidFill>
                  <a:schemeClr val="bg1"/>
                </a:solidFill>
                <a:latin typeface="+mn-ea"/>
              </a:rPr>
              <a:t>等。这些信息在进程申请释放设备进行数据传输中使用。</a:t>
            </a: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指向</a:t>
            </a:r>
            <a:r>
              <a:rPr lang="zh-CN" altLang="en-US" sz="2400" b="1" dirty="0">
                <a:solidFill>
                  <a:srgbClr val="FFFF00"/>
                </a:solidFill>
                <a:latin typeface="+mn-ea"/>
              </a:rPr>
              <a:t>文件系统的指针及有关标识等</a:t>
            </a:r>
            <a:r>
              <a:rPr lang="zh-CN" altLang="en-US" sz="2400" b="1" dirty="0">
                <a:solidFill>
                  <a:schemeClr val="bg1"/>
                </a:solidFill>
                <a:latin typeface="+mn-ea"/>
              </a:rPr>
              <a:t>。进程可使用这些信息对文件系统进行操作。</a:t>
            </a:r>
          </a:p>
          <a:p>
            <a:pPr marL="0" lvl="1" algn="just">
              <a:lnSpc>
                <a:spcPct val="130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进程控制块</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—CPU</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现场保护结构</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131590"/>
            <a:ext cx="6840760" cy="397031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当前进程因等待某个事件而进入等待状态或因某种事件发生被中止在处理机上的执行时，为了以后该进程能在被打断处恢复执行，需要保护当前进程</a:t>
            </a:r>
            <a:r>
              <a:rPr lang="zh-CN" altLang="en-US" sz="2400" b="1" dirty="0" smtClean="0">
                <a:solidFill>
                  <a:schemeClr val="bg1"/>
                </a:solidFill>
                <a:latin typeface="+mn-ea"/>
              </a:rPr>
              <a:t>的</a:t>
            </a:r>
            <a:r>
              <a:rPr lang="en-US" altLang="zh-CN" sz="2400" b="1" dirty="0" smtClean="0">
                <a:solidFill>
                  <a:schemeClr val="bg1"/>
                </a:solidFill>
                <a:latin typeface="+mn-ea"/>
              </a:rPr>
              <a:t>CPU</a:t>
            </a:r>
            <a:r>
              <a:rPr lang="zh-CN" altLang="en-US" sz="2400" b="1" dirty="0">
                <a:solidFill>
                  <a:schemeClr val="bg1"/>
                </a:solidFill>
                <a:latin typeface="+mn-ea"/>
              </a:rPr>
              <a:t>现场（或称</a:t>
            </a:r>
            <a:r>
              <a:rPr lang="zh-CN" altLang="en-US" sz="2400" b="1" dirty="0">
                <a:solidFill>
                  <a:srgbClr val="FFFF00"/>
                </a:solidFill>
                <a:latin typeface="+mn-ea"/>
              </a:rPr>
              <a:t>部分进程上下文</a:t>
            </a:r>
            <a:r>
              <a:rPr lang="zh-CN" altLang="en-US" sz="2400" b="1" dirty="0">
                <a:solidFill>
                  <a:schemeClr val="bg1"/>
                </a:solidFill>
                <a:latin typeface="+mn-ea"/>
              </a:rPr>
              <a:t>）</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PCB</a:t>
            </a:r>
            <a:r>
              <a:rPr lang="zh-CN" altLang="en-US" sz="2400" b="1" dirty="0" smtClean="0">
                <a:solidFill>
                  <a:schemeClr val="bg1"/>
                </a:solidFill>
                <a:latin typeface="+mn-ea"/>
              </a:rPr>
              <a:t>中</a:t>
            </a:r>
            <a:r>
              <a:rPr lang="zh-CN" altLang="en-US" sz="2400" b="1" dirty="0">
                <a:solidFill>
                  <a:schemeClr val="bg1"/>
                </a:solidFill>
                <a:latin typeface="+mn-ea"/>
              </a:rPr>
              <a:t>设有专门</a:t>
            </a:r>
            <a:r>
              <a:rPr lang="zh-CN" altLang="en-US" sz="2400" b="1" dirty="0" smtClean="0">
                <a:solidFill>
                  <a:schemeClr val="bg1"/>
                </a:solidFill>
                <a:latin typeface="+mn-ea"/>
              </a:rPr>
              <a:t>的</a:t>
            </a:r>
            <a:r>
              <a:rPr lang="en-US" altLang="zh-CN" sz="2400" b="1" dirty="0" smtClean="0">
                <a:solidFill>
                  <a:srgbClr val="FFFF00"/>
                </a:solidFill>
                <a:latin typeface="+mn-ea"/>
              </a:rPr>
              <a:t>CPU</a:t>
            </a:r>
            <a:r>
              <a:rPr lang="zh-CN" altLang="en-US" sz="2400" b="1" dirty="0">
                <a:solidFill>
                  <a:srgbClr val="FFFF00"/>
                </a:solidFill>
                <a:latin typeface="+mn-ea"/>
              </a:rPr>
              <a:t>现场保护结构</a:t>
            </a:r>
            <a:r>
              <a:rPr lang="zh-CN" altLang="en-US" sz="2400" b="1" dirty="0">
                <a:solidFill>
                  <a:schemeClr val="bg1"/>
                </a:solidFill>
                <a:latin typeface="+mn-ea"/>
              </a:rPr>
              <a:t>，以存储退出执行时的进程现场数据。</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51073" y="1233404"/>
            <a:ext cx="6840760" cy="2424895"/>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进程上下文</a:t>
            </a:r>
            <a:r>
              <a:rPr lang="zh-CN" altLang="en-US" sz="2400" b="1" dirty="0">
                <a:solidFill>
                  <a:schemeClr val="bg1"/>
                </a:solidFill>
                <a:latin typeface="+mn-ea"/>
              </a:rPr>
              <a:t>是一个抽象的概念，它包含了每个进程执行过的、执行时的以及待执行的指令和数据，在指令寄存器、堆栈、状态字寄存器等中的内容。</a:t>
            </a:r>
          </a:p>
          <a:p>
            <a:pPr marL="0" lvl="1" indent="-342900" algn="just">
              <a:lnSpc>
                <a:spcPct val="13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grpSp>
        <p:nvGrpSpPr>
          <p:cNvPr id="11" name="组合 10"/>
          <p:cNvGrpSpPr/>
          <p:nvPr/>
        </p:nvGrpSpPr>
        <p:grpSpPr>
          <a:xfrm>
            <a:off x="1213630" y="1107671"/>
            <a:ext cx="1787425" cy="3916758"/>
            <a:chOff x="1213630" y="1107671"/>
            <a:chExt cx="1787425" cy="3916758"/>
          </a:xfrm>
        </p:grpSpPr>
        <p:sp>
          <p:nvSpPr>
            <p:cNvPr id="5" name="任意多边形 4"/>
            <p:cNvSpPr/>
            <p:nvPr/>
          </p:nvSpPr>
          <p:spPr>
            <a:xfrm>
              <a:off x="1463928" y="1631281"/>
              <a:ext cx="1537127" cy="3393148"/>
            </a:xfrm>
            <a:custGeom>
              <a:avLst/>
              <a:gdLst>
                <a:gd name="connsiteX0" fmla="*/ 0 w 2177654"/>
                <a:gd name="connsiteY0" fmla="*/ 0 h 2740731"/>
                <a:gd name="connsiteX1" fmla="*/ 2177654 w 2177654"/>
                <a:gd name="connsiteY1" fmla="*/ 0 h 2740731"/>
                <a:gd name="connsiteX2" fmla="*/ 2177654 w 2177654"/>
                <a:gd name="connsiteY2" fmla="*/ 2740731 h 2740731"/>
                <a:gd name="connsiteX3" fmla="*/ 0 w 2177654"/>
                <a:gd name="connsiteY3" fmla="*/ 2740731 h 2740731"/>
                <a:gd name="connsiteX4" fmla="*/ 0 w 2177654"/>
                <a:gd name="connsiteY4" fmla="*/ 0 h 2740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7654" h="2740731">
                  <a:moveTo>
                    <a:pt x="0" y="0"/>
                  </a:moveTo>
                  <a:lnTo>
                    <a:pt x="2177654" y="0"/>
                  </a:lnTo>
                  <a:lnTo>
                    <a:pt x="2177654" y="2740731"/>
                  </a:lnTo>
                  <a:lnTo>
                    <a:pt x="0" y="2740731"/>
                  </a:lnTo>
                  <a:lnTo>
                    <a:pt x="0" y="0"/>
                  </a:lnTo>
                  <a:close/>
                </a:path>
              </a:pathLst>
            </a:cu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48425" tIns="170688" rIns="170688" bIns="170688" numCol="1" spcCol="1270" anchor="ctr" anchorCtr="0">
              <a:noAutofit/>
            </a:bodyPr>
            <a:lstStyle/>
            <a:p>
              <a:pPr marL="0" lvl="0" indent="0" algn="l" defTabSz="984250">
                <a:lnSpc>
                  <a:spcPct val="90000"/>
                </a:lnSpc>
                <a:spcBef>
                  <a:spcPct val="0"/>
                </a:spcBef>
                <a:spcAft>
                  <a:spcPct val="35000"/>
                </a:spcAft>
              </a:pPr>
              <a:r>
                <a:rPr lang="zh-CN" altLang="en-US" sz="2400" b="1" kern="1200" dirty="0" smtClean="0"/>
                <a:t>     已执行过的进程指令和数据在相关寄存器与堆栈中的内容</a:t>
              </a:r>
              <a:endParaRPr lang="zh-CN" altLang="en-US" sz="2400" b="1" kern="1200" dirty="0"/>
            </a:p>
          </p:txBody>
        </p:sp>
        <p:sp>
          <p:nvSpPr>
            <p:cNvPr id="6" name="任意多边形 5"/>
            <p:cNvSpPr/>
            <p:nvPr/>
          </p:nvSpPr>
          <p:spPr>
            <a:xfrm>
              <a:off x="1213630" y="1107671"/>
              <a:ext cx="909543" cy="892137"/>
            </a:xfrm>
            <a:custGeom>
              <a:avLst/>
              <a:gdLst>
                <a:gd name="connsiteX0" fmla="*/ 0 w 862109"/>
                <a:gd name="connsiteY0" fmla="*/ 431055 h 862109"/>
                <a:gd name="connsiteX1" fmla="*/ 431055 w 862109"/>
                <a:gd name="connsiteY1" fmla="*/ 0 h 862109"/>
                <a:gd name="connsiteX2" fmla="*/ 862110 w 862109"/>
                <a:gd name="connsiteY2" fmla="*/ 431055 h 862109"/>
                <a:gd name="connsiteX3" fmla="*/ 431055 w 862109"/>
                <a:gd name="connsiteY3" fmla="*/ 862110 h 862109"/>
                <a:gd name="connsiteX4" fmla="*/ 0 w 862109"/>
                <a:gd name="connsiteY4" fmla="*/ 431055 h 862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109" h="862109">
                  <a:moveTo>
                    <a:pt x="0" y="431055"/>
                  </a:moveTo>
                  <a:cubicBezTo>
                    <a:pt x="0" y="192990"/>
                    <a:pt x="192990" y="0"/>
                    <a:pt x="431055" y="0"/>
                  </a:cubicBezTo>
                  <a:cubicBezTo>
                    <a:pt x="669120" y="0"/>
                    <a:pt x="862110" y="192990"/>
                    <a:pt x="862110" y="431055"/>
                  </a:cubicBezTo>
                  <a:cubicBezTo>
                    <a:pt x="862110" y="669120"/>
                    <a:pt x="669120" y="862110"/>
                    <a:pt x="431055" y="862110"/>
                  </a:cubicBezTo>
                  <a:cubicBezTo>
                    <a:pt x="192990" y="862110"/>
                    <a:pt x="0" y="669120"/>
                    <a:pt x="0" y="43105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26253" tIns="126253" rIns="126253" bIns="126253" numCol="1" spcCol="1270" anchor="ctr" anchorCtr="0">
              <a:noAutofit/>
            </a:bodyPr>
            <a:lstStyle/>
            <a:p>
              <a:pPr lvl="0" algn="ctr" defTabSz="1066800">
                <a:lnSpc>
                  <a:spcPct val="90000"/>
                </a:lnSpc>
                <a:spcBef>
                  <a:spcPct val="0"/>
                </a:spcBef>
                <a:spcAft>
                  <a:spcPct val="35000"/>
                </a:spcAft>
              </a:pPr>
              <a:r>
                <a:rPr lang="zh-CN" altLang="en-US" sz="2400" b="1" kern="1200" dirty="0" smtClean="0"/>
                <a:t>上文</a:t>
              </a:r>
              <a:endParaRPr lang="zh-CN" altLang="en-US" sz="2400" b="1" kern="1200" dirty="0"/>
            </a:p>
          </p:txBody>
        </p:sp>
      </p:grpSp>
      <p:grpSp>
        <p:nvGrpSpPr>
          <p:cNvPr id="12" name="组合 11"/>
          <p:cNvGrpSpPr/>
          <p:nvPr/>
        </p:nvGrpSpPr>
        <p:grpSpPr>
          <a:xfrm>
            <a:off x="3337239" y="1107671"/>
            <a:ext cx="1850011" cy="3892859"/>
            <a:chOff x="3337239" y="1107671"/>
            <a:chExt cx="1850011" cy="3892859"/>
          </a:xfrm>
        </p:grpSpPr>
        <p:sp>
          <p:nvSpPr>
            <p:cNvPr id="7" name="任意多边形 6"/>
            <p:cNvSpPr/>
            <p:nvPr/>
          </p:nvSpPr>
          <p:spPr>
            <a:xfrm>
              <a:off x="3792010" y="1517041"/>
              <a:ext cx="1395240" cy="3483489"/>
            </a:xfrm>
            <a:custGeom>
              <a:avLst/>
              <a:gdLst>
                <a:gd name="connsiteX0" fmla="*/ 0 w 1150749"/>
                <a:gd name="connsiteY0" fmla="*/ 0 h 2638640"/>
                <a:gd name="connsiteX1" fmla="*/ 1150749 w 1150749"/>
                <a:gd name="connsiteY1" fmla="*/ 0 h 2638640"/>
                <a:gd name="connsiteX2" fmla="*/ 1150749 w 1150749"/>
                <a:gd name="connsiteY2" fmla="*/ 2638640 h 2638640"/>
                <a:gd name="connsiteX3" fmla="*/ 0 w 1150749"/>
                <a:gd name="connsiteY3" fmla="*/ 2638640 h 2638640"/>
                <a:gd name="connsiteX4" fmla="*/ 0 w 1150749"/>
                <a:gd name="connsiteY4" fmla="*/ 0 h 263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749" h="2638640">
                  <a:moveTo>
                    <a:pt x="0" y="0"/>
                  </a:moveTo>
                  <a:lnTo>
                    <a:pt x="1150749" y="0"/>
                  </a:lnTo>
                  <a:lnTo>
                    <a:pt x="1150749" y="2638640"/>
                  </a:lnTo>
                  <a:lnTo>
                    <a:pt x="0" y="2638640"/>
                  </a:lnTo>
                  <a:lnTo>
                    <a:pt x="0" y="0"/>
                  </a:lnTo>
                  <a:close/>
                </a:path>
              </a:pathLst>
            </a:cu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84120" tIns="120904" rIns="120904" bIns="120904" numCol="1" spcCol="1270" anchor="ctr" anchorCtr="0">
              <a:noAutofit/>
            </a:bodyPr>
            <a:lstStyle/>
            <a:p>
              <a:pPr defTabSz="984250">
                <a:lnSpc>
                  <a:spcPct val="90000"/>
                </a:lnSpc>
                <a:spcBef>
                  <a:spcPct val="0"/>
                </a:spcBef>
                <a:spcAft>
                  <a:spcPct val="35000"/>
                </a:spcAft>
              </a:pPr>
              <a:r>
                <a:rPr lang="zh-CN" altLang="en-US" sz="2400" b="1" dirty="0"/>
                <a:t>正在执行的指令和数据在相关寄存器与堆栈中的内容</a:t>
              </a:r>
            </a:p>
          </p:txBody>
        </p:sp>
        <p:sp>
          <p:nvSpPr>
            <p:cNvPr id="8" name="任意多边形 7"/>
            <p:cNvSpPr/>
            <p:nvPr/>
          </p:nvSpPr>
          <p:spPr>
            <a:xfrm>
              <a:off x="3337239" y="1107671"/>
              <a:ext cx="909543" cy="892137"/>
            </a:xfrm>
            <a:custGeom>
              <a:avLst/>
              <a:gdLst>
                <a:gd name="connsiteX0" fmla="*/ 0 w 862109"/>
                <a:gd name="connsiteY0" fmla="*/ 431055 h 862109"/>
                <a:gd name="connsiteX1" fmla="*/ 431055 w 862109"/>
                <a:gd name="connsiteY1" fmla="*/ 0 h 862109"/>
                <a:gd name="connsiteX2" fmla="*/ 862110 w 862109"/>
                <a:gd name="connsiteY2" fmla="*/ 431055 h 862109"/>
                <a:gd name="connsiteX3" fmla="*/ 431055 w 862109"/>
                <a:gd name="connsiteY3" fmla="*/ 862110 h 862109"/>
                <a:gd name="connsiteX4" fmla="*/ 0 w 862109"/>
                <a:gd name="connsiteY4" fmla="*/ 431055 h 862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109" h="862109">
                  <a:moveTo>
                    <a:pt x="0" y="431055"/>
                  </a:moveTo>
                  <a:cubicBezTo>
                    <a:pt x="0" y="192990"/>
                    <a:pt x="192990" y="0"/>
                    <a:pt x="431055" y="0"/>
                  </a:cubicBezTo>
                  <a:cubicBezTo>
                    <a:pt x="669120" y="0"/>
                    <a:pt x="862110" y="192990"/>
                    <a:pt x="862110" y="431055"/>
                  </a:cubicBezTo>
                  <a:cubicBezTo>
                    <a:pt x="862110" y="669120"/>
                    <a:pt x="669120" y="862110"/>
                    <a:pt x="431055" y="862110"/>
                  </a:cubicBezTo>
                  <a:cubicBezTo>
                    <a:pt x="192990" y="862110"/>
                    <a:pt x="0" y="669120"/>
                    <a:pt x="0" y="43105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26253" tIns="126253" rIns="126253" bIns="126253" numCol="1" spcCol="1270" anchor="ctr" anchorCtr="0">
              <a:noAutofit/>
            </a:bodyPr>
            <a:lstStyle/>
            <a:p>
              <a:pPr lvl="0" algn="ctr" defTabSz="1066800">
                <a:lnSpc>
                  <a:spcPct val="90000"/>
                </a:lnSpc>
                <a:spcBef>
                  <a:spcPct val="0"/>
                </a:spcBef>
                <a:spcAft>
                  <a:spcPct val="35000"/>
                </a:spcAft>
              </a:pPr>
              <a:r>
                <a:rPr lang="zh-CN" altLang="en-US" sz="2400" b="1" kern="1200" dirty="0" smtClean="0"/>
                <a:t>中文</a:t>
              </a:r>
              <a:endParaRPr lang="zh-CN" altLang="en-US" sz="2400" b="1" kern="1200" dirty="0"/>
            </a:p>
          </p:txBody>
        </p:sp>
      </p:grpSp>
      <p:grpSp>
        <p:nvGrpSpPr>
          <p:cNvPr id="13" name="组合 12"/>
          <p:cNvGrpSpPr/>
          <p:nvPr/>
        </p:nvGrpSpPr>
        <p:grpSpPr>
          <a:xfrm>
            <a:off x="5642022" y="1107670"/>
            <a:ext cx="1775123" cy="3840343"/>
            <a:chOff x="5642022" y="1107670"/>
            <a:chExt cx="1775123" cy="3840343"/>
          </a:xfrm>
        </p:grpSpPr>
        <p:sp>
          <p:nvSpPr>
            <p:cNvPr id="9" name="任意多边形 8"/>
            <p:cNvSpPr/>
            <p:nvPr/>
          </p:nvSpPr>
          <p:spPr>
            <a:xfrm>
              <a:off x="6231551" y="1577644"/>
              <a:ext cx="1185594" cy="3370369"/>
            </a:xfrm>
            <a:custGeom>
              <a:avLst/>
              <a:gdLst>
                <a:gd name="connsiteX0" fmla="*/ 0 w 919007"/>
                <a:gd name="connsiteY0" fmla="*/ 0 h 3046794"/>
                <a:gd name="connsiteX1" fmla="*/ 919007 w 919007"/>
                <a:gd name="connsiteY1" fmla="*/ 0 h 3046794"/>
                <a:gd name="connsiteX2" fmla="*/ 919007 w 919007"/>
                <a:gd name="connsiteY2" fmla="*/ 3046794 h 3046794"/>
                <a:gd name="connsiteX3" fmla="*/ 0 w 919007"/>
                <a:gd name="connsiteY3" fmla="*/ 3046794 h 3046794"/>
                <a:gd name="connsiteX4" fmla="*/ 0 w 919007"/>
                <a:gd name="connsiteY4" fmla="*/ 0 h 3046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007" h="3046794">
                  <a:moveTo>
                    <a:pt x="0" y="0"/>
                  </a:moveTo>
                  <a:lnTo>
                    <a:pt x="919007" y="0"/>
                  </a:lnTo>
                  <a:lnTo>
                    <a:pt x="919007" y="3046794"/>
                  </a:lnTo>
                  <a:lnTo>
                    <a:pt x="0" y="3046794"/>
                  </a:lnTo>
                  <a:lnTo>
                    <a:pt x="0" y="0"/>
                  </a:lnTo>
                  <a:close/>
                </a:path>
              </a:pathLst>
            </a:cu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47041" tIns="113792" rIns="113792" bIns="113792" numCol="1" spcCol="1270" anchor="ctr" anchorCtr="0">
              <a:noAutofit/>
            </a:bodyPr>
            <a:lstStyle/>
            <a:p>
              <a:pPr lvl="0" defTabSz="984250">
                <a:lnSpc>
                  <a:spcPct val="90000"/>
                </a:lnSpc>
                <a:spcBef>
                  <a:spcPct val="0"/>
                </a:spcBef>
                <a:spcAft>
                  <a:spcPct val="35000"/>
                </a:spcAft>
              </a:pPr>
              <a:r>
                <a:rPr lang="zh-CN" altLang="en-US" sz="2400" b="1" dirty="0"/>
                <a:t>待执行指令和数据在相关寄存器与堆栈中的内容</a:t>
              </a:r>
            </a:p>
          </p:txBody>
        </p:sp>
        <p:sp>
          <p:nvSpPr>
            <p:cNvPr id="10" name="任意多边形 9"/>
            <p:cNvSpPr/>
            <p:nvPr/>
          </p:nvSpPr>
          <p:spPr>
            <a:xfrm>
              <a:off x="5642022" y="1107670"/>
              <a:ext cx="909543" cy="892137"/>
            </a:xfrm>
            <a:custGeom>
              <a:avLst/>
              <a:gdLst>
                <a:gd name="connsiteX0" fmla="*/ 0 w 862109"/>
                <a:gd name="connsiteY0" fmla="*/ 431055 h 862109"/>
                <a:gd name="connsiteX1" fmla="*/ 431055 w 862109"/>
                <a:gd name="connsiteY1" fmla="*/ 0 h 862109"/>
                <a:gd name="connsiteX2" fmla="*/ 862110 w 862109"/>
                <a:gd name="connsiteY2" fmla="*/ 431055 h 862109"/>
                <a:gd name="connsiteX3" fmla="*/ 431055 w 862109"/>
                <a:gd name="connsiteY3" fmla="*/ 862110 h 862109"/>
                <a:gd name="connsiteX4" fmla="*/ 0 w 862109"/>
                <a:gd name="connsiteY4" fmla="*/ 431055 h 862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109" h="862109">
                  <a:moveTo>
                    <a:pt x="0" y="431055"/>
                  </a:moveTo>
                  <a:cubicBezTo>
                    <a:pt x="0" y="192990"/>
                    <a:pt x="192990" y="0"/>
                    <a:pt x="431055" y="0"/>
                  </a:cubicBezTo>
                  <a:cubicBezTo>
                    <a:pt x="669120" y="0"/>
                    <a:pt x="862110" y="192990"/>
                    <a:pt x="862110" y="431055"/>
                  </a:cubicBezTo>
                  <a:cubicBezTo>
                    <a:pt x="862110" y="669120"/>
                    <a:pt x="669120" y="862110"/>
                    <a:pt x="431055" y="862110"/>
                  </a:cubicBezTo>
                  <a:cubicBezTo>
                    <a:pt x="192990" y="862110"/>
                    <a:pt x="0" y="669120"/>
                    <a:pt x="0" y="43105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26253" tIns="126253" rIns="126253" bIns="126253" numCol="1" spcCol="1270" anchor="ctr" anchorCtr="0">
              <a:noAutofit/>
            </a:bodyPr>
            <a:lstStyle/>
            <a:p>
              <a:pPr lvl="0" algn="ctr" defTabSz="1066800">
                <a:lnSpc>
                  <a:spcPct val="90000"/>
                </a:lnSpc>
                <a:spcBef>
                  <a:spcPct val="0"/>
                </a:spcBef>
                <a:spcAft>
                  <a:spcPct val="35000"/>
                </a:spcAft>
              </a:pPr>
              <a:r>
                <a:rPr lang="zh-CN" altLang="en-US" sz="2400" b="1" kern="1200" dirty="0" smtClean="0"/>
                <a:t>下文</a:t>
              </a:r>
              <a:endParaRPr lang="zh-CN" altLang="en-US" sz="2400" b="1" kern="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51073" y="1233404"/>
            <a:ext cx="6840760" cy="224510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进程上下文包括计算机系统中与执行该进程有关的各种</a:t>
            </a:r>
            <a:r>
              <a:rPr lang="zh-CN" altLang="en-US" sz="2400" b="1" dirty="0">
                <a:solidFill>
                  <a:srgbClr val="FFFF00"/>
                </a:solidFill>
                <a:latin typeface="+mn-ea"/>
              </a:rPr>
              <a:t>寄存器的值</a:t>
            </a:r>
            <a:r>
              <a:rPr lang="zh-CN" altLang="en-US" sz="2400" b="1" dirty="0">
                <a:solidFill>
                  <a:schemeClr val="bg1"/>
                </a:solidFill>
                <a:latin typeface="+mn-ea"/>
              </a:rPr>
              <a:t>、</a:t>
            </a:r>
            <a:r>
              <a:rPr lang="zh-CN" altLang="en-US" sz="2400" b="1" dirty="0">
                <a:solidFill>
                  <a:srgbClr val="FFFF00"/>
                </a:solidFill>
                <a:latin typeface="+mn-ea"/>
              </a:rPr>
              <a:t>程序段在经过编译之后形成的机器指令代码集</a:t>
            </a:r>
            <a:r>
              <a:rPr lang="zh-CN" altLang="en-US" sz="2400" b="1" dirty="0">
                <a:solidFill>
                  <a:schemeClr val="bg1"/>
                </a:solidFill>
                <a:latin typeface="+mn-ea"/>
              </a:rPr>
              <a:t>（或称正文段）、</a:t>
            </a:r>
            <a:r>
              <a:rPr lang="zh-CN" altLang="en-US" sz="2400" b="1" dirty="0">
                <a:solidFill>
                  <a:srgbClr val="FFFF00"/>
                </a:solidFill>
                <a:latin typeface="+mn-ea"/>
              </a:rPr>
              <a:t>数据集</a:t>
            </a:r>
            <a:r>
              <a:rPr lang="zh-CN" altLang="en-US" sz="2400" b="1" dirty="0">
                <a:solidFill>
                  <a:schemeClr val="bg1"/>
                </a:solidFill>
                <a:latin typeface="+mn-ea"/>
              </a:rPr>
              <a:t>及</a:t>
            </a:r>
            <a:r>
              <a:rPr lang="zh-CN" altLang="en-US" sz="2400" b="1" dirty="0">
                <a:solidFill>
                  <a:srgbClr val="FFFF00"/>
                </a:solidFill>
                <a:latin typeface="+mn-ea"/>
              </a:rPr>
              <a:t>各种堆栈值</a:t>
            </a:r>
            <a:r>
              <a:rPr lang="zh-CN" altLang="en-US" sz="2400" b="1" dirty="0">
                <a:solidFill>
                  <a:schemeClr val="bg1"/>
                </a:solidFill>
                <a:latin typeface="+mn-ea"/>
              </a:rPr>
              <a:t>和</a:t>
            </a:r>
            <a:r>
              <a:rPr lang="en-US" altLang="zh-CN" sz="2400" b="1" dirty="0">
                <a:solidFill>
                  <a:srgbClr val="FFFF00"/>
                </a:solidFill>
                <a:latin typeface="+mn-ea"/>
              </a:rPr>
              <a:t>PCB</a:t>
            </a:r>
            <a:r>
              <a:rPr lang="zh-CN" altLang="en-US" sz="2400" b="1" dirty="0" smtClean="0">
                <a:solidFill>
                  <a:srgbClr val="FFFF00"/>
                </a:solidFill>
                <a:latin typeface="+mn-ea"/>
              </a:rPr>
              <a:t>结构</a:t>
            </a:r>
            <a:r>
              <a:rPr lang="zh-CN" altLang="en-US" sz="2400" b="1" dirty="0">
                <a:solidFill>
                  <a:schemeClr val="bg1"/>
                </a:solidFill>
                <a:latin typeface="+mn-ea"/>
              </a:rPr>
              <a:t>。</a:t>
            </a:r>
          </a:p>
        </p:txBody>
      </p:sp>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853" y="1419622"/>
            <a:ext cx="7569200"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4" name="组合 3"/>
          <p:cNvGrpSpPr/>
          <p:nvPr/>
        </p:nvGrpSpPr>
        <p:grpSpPr>
          <a:xfrm>
            <a:off x="1248381" y="23874"/>
            <a:ext cx="6296843" cy="5046908"/>
            <a:chOff x="1419599" y="26765"/>
            <a:chExt cx="6296843" cy="5046908"/>
          </a:xfrm>
        </p:grpSpPr>
        <p:pic>
          <p:nvPicPr>
            <p:cNvPr id="30"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599" y="26765"/>
              <a:ext cx="6296843" cy="5046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388610" y="2021394"/>
              <a:ext cx="64807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600" b="1" dirty="0" smtClean="0">
                  <a:solidFill>
                    <a:schemeClr val="tx1"/>
                  </a:solidFill>
                  <a:latin typeface="Times New Roman" panose="02020603050405020304" pitchFamily="18" charset="0"/>
                  <a:cs typeface="Times New Roman" panose="02020603050405020304" pitchFamily="18" charset="0"/>
                </a:rPr>
                <a:t>PSW</a:t>
              </a:r>
              <a:endParaRPr lang="zh-CN" altLang="en-US" sz="1600" b="1" dirty="0">
                <a:solidFill>
                  <a:schemeClr val="tx1"/>
                </a:solidFill>
                <a:latin typeface="Times New Roman" panose="02020603050405020304" pitchFamily="18" charset="0"/>
                <a:cs typeface="Times New Roman" panose="02020603050405020304" pitchFamily="18" charset="0"/>
              </a:endParaRPr>
            </a:p>
          </p:txBody>
        </p:sp>
        <p:sp>
          <p:nvSpPr>
            <p:cNvPr id="31" name="矩形 30"/>
            <p:cNvSpPr/>
            <p:nvPr/>
          </p:nvSpPr>
          <p:spPr>
            <a:xfrm>
              <a:off x="2158452" y="2568976"/>
              <a:ext cx="371615"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b="1" dirty="0">
                  <a:solidFill>
                    <a:schemeClr val="tx1"/>
                  </a:solidFill>
                  <a:latin typeface="Times New Roman" panose="02020603050405020304" pitchFamily="18" charset="0"/>
                  <a:cs typeface="Times New Roman" panose="02020603050405020304" pitchFamily="18" charset="0"/>
                </a:rPr>
                <a:t>通</a:t>
              </a:r>
            </a:p>
          </p:txBody>
        </p:sp>
      </p:grpSp>
      <p:sp>
        <p:nvSpPr>
          <p:cNvPr id="5" name="线形标注 1 4"/>
          <p:cNvSpPr/>
          <p:nvPr/>
        </p:nvSpPr>
        <p:spPr>
          <a:xfrm>
            <a:off x="151172" y="893741"/>
            <a:ext cx="2051720" cy="1946990"/>
          </a:xfrm>
          <a:prstGeom prst="borderCallout1">
            <a:avLst>
              <a:gd name="adj1" fmla="val 39557"/>
              <a:gd name="adj2" fmla="val 101675"/>
              <a:gd name="adj3" fmla="val 180272"/>
              <a:gd name="adj4" fmla="val 179991"/>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000" b="1" dirty="0"/>
              <a:t>在进入和退出不同的上下文层次时，系统为各层上下文中相关联的寄存器值所保存和恢复的记录</a:t>
            </a:r>
          </a:p>
        </p:txBody>
      </p:sp>
      <p:sp>
        <p:nvSpPr>
          <p:cNvPr id="6" name="线形标注 2 5"/>
          <p:cNvSpPr/>
          <p:nvPr/>
        </p:nvSpPr>
        <p:spPr>
          <a:xfrm>
            <a:off x="4644008" y="899194"/>
            <a:ext cx="4393213" cy="3296268"/>
          </a:xfrm>
          <a:prstGeom prst="borderCallout2">
            <a:avLst>
              <a:gd name="adj1" fmla="val 18750"/>
              <a:gd name="adj2" fmla="val -8333"/>
              <a:gd name="adj3" fmla="val 18750"/>
              <a:gd name="adj4" fmla="val -16667"/>
              <a:gd name="adj5" fmla="val 75541"/>
              <a:gd name="adj6" fmla="val -51312"/>
            </a:avLst>
          </a:prstGeom>
          <a:ln w="38100"/>
        </p:spPr>
        <p:style>
          <a:lnRef idx="1">
            <a:schemeClr val="accent2"/>
          </a:lnRef>
          <a:fillRef idx="2">
            <a:schemeClr val="accent2"/>
          </a:fillRef>
          <a:effectRef idx="1">
            <a:schemeClr val="accent2"/>
          </a:effectRef>
          <a:fontRef idx="minor">
            <a:schemeClr val="dk1"/>
          </a:fontRef>
        </p:style>
        <p:txBody>
          <a:bodyPr rtlCol="0" anchor="ctr"/>
          <a:lstStyle/>
          <a:p>
            <a:pPr lvl="0" algn="just"/>
            <a:r>
              <a:rPr lang="zh-CN" altLang="en-US" sz="2000" b="1" dirty="0">
                <a:latin typeface="+mn-ea"/>
              </a:rPr>
              <a:t>包括</a:t>
            </a:r>
            <a:r>
              <a:rPr lang="en-US" altLang="zh-CN" sz="2000" b="1" dirty="0">
                <a:solidFill>
                  <a:srgbClr val="FF0000"/>
                </a:solidFill>
                <a:latin typeface="+mn-ea"/>
              </a:rPr>
              <a:t>PCB </a:t>
            </a:r>
            <a:r>
              <a:rPr lang="zh-CN" altLang="en-US" sz="2000" b="1" dirty="0">
                <a:solidFill>
                  <a:srgbClr val="FF0000"/>
                </a:solidFill>
                <a:latin typeface="+mn-ea"/>
              </a:rPr>
              <a:t>结构</a:t>
            </a:r>
            <a:r>
              <a:rPr lang="zh-CN" altLang="en-US" sz="2000" b="1" dirty="0">
                <a:latin typeface="+mn-ea"/>
              </a:rPr>
              <a:t>（</a:t>
            </a:r>
            <a:r>
              <a:rPr lang="en-US" altLang="zh-CN" sz="2000" b="1" dirty="0">
                <a:latin typeface="+mn-ea"/>
              </a:rPr>
              <a:t>UNIX</a:t>
            </a:r>
            <a:r>
              <a:rPr lang="zh-CN" altLang="en-US" sz="2000" b="1" dirty="0">
                <a:latin typeface="+mn-ea"/>
              </a:rPr>
              <a:t>系统中的 </a:t>
            </a:r>
            <a:r>
              <a:rPr lang="en-US" altLang="zh-CN" sz="2000" b="1" dirty="0">
                <a:latin typeface="+mn-ea"/>
              </a:rPr>
              <a:t>PCB</a:t>
            </a:r>
            <a:r>
              <a:rPr lang="zh-CN" altLang="en-US" sz="2000" b="1" dirty="0">
                <a:latin typeface="+mn-ea"/>
              </a:rPr>
              <a:t>结构被分为</a:t>
            </a:r>
            <a:r>
              <a:rPr lang="en-US" altLang="zh-CN" sz="2000" b="1" dirty="0" err="1">
                <a:latin typeface="+mn-ea"/>
              </a:rPr>
              <a:t>proc</a:t>
            </a:r>
            <a:r>
              <a:rPr lang="zh-CN" altLang="en-US" sz="2000" b="1" dirty="0">
                <a:latin typeface="+mn-ea"/>
              </a:rPr>
              <a:t>结构和</a:t>
            </a:r>
            <a:r>
              <a:rPr lang="en-US" altLang="zh-CN" sz="2000" b="1" dirty="0">
                <a:latin typeface="+mn-ea"/>
              </a:rPr>
              <a:t>user</a:t>
            </a:r>
            <a:r>
              <a:rPr lang="zh-CN" altLang="en-US" sz="2000" b="1" dirty="0">
                <a:latin typeface="+mn-ea"/>
              </a:rPr>
              <a:t>结构两</a:t>
            </a:r>
            <a:r>
              <a:rPr lang="zh-CN" altLang="en-US" sz="2000" b="1" dirty="0" smtClean="0">
                <a:latin typeface="+mn-ea"/>
              </a:rPr>
              <a:t>部分</a:t>
            </a:r>
            <a:r>
              <a:rPr lang="zh-CN" altLang="en-US" sz="2000" b="1" dirty="0">
                <a:latin typeface="+mn-ea"/>
              </a:rPr>
              <a:t>。</a:t>
            </a:r>
            <a:r>
              <a:rPr lang="zh-CN" altLang="zh-CN" sz="2000" b="1" dirty="0" smtClean="0">
                <a:solidFill>
                  <a:srgbClr val="333333"/>
                </a:solidFill>
                <a:latin typeface="+mn-ea"/>
              </a:rPr>
              <a:t>proc </a:t>
            </a:r>
            <a:r>
              <a:rPr lang="zh-CN" altLang="zh-CN" sz="2000" b="1" dirty="0">
                <a:solidFill>
                  <a:srgbClr val="333333"/>
                </a:solidFill>
                <a:latin typeface="+mn-ea"/>
              </a:rPr>
              <a:t>结构，它存放着进程最常用的一些信息，所以proc </a:t>
            </a:r>
            <a:r>
              <a:rPr lang="zh-CN" altLang="zh-CN" sz="2000" b="1" dirty="0" smtClean="0">
                <a:solidFill>
                  <a:srgbClr val="333333"/>
                </a:solidFill>
                <a:latin typeface="+mn-ea"/>
              </a:rPr>
              <a:t>结构</a:t>
            </a:r>
            <a:r>
              <a:rPr lang="zh-CN" altLang="zh-CN" sz="2000" b="1" dirty="0">
                <a:solidFill>
                  <a:srgbClr val="333333"/>
                </a:solidFill>
                <a:latin typeface="+mn-ea"/>
              </a:rPr>
              <a:t>一般常驻内存</a:t>
            </a:r>
            <a:r>
              <a:rPr lang="zh-CN" altLang="zh-CN" sz="2000" b="1" dirty="0" smtClean="0">
                <a:solidFill>
                  <a:srgbClr val="333333"/>
                </a:solidFill>
                <a:latin typeface="+mn-ea"/>
              </a:rPr>
              <a:t>。</a:t>
            </a:r>
            <a:r>
              <a:rPr lang="zh-CN" altLang="zh-CN" sz="2000" b="1" dirty="0">
                <a:solidFill>
                  <a:srgbClr val="333333"/>
                </a:solidFill>
                <a:latin typeface="+mn-ea"/>
              </a:rPr>
              <a:t>user </a:t>
            </a:r>
            <a:r>
              <a:rPr lang="zh-CN" altLang="zh-CN" sz="2000" b="1" dirty="0" smtClean="0">
                <a:solidFill>
                  <a:srgbClr val="333333"/>
                </a:solidFill>
                <a:latin typeface="+mn-ea"/>
              </a:rPr>
              <a:t>结构为</a:t>
            </a:r>
            <a:r>
              <a:rPr lang="zh-CN" altLang="zh-CN" sz="2000" b="1" dirty="0">
                <a:solidFill>
                  <a:srgbClr val="333333"/>
                </a:solidFill>
                <a:latin typeface="+mn-ea"/>
              </a:rPr>
              <a:t>进程扩充控制</a:t>
            </a:r>
            <a:r>
              <a:rPr lang="zh-CN" altLang="zh-CN" sz="2000" b="1" dirty="0" smtClean="0">
                <a:solidFill>
                  <a:srgbClr val="333333"/>
                </a:solidFill>
                <a:latin typeface="+mn-ea"/>
              </a:rPr>
              <a:t>块，</a:t>
            </a:r>
            <a:r>
              <a:rPr lang="zh-CN" altLang="zh-CN" sz="2000" b="1" dirty="0">
                <a:solidFill>
                  <a:srgbClr val="333333"/>
                </a:solidFill>
                <a:latin typeface="+mn-ea"/>
              </a:rPr>
              <a:t>它存放着进程的一些必要但不常使用的</a:t>
            </a:r>
            <a:r>
              <a:rPr lang="zh-CN" altLang="zh-CN" sz="2000" b="1" dirty="0" smtClean="0">
                <a:solidFill>
                  <a:srgbClr val="333333"/>
                </a:solidFill>
                <a:latin typeface="+mn-ea"/>
              </a:rPr>
              <a:t>信息</a:t>
            </a:r>
            <a:r>
              <a:rPr lang="zh-CN" altLang="en-US" sz="2000" b="1" dirty="0" smtClean="0">
                <a:latin typeface="+mn-ea"/>
              </a:rPr>
              <a:t>）</a:t>
            </a:r>
            <a:r>
              <a:rPr lang="zh-CN" altLang="en-US" sz="2000" b="1" dirty="0">
                <a:latin typeface="+mn-ea"/>
              </a:rPr>
              <a:t>、将</a:t>
            </a:r>
            <a:r>
              <a:rPr lang="zh-CN" altLang="en-US" sz="2000" b="1" dirty="0">
                <a:solidFill>
                  <a:srgbClr val="FF0000"/>
                </a:solidFill>
                <a:latin typeface="+mn-ea"/>
              </a:rPr>
              <a:t>进程虚地址空间映射到物理空间用的有关表格</a:t>
            </a:r>
            <a:r>
              <a:rPr lang="zh-CN" altLang="en-US" sz="2000" b="1" dirty="0">
                <a:latin typeface="+mn-ea"/>
              </a:rPr>
              <a:t>和</a:t>
            </a:r>
            <a:r>
              <a:rPr lang="zh-CN" altLang="en-US" sz="2000" b="1" dirty="0">
                <a:solidFill>
                  <a:srgbClr val="FF0000"/>
                </a:solidFill>
                <a:latin typeface="+mn-ea"/>
              </a:rPr>
              <a:t>核心栈</a:t>
            </a:r>
            <a:r>
              <a:rPr lang="zh-CN" altLang="en-US" sz="2000" b="1" dirty="0">
                <a:latin typeface="+mn-ea"/>
              </a:rPr>
              <a:t>。这里，核心栈主要用来装载进程中所使用系统调用的调用序列。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进程上下文的切换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0" name="Picture 6" descr="c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1008095"/>
            <a:ext cx="4802137" cy="3662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5076056" y="1131590"/>
            <a:ext cx="3888432" cy="3477875"/>
          </a:xfrm>
          <a:prstGeom prst="rect">
            <a:avLst/>
          </a:prstGeom>
          <a:solidFill>
            <a:srgbClr val="006600"/>
          </a:solidFill>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sz="2200" b="1" dirty="0" smtClean="0">
                <a:solidFill>
                  <a:schemeClr val="bg1"/>
                </a:solidFill>
              </a:rPr>
              <a:t>进程上下文切换涉及系统调度和分配程序，这些都比较耗费</a:t>
            </a:r>
            <a:r>
              <a:rPr lang="en-US" altLang="zh-CN" sz="2200" b="1" dirty="0" smtClean="0">
                <a:solidFill>
                  <a:schemeClr val="bg1"/>
                </a:solidFill>
              </a:rPr>
              <a:t>CPU</a:t>
            </a:r>
            <a:r>
              <a:rPr lang="zh-CN" altLang="en-US" sz="2200" b="1" dirty="0" smtClean="0">
                <a:solidFill>
                  <a:schemeClr val="bg1"/>
                </a:solidFill>
              </a:rPr>
              <a:t>时间。为了提高系统执行效率，有的计算机在设计时采用了多组寄存器技术。即进程上下文切换时，不保留被切换进程上下文的正文，但保留切换进程执行时所使用的寄存器。这样就减少了数据保存和获取所耗费的时间。</a:t>
            </a:r>
            <a:endParaRPr lang="zh-CN" altLang="en-US" sz="2200" b="1"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多进程如何交替</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p>
        </p:txBody>
      </p:sp>
      <p:pic>
        <p:nvPicPr>
          <p:cNvPr id="3" name="图片 2"/>
          <p:cNvPicPr>
            <a:picLocks noChangeAspect="1"/>
          </p:cNvPicPr>
          <p:nvPr/>
        </p:nvPicPr>
        <p:blipFill>
          <a:blip r:embed="rId2"/>
          <a:stretch>
            <a:fillRect/>
          </a:stretch>
        </p:blipFill>
        <p:spPr>
          <a:xfrm>
            <a:off x="1691680" y="810953"/>
            <a:ext cx="5685013" cy="3871295"/>
          </a:xfrm>
          <a:prstGeom prst="rect">
            <a:avLst/>
          </a:prstGeom>
        </p:spPr>
      </p:pic>
      <p:sp>
        <p:nvSpPr>
          <p:cNvPr id="4" name="矩形标注 3"/>
          <p:cNvSpPr/>
          <p:nvPr/>
        </p:nvSpPr>
        <p:spPr>
          <a:xfrm>
            <a:off x="4716016" y="699652"/>
            <a:ext cx="1584176" cy="572769"/>
          </a:xfrm>
          <a:prstGeom prst="wedgeRectCallout">
            <a:avLst>
              <a:gd name="adj1" fmla="val -104528"/>
              <a:gd name="adj2" fmla="val 63830"/>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b="1" dirty="0" smtClean="0"/>
              <a:t>将进程状态置为“等待态”</a:t>
            </a:r>
            <a:endParaRPr lang="zh-CN" altLang="en-US" b="1" dirty="0"/>
          </a:p>
        </p:txBody>
      </p:sp>
      <p:sp>
        <p:nvSpPr>
          <p:cNvPr id="29" name="矩形标注 28"/>
          <p:cNvSpPr/>
          <p:nvPr/>
        </p:nvSpPr>
        <p:spPr>
          <a:xfrm>
            <a:off x="6156176" y="1281469"/>
            <a:ext cx="1584176" cy="572769"/>
          </a:xfrm>
          <a:prstGeom prst="wedgeRectCallout">
            <a:avLst>
              <a:gd name="adj1" fmla="val -104528"/>
              <a:gd name="adj2" fmla="val 63830"/>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smtClean="0"/>
              <a:t>将进程放入等待队列中</a:t>
            </a:r>
            <a:endParaRPr lang="zh-CN" altLang="en-US" b="1" dirty="0"/>
          </a:p>
        </p:txBody>
      </p:sp>
      <p:sp>
        <p:nvSpPr>
          <p:cNvPr id="30" name="矩形标注 29"/>
          <p:cNvSpPr/>
          <p:nvPr/>
        </p:nvSpPr>
        <p:spPr>
          <a:xfrm>
            <a:off x="5792516" y="2139702"/>
            <a:ext cx="2163860" cy="1004817"/>
          </a:xfrm>
          <a:prstGeom prst="wedgeRectCallout">
            <a:avLst>
              <a:gd name="adj1" fmla="val -135992"/>
              <a:gd name="adj2" fmla="val 94507"/>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smtClean="0"/>
              <a:t>从就绪队列中取出下一个进程（选择哪一个？调度策略）</a:t>
            </a:r>
            <a:endParaRPr lang="zh-CN" altLang="en-US" b="1" dirty="0"/>
          </a:p>
        </p:txBody>
      </p:sp>
      <p:sp>
        <p:nvSpPr>
          <p:cNvPr id="31" name="矩形标注 30"/>
          <p:cNvSpPr/>
          <p:nvPr/>
        </p:nvSpPr>
        <p:spPr>
          <a:xfrm>
            <a:off x="6620609" y="3579863"/>
            <a:ext cx="1875828" cy="835888"/>
          </a:xfrm>
          <a:prstGeom prst="wedgeRectCallout">
            <a:avLst>
              <a:gd name="adj1" fmla="val -144664"/>
              <a:gd name="adj2" fmla="val -5817"/>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smtClean="0"/>
              <a:t>在两个进程所对应的上下文之间进行切换（</a:t>
            </a:r>
            <a:r>
              <a:rPr lang="en-US" altLang="zh-CN" b="1" dirty="0" smtClean="0"/>
              <a:t>PCB</a:t>
            </a:r>
            <a:r>
              <a:rPr lang="zh-CN" altLang="en-US" b="1" dirty="0" smtClean="0"/>
              <a:t>）</a:t>
            </a:r>
            <a:endParaRPr lang="zh-CN" altLang="en-US"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9" grpId="0" animBg="1"/>
      <p:bldP spid="30" grpId="0" animBg="1"/>
      <p:bldP spid="3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6793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交替的三个部分：队列操作</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切换</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rotWithShape="1">
          <a:blip r:embed="rId3"/>
          <a:srcRect r="44210"/>
          <a:stretch>
            <a:fillRect/>
          </a:stretch>
        </p:blipFill>
        <p:spPr>
          <a:xfrm>
            <a:off x="829612" y="819174"/>
            <a:ext cx="4093493" cy="4297427"/>
          </a:xfrm>
          <a:prstGeom prst="rect">
            <a:avLst/>
          </a:prstGeom>
        </p:spPr>
      </p:pic>
      <p:sp>
        <p:nvSpPr>
          <p:cNvPr id="5" name="椭圆 4"/>
          <p:cNvSpPr/>
          <p:nvPr/>
        </p:nvSpPr>
        <p:spPr>
          <a:xfrm>
            <a:off x="5671364" y="1563638"/>
            <a:ext cx="792088" cy="576064"/>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smtClean="0"/>
              <a:t>PCB1</a:t>
            </a:r>
            <a:endParaRPr lang="zh-CN" altLang="en-US" dirty="0"/>
          </a:p>
        </p:txBody>
      </p:sp>
      <p:sp>
        <p:nvSpPr>
          <p:cNvPr id="32" name="椭圆 31"/>
          <p:cNvSpPr/>
          <p:nvPr/>
        </p:nvSpPr>
        <p:spPr>
          <a:xfrm>
            <a:off x="6732240" y="1563638"/>
            <a:ext cx="792088" cy="576064"/>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dirty="0" smtClean="0"/>
              <a:t>PCB2</a:t>
            </a:r>
            <a:endParaRPr lang="zh-CN" altLang="en-US" dirty="0"/>
          </a:p>
        </p:txBody>
      </p:sp>
      <p:cxnSp>
        <p:nvCxnSpPr>
          <p:cNvPr id="7" name="直接箭头连接符 6"/>
          <p:cNvCxnSpPr>
            <a:stCxn id="5" idx="4"/>
          </p:cNvCxnSpPr>
          <p:nvPr/>
        </p:nvCxnSpPr>
        <p:spPr>
          <a:xfrm>
            <a:off x="6067408" y="2139702"/>
            <a:ext cx="540060" cy="576064"/>
          </a:xfrm>
          <a:prstGeom prst="straightConnector1">
            <a:avLst/>
          </a:prstGeom>
          <a:ln w="28575">
            <a:solidFill>
              <a:srgbClr val="FFFF00"/>
            </a:solidFill>
            <a:tailEnd type="triangle"/>
          </a:ln>
        </p:spPr>
        <p:style>
          <a:lnRef idx="1">
            <a:schemeClr val="accent6"/>
          </a:lnRef>
          <a:fillRef idx="0">
            <a:schemeClr val="accent6"/>
          </a:fillRef>
          <a:effectRef idx="0">
            <a:schemeClr val="accent6"/>
          </a:effectRef>
          <a:fontRef idx="minor">
            <a:schemeClr val="tx1"/>
          </a:fontRef>
        </p:style>
      </p:cxnSp>
      <p:cxnSp>
        <p:nvCxnSpPr>
          <p:cNvPr id="34" name="直接箭头连接符 33"/>
          <p:cNvCxnSpPr/>
          <p:nvPr/>
        </p:nvCxnSpPr>
        <p:spPr>
          <a:xfrm flipH="1">
            <a:off x="6607468" y="2139702"/>
            <a:ext cx="497356" cy="576064"/>
          </a:xfrm>
          <a:prstGeom prst="straightConnector1">
            <a:avLst/>
          </a:prstGeom>
          <a:ln w="28575">
            <a:solidFill>
              <a:srgbClr val="FFFF00"/>
            </a:solidFill>
            <a:tailEnd type="triangle"/>
          </a:ln>
        </p:spPr>
        <p:style>
          <a:lnRef idx="1">
            <a:schemeClr val="accent6"/>
          </a:lnRef>
          <a:fillRef idx="0">
            <a:schemeClr val="accent6"/>
          </a:fillRef>
          <a:effectRef idx="0">
            <a:schemeClr val="accent6"/>
          </a:effectRef>
          <a:fontRef idx="minor">
            <a:schemeClr val="tx1"/>
          </a:fontRef>
        </p:style>
      </p:cxnSp>
      <p:cxnSp>
        <p:nvCxnSpPr>
          <p:cNvPr id="35" name="直接箭头连接符 34"/>
          <p:cNvCxnSpPr/>
          <p:nvPr/>
        </p:nvCxnSpPr>
        <p:spPr>
          <a:xfrm>
            <a:off x="6607468" y="3303632"/>
            <a:ext cx="0" cy="409994"/>
          </a:xfrm>
          <a:prstGeom prst="straightConnector1">
            <a:avLst/>
          </a:prstGeom>
          <a:ln w="28575">
            <a:solidFill>
              <a:srgbClr val="FFFF00"/>
            </a:solidFill>
            <a:tailEnd type="triangle"/>
          </a:ln>
        </p:spPr>
        <p:style>
          <a:lnRef idx="1">
            <a:schemeClr val="accent6"/>
          </a:lnRef>
          <a:fillRef idx="0">
            <a:schemeClr val="accent6"/>
          </a:fillRef>
          <a:effectRef idx="0">
            <a:schemeClr val="accent6"/>
          </a:effectRef>
          <a:fontRef idx="minor">
            <a:schemeClr val="tx1"/>
          </a:fontRef>
        </p:style>
      </p:cxnSp>
      <p:sp>
        <p:nvSpPr>
          <p:cNvPr id="10" name="矩形 9"/>
          <p:cNvSpPr/>
          <p:nvPr/>
        </p:nvSpPr>
        <p:spPr>
          <a:xfrm>
            <a:off x="6178770" y="3731170"/>
            <a:ext cx="857396" cy="4423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1" dirty="0" smtClean="0"/>
              <a:t>内存</a:t>
            </a:r>
            <a:endParaRPr lang="zh-CN" altLang="en-US" b="1" dirty="0"/>
          </a:p>
        </p:txBody>
      </p:sp>
      <p:sp>
        <p:nvSpPr>
          <p:cNvPr id="11" name="文本框 10"/>
          <p:cNvSpPr txBox="1"/>
          <p:nvPr/>
        </p:nvSpPr>
        <p:spPr>
          <a:xfrm>
            <a:off x="5191893" y="2870692"/>
            <a:ext cx="1194211" cy="369332"/>
          </a:xfrm>
          <a:prstGeom prst="rect">
            <a:avLst/>
          </a:prstGeom>
          <a:noFill/>
        </p:spPr>
        <p:txBody>
          <a:bodyPr wrap="square" rtlCol="0">
            <a:spAutoFit/>
          </a:bodyPr>
          <a:lstStyle/>
          <a:p>
            <a:r>
              <a:rPr lang="zh-CN" altLang="en-US" b="1" dirty="0" smtClean="0">
                <a:solidFill>
                  <a:schemeClr val="bg1"/>
                </a:solidFill>
              </a:rPr>
              <a:t>物理</a:t>
            </a:r>
            <a:r>
              <a:rPr lang="en-US" altLang="zh-CN" b="1" dirty="0" smtClean="0">
                <a:solidFill>
                  <a:schemeClr val="bg1"/>
                </a:solidFill>
              </a:rPr>
              <a:t>CPU</a:t>
            </a:r>
            <a:endParaRPr lang="zh-CN" altLang="en-US" b="1" dirty="0">
              <a:solidFill>
                <a:schemeClr val="bg1"/>
              </a:solidFill>
            </a:endParaRPr>
          </a:p>
        </p:txBody>
      </p:sp>
      <p:sp>
        <p:nvSpPr>
          <p:cNvPr id="36" name="椭圆 35"/>
          <p:cNvSpPr/>
          <p:nvPr/>
        </p:nvSpPr>
        <p:spPr>
          <a:xfrm>
            <a:off x="6172070" y="2731613"/>
            <a:ext cx="864096" cy="576064"/>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smtClean="0"/>
              <a:t>CPU</a:t>
            </a:r>
            <a:endParaRPr lang="zh-CN" altLang="en-US" dirty="0"/>
          </a:p>
        </p:txBody>
      </p:sp>
      <p:sp>
        <p:nvSpPr>
          <p:cNvPr id="38" name="椭圆 37"/>
          <p:cNvSpPr/>
          <p:nvPr/>
        </p:nvSpPr>
        <p:spPr>
          <a:xfrm>
            <a:off x="6199812" y="2718796"/>
            <a:ext cx="792088" cy="576064"/>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smtClean="0"/>
              <a:t>PCB1</a:t>
            </a:r>
            <a:endParaRPr lang="zh-CN" altLang="en-US" dirty="0"/>
          </a:p>
        </p:txBody>
      </p:sp>
      <p:sp>
        <p:nvSpPr>
          <p:cNvPr id="41" name="椭圆 40"/>
          <p:cNvSpPr/>
          <p:nvPr/>
        </p:nvSpPr>
        <p:spPr>
          <a:xfrm>
            <a:off x="6732240" y="1563638"/>
            <a:ext cx="792088" cy="576064"/>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dirty="0" smtClean="0"/>
              <a:t>PCB2</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4" presetClass="path" presetSubtype="0" accel="50000" decel="50000" fill="hold" grpId="0" nodeType="clickEffect">
                                  <p:stCondLst>
                                    <p:cond delay="0"/>
                                  </p:stCondLst>
                                  <p:childTnLst>
                                    <p:animMotion origin="layout" path="M -5.55556E-7 2.09877E-6 L -0.05764 -0.22469 " pathEditMode="relative" rAng="0" ptsTypes="AA">
                                      <p:cBhvr>
                                        <p:cTn id="10" dur="2000" fill="hold"/>
                                        <p:tgtEl>
                                          <p:spTgt spid="38"/>
                                        </p:tgtEl>
                                        <p:attrNameLst>
                                          <p:attrName>ppt_x</p:attrName>
                                          <p:attrName>ppt_y</p:attrName>
                                        </p:attrNameLst>
                                      </p:cBhvr>
                                      <p:rCtr x="-2882" y="-11235"/>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3.88889E-6 3.45679E-6 L -0.05833 0.22469 " pathEditMode="relative" rAng="0" ptsTypes="AA">
                                      <p:cBhvr>
                                        <p:cTn id="14" dur="2000" fill="hold"/>
                                        <p:tgtEl>
                                          <p:spTgt spid="41"/>
                                        </p:tgtEl>
                                        <p:attrNameLst>
                                          <p:attrName>ppt_x</p:attrName>
                                          <p:attrName>ppt_y</p:attrName>
                                        </p:attrNameLst>
                                      </p:cBhvr>
                                      <p:rCtr x="-2847" y="11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4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多进程之间相互影响</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2"/>
          <a:stretch>
            <a:fillRect/>
          </a:stretch>
        </p:blipFill>
        <p:spPr>
          <a:xfrm>
            <a:off x="755576" y="787864"/>
            <a:ext cx="7167619" cy="41270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进程空间与大小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984776" cy="3194721"/>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任一进程，都有一个自己的地址空间，把该空间称为</a:t>
            </a:r>
            <a:r>
              <a:rPr lang="zh-CN" altLang="en-US" sz="2400" b="1" dirty="0">
                <a:solidFill>
                  <a:srgbClr val="FFFF00"/>
                </a:solidFill>
                <a:latin typeface="+mn-ea"/>
              </a:rPr>
              <a:t>进程空间</a:t>
            </a:r>
            <a:r>
              <a:rPr lang="zh-CN" altLang="en-US" sz="2400" b="1" dirty="0">
                <a:solidFill>
                  <a:schemeClr val="bg1"/>
                </a:solidFill>
                <a:latin typeface="+mn-ea"/>
              </a:rPr>
              <a:t>或</a:t>
            </a:r>
            <a:r>
              <a:rPr lang="zh-CN" altLang="en-US" sz="2400" b="1" dirty="0">
                <a:solidFill>
                  <a:srgbClr val="FFFF00"/>
                </a:solidFill>
                <a:latin typeface="+mn-ea"/>
              </a:rPr>
              <a:t>虚空间</a:t>
            </a:r>
            <a:r>
              <a:rPr lang="zh-CN" altLang="en-US" sz="2400" b="1" dirty="0">
                <a:solidFill>
                  <a:schemeClr val="bg1"/>
                </a:solidFill>
                <a:latin typeface="+mn-ea"/>
              </a:rPr>
              <a:t>。进程空间的大小只与处理机的位数有关。例如，一个</a:t>
            </a:r>
            <a:r>
              <a:rPr lang="en-US" altLang="zh-CN" sz="2400" b="1" dirty="0">
                <a:solidFill>
                  <a:schemeClr val="bg1"/>
                </a:solidFill>
                <a:latin typeface="+mn-ea"/>
              </a:rPr>
              <a:t>16</a:t>
            </a:r>
            <a:r>
              <a:rPr lang="zh-CN" altLang="en-US" sz="2400" b="1" dirty="0">
                <a:solidFill>
                  <a:schemeClr val="bg1"/>
                </a:solidFill>
                <a:latin typeface="+mn-ea"/>
              </a:rPr>
              <a:t>位长处理机的进程空间大小为</a:t>
            </a:r>
            <a:r>
              <a:rPr lang="en-US" altLang="zh-CN" sz="2400" b="1" dirty="0">
                <a:solidFill>
                  <a:schemeClr val="bg1"/>
                </a:solidFill>
                <a:latin typeface="+mn-ea"/>
              </a:rPr>
              <a:t>2</a:t>
            </a:r>
            <a:r>
              <a:rPr lang="en-US" altLang="zh-CN" sz="2400" b="1" baseline="30000" dirty="0">
                <a:solidFill>
                  <a:schemeClr val="bg1"/>
                </a:solidFill>
                <a:latin typeface="+mn-ea"/>
              </a:rPr>
              <a:t>16</a:t>
            </a:r>
            <a:r>
              <a:rPr lang="zh-CN" altLang="en-US" sz="2400" b="1" dirty="0">
                <a:solidFill>
                  <a:schemeClr val="bg1"/>
                </a:solidFill>
                <a:latin typeface="+mn-ea"/>
              </a:rPr>
              <a:t>，而</a:t>
            </a:r>
            <a:r>
              <a:rPr lang="en-US" altLang="zh-CN" sz="2400" b="1" dirty="0">
                <a:solidFill>
                  <a:schemeClr val="bg1"/>
                </a:solidFill>
                <a:latin typeface="+mn-ea"/>
              </a:rPr>
              <a:t>32</a:t>
            </a:r>
            <a:r>
              <a:rPr lang="zh-CN" altLang="en-US" sz="2400" b="1" dirty="0">
                <a:solidFill>
                  <a:schemeClr val="bg1"/>
                </a:solidFill>
                <a:latin typeface="+mn-ea"/>
              </a:rPr>
              <a:t>位长处理机的进程空间大小为</a:t>
            </a:r>
            <a:r>
              <a:rPr lang="en-US" altLang="zh-CN" sz="2400" b="1" dirty="0">
                <a:solidFill>
                  <a:schemeClr val="bg1"/>
                </a:solidFill>
                <a:latin typeface="+mn-ea"/>
              </a:rPr>
              <a:t>2</a:t>
            </a:r>
            <a:r>
              <a:rPr lang="en-US" altLang="zh-CN" sz="2400" b="1" baseline="30000" dirty="0">
                <a:solidFill>
                  <a:schemeClr val="bg1"/>
                </a:solidFill>
                <a:latin typeface="+mn-ea"/>
              </a:rPr>
              <a:t>32</a:t>
            </a:r>
            <a:r>
              <a:rPr lang="zh-CN" altLang="en-US" sz="2400" b="1" dirty="0">
                <a:solidFill>
                  <a:schemeClr val="bg1"/>
                </a:solidFill>
                <a:latin typeface="+mn-ea"/>
              </a:rPr>
              <a:t>。程序的执行都在进程空间内进行。</a:t>
            </a:r>
            <a:r>
              <a:rPr lang="zh-CN" altLang="en-US" sz="2400" b="1" dirty="0">
                <a:solidFill>
                  <a:srgbClr val="FFFF00"/>
                </a:solidFill>
                <a:latin typeface="+mn-ea"/>
              </a:rPr>
              <a:t>用户程序</a:t>
            </a:r>
            <a:r>
              <a:rPr lang="zh-CN" altLang="en-US" sz="2400" b="1" dirty="0">
                <a:solidFill>
                  <a:schemeClr val="bg1"/>
                </a:solidFill>
                <a:latin typeface="+mn-ea"/>
              </a:rPr>
              <a:t>、</a:t>
            </a:r>
            <a:r>
              <a:rPr lang="zh-CN" altLang="en-US" sz="2400" b="1" dirty="0">
                <a:solidFill>
                  <a:srgbClr val="FFFF00"/>
                </a:solidFill>
                <a:latin typeface="+mn-ea"/>
              </a:rPr>
              <a:t>进程的各种控制表格</a:t>
            </a:r>
            <a:r>
              <a:rPr lang="zh-CN" altLang="en-US" sz="2400" b="1" dirty="0">
                <a:solidFill>
                  <a:schemeClr val="bg1"/>
                </a:solidFill>
                <a:latin typeface="+mn-ea"/>
              </a:rPr>
              <a:t>等都按一定的结构排列在进程空间中。</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进程执行时的</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100…</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2"/>
          <a:stretch>
            <a:fillRect/>
          </a:stretch>
        </p:blipFill>
        <p:spPr>
          <a:xfrm>
            <a:off x="433997" y="680784"/>
            <a:ext cx="7954428" cy="438091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进程执行时的</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100…</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2"/>
          <a:stretch>
            <a:fillRect/>
          </a:stretch>
        </p:blipFill>
        <p:spPr>
          <a:xfrm>
            <a:off x="797333" y="527889"/>
            <a:ext cx="6683319" cy="46867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43648" y="571711"/>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进程的概念及描述</a:t>
              </a:r>
              <a:endParaRPr lang="en-US" altLang="zh-CN"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进程状态及其转换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进程控制、互斥、同步与通信</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3</a:t>
              </a:r>
            </a:p>
          </p:txBody>
        </p:sp>
      </p:grpSp>
      <p:grpSp>
        <p:nvGrpSpPr>
          <p:cNvPr id="27" name="Group 61"/>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死锁问题               </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4</a:t>
              </a:r>
            </a:p>
          </p:txBody>
        </p:sp>
      </p:grpSp>
      <p:grpSp>
        <p:nvGrpSpPr>
          <p:cNvPr id="32" name="Group 51"/>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线程的概念、分类与执行</a:t>
              </a:r>
              <a:endParaRPr lang="en-US" altLang="zh-CN"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6"/>
                                        </p:tgtEl>
                                      </p:cBhvr>
                                      <p:by x="150000" y="150000"/>
                                    </p:animScale>
                                  </p:childTnLst>
                                </p:cTn>
                              </p:par>
                              <p:par>
                                <p:cTn id="7" presetID="42" presetClass="path" presetSubtype="0" accel="50000" decel="50000" fill="hold" nodeType="withEffect">
                                  <p:stCondLst>
                                    <p:cond delay="0"/>
                                  </p:stCondLst>
                                  <p:childTnLst>
                                    <p:animMotion origin="layout" path="M -3.61111E-6 -3.7037E-6 L 0.00139 0.15741 " pathEditMode="relative" rAng="0" ptsTypes="AA">
                                      <p:cBhvr>
                                        <p:cTn id="8" dur="2000" fill="hold"/>
                                        <p:tgtEl>
                                          <p:spTgt spid="16"/>
                                        </p:tgtEl>
                                        <p:attrNameLst>
                                          <p:attrName>ppt_x</p:attrName>
                                          <p:attrName>ppt_y</p:attrName>
                                        </p:attrNameLst>
                                      </p:cBhvr>
                                      <p:rCtr x="69" y="7870"/>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27"/>
                                        </p:tgtEl>
                                      </p:cBhvr>
                                    </p:animEffect>
                                    <p:set>
                                      <p:cBhvr>
                                        <p:cTn id="14" dur="1" fill="hold">
                                          <p:stCondLst>
                                            <p:cond delay="1999"/>
                                          </p:stCondLst>
                                        </p:cTn>
                                        <p:tgtEl>
                                          <p:spTgt spid="27"/>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32"/>
                                        </p:tgtEl>
                                      </p:cBhvr>
                                    </p:animEffect>
                                    <p:set>
                                      <p:cBhvr>
                                        <p:cTn id="17" dur="1" fill="hold">
                                          <p:stCondLst>
                                            <p:cond delay="1999"/>
                                          </p:stCondLst>
                                        </p:cTn>
                                        <p:tgtEl>
                                          <p:spTgt spid="32"/>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1"/>
                                        </p:tgtEl>
                                      </p:cBhvr>
                                    </p:animEffect>
                                    <p:set>
                                      <p:cBhvr>
                                        <p:cTn id="20" dur="1" fill="hold">
                                          <p:stCondLst>
                                            <p:cond delay="1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进程状态及其转换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984776" cy="3637919"/>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一个进程的生命期可以划分为一组状态，这些状态刻划了整个进程。系统根据</a:t>
            </a:r>
            <a:r>
              <a:rPr lang="en-US" altLang="zh-CN" sz="2400" b="1" dirty="0">
                <a:solidFill>
                  <a:schemeClr val="bg1"/>
                </a:solidFill>
                <a:latin typeface="+mn-ea"/>
              </a:rPr>
              <a:t>PCB </a:t>
            </a:r>
            <a:r>
              <a:rPr lang="zh-CN" altLang="en-US" sz="2400" b="1" dirty="0">
                <a:solidFill>
                  <a:schemeClr val="bg1"/>
                </a:solidFill>
                <a:latin typeface="+mn-ea"/>
              </a:rPr>
              <a:t>结构中的状态值控制进程。在进程的生命期内，一个进程至少</a:t>
            </a:r>
            <a:r>
              <a:rPr lang="zh-CN" altLang="en-US" sz="2400" b="1" dirty="0" smtClean="0">
                <a:solidFill>
                  <a:schemeClr val="bg1"/>
                </a:solidFill>
                <a:latin typeface="+mn-ea"/>
              </a:rPr>
              <a:t>具有五种</a:t>
            </a:r>
            <a:r>
              <a:rPr lang="zh-CN" altLang="en-US" sz="2400" b="1" dirty="0">
                <a:solidFill>
                  <a:schemeClr val="bg1"/>
                </a:solidFill>
                <a:latin typeface="+mn-ea"/>
              </a:rPr>
              <a:t>基本状态，它们是</a:t>
            </a:r>
            <a:r>
              <a:rPr lang="zh-CN" altLang="en-US" sz="2400" b="1" dirty="0" smtClean="0">
                <a:solidFill>
                  <a:schemeClr val="bg1"/>
                </a:solidFill>
                <a:latin typeface="+mn-ea"/>
              </a:rPr>
              <a:t>：</a:t>
            </a:r>
            <a:r>
              <a:rPr lang="zh-CN" altLang="en-US" sz="2400" b="1" dirty="0" smtClean="0">
                <a:solidFill>
                  <a:srgbClr val="FFFF00"/>
                </a:solidFill>
                <a:latin typeface="+mn-ea"/>
              </a:rPr>
              <a:t>初始态</a:t>
            </a:r>
            <a:r>
              <a:rPr lang="zh-CN" altLang="en-US" sz="2400" b="1" dirty="0" smtClean="0">
                <a:solidFill>
                  <a:schemeClr val="bg1"/>
                </a:solidFill>
                <a:latin typeface="+mn-ea"/>
              </a:rPr>
              <a:t>、</a:t>
            </a:r>
            <a:r>
              <a:rPr lang="zh-CN" altLang="en-US" sz="2400" b="1" dirty="0" smtClean="0">
                <a:solidFill>
                  <a:srgbClr val="FFFF00"/>
                </a:solidFill>
                <a:latin typeface="+mn-ea"/>
              </a:rPr>
              <a:t>执行</a:t>
            </a:r>
            <a:r>
              <a:rPr lang="zh-CN" altLang="en-US" sz="2400" b="1" dirty="0">
                <a:solidFill>
                  <a:srgbClr val="FFFF00"/>
                </a:solidFill>
                <a:latin typeface="+mn-ea"/>
              </a:rPr>
              <a:t>状态</a:t>
            </a:r>
            <a:r>
              <a:rPr lang="zh-CN" altLang="en-US" sz="2400" b="1" dirty="0">
                <a:solidFill>
                  <a:schemeClr val="bg1"/>
                </a:solidFill>
                <a:latin typeface="+mn-ea"/>
              </a:rPr>
              <a:t>、</a:t>
            </a:r>
            <a:r>
              <a:rPr lang="zh-CN" altLang="en-US" sz="2400" b="1" dirty="0">
                <a:solidFill>
                  <a:srgbClr val="FFFF00"/>
                </a:solidFill>
                <a:latin typeface="+mn-ea"/>
              </a:rPr>
              <a:t>等待</a:t>
            </a:r>
            <a:r>
              <a:rPr lang="zh-CN" altLang="en-US" sz="2400" b="1" dirty="0" smtClean="0">
                <a:solidFill>
                  <a:srgbClr val="FFFF00"/>
                </a:solidFill>
                <a:latin typeface="+mn-ea"/>
              </a:rPr>
              <a:t>状态</a:t>
            </a:r>
            <a:r>
              <a:rPr lang="zh-CN" altLang="en-US" sz="2400" b="1" dirty="0" smtClean="0">
                <a:solidFill>
                  <a:schemeClr val="bg1"/>
                </a:solidFill>
                <a:latin typeface="+mn-ea"/>
              </a:rPr>
              <a:t>、</a:t>
            </a:r>
            <a:r>
              <a:rPr lang="zh-CN" altLang="en-US" sz="2400" b="1" dirty="0" smtClean="0">
                <a:solidFill>
                  <a:srgbClr val="FFFF00"/>
                </a:solidFill>
                <a:latin typeface="+mn-ea"/>
              </a:rPr>
              <a:t>就绪状态</a:t>
            </a:r>
            <a:r>
              <a:rPr lang="zh-CN" altLang="en-US" sz="2400" b="1" dirty="0" smtClean="0">
                <a:solidFill>
                  <a:schemeClr val="bg1"/>
                </a:solidFill>
                <a:latin typeface="+mn-ea"/>
              </a:rPr>
              <a:t>和</a:t>
            </a:r>
            <a:r>
              <a:rPr lang="zh-CN" altLang="en-US" sz="2400" b="1" dirty="0" smtClean="0">
                <a:solidFill>
                  <a:srgbClr val="FFFF00"/>
                </a:solidFill>
                <a:latin typeface="+mn-ea"/>
              </a:rPr>
              <a:t>终止状态</a:t>
            </a:r>
            <a:r>
              <a:rPr lang="zh-CN" altLang="en-US" sz="2400" b="1" dirty="0" smtClean="0">
                <a:solidFill>
                  <a:schemeClr val="bg1"/>
                </a:solidFill>
                <a:latin typeface="+mn-ea"/>
              </a:rPr>
              <a:t>。</a:t>
            </a:r>
            <a:endParaRPr lang="zh-CN" altLang="en-US" sz="2400" b="1" dirty="0">
              <a:solidFill>
                <a:schemeClr val="bg1"/>
              </a:solidFill>
              <a:latin typeface="+mn-ea"/>
            </a:endParaRPr>
          </a:p>
          <a:p>
            <a:pPr marL="0" lvl="1" algn="just">
              <a:lnSpc>
                <a:spcPct val="12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处于</a:t>
            </a:r>
            <a:r>
              <a:rPr lang="zh-CN" altLang="en-US" sz="2400" b="1" dirty="0">
                <a:solidFill>
                  <a:srgbClr val="FFFF00"/>
                </a:solidFill>
                <a:latin typeface="+mn-ea"/>
              </a:rPr>
              <a:t>就绪状态的进程已经得到</a:t>
            </a:r>
            <a:r>
              <a:rPr lang="zh-CN" altLang="en-US" sz="2400" b="1" dirty="0" smtClean="0">
                <a:solidFill>
                  <a:srgbClr val="FFFF00"/>
                </a:solidFill>
                <a:latin typeface="+mn-ea"/>
              </a:rPr>
              <a:t>除</a:t>
            </a:r>
            <a:r>
              <a:rPr lang="en-US" altLang="zh-CN" sz="2400" b="1" dirty="0" smtClean="0">
                <a:solidFill>
                  <a:srgbClr val="FFFF00"/>
                </a:solidFill>
                <a:latin typeface="+mn-ea"/>
              </a:rPr>
              <a:t>CPU</a:t>
            </a:r>
            <a:r>
              <a:rPr lang="zh-CN" altLang="en-US" sz="2400" b="1" dirty="0">
                <a:solidFill>
                  <a:srgbClr val="FFFF00"/>
                </a:solidFill>
                <a:latin typeface="+mn-ea"/>
              </a:rPr>
              <a:t>之外的其他资源</a:t>
            </a:r>
            <a:r>
              <a:rPr lang="zh-CN" altLang="en-US" sz="2400" b="1" dirty="0">
                <a:solidFill>
                  <a:schemeClr val="bg1"/>
                </a:solidFill>
                <a:latin typeface="+mn-ea"/>
              </a:rPr>
              <a:t>，只要由调度得到处理机，便可立即投入执行。</a:t>
            </a:r>
          </a:p>
          <a:p>
            <a:pPr marL="0" lvl="1" algn="just">
              <a:lnSpc>
                <a:spcPct val="12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23106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进程状态及其转换</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就绪状态</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984776" cy="3194721"/>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在有些系统中，为了有效地利用内存，就绪状态又可进一步分为</a:t>
            </a:r>
            <a:r>
              <a:rPr lang="zh-CN" altLang="en-US" sz="2400" b="1" dirty="0">
                <a:solidFill>
                  <a:srgbClr val="FFFF00"/>
                </a:solidFill>
                <a:latin typeface="+mn-ea"/>
              </a:rPr>
              <a:t>内存就绪状态</a:t>
            </a:r>
            <a:r>
              <a:rPr lang="zh-CN" altLang="en-US" sz="2400" b="1" dirty="0">
                <a:solidFill>
                  <a:schemeClr val="bg1"/>
                </a:solidFill>
                <a:latin typeface="+mn-ea"/>
              </a:rPr>
              <a:t>和</a:t>
            </a:r>
            <a:r>
              <a:rPr lang="zh-CN" altLang="en-US" sz="2400" b="1" dirty="0">
                <a:solidFill>
                  <a:srgbClr val="FFFF00"/>
                </a:solidFill>
                <a:latin typeface="+mn-ea"/>
              </a:rPr>
              <a:t>外存就绪状态</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2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在</a:t>
            </a:r>
            <a:r>
              <a:rPr lang="zh-CN" altLang="en-US" sz="2400" b="1" dirty="0">
                <a:solidFill>
                  <a:schemeClr val="bg1"/>
                </a:solidFill>
                <a:latin typeface="+mn-ea"/>
              </a:rPr>
              <a:t>这样的系统中，只有处于内存就绪状态的进程在得到处理机后才能立即投入执行。而处于外存就绪状态的进程只有先成为内存就绪状态后，才可能被调度执行。这种方式明显地</a:t>
            </a:r>
            <a:r>
              <a:rPr lang="zh-CN" altLang="en-US" sz="2400" b="1" dirty="0">
                <a:solidFill>
                  <a:srgbClr val="FFFF00"/>
                </a:solidFill>
                <a:latin typeface="+mn-ea"/>
              </a:rPr>
              <a:t>提高了内存的利用效率</a:t>
            </a:r>
            <a:r>
              <a:rPr lang="zh-CN" altLang="en-US" sz="2400" b="1" dirty="0">
                <a:solidFill>
                  <a:schemeClr val="bg1"/>
                </a:solidFill>
                <a:latin typeface="+mn-ea"/>
              </a:rPr>
              <a:t>，但反过来也</a:t>
            </a:r>
            <a:r>
              <a:rPr lang="zh-CN" altLang="en-US" sz="2400" b="1" dirty="0">
                <a:solidFill>
                  <a:srgbClr val="FFFF00"/>
                </a:solidFill>
                <a:latin typeface="+mn-ea"/>
              </a:rPr>
              <a:t>增加了系统开销和系统复杂性</a:t>
            </a:r>
            <a:r>
              <a:rPr lang="zh-CN" altLang="en-US" sz="2400" b="1" dirty="0">
                <a:solidFill>
                  <a:schemeClr val="bg1"/>
                </a:solidFill>
                <a:latin typeface="+mn-ea"/>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95536" y="143212"/>
            <a:ext cx="61926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进程状态及其转换</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执行状态</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502116"/>
            <a:ext cx="6984776"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a:t>
            </a:r>
            <a:r>
              <a:rPr lang="zh-CN" altLang="en-US" sz="2400" b="1" dirty="0">
                <a:solidFill>
                  <a:srgbClr val="FFFF00"/>
                </a:solidFill>
                <a:latin typeface="+mn-ea"/>
              </a:rPr>
              <a:t>单</a:t>
            </a:r>
            <a:r>
              <a:rPr lang="en-US" altLang="zh-CN" sz="2400" b="1" dirty="0">
                <a:solidFill>
                  <a:srgbClr val="FFFF00"/>
                </a:solidFill>
                <a:latin typeface="+mn-ea"/>
              </a:rPr>
              <a:t>CPU</a:t>
            </a:r>
            <a:r>
              <a:rPr lang="zh-CN" altLang="en-US" sz="2400" b="1" dirty="0">
                <a:solidFill>
                  <a:srgbClr val="FFFF00"/>
                </a:solidFill>
                <a:latin typeface="+mn-ea"/>
              </a:rPr>
              <a:t>系统</a:t>
            </a:r>
            <a:r>
              <a:rPr lang="zh-CN" altLang="en-US" sz="2400" b="1" dirty="0">
                <a:solidFill>
                  <a:schemeClr val="bg1"/>
                </a:solidFill>
                <a:latin typeface="+mn-ea"/>
              </a:rPr>
              <a:t>中，任一时刻处于</a:t>
            </a:r>
            <a:r>
              <a:rPr lang="zh-CN" altLang="en-US" sz="2400" b="1" dirty="0">
                <a:solidFill>
                  <a:srgbClr val="FFFF00"/>
                </a:solidFill>
                <a:latin typeface="+mn-ea"/>
              </a:rPr>
              <a:t>执行状态</a:t>
            </a:r>
            <a:r>
              <a:rPr lang="zh-CN" altLang="en-US" sz="2400" b="1" dirty="0">
                <a:solidFill>
                  <a:schemeClr val="bg1"/>
                </a:solidFill>
                <a:latin typeface="+mn-ea"/>
              </a:rPr>
              <a:t>的进程</a:t>
            </a:r>
            <a:r>
              <a:rPr lang="zh-CN" altLang="en-US" sz="2400" b="1" dirty="0">
                <a:solidFill>
                  <a:srgbClr val="FFFF00"/>
                </a:solidFill>
                <a:latin typeface="+mn-ea"/>
              </a:rPr>
              <a:t>只能有一个</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只有</a:t>
            </a:r>
            <a:r>
              <a:rPr lang="zh-CN" altLang="en-US" sz="2400" b="1" dirty="0">
                <a:solidFill>
                  <a:schemeClr val="bg1"/>
                </a:solidFill>
                <a:latin typeface="+mn-ea"/>
              </a:rPr>
              <a:t>处于就绪状态的进程经调度选中之后才可进入执行状态。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进程状态及其转换</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执行状态</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281469"/>
            <a:ext cx="6696744"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进程的执行状态又可进一步划分为</a:t>
            </a:r>
            <a:r>
              <a:rPr lang="zh-CN" altLang="en-US" sz="2400" b="1" dirty="0">
                <a:solidFill>
                  <a:srgbClr val="FFFF00"/>
                </a:solidFill>
                <a:latin typeface="+mn-ea"/>
              </a:rPr>
              <a:t>用户执行状态</a:t>
            </a:r>
            <a:r>
              <a:rPr lang="zh-CN" altLang="en-US" sz="2400" b="1" dirty="0">
                <a:solidFill>
                  <a:schemeClr val="bg1"/>
                </a:solidFill>
                <a:latin typeface="+mn-ea"/>
              </a:rPr>
              <a:t>和</a:t>
            </a:r>
            <a:r>
              <a:rPr lang="zh-CN" altLang="en-US" sz="2400" b="1" dirty="0">
                <a:solidFill>
                  <a:srgbClr val="FFFF00"/>
                </a:solidFill>
                <a:latin typeface="+mn-ea"/>
              </a:rPr>
              <a:t>系统执行状态</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划分</a:t>
            </a:r>
            <a:r>
              <a:rPr lang="zh-CN" altLang="en-US" sz="2400" b="1" dirty="0">
                <a:solidFill>
                  <a:schemeClr val="bg1"/>
                </a:solidFill>
                <a:latin typeface="+mn-ea"/>
              </a:rPr>
              <a:t>用户态和系统态最主要的原因是要把用户程序和系统程序区分开来，以利于程序的共享和保护。显然，这也是</a:t>
            </a:r>
            <a:r>
              <a:rPr lang="zh-CN" altLang="en-US" sz="2400" b="1" dirty="0">
                <a:solidFill>
                  <a:srgbClr val="FFFF00"/>
                </a:solidFill>
                <a:latin typeface="+mn-ea"/>
              </a:rPr>
              <a:t>以增加系统复杂度和系统开销为代价</a:t>
            </a:r>
            <a:r>
              <a:rPr lang="zh-CN" altLang="en-US" sz="2400" b="1" dirty="0">
                <a:solidFill>
                  <a:schemeClr val="bg1"/>
                </a:solidFill>
                <a:latin typeface="+mn-ea"/>
              </a:rPr>
              <a:t>的。</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进程状态及其转换</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等待状态</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984776" cy="3385157"/>
          </a:xfrm>
          <a:prstGeom prst="rect">
            <a:avLst/>
          </a:prstGeom>
        </p:spPr>
        <p:txBody>
          <a:bodyPr wrap="square">
            <a:spAutoFit/>
          </a:bodyPr>
          <a:lstStyle/>
          <a:p>
            <a:pPr marL="0" lvl="1" algn="just">
              <a:lnSpc>
                <a:spcPct val="125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进程因等待某个事件发生而放弃处理机进入等待状态。显然，等待状态可根据等待事件的种类而进一步划分为不同的子状态，例如</a:t>
            </a:r>
            <a:r>
              <a:rPr lang="zh-CN" altLang="en-US" sz="2400" b="1" dirty="0">
                <a:solidFill>
                  <a:srgbClr val="FFFF00"/>
                </a:solidFill>
                <a:latin typeface="+mn-ea"/>
              </a:rPr>
              <a:t>内存等待</a:t>
            </a:r>
            <a:r>
              <a:rPr lang="zh-CN" altLang="en-US" sz="2400" b="1" dirty="0">
                <a:solidFill>
                  <a:schemeClr val="bg1"/>
                </a:solidFill>
                <a:latin typeface="+mn-ea"/>
              </a:rPr>
              <a:t>、</a:t>
            </a:r>
            <a:r>
              <a:rPr lang="zh-CN" altLang="en-US" sz="2400" b="1" dirty="0">
                <a:solidFill>
                  <a:srgbClr val="FFFF00"/>
                </a:solidFill>
                <a:latin typeface="+mn-ea"/>
              </a:rPr>
              <a:t>设备等待</a:t>
            </a:r>
            <a:r>
              <a:rPr lang="zh-CN" altLang="en-US" sz="2400" b="1" dirty="0">
                <a:solidFill>
                  <a:schemeClr val="bg1"/>
                </a:solidFill>
                <a:latin typeface="+mn-ea"/>
              </a:rPr>
              <a:t>、</a:t>
            </a:r>
            <a:r>
              <a:rPr lang="zh-CN" altLang="en-US" sz="2400" b="1" dirty="0">
                <a:solidFill>
                  <a:srgbClr val="FFFF00"/>
                </a:solidFill>
                <a:latin typeface="+mn-ea"/>
              </a:rPr>
              <a:t>文件等待</a:t>
            </a:r>
            <a:r>
              <a:rPr lang="zh-CN" altLang="en-US" sz="2400" b="1" dirty="0">
                <a:solidFill>
                  <a:schemeClr val="bg1"/>
                </a:solidFill>
                <a:latin typeface="+mn-ea"/>
              </a:rPr>
              <a:t>和</a:t>
            </a:r>
            <a:r>
              <a:rPr lang="zh-CN" altLang="en-US" sz="2400" b="1" dirty="0">
                <a:solidFill>
                  <a:srgbClr val="FFFF00"/>
                </a:solidFill>
                <a:latin typeface="+mn-ea"/>
              </a:rPr>
              <a:t>数据等待</a:t>
            </a:r>
            <a:r>
              <a:rPr lang="zh-CN" altLang="en-US" sz="2400" b="1" dirty="0">
                <a:solidFill>
                  <a:schemeClr val="bg1"/>
                </a:solidFill>
                <a:latin typeface="+mn-ea"/>
              </a:rPr>
              <a:t>等</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25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这样</a:t>
            </a:r>
            <a:r>
              <a:rPr lang="zh-CN" altLang="en-US" sz="2400" b="1" dirty="0">
                <a:solidFill>
                  <a:schemeClr val="bg1"/>
                </a:solidFill>
                <a:latin typeface="+mn-ea"/>
              </a:rPr>
              <a:t>做的好处是系统控制简单，发现和唤醒相应的进程较为容易。但系统中设置过多的状态又会造成系统参数和状态转换过程的增加。</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进程的状态转换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75606"/>
            <a:ext cx="6984776" cy="952184"/>
          </a:xfrm>
          <a:prstGeom prst="rect">
            <a:avLst/>
          </a:prstGeom>
        </p:spPr>
        <p:txBody>
          <a:bodyPr wrap="square">
            <a:spAutoFit/>
          </a:bodyPr>
          <a:lstStyle/>
          <a:p>
            <a:pPr marL="0" lvl="1" algn="just">
              <a:lnSpc>
                <a:spcPct val="125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进程的状态反映进程执行过程的变化。这些状态随着进程的执行和外界条件发生变化和转换</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29" name="Picture 4" descr="c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1159834"/>
            <a:ext cx="5260367" cy="3486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circle(out)">
                                      <p:cBhvr>
                                        <p:cTn id="12"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进程的状态转换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08158"/>
            <a:ext cx="6984776"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事实上</a:t>
            </a:r>
            <a:r>
              <a:rPr lang="zh-CN" altLang="en-US" sz="2400" b="1" dirty="0">
                <a:solidFill>
                  <a:schemeClr val="bg1"/>
                </a:solidFill>
                <a:latin typeface="+mn-ea"/>
              </a:rPr>
              <a:t>，进程的状态转换是一个非常复杂的过程。从一个状态到另一个状态的转换除了要使用不同的控制过程（将在下节中讲述），有时还要借助于硬件触发器才能完成。例如，在 </a:t>
            </a:r>
            <a:r>
              <a:rPr lang="en-US" altLang="zh-CN" sz="2400" b="1" dirty="0">
                <a:solidFill>
                  <a:srgbClr val="FFFF00"/>
                </a:solidFill>
                <a:latin typeface="+mn-ea"/>
              </a:rPr>
              <a:t>UNIX </a:t>
            </a:r>
            <a:r>
              <a:rPr lang="zh-CN" altLang="en-US" sz="2400" b="1" dirty="0">
                <a:solidFill>
                  <a:srgbClr val="FFFF00"/>
                </a:solidFill>
                <a:latin typeface="+mn-ea"/>
              </a:rPr>
              <a:t>系统</a:t>
            </a:r>
            <a:r>
              <a:rPr lang="zh-CN" altLang="en-US" sz="2400" b="1" dirty="0">
                <a:solidFill>
                  <a:schemeClr val="bg1"/>
                </a:solidFill>
                <a:latin typeface="+mn-ea"/>
              </a:rPr>
              <a:t>中，从系统态到用户态的转换要借助</a:t>
            </a:r>
            <a:r>
              <a:rPr lang="zh-CN" altLang="en-US" sz="2400" b="1" dirty="0">
                <a:solidFill>
                  <a:srgbClr val="FFFF00"/>
                </a:solidFill>
                <a:latin typeface="+mn-ea"/>
              </a:rPr>
              <a:t>硬件触发器</a:t>
            </a:r>
            <a:r>
              <a:rPr lang="zh-CN" altLang="en-US" sz="2400" b="1" dirty="0">
                <a:solidFill>
                  <a:schemeClr val="bg1"/>
                </a:solidFill>
                <a:latin typeface="+mn-ea"/>
              </a:rPr>
              <a:t>完成。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43648" y="571711"/>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进程的概念及描述</a:t>
              </a:r>
              <a:endParaRPr lang="en-US" altLang="zh-CN"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进程状态及其转换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进程控制、互斥、同步与通信</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3</a:t>
              </a:r>
            </a:p>
          </p:txBody>
        </p:sp>
      </p:grpSp>
      <p:grpSp>
        <p:nvGrpSpPr>
          <p:cNvPr id="27" name="Group 61"/>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死锁问题               </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4</a:t>
              </a:r>
            </a:p>
          </p:txBody>
        </p:sp>
      </p:grpSp>
      <p:grpSp>
        <p:nvGrpSpPr>
          <p:cNvPr id="32" name="Group 51"/>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线程的概念、分类与执行</a:t>
              </a:r>
              <a:endParaRPr lang="en-US" altLang="zh-CN"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gtEl>
                                      </p:cBhvr>
                                      <p:by x="150000" y="150000"/>
                                    </p:animScale>
                                  </p:childTnLst>
                                </p:cTn>
                              </p:par>
                              <p:par>
                                <p:cTn id="7" presetID="10" presetClass="exit" presetSubtype="0" fill="hold" nodeType="withEffect">
                                  <p:stCondLst>
                                    <p:cond delay="0"/>
                                  </p:stCondLst>
                                  <p:childTnLst>
                                    <p:animEffect transition="out" filter="fade">
                                      <p:cBhvr>
                                        <p:cTn id="8" dur="2000"/>
                                        <p:tgtEl>
                                          <p:spTgt spid="27"/>
                                        </p:tgtEl>
                                      </p:cBhvr>
                                    </p:animEffect>
                                    <p:set>
                                      <p:cBhvr>
                                        <p:cTn id="9" dur="1" fill="hold">
                                          <p:stCondLst>
                                            <p:cond delay="1999"/>
                                          </p:stCondLst>
                                        </p:cTn>
                                        <p:tgtEl>
                                          <p:spTgt spid="27"/>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11" dur="2000"/>
                                        <p:tgtEl>
                                          <p:spTgt spid="32"/>
                                        </p:tgtEl>
                                      </p:cBhvr>
                                    </p:animEffect>
                                    <p:set>
                                      <p:cBhvr>
                                        <p:cTn id="12" dur="1" fill="hold">
                                          <p:stCondLst>
                                            <p:cond delay="1999"/>
                                          </p:stCondLst>
                                        </p:cTn>
                                        <p:tgtEl>
                                          <p:spTgt spid="32"/>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2000"/>
                                        <p:tgtEl>
                                          <p:spTgt spid="11"/>
                                        </p:tgtEl>
                                      </p:cBhvr>
                                    </p:animEffect>
                                    <p:set>
                                      <p:cBhvr>
                                        <p:cTn id="15" dur="1" fill="hold">
                                          <p:stCondLst>
                                            <p:cond delay="1999"/>
                                          </p:stCondLst>
                                        </p:cTn>
                                        <p:tgtEl>
                                          <p:spTgt spid="11"/>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2000"/>
                                        <p:tgtEl>
                                          <p:spTgt spid="16"/>
                                        </p:tgtEl>
                                      </p:cBhvr>
                                    </p:animEffect>
                                    <p:set>
                                      <p:cBhvr>
                                        <p:cTn id="18"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84776"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所谓进程控制，就是系统使用一些具有</a:t>
            </a:r>
            <a:r>
              <a:rPr lang="zh-CN" altLang="en-US" sz="2400" b="1" dirty="0">
                <a:solidFill>
                  <a:srgbClr val="FFFF00"/>
                </a:solidFill>
                <a:latin typeface="+mn-ea"/>
              </a:rPr>
              <a:t>特定功能的程序段</a:t>
            </a:r>
            <a:r>
              <a:rPr lang="zh-CN" altLang="en-US" sz="2400" b="1" dirty="0">
                <a:solidFill>
                  <a:schemeClr val="bg1"/>
                </a:solidFill>
                <a:latin typeface="+mn-ea"/>
              </a:rPr>
              <a:t>来</a:t>
            </a:r>
            <a:r>
              <a:rPr lang="zh-CN" altLang="en-US" sz="2400" b="1" dirty="0">
                <a:solidFill>
                  <a:srgbClr val="FFFF00"/>
                </a:solidFill>
                <a:latin typeface="+mn-ea"/>
              </a:rPr>
              <a:t>创建</a:t>
            </a:r>
            <a:r>
              <a:rPr lang="zh-CN" altLang="en-US" sz="2400" b="1" dirty="0">
                <a:solidFill>
                  <a:schemeClr val="bg1"/>
                </a:solidFill>
                <a:latin typeface="+mn-ea"/>
              </a:rPr>
              <a:t>、</a:t>
            </a:r>
            <a:r>
              <a:rPr lang="zh-CN" altLang="en-US" sz="2400" b="1" dirty="0">
                <a:solidFill>
                  <a:srgbClr val="FFFF00"/>
                </a:solidFill>
                <a:latin typeface="+mn-ea"/>
              </a:rPr>
              <a:t>撤消进程</a:t>
            </a:r>
            <a:r>
              <a:rPr lang="zh-CN" altLang="en-US" sz="2400" b="1" dirty="0">
                <a:solidFill>
                  <a:schemeClr val="bg1"/>
                </a:solidFill>
                <a:latin typeface="+mn-ea"/>
              </a:rPr>
              <a:t>以及</a:t>
            </a:r>
            <a:r>
              <a:rPr lang="zh-CN" altLang="en-US" sz="2400" b="1" dirty="0">
                <a:solidFill>
                  <a:srgbClr val="FFFF00"/>
                </a:solidFill>
                <a:latin typeface="+mn-ea"/>
              </a:rPr>
              <a:t>完成进程各状态间的转换</a:t>
            </a:r>
            <a:r>
              <a:rPr lang="zh-CN" altLang="en-US" sz="2400" b="1" dirty="0">
                <a:solidFill>
                  <a:schemeClr val="bg1"/>
                </a:solidFill>
                <a:latin typeface="+mn-ea"/>
              </a:rPr>
              <a:t>，从而达到多进程高效率并发执行和协调、实现资源共享的</a:t>
            </a:r>
            <a:r>
              <a:rPr lang="zh-CN" altLang="en-US" sz="2400" b="1" dirty="0" smtClean="0">
                <a:solidFill>
                  <a:schemeClr val="bg1"/>
                </a:solidFill>
                <a:latin typeface="+mn-ea"/>
              </a:rPr>
              <a:t>目的。</a:t>
            </a:r>
            <a:endParaRPr lang="zh-CN" altLang="en-US" sz="2400" b="1" dirty="0">
              <a:solidFill>
                <a:schemeClr val="bg1"/>
              </a:solidFill>
              <a:latin typeface="+mn-ea"/>
            </a:endParaRPr>
          </a:p>
        </p:txBody>
      </p:sp>
      <p:sp>
        <p:nvSpPr>
          <p:cNvPr id="3" name="线形标注 1 2"/>
          <p:cNvSpPr/>
          <p:nvPr/>
        </p:nvSpPr>
        <p:spPr>
          <a:xfrm>
            <a:off x="2699792" y="3291830"/>
            <a:ext cx="5976664" cy="1728192"/>
          </a:xfrm>
          <a:prstGeom prst="borderCallout1">
            <a:avLst>
              <a:gd name="adj1" fmla="val 17411"/>
              <a:gd name="adj2" fmla="val -1748"/>
              <a:gd name="adj3" fmla="val -43553"/>
              <a:gd name="adj4" fmla="val -24196"/>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lgn="just">
              <a:buClr>
                <a:srgbClr val="0E2D07"/>
              </a:buClr>
              <a:buFont typeface="Wingdings" panose="05000000000000000000" pitchFamily="2" charset="2"/>
              <a:buChar char="Ø"/>
            </a:pPr>
            <a:r>
              <a:rPr lang="zh-CN" altLang="en-US" b="1" dirty="0"/>
              <a:t>系统态下执行的某些具有特定功能的程序段称为</a:t>
            </a:r>
            <a:r>
              <a:rPr lang="zh-CN" altLang="en-US" b="1" dirty="0" smtClean="0">
                <a:solidFill>
                  <a:srgbClr val="FF0000"/>
                </a:solidFill>
              </a:rPr>
              <a:t>原语</a:t>
            </a:r>
            <a:r>
              <a:rPr lang="zh-CN" altLang="en-US" b="1" dirty="0" smtClean="0"/>
              <a:t>。</a:t>
            </a:r>
            <a:r>
              <a:rPr lang="zh-CN" altLang="en-US" b="1" dirty="0"/>
              <a:t>原语都在系统态下执行。</a:t>
            </a:r>
            <a:endParaRPr lang="en-US" altLang="zh-CN" b="1" dirty="0" smtClean="0"/>
          </a:p>
          <a:p>
            <a:pPr algn="just">
              <a:buClr>
                <a:srgbClr val="0E2D07"/>
              </a:buClr>
              <a:buFont typeface="Wingdings" panose="05000000000000000000" pitchFamily="2" charset="2"/>
              <a:buChar char="Ø"/>
            </a:pPr>
            <a:r>
              <a:rPr lang="zh-CN" altLang="en-US" b="1" dirty="0" smtClean="0"/>
              <a:t>原语</a:t>
            </a:r>
            <a:r>
              <a:rPr lang="zh-CN" altLang="en-US" b="1" dirty="0"/>
              <a:t>可分为两类：一类是</a:t>
            </a:r>
            <a:r>
              <a:rPr lang="zh-CN" altLang="en-US" b="1" dirty="0">
                <a:solidFill>
                  <a:srgbClr val="FF0000"/>
                </a:solidFill>
              </a:rPr>
              <a:t>机器指令级</a:t>
            </a:r>
            <a:r>
              <a:rPr lang="zh-CN" altLang="en-US" b="1" dirty="0"/>
              <a:t>的，其特点是执行期间</a:t>
            </a:r>
            <a:r>
              <a:rPr lang="zh-CN" altLang="en-US" b="1" u="sng" dirty="0"/>
              <a:t>不允许中断</a:t>
            </a:r>
            <a:r>
              <a:rPr lang="zh-CN" altLang="en-US" b="1" dirty="0"/>
              <a:t>，正如在物理学中的原子一样，在操作系统中，它是一个不可分割的基本单位。另一类是</a:t>
            </a:r>
            <a:r>
              <a:rPr lang="zh-CN" altLang="en-US" b="1" dirty="0">
                <a:solidFill>
                  <a:srgbClr val="FF0000"/>
                </a:solidFill>
              </a:rPr>
              <a:t>功能级的</a:t>
            </a:r>
            <a:r>
              <a:rPr lang="zh-CN" altLang="en-US" b="1" dirty="0"/>
              <a:t>，其特点是作为原语的程序段</a:t>
            </a:r>
            <a:r>
              <a:rPr lang="zh-CN" altLang="en-US" b="1" u="sng" dirty="0"/>
              <a:t>不允许并发执行</a:t>
            </a:r>
            <a:r>
              <a:rPr lang="zh-CN" altLang="en-US" b="1" dirty="0" smtClean="0"/>
              <a:t>。</a:t>
            </a:r>
            <a:endParaRPr lang="zh-CN" altLang="en-US" b="1"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进程控制</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3" y="1107671"/>
            <a:ext cx="6950639"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系统在创建、撤消一个进程以及要改变进程的状态时，都要调用相应的程序段来完成这些功能。那么，</a:t>
            </a:r>
            <a:r>
              <a:rPr lang="zh-CN" altLang="en-US" sz="2400" b="1" dirty="0">
                <a:solidFill>
                  <a:srgbClr val="FFFF00"/>
                </a:solidFill>
                <a:latin typeface="+mn-ea"/>
              </a:rPr>
              <a:t>这些程序段是不是原语</a:t>
            </a:r>
            <a:r>
              <a:rPr lang="zh-CN" altLang="en-US" sz="2400" b="1" dirty="0" smtClean="0">
                <a:solidFill>
                  <a:srgbClr val="FFFF00"/>
                </a:solidFill>
                <a:latin typeface="+mn-ea"/>
              </a:rPr>
              <a:t>呢</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用于进程控制的原语有</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pPr>
            <a:r>
              <a:rPr lang="zh-CN" altLang="en-US" sz="2400" b="1" dirty="0" smtClean="0">
                <a:solidFill>
                  <a:srgbClr val="FFFF00"/>
                </a:solidFill>
                <a:latin typeface="+mn-ea"/>
              </a:rPr>
              <a:t>   创建原语</a:t>
            </a:r>
            <a:r>
              <a:rPr lang="zh-CN" altLang="en-US" sz="2400" b="1" dirty="0">
                <a:solidFill>
                  <a:schemeClr val="bg1"/>
                </a:solidFill>
                <a:latin typeface="+mn-ea"/>
              </a:rPr>
              <a:t>、</a:t>
            </a:r>
            <a:r>
              <a:rPr lang="zh-CN" altLang="en-US" sz="2400" b="1" dirty="0">
                <a:solidFill>
                  <a:srgbClr val="FFFF00"/>
                </a:solidFill>
                <a:latin typeface="+mn-ea"/>
              </a:rPr>
              <a:t>撤消原语</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a:t>
            </a:r>
            <a:r>
              <a:rPr lang="zh-CN" altLang="en-US" sz="2400" b="1" dirty="0" smtClean="0">
                <a:solidFill>
                  <a:srgbClr val="FFFF00"/>
                </a:solidFill>
                <a:latin typeface="+mn-ea"/>
              </a:rPr>
              <a:t>阻塞原语</a:t>
            </a:r>
            <a:r>
              <a:rPr lang="zh-CN" altLang="en-US" sz="2400" b="1" dirty="0">
                <a:solidFill>
                  <a:schemeClr val="bg1"/>
                </a:solidFill>
                <a:latin typeface="+mn-ea"/>
              </a:rPr>
              <a:t>、</a:t>
            </a:r>
            <a:r>
              <a:rPr lang="zh-CN" altLang="en-US" sz="2400" b="1" dirty="0">
                <a:solidFill>
                  <a:srgbClr val="FFFF00"/>
                </a:solidFill>
                <a:latin typeface="+mn-ea"/>
              </a:rPr>
              <a:t>唤醒原语</a:t>
            </a:r>
            <a:r>
              <a:rPr lang="zh-CN" altLang="en-US" sz="2400" b="1" dirty="0">
                <a:solidFill>
                  <a:schemeClr val="bg1"/>
                </a:solidFill>
                <a:latin typeface="+mn-ea"/>
              </a:rPr>
              <a:t>等</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66395" y="2831915"/>
            <a:ext cx="1406023" cy="14060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进程的创建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任意多边形 4"/>
          <p:cNvSpPr/>
          <p:nvPr/>
        </p:nvSpPr>
        <p:spPr>
          <a:xfrm>
            <a:off x="956230" y="2067694"/>
            <a:ext cx="3491905" cy="1800200"/>
          </a:xfrm>
          <a:custGeom>
            <a:avLst/>
            <a:gdLst>
              <a:gd name="connsiteX0" fmla="*/ 0 w 2201228"/>
              <a:gd name="connsiteY0" fmla="*/ 0 h 1468219"/>
              <a:gd name="connsiteX1" fmla="*/ 2201228 w 2201228"/>
              <a:gd name="connsiteY1" fmla="*/ 0 h 1468219"/>
              <a:gd name="connsiteX2" fmla="*/ 2201228 w 2201228"/>
              <a:gd name="connsiteY2" fmla="*/ 1468219 h 1468219"/>
              <a:gd name="connsiteX3" fmla="*/ 0 w 2201228"/>
              <a:gd name="connsiteY3" fmla="*/ 1468219 h 1468219"/>
              <a:gd name="connsiteX4" fmla="*/ 0 w 2201228"/>
              <a:gd name="connsiteY4" fmla="*/ 0 h 146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228" h="1468219">
                <a:moveTo>
                  <a:pt x="0" y="0"/>
                </a:moveTo>
                <a:lnTo>
                  <a:pt x="2201228" y="0"/>
                </a:lnTo>
                <a:lnTo>
                  <a:pt x="2201228" y="1468219"/>
                </a:lnTo>
                <a:lnTo>
                  <a:pt x="0" y="1468219"/>
                </a:lnTo>
                <a:lnTo>
                  <a:pt x="0" y="0"/>
                </a:lnTo>
                <a:close/>
              </a:path>
            </a:pathLst>
          </a:cu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52197" tIns="64008" rIns="64007" bIns="64008" numCol="1" spcCol="1270" anchor="ctr" anchorCtr="0">
            <a:noAutofit/>
          </a:bodyPr>
          <a:lstStyle/>
          <a:p>
            <a:pPr lvl="0" defTabSz="400050">
              <a:lnSpc>
                <a:spcPct val="125000"/>
              </a:lnSpc>
              <a:spcBef>
                <a:spcPct val="0"/>
              </a:spcBef>
              <a:spcAft>
                <a:spcPct val="35000"/>
              </a:spcAft>
            </a:pPr>
            <a:r>
              <a:rPr lang="zh-CN" altLang="en-US" sz="2000" b="1" dirty="0"/>
              <a:t>例如在批处理系统中，由操作系统的作业调度程序为用户作业创建相应的进程以完成用户作业所要求的功能。</a:t>
            </a:r>
          </a:p>
        </p:txBody>
      </p:sp>
      <p:sp>
        <p:nvSpPr>
          <p:cNvPr id="6" name="任意多边形 5"/>
          <p:cNvSpPr/>
          <p:nvPr/>
        </p:nvSpPr>
        <p:spPr>
          <a:xfrm>
            <a:off x="323528" y="893741"/>
            <a:ext cx="1440962" cy="1440962"/>
          </a:xfrm>
          <a:custGeom>
            <a:avLst/>
            <a:gdLst>
              <a:gd name="connsiteX0" fmla="*/ 0 w 998800"/>
              <a:gd name="connsiteY0" fmla="*/ 499400 h 998800"/>
              <a:gd name="connsiteX1" fmla="*/ 499400 w 998800"/>
              <a:gd name="connsiteY1" fmla="*/ 0 h 998800"/>
              <a:gd name="connsiteX2" fmla="*/ 998800 w 998800"/>
              <a:gd name="connsiteY2" fmla="*/ 499400 h 998800"/>
              <a:gd name="connsiteX3" fmla="*/ 499400 w 998800"/>
              <a:gd name="connsiteY3" fmla="*/ 998800 h 998800"/>
              <a:gd name="connsiteX4" fmla="*/ 0 w 998800"/>
              <a:gd name="connsiteY4" fmla="*/ 499400 h 99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800" h="998800">
                <a:moveTo>
                  <a:pt x="0" y="499400"/>
                </a:moveTo>
                <a:cubicBezTo>
                  <a:pt x="0" y="223589"/>
                  <a:pt x="223589" y="0"/>
                  <a:pt x="499400" y="0"/>
                </a:cubicBezTo>
                <a:cubicBezTo>
                  <a:pt x="775211" y="0"/>
                  <a:pt x="998800" y="223589"/>
                  <a:pt x="998800" y="499400"/>
                </a:cubicBezTo>
                <a:cubicBezTo>
                  <a:pt x="998800" y="775211"/>
                  <a:pt x="775211" y="998800"/>
                  <a:pt x="499400" y="998800"/>
                </a:cubicBezTo>
                <a:cubicBezTo>
                  <a:pt x="223589" y="998800"/>
                  <a:pt x="0" y="775211"/>
                  <a:pt x="0" y="49940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46271" tIns="146271" rIns="146271" bIns="146271" numCol="1" spcCol="1270" anchor="ctr" anchorCtr="0">
            <a:noAutofit/>
          </a:bodyPr>
          <a:lstStyle/>
          <a:p>
            <a:pPr lvl="0" algn="ctr" defTabSz="1022350">
              <a:lnSpc>
                <a:spcPct val="90000"/>
              </a:lnSpc>
              <a:spcBef>
                <a:spcPct val="0"/>
              </a:spcBef>
              <a:spcAft>
                <a:spcPct val="35000"/>
              </a:spcAft>
            </a:pPr>
            <a:r>
              <a:rPr lang="zh-CN" altLang="en-US" sz="2300" b="1" kern="1200" dirty="0" smtClean="0"/>
              <a:t>由系统程序模块统一创建</a:t>
            </a:r>
            <a:endParaRPr lang="zh-CN" altLang="en-US" sz="2300" b="1" kern="1200" dirty="0"/>
          </a:p>
        </p:txBody>
      </p:sp>
      <p:sp>
        <p:nvSpPr>
          <p:cNvPr id="7" name="任意多边形 6"/>
          <p:cNvSpPr/>
          <p:nvPr/>
        </p:nvSpPr>
        <p:spPr>
          <a:xfrm>
            <a:off x="4950558" y="2067694"/>
            <a:ext cx="3995936" cy="1130240"/>
          </a:xfrm>
          <a:custGeom>
            <a:avLst/>
            <a:gdLst>
              <a:gd name="connsiteX0" fmla="*/ 0 w 2201228"/>
              <a:gd name="connsiteY0" fmla="*/ 0 h 1468219"/>
              <a:gd name="connsiteX1" fmla="*/ 2201228 w 2201228"/>
              <a:gd name="connsiteY1" fmla="*/ 0 h 1468219"/>
              <a:gd name="connsiteX2" fmla="*/ 2201228 w 2201228"/>
              <a:gd name="connsiteY2" fmla="*/ 1468219 h 1468219"/>
              <a:gd name="connsiteX3" fmla="*/ 0 w 2201228"/>
              <a:gd name="connsiteY3" fmla="*/ 1468219 h 1468219"/>
              <a:gd name="connsiteX4" fmla="*/ 0 w 2201228"/>
              <a:gd name="connsiteY4" fmla="*/ 0 h 146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228" h="1468219">
                <a:moveTo>
                  <a:pt x="0" y="0"/>
                </a:moveTo>
                <a:lnTo>
                  <a:pt x="2201228" y="0"/>
                </a:lnTo>
                <a:lnTo>
                  <a:pt x="2201228" y="1468219"/>
                </a:lnTo>
                <a:lnTo>
                  <a:pt x="0" y="1468219"/>
                </a:lnTo>
                <a:lnTo>
                  <a:pt x="0" y="0"/>
                </a:lnTo>
                <a:close/>
              </a:path>
            </a:pathLst>
          </a:cu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52197" tIns="64008" rIns="64007" bIns="64008" numCol="1" spcCol="1270" anchor="ctr" anchorCtr="0">
            <a:noAutofit/>
          </a:bodyPr>
          <a:lstStyle/>
          <a:p>
            <a:pPr defTabSz="400050">
              <a:lnSpc>
                <a:spcPct val="125000"/>
              </a:lnSpc>
              <a:spcBef>
                <a:spcPct val="0"/>
              </a:spcBef>
              <a:spcAft>
                <a:spcPct val="35000"/>
              </a:spcAft>
            </a:pPr>
            <a:r>
              <a:rPr lang="zh-CN" altLang="en-US" sz="2000" b="1" dirty="0"/>
              <a:t>例如在层次结构的系统中，父进程创建子进程以完成并行工作。</a:t>
            </a:r>
          </a:p>
        </p:txBody>
      </p:sp>
      <p:sp>
        <p:nvSpPr>
          <p:cNvPr id="9" name="任意多边形 8"/>
          <p:cNvSpPr/>
          <p:nvPr/>
        </p:nvSpPr>
        <p:spPr>
          <a:xfrm>
            <a:off x="4304344" y="918101"/>
            <a:ext cx="1350071" cy="1350071"/>
          </a:xfrm>
          <a:custGeom>
            <a:avLst/>
            <a:gdLst>
              <a:gd name="connsiteX0" fmla="*/ 0 w 1035443"/>
              <a:gd name="connsiteY0" fmla="*/ 517722 h 1035443"/>
              <a:gd name="connsiteX1" fmla="*/ 517722 w 1035443"/>
              <a:gd name="connsiteY1" fmla="*/ 0 h 1035443"/>
              <a:gd name="connsiteX2" fmla="*/ 1035444 w 1035443"/>
              <a:gd name="connsiteY2" fmla="*/ 517722 h 1035443"/>
              <a:gd name="connsiteX3" fmla="*/ 517722 w 1035443"/>
              <a:gd name="connsiteY3" fmla="*/ 1035444 h 1035443"/>
              <a:gd name="connsiteX4" fmla="*/ 0 w 1035443"/>
              <a:gd name="connsiteY4" fmla="*/ 517722 h 1035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443" h="1035443">
                <a:moveTo>
                  <a:pt x="0" y="517722"/>
                </a:moveTo>
                <a:cubicBezTo>
                  <a:pt x="0" y="231792"/>
                  <a:pt x="231792" y="0"/>
                  <a:pt x="517722" y="0"/>
                </a:cubicBezTo>
                <a:cubicBezTo>
                  <a:pt x="803652" y="0"/>
                  <a:pt x="1035444" y="231792"/>
                  <a:pt x="1035444" y="517722"/>
                </a:cubicBezTo>
                <a:cubicBezTo>
                  <a:pt x="1035444" y="803652"/>
                  <a:pt x="803652" y="1035444"/>
                  <a:pt x="517722" y="1035444"/>
                </a:cubicBezTo>
                <a:cubicBezTo>
                  <a:pt x="231792" y="1035444"/>
                  <a:pt x="0" y="803652"/>
                  <a:pt x="0" y="517722"/>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51637" tIns="151637" rIns="151637" bIns="151637" numCol="1" spcCol="1270" anchor="ctr" anchorCtr="0">
            <a:noAutofit/>
          </a:bodyPr>
          <a:lstStyle/>
          <a:p>
            <a:pPr lvl="0" algn="ctr" defTabSz="1022350">
              <a:lnSpc>
                <a:spcPct val="90000"/>
              </a:lnSpc>
              <a:spcBef>
                <a:spcPct val="0"/>
              </a:spcBef>
              <a:spcAft>
                <a:spcPct val="35000"/>
              </a:spcAft>
            </a:pPr>
            <a:r>
              <a:rPr lang="zh-CN" altLang="en-US" sz="2300" b="1" kern="1200" dirty="0" smtClean="0"/>
              <a:t>由父进程创建</a:t>
            </a:r>
            <a:endParaRPr lang="zh-CN" altLang="en-US" sz="2300" b="1" kern="1200" dirty="0"/>
          </a:p>
        </p:txBody>
      </p:sp>
      <p:sp>
        <p:nvSpPr>
          <p:cNvPr id="29" name="任意多边形 28"/>
          <p:cNvSpPr/>
          <p:nvPr/>
        </p:nvSpPr>
        <p:spPr>
          <a:xfrm>
            <a:off x="956230" y="3766241"/>
            <a:ext cx="3491905" cy="1275606"/>
          </a:xfrm>
          <a:custGeom>
            <a:avLst/>
            <a:gdLst>
              <a:gd name="connsiteX0" fmla="*/ 0 w 2201228"/>
              <a:gd name="connsiteY0" fmla="*/ 0 h 1468219"/>
              <a:gd name="connsiteX1" fmla="*/ 2201228 w 2201228"/>
              <a:gd name="connsiteY1" fmla="*/ 0 h 1468219"/>
              <a:gd name="connsiteX2" fmla="*/ 2201228 w 2201228"/>
              <a:gd name="connsiteY2" fmla="*/ 1468219 h 1468219"/>
              <a:gd name="connsiteX3" fmla="*/ 0 w 2201228"/>
              <a:gd name="connsiteY3" fmla="*/ 1468219 h 1468219"/>
              <a:gd name="connsiteX4" fmla="*/ 0 w 2201228"/>
              <a:gd name="connsiteY4" fmla="*/ 0 h 146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228" h="1468219">
                <a:moveTo>
                  <a:pt x="0" y="0"/>
                </a:moveTo>
                <a:lnTo>
                  <a:pt x="2201228" y="0"/>
                </a:lnTo>
                <a:lnTo>
                  <a:pt x="2201228" y="1468219"/>
                </a:lnTo>
                <a:lnTo>
                  <a:pt x="0" y="1468219"/>
                </a:lnTo>
                <a:lnTo>
                  <a:pt x="0" y="0"/>
                </a:lnTo>
                <a:close/>
              </a:path>
            </a:pathLst>
          </a:cu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52197" tIns="64008" rIns="64007" bIns="64008" numCol="1" spcCol="1270" anchor="ctr" anchorCtr="0">
            <a:noAutofit/>
          </a:bodyPr>
          <a:lstStyle/>
          <a:p>
            <a:pPr defTabSz="400050">
              <a:lnSpc>
                <a:spcPct val="125000"/>
              </a:lnSpc>
              <a:spcBef>
                <a:spcPct val="0"/>
              </a:spcBef>
              <a:spcAft>
                <a:spcPct val="35000"/>
              </a:spcAft>
            </a:pPr>
            <a:r>
              <a:rPr lang="zh-CN" altLang="en-US" sz="2000" b="1" dirty="0"/>
              <a:t>由系统统一创建的进程之间的关系是平等的，它们之间一般</a:t>
            </a:r>
            <a:r>
              <a:rPr lang="zh-CN" altLang="en-US" sz="2000" b="1" dirty="0">
                <a:solidFill>
                  <a:srgbClr val="FF0000"/>
                </a:solidFill>
              </a:rPr>
              <a:t>不存在资源继承关系</a:t>
            </a:r>
            <a:r>
              <a:rPr lang="zh-CN" altLang="en-US" sz="2000" b="1" dirty="0"/>
              <a:t>。</a:t>
            </a:r>
          </a:p>
        </p:txBody>
      </p:sp>
      <p:sp>
        <p:nvSpPr>
          <p:cNvPr id="30" name="任意多边形 29"/>
          <p:cNvSpPr/>
          <p:nvPr/>
        </p:nvSpPr>
        <p:spPr>
          <a:xfrm>
            <a:off x="4950558" y="3147814"/>
            <a:ext cx="3995936" cy="1800200"/>
          </a:xfrm>
          <a:custGeom>
            <a:avLst/>
            <a:gdLst>
              <a:gd name="connsiteX0" fmla="*/ 0 w 2201228"/>
              <a:gd name="connsiteY0" fmla="*/ 0 h 1468219"/>
              <a:gd name="connsiteX1" fmla="*/ 2201228 w 2201228"/>
              <a:gd name="connsiteY1" fmla="*/ 0 h 1468219"/>
              <a:gd name="connsiteX2" fmla="*/ 2201228 w 2201228"/>
              <a:gd name="connsiteY2" fmla="*/ 1468219 h 1468219"/>
              <a:gd name="connsiteX3" fmla="*/ 0 w 2201228"/>
              <a:gd name="connsiteY3" fmla="*/ 1468219 h 1468219"/>
              <a:gd name="connsiteX4" fmla="*/ 0 w 2201228"/>
              <a:gd name="connsiteY4" fmla="*/ 0 h 146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228" h="1468219">
                <a:moveTo>
                  <a:pt x="0" y="0"/>
                </a:moveTo>
                <a:lnTo>
                  <a:pt x="2201228" y="0"/>
                </a:lnTo>
                <a:lnTo>
                  <a:pt x="2201228" y="1468219"/>
                </a:lnTo>
                <a:lnTo>
                  <a:pt x="0" y="1468219"/>
                </a:lnTo>
                <a:lnTo>
                  <a:pt x="0" y="0"/>
                </a:lnTo>
                <a:close/>
              </a:path>
            </a:pathLst>
          </a:cu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52197" tIns="64008" rIns="64007" bIns="64008" numCol="1" spcCol="1270" anchor="ctr" anchorCtr="0">
            <a:noAutofit/>
          </a:bodyPr>
          <a:lstStyle/>
          <a:p>
            <a:pPr defTabSz="400050">
              <a:lnSpc>
                <a:spcPct val="125000"/>
              </a:lnSpc>
              <a:spcBef>
                <a:spcPct val="0"/>
              </a:spcBef>
              <a:spcAft>
                <a:spcPct val="35000"/>
              </a:spcAft>
            </a:pPr>
            <a:r>
              <a:rPr lang="zh-CN" altLang="en-US" sz="2000" b="1" dirty="0"/>
              <a:t>父进程创建的进程之间则存在</a:t>
            </a:r>
            <a:r>
              <a:rPr lang="zh-CN" altLang="en-US" sz="2000" b="1" dirty="0">
                <a:solidFill>
                  <a:srgbClr val="FF0000"/>
                </a:solidFill>
              </a:rPr>
              <a:t>隶属关系</a:t>
            </a:r>
            <a:r>
              <a:rPr lang="zh-CN" altLang="en-US" sz="2000" b="1" dirty="0"/>
              <a:t>，且互相构成树型结构的家族关系。属于某个家族的一个进程可以</a:t>
            </a:r>
            <a:r>
              <a:rPr lang="zh-CN" altLang="en-US" sz="2000" b="1" dirty="0">
                <a:solidFill>
                  <a:srgbClr val="FF0000"/>
                </a:solidFill>
              </a:rPr>
              <a:t>继承</a:t>
            </a:r>
            <a:r>
              <a:rPr lang="zh-CN" altLang="en-US" sz="2000" b="1" dirty="0"/>
              <a:t>其父进程所拥有的资源。</a:t>
            </a:r>
          </a:p>
        </p:txBody>
      </p:sp>
      <p:sp>
        <p:nvSpPr>
          <p:cNvPr id="2" name="横卷形 1"/>
          <p:cNvSpPr/>
          <p:nvPr/>
        </p:nvSpPr>
        <p:spPr>
          <a:xfrm>
            <a:off x="3180242" y="5098"/>
            <a:ext cx="4968552" cy="1368119"/>
          </a:xfrm>
          <a:prstGeom prst="horizontalScroll">
            <a:avLst/>
          </a:prstGeom>
          <a:ln w="28575"/>
        </p:spPr>
        <p:style>
          <a:lnRef idx="1">
            <a:schemeClr val="accent2"/>
          </a:lnRef>
          <a:fillRef idx="2">
            <a:schemeClr val="accent2"/>
          </a:fillRef>
          <a:effectRef idx="1">
            <a:schemeClr val="accent2"/>
          </a:effectRef>
          <a:fontRef idx="minor">
            <a:schemeClr val="dk1"/>
          </a:fontRef>
        </p:style>
        <p:txBody>
          <a:bodyPr rtlCol="0" anchor="ctr"/>
          <a:lstStyle/>
          <a:p>
            <a:r>
              <a:rPr lang="zh-CN" altLang="en-US" sz="2000" b="1" dirty="0">
                <a:solidFill>
                  <a:schemeClr val="dk1">
                    <a:hueOff val="0"/>
                    <a:satOff val="0"/>
                    <a:lumOff val="0"/>
                    <a:alphaOff val="0"/>
                  </a:schemeClr>
                </a:solidFill>
              </a:rPr>
              <a:t>无论是哪一种方式创建进程，在系统生成时，都必须由操作系统创建一部分承担系统资源分配和管理工作的系统进程。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up)">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up)">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29" grpId="0" animBg="1"/>
      <p:bldP spid="30" grpId="0" animBg="1"/>
      <p:bldP spid="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进程的创建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1"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34" y="238781"/>
            <a:ext cx="3562123" cy="4433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4643557" y="971141"/>
            <a:ext cx="3107826" cy="347787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zh-CN" altLang="en-US" sz="2000" b="1" dirty="0">
                <a:solidFill>
                  <a:schemeClr val="dk1">
                    <a:hueOff val="0"/>
                    <a:satOff val="0"/>
                    <a:lumOff val="0"/>
                    <a:alphaOff val="0"/>
                  </a:schemeClr>
                </a:solidFill>
              </a:rPr>
              <a:t>无论是系统创建方式还是父进程创建方式，都必须调用</a:t>
            </a:r>
            <a:r>
              <a:rPr lang="zh-CN" altLang="en-US" sz="2000" b="1" dirty="0">
                <a:solidFill>
                  <a:srgbClr val="FF0000"/>
                </a:solidFill>
              </a:rPr>
              <a:t>创建原语</a:t>
            </a:r>
            <a:r>
              <a:rPr lang="zh-CN" altLang="en-US" sz="2000" b="1" dirty="0">
                <a:solidFill>
                  <a:schemeClr val="dk1">
                    <a:hueOff val="0"/>
                    <a:satOff val="0"/>
                    <a:lumOff val="0"/>
                    <a:alphaOff val="0"/>
                  </a:schemeClr>
                </a:solidFill>
              </a:rPr>
              <a:t>来实现。创建原语扫描系统的</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链表，在找到一定</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表之后，填入调用者提供的有关参数，最后形成代表进程的</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结构。这些参数包括：</a:t>
            </a:r>
            <a:r>
              <a:rPr lang="zh-CN" altLang="en-US" sz="2000" b="1" dirty="0">
                <a:solidFill>
                  <a:srgbClr val="FF0000"/>
                </a:solidFill>
              </a:rPr>
              <a:t>进程名</a:t>
            </a:r>
            <a:r>
              <a:rPr lang="zh-CN" altLang="en-US" sz="2000" b="1" dirty="0">
                <a:solidFill>
                  <a:schemeClr val="dk1">
                    <a:hueOff val="0"/>
                    <a:satOff val="0"/>
                    <a:lumOff val="0"/>
                    <a:alphaOff val="0"/>
                  </a:schemeClr>
                </a:solidFill>
              </a:rPr>
              <a:t>、</a:t>
            </a:r>
            <a:r>
              <a:rPr lang="zh-CN" altLang="en-US" sz="2000" b="1" dirty="0">
                <a:solidFill>
                  <a:srgbClr val="FF0000"/>
                </a:solidFill>
              </a:rPr>
              <a:t>进程优先级Ｐ</a:t>
            </a:r>
            <a:r>
              <a:rPr lang="en-US" altLang="zh-CN" sz="2000" b="1" baseline="-25000" dirty="0">
                <a:solidFill>
                  <a:srgbClr val="FF0000"/>
                </a:solidFill>
              </a:rPr>
              <a:t>0</a:t>
            </a:r>
            <a:r>
              <a:rPr lang="en-US" altLang="zh-CN" sz="2000" b="1" baseline="-25000" dirty="0">
                <a:solidFill>
                  <a:schemeClr val="dk1">
                    <a:hueOff val="0"/>
                    <a:satOff val="0"/>
                    <a:lumOff val="0"/>
                    <a:alphaOff val="0"/>
                  </a:schemeClr>
                </a:solidFill>
              </a:rPr>
              <a:t> </a:t>
            </a:r>
            <a:r>
              <a:rPr lang="zh-CN" altLang="en-US" sz="2000" b="1" dirty="0">
                <a:solidFill>
                  <a:schemeClr val="dk1">
                    <a:hueOff val="0"/>
                    <a:satOff val="0"/>
                    <a:lumOff val="0"/>
                    <a:alphaOff val="0"/>
                  </a:schemeClr>
                </a:solidFill>
              </a:rPr>
              <a:t>、</a:t>
            </a:r>
            <a:r>
              <a:rPr lang="zh-CN" altLang="en-US" sz="2000" b="1" dirty="0">
                <a:solidFill>
                  <a:srgbClr val="FF0000"/>
                </a:solidFill>
              </a:rPr>
              <a:t>进程正文段起始地址ｄ</a:t>
            </a:r>
            <a:r>
              <a:rPr lang="en-US" altLang="zh-CN" sz="2000" b="1" baseline="-25000" dirty="0">
                <a:solidFill>
                  <a:srgbClr val="FF0000"/>
                </a:solidFill>
              </a:rPr>
              <a:t>0</a:t>
            </a:r>
            <a:r>
              <a:rPr lang="en-US" altLang="zh-CN" sz="2000" b="1" dirty="0">
                <a:solidFill>
                  <a:srgbClr val="FF0000"/>
                </a:solidFill>
              </a:rPr>
              <a:t> </a:t>
            </a:r>
            <a:r>
              <a:rPr lang="zh-CN" altLang="en-US" sz="2000" b="1" dirty="0">
                <a:solidFill>
                  <a:schemeClr val="dk1">
                    <a:hueOff val="0"/>
                    <a:satOff val="0"/>
                    <a:lumOff val="0"/>
                    <a:alphaOff val="0"/>
                  </a:schemeClr>
                </a:solidFill>
              </a:rPr>
              <a:t>、</a:t>
            </a:r>
            <a:r>
              <a:rPr lang="zh-CN" altLang="en-US" sz="2000" b="1" dirty="0">
                <a:solidFill>
                  <a:srgbClr val="FF0000"/>
                </a:solidFill>
              </a:rPr>
              <a:t>资源清单Ｒ</a:t>
            </a:r>
            <a:r>
              <a:rPr lang="en-US" altLang="zh-CN" sz="2000" b="1" baseline="-25000" dirty="0">
                <a:solidFill>
                  <a:srgbClr val="FF0000"/>
                </a:solidFill>
              </a:rPr>
              <a:t>0</a:t>
            </a:r>
            <a:r>
              <a:rPr lang="zh-CN" altLang="en-US" sz="2000" b="1" dirty="0">
                <a:solidFill>
                  <a:schemeClr val="dk1">
                    <a:hueOff val="0"/>
                    <a:satOff val="0"/>
                    <a:lumOff val="0"/>
                    <a:alphaOff val="0"/>
                  </a:schemeClr>
                </a:solidFill>
              </a:rPr>
              <a:t>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进程的创建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950639"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编写一段程序，使用系统调用</a:t>
            </a:r>
            <a:r>
              <a:rPr lang="en-US" altLang="zh-CN" sz="2400" b="1" dirty="0" smtClean="0">
                <a:solidFill>
                  <a:srgbClr val="FFFF00"/>
                </a:solidFill>
                <a:latin typeface="+mn-ea"/>
              </a:rPr>
              <a:t>fork</a:t>
            </a:r>
            <a:r>
              <a:rPr lang="zh-CN" altLang="en-US" sz="2400" b="1" dirty="0" smtClean="0">
                <a:solidFill>
                  <a:srgbClr val="FFFF00"/>
                </a:solidFill>
                <a:latin typeface="+mn-ea"/>
              </a:rPr>
              <a:t>（）</a:t>
            </a:r>
            <a:r>
              <a:rPr lang="zh-CN" altLang="en-US" sz="2400" b="1" dirty="0" smtClean="0">
                <a:solidFill>
                  <a:schemeClr val="bg1"/>
                </a:solidFill>
                <a:latin typeface="+mn-ea"/>
              </a:rPr>
              <a:t>创建两个子进程。当此程序运行时，在系统中有一个父进程和两个子进程活动。</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进程的创建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5" y="980455"/>
            <a:ext cx="4896544" cy="4039567"/>
          </a:xfrm>
          <a:prstGeom prst="rect">
            <a:avLst/>
          </a:prstGeom>
        </p:spPr>
        <p:txBody>
          <a:bodyPr wrap="square">
            <a:spAutoFit/>
          </a:bodyPr>
          <a:lstStyle/>
          <a:p>
            <a:pPr marL="0" lvl="1" algn="just">
              <a:buClr>
                <a:schemeClr val="accent6">
                  <a:lumMod val="60000"/>
                  <a:lumOff val="40000"/>
                </a:schemeClr>
              </a:buClr>
              <a:buFont typeface="Wingdings" panose="05000000000000000000" pitchFamily="2" charset="2"/>
              <a:buChar char="Ø"/>
            </a:pPr>
            <a:r>
              <a:rPr lang="en-US" altLang="zh-CN" b="1" dirty="0" smtClean="0">
                <a:solidFill>
                  <a:schemeClr val="bg1"/>
                </a:solidFill>
                <a:latin typeface="+mn-ea"/>
              </a:rPr>
              <a:t>#include &lt;</a:t>
            </a:r>
            <a:r>
              <a:rPr lang="en-US" altLang="zh-CN" b="1" dirty="0" err="1" smtClean="0">
                <a:solidFill>
                  <a:schemeClr val="bg1"/>
                </a:solidFill>
                <a:latin typeface="+mn-ea"/>
              </a:rPr>
              <a:t>stdio.h</a:t>
            </a:r>
            <a:r>
              <a:rPr lang="en-US" altLang="zh-CN" b="1" dirty="0" smtClean="0">
                <a:solidFill>
                  <a:schemeClr val="bg1"/>
                </a:solidFill>
                <a:latin typeface="+mn-ea"/>
              </a:rPr>
              <a:t>&gt;</a:t>
            </a:r>
          </a:p>
          <a:p>
            <a:pPr marL="0" lvl="1" algn="just">
              <a:buClr>
                <a:schemeClr val="accent6">
                  <a:lumMod val="60000"/>
                  <a:lumOff val="40000"/>
                </a:schemeClr>
              </a:buClr>
            </a:pPr>
            <a:r>
              <a:rPr lang="en-US" altLang="zh-CN" b="1" dirty="0" smtClean="0">
                <a:solidFill>
                  <a:schemeClr val="bg1"/>
                </a:solidFill>
                <a:latin typeface="+mn-ea"/>
              </a:rPr>
              <a:t>  main( )</a:t>
            </a:r>
          </a:p>
          <a:p>
            <a:pPr marL="0" lvl="1" algn="just">
              <a:buClr>
                <a:schemeClr val="accent6">
                  <a:lumMod val="60000"/>
                  <a:lumOff val="40000"/>
                </a:schemeClr>
              </a:buClr>
            </a:pPr>
            <a:r>
              <a:rPr lang="en-US" altLang="zh-CN" b="1" dirty="0">
                <a:solidFill>
                  <a:schemeClr val="bg1"/>
                </a:solidFill>
                <a:latin typeface="+mn-ea"/>
              </a:rPr>
              <a:t> </a:t>
            </a:r>
            <a:r>
              <a:rPr lang="en-US" altLang="zh-CN" b="1" dirty="0" smtClean="0">
                <a:solidFill>
                  <a:schemeClr val="bg1"/>
                </a:solidFill>
                <a:latin typeface="+mn-ea"/>
              </a:rPr>
              <a:t> {  </a:t>
            </a:r>
            <a:r>
              <a:rPr lang="en-US" altLang="zh-CN" b="1" dirty="0" err="1" smtClean="0">
                <a:solidFill>
                  <a:schemeClr val="bg1"/>
                </a:solidFill>
                <a:latin typeface="+mn-ea"/>
              </a:rPr>
              <a:t>int</a:t>
            </a:r>
            <a:r>
              <a:rPr lang="en-US" altLang="zh-CN" b="1" dirty="0" smtClean="0">
                <a:solidFill>
                  <a:schemeClr val="bg1"/>
                </a:solidFill>
                <a:latin typeface="+mn-ea"/>
              </a:rPr>
              <a:t> p1,p2;</a:t>
            </a:r>
          </a:p>
          <a:p>
            <a:pPr marL="0" lvl="1" algn="just">
              <a:buClr>
                <a:schemeClr val="accent6">
                  <a:lumMod val="60000"/>
                  <a:lumOff val="40000"/>
                </a:schemeClr>
              </a:buClr>
            </a:pPr>
            <a:r>
              <a:rPr lang="en-US" altLang="zh-CN" b="1" dirty="0" smtClean="0">
                <a:solidFill>
                  <a:schemeClr val="bg1"/>
                </a:solidFill>
                <a:latin typeface="+mn-ea"/>
              </a:rPr>
              <a:t>     while ((p1=fork( ))==-1);</a:t>
            </a:r>
          </a:p>
          <a:p>
            <a:pPr marL="0" lvl="1" algn="just">
              <a:buClr>
                <a:schemeClr val="accent6">
                  <a:lumMod val="60000"/>
                  <a:lumOff val="40000"/>
                </a:schemeClr>
              </a:buClr>
            </a:pPr>
            <a:r>
              <a:rPr lang="en-US" altLang="zh-CN" b="1" dirty="0" smtClean="0">
                <a:solidFill>
                  <a:schemeClr val="bg1"/>
                </a:solidFill>
                <a:latin typeface="+mn-ea"/>
              </a:rPr>
              <a:t>     if (p1==0)</a:t>
            </a:r>
          </a:p>
          <a:p>
            <a:pPr marL="0" lvl="1" algn="just">
              <a:buClr>
                <a:schemeClr val="accent6">
                  <a:lumMod val="60000"/>
                  <a:lumOff val="40000"/>
                </a:schemeClr>
              </a:buClr>
            </a:pPr>
            <a:r>
              <a:rPr lang="en-US" altLang="zh-CN" b="1" dirty="0" smtClean="0">
                <a:solidFill>
                  <a:schemeClr val="bg1"/>
                </a:solidFill>
                <a:latin typeface="+mn-ea"/>
              </a:rPr>
              <a:t>        </a:t>
            </a:r>
            <a:r>
              <a:rPr lang="en-US" altLang="zh-CN" b="1" dirty="0" err="1" smtClean="0">
                <a:solidFill>
                  <a:schemeClr val="bg1"/>
                </a:solidFill>
                <a:latin typeface="+mn-ea"/>
              </a:rPr>
              <a:t>putchar</a:t>
            </a:r>
            <a:r>
              <a:rPr lang="en-US" altLang="zh-CN" b="1" dirty="0" smtClean="0">
                <a:solidFill>
                  <a:schemeClr val="bg1"/>
                </a:solidFill>
                <a:latin typeface="+mn-ea"/>
              </a:rPr>
              <a:t> (</a:t>
            </a:r>
            <a:r>
              <a:rPr lang="en-US" altLang="zh-CN" b="1" dirty="0">
                <a:solidFill>
                  <a:schemeClr val="bg1"/>
                </a:solidFill>
                <a:latin typeface="+mn-ea"/>
              </a:rPr>
              <a:t>‘</a:t>
            </a:r>
            <a:r>
              <a:rPr lang="en-US" altLang="zh-CN" b="1" dirty="0" smtClean="0">
                <a:solidFill>
                  <a:schemeClr val="bg1"/>
                </a:solidFill>
                <a:latin typeface="+mn-ea"/>
              </a:rPr>
              <a:t>b’);</a:t>
            </a:r>
          </a:p>
          <a:p>
            <a:pPr marL="0" lvl="1" algn="just">
              <a:buClr>
                <a:schemeClr val="accent6">
                  <a:lumMod val="60000"/>
                  <a:lumOff val="40000"/>
                </a:schemeClr>
              </a:buClr>
            </a:pPr>
            <a:r>
              <a:rPr lang="en-US" altLang="zh-CN" b="1" dirty="0">
                <a:solidFill>
                  <a:schemeClr val="bg1"/>
                </a:solidFill>
                <a:latin typeface="+mn-ea"/>
              </a:rPr>
              <a:t> </a:t>
            </a:r>
            <a:r>
              <a:rPr lang="en-US" altLang="zh-CN" b="1" dirty="0" smtClean="0">
                <a:solidFill>
                  <a:schemeClr val="bg1"/>
                </a:solidFill>
                <a:latin typeface="+mn-ea"/>
              </a:rPr>
              <a:t>    else</a:t>
            </a:r>
          </a:p>
          <a:p>
            <a:pPr marL="0" lvl="1" algn="just">
              <a:buClr>
                <a:schemeClr val="accent6">
                  <a:lumMod val="60000"/>
                  <a:lumOff val="40000"/>
                </a:schemeClr>
              </a:buClr>
            </a:pPr>
            <a:r>
              <a:rPr lang="en-US" altLang="zh-CN" b="1" dirty="0">
                <a:solidFill>
                  <a:schemeClr val="bg1"/>
                </a:solidFill>
                <a:latin typeface="+mn-ea"/>
              </a:rPr>
              <a:t> </a:t>
            </a:r>
            <a:r>
              <a:rPr lang="en-US" altLang="zh-CN" b="1" dirty="0" smtClean="0">
                <a:solidFill>
                  <a:schemeClr val="bg1"/>
                </a:solidFill>
                <a:latin typeface="+mn-ea"/>
              </a:rPr>
              <a:t>     {  while </a:t>
            </a:r>
            <a:r>
              <a:rPr lang="en-US" altLang="zh-CN" b="1" dirty="0">
                <a:solidFill>
                  <a:schemeClr val="bg1"/>
                </a:solidFill>
                <a:latin typeface="+mn-ea"/>
              </a:rPr>
              <a:t>((</a:t>
            </a:r>
            <a:r>
              <a:rPr lang="en-US" altLang="zh-CN" b="1" dirty="0" smtClean="0">
                <a:solidFill>
                  <a:schemeClr val="bg1"/>
                </a:solidFill>
                <a:latin typeface="+mn-ea"/>
              </a:rPr>
              <a:t>p2=fork</a:t>
            </a:r>
            <a:r>
              <a:rPr lang="en-US" altLang="zh-CN" b="1" dirty="0">
                <a:solidFill>
                  <a:schemeClr val="bg1"/>
                </a:solidFill>
                <a:latin typeface="+mn-ea"/>
              </a:rPr>
              <a:t>( ))==-1</a:t>
            </a:r>
            <a:r>
              <a:rPr lang="en-US" altLang="zh-CN" b="1" dirty="0" smtClean="0">
                <a:solidFill>
                  <a:schemeClr val="bg1"/>
                </a:solidFill>
                <a:latin typeface="+mn-ea"/>
              </a:rPr>
              <a:t>);</a:t>
            </a:r>
          </a:p>
          <a:p>
            <a:pPr marL="0" lvl="1" algn="just">
              <a:buClr>
                <a:schemeClr val="accent6">
                  <a:lumMod val="60000"/>
                  <a:lumOff val="40000"/>
                </a:schemeClr>
              </a:buClr>
            </a:pPr>
            <a:r>
              <a:rPr lang="en-US" altLang="zh-CN" b="1" dirty="0" smtClean="0">
                <a:solidFill>
                  <a:schemeClr val="bg1"/>
                </a:solidFill>
                <a:latin typeface="+mn-ea"/>
              </a:rPr>
              <a:t>         if (p2==0)</a:t>
            </a:r>
          </a:p>
          <a:p>
            <a:pPr marL="0" lvl="1" algn="just">
              <a:buClr>
                <a:schemeClr val="accent6">
                  <a:lumMod val="60000"/>
                  <a:lumOff val="40000"/>
                </a:schemeClr>
              </a:buClr>
            </a:pPr>
            <a:r>
              <a:rPr lang="en-US" altLang="zh-CN" b="1" dirty="0" smtClean="0">
                <a:solidFill>
                  <a:schemeClr val="bg1"/>
                </a:solidFill>
                <a:latin typeface="+mn-ea"/>
              </a:rPr>
              <a:t>            </a:t>
            </a:r>
            <a:r>
              <a:rPr lang="en-US" altLang="zh-CN" b="1" dirty="0" err="1" smtClean="0">
                <a:solidFill>
                  <a:schemeClr val="bg1"/>
                </a:solidFill>
                <a:latin typeface="+mn-ea"/>
              </a:rPr>
              <a:t>putchar</a:t>
            </a:r>
            <a:r>
              <a:rPr lang="en-US" altLang="zh-CN" b="1" dirty="0" smtClean="0">
                <a:solidFill>
                  <a:schemeClr val="bg1"/>
                </a:solidFill>
                <a:latin typeface="+mn-ea"/>
              </a:rPr>
              <a:t> (</a:t>
            </a:r>
            <a:r>
              <a:rPr lang="en-US" altLang="zh-CN" b="1" dirty="0">
                <a:solidFill>
                  <a:schemeClr val="bg1"/>
                </a:solidFill>
                <a:latin typeface="+mn-ea"/>
              </a:rPr>
              <a:t>‘</a:t>
            </a:r>
            <a:r>
              <a:rPr lang="en-US" altLang="zh-CN" b="1" dirty="0" smtClean="0">
                <a:solidFill>
                  <a:schemeClr val="bg1"/>
                </a:solidFill>
                <a:latin typeface="+mn-ea"/>
              </a:rPr>
              <a:t>c’);</a:t>
            </a:r>
          </a:p>
          <a:p>
            <a:pPr marL="0" lvl="1" algn="just">
              <a:buClr>
                <a:schemeClr val="accent6">
                  <a:lumMod val="60000"/>
                  <a:lumOff val="40000"/>
                </a:schemeClr>
              </a:buClr>
            </a:pPr>
            <a:r>
              <a:rPr lang="en-US" altLang="zh-CN" b="1" dirty="0">
                <a:solidFill>
                  <a:schemeClr val="bg1"/>
                </a:solidFill>
                <a:latin typeface="+mn-ea"/>
              </a:rPr>
              <a:t> </a:t>
            </a:r>
            <a:r>
              <a:rPr lang="en-US" altLang="zh-CN" b="1" dirty="0" smtClean="0">
                <a:solidFill>
                  <a:schemeClr val="bg1"/>
                </a:solidFill>
                <a:latin typeface="+mn-ea"/>
              </a:rPr>
              <a:t>        else</a:t>
            </a:r>
          </a:p>
          <a:p>
            <a:pPr marL="0" lvl="1" algn="just">
              <a:buClr>
                <a:schemeClr val="accent6">
                  <a:lumMod val="60000"/>
                  <a:lumOff val="40000"/>
                </a:schemeClr>
              </a:buClr>
            </a:pPr>
            <a:r>
              <a:rPr lang="en-US" altLang="zh-CN" b="1" dirty="0">
                <a:solidFill>
                  <a:schemeClr val="bg1"/>
                </a:solidFill>
                <a:latin typeface="+mn-ea"/>
              </a:rPr>
              <a:t> </a:t>
            </a:r>
            <a:r>
              <a:rPr lang="en-US" altLang="zh-CN" b="1" dirty="0" smtClean="0">
                <a:solidFill>
                  <a:schemeClr val="bg1"/>
                </a:solidFill>
                <a:latin typeface="+mn-ea"/>
              </a:rPr>
              <a:t>           </a:t>
            </a:r>
            <a:r>
              <a:rPr lang="en-US" altLang="zh-CN" b="1" dirty="0" err="1" smtClean="0">
                <a:solidFill>
                  <a:schemeClr val="bg1"/>
                </a:solidFill>
                <a:latin typeface="+mn-ea"/>
              </a:rPr>
              <a:t>putchar</a:t>
            </a:r>
            <a:r>
              <a:rPr lang="en-US" altLang="zh-CN" b="1" dirty="0" smtClean="0">
                <a:solidFill>
                  <a:schemeClr val="bg1"/>
                </a:solidFill>
                <a:latin typeface="+mn-ea"/>
              </a:rPr>
              <a:t>(‘a’);  }</a:t>
            </a:r>
          </a:p>
          <a:p>
            <a:pPr marL="0" lvl="1" algn="just">
              <a:buClr>
                <a:schemeClr val="accent6">
                  <a:lumMod val="60000"/>
                  <a:lumOff val="40000"/>
                </a:schemeClr>
              </a:buClr>
            </a:pPr>
            <a:r>
              <a:rPr lang="en-US" altLang="zh-CN" b="1" dirty="0">
                <a:solidFill>
                  <a:schemeClr val="bg1"/>
                </a:solidFill>
                <a:latin typeface="+mn-ea"/>
              </a:rPr>
              <a:t> </a:t>
            </a:r>
            <a:r>
              <a:rPr lang="en-US" altLang="zh-CN" b="1" dirty="0" smtClean="0">
                <a:solidFill>
                  <a:schemeClr val="bg1"/>
                </a:solidFill>
                <a:latin typeface="+mn-ea"/>
              </a:rPr>
              <a:t>   }</a:t>
            </a:r>
            <a:endParaRPr lang="en-US" altLang="zh-CN" b="1" dirty="0">
              <a:solidFill>
                <a:schemeClr val="bg1"/>
              </a:solidFill>
              <a:latin typeface="+mn-ea"/>
            </a:endParaRPr>
          </a:p>
          <a:p>
            <a:pPr marL="0" lvl="1" algn="just">
              <a:lnSpc>
                <a:spcPct val="125000"/>
              </a:lnSpc>
              <a:buClr>
                <a:schemeClr val="accent6">
                  <a:lumMod val="60000"/>
                  <a:lumOff val="40000"/>
                </a:schemeClr>
              </a:buClr>
            </a:pPr>
            <a:endParaRPr lang="en-US" altLang="zh-CN" b="1" dirty="0">
              <a:solidFill>
                <a:schemeClr val="bg1"/>
              </a:solidFill>
              <a:latin typeface="+mn-ea"/>
            </a:endParaRPr>
          </a:p>
        </p:txBody>
      </p:sp>
      <p:sp>
        <p:nvSpPr>
          <p:cNvPr id="3" name="矩形 2"/>
          <p:cNvSpPr/>
          <p:nvPr/>
        </p:nvSpPr>
        <p:spPr>
          <a:xfrm>
            <a:off x="5436096" y="2067694"/>
            <a:ext cx="2160240" cy="100811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sz="2000" b="1" dirty="0" smtClean="0"/>
              <a:t>输出：</a:t>
            </a:r>
            <a:r>
              <a:rPr lang="en-US" altLang="zh-CN" sz="2000" b="1" dirty="0" err="1" smtClean="0"/>
              <a:t>bca</a:t>
            </a:r>
            <a:r>
              <a:rPr lang="zh-CN" altLang="en-US" sz="2000" b="1" dirty="0" smtClean="0"/>
              <a:t>（也有可能</a:t>
            </a:r>
            <a:r>
              <a:rPr lang="en-US" altLang="zh-CN" sz="2000" b="1" dirty="0" smtClean="0"/>
              <a:t>bac</a:t>
            </a:r>
            <a:r>
              <a:rPr lang="zh-CN" altLang="en-US" sz="2000" b="1" dirty="0" smtClean="0"/>
              <a:t>或者</a:t>
            </a:r>
            <a:r>
              <a:rPr lang="en-US" altLang="zh-CN" sz="2000" b="1" dirty="0" err="1" smtClean="0"/>
              <a:t>acb</a:t>
            </a:r>
            <a:r>
              <a:rPr lang="zh-CN" altLang="en-US" sz="2000" b="1" dirty="0" smtClean="0"/>
              <a:t>）</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撤销</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2" name="任意多边形 31"/>
          <p:cNvSpPr/>
          <p:nvPr/>
        </p:nvSpPr>
        <p:spPr>
          <a:xfrm>
            <a:off x="2320484" y="812999"/>
            <a:ext cx="1418181" cy="399835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52400" tIns="835183" rIns="152400" bIns="835183" numCol="1" spcCol="1270" anchor="t" anchorCtr="0">
            <a:noAutofit/>
          </a:bodyPr>
          <a:lstStyle/>
          <a:p>
            <a:pPr defTabSz="1066800">
              <a:lnSpc>
                <a:spcPct val="125000"/>
              </a:lnSpc>
              <a:spcBef>
                <a:spcPct val="0"/>
              </a:spcBef>
              <a:spcAft>
                <a:spcPct val="35000"/>
              </a:spcAft>
            </a:pPr>
            <a:r>
              <a:rPr lang="zh-CN" altLang="en-US" sz="2400" b="1" dirty="0"/>
              <a:t>由于某种错误导致非正常终止</a:t>
            </a:r>
          </a:p>
        </p:txBody>
      </p:sp>
      <p:sp>
        <p:nvSpPr>
          <p:cNvPr id="33" name="任意多边形 32"/>
          <p:cNvSpPr/>
          <p:nvPr/>
        </p:nvSpPr>
        <p:spPr>
          <a:xfrm>
            <a:off x="4106227" y="919466"/>
            <a:ext cx="1315663" cy="365640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52400" tIns="835183" rIns="152400" bIns="835183" numCol="1" spcCol="1270" anchor="ctr" anchorCtr="0">
            <a:noAutofit/>
          </a:bodyPr>
          <a:lstStyle/>
          <a:p>
            <a:pPr defTabSz="1066800">
              <a:lnSpc>
                <a:spcPct val="125000"/>
              </a:lnSpc>
              <a:spcBef>
                <a:spcPct val="0"/>
              </a:spcBef>
              <a:spcAft>
                <a:spcPct val="35000"/>
              </a:spcAft>
            </a:pPr>
            <a:r>
              <a:rPr lang="zh-CN" altLang="en-US" sz="2400" b="1" dirty="0"/>
              <a:t>祖先进程要求撤消某个子进</a:t>
            </a:r>
          </a:p>
        </p:txBody>
      </p:sp>
      <p:sp>
        <p:nvSpPr>
          <p:cNvPr id="34" name="任意多边形 33"/>
          <p:cNvSpPr/>
          <p:nvPr/>
        </p:nvSpPr>
        <p:spPr>
          <a:xfrm>
            <a:off x="780645" y="678637"/>
            <a:ext cx="1296142" cy="417591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52400" tIns="835183" rIns="152400" bIns="835183" numCol="1" spcCol="1270" anchor="ctr" anchorCtr="0">
            <a:noAutofit/>
          </a:bodyPr>
          <a:lstStyle/>
          <a:p>
            <a:pPr lvl="0" defTabSz="1066800">
              <a:lnSpc>
                <a:spcPct val="125000"/>
              </a:lnSpc>
              <a:spcBef>
                <a:spcPct val="0"/>
              </a:spcBef>
              <a:spcAft>
                <a:spcPct val="35000"/>
              </a:spcAft>
            </a:pPr>
            <a:r>
              <a:rPr lang="zh-CN" altLang="en-US" sz="2400" b="1" dirty="0"/>
              <a:t>该进程已完成所要求的功能而正常终止</a:t>
            </a:r>
          </a:p>
        </p:txBody>
      </p:sp>
      <p:sp>
        <p:nvSpPr>
          <p:cNvPr id="4" name="竖卷形 3"/>
          <p:cNvSpPr/>
          <p:nvPr/>
        </p:nvSpPr>
        <p:spPr>
          <a:xfrm>
            <a:off x="5421890" y="195391"/>
            <a:ext cx="3369418" cy="4800948"/>
          </a:xfrm>
          <a:prstGeom prst="verticalScroll">
            <a:avLst/>
          </a:prstGeom>
          <a:ln w="28575"/>
        </p:spPr>
        <p:style>
          <a:lnRef idx="1">
            <a:schemeClr val="accent2"/>
          </a:lnRef>
          <a:fillRef idx="2">
            <a:schemeClr val="accent2"/>
          </a:fillRef>
          <a:effectRef idx="1">
            <a:schemeClr val="accent2"/>
          </a:effectRef>
          <a:fontRef idx="minor">
            <a:schemeClr val="dk1"/>
          </a:fontRef>
        </p:style>
        <p:txBody>
          <a:bodyPr rtlCol="0" anchor="ctr"/>
          <a:lstStyle/>
          <a:p>
            <a:r>
              <a:rPr lang="zh-CN" altLang="en-US" sz="2000" b="1" dirty="0">
                <a:solidFill>
                  <a:schemeClr val="dk1">
                    <a:hueOff val="0"/>
                    <a:satOff val="0"/>
                    <a:lumOff val="0"/>
                    <a:alphaOff val="0"/>
                  </a:schemeClr>
                </a:solidFill>
              </a:rPr>
              <a:t>无论哪一种情况导致进程被撤消，进程都必须释放它所占用的各种资源和</a:t>
            </a:r>
            <a:r>
              <a:rPr lang="en-US" altLang="zh-CN" sz="2000" b="1" dirty="0">
                <a:solidFill>
                  <a:schemeClr val="dk1">
                    <a:hueOff val="0"/>
                    <a:satOff val="0"/>
                    <a:lumOff val="0"/>
                    <a:alphaOff val="0"/>
                  </a:schemeClr>
                </a:solidFill>
              </a:rPr>
              <a:t>PCB </a:t>
            </a:r>
            <a:r>
              <a:rPr lang="zh-CN" altLang="en-US" sz="2000" b="1" dirty="0">
                <a:solidFill>
                  <a:schemeClr val="dk1">
                    <a:hueOff val="0"/>
                    <a:satOff val="0"/>
                    <a:lumOff val="0"/>
                    <a:alphaOff val="0"/>
                  </a:schemeClr>
                </a:solidFill>
              </a:rPr>
              <a:t>结构本身，以利于资源的有效利用。另外，当一个祖先进程撤消某个子进程时，还需审查该子进程是否还有自己的子孙进程，若有的话，还需撤消其子孙进程的 </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结构和释放它们所占有的资源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撤销</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4643556" y="971141"/>
            <a:ext cx="3888883" cy="3785652"/>
          </a:xfrm>
          <a:prstGeom prst="rect">
            <a:avLst/>
          </a:prstGeom>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000" b="1" dirty="0">
                <a:solidFill>
                  <a:schemeClr val="dk1">
                    <a:hueOff val="0"/>
                    <a:satOff val="0"/>
                    <a:lumOff val="0"/>
                    <a:alphaOff val="0"/>
                  </a:schemeClr>
                </a:solidFill>
              </a:rPr>
              <a:t>撤消原语首先检查 </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进程链或进程家族，寻找所要撤消的进程是否存在。如果找到了所要撤消的进程的 </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结构，则撤消原语释放该进程所占有的资源之后，把对应的 </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结构从进程链或进程家族中摘下并返回给 </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空队列。如果被撤消的进程有自己的子进程，则撤消原语先撤消其子进程的 </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结构并释放子进程所占用的资源之后，再撤消当前进程的 </a:t>
            </a:r>
            <a:r>
              <a:rPr lang="en-US" altLang="zh-CN" sz="2000" b="1" dirty="0">
                <a:solidFill>
                  <a:schemeClr val="dk1">
                    <a:hueOff val="0"/>
                    <a:satOff val="0"/>
                    <a:lumOff val="0"/>
                    <a:alphaOff val="0"/>
                  </a:schemeClr>
                </a:solidFill>
              </a:rPr>
              <a:t>PCB</a:t>
            </a:r>
            <a:r>
              <a:rPr lang="zh-CN" altLang="en-US" sz="2000" b="1" dirty="0">
                <a:solidFill>
                  <a:schemeClr val="dk1">
                    <a:hueOff val="0"/>
                    <a:satOff val="0"/>
                    <a:lumOff val="0"/>
                    <a:alphaOff val="0"/>
                  </a:schemeClr>
                </a:solidFill>
              </a:rPr>
              <a:t>结构和释放其资源。</a:t>
            </a:r>
          </a:p>
        </p:txBody>
      </p:sp>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91" y="479203"/>
            <a:ext cx="4204513" cy="441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撤销</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281469"/>
            <a:ext cx="7200800"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进程终止的一般方式是调用</a:t>
            </a:r>
            <a:r>
              <a:rPr lang="en-US" altLang="zh-CN" sz="2400" b="1" dirty="0">
                <a:solidFill>
                  <a:srgbClr val="FFFF00"/>
                </a:solidFill>
                <a:latin typeface="+mn-ea"/>
              </a:rPr>
              <a:t>exit</a:t>
            </a:r>
            <a:r>
              <a:rPr lang="en-US" altLang="zh-CN" sz="2400" b="1" dirty="0" smtClean="0">
                <a:solidFill>
                  <a:srgbClr val="FFFF00"/>
                </a:solidFill>
                <a:latin typeface="+mn-ea"/>
              </a:rPr>
              <a:t>()</a:t>
            </a:r>
            <a:r>
              <a:rPr lang="zh-CN" altLang="en-US" sz="2400" b="1" dirty="0" smtClean="0">
                <a:solidFill>
                  <a:schemeClr val="bg1"/>
                </a:solidFill>
                <a:latin typeface="+mn-ea"/>
              </a:rPr>
              <a:t>库函数</a:t>
            </a:r>
            <a:r>
              <a:rPr lang="zh-CN" altLang="en-US" sz="2400" b="1" dirty="0">
                <a:solidFill>
                  <a:schemeClr val="bg1"/>
                </a:solidFill>
                <a:latin typeface="+mn-ea"/>
              </a:rPr>
              <a:t>，该函数释放</a:t>
            </a:r>
            <a:r>
              <a:rPr lang="en-US" altLang="zh-CN" sz="2400" b="1" dirty="0">
                <a:solidFill>
                  <a:schemeClr val="bg1"/>
                </a:solidFill>
                <a:latin typeface="+mn-ea"/>
              </a:rPr>
              <a:t>C</a:t>
            </a:r>
            <a:r>
              <a:rPr lang="zh-CN" altLang="en-US" sz="2400" b="1" dirty="0">
                <a:solidFill>
                  <a:schemeClr val="bg1"/>
                </a:solidFill>
                <a:latin typeface="+mn-ea"/>
              </a:rPr>
              <a:t>函数库所分配的资源，执行编程者所注册的每个函数，并结束从系统回收进程的那个系统调用</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exit</a:t>
            </a:r>
            <a:r>
              <a:rPr lang="en-US" altLang="zh-CN" sz="2400" b="1" dirty="0">
                <a:solidFill>
                  <a:schemeClr val="bg1"/>
                </a:solidFill>
                <a:latin typeface="+mn-ea"/>
              </a:rPr>
              <a:t>()</a:t>
            </a:r>
            <a:r>
              <a:rPr lang="zh-CN" altLang="en-US" sz="2400" b="1" dirty="0">
                <a:solidFill>
                  <a:schemeClr val="bg1"/>
                </a:solidFill>
                <a:latin typeface="+mn-ea"/>
              </a:rPr>
              <a:t>函数可能由编程者显示插入。另外，</a:t>
            </a:r>
            <a:r>
              <a:rPr lang="en-US" altLang="zh-CN" sz="2400" b="1" dirty="0">
                <a:solidFill>
                  <a:schemeClr val="bg1"/>
                </a:solidFill>
                <a:latin typeface="+mn-ea"/>
              </a:rPr>
              <a:t>c</a:t>
            </a:r>
            <a:r>
              <a:rPr lang="zh-CN" altLang="en-US" sz="2400" b="1" dirty="0">
                <a:solidFill>
                  <a:schemeClr val="bg1"/>
                </a:solidFill>
                <a:latin typeface="+mn-ea"/>
              </a:rPr>
              <a:t>编译程序总是把</a:t>
            </a:r>
            <a:r>
              <a:rPr lang="en-US" altLang="zh-CN" sz="2400" b="1" dirty="0">
                <a:solidFill>
                  <a:schemeClr val="bg1"/>
                </a:solidFill>
                <a:latin typeface="+mn-ea"/>
              </a:rPr>
              <a:t>exit()</a:t>
            </a:r>
            <a:r>
              <a:rPr lang="zh-CN" altLang="en-US" sz="2400" b="1" dirty="0">
                <a:solidFill>
                  <a:schemeClr val="bg1"/>
                </a:solidFill>
                <a:latin typeface="+mn-ea"/>
              </a:rPr>
              <a:t>函数插入到</a:t>
            </a:r>
            <a:r>
              <a:rPr lang="en-US" altLang="zh-CN" sz="2400" b="1" dirty="0">
                <a:solidFill>
                  <a:schemeClr val="bg1"/>
                </a:solidFill>
                <a:latin typeface="+mn-ea"/>
              </a:rPr>
              <a:t>main()</a:t>
            </a:r>
            <a:r>
              <a:rPr lang="zh-CN" altLang="en-US" sz="2400" b="1" dirty="0">
                <a:solidFill>
                  <a:schemeClr val="bg1"/>
                </a:solidFill>
                <a:latin typeface="+mn-ea"/>
              </a:rPr>
              <a:t>函数的最后一条语句之后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进程的阻塞</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23135" y="1171654"/>
            <a:ext cx="7200800"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阻塞原语在一个进程期待某一事件发生，但发生条件尚不具备时，被</a:t>
            </a:r>
            <a:r>
              <a:rPr lang="zh-CN" altLang="en-US" sz="2400" b="1" dirty="0">
                <a:solidFill>
                  <a:srgbClr val="FFFF00"/>
                </a:solidFill>
                <a:latin typeface="+mn-ea"/>
              </a:rPr>
              <a:t>该进程自己调用来阻塞自己</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阻塞原语</a:t>
            </a:r>
            <a:r>
              <a:rPr lang="zh-CN" altLang="en-US" sz="2400" b="1" dirty="0">
                <a:solidFill>
                  <a:schemeClr val="bg1"/>
                </a:solidFill>
                <a:latin typeface="+mn-ea"/>
              </a:rPr>
              <a:t>在阻塞一个进程时，由于该进程正处于执行状态，故应先中断处理机和保存该进程的</a:t>
            </a:r>
            <a:r>
              <a:rPr lang="en-US" altLang="zh-CN" sz="2400" b="1" dirty="0">
                <a:solidFill>
                  <a:schemeClr val="bg1"/>
                </a:solidFill>
                <a:latin typeface="+mn-ea"/>
              </a:rPr>
              <a:t>CPU</a:t>
            </a:r>
            <a:r>
              <a:rPr lang="zh-CN" altLang="en-US" sz="2400" b="1" dirty="0">
                <a:solidFill>
                  <a:schemeClr val="bg1"/>
                </a:solidFill>
                <a:latin typeface="+mn-ea"/>
              </a:rPr>
              <a:t>现场。然后将被阻塞进程置“阻塞”状态后插入等待队列中，再转进程调度程序选择新的就绪进程投入运行。</a:t>
            </a:r>
          </a:p>
        </p:txBody>
      </p:sp>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r="50240"/>
          <a:stretch>
            <a:fillRect/>
          </a:stretch>
        </p:blipFill>
        <p:spPr bwMode="auto">
          <a:xfrm>
            <a:off x="2411760" y="426326"/>
            <a:ext cx="409416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up)">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进程的阻塞</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107671"/>
            <a:ext cx="6912768" cy="364715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en-US" altLang="zh-CN" sz="2200" b="1" dirty="0" smtClean="0">
                <a:solidFill>
                  <a:srgbClr val="FFFF00"/>
                </a:solidFill>
                <a:latin typeface="+mn-ea"/>
              </a:rPr>
              <a:t>wait()</a:t>
            </a:r>
            <a:r>
              <a:rPr lang="zh-CN" altLang="en-US" sz="2200" b="1" dirty="0" smtClean="0">
                <a:solidFill>
                  <a:schemeClr val="bg1"/>
                </a:solidFill>
                <a:latin typeface="+mn-ea"/>
              </a:rPr>
              <a:t>库函数：进程</a:t>
            </a:r>
            <a:r>
              <a:rPr lang="zh-CN" altLang="en-US" sz="2200" b="1" dirty="0">
                <a:solidFill>
                  <a:schemeClr val="bg1"/>
                </a:solidFill>
                <a:latin typeface="+mn-ea"/>
              </a:rPr>
              <a:t>一旦调用了</a:t>
            </a:r>
            <a:r>
              <a:rPr lang="en-US" altLang="zh-CN" sz="2200" b="1" dirty="0">
                <a:solidFill>
                  <a:schemeClr val="bg1"/>
                </a:solidFill>
                <a:latin typeface="+mn-ea"/>
              </a:rPr>
              <a:t>wait()</a:t>
            </a:r>
            <a:r>
              <a:rPr lang="zh-CN" altLang="en-US" sz="2200" b="1" dirty="0">
                <a:solidFill>
                  <a:schemeClr val="bg1"/>
                </a:solidFill>
                <a:latin typeface="+mn-ea"/>
              </a:rPr>
              <a:t>， 就立即阻塞自己，由</a:t>
            </a:r>
            <a:r>
              <a:rPr lang="en-US" altLang="zh-CN" sz="2200" b="1" dirty="0">
                <a:solidFill>
                  <a:schemeClr val="bg1"/>
                </a:solidFill>
                <a:latin typeface="+mn-ea"/>
              </a:rPr>
              <a:t>wait</a:t>
            </a:r>
            <a:r>
              <a:rPr lang="zh-CN" altLang="en-US" sz="2200" b="1" dirty="0">
                <a:solidFill>
                  <a:schemeClr val="bg1"/>
                </a:solidFill>
                <a:latin typeface="+mn-ea"/>
              </a:rPr>
              <a:t>自动分析是否有当前进程的某个子进程已经退出，如果让它找到了一个已经变成僵尸的子进程，</a:t>
            </a:r>
            <a:r>
              <a:rPr lang="en-US" altLang="zh-CN" sz="2200" b="1" dirty="0">
                <a:solidFill>
                  <a:schemeClr val="bg1"/>
                </a:solidFill>
                <a:latin typeface="+mn-ea"/>
              </a:rPr>
              <a:t>wait</a:t>
            </a:r>
            <a:r>
              <a:rPr lang="zh-CN" altLang="en-US" sz="2200" b="1" dirty="0">
                <a:solidFill>
                  <a:schemeClr val="bg1"/>
                </a:solidFill>
                <a:latin typeface="+mn-ea"/>
              </a:rPr>
              <a:t>就会收集这个子进程的信息，并把它彻底销毁后返回；如果没有找到这样一个子进程，</a:t>
            </a:r>
            <a:r>
              <a:rPr lang="en-US" altLang="zh-CN" sz="2200" b="1" dirty="0">
                <a:solidFill>
                  <a:schemeClr val="bg1"/>
                </a:solidFill>
                <a:latin typeface="+mn-ea"/>
              </a:rPr>
              <a:t>wait</a:t>
            </a:r>
            <a:r>
              <a:rPr lang="zh-CN" altLang="en-US" sz="2200" b="1" dirty="0">
                <a:solidFill>
                  <a:schemeClr val="bg1"/>
                </a:solidFill>
                <a:latin typeface="+mn-ea"/>
              </a:rPr>
              <a:t>就会一直阻塞在这里，直到一个子进程结束或者该进程接到了一个指定的信号为止</a:t>
            </a:r>
            <a:r>
              <a:rPr lang="zh-CN" altLang="en-US" sz="2200" b="1" dirty="0" smtClean="0">
                <a:solidFill>
                  <a:schemeClr val="bg1"/>
                </a:solidFill>
                <a:latin typeface="+mn-ea"/>
              </a:rPr>
              <a:t>。</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进程的阻塞</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635646"/>
            <a:ext cx="6552728"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en-US" altLang="zh-CN" sz="2400" b="1" dirty="0" err="1" smtClean="0">
                <a:solidFill>
                  <a:srgbClr val="FFFF00"/>
                </a:solidFill>
                <a:latin typeface="+mn-ea"/>
              </a:rPr>
              <a:t>waitpid</a:t>
            </a:r>
            <a:r>
              <a:rPr lang="en-US" altLang="zh-CN" sz="2400" b="1" dirty="0" smtClean="0">
                <a:solidFill>
                  <a:srgbClr val="FFFF00"/>
                </a:solidFill>
                <a:latin typeface="+mn-ea"/>
              </a:rPr>
              <a:t>()</a:t>
            </a:r>
            <a:r>
              <a:rPr lang="zh-CN" altLang="en-US" sz="2400" b="1" dirty="0" smtClean="0">
                <a:solidFill>
                  <a:schemeClr val="bg1"/>
                </a:solidFill>
                <a:latin typeface="+mn-ea"/>
              </a:rPr>
              <a:t>库函数：实际上</a:t>
            </a:r>
            <a:r>
              <a:rPr lang="en-US" altLang="zh-CN" sz="2400" b="1" dirty="0">
                <a:solidFill>
                  <a:schemeClr val="bg1"/>
                </a:solidFill>
                <a:latin typeface="+mn-ea"/>
              </a:rPr>
              <a:t>wait()</a:t>
            </a:r>
            <a:r>
              <a:rPr lang="zh-CN" altLang="en-US" sz="2400" b="1" dirty="0">
                <a:solidFill>
                  <a:schemeClr val="bg1"/>
                </a:solidFill>
                <a:latin typeface="+mn-ea"/>
              </a:rPr>
              <a:t>函数只是</a:t>
            </a:r>
            <a:r>
              <a:rPr lang="en-US" altLang="zh-CN" sz="2400" b="1" dirty="0" err="1">
                <a:solidFill>
                  <a:schemeClr val="bg1"/>
                </a:solidFill>
                <a:latin typeface="+mn-ea"/>
              </a:rPr>
              <a:t>waitpid</a:t>
            </a:r>
            <a:r>
              <a:rPr lang="en-US" altLang="zh-CN" sz="2400" b="1" dirty="0">
                <a:solidFill>
                  <a:schemeClr val="bg1"/>
                </a:solidFill>
                <a:latin typeface="+mn-ea"/>
              </a:rPr>
              <a:t>()</a:t>
            </a:r>
            <a:r>
              <a:rPr lang="zh-CN" altLang="en-US" sz="2400" b="1" dirty="0">
                <a:solidFill>
                  <a:schemeClr val="bg1"/>
                </a:solidFill>
                <a:latin typeface="+mn-ea"/>
              </a:rPr>
              <a:t>函数的一个特例，在</a:t>
            </a:r>
            <a:r>
              <a:rPr lang="en-US" altLang="zh-CN" sz="2400" b="1" dirty="0">
                <a:solidFill>
                  <a:schemeClr val="bg1"/>
                </a:solidFill>
                <a:latin typeface="+mn-ea"/>
              </a:rPr>
              <a:t>Linux</a:t>
            </a:r>
            <a:r>
              <a:rPr lang="zh-CN" altLang="en-US" sz="2400" b="1" dirty="0">
                <a:solidFill>
                  <a:schemeClr val="bg1"/>
                </a:solidFill>
                <a:latin typeface="+mn-ea"/>
              </a:rPr>
              <a:t>内部实现</a:t>
            </a:r>
            <a:r>
              <a:rPr lang="en-US" altLang="zh-CN" sz="2400" b="1" dirty="0">
                <a:solidFill>
                  <a:schemeClr val="bg1"/>
                </a:solidFill>
                <a:latin typeface="+mn-ea"/>
              </a:rPr>
              <a:t>wait()</a:t>
            </a:r>
            <a:r>
              <a:rPr lang="zh-CN" altLang="en-US" sz="2400" b="1" dirty="0">
                <a:solidFill>
                  <a:schemeClr val="bg1"/>
                </a:solidFill>
                <a:latin typeface="+mn-ea"/>
              </a:rPr>
              <a:t>函数时直接调用的就是</a:t>
            </a:r>
            <a:r>
              <a:rPr lang="en-US" altLang="zh-CN" sz="2400" b="1" dirty="0" err="1">
                <a:solidFill>
                  <a:schemeClr val="bg1"/>
                </a:solidFill>
                <a:latin typeface="+mn-ea"/>
              </a:rPr>
              <a:t>waitpid</a:t>
            </a:r>
            <a:r>
              <a:rPr lang="en-US" altLang="zh-CN" sz="2400" b="1" dirty="0">
                <a:solidFill>
                  <a:schemeClr val="bg1"/>
                </a:solidFill>
                <a:latin typeface="+mn-ea"/>
              </a:rPr>
              <a:t>()</a:t>
            </a:r>
            <a:r>
              <a:rPr lang="zh-CN" altLang="en-US" sz="2400" b="1" dirty="0">
                <a:solidFill>
                  <a:schemeClr val="bg1"/>
                </a:solidFill>
                <a:latin typeface="+mn-ea"/>
              </a:rPr>
              <a:t>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进程的阻塞</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69492"/>
            <a:ext cx="6624736"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en-US" altLang="zh-CN" sz="2400" b="1" dirty="0">
                <a:solidFill>
                  <a:schemeClr val="bg1"/>
                </a:solidFill>
                <a:latin typeface="+mn-ea"/>
              </a:rPr>
              <a:t>wait()</a:t>
            </a:r>
            <a:r>
              <a:rPr lang="zh-CN" altLang="en-US" sz="2400" b="1" dirty="0">
                <a:solidFill>
                  <a:schemeClr val="bg1"/>
                </a:solidFill>
                <a:latin typeface="+mn-ea"/>
              </a:rPr>
              <a:t>函数的实现：</a:t>
            </a:r>
          </a:p>
          <a:p>
            <a:pPr marL="0" lvl="1" algn="just">
              <a:lnSpc>
                <a:spcPct val="150000"/>
              </a:lnSpc>
              <a:buClr>
                <a:schemeClr val="accent6">
                  <a:lumMod val="60000"/>
                  <a:lumOff val="40000"/>
                </a:schemeClr>
              </a:buClr>
            </a:pPr>
            <a:r>
              <a:rPr lang="en-US" altLang="zh-CN" sz="2400" b="1" dirty="0" smtClean="0">
                <a:solidFill>
                  <a:schemeClr val="bg1"/>
                </a:solidFill>
                <a:latin typeface="+mn-ea"/>
              </a:rPr>
              <a:t>static </a:t>
            </a:r>
            <a:r>
              <a:rPr lang="en-US" altLang="zh-CN" sz="2400" b="1" dirty="0">
                <a:solidFill>
                  <a:schemeClr val="bg1"/>
                </a:solidFill>
                <a:latin typeface="+mn-ea"/>
              </a:rPr>
              <a:t>inline  </a:t>
            </a:r>
            <a:r>
              <a:rPr lang="en-US" altLang="zh-CN" sz="2400" b="1" dirty="0" err="1">
                <a:solidFill>
                  <a:schemeClr val="bg1"/>
                </a:solidFill>
                <a:latin typeface="+mn-ea"/>
              </a:rPr>
              <a:t>pid_t</a:t>
            </a:r>
            <a:r>
              <a:rPr lang="en-US" altLang="zh-CN" sz="2400" b="1" dirty="0">
                <a:solidFill>
                  <a:schemeClr val="bg1"/>
                </a:solidFill>
                <a:latin typeface="+mn-ea"/>
              </a:rPr>
              <a:t>  wait(</a:t>
            </a:r>
            <a:r>
              <a:rPr lang="en-US" altLang="zh-CN" sz="2400" b="1" dirty="0" err="1">
                <a:solidFill>
                  <a:schemeClr val="bg1"/>
                </a:solidFill>
                <a:latin typeface="+mn-ea"/>
              </a:rPr>
              <a:t>int</a:t>
            </a:r>
            <a:r>
              <a:rPr lang="en-US" altLang="zh-CN" sz="2400" b="1" dirty="0">
                <a:solidFill>
                  <a:schemeClr val="bg1"/>
                </a:solidFill>
                <a:latin typeface="+mn-ea"/>
              </a:rPr>
              <a:t> *</a:t>
            </a:r>
            <a:r>
              <a:rPr lang="en-US" altLang="zh-CN" sz="2400" b="1" dirty="0" err="1">
                <a:solidFill>
                  <a:schemeClr val="bg1"/>
                </a:solidFill>
                <a:latin typeface="+mn-ea"/>
              </a:rPr>
              <a:t>wait_stat</a:t>
            </a:r>
            <a:r>
              <a:rPr lang="en-US" altLang="zh-CN" sz="2400" b="1" dirty="0">
                <a:solidFill>
                  <a:schemeClr val="bg1"/>
                </a:solidFill>
                <a:latin typeface="+mn-ea"/>
              </a:rPr>
              <a:t>)  </a:t>
            </a:r>
          </a:p>
          <a:p>
            <a:pPr marL="0" lvl="1" algn="just">
              <a:lnSpc>
                <a:spcPct val="150000"/>
              </a:lnSpc>
              <a:buClr>
                <a:schemeClr val="accent6">
                  <a:lumMod val="60000"/>
                  <a:lumOff val="40000"/>
                </a:schemeClr>
              </a:buClr>
            </a:pPr>
            <a:r>
              <a:rPr lang="en-US" altLang="zh-CN" sz="2400" b="1" dirty="0" smtClean="0">
                <a:solidFill>
                  <a:schemeClr val="bg1"/>
                </a:solidFill>
                <a:latin typeface="+mn-ea"/>
              </a:rPr>
              <a:t>{  </a:t>
            </a:r>
          </a:p>
          <a:p>
            <a:pPr marL="0" lvl="1" algn="just">
              <a:lnSpc>
                <a:spcPct val="150000"/>
              </a:lnSpc>
              <a:buClr>
                <a:schemeClr val="accent6">
                  <a:lumMod val="60000"/>
                  <a:lumOff val="40000"/>
                </a:schemeClr>
              </a:buClr>
            </a:pPr>
            <a:r>
              <a:rPr lang="zh-CN" altLang="en-US" sz="2400" b="1" dirty="0">
                <a:solidFill>
                  <a:schemeClr val="bg1"/>
                </a:solidFill>
                <a:latin typeface="+mn-ea"/>
              </a:rPr>
              <a:t>　　</a:t>
            </a:r>
            <a:r>
              <a:rPr lang="en-US" altLang="zh-CN" sz="2400" b="1" dirty="0">
                <a:solidFill>
                  <a:schemeClr val="bg1"/>
                </a:solidFill>
                <a:latin typeface="+mn-ea"/>
              </a:rPr>
              <a:t>return </a:t>
            </a:r>
            <a:r>
              <a:rPr lang="en-US" altLang="zh-CN" sz="2400" b="1" dirty="0" err="1">
                <a:solidFill>
                  <a:schemeClr val="bg1"/>
                </a:solidFill>
                <a:latin typeface="+mn-ea"/>
              </a:rPr>
              <a:t>waitpid</a:t>
            </a:r>
            <a:r>
              <a:rPr lang="en-US" altLang="zh-CN" sz="2400" b="1" dirty="0">
                <a:solidFill>
                  <a:schemeClr val="bg1"/>
                </a:solidFill>
                <a:latin typeface="+mn-ea"/>
              </a:rPr>
              <a:t>(-1,wait_stat,0);  </a:t>
            </a:r>
          </a:p>
          <a:p>
            <a:pPr marL="0" lvl="1" algn="just">
              <a:lnSpc>
                <a:spcPct val="150000"/>
              </a:lnSpc>
              <a:buClr>
                <a:schemeClr val="accent6">
                  <a:lumMod val="60000"/>
                  <a:lumOff val="40000"/>
                </a:schemeClr>
              </a:buClr>
            </a:pPr>
            <a:r>
              <a:rPr lang="en-US" altLang="zh-CN" sz="2400" b="1" dirty="0" smtClean="0">
                <a:solidFill>
                  <a:schemeClr val="bg1"/>
                </a:solidFill>
                <a:latin typeface="+mn-ea"/>
              </a:rPr>
              <a:t>} </a:t>
            </a:r>
            <a:endParaRPr lang="zh-CN" altLang="en-US" sz="2400" b="1" dirty="0">
              <a:solidFill>
                <a:schemeClr val="bg1"/>
              </a:solidFill>
              <a:latin typeface="+mn-ea"/>
            </a:endParaRPr>
          </a:p>
        </p:txBody>
      </p:sp>
      <p:sp>
        <p:nvSpPr>
          <p:cNvPr id="3" name="圆角矩形标注 2"/>
          <p:cNvSpPr/>
          <p:nvPr/>
        </p:nvSpPr>
        <p:spPr>
          <a:xfrm>
            <a:off x="6624228" y="600837"/>
            <a:ext cx="2124236" cy="1037669"/>
          </a:xfrm>
          <a:prstGeom prst="wedgeRoundRectCallout">
            <a:avLst>
              <a:gd name="adj1" fmla="val -150409"/>
              <a:gd name="adj2" fmla="val 198298"/>
              <a:gd name="adj3" fmla="val 16667"/>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sz="2000" b="1" dirty="0" smtClean="0"/>
              <a:t>课下自行查询这些参数的意义</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进程的唤醒</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4327" y="1059582"/>
            <a:ext cx="2051215"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当等待队列中的进程所等待的事件发生时，等待该事件的所有进程都将被唤醒。</a:t>
            </a:r>
          </a:p>
        </p:txBody>
      </p:sp>
      <p:grpSp>
        <p:nvGrpSpPr>
          <p:cNvPr id="30" name="组合 29"/>
          <p:cNvGrpSpPr/>
          <p:nvPr/>
        </p:nvGrpSpPr>
        <p:grpSpPr>
          <a:xfrm>
            <a:off x="3044644" y="1229307"/>
            <a:ext cx="2569351" cy="3318639"/>
            <a:chOff x="987631" y="1137478"/>
            <a:chExt cx="2186299" cy="2837416"/>
          </a:xfrm>
        </p:grpSpPr>
        <p:sp>
          <p:nvSpPr>
            <p:cNvPr id="31" name="任意多边形 30"/>
            <p:cNvSpPr/>
            <p:nvPr/>
          </p:nvSpPr>
          <p:spPr>
            <a:xfrm>
              <a:off x="987631" y="1137478"/>
              <a:ext cx="1982844" cy="2010022"/>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系统进程统一控制事件的发生并将“事件发生”这一消息通知等待进程。从而使得该进程因等待事件已发生而进入就绪队列。</a:t>
              </a:r>
            </a:p>
          </p:txBody>
        </p:sp>
        <p:sp>
          <p:nvSpPr>
            <p:cNvPr id="32" name="任意多边形 31"/>
            <p:cNvSpPr/>
            <p:nvPr/>
          </p:nvSpPr>
          <p:spPr>
            <a:xfrm>
              <a:off x="987631"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dirty="0"/>
                <a:t>由系统进程唤醒</a:t>
              </a:r>
            </a:p>
          </p:txBody>
        </p:sp>
        <p:sp>
          <p:nvSpPr>
            <p:cNvPr id="33" name="椭圆 32"/>
            <p:cNvSpPr/>
            <p:nvPr/>
          </p:nvSpPr>
          <p:spPr>
            <a:xfrm>
              <a:off x="2479935" y="3280899"/>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4" name="组合 33"/>
          <p:cNvGrpSpPr/>
          <p:nvPr/>
        </p:nvGrpSpPr>
        <p:grpSpPr>
          <a:xfrm>
            <a:off x="5760743" y="1229306"/>
            <a:ext cx="2564578" cy="3318640"/>
            <a:chOff x="3306020" y="1159725"/>
            <a:chExt cx="2146456" cy="2782866"/>
          </a:xfrm>
        </p:grpSpPr>
        <p:sp>
          <p:nvSpPr>
            <p:cNvPr id="35" name="任意多边形 34"/>
            <p:cNvSpPr/>
            <p:nvPr/>
          </p:nvSpPr>
          <p:spPr>
            <a:xfrm>
              <a:off x="3306020" y="1159725"/>
              <a:ext cx="1982844" cy="1987773"/>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a:t>事件发生进程和被唤醒进程之间是合作关系。</a:t>
              </a:r>
            </a:p>
          </p:txBody>
        </p:sp>
        <p:sp>
          <p:nvSpPr>
            <p:cNvPr id="36" name="任意多边形 35"/>
            <p:cNvSpPr/>
            <p:nvPr/>
          </p:nvSpPr>
          <p:spPr>
            <a:xfrm>
              <a:off x="330602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由事件发生进程唤醒</a:t>
              </a:r>
            </a:p>
          </p:txBody>
        </p:sp>
        <p:sp>
          <p:nvSpPr>
            <p:cNvPr id="37" name="椭圆 36"/>
            <p:cNvSpPr/>
            <p:nvPr/>
          </p:nvSpPr>
          <p:spPr>
            <a:xfrm>
              <a:off x="4758481" y="324859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down)">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进程的唤醒</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754327" y="1159834"/>
            <a:ext cx="6980905"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称</a:t>
            </a:r>
            <a:r>
              <a:rPr lang="zh-CN" altLang="en-US" sz="2400" b="1" dirty="0">
                <a:solidFill>
                  <a:srgbClr val="FFFF00"/>
                </a:solidFill>
                <a:latin typeface="+mn-ea"/>
              </a:rPr>
              <a:t>调用唤醒原语的进程为唤醒进程</a:t>
            </a:r>
            <a:r>
              <a:rPr lang="zh-CN" altLang="en-US" sz="2400" b="1" dirty="0">
                <a:solidFill>
                  <a:schemeClr val="bg1"/>
                </a:solidFill>
                <a:latin typeface="+mn-ea"/>
              </a:rPr>
              <a:t>。唤醒原语首先将被唤醒进程从相应的等待队列中摘下，将被唤醒进程置为就绪状态之后，送入就绪队列。在把被唤醒进程送入就绪队列之后，唤醒原语既可以返回原调用程序，也可以转向进程调度，以便让调度程序有机会选择一个合适的进程执行</a:t>
            </a:r>
          </a:p>
        </p:txBody>
      </p:sp>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l="50240"/>
          <a:stretch>
            <a:fillRect/>
          </a:stretch>
        </p:blipFill>
        <p:spPr bwMode="auto">
          <a:xfrm>
            <a:off x="2411760" y="709794"/>
            <a:ext cx="3915808" cy="422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314829" y="208660"/>
            <a:ext cx="3705443" cy="369332"/>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r>
              <a:rPr lang="en-US" altLang="zh-CN" dirty="0" err="1">
                <a:solidFill>
                  <a:srgbClr val="000000"/>
                </a:solidFill>
                <a:latin typeface="微软雅黑" panose="020B0503020204020204" pitchFamily="34" charset="-122"/>
                <a:ea typeface="微软雅黑" panose="020B0503020204020204" pitchFamily="34" charset="-122"/>
              </a:rPr>
              <a:t>wake_up_process</a:t>
            </a:r>
            <a:r>
              <a:rPr lang="en-US" altLang="zh-CN" dirty="0">
                <a:solidFill>
                  <a:srgbClr val="000000"/>
                </a:solidFill>
                <a:latin typeface="微软雅黑" panose="020B0503020204020204" pitchFamily="34" charset="-122"/>
                <a:ea typeface="微软雅黑" panose="020B0503020204020204" pitchFamily="34" charset="-122"/>
              </a:rPr>
              <a:t>(</a:t>
            </a:r>
            <a:r>
              <a:rPr lang="en-US" altLang="zh-CN" dirty="0" err="1">
                <a:solidFill>
                  <a:srgbClr val="000000"/>
                </a:solidFill>
                <a:latin typeface="微软雅黑" panose="020B0503020204020204" pitchFamily="34" charset="-122"/>
                <a:ea typeface="微软雅黑" panose="020B0503020204020204" pitchFamily="34" charset="-122"/>
              </a:rPr>
              <a:t>sleeping_task</a:t>
            </a:r>
            <a:r>
              <a:rPr lang="en-US" altLang="zh-CN" dirty="0" smtClean="0">
                <a:solidFill>
                  <a:srgbClr val="000000"/>
                </a:solidFill>
                <a:latin typeface="微软雅黑" panose="020B0503020204020204" pitchFamily="34" charset="-122"/>
                <a:ea typeface="微软雅黑" panose="020B0503020204020204" pitchFamily="34" charset="-122"/>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up)">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回顾</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并发与并行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283859"/>
            <a:ext cx="7056784" cy="345325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定义</a:t>
            </a:r>
            <a:r>
              <a:rPr lang="en-US" altLang="zh-CN" sz="2400" b="1" dirty="0" smtClean="0">
                <a:solidFill>
                  <a:schemeClr val="bg1"/>
                </a:solidFill>
                <a:latin typeface="+mn-ea"/>
              </a:rPr>
              <a:t>1 </a:t>
            </a:r>
            <a:r>
              <a:rPr lang="zh-CN" altLang="en-US" sz="2400" b="1" dirty="0">
                <a:solidFill>
                  <a:schemeClr val="bg1"/>
                </a:solidFill>
                <a:latin typeface="+mn-ea"/>
              </a:rPr>
              <a:t>如果考虑两个程序</a:t>
            </a:r>
            <a:r>
              <a:rPr lang="en-US" altLang="zh-CN" sz="2400" b="1" dirty="0">
                <a:solidFill>
                  <a:schemeClr val="bg1"/>
                </a:solidFill>
                <a:latin typeface="+mn-ea"/>
              </a:rPr>
              <a:t>,</a:t>
            </a:r>
            <a:r>
              <a:rPr lang="zh-CN" altLang="en-US" sz="2400" b="1" dirty="0">
                <a:solidFill>
                  <a:schemeClr val="bg1"/>
                </a:solidFill>
                <a:latin typeface="+mn-ea"/>
              </a:rPr>
              <a:t>它们在同一时间度量下同时运行</a:t>
            </a:r>
            <a:r>
              <a:rPr lang="zh-CN" altLang="en-US" sz="2400" b="1" u="sng" dirty="0">
                <a:solidFill>
                  <a:srgbClr val="FFFF00"/>
                </a:solidFill>
                <a:latin typeface="+mn-ea"/>
              </a:rPr>
              <a:t>在不同的处理机</a:t>
            </a:r>
            <a:r>
              <a:rPr lang="zh-CN" altLang="en-US" sz="2400" b="1" dirty="0">
                <a:solidFill>
                  <a:schemeClr val="bg1"/>
                </a:solidFill>
                <a:latin typeface="+mn-ea"/>
              </a:rPr>
              <a:t>上，则称这两个程序是</a:t>
            </a:r>
            <a:r>
              <a:rPr lang="zh-CN" altLang="en-US" sz="2400" b="1" dirty="0">
                <a:solidFill>
                  <a:srgbClr val="FFFF00"/>
                </a:solidFill>
                <a:latin typeface="+mn-ea"/>
              </a:rPr>
              <a:t>并行执行</a:t>
            </a:r>
            <a:r>
              <a:rPr lang="zh-CN" altLang="en-US" sz="2400" b="1" dirty="0">
                <a:solidFill>
                  <a:schemeClr val="bg1"/>
                </a:solidFill>
                <a:latin typeface="+mn-ea"/>
              </a:rPr>
              <a:t>的。</a:t>
            </a: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定义</a:t>
            </a:r>
            <a:r>
              <a:rPr lang="en-US" altLang="zh-CN" sz="2400" b="1" smtClean="0">
                <a:solidFill>
                  <a:schemeClr val="bg1"/>
                </a:solidFill>
                <a:latin typeface="+mn-ea"/>
              </a:rPr>
              <a:t>2 </a:t>
            </a:r>
            <a:r>
              <a:rPr lang="zh-CN" altLang="en-US" sz="2400" b="1" dirty="0">
                <a:solidFill>
                  <a:schemeClr val="bg1"/>
                </a:solidFill>
                <a:latin typeface="+mn-ea"/>
              </a:rPr>
              <a:t>设有两个活动</a:t>
            </a:r>
            <a:r>
              <a:rPr lang="en-US" altLang="zh-CN" sz="2400" b="1" dirty="0">
                <a:solidFill>
                  <a:schemeClr val="bg1"/>
                </a:solidFill>
                <a:latin typeface="+mn-ea"/>
              </a:rPr>
              <a:t>a1</a:t>
            </a:r>
            <a:r>
              <a:rPr lang="zh-CN" altLang="en-US" sz="2400" b="1" dirty="0">
                <a:solidFill>
                  <a:schemeClr val="bg1"/>
                </a:solidFill>
                <a:latin typeface="+mn-ea"/>
              </a:rPr>
              <a:t>和</a:t>
            </a:r>
            <a:r>
              <a:rPr lang="en-US" altLang="zh-CN" sz="2400" b="1" dirty="0">
                <a:solidFill>
                  <a:schemeClr val="bg1"/>
                </a:solidFill>
                <a:latin typeface="+mn-ea"/>
              </a:rPr>
              <a:t>a2</a:t>
            </a:r>
            <a:r>
              <a:rPr lang="zh-CN" altLang="en-US" sz="2400" b="1" dirty="0">
                <a:solidFill>
                  <a:schemeClr val="bg1"/>
                </a:solidFill>
                <a:latin typeface="+mn-ea"/>
              </a:rPr>
              <a:t>，如果在某一指定的时间</a:t>
            </a:r>
            <a:r>
              <a:rPr lang="en-US" altLang="zh-CN" sz="2400" b="1" dirty="0">
                <a:solidFill>
                  <a:schemeClr val="bg1"/>
                </a:solidFill>
                <a:latin typeface="+mn-ea"/>
              </a:rPr>
              <a:t>t</a:t>
            </a:r>
            <a:r>
              <a:rPr lang="zh-CN" altLang="en-US" sz="2400" b="1" dirty="0">
                <a:solidFill>
                  <a:schemeClr val="bg1"/>
                </a:solidFill>
                <a:latin typeface="+mn-ea"/>
              </a:rPr>
              <a:t>，无论</a:t>
            </a:r>
            <a:r>
              <a:rPr lang="en-US" altLang="zh-CN" sz="2400" b="1" dirty="0">
                <a:solidFill>
                  <a:schemeClr val="bg1"/>
                </a:solidFill>
                <a:latin typeface="+mn-ea"/>
              </a:rPr>
              <a:t>a1</a:t>
            </a:r>
            <a:r>
              <a:rPr lang="zh-CN" altLang="en-US" sz="2400" b="1" dirty="0">
                <a:solidFill>
                  <a:schemeClr val="bg1"/>
                </a:solidFill>
                <a:latin typeface="+mn-ea"/>
              </a:rPr>
              <a:t>和</a:t>
            </a:r>
            <a:r>
              <a:rPr lang="en-US" altLang="zh-CN" sz="2400" b="1" dirty="0">
                <a:solidFill>
                  <a:schemeClr val="bg1"/>
                </a:solidFill>
                <a:latin typeface="+mn-ea"/>
              </a:rPr>
              <a:t>a2</a:t>
            </a:r>
            <a:r>
              <a:rPr lang="zh-CN" altLang="en-US" sz="2400" b="1" dirty="0">
                <a:solidFill>
                  <a:schemeClr val="bg1"/>
                </a:solidFill>
                <a:latin typeface="+mn-ea"/>
              </a:rPr>
              <a:t>是</a:t>
            </a:r>
            <a:r>
              <a:rPr lang="zh-CN" altLang="en-US" sz="2400" b="1" dirty="0">
                <a:solidFill>
                  <a:srgbClr val="FFFF00"/>
                </a:solidFill>
                <a:latin typeface="+mn-ea"/>
              </a:rPr>
              <a:t>在同一处理机上还是在不同的处理机上执行，只要</a:t>
            </a:r>
            <a:r>
              <a:rPr lang="en-US" altLang="zh-CN" sz="2400" b="1" dirty="0">
                <a:solidFill>
                  <a:srgbClr val="FFFF00"/>
                </a:solidFill>
                <a:latin typeface="+mn-ea"/>
              </a:rPr>
              <a:t>a1</a:t>
            </a:r>
            <a:r>
              <a:rPr lang="zh-CN" altLang="en-US" sz="2400" b="1" dirty="0">
                <a:solidFill>
                  <a:srgbClr val="FFFF00"/>
                </a:solidFill>
                <a:latin typeface="+mn-ea"/>
              </a:rPr>
              <a:t>和</a:t>
            </a:r>
            <a:r>
              <a:rPr lang="en-US" altLang="zh-CN" sz="2400" b="1" dirty="0">
                <a:solidFill>
                  <a:srgbClr val="FFFF00"/>
                </a:solidFill>
                <a:latin typeface="+mn-ea"/>
              </a:rPr>
              <a:t>a2</a:t>
            </a:r>
            <a:r>
              <a:rPr lang="zh-CN" altLang="en-US" sz="2400" b="1" dirty="0">
                <a:solidFill>
                  <a:srgbClr val="FFFF00"/>
                </a:solidFill>
                <a:latin typeface="+mn-ea"/>
              </a:rPr>
              <a:t>都处在各自的起点和终点之间的某一处</a:t>
            </a:r>
            <a:r>
              <a:rPr lang="zh-CN" altLang="en-US" sz="2400" b="1" dirty="0">
                <a:solidFill>
                  <a:schemeClr val="bg1"/>
                </a:solidFill>
                <a:latin typeface="+mn-ea"/>
              </a:rPr>
              <a:t>，则称</a:t>
            </a:r>
            <a:r>
              <a:rPr lang="en-US" altLang="zh-CN" sz="2400" b="1" dirty="0">
                <a:solidFill>
                  <a:schemeClr val="bg1"/>
                </a:solidFill>
                <a:latin typeface="+mn-ea"/>
              </a:rPr>
              <a:t>a1</a:t>
            </a:r>
            <a:r>
              <a:rPr lang="zh-CN" altLang="en-US" sz="2400" b="1" dirty="0">
                <a:solidFill>
                  <a:schemeClr val="bg1"/>
                </a:solidFill>
                <a:latin typeface="+mn-ea"/>
              </a:rPr>
              <a:t>和</a:t>
            </a:r>
            <a:r>
              <a:rPr lang="en-US" altLang="zh-CN" sz="2400" b="1" dirty="0">
                <a:solidFill>
                  <a:schemeClr val="bg1"/>
                </a:solidFill>
                <a:latin typeface="+mn-ea"/>
              </a:rPr>
              <a:t>a2</a:t>
            </a:r>
            <a:r>
              <a:rPr lang="zh-CN" altLang="en-US" sz="2400" b="1" dirty="0">
                <a:solidFill>
                  <a:schemeClr val="bg1"/>
                </a:solidFill>
                <a:latin typeface="+mn-ea"/>
              </a:rPr>
              <a:t>是</a:t>
            </a:r>
            <a:r>
              <a:rPr lang="zh-CN" altLang="en-US" sz="2400" b="1" dirty="0">
                <a:solidFill>
                  <a:srgbClr val="FFFF00"/>
                </a:solidFill>
                <a:latin typeface="+mn-ea"/>
              </a:rPr>
              <a:t>并发执行</a:t>
            </a:r>
            <a:r>
              <a:rPr lang="zh-CN" altLang="en-US" sz="2400" b="1" dirty="0">
                <a:solidFill>
                  <a:schemeClr val="bg1"/>
                </a:solidFill>
                <a:latin typeface="+mn-ea"/>
              </a:rPr>
              <a:t>的</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回顾</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并发与并行</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63022"/>
            <a:ext cx="6912768"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并发</a:t>
            </a:r>
            <a:r>
              <a:rPr lang="zh-CN" altLang="en-US" sz="2400" b="1" dirty="0" smtClean="0">
                <a:solidFill>
                  <a:schemeClr val="bg1"/>
                </a:solidFill>
                <a:latin typeface="+mn-ea"/>
              </a:rPr>
              <a:t>意指“</a:t>
            </a:r>
            <a:r>
              <a:rPr lang="zh-CN" altLang="en-US" sz="2400" b="1" dirty="0" smtClean="0">
                <a:solidFill>
                  <a:srgbClr val="FFFF00"/>
                </a:solidFill>
                <a:latin typeface="+mn-ea"/>
              </a:rPr>
              <a:t>同时</a:t>
            </a:r>
            <a:r>
              <a:rPr lang="zh-CN" altLang="en-US" sz="2400" b="1" dirty="0" smtClean="0">
                <a:solidFill>
                  <a:schemeClr val="bg1"/>
                </a:solidFill>
                <a:latin typeface="+mn-ea"/>
              </a:rPr>
              <a:t>”。更准确地说，在某一时间里如果两个活动都处在各自的起点与终点之间，则认为这两个活动是并发的。 </a:t>
            </a:r>
            <a:endParaRPr lang="zh-CN" altLang="en-US" sz="2400" b="1" dirty="0">
              <a:solidFill>
                <a:schemeClr val="bg1"/>
              </a:solidFill>
              <a:latin typeface="+mn-ea"/>
            </a:endParaRPr>
          </a:p>
        </p:txBody>
      </p:sp>
      <p:grpSp>
        <p:nvGrpSpPr>
          <p:cNvPr id="29" name="Group 3"/>
          <p:cNvGrpSpPr/>
          <p:nvPr/>
        </p:nvGrpSpPr>
        <p:grpSpPr bwMode="auto">
          <a:xfrm>
            <a:off x="971600" y="2859782"/>
            <a:ext cx="5978525" cy="2141538"/>
            <a:chOff x="912" y="2736"/>
            <a:chExt cx="4080" cy="1349"/>
          </a:xfrm>
        </p:grpSpPr>
        <p:grpSp>
          <p:nvGrpSpPr>
            <p:cNvPr id="30" name="Group 4"/>
            <p:cNvGrpSpPr/>
            <p:nvPr/>
          </p:nvGrpSpPr>
          <p:grpSpPr bwMode="auto">
            <a:xfrm>
              <a:off x="3552" y="2736"/>
              <a:ext cx="1440" cy="1349"/>
              <a:chOff x="864" y="2496"/>
              <a:chExt cx="1440" cy="1349"/>
            </a:xfrm>
          </p:grpSpPr>
          <p:sp>
            <p:nvSpPr>
              <p:cNvPr id="34" name="Rectangle 5"/>
              <p:cNvSpPr>
                <a:spLocks noChangeArrowheads="1"/>
              </p:cNvSpPr>
              <p:nvPr/>
            </p:nvSpPr>
            <p:spPr bwMode="auto">
              <a:xfrm>
                <a:off x="864" y="2496"/>
                <a:ext cx="1440" cy="1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71500" algn="l">
                  <a:spcBef>
                    <a:spcPct val="0"/>
                  </a:spcBef>
                  <a:defRPr>
                    <a:solidFill>
                      <a:schemeClr val="tx1"/>
                    </a:solidFill>
                    <a:latin typeface="Arial" panose="020B0604020202020204" pitchFamily="34" charset="0"/>
                    <a:ea typeface="宋体" panose="02010600030101010101" pitchFamily="2" charset="-122"/>
                  </a:defRPr>
                </a:lvl1pPr>
                <a:lvl2pPr marL="1047750" indent="-285750" algn="l">
                  <a:spcBef>
                    <a:spcPct val="0"/>
                  </a:spcBef>
                  <a:defRPr>
                    <a:solidFill>
                      <a:schemeClr val="tx1"/>
                    </a:solidFill>
                    <a:latin typeface="Arial" panose="020B0604020202020204" pitchFamily="34" charset="0"/>
                    <a:ea typeface="宋体" panose="02010600030101010101" pitchFamily="2" charset="-122"/>
                  </a:defRPr>
                </a:lvl2pPr>
                <a:lvl3pPr marL="1466850" indent="-228600" algn="l">
                  <a:spcBef>
                    <a:spcPct val="0"/>
                  </a:spcBef>
                  <a:defRPr>
                    <a:solidFill>
                      <a:schemeClr val="tx1"/>
                    </a:solidFill>
                    <a:latin typeface="Arial" panose="020B0604020202020204" pitchFamily="34" charset="0"/>
                    <a:ea typeface="宋体" panose="02010600030101010101" pitchFamily="2" charset="-122"/>
                  </a:defRPr>
                </a:lvl3pPr>
                <a:lvl4pPr marL="1885950" indent="-228600" algn="l">
                  <a:spcBef>
                    <a:spcPct val="0"/>
                  </a:spcBef>
                  <a:defRPr>
                    <a:solidFill>
                      <a:schemeClr val="tx1"/>
                    </a:solidFill>
                    <a:latin typeface="Arial" panose="020B0604020202020204" pitchFamily="34" charset="0"/>
                    <a:ea typeface="宋体" panose="02010600030101010101" pitchFamily="2" charset="-122"/>
                  </a:defRPr>
                </a:lvl4pPr>
                <a:lvl5pPr marL="2305050" indent="-228600" algn="l">
                  <a:spcBef>
                    <a:spcPct val="0"/>
                  </a:spcBef>
                  <a:defRPr>
                    <a:solidFill>
                      <a:schemeClr val="tx1"/>
                    </a:solidFill>
                    <a:latin typeface="Arial" panose="020B0604020202020204" pitchFamily="34" charset="0"/>
                    <a:ea typeface="宋体" panose="02010600030101010101" pitchFamily="2" charset="-122"/>
                  </a:defRPr>
                </a:lvl5pPr>
                <a:lvl6pPr marL="27622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194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766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338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 hangingPunct="0">
                  <a:spcBef>
                    <a:spcPct val="20000"/>
                  </a:spcBef>
                  <a:buClr>
                    <a:srgbClr val="FFFFFF"/>
                  </a:buClr>
                  <a:buFont typeface="Wingdings" panose="05000000000000000000" pitchFamily="2" charset="2"/>
                  <a:buNone/>
                </a:pPr>
                <a:r>
                  <a:rPr lang="zh-CN" altLang="en-US" sz="2400" dirty="0">
                    <a:solidFill>
                      <a:schemeClr val="bg1"/>
                    </a:solidFill>
                    <a:latin typeface="隶书" panose="02010509060101010101" pitchFamily="49" charset="-122"/>
                    <a:ea typeface="隶书" panose="02010509060101010101" pitchFamily="49" charset="-122"/>
                  </a:rPr>
                  <a:t>程序</a:t>
                </a:r>
                <a:r>
                  <a:rPr lang="en-US" altLang="zh-CN" sz="2400" dirty="0">
                    <a:solidFill>
                      <a:schemeClr val="bg1"/>
                    </a:solidFill>
                    <a:latin typeface="隶书" panose="02010509060101010101" pitchFamily="49" charset="-122"/>
                    <a:ea typeface="隶书" panose="02010509060101010101" pitchFamily="49" charset="-122"/>
                  </a:rPr>
                  <a:t>2</a:t>
                </a:r>
              </a:p>
              <a:p>
                <a:pPr eaLnBrk="0" fontAlgn="b" hangingPunct="0">
                  <a:spcBef>
                    <a:spcPct val="20000"/>
                  </a:spcBef>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ea typeface="隶书" panose="02010509060101010101" pitchFamily="49" charset="-122"/>
                  </a:rPr>
                  <a:t> </a:t>
                </a:r>
                <a:r>
                  <a:rPr lang="en-US" altLang="zh-CN" sz="2400" dirty="0">
                    <a:solidFill>
                      <a:schemeClr val="bg1"/>
                    </a:solidFill>
                    <a:latin typeface="Univers"/>
                    <a:ea typeface="隶书" panose="02010509060101010101" pitchFamily="49" charset="-122"/>
                  </a:rPr>
                  <a:t>…</a:t>
                </a:r>
                <a:endParaRPr lang="en-US" altLang="zh-CN" sz="2400" dirty="0">
                  <a:solidFill>
                    <a:schemeClr val="bg1"/>
                  </a:solidFill>
                  <a:latin typeface="隶书" panose="02010509060101010101" pitchFamily="49" charset="-122"/>
                  <a:ea typeface="隶书" panose="02010509060101010101" pitchFamily="49" charset="-122"/>
                </a:endParaRPr>
              </a:p>
              <a:p>
                <a:pPr eaLnBrk="0" fontAlgn="b" hangingPunct="0">
                  <a:spcBef>
                    <a:spcPct val="20000"/>
                  </a:spcBef>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ea typeface="隶书" panose="02010509060101010101" pitchFamily="49" charset="-122"/>
                  </a:rPr>
                  <a:t>X=X+1</a:t>
                </a:r>
              </a:p>
              <a:p>
                <a:pPr eaLnBrk="0" fontAlgn="b" hangingPunct="0">
                  <a:spcBef>
                    <a:spcPct val="20000"/>
                  </a:spcBef>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ea typeface="隶书" panose="02010509060101010101" pitchFamily="49" charset="-122"/>
                  </a:rPr>
                  <a:t> </a:t>
                </a:r>
                <a:r>
                  <a:rPr lang="en-US" altLang="zh-CN" sz="2400" dirty="0">
                    <a:solidFill>
                      <a:schemeClr val="bg1"/>
                    </a:solidFill>
                    <a:latin typeface="Univers"/>
                    <a:ea typeface="隶书" panose="02010509060101010101" pitchFamily="49" charset="-122"/>
                  </a:rPr>
                  <a:t>…</a:t>
                </a:r>
                <a:endParaRPr lang="en-US" altLang="zh-CN" sz="2400" dirty="0">
                  <a:solidFill>
                    <a:schemeClr val="bg1"/>
                  </a:solidFill>
                  <a:latin typeface="隶书" panose="02010509060101010101" pitchFamily="49" charset="-122"/>
                  <a:ea typeface="隶书" panose="02010509060101010101" pitchFamily="49" charset="-122"/>
                </a:endParaRPr>
              </a:p>
              <a:p>
                <a:pPr eaLnBrk="0" fontAlgn="b" hangingPunct="0">
                  <a:spcBef>
                    <a:spcPct val="20000"/>
                  </a:spcBef>
                  <a:buClr>
                    <a:srgbClr val="FFFFFF"/>
                  </a:buClr>
                  <a:buFont typeface="Wingdings" panose="05000000000000000000" pitchFamily="2" charset="2"/>
                  <a:buNone/>
                </a:pPr>
                <a:endParaRPr lang="en-US" altLang="zh-CN" sz="2400" dirty="0">
                  <a:solidFill>
                    <a:schemeClr val="bg1"/>
                  </a:solidFill>
                  <a:latin typeface="隶书" panose="02010509060101010101" pitchFamily="49" charset="-122"/>
                  <a:ea typeface="隶书" panose="02010509060101010101" pitchFamily="49" charset="-122"/>
                </a:endParaRPr>
              </a:p>
            </p:txBody>
          </p:sp>
          <p:sp>
            <p:nvSpPr>
              <p:cNvPr id="35" name="AutoShape 6"/>
              <p:cNvSpPr/>
              <p:nvPr/>
            </p:nvSpPr>
            <p:spPr bwMode="auto">
              <a:xfrm>
                <a:off x="1824" y="2832"/>
                <a:ext cx="192" cy="672"/>
              </a:xfrm>
              <a:prstGeom prst="leftBrace">
                <a:avLst>
                  <a:gd name="adj1" fmla="val 29167"/>
                  <a:gd name="adj2" fmla="val 50000"/>
                </a:avLst>
              </a:prstGeom>
              <a:noFill/>
              <a:ln w="952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anchor="ctr"/>
              <a:lstStyle/>
              <a:p>
                <a:pPr algn="l" eaLnBrk="0" fontAlgn="b" hangingPunct="0">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rPr>
                  <a:t>R2=X</a:t>
                </a:r>
              </a:p>
              <a:p>
                <a:pPr algn="l" eaLnBrk="0" fontAlgn="b" hangingPunct="0">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rPr>
                  <a:t>R2=R2+1</a:t>
                </a:r>
              </a:p>
              <a:p>
                <a:pPr algn="l" eaLnBrk="0" fontAlgn="b" hangingPunct="0">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rPr>
                  <a:t>X=R2</a:t>
                </a:r>
              </a:p>
            </p:txBody>
          </p:sp>
        </p:grpSp>
        <p:grpSp>
          <p:nvGrpSpPr>
            <p:cNvPr id="31" name="Group 7"/>
            <p:cNvGrpSpPr/>
            <p:nvPr/>
          </p:nvGrpSpPr>
          <p:grpSpPr bwMode="auto">
            <a:xfrm>
              <a:off x="912" y="2736"/>
              <a:ext cx="1440" cy="1349"/>
              <a:chOff x="864" y="2496"/>
              <a:chExt cx="1440" cy="1349"/>
            </a:xfrm>
          </p:grpSpPr>
          <p:sp>
            <p:nvSpPr>
              <p:cNvPr id="32" name="Rectangle 8"/>
              <p:cNvSpPr>
                <a:spLocks noChangeArrowheads="1"/>
              </p:cNvSpPr>
              <p:nvPr/>
            </p:nvSpPr>
            <p:spPr bwMode="auto">
              <a:xfrm>
                <a:off x="864" y="2496"/>
                <a:ext cx="1440" cy="1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71500" algn="l">
                  <a:spcBef>
                    <a:spcPct val="0"/>
                  </a:spcBef>
                  <a:defRPr>
                    <a:solidFill>
                      <a:schemeClr val="tx1"/>
                    </a:solidFill>
                    <a:latin typeface="Arial" panose="020B0604020202020204" pitchFamily="34" charset="0"/>
                    <a:ea typeface="宋体" panose="02010600030101010101" pitchFamily="2" charset="-122"/>
                  </a:defRPr>
                </a:lvl1pPr>
                <a:lvl2pPr marL="1047750" indent="-285750" algn="l">
                  <a:spcBef>
                    <a:spcPct val="0"/>
                  </a:spcBef>
                  <a:defRPr>
                    <a:solidFill>
                      <a:schemeClr val="tx1"/>
                    </a:solidFill>
                    <a:latin typeface="Arial" panose="020B0604020202020204" pitchFamily="34" charset="0"/>
                    <a:ea typeface="宋体" panose="02010600030101010101" pitchFamily="2" charset="-122"/>
                  </a:defRPr>
                </a:lvl2pPr>
                <a:lvl3pPr marL="1466850" indent="-228600" algn="l">
                  <a:spcBef>
                    <a:spcPct val="0"/>
                  </a:spcBef>
                  <a:defRPr>
                    <a:solidFill>
                      <a:schemeClr val="tx1"/>
                    </a:solidFill>
                    <a:latin typeface="Arial" panose="020B0604020202020204" pitchFamily="34" charset="0"/>
                    <a:ea typeface="宋体" panose="02010600030101010101" pitchFamily="2" charset="-122"/>
                  </a:defRPr>
                </a:lvl3pPr>
                <a:lvl4pPr marL="1885950" indent="-228600" algn="l">
                  <a:spcBef>
                    <a:spcPct val="0"/>
                  </a:spcBef>
                  <a:defRPr>
                    <a:solidFill>
                      <a:schemeClr val="tx1"/>
                    </a:solidFill>
                    <a:latin typeface="Arial" panose="020B0604020202020204" pitchFamily="34" charset="0"/>
                    <a:ea typeface="宋体" panose="02010600030101010101" pitchFamily="2" charset="-122"/>
                  </a:defRPr>
                </a:lvl4pPr>
                <a:lvl5pPr marL="2305050" indent="-228600" algn="l">
                  <a:spcBef>
                    <a:spcPct val="0"/>
                  </a:spcBef>
                  <a:defRPr>
                    <a:solidFill>
                      <a:schemeClr val="tx1"/>
                    </a:solidFill>
                    <a:latin typeface="Arial" panose="020B0604020202020204" pitchFamily="34" charset="0"/>
                    <a:ea typeface="宋体" panose="02010600030101010101" pitchFamily="2" charset="-122"/>
                  </a:defRPr>
                </a:lvl5pPr>
                <a:lvl6pPr marL="27622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194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766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3385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 hangingPunct="0">
                  <a:spcBef>
                    <a:spcPct val="20000"/>
                  </a:spcBef>
                  <a:buClr>
                    <a:srgbClr val="FFFFFF"/>
                  </a:buClr>
                  <a:buFont typeface="Wingdings" panose="05000000000000000000" pitchFamily="2" charset="2"/>
                  <a:buNone/>
                </a:pPr>
                <a:r>
                  <a:rPr lang="zh-CN" altLang="en-US" sz="2400" dirty="0">
                    <a:solidFill>
                      <a:schemeClr val="bg1"/>
                    </a:solidFill>
                    <a:latin typeface="隶书" panose="02010509060101010101" pitchFamily="49" charset="-122"/>
                    <a:ea typeface="隶书" panose="02010509060101010101" pitchFamily="49" charset="-122"/>
                  </a:rPr>
                  <a:t>程序</a:t>
                </a:r>
                <a:r>
                  <a:rPr lang="en-US" altLang="zh-CN" sz="2400" dirty="0">
                    <a:solidFill>
                      <a:schemeClr val="bg1"/>
                    </a:solidFill>
                    <a:latin typeface="隶书" panose="02010509060101010101" pitchFamily="49" charset="-122"/>
                    <a:ea typeface="隶书" panose="02010509060101010101" pitchFamily="49" charset="-122"/>
                  </a:rPr>
                  <a:t>1</a:t>
                </a:r>
              </a:p>
              <a:p>
                <a:pPr eaLnBrk="0" fontAlgn="b" hangingPunct="0">
                  <a:spcBef>
                    <a:spcPct val="20000"/>
                  </a:spcBef>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ea typeface="隶书" panose="02010509060101010101" pitchFamily="49" charset="-122"/>
                  </a:rPr>
                  <a:t> </a:t>
                </a:r>
                <a:r>
                  <a:rPr lang="en-US" altLang="zh-CN" sz="2400" dirty="0">
                    <a:solidFill>
                      <a:schemeClr val="bg1"/>
                    </a:solidFill>
                    <a:latin typeface="Univers"/>
                    <a:ea typeface="隶书" panose="02010509060101010101" pitchFamily="49" charset="-122"/>
                  </a:rPr>
                  <a:t>…</a:t>
                </a:r>
                <a:endParaRPr lang="en-US" altLang="zh-CN" sz="2400" dirty="0">
                  <a:solidFill>
                    <a:schemeClr val="bg1"/>
                  </a:solidFill>
                  <a:latin typeface="隶书" panose="02010509060101010101" pitchFamily="49" charset="-122"/>
                  <a:ea typeface="隶书" panose="02010509060101010101" pitchFamily="49" charset="-122"/>
                </a:endParaRPr>
              </a:p>
              <a:p>
                <a:pPr eaLnBrk="0" fontAlgn="b" hangingPunct="0">
                  <a:spcBef>
                    <a:spcPct val="20000"/>
                  </a:spcBef>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ea typeface="隶书" panose="02010509060101010101" pitchFamily="49" charset="-122"/>
                  </a:rPr>
                  <a:t>X=X+1</a:t>
                </a:r>
              </a:p>
              <a:p>
                <a:pPr eaLnBrk="0" fontAlgn="b" hangingPunct="0">
                  <a:spcBef>
                    <a:spcPct val="20000"/>
                  </a:spcBef>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ea typeface="隶书" panose="02010509060101010101" pitchFamily="49" charset="-122"/>
                  </a:rPr>
                  <a:t> </a:t>
                </a:r>
                <a:r>
                  <a:rPr lang="en-US" altLang="zh-CN" sz="2400" dirty="0">
                    <a:solidFill>
                      <a:schemeClr val="bg1"/>
                    </a:solidFill>
                    <a:latin typeface="Univers"/>
                    <a:ea typeface="隶书" panose="02010509060101010101" pitchFamily="49" charset="-122"/>
                  </a:rPr>
                  <a:t>…</a:t>
                </a:r>
                <a:endParaRPr lang="en-US" altLang="zh-CN" sz="2400" dirty="0">
                  <a:solidFill>
                    <a:schemeClr val="bg1"/>
                  </a:solidFill>
                  <a:latin typeface="隶书" panose="02010509060101010101" pitchFamily="49" charset="-122"/>
                  <a:ea typeface="隶书" panose="02010509060101010101" pitchFamily="49" charset="-122"/>
                </a:endParaRPr>
              </a:p>
              <a:p>
                <a:pPr eaLnBrk="0" fontAlgn="b" hangingPunct="0">
                  <a:spcBef>
                    <a:spcPct val="20000"/>
                  </a:spcBef>
                  <a:buClr>
                    <a:srgbClr val="FFFFFF"/>
                  </a:buClr>
                  <a:buFont typeface="Wingdings" panose="05000000000000000000" pitchFamily="2" charset="2"/>
                  <a:buNone/>
                </a:pPr>
                <a:endParaRPr lang="en-US" altLang="zh-CN" sz="2400" dirty="0">
                  <a:solidFill>
                    <a:schemeClr val="bg1"/>
                  </a:solidFill>
                  <a:latin typeface="隶书" panose="02010509060101010101" pitchFamily="49" charset="-122"/>
                  <a:ea typeface="隶书" panose="02010509060101010101" pitchFamily="49" charset="-122"/>
                </a:endParaRPr>
              </a:p>
            </p:txBody>
          </p:sp>
          <p:sp>
            <p:nvSpPr>
              <p:cNvPr id="33" name="AutoShape 9"/>
              <p:cNvSpPr/>
              <p:nvPr/>
            </p:nvSpPr>
            <p:spPr bwMode="auto">
              <a:xfrm>
                <a:off x="1824" y="2832"/>
                <a:ext cx="192" cy="672"/>
              </a:xfrm>
              <a:prstGeom prst="leftBrace">
                <a:avLst>
                  <a:gd name="adj1" fmla="val 29167"/>
                  <a:gd name="adj2" fmla="val 50000"/>
                </a:avLst>
              </a:prstGeom>
              <a:noFill/>
              <a:ln w="952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anchor="ctr"/>
              <a:lstStyle/>
              <a:p>
                <a:pPr algn="l" eaLnBrk="0" fontAlgn="b" hangingPunct="0">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rPr>
                  <a:t>R1=X</a:t>
                </a:r>
              </a:p>
              <a:p>
                <a:pPr algn="l" eaLnBrk="0" fontAlgn="b" hangingPunct="0">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rPr>
                  <a:t>R1=R1+1</a:t>
                </a:r>
              </a:p>
              <a:p>
                <a:pPr algn="l" eaLnBrk="0" fontAlgn="b" hangingPunct="0">
                  <a:buClr>
                    <a:srgbClr val="FFFFFF"/>
                  </a:buClr>
                  <a:buFont typeface="Wingdings" panose="05000000000000000000" pitchFamily="2" charset="2"/>
                  <a:buNone/>
                </a:pPr>
                <a:r>
                  <a:rPr lang="en-US" altLang="zh-CN" sz="2400" dirty="0">
                    <a:solidFill>
                      <a:schemeClr val="bg1"/>
                    </a:solidFill>
                    <a:latin typeface="隶书" panose="02010509060101010101" pitchFamily="49" charset="-122"/>
                  </a:rPr>
                  <a:t>X=R1</a:t>
                </a:r>
              </a:p>
            </p:txBody>
          </p:sp>
        </p:grpSp>
      </p:grpSp>
      <p:sp>
        <p:nvSpPr>
          <p:cNvPr id="3" name="矩形 2"/>
          <p:cNvSpPr/>
          <p:nvPr/>
        </p:nvSpPr>
        <p:spPr>
          <a:xfrm>
            <a:off x="3726995" y="3147814"/>
            <a:ext cx="1640580" cy="1200329"/>
          </a:xfrm>
          <a:prstGeom prst="rect">
            <a:avLst/>
          </a:prstGeom>
        </p:spPr>
        <p:txBody>
          <a:bodyPr wrap="square">
            <a:spAutoFit/>
          </a:bodyPr>
          <a:lstStyle/>
          <a:p>
            <a:pPr algn="ctr">
              <a:spcBef>
                <a:spcPct val="50000"/>
              </a:spcBef>
              <a:buFontTx/>
              <a:buNone/>
            </a:pPr>
            <a:r>
              <a:rPr lang="zh-CN" altLang="en-US" sz="2400" dirty="0">
                <a:solidFill>
                  <a:schemeClr val="accent6">
                    <a:lumMod val="40000"/>
                    <a:lumOff val="60000"/>
                  </a:schemeClr>
                </a:solidFill>
                <a:ea typeface="隶书" panose="02010509060101010101" pitchFamily="49" charset="-122"/>
              </a:rPr>
              <a:t>设：</a:t>
            </a:r>
            <a:r>
              <a:rPr lang="en-US" altLang="zh-CN" sz="2400" dirty="0">
                <a:solidFill>
                  <a:schemeClr val="accent6">
                    <a:lumMod val="40000"/>
                    <a:lumOff val="60000"/>
                  </a:schemeClr>
                </a:solidFill>
                <a:ea typeface="隶书" panose="02010509060101010101" pitchFamily="49" charset="-122"/>
              </a:rPr>
              <a:t>X</a:t>
            </a:r>
            <a:r>
              <a:rPr lang="zh-CN" altLang="en-US" sz="2400" dirty="0">
                <a:solidFill>
                  <a:schemeClr val="accent6">
                    <a:lumMod val="40000"/>
                    <a:lumOff val="60000"/>
                  </a:schemeClr>
                </a:solidFill>
                <a:ea typeface="隶书" panose="02010509060101010101" pitchFamily="49" charset="-122"/>
              </a:rPr>
              <a:t>初值为</a:t>
            </a:r>
            <a:r>
              <a:rPr lang="en-US" altLang="zh-CN" sz="2400" dirty="0">
                <a:solidFill>
                  <a:schemeClr val="accent6">
                    <a:lumMod val="40000"/>
                    <a:lumOff val="60000"/>
                  </a:schemeClr>
                </a:solidFill>
                <a:ea typeface="隶书" panose="02010509060101010101" pitchFamily="49" charset="-122"/>
              </a:rPr>
              <a:t>0</a:t>
            </a:r>
            <a:r>
              <a:rPr lang="zh-CN" altLang="en-US" sz="2400" dirty="0">
                <a:solidFill>
                  <a:schemeClr val="accent6">
                    <a:lumMod val="40000"/>
                    <a:lumOff val="60000"/>
                  </a:schemeClr>
                </a:solidFill>
                <a:ea typeface="隶书" panose="02010509060101010101" pitchFamily="49" charset="-122"/>
              </a:rPr>
              <a:t>，是共享变量</a:t>
            </a:r>
          </a:p>
        </p:txBody>
      </p:sp>
      <p:sp>
        <p:nvSpPr>
          <p:cNvPr id="4" name="矩形 3"/>
          <p:cNvSpPr/>
          <p:nvPr/>
        </p:nvSpPr>
        <p:spPr>
          <a:xfrm>
            <a:off x="647563" y="1268584"/>
            <a:ext cx="7272809" cy="163121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eaLnBrk="0" hangingPunct="0">
              <a:spcBef>
                <a:spcPct val="0"/>
              </a:spcBef>
            </a:pPr>
            <a:r>
              <a:rPr lang="zh-CN" altLang="en-US" sz="2000" b="1" dirty="0">
                <a:solidFill>
                  <a:schemeClr val="bg1"/>
                </a:solidFill>
                <a:latin typeface="+mn-ea"/>
              </a:rPr>
              <a:t>执行顺序</a:t>
            </a:r>
            <a:r>
              <a:rPr lang="en-US" altLang="zh-CN" sz="2000" b="1" dirty="0">
                <a:solidFill>
                  <a:schemeClr val="bg1"/>
                </a:solidFill>
                <a:latin typeface="+mn-ea"/>
              </a:rPr>
              <a:t>1</a:t>
            </a:r>
            <a:r>
              <a:rPr lang="zh-CN" altLang="en-US" sz="2000" b="1" dirty="0">
                <a:solidFill>
                  <a:schemeClr val="bg1"/>
                </a:solidFill>
                <a:latin typeface="+mn-ea"/>
              </a:rPr>
              <a:t>：程序</a:t>
            </a:r>
            <a:r>
              <a:rPr lang="en-US" altLang="zh-CN" sz="2000" b="1" dirty="0">
                <a:solidFill>
                  <a:schemeClr val="bg1"/>
                </a:solidFill>
                <a:latin typeface="+mn-ea"/>
              </a:rPr>
              <a:t>1</a:t>
            </a:r>
            <a:r>
              <a:rPr lang="en-US" altLang="zh-CN" sz="2000" b="1" dirty="0">
                <a:solidFill>
                  <a:schemeClr val="bg1"/>
                </a:solidFill>
                <a:latin typeface="+mn-ea"/>
                <a:sym typeface="Wingdings 3" panose="05040102010807070707" pitchFamily="18" charset="2"/>
              </a:rPr>
              <a:t></a:t>
            </a:r>
            <a:r>
              <a:rPr lang="zh-CN" altLang="en-US" sz="2000" b="1" dirty="0">
                <a:solidFill>
                  <a:schemeClr val="bg1"/>
                </a:solidFill>
                <a:latin typeface="+mn-ea"/>
                <a:sym typeface="Wingdings 3" panose="05040102010807070707" pitchFamily="18" charset="2"/>
              </a:rPr>
              <a:t>程序</a:t>
            </a:r>
            <a:r>
              <a:rPr lang="en-US" altLang="zh-CN" sz="2000" b="1" dirty="0">
                <a:solidFill>
                  <a:schemeClr val="bg1"/>
                </a:solidFill>
                <a:latin typeface="+mn-ea"/>
                <a:sym typeface="Wingdings 3" panose="05040102010807070707" pitchFamily="18" charset="2"/>
              </a:rPr>
              <a:t>2 </a:t>
            </a:r>
          </a:p>
          <a:p>
            <a:pPr eaLnBrk="0" hangingPunct="0">
              <a:spcBef>
                <a:spcPct val="0"/>
              </a:spcBef>
            </a:pPr>
            <a:r>
              <a:rPr lang="en-US" altLang="zh-CN" sz="2000" b="1" dirty="0">
                <a:solidFill>
                  <a:schemeClr val="bg1"/>
                </a:solidFill>
                <a:latin typeface="+mn-ea"/>
                <a:sym typeface="Wingdings 3" panose="05040102010807070707" pitchFamily="18" charset="2"/>
              </a:rPr>
              <a:t>      </a:t>
            </a:r>
            <a:r>
              <a:rPr lang="zh-CN" altLang="en-US" sz="2000" b="1" dirty="0">
                <a:solidFill>
                  <a:schemeClr val="bg1"/>
                </a:solidFill>
                <a:latin typeface="+mn-ea"/>
                <a:sym typeface="Wingdings 3" panose="05040102010807070707" pitchFamily="18" charset="2"/>
              </a:rPr>
              <a:t>结果为：</a:t>
            </a:r>
            <a:r>
              <a:rPr lang="en-US" altLang="zh-CN" sz="2000" b="1" dirty="0">
                <a:solidFill>
                  <a:schemeClr val="bg1"/>
                </a:solidFill>
                <a:latin typeface="+mn-ea"/>
                <a:sym typeface="Wingdings 3" panose="05040102010807070707" pitchFamily="18" charset="2"/>
              </a:rPr>
              <a:t>X</a:t>
            </a:r>
            <a:r>
              <a:rPr lang="zh-CN" altLang="en-US" sz="2000" b="1" dirty="0">
                <a:solidFill>
                  <a:schemeClr val="bg1"/>
                </a:solidFill>
                <a:latin typeface="+mn-ea"/>
                <a:sym typeface="Wingdings 3" panose="05040102010807070707" pitchFamily="18" charset="2"/>
              </a:rPr>
              <a:t>增加</a:t>
            </a:r>
            <a:r>
              <a:rPr lang="en-US" altLang="zh-CN" sz="2000" b="1" dirty="0">
                <a:solidFill>
                  <a:schemeClr val="bg1"/>
                </a:solidFill>
                <a:latin typeface="+mn-ea"/>
                <a:sym typeface="Wingdings 3" panose="05040102010807070707" pitchFamily="18" charset="2"/>
              </a:rPr>
              <a:t>2 </a:t>
            </a:r>
          </a:p>
          <a:p>
            <a:pPr eaLnBrk="0" hangingPunct="0">
              <a:spcBef>
                <a:spcPct val="0"/>
              </a:spcBef>
            </a:pPr>
            <a:r>
              <a:rPr lang="zh-CN" altLang="en-US" sz="2000" b="1" dirty="0">
                <a:solidFill>
                  <a:schemeClr val="bg1"/>
                </a:solidFill>
                <a:latin typeface="+mn-ea"/>
                <a:sym typeface="Wingdings 3" panose="05040102010807070707" pitchFamily="18" charset="2"/>
              </a:rPr>
              <a:t>执行顺序</a:t>
            </a:r>
            <a:r>
              <a:rPr lang="en-US" altLang="zh-CN" sz="2000" b="1" dirty="0">
                <a:solidFill>
                  <a:schemeClr val="bg1"/>
                </a:solidFill>
                <a:latin typeface="+mn-ea"/>
                <a:sym typeface="Wingdings 3" panose="05040102010807070707" pitchFamily="18" charset="2"/>
              </a:rPr>
              <a:t>2</a:t>
            </a:r>
            <a:r>
              <a:rPr lang="zh-CN" altLang="en-US" sz="2000" b="1" dirty="0">
                <a:solidFill>
                  <a:schemeClr val="bg1"/>
                </a:solidFill>
                <a:latin typeface="+mn-ea"/>
                <a:sym typeface="Wingdings 3" panose="05040102010807070707" pitchFamily="18" charset="2"/>
              </a:rPr>
              <a:t>：</a:t>
            </a:r>
            <a:r>
              <a:rPr lang="en-US" altLang="zh-CN" sz="2000" b="1" dirty="0">
                <a:solidFill>
                  <a:schemeClr val="bg1"/>
                </a:solidFill>
                <a:latin typeface="+mn-ea"/>
                <a:sym typeface="Wingdings 3" panose="05040102010807070707" pitchFamily="18" charset="2"/>
              </a:rPr>
              <a:t>… </a:t>
            </a:r>
            <a:r>
              <a:rPr lang="en-US" altLang="zh-CN" sz="2000" b="1" dirty="0">
                <a:solidFill>
                  <a:schemeClr val="bg1"/>
                </a:solidFill>
                <a:latin typeface="+mn-ea"/>
              </a:rPr>
              <a:t>R1=X; R2=X; R1=R1+1; R2=R2+1; X=R1; X=R2</a:t>
            </a:r>
          </a:p>
          <a:p>
            <a:pPr eaLnBrk="0" hangingPunct="0">
              <a:spcBef>
                <a:spcPct val="0"/>
              </a:spcBef>
            </a:pPr>
            <a:r>
              <a:rPr lang="en-US" altLang="zh-CN" sz="2000" b="1" dirty="0">
                <a:solidFill>
                  <a:schemeClr val="bg1"/>
                </a:solidFill>
                <a:latin typeface="+mn-ea"/>
              </a:rPr>
              <a:t>    </a:t>
            </a:r>
            <a:r>
              <a:rPr lang="zh-CN" altLang="en-US" sz="2000" b="1" dirty="0">
                <a:solidFill>
                  <a:schemeClr val="bg1"/>
                </a:solidFill>
                <a:latin typeface="+mn-ea"/>
              </a:rPr>
              <a:t>结果为： </a:t>
            </a:r>
            <a:r>
              <a:rPr lang="en-US" altLang="zh-CN" sz="2000" b="1" dirty="0">
                <a:solidFill>
                  <a:schemeClr val="bg1"/>
                </a:solidFill>
                <a:latin typeface="+mn-ea"/>
                <a:sym typeface="Wingdings 3" panose="05040102010807070707" pitchFamily="18" charset="2"/>
              </a:rPr>
              <a:t>X</a:t>
            </a:r>
            <a:r>
              <a:rPr lang="en-US" altLang="zh-CN" sz="2000" b="1" dirty="0">
                <a:solidFill>
                  <a:schemeClr val="bg1"/>
                </a:solidFill>
                <a:latin typeface="+mn-ea"/>
              </a:rPr>
              <a:t> </a:t>
            </a:r>
            <a:r>
              <a:rPr lang="zh-CN" altLang="en-US" sz="2000" b="1" dirty="0">
                <a:solidFill>
                  <a:schemeClr val="bg1"/>
                </a:solidFill>
                <a:latin typeface="+mn-ea"/>
              </a:rPr>
              <a:t>增加</a:t>
            </a:r>
            <a:r>
              <a:rPr lang="en-US" altLang="zh-CN" sz="2000" b="1" dirty="0">
                <a:solidFill>
                  <a:schemeClr val="bg1"/>
                </a:solidFill>
                <a:latin typeface="+mn-ea"/>
              </a:rPr>
              <a:t>1 </a:t>
            </a:r>
          </a:p>
          <a:p>
            <a:pPr eaLnBrk="0" hangingPunct="0">
              <a:spcBef>
                <a:spcPct val="0"/>
              </a:spcBef>
            </a:pPr>
            <a:r>
              <a:rPr lang="en-US" altLang="zh-CN" sz="2000" b="1" dirty="0">
                <a:solidFill>
                  <a:schemeClr val="bg1"/>
                </a:solidFill>
                <a:latin typeface="+mn-ea"/>
              </a:rPr>
              <a:t>… </a:t>
            </a:r>
            <a:r>
              <a:rPr lang="zh-CN" altLang="en-US" sz="2000" b="1" dirty="0">
                <a:solidFill>
                  <a:schemeClr val="bg1"/>
                </a:solidFill>
                <a:latin typeface="+mn-ea"/>
              </a:rPr>
              <a:t>还可有许多其它组合</a:t>
            </a:r>
            <a:r>
              <a:rPr lang="en-US" altLang="zh-CN" sz="20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回顾</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解决问题的手段</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63022"/>
            <a:ext cx="6912768"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引入进程</a:t>
            </a:r>
            <a:r>
              <a:rPr lang="zh-CN" altLang="en-US" sz="2400" b="1" dirty="0">
                <a:solidFill>
                  <a:schemeClr val="bg1"/>
                </a:solidFill>
                <a:latin typeface="+mn-ea"/>
              </a:rPr>
              <a:t>的目的，是为了使多个程序并发执行，以改善资源利用率及提高系统的吞吐量，</a:t>
            </a:r>
            <a:r>
              <a:rPr lang="zh-CN" altLang="en-US" sz="2400" b="1" dirty="0">
                <a:solidFill>
                  <a:srgbClr val="FFFF00"/>
                </a:solidFill>
                <a:latin typeface="+mn-ea"/>
              </a:rPr>
              <a:t>用进程代表运行的</a:t>
            </a:r>
            <a:r>
              <a:rPr lang="zh-CN" altLang="en-US" sz="2400" b="1" dirty="0" smtClean="0">
                <a:solidFill>
                  <a:srgbClr val="FFFF00"/>
                </a:solidFill>
                <a:latin typeface="+mn-ea"/>
              </a:rPr>
              <a:t>程序及所需的资源</a:t>
            </a:r>
            <a:r>
              <a:rPr lang="zh-CN" altLang="en-US" sz="2400" b="1" dirty="0" smtClean="0">
                <a:solidFill>
                  <a:schemeClr val="bg1"/>
                </a:solidFill>
                <a:latin typeface="+mn-ea"/>
              </a:rPr>
              <a:t>。 </a:t>
            </a:r>
            <a:endParaRPr lang="zh-CN" altLang="en-US" sz="24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通过</a:t>
            </a:r>
            <a:r>
              <a:rPr lang="zh-CN" altLang="en-US" sz="2400" b="1" dirty="0" smtClean="0">
                <a:solidFill>
                  <a:srgbClr val="FFFF00"/>
                </a:solidFill>
                <a:latin typeface="+mn-ea"/>
              </a:rPr>
              <a:t>内存管理</a:t>
            </a:r>
            <a:r>
              <a:rPr lang="zh-CN" altLang="en-US" sz="2400" b="1" dirty="0" smtClean="0">
                <a:solidFill>
                  <a:schemeClr val="bg1"/>
                </a:solidFill>
                <a:latin typeface="+mn-ea"/>
              </a:rPr>
              <a:t>（地址空间分离）</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建立</a:t>
            </a:r>
            <a:r>
              <a:rPr lang="zh-CN" altLang="en-US" sz="2400" b="1" dirty="0">
                <a:solidFill>
                  <a:srgbClr val="FFFF00"/>
                </a:solidFill>
                <a:latin typeface="+mn-ea"/>
              </a:rPr>
              <a:t>进程</a:t>
            </a:r>
            <a:r>
              <a:rPr lang="zh-CN" altLang="en-US" sz="2400" b="1" dirty="0" smtClean="0">
                <a:solidFill>
                  <a:srgbClr val="FFFF00"/>
                </a:solidFill>
                <a:latin typeface="+mn-ea"/>
              </a:rPr>
              <a:t>的同步、互斥机制</a:t>
            </a:r>
            <a:r>
              <a:rPr lang="zh-CN" altLang="en-US" sz="2400" b="1" dirty="0">
                <a:solidFill>
                  <a:schemeClr val="bg1"/>
                </a:solidFill>
                <a:latin typeface="+mn-ea"/>
              </a:rPr>
              <a:t>，对并发程序之间的</a:t>
            </a:r>
            <a:r>
              <a:rPr lang="zh-CN" altLang="en-US" sz="2400" b="1" dirty="0">
                <a:solidFill>
                  <a:schemeClr val="accent6">
                    <a:lumMod val="60000"/>
                    <a:lumOff val="40000"/>
                  </a:schemeClr>
                </a:solidFill>
                <a:latin typeface="+mn-ea"/>
              </a:rPr>
              <a:t>相互牵连加以</a:t>
            </a:r>
            <a:r>
              <a:rPr lang="zh-CN" altLang="en-US" sz="2400" b="1" dirty="0" smtClean="0">
                <a:solidFill>
                  <a:schemeClr val="accent6">
                    <a:lumMod val="60000"/>
                    <a:lumOff val="40000"/>
                  </a:schemeClr>
                </a:solidFill>
                <a:latin typeface="+mn-ea"/>
              </a:rPr>
              <a:t>控制</a:t>
            </a:r>
            <a:r>
              <a:rPr lang="zh-CN" altLang="en-US" sz="2400" b="1" dirty="0" smtClean="0">
                <a:solidFill>
                  <a:schemeClr val="bg1"/>
                </a:solidFill>
                <a:latin typeface="+mn-ea"/>
              </a:rPr>
              <a:t>。 </a:t>
            </a:r>
            <a:endParaRPr lang="zh-CN" altLang="en-US" sz="2400" b="1" dirty="0">
              <a:solidFill>
                <a:schemeClr val="bg1"/>
              </a:solidFill>
              <a:latin typeface="+mn-ea"/>
            </a:endParaRPr>
          </a:p>
        </p:txBody>
      </p:sp>
      <p:graphicFrame>
        <p:nvGraphicFramePr>
          <p:cNvPr id="29" name="Object 4"/>
          <p:cNvGraphicFramePr>
            <a:graphicFrameLocks noChangeAspect="1"/>
          </p:cNvGraphicFramePr>
          <p:nvPr/>
        </p:nvGraphicFramePr>
        <p:xfrm>
          <a:off x="1331640" y="1070170"/>
          <a:ext cx="6259512" cy="3248025"/>
        </p:xfrm>
        <a:graphic>
          <a:graphicData uri="http://schemas.openxmlformats.org/presentationml/2006/ole">
            <mc:AlternateContent xmlns:mc="http://schemas.openxmlformats.org/markup-compatibility/2006">
              <mc:Choice xmlns:v="urn:schemas-microsoft-com:vml" Requires="v">
                <p:oleObj spid="_x0000_s1472" name="Photo Editor 照片" r:id="rId3" imgW="3190875" imgH="1457325" progId="MSPhotoEd.3">
                  <p:embed/>
                </p:oleObj>
              </mc:Choice>
              <mc:Fallback>
                <p:oleObj name="Photo Editor 照片" r:id="rId3" imgW="3190875" imgH="1457325" progId="MSPhotoEd.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1070170"/>
                        <a:ext cx="6259512" cy="324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 name="矩形 29"/>
          <p:cNvSpPr/>
          <p:nvPr/>
        </p:nvSpPr>
        <p:spPr>
          <a:xfrm>
            <a:off x="1475656" y="2139702"/>
            <a:ext cx="1368152" cy="1584176"/>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6090908" y="2139702"/>
            <a:ext cx="1368152" cy="1584176"/>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707904" y="2427734"/>
            <a:ext cx="1512168" cy="523220"/>
          </a:xfrm>
          <a:prstGeom prst="rect">
            <a:avLst/>
          </a:prstGeom>
          <a:noFill/>
        </p:spPr>
        <p:txBody>
          <a:bodyPr wrap="square" rtlCol="0">
            <a:spAutoFit/>
          </a:bodyPr>
          <a:lstStyle/>
          <a:p>
            <a:pPr algn="ctr"/>
            <a:r>
              <a:rPr lang="zh-CN" altLang="en-US" sz="2800" b="1" dirty="0" smtClean="0">
                <a:solidFill>
                  <a:srgbClr val="FFFF00"/>
                </a:solidFill>
              </a:rPr>
              <a:t>临界区</a:t>
            </a:r>
            <a:endParaRPr lang="zh-CN" altLang="en-US" sz="2800"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arn(outVertical)">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临界区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783352"/>
            <a:ext cx="6934200"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竖卷形 29"/>
          <p:cNvSpPr/>
          <p:nvPr/>
        </p:nvSpPr>
        <p:spPr>
          <a:xfrm>
            <a:off x="407680" y="15952"/>
            <a:ext cx="3188134" cy="2183438"/>
          </a:xfrm>
          <a:prstGeom prst="verticalScroll">
            <a:avLst/>
          </a:prstGeom>
          <a:effectLst>
            <a:glow rad="101600">
              <a:schemeClr val="accent3">
                <a:satMod val="175000"/>
                <a:alpha val="40000"/>
              </a:schemeClr>
            </a:glow>
            <a:outerShdw blurRad="40000" dist="20000" dir="5400000" rotWithShape="0">
              <a:srgbClr val="000000">
                <a:alpha val="38000"/>
              </a:srgbClr>
            </a:outerShdw>
          </a:effectLst>
          <a:scene3d>
            <a:camera prst="perspectiveAbove"/>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spcBef>
                <a:spcPct val="0"/>
              </a:spcBef>
            </a:pPr>
            <a:r>
              <a:rPr lang="en-US" altLang="zh-CN" dirty="0"/>
              <a:t>procedure </a:t>
            </a:r>
            <a:r>
              <a:rPr lang="en-US" altLang="zh-CN" dirty="0" err="1" smtClean="0"/>
              <a:t>getspace</a:t>
            </a:r>
            <a:r>
              <a:rPr lang="en-US" altLang="zh-CN" dirty="0" smtClean="0"/>
              <a:t>(top</a:t>
            </a:r>
            <a:r>
              <a:rPr lang="en-US" altLang="zh-CN" dirty="0"/>
              <a:t>)</a:t>
            </a:r>
          </a:p>
          <a:p>
            <a:pPr>
              <a:spcBef>
                <a:spcPct val="0"/>
              </a:spcBef>
            </a:pPr>
            <a:r>
              <a:rPr lang="en-US" altLang="zh-CN" dirty="0" smtClean="0"/>
              <a:t>     begin</a:t>
            </a:r>
            <a:endParaRPr lang="en-US" altLang="zh-CN" dirty="0"/>
          </a:p>
          <a:p>
            <a:pPr>
              <a:spcBef>
                <a:spcPct val="0"/>
              </a:spcBef>
            </a:pPr>
            <a:r>
              <a:rPr lang="en-US" altLang="zh-CN" dirty="0" smtClean="0"/>
              <a:t>     local </a:t>
            </a:r>
            <a:r>
              <a:rPr lang="en-US" altLang="zh-CN" dirty="0"/>
              <a:t>r</a:t>
            </a:r>
          </a:p>
          <a:p>
            <a:pPr>
              <a:spcBef>
                <a:spcPct val="0"/>
              </a:spcBef>
            </a:pPr>
            <a:r>
              <a:rPr lang="en-US" altLang="zh-CN" dirty="0" smtClean="0"/>
              <a:t>     r </a:t>
            </a:r>
            <a:r>
              <a:rPr lang="en-US" altLang="zh-CN" dirty="0"/>
              <a:t>←(top)</a:t>
            </a:r>
          </a:p>
          <a:p>
            <a:pPr>
              <a:spcBef>
                <a:spcPct val="0"/>
              </a:spcBef>
            </a:pPr>
            <a:r>
              <a:rPr lang="en-US" altLang="zh-CN" dirty="0" smtClean="0"/>
              <a:t>     top </a:t>
            </a:r>
            <a:r>
              <a:rPr lang="en-US" altLang="zh-CN" dirty="0"/>
              <a:t>← top-1</a:t>
            </a:r>
          </a:p>
          <a:p>
            <a:pPr>
              <a:spcBef>
                <a:spcPct val="0"/>
              </a:spcBef>
            </a:pPr>
            <a:r>
              <a:rPr lang="en-US" altLang="zh-CN" dirty="0" smtClean="0"/>
              <a:t>     return(r</a:t>
            </a:r>
            <a:r>
              <a:rPr lang="en-US" altLang="zh-CN" dirty="0"/>
              <a:t>)</a:t>
            </a:r>
          </a:p>
          <a:p>
            <a:pPr>
              <a:spcBef>
                <a:spcPct val="0"/>
              </a:spcBef>
            </a:pPr>
            <a:r>
              <a:rPr lang="en-US" altLang="zh-CN" dirty="0" smtClean="0"/>
              <a:t>     end</a:t>
            </a:r>
            <a:endParaRPr lang="en-US" altLang="zh-CN" dirty="0"/>
          </a:p>
        </p:txBody>
      </p:sp>
      <p:sp>
        <p:nvSpPr>
          <p:cNvPr id="31" name="竖卷形 30"/>
          <p:cNvSpPr/>
          <p:nvPr/>
        </p:nvSpPr>
        <p:spPr>
          <a:xfrm>
            <a:off x="5997707" y="214432"/>
            <a:ext cx="2849949" cy="1696022"/>
          </a:xfrm>
          <a:prstGeom prst="verticalScroll">
            <a:avLst/>
          </a:prstGeom>
          <a:effectLst>
            <a:glow rad="101600">
              <a:schemeClr val="accent3">
                <a:satMod val="175000"/>
                <a:alpha val="40000"/>
              </a:schemeClr>
            </a:glow>
            <a:outerShdw blurRad="40000" dist="20000" dir="5400000" rotWithShape="0">
              <a:srgbClr val="000000">
                <a:alpha val="38000"/>
              </a:srgbClr>
            </a:outerShdw>
          </a:effectLst>
          <a:scene3d>
            <a:camera prst="perspectiveAbove"/>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spcBef>
                <a:spcPct val="0"/>
              </a:spcBef>
            </a:pPr>
            <a:r>
              <a:rPr lang="en-US" altLang="zh-CN" dirty="0" smtClean="0"/>
              <a:t>procedure release(ad)</a:t>
            </a:r>
          </a:p>
          <a:p>
            <a:pPr>
              <a:spcBef>
                <a:spcPct val="0"/>
              </a:spcBef>
            </a:pPr>
            <a:r>
              <a:rPr lang="en-US" altLang="zh-CN" dirty="0" smtClean="0"/>
              <a:t>   begin</a:t>
            </a:r>
            <a:endParaRPr lang="en-US" altLang="zh-CN" dirty="0"/>
          </a:p>
          <a:p>
            <a:pPr>
              <a:spcBef>
                <a:spcPct val="0"/>
              </a:spcBef>
            </a:pPr>
            <a:r>
              <a:rPr lang="en-US" altLang="zh-CN" dirty="0" smtClean="0"/>
              <a:t>   top </a:t>
            </a:r>
            <a:r>
              <a:rPr lang="en-US" altLang="zh-CN" dirty="0"/>
              <a:t>← top+1</a:t>
            </a:r>
          </a:p>
          <a:p>
            <a:pPr>
              <a:spcBef>
                <a:spcPct val="0"/>
              </a:spcBef>
            </a:pPr>
            <a:r>
              <a:rPr lang="en-US" altLang="zh-CN" dirty="0" smtClean="0"/>
              <a:t>   (</a:t>
            </a:r>
            <a:r>
              <a:rPr lang="en-US" altLang="zh-CN" dirty="0"/>
              <a:t>top)← </a:t>
            </a:r>
            <a:r>
              <a:rPr lang="en-US" altLang="zh-CN" dirty="0" smtClean="0"/>
              <a:t>ad</a:t>
            </a:r>
          </a:p>
          <a:p>
            <a:pPr>
              <a:spcBef>
                <a:spcPct val="0"/>
              </a:spcBef>
            </a:pPr>
            <a:r>
              <a:rPr lang="en-US" altLang="zh-CN" dirty="0" smtClean="0"/>
              <a:t>   end</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临界区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怎样保证上述执行结果的正确性呢？ </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一</a:t>
            </a:r>
            <a:r>
              <a:rPr lang="zh-CN" altLang="en-US" sz="2400" b="1" dirty="0">
                <a:solidFill>
                  <a:schemeClr val="bg1"/>
                </a:solidFill>
                <a:latin typeface="+mn-ea"/>
              </a:rPr>
              <a:t>个较为明显的答案是，如果把</a:t>
            </a:r>
            <a:r>
              <a:rPr lang="en-US" altLang="zh-CN" sz="2400" b="1" dirty="0" err="1">
                <a:solidFill>
                  <a:schemeClr val="bg1"/>
                </a:solidFill>
                <a:latin typeface="+mn-ea"/>
              </a:rPr>
              <a:t>getspace</a:t>
            </a:r>
            <a:r>
              <a:rPr lang="zh-CN" altLang="en-US" sz="2400" b="1" dirty="0">
                <a:solidFill>
                  <a:schemeClr val="bg1"/>
                </a:solidFill>
                <a:latin typeface="+mn-ea"/>
              </a:rPr>
              <a:t>和</a:t>
            </a:r>
            <a:r>
              <a:rPr lang="en-US" altLang="zh-CN" sz="2400" b="1" dirty="0">
                <a:solidFill>
                  <a:schemeClr val="bg1"/>
                </a:solidFill>
                <a:latin typeface="+mn-ea"/>
              </a:rPr>
              <a:t>release(ad)</a:t>
            </a:r>
            <a:r>
              <a:rPr lang="zh-CN" altLang="en-US" sz="2400" b="1" dirty="0">
                <a:solidFill>
                  <a:schemeClr val="bg1"/>
                </a:solidFill>
                <a:latin typeface="+mn-ea"/>
              </a:rPr>
              <a:t>抽象为两个各以一个动作完成的顺序执行单位，那么执行结果的正确性是可以保证的。</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l="13888" t="8294" r="10905" b="7752"/>
          <a:stretch>
            <a:fillRect/>
          </a:stretch>
        </p:blipFill>
        <p:spPr>
          <a:xfrm rot="183595">
            <a:off x="5756573" y="271799"/>
            <a:ext cx="1059682" cy="12438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临界区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1303755"/>
          </a:xfrm>
          <a:prstGeom prst="rect">
            <a:avLst/>
          </a:prstGeom>
        </p:spPr>
        <p:txBody>
          <a:bodyPr wrap="square">
            <a:spAutoFit/>
          </a:bodyPr>
          <a:lstStyle/>
          <a:p>
            <a:pPr marL="0" lvl="1" algn="just">
              <a:lnSpc>
                <a:spcPct val="125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把</a:t>
            </a:r>
            <a:r>
              <a:rPr lang="zh-CN" altLang="en-US" sz="2200" b="1" dirty="0">
                <a:solidFill>
                  <a:srgbClr val="FFFF00"/>
                </a:solidFill>
                <a:latin typeface="+mn-ea"/>
              </a:rPr>
              <a:t>不允许多个并发进程交叉执行的一段程序</a:t>
            </a:r>
            <a:r>
              <a:rPr lang="zh-CN" altLang="en-US" sz="2200" b="1" dirty="0">
                <a:solidFill>
                  <a:schemeClr val="bg1"/>
                </a:solidFill>
                <a:latin typeface="+mn-ea"/>
              </a:rPr>
              <a:t>称为临界部分（</a:t>
            </a:r>
            <a:r>
              <a:rPr lang="en-US" altLang="zh-CN" sz="2200" b="1" dirty="0">
                <a:solidFill>
                  <a:schemeClr val="bg1"/>
                </a:solidFill>
                <a:latin typeface="+mn-ea"/>
              </a:rPr>
              <a:t>critical section </a:t>
            </a:r>
            <a:r>
              <a:rPr lang="zh-CN" altLang="en-US" sz="2200" b="1" dirty="0">
                <a:solidFill>
                  <a:schemeClr val="bg1"/>
                </a:solidFill>
                <a:latin typeface="+mn-ea"/>
              </a:rPr>
              <a:t>）或</a:t>
            </a:r>
            <a:r>
              <a:rPr lang="zh-CN" altLang="en-US" sz="2200" b="1" dirty="0">
                <a:solidFill>
                  <a:srgbClr val="FFFF00"/>
                </a:solidFill>
                <a:latin typeface="+mn-ea"/>
              </a:rPr>
              <a:t>临界区</a:t>
            </a:r>
            <a:r>
              <a:rPr lang="zh-CN" altLang="en-US" sz="2200" b="1" dirty="0">
                <a:solidFill>
                  <a:schemeClr val="bg1"/>
                </a:solidFill>
                <a:latin typeface="+mn-ea"/>
              </a:rPr>
              <a:t>（</a:t>
            </a:r>
            <a:r>
              <a:rPr lang="en-US" altLang="zh-CN" sz="2200" b="1" dirty="0">
                <a:solidFill>
                  <a:schemeClr val="bg1"/>
                </a:solidFill>
                <a:latin typeface="+mn-ea"/>
              </a:rPr>
              <a:t>critical region</a:t>
            </a:r>
            <a:r>
              <a:rPr lang="zh-CN" altLang="en-US" sz="2200" b="1" dirty="0">
                <a:solidFill>
                  <a:schemeClr val="bg1"/>
                </a:solidFill>
                <a:latin typeface="+mn-ea"/>
              </a:rPr>
              <a:t>）</a:t>
            </a:r>
            <a:r>
              <a:rPr lang="zh-CN" altLang="en-US" sz="2200" b="1" dirty="0" smtClean="0">
                <a:solidFill>
                  <a:schemeClr val="bg1"/>
                </a:solidFill>
                <a:latin typeface="+mn-ea"/>
              </a:rPr>
              <a:t>。</a:t>
            </a:r>
            <a:endParaRPr lang="zh-CN" altLang="en-US" sz="2200" b="1" dirty="0">
              <a:solidFill>
                <a:schemeClr val="bg1"/>
              </a:solidFill>
              <a:latin typeface="+mn-ea"/>
            </a:endParaRPr>
          </a:p>
        </p:txBody>
      </p:sp>
      <p:grpSp>
        <p:nvGrpSpPr>
          <p:cNvPr id="4" name="组合 3"/>
          <p:cNvGrpSpPr/>
          <p:nvPr/>
        </p:nvGrpSpPr>
        <p:grpSpPr>
          <a:xfrm>
            <a:off x="3419872" y="2389643"/>
            <a:ext cx="5559201" cy="2329061"/>
            <a:chOff x="2181151" y="2211710"/>
            <a:chExt cx="5559201" cy="2329061"/>
          </a:xfrm>
        </p:grpSpPr>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151" y="2211710"/>
              <a:ext cx="5559201" cy="2329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椭圆 2"/>
            <p:cNvSpPr/>
            <p:nvPr/>
          </p:nvSpPr>
          <p:spPr>
            <a:xfrm>
              <a:off x="3000718" y="2427734"/>
              <a:ext cx="1355257" cy="187220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 4"/>
          <p:cNvSpPr/>
          <p:nvPr/>
        </p:nvSpPr>
        <p:spPr>
          <a:xfrm>
            <a:off x="730060" y="2546206"/>
            <a:ext cx="2617804" cy="2015936"/>
          </a:xfrm>
          <a:prstGeom prst="rect">
            <a:avLst/>
          </a:prstGeom>
        </p:spPr>
        <p:txBody>
          <a:bodyPr wrap="square">
            <a:spAutoFit/>
          </a:bodyPr>
          <a:lstStyle/>
          <a:p>
            <a:pPr marL="0" lvl="1" algn="just">
              <a:lnSpc>
                <a:spcPct val="125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临界区不可能用增加硬件的方法来解决。因此，</a:t>
            </a:r>
            <a:r>
              <a:rPr lang="zh-CN" altLang="en-US" sz="2000" b="1" dirty="0">
                <a:solidFill>
                  <a:srgbClr val="FFFF00"/>
                </a:solidFill>
                <a:latin typeface="+mn-ea"/>
              </a:rPr>
              <a:t>临界区也可以被称为访问公用数据的那段程序</a:t>
            </a:r>
            <a:r>
              <a:rPr lang="zh-CN" altLang="en-US" sz="2000" b="1" dirty="0">
                <a:solidFill>
                  <a:schemeClr val="bg1"/>
                </a:solidFill>
                <a:latin typeface="+mn-ea"/>
              </a:rPr>
              <a:t>。</a:t>
            </a:r>
          </a:p>
        </p:txBody>
      </p:sp>
      <p:sp>
        <p:nvSpPr>
          <p:cNvPr id="6" name="矩形 5"/>
          <p:cNvSpPr/>
          <p:nvPr/>
        </p:nvSpPr>
        <p:spPr>
          <a:xfrm>
            <a:off x="6027577" y="3110756"/>
            <a:ext cx="432048" cy="2880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027577" y="3976483"/>
            <a:ext cx="432048" cy="2880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间接</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制约</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12768"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一般来说，可以把那些不允许交叉执行的临界区按不同的公用数据划分为不同的集合。上例中，以</a:t>
            </a:r>
            <a:r>
              <a:rPr lang="zh-CN" altLang="en-US" sz="2400" b="1" dirty="0">
                <a:solidFill>
                  <a:srgbClr val="FFFF00"/>
                </a:solidFill>
                <a:latin typeface="+mn-ea"/>
              </a:rPr>
              <a:t>公用数据栈Ｓ</a:t>
            </a:r>
            <a:r>
              <a:rPr lang="zh-CN" altLang="en-US" sz="2400" b="1" dirty="0">
                <a:solidFill>
                  <a:schemeClr val="bg1"/>
                </a:solidFill>
                <a:latin typeface="+mn-ea"/>
              </a:rPr>
              <a:t>划分的</a:t>
            </a:r>
            <a:r>
              <a:rPr lang="zh-CN" altLang="en-US" sz="2400" b="1" dirty="0">
                <a:solidFill>
                  <a:srgbClr val="FFFF00"/>
                </a:solidFill>
                <a:latin typeface="+mn-ea"/>
              </a:rPr>
              <a:t>临界区集合</a:t>
            </a:r>
            <a:r>
              <a:rPr lang="zh-CN" altLang="en-US" sz="2400" b="1" dirty="0">
                <a:solidFill>
                  <a:schemeClr val="bg1"/>
                </a:solidFill>
                <a:latin typeface="+mn-ea"/>
              </a:rPr>
              <a:t>是</a:t>
            </a:r>
            <a:r>
              <a:rPr lang="en-US" altLang="zh-CN" sz="2400" b="1" dirty="0">
                <a:solidFill>
                  <a:srgbClr val="FFFF00"/>
                </a:solidFill>
                <a:latin typeface="+mn-ea"/>
              </a:rPr>
              <a:t>{</a:t>
            </a:r>
            <a:r>
              <a:rPr lang="en-US" altLang="zh-CN" sz="2400" b="1" dirty="0" err="1">
                <a:solidFill>
                  <a:srgbClr val="FFFF00"/>
                </a:solidFill>
                <a:latin typeface="+mn-ea"/>
              </a:rPr>
              <a:t>getspace,release</a:t>
            </a:r>
            <a:r>
              <a:rPr lang="en-US" altLang="zh-CN" sz="2400" b="1" dirty="0">
                <a:solidFill>
                  <a:srgbClr val="FFFF00"/>
                </a:solidFill>
                <a:latin typeface="+mn-ea"/>
              </a:rPr>
              <a:t>}</a:t>
            </a:r>
            <a:r>
              <a:rPr lang="zh-CN" altLang="en-US" sz="2400" b="1" dirty="0">
                <a:solidFill>
                  <a:schemeClr val="bg1"/>
                </a:solidFill>
                <a:latin typeface="+mn-ea"/>
              </a:rPr>
              <a:t>。把这些集合称为</a:t>
            </a:r>
            <a:r>
              <a:rPr lang="zh-CN" altLang="en-US" sz="2400" b="1" dirty="0">
                <a:solidFill>
                  <a:srgbClr val="FFFF00"/>
                </a:solidFill>
                <a:latin typeface="+mn-ea"/>
              </a:rPr>
              <a:t>类</a:t>
            </a:r>
            <a:r>
              <a:rPr lang="zh-CN" altLang="en-US" sz="2400" b="1" dirty="0">
                <a:solidFill>
                  <a:schemeClr val="bg1"/>
                </a:solidFill>
                <a:latin typeface="+mn-ea"/>
              </a:rPr>
              <a:t>（</a:t>
            </a:r>
            <a:r>
              <a:rPr lang="en-US" altLang="zh-CN" sz="2400" b="1" dirty="0">
                <a:solidFill>
                  <a:schemeClr val="bg1"/>
                </a:solidFill>
                <a:latin typeface="+mn-ea"/>
              </a:rPr>
              <a:t>class</a:t>
            </a:r>
            <a:r>
              <a:rPr lang="zh-CN" altLang="en-US" sz="24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间接</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制约</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941790"/>
            <a:ext cx="6912768" cy="3554819"/>
          </a:xfrm>
          <a:prstGeom prst="rect">
            <a:avLst/>
          </a:prstGeom>
        </p:spPr>
        <p:txBody>
          <a:bodyPr wrap="square">
            <a:spAutoFit/>
          </a:bodyPr>
          <a:lstStyle/>
          <a:p>
            <a:pPr marL="0" lvl="1" indent="-285750" algn="just">
              <a:lnSpc>
                <a:spcPct val="125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可用下列标准形式来描述临界区：</a:t>
            </a:r>
          </a:p>
          <a:p>
            <a:pPr marL="0" lvl="1" algn="just">
              <a:lnSpc>
                <a:spcPct val="125000"/>
              </a:lnSpc>
              <a:buClr>
                <a:schemeClr val="accent6">
                  <a:lumMod val="60000"/>
                  <a:lumOff val="40000"/>
                </a:schemeClr>
              </a:buClr>
            </a:pPr>
            <a:r>
              <a:rPr lang="zh-CN" altLang="en-US" sz="2400" b="1" dirty="0">
                <a:solidFill>
                  <a:srgbClr val="FFFF00"/>
                </a:solidFill>
                <a:latin typeface="+mn-ea"/>
              </a:rPr>
              <a:t> </a:t>
            </a:r>
            <a:r>
              <a:rPr lang="zh-CN" altLang="en-US" sz="2400" b="1" dirty="0" smtClean="0">
                <a:solidFill>
                  <a:srgbClr val="FFFF00"/>
                </a:solidFill>
                <a:latin typeface="+mn-ea"/>
              </a:rPr>
              <a:t>  </a:t>
            </a:r>
            <a:r>
              <a:rPr lang="en-US" altLang="zh-CN" sz="2400" b="1" dirty="0" smtClean="0">
                <a:solidFill>
                  <a:srgbClr val="FFFF00"/>
                </a:solidFill>
                <a:latin typeface="+mn-ea"/>
              </a:rPr>
              <a:t>when</a:t>
            </a:r>
            <a:r>
              <a:rPr lang="en-US" altLang="zh-CN" sz="2400" b="1" dirty="0">
                <a:solidFill>
                  <a:srgbClr val="FFFF00"/>
                </a:solidFill>
                <a:latin typeface="+mn-ea"/>
              </a:rPr>
              <a:t>〈</a:t>
            </a:r>
            <a:r>
              <a:rPr lang="zh-CN" altLang="en-US" sz="2400" b="1" dirty="0">
                <a:solidFill>
                  <a:srgbClr val="FFFF00"/>
                </a:solidFill>
                <a:latin typeface="+mn-ea"/>
              </a:rPr>
              <a:t>类名</a:t>
            </a:r>
            <a:r>
              <a:rPr lang="en-US" altLang="zh-CN" sz="2400" b="1" dirty="0">
                <a:solidFill>
                  <a:srgbClr val="FFFF00"/>
                </a:solidFill>
                <a:latin typeface="+mn-ea"/>
              </a:rPr>
              <a:t>〉do〈</a:t>
            </a:r>
            <a:r>
              <a:rPr lang="zh-CN" altLang="en-US" sz="2400" b="1" dirty="0">
                <a:solidFill>
                  <a:srgbClr val="FFFF00"/>
                </a:solidFill>
                <a:latin typeface="+mn-ea"/>
              </a:rPr>
              <a:t>临界区</a:t>
            </a:r>
            <a:r>
              <a:rPr lang="en-US" altLang="zh-CN" sz="2400" b="1" dirty="0">
                <a:solidFill>
                  <a:srgbClr val="FFFF00"/>
                </a:solidFill>
                <a:latin typeface="+mn-ea"/>
              </a:rPr>
              <a:t>〉od</a:t>
            </a:r>
          </a:p>
          <a:p>
            <a:pPr marL="0" lvl="1" indent="-285750" algn="just">
              <a:lnSpc>
                <a:spcPct val="125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设类 </a:t>
            </a:r>
            <a:r>
              <a:rPr lang="en-US" altLang="zh-CN" sz="2400" b="1" dirty="0">
                <a:solidFill>
                  <a:schemeClr val="bg1"/>
                </a:solidFill>
                <a:latin typeface="+mn-ea"/>
              </a:rPr>
              <a:t>{</a:t>
            </a:r>
            <a:r>
              <a:rPr lang="en-US" altLang="zh-CN" sz="2400" b="1" dirty="0" err="1">
                <a:solidFill>
                  <a:schemeClr val="bg1"/>
                </a:solidFill>
                <a:latin typeface="+mn-ea"/>
              </a:rPr>
              <a:t>getspace</a:t>
            </a:r>
            <a:r>
              <a:rPr lang="zh-CN" altLang="en-US" sz="2400" b="1" dirty="0">
                <a:solidFill>
                  <a:schemeClr val="bg1"/>
                </a:solidFill>
                <a:latin typeface="+mn-ea"/>
              </a:rPr>
              <a:t>，</a:t>
            </a:r>
            <a:r>
              <a:rPr lang="en-US" altLang="zh-CN" sz="2400" b="1" dirty="0">
                <a:solidFill>
                  <a:schemeClr val="bg1"/>
                </a:solidFill>
                <a:latin typeface="+mn-ea"/>
              </a:rPr>
              <a:t>release} </a:t>
            </a:r>
            <a:r>
              <a:rPr lang="zh-CN" altLang="en-US" sz="2400" b="1" dirty="0">
                <a:solidFill>
                  <a:schemeClr val="bg1"/>
                </a:solidFill>
                <a:latin typeface="+mn-ea"/>
              </a:rPr>
              <a:t>的类名为</a:t>
            </a:r>
            <a:r>
              <a:rPr lang="en-US" altLang="zh-CN" sz="2400" b="1" dirty="0" err="1">
                <a:solidFill>
                  <a:schemeClr val="bg1"/>
                </a:solidFill>
                <a:latin typeface="+mn-ea"/>
              </a:rPr>
              <a:t>sp</a:t>
            </a:r>
            <a:r>
              <a:rPr lang="zh-CN" altLang="en-US" sz="2400" b="1" dirty="0">
                <a:solidFill>
                  <a:schemeClr val="bg1"/>
                </a:solidFill>
                <a:latin typeface="+mn-ea"/>
              </a:rPr>
              <a:t>，则</a:t>
            </a:r>
            <a:r>
              <a:rPr lang="en-US" altLang="zh-CN" sz="2400" b="1" dirty="0" err="1">
                <a:solidFill>
                  <a:schemeClr val="bg1"/>
                </a:solidFill>
                <a:latin typeface="+mn-ea"/>
              </a:rPr>
              <a:t>getspace</a:t>
            </a:r>
            <a:r>
              <a:rPr lang="zh-CN" altLang="en-US" sz="2400" b="1" dirty="0">
                <a:solidFill>
                  <a:schemeClr val="bg1"/>
                </a:solidFill>
                <a:latin typeface="+mn-ea"/>
              </a:rPr>
              <a:t>和</a:t>
            </a:r>
            <a:r>
              <a:rPr lang="en-US" altLang="zh-CN" sz="2400" b="1" dirty="0">
                <a:solidFill>
                  <a:schemeClr val="bg1"/>
                </a:solidFill>
                <a:latin typeface="+mn-ea"/>
              </a:rPr>
              <a:t>release(ad)</a:t>
            </a:r>
            <a:r>
              <a:rPr lang="zh-CN" altLang="en-US" sz="2400" b="1" dirty="0">
                <a:solidFill>
                  <a:schemeClr val="bg1"/>
                </a:solidFill>
                <a:latin typeface="+mn-ea"/>
              </a:rPr>
              <a:t>可重新描述为：</a:t>
            </a:r>
          </a:p>
          <a:p>
            <a:pPr marL="0" lvl="1" algn="just">
              <a:lnSpc>
                <a:spcPct val="125000"/>
              </a:lnSpc>
              <a:spcBef>
                <a:spcPct val="0"/>
              </a:spcBef>
              <a:buClr>
                <a:schemeClr val="accent6">
                  <a:lumMod val="60000"/>
                  <a:lumOff val="40000"/>
                </a:schemeClr>
              </a:buClr>
            </a:pPr>
            <a:r>
              <a:rPr lang="zh-CN" altLang="en-US" sz="2400" b="1" dirty="0">
                <a:solidFill>
                  <a:schemeClr val="bg1"/>
                </a:solidFill>
                <a:latin typeface="+mn-ea"/>
              </a:rPr>
              <a:t> </a:t>
            </a:r>
            <a:r>
              <a:rPr lang="zh-CN" altLang="en-US" sz="2400" b="1" dirty="0" smtClean="0">
                <a:solidFill>
                  <a:schemeClr val="bg1"/>
                </a:solidFill>
                <a:latin typeface="+mn-ea"/>
              </a:rPr>
              <a:t> </a:t>
            </a:r>
            <a:r>
              <a:rPr lang="en-US" altLang="zh-CN" sz="2000" b="1" dirty="0" err="1" smtClean="0">
                <a:solidFill>
                  <a:schemeClr val="accent6">
                    <a:lumMod val="40000"/>
                    <a:lumOff val="60000"/>
                  </a:schemeClr>
                </a:solidFill>
                <a:latin typeface="+mn-ea"/>
              </a:rPr>
              <a:t>getspace</a:t>
            </a:r>
            <a:r>
              <a:rPr lang="en-US" altLang="zh-CN" sz="2000" b="1" dirty="0" smtClean="0">
                <a:solidFill>
                  <a:schemeClr val="accent6">
                    <a:lumMod val="40000"/>
                    <a:lumOff val="60000"/>
                  </a:schemeClr>
                </a:solidFill>
                <a:latin typeface="+mn-ea"/>
              </a:rPr>
              <a:t>: when </a:t>
            </a:r>
            <a:r>
              <a:rPr lang="en-US" altLang="zh-CN" sz="2000" b="1" dirty="0" err="1">
                <a:solidFill>
                  <a:schemeClr val="accent6">
                    <a:lumMod val="40000"/>
                    <a:lumOff val="60000"/>
                  </a:schemeClr>
                </a:solidFill>
                <a:latin typeface="+mn-ea"/>
              </a:rPr>
              <a:t>sp</a:t>
            </a:r>
            <a:r>
              <a:rPr lang="en-US" altLang="zh-CN" sz="2000" b="1" dirty="0">
                <a:solidFill>
                  <a:schemeClr val="accent6">
                    <a:lumMod val="40000"/>
                    <a:lumOff val="60000"/>
                  </a:schemeClr>
                </a:solidFill>
                <a:latin typeface="+mn-ea"/>
              </a:rPr>
              <a:t> do </a:t>
            </a:r>
            <a:r>
              <a:rPr lang="en-US" altLang="zh-CN" sz="2000" b="1" dirty="0" err="1">
                <a:solidFill>
                  <a:schemeClr val="accent6">
                    <a:lumMod val="40000"/>
                    <a:lumOff val="60000"/>
                  </a:schemeClr>
                </a:solidFill>
                <a:latin typeface="+mn-ea"/>
              </a:rPr>
              <a:t>getspce←stack</a:t>
            </a:r>
            <a:r>
              <a:rPr lang="en-US" altLang="zh-CN" sz="2000" b="1" dirty="0">
                <a:solidFill>
                  <a:schemeClr val="accent6">
                    <a:lumMod val="40000"/>
                    <a:lumOff val="60000"/>
                  </a:schemeClr>
                </a:solidFill>
                <a:latin typeface="+mn-ea"/>
              </a:rPr>
              <a:t> </a:t>
            </a:r>
            <a:r>
              <a:rPr lang="zh-CN" altLang="en-US" sz="2000" b="1" dirty="0">
                <a:solidFill>
                  <a:schemeClr val="accent6">
                    <a:lumMod val="40000"/>
                    <a:lumOff val="60000"/>
                  </a:schemeClr>
                </a:solidFill>
                <a:latin typeface="+mn-ea"/>
              </a:rPr>
              <a:t>［ </a:t>
            </a:r>
            <a:r>
              <a:rPr lang="en-US" altLang="zh-CN" sz="2000" b="1" dirty="0">
                <a:solidFill>
                  <a:schemeClr val="accent6">
                    <a:lumMod val="40000"/>
                    <a:lumOff val="60000"/>
                  </a:schemeClr>
                </a:solidFill>
                <a:latin typeface="+mn-ea"/>
              </a:rPr>
              <a:t>top </a:t>
            </a:r>
            <a:r>
              <a:rPr lang="zh-CN" altLang="en-US" sz="2000" b="1" dirty="0">
                <a:solidFill>
                  <a:schemeClr val="accent6">
                    <a:lumMod val="40000"/>
                    <a:lumOff val="60000"/>
                  </a:schemeClr>
                </a:solidFill>
                <a:latin typeface="+mn-ea"/>
              </a:rPr>
              <a:t>］</a:t>
            </a:r>
          </a:p>
          <a:p>
            <a:pPr marL="0" lvl="1" algn="just">
              <a:lnSpc>
                <a:spcPct val="125000"/>
              </a:lnSpc>
              <a:spcBef>
                <a:spcPct val="0"/>
              </a:spcBef>
              <a:buClr>
                <a:schemeClr val="accent6">
                  <a:lumMod val="60000"/>
                  <a:lumOff val="40000"/>
                </a:schemeClr>
              </a:buClr>
            </a:pPr>
            <a:r>
              <a:rPr lang="zh-CN" altLang="en-US" sz="2000" b="1" dirty="0">
                <a:solidFill>
                  <a:schemeClr val="accent6">
                    <a:lumMod val="40000"/>
                    <a:lumOff val="60000"/>
                  </a:schemeClr>
                </a:solidFill>
                <a:latin typeface="+mn-ea"/>
              </a:rPr>
              <a:t>			</a:t>
            </a:r>
            <a:r>
              <a:rPr lang="zh-CN" altLang="en-US" sz="2000" b="1" dirty="0" smtClean="0">
                <a:solidFill>
                  <a:schemeClr val="accent6">
                    <a:lumMod val="40000"/>
                    <a:lumOff val="60000"/>
                  </a:schemeClr>
                </a:solidFill>
                <a:latin typeface="+mn-ea"/>
              </a:rPr>
              <a:t>  </a:t>
            </a:r>
            <a:r>
              <a:rPr lang="en-US" altLang="zh-CN" sz="2000" b="1" dirty="0" smtClean="0">
                <a:solidFill>
                  <a:schemeClr val="accent6">
                    <a:lumMod val="40000"/>
                    <a:lumOff val="60000"/>
                  </a:schemeClr>
                </a:solidFill>
                <a:latin typeface="+mn-ea"/>
              </a:rPr>
              <a:t>top</a:t>
            </a:r>
            <a:r>
              <a:rPr lang="en-US" altLang="zh-CN" sz="2000" b="1" dirty="0">
                <a:solidFill>
                  <a:schemeClr val="accent6">
                    <a:lumMod val="40000"/>
                    <a:lumOff val="60000"/>
                  </a:schemeClr>
                </a:solidFill>
                <a:latin typeface="+mn-ea"/>
              </a:rPr>
              <a:t>←top-1 od</a:t>
            </a:r>
          </a:p>
          <a:p>
            <a:pPr marL="0" lvl="1" algn="just">
              <a:lnSpc>
                <a:spcPct val="125000"/>
              </a:lnSpc>
              <a:spcBef>
                <a:spcPct val="0"/>
              </a:spcBef>
              <a:buClr>
                <a:schemeClr val="accent6">
                  <a:lumMod val="60000"/>
                  <a:lumOff val="40000"/>
                </a:schemeClr>
              </a:buClr>
            </a:pPr>
            <a:r>
              <a:rPr lang="en-US" altLang="zh-CN" sz="2000" b="1" dirty="0">
                <a:solidFill>
                  <a:schemeClr val="accent6">
                    <a:lumMod val="40000"/>
                    <a:lumOff val="60000"/>
                  </a:schemeClr>
                </a:solidFill>
                <a:latin typeface="+mn-ea"/>
              </a:rPr>
              <a:t> </a:t>
            </a:r>
            <a:r>
              <a:rPr lang="en-US" altLang="zh-CN" sz="2000" b="1" dirty="0" smtClean="0">
                <a:solidFill>
                  <a:schemeClr val="accent6">
                    <a:lumMod val="40000"/>
                    <a:lumOff val="60000"/>
                  </a:schemeClr>
                </a:solidFill>
                <a:latin typeface="+mn-ea"/>
              </a:rPr>
              <a:t>  release(ad</a:t>
            </a:r>
            <a:r>
              <a:rPr lang="en-US" altLang="zh-CN" sz="2000" b="1" dirty="0">
                <a:solidFill>
                  <a:schemeClr val="accent6">
                    <a:lumMod val="40000"/>
                    <a:lumOff val="60000"/>
                  </a:schemeClr>
                </a:solidFill>
                <a:latin typeface="+mn-ea"/>
              </a:rPr>
              <a:t>): when </a:t>
            </a:r>
            <a:r>
              <a:rPr lang="en-US" altLang="zh-CN" sz="2000" b="1" dirty="0" err="1">
                <a:solidFill>
                  <a:schemeClr val="accent6">
                    <a:lumMod val="40000"/>
                    <a:lumOff val="60000"/>
                  </a:schemeClr>
                </a:solidFill>
                <a:latin typeface="+mn-ea"/>
              </a:rPr>
              <a:t>sp</a:t>
            </a:r>
            <a:r>
              <a:rPr lang="en-US" altLang="zh-CN" sz="2000" b="1" dirty="0">
                <a:solidFill>
                  <a:schemeClr val="accent6">
                    <a:lumMod val="40000"/>
                    <a:lumOff val="60000"/>
                  </a:schemeClr>
                </a:solidFill>
                <a:latin typeface="+mn-ea"/>
              </a:rPr>
              <a:t> do top← top+1</a:t>
            </a:r>
          </a:p>
          <a:p>
            <a:pPr marL="0" lvl="1" algn="just">
              <a:lnSpc>
                <a:spcPct val="125000"/>
              </a:lnSpc>
              <a:spcBef>
                <a:spcPct val="0"/>
              </a:spcBef>
              <a:buClr>
                <a:schemeClr val="accent6">
                  <a:lumMod val="60000"/>
                  <a:lumOff val="40000"/>
                </a:schemeClr>
              </a:buClr>
            </a:pPr>
            <a:r>
              <a:rPr lang="en-US" altLang="zh-CN" sz="2000" b="1" dirty="0">
                <a:solidFill>
                  <a:schemeClr val="accent6">
                    <a:lumMod val="40000"/>
                    <a:lumOff val="60000"/>
                  </a:schemeClr>
                </a:solidFill>
                <a:latin typeface="+mn-ea"/>
              </a:rPr>
              <a:t>			</a:t>
            </a:r>
            <a:r>
              <a:rPr lang="en-US" altLang="zh-CN" sz="2000" b="1" dirty="0" smtClean="0">
                <a:solidFill>
                  <a:schemeClr val="accent6">
                    <a:lumMod val="40000"/>
                    <a:lumOff val="60000"/>
                  </a:schemeClr>
                </a:solidFill>
                <a:latin typeface="+mn-ea"/>
              </a:rPr>
              <a:t>      stack </a:t>
            </a:r>
            <a:r>
              <a:rPr lang="zh-CN" altLang="en-US" sz="2000" b="1" dirty="0">
                <a:solidFill>
                  <a:schemeClr val="accent6">
                    <a:lumMod val="40000"/>
                    <a:lumOff val="60000"/>
                  </a:schemeClr>
                </a:solidFill>
                <a:latin typeface="+mn-ea"/>
              </a:rPr>
              <a:t>［ </a:t>
            </a:r>
            <a:r>
              <a:rPr lang="en-US" altLang="zh-CN" sz="2000" b="1" dirty="0">
                <a:solidFill>
                  <a:schemeClr val="accent6">
                    <a:lumMod val="40000"/>
                    <a:lumOff val="60000"/>
                  </a:schemeClr>
                </a:solidFill>
                <a:latin typeface="+mn-ea"/>
              </a:rPr>
              <a:t>top </a:t>
            </a:r>
            <a:r>
              <a:rPr lang="zh-CN" altLang="en-US" sz="2000" b="1" dirty="0" smtClean="0">
                <a:solidFill>
                  <a:schemeClr val="accent6">
                    <a:lumMod val="40000"/>
                    <a:lumOff val="60000"/>
                  </a:schemeClr>
                </a:solidFill>
                <a:latin typeface="+mn-ea"/>
              </a:rPr>
              <a:t>］← </a:t>
            </a:r>
            <a:r>
              <a:rPr lang="en-US" altLang="zh-CN" sz="2000" b="1" dirty="0">
                <a:solidFill>
                  <a:schemeClr val="accent6">
                    <a:lumMod val="40000"/>
                    <a:lumOff val="60000"/>
                  </a:schemeClr>
                </a:solidFill>
                <a:latin typeface="+mn-ea"/>
              </a:rPr>
              <a:t>ad </a:t>
            </a:r>
            <a:r>
              <a:rPr lang="en-US" altLang="zh-CN" sz="2000" b="1" dirty="0" smtClean="0">
                <a:solidFill>
                  <a:schemeClr val="accent6">
                    <a:lumMod val="40000"/>
                    <a:lumOff val="60000"/>
                  </a:schemeClr>
                </a:solidFill>
                <a:latin typeface="+mn-ea"/>
              </a:rPr>
              <a:t> od</a:t>
            </a:r>
            <a:endParaRPr lang="en-US" altLang="zh-CN" sz="2000" b="1" dirty="0">
              <a:solidFill>
                <a:schemeClr val="accent6">
                  <a:lumMod val="40000"/>
                  <a:lumOff val="60000"/>
                </a:schemeClr>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wipe(left)">
                                      <p:cBhvr>
                                        <p:cTn id="26" dur="500"/>
                                        <p:tgtEl>
                                          <p:spTgt spid="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wipe(left)">
                                      <p:cBhvr>
                                        <p:cTn id="31" dur="500"/>
                                        <p:tgtEl>
                                          <p:spTgt spid="2">
                                            <p:txEl>
                                              <p:pRg st="5" end="5"/>
                                            </p:txEl>
                                          </p:spTgt>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wipe(left)">
                                      <p:cBhvr>
                                        <p:cTn id="35"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1" name="Picture 7" descr="j02453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63888" y="1676699"/>
            <a:ext cx="1125537" cy="95408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组合 4"/>
          <p:cNvGrpSpPr/>
          <p:nvPr/>
        </p:nvGrpSpPr>
        <p:grpSpPr>
          <a:xfrm>
            <a:off x="4684071" y="1752899"/>
            <a:ext cx="2804117" cy="987425"/>
            <a:chOff x="4684071" y="1752899"/>
            <a:chExt cx="2804117" cy="987425"/>
          </a:xfrm>
        </p:grpSpPr>
        <p:pic>
          <p:nvPicPr>
            <p:cNvPr id="30" name="Picture 6" descr="j02923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4963" y="1752899"/>
              <a:ext cx="1673225" cy="98742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AutoShape 10"/>
            <p:cNvSpPr>
              <a:spLocks noChangeArrowheads="1"/>
            </p:cNvSpPr>
            <p:nvPr/>
          </p:nvSpPr>
          <p:spPr bwMode="auto">
            <a:xfrm>
              <a:off x="4684071" y="2210099"/>
              <a:ext cx="1125537" cy="228600"/>
            </a:xfrm>
            <a:prstGeom prst="leftArrow">
              <a:avLst>
                <a:gd name="adj1" fmla="val 50000"/>
                <a:gd name="adj2" fmla="val 123090"/>
              </a:avLst>
            </a:prstGeom>
          </p:spPr>
          <p:style>
            <a:lnRef idx="1">
              <a:schemeClr val="accent3"/>
            </a:lnRef>
            <a:fillRef idx="2">
              <a:schemeClr val="accent3"/>
            </a:fillRef>
            <a:effectRef idx="1">
              <a:schemeClr val="accent3"/>
            </a:effectRef>
            <a:fontRef idx="minor">
              <a:schemeClr val="dk1"/>
            </a:fontRef>
          </p:style>
          <p:txBody>
            <a:bodyPr wrap="none" anchor="ctr"/>
            <a:lstStyle>
              <a:defPPr>
                <a:defRPr lang="zh-CN"/>
              </a:defPPr>
              <a:lvl1pPr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1pPr>
              <a:lvl2pPr marL="4572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2pPr>
              <a:lvl3pPr marL="9144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3pPr>
              <a:lvl4pPr marL="13716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4pPr>
              <a:lvl5pPr marL="18288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5pPr>
              <a:lvl6pPr marL="22860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6pPr>
              <a:lvl7pPr marL="27432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7pPr>
              <a:lvl8pPr marL="32004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8pPr>
              <a:lvl9pPr marL="36576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9pPr>
            </a:lstStyle>
            <a:p>
              <a:endParaRPr lang="zh-CN" altLang="en-US"/>
            </a:p>
          </p:txBody>
        </p:sp>
      </p:grpSp>
      <p:grpSp>
        <p:nvGrpSpPr>
          <p:cNvPr id="4" name="组合 3"/>
          <p:cNvGrpSpPr/>
          <p:nvPr/>
        </p:nvGrpSpPr>
        <p:grpSpPr>
          <a:xfrm>
            <a:off x="1209625" y="1605261"/>
            <a:ext cx="2284413" cy="1096963"/>
            <a:chOff x="1209625" y="1605261"/>
            <a:chExt cx="2284413" cy="1096963"/>
          </a:xfrm>
        </p:grpSpPr>
        <p:pic>
          <p:nvPicPr>
            <p:cNvPr id="29" name="Picture 5" descr="j023828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625" y="1605261"/>
              <a:ext cx="1158875" cy="1096963"/>
            </a:xfrm>
            <a:prstGeom prst="rect">
              <a:avLst/>
            </a:prstGeom>
            <a:noFill/>
            <a:extLst>
              <a:ext uri="{909E8E84-426E-40DD-AFC4-6F175D3DCCD1}">
                <a14:hiddenFill xmlns:a14="http://schemas.microsoft.com/office/drawing/2010/main">
                  <a:solidFill>
                    <a:srgbClr val="FFFFFF"/>
                  </a:solidFill>
                </a14:hiddenFill>
              </a:ext>
            </a:extLst>
          </p:spPr>
        </p:pic>
        <p:sp>
          <p:nvSpPr>
            <p:cNvPr id="33" name="AutoShape 11"/>
            <p:cNvSpPr>
              <a:spLocks noChangeArrowheads="1"/>
            </p:cNvSpPr>
            <p:nvPr/>
          </p:nvSpPr>
          <p:spPr bwMode="auto">
            <a:xfrm>
              <a:off x="2368500" y="2210099"/>
              <a:ext cx="1125538" cy="228600"/>
            </a:xfrm>
            <a:prstGeom prst="rightArrow">
              <a:avLst>
                <a:gd name="adj1" fmla="val 50000"/>
                <a:gd name="adj2" fmla="val 123090"/>
              </a:avLst>
            </a:prstGeom>
          </p:spPr>
          <p:style>
            <a:lnRef idx="1">
              <a:schemeClr val="accent3"/>
            </a:lnRef>
            <a:fillRef idx="2">
              <a:schemeClr val="accent3"/>
            </a:fillRef>
            <a:effectRef idx="1">
              <a:schemeClr val="accent3"/>
            </a:effectRef>
            <a:fontRef idx="minor">
              <a:schemeClr val="dk1"/>
            </a:fontRef>
          </p:style>
          <p:txBody>
            <a:bodyPr wrap="none" anchor="ctr"/>
            <a:lstStyle>
              <a:defPPr>
                <a:defRPr lang="zh-CN"/>
              </a:defPPr>
              <a:lvl1pPr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1pPr>
              <a:lvl2pPr marL="4572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2pPr>
              <a:lvl3pPr marL="9144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3pPr>
              <a:lvl4pPr marL="13716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4pPr>
              <a:lvl5pPr marL="18288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5pPr>
              <a:lvl6pPr marL="22860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6pPr>
              <a:lvl7pPr marL="27432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7pPr>
              <a:lvl8pPr marL="32004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8pPr>
              <a:lvl9pPr marL="36576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9pPr>
            </a:lstStyle>
            <a:p>
              <a:endParaRPr lang="zh-CN" altLang="en-US"/>
            </a:p>
          </p:txBody>
        </p:sp>
      </p:grpSp>
      <p:sp>
        <p:nvSpPr>
          <p:cNvPr id="3" name="矩形 2"/>
          <p:cNvSpPr/>
          <p:nvPr/>
        </p:nvSpPr>
        <p:spPr>
          <a:xfrm>
            <a:off x="971600" y="3021818"/>
            <a:ext cx="6840760" cy="1477328"/>
          </a:xfrm>
          <a:prstGeom prst="rect">
            <a:avLst/>
          </a:prstGeom>
        </p:spPr>
        <p:txBody>
          <a:bodyPr wrap="square">
            <a:spAutoFit/>
          </a:bodyPr>
          <a:lstStyle/>
          <a:p>
            <a:pPr marL="0" lvl="1" indent="-285750" algn="just">
              <a:lnSpc>
                <a:spcPct val="125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互斥		</a:t>
            </a:r>
            <a:r>
              <a:rPr lang="en-US" altLang="zh-CN" sz="2400" b="1" dirty="0">
                <a:solidFill>
                  <a:schemeClr val="bg1"/>
                </a:solidFill>
                <a:latin typeface="+mn-ea"/>
              </a:rPr>
              <a:t>mutual exclusion</a:t>
            </a:r>
          </a:p>
          <a:p>
            <a:pPr marL="0" lvl="1" algn="just">
              <a:lnSpc>
                <a:spcPct val="125000"/>
              </a:lnSpc>
              <a:buClr>
                <a:schemeClr val="accent6">
                  <a:lumMod val="60000"/>
                  <a:lumOff val="40000"/>
                </a:schemeClr>
              </a:buClr>
            </a:pPr>
            <a:r>
              <a:rPr lang="zh-CN" altLang="en-US" sz="2400" b="1" dirty="0" smtClean="0">
                <a:solidFill>
                  <a:schemeClr val="bg1"/>
                </a:solidFill>
                <a:latin typeface="+mn-ea"/>
              </a:rPr>
              <a:t> 进程</a:t>
            </a:r>
            <a:r>
              <a:rPr lang="zh-CN" altLang="en-US" sz="2400" b="1" dirty="0">
                <a:solidFill>
                  <a:schemeClr val="bg1"/>
                </a:solidFill>
                <a:latin typeface="+mn-ea"/>
              </a:rPr>
              <a:t>之间对临界资源的一种竞争关系，</a:t>
            </a:r>
            <a:r>
              <a:rPr lang="zh-CN" altLang="en-US" sz="2400" b="1" dirty="0">
                <a:solidFill>
                  <a:srgbClr val="FFFF00"/>
                </a:solidFill>
                <a:latin typeface="+mn-ea"/>
              </a:rPr>
              <a:t>排他性</a:t>
            </a:r>
            <a:r>
              <a:rPr lang="zh-CN" altLang="en-US" sz="2400" b="1" dirty="0">
                <a:solidFill>
                  <a:schemeClr val="bg1"/>
                </a:solidFill>
                <a:latin typeface="+mn-ea"/>
              </a:rPr>
              <a:t>地对资源的访问方式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wipe(left)">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wipe(left)">
                                      <p:cBhvr>
                                        <p:cTn id="2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间接</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制约</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12768"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把这种由于共享某一公有资源而引起的在临界区内不允许并发进程交叉执行的现象，称为</a:t>
            </a:r>
            <a:r>
              <a:rPr lang="zh-CN" altLang="en-US" sz="2400" b="1" dirty="0">
                <a:solidFill>
                  <a:srgbClr val="FFFF00"/>
                </a:solidFill>
                <a:latin typeface="+mn-ea"/>
              </a:rPr>
              <a:t>由共享公有资源</a:t>
            </a:r>
            <a:r>
              <a:rPr lang="zh-CN" altLang="en-US" sz="2400" b="1" dirty="0">
                <a:solidFill>
                  <a:schemeClr val="bg1"/>
                </a:solidFill>
                <a:latin typeface="+mn-ea"/>
              </a:rPr>
              <a:t>而造成的对并发进程执行速度的间接制约，简称</a:t>
            </a:r>
            <a:r>
              <a:rPr lang="zh-CN" altLang="en-US" sz="2400" b="1" dirty="0">
                <a:solidFill>
                  <a:srgbClr val="FFFF00"/>
                </a:solidFill>
                <a:latin typeface="+mn-ea"/>
              </a:rPr>
              <a:t>间接制约</a:t>
            </a:r>
            <a:r>
              <a:rPr lang="zh-CN" altLang="en-US" sz="2400" b="1" dirty="0">
                <a:solidFill>
                  <a:schemeClr val="bg1"/>
                </a:solidFill>
                <a:latin typeface="+mn-ea"/>
              </a:rPr>
              <a:t>。这里，“间接”二字主要是指各并发进程的速度受公有资源制约，而</a:t>
            </a:r>
            <a:r>
              <a:rPr lang="zh-CN" altLang="en-US" sz="2400" b="1" dirty="0">
                <a:solidFill>
                  <a:srgbClr val="FFFF00"/>
                </a:solidFill>
                <a:latin typeface="+mn-ea"/>
              </a:rPr>
              <a:t>不是进程间直接制约</a:t>
            </a:r>
            <a:r>
              <a:rPr lang="zh-CN" altLang="en-US" sz="2400" b="1" dirty="0">
                <a:solidFill>
                  <a:schemeClr val="bg1"/>
                </a:solidFill>
                <a:latin typeface="+mn-ea"/>
              </a:rPr>
              <a:t>的意思。</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间接</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制约</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12768"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受间接制约的类中各程序段在</a:t>
            </a:r>
            <a:r>
              <a:rPr lang="zh-CN" altLang="en-US" sz="2400" b="1" dirty="0">
                <a:solidFill>
                  <a:srgbClr val="FFFF00"/>
                </a:solidFill>
                <a:latin typeface="+mn-ea"/>
              </a:rPr>
              <a:t>执行顺序上是任意的</a:t>
            </a:r>
            <a:r>
              <a:rPr lang="zh-CN" altLang="en-US" sz="24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显然，对于每一类，系统应有相应的</a:t>
            </a:r>
            <a:r>
              <a:rPr lang="zh-CN" altLang="en-US" sz="2400" b="1" dirty="0">
                <a:solidFill>
                  <a:srgbClr val="FFFF00"/>
                </a:solidFill>
                <a:latin typeface="+mn-ea"/>
              </a:rPr>
              <a:t>分配和释放相应公有资源的管理办法</a:t>
            </a:r>
            <a:r>
              <a:rPr lang="zh-CN" altLang="en-US" sz="2400" b="1" dirty="0">
                <a:solidFill>
                  <a:schemeClr val="bg1"/>
                </a:solidFill>
                <a:latin typeface="+mn-ea"/>
              </a:rPr>
              <a:t>，以制约并发进程。这就是</a:t>
            </a:r>
            <a:r>
              <a:rPr lang="zh-CN" altLang="en-US" sz="2400" b="1" dirty="0">
                <a:solidFill>
                  <a:srgbClr val="FFFF00"/>
                </a:solidFill>
                <a:latin typeface="+mn-ea"/>
              </a:rPr>
              <a:t>互斥</a:t>
            </a:r>
            <a:r>
              <a:rPr lang="zh-CN" altLang="en-US" sz="24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12768"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一组并发进程中的一个或多个程序段，因</a:t>
            </a:r>
            <a:r>
              <a:rPr lang="zh-CN" altLang="en-US" sz="2400" b="1" dirty="0">
                <a:solidFill>
                  <a:srgbClr val="FFFF00"/>
                </a:solidFill>
                <a:latin typeface="+mn-ea"/>
              </a:rPr>
              <a:t>共享某一公有资源</a:t>
            </a:r>
            <a:r>
              <a:rPr lang="zh-CN" altLang="en-US" sz="2400" b="1" dirty="0">
                <a:solidFill>
                  <a:schemeClr val="bg1"/>
                </a:solidFill>
                <a:latin typeface="+mn-ea"/>
              </a:rPr>
              <a:t>而导致它们必须以一个</a:t>
            </a:r>
            <a:r>
              <a:rPr lang="zh-CN" altLang="en-US" sz="2400" b="1" dirty="0">
                <a:solidFill>
                  <a:srgbClr val="FFFF00"/>
                </a:solidFill>
                <a:latin typeface="+mn-ea"/>
              </a:rPr>
              <a:t>不允许交叉执行的单位执行</a:t>
            </a:r>
            <a:r>
              <a:rPr lang="zh-CN" altLang="en-US" sz="2400" b="1" dirty="0">
                <a:solidFill>
                  <a:schemeClr val="bg1"/>
                </a:solidFill>
                <a:latin typeface="+mn-ea"/>
              </a:rPr>
              <a:t>。也就是说，不允许两个以上的共享该资源的并发进程同时进入临界区称为</a:t>
            </a:r>
            <a:r>
              <a:rPr lang="zh-CN" altLang="en-US" sz="2400" b="1" dirty="0">
                <a:solidFill>
                  <a:srgbClr val="FFFF00"/>
                </a:solidFill>
                <a:latin typeface="+mn-ea"/>
              </a:rPr>
              <a:t>互斥</a:t>
            </a:r>
            <a:r>
              <a:rPr lang="zh-CN" altLang="en-US" sz="24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进程的互斥</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12768" cy="55976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一组并发进程互斥执行时必须满足如下准则：</a:t>
            </a:r>
          </a:p>
        </p:txBody>
      </p:sp>
      <p:grpSp>
        <p:nvGrpSpPr>
          <p:cNvPr id="29" name="组合 28"/>
          <p:cNvGrpSpPr/>
          <p:nvPr/>
        </p:nvGrpSpPr>
        <p:grpSpPr>
          <a:xfrm>
            <a:off x="613075" y="1008218"/>
            <a:ext cx="2617797" cy="3475420"/>
            <a:chOff x="1030389" y="1047534"/>
            <a:chExt cx="2227523" cy="2971463"/>
          </a:xfrm>
        </p:grpSpPr>
        <p:sp>
          <p:nvSpPr>
            <p:cNvPr id="30" name="任意多边形 29"/>
            <p:cNvSpPr/>
            <p:nvPr/>
          </p:nvSpPr>
          <p:spPr>
            <a:xfrm>
              <a:off x="1030389" y="1047534"/>
              <a:ext cx="1982844" cy="2233365"/>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r>
                <a:rPr lang="zh-CN" altLang="en-US" sz="2000" b="1" dirty="0" smtClean="0"/>
                <a:t>即</a:t>
              </a:r>
              <a:r>
                <a:rPr lang="zh-CN" altLang="en-US" sz="2000" b="1" dirty="0"/>
                <a:t>各并发进程享有平等的、独立的竞争共有资源的权利，且在不采取任何措施的条件下，在临界区内任一指令结束时，其他并发进程可以进入临界区。</a:t>
              </a:r>
            </a:p>
          </p:txBody>
        </p:sp>
        <p:sp>
          <p:nvSpPr>
            <p:cNvPr id="31" name="任意多边形 30"/>
            <p:cNvSpPr/>
            <p:nvPr/>
          </p:nvSpPr>
          <p:spPr>
            <a:xfrm>
              <a:off x="1030389" y="3289780"/>
              <a:ext cx="1982844" cy="729217"/>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000" b="1" dirty="0"/>
                <a:t>不能假设各并发进程的相对执行速度</a:t>
              </a:r>
            </a:p>
          </p:txBody>
        </p:sp>
        <p:sp>
          <p:nvSpPr>
            <p:cNvPr id="32" name="椭圆 31"/>
            <p:cNvSpPr/>
            <p:nvPr/>
          </p:nvSpPr>
          <p:spPr>
            <a:xfrm>
              <a:off x="2563917" y="3289780"/>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3327014" y="1038199"/>
            <a:ext cx="2506217" cy="1904412"/>
            <a:chOff x="3306020" y="1159725"/>
            <a:chExt cx="2097610" cy="1596956"/>
          </a:xfrm>
        </p:grpSpPr>
        <p:sp>
          <p:nvSpPr>
            <p:cNvPr id="34" name="任意多边形 33"/>
            <p:cNvSpPr/>
            <p:nvPr/>
          </p:nvSpPr>
          <p:spPr>
            <a:xfrm>
              <a:off x="3306020" y="1159725"/>
              <a:ext cx="1982844" cy="1140092"/>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r>
                <a:rPr lang="zh-CN" altLang="en-US" sz="2000" b="1" dirty="0"/>
                <a:t>并发进程中的某个进程不在临界区时，它不阻止其他进程进入临界区。</a:t>
              </a:r>
            </a:p>
          </p:txBody>
        </p:sp>
        <p:sp>
          <p:nvSpPr>
            <p:cNvPr id="35" name="任意多边形 34"/>
            <p:cNvSpPr/>
            <p:nvPr/>
          </p:nvSpPr>
          <p:spPr>
            <a:xfrm>
              <a:off x="3306020" y="2312500"/>
              <a:ext cx="1982844" cy="37472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endParaRPr lang="zh-CN" altLang="en-US" sz="2400" b="1" dirty="0"/>
            </a:p>
          </p:txBody>
        </p:sp>
        <p:sp>
          <p:nvSpPr>
            <p:cNvPr id="36" name="椭圆 35"/>
            <p:cNvSpPr/>
            <p:nvPr/>
          </p:nvSpPr>
          <p:spPr>
            <a:xfrm>
              <a:off x="4709635" y="206268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7" name="组合 36"/>
          <p:cNvGrpSpPr/>
          <p:nvPr/>
        </p:nvGrpSpPr>
        <p:grpSpPr>
          <a:xfrm>
            <a:off x="3269984" y="3151602"/>
            <a:ext cx="2563247" cy="1944453"/>
            <a:chOff x="5624410" y="1141672"/>
            <a:chExt cx="2159308" cy="1652295"/>
          </a:xfrm>
        </p:grpSpPr>
        <p:sp>
          <p:nvSpPr>
            <p:cNvPr id="38" name="任意多边形 37"/>
            <p:cNvSpPr/>
            <p:nvPr/>
          </p:nvSpPr>
          <p:spPr>
            <a:xfrm>
              <a:off x="5624410" y="1141672"/>
              <a:ext cx="1982844" cy="1069937"/>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nSpc>
                  <a:spcPct val="90000"/>
                </a:lnSpc>
                <a:spcBef>
                  <a:spcPct val="0"/>
                </a:spcBef>
                <a:spcAft>
                  <a:spcPct val="15000"/>
                </a:spcAft>
              </a:pPr>
              <a:r>
                <a:rPr lang="zh-CN" altLang="en-US" sz="2000" b="1" dirty="0"/>
                <a:t>并发进程中的若干个进程申请进入临界区时，只能允许一个进程进入</a:t>
              </a:r>
            </a:p>
          </p:txBody>
        </p:sp>
        <p:sp>
          <p:nvSpPr>
            <p:cNvPr id="39" name="任意多边形 38"/>
            <p:cNvSpPr/>
            <p:nvPr/>
          </p:nvSpPr>
          <p:spPr>
            <a:xfrm>
              <a:off x="5630865" y="2221379"/>
              <a:ext cx="1982844" cy="481474"/>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endParaRPr lang="zh-CN" altLang="en-US" sz="2400" b="1" dirty="0"/>
            </a:p>
          </p:txBody>
        </p:sp>
        <p:sp>
          <p:nvSpPr>
            <p:cNvPr id="40" name="椭圆 39"/>
            <p:cNvSpPr/>
            <p:nvPr/>
          </p:nvSpPr>
          <p:spPr>
            <a:xfrm>
              <a:off x="7089723" y="2099972"/>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41" name="组合 40"/>
          <p:cNvGrpSpPr/>
          <p:nvPr/>
        </p:nvGrpSpPr>
        <p:grpSpPr>
          <a:xfrm>
            <a:off x="6568911" y="2750021"/>
            <a:ext cx="2558811" cy="2200617"/>
            <a:chOff x="3296332" y="1159724"/>
            <a:chExt cx="2141629" cy="1845341"/>
          </a:xfrm>
        </p:grpSpPr>
        <p:sp>
          <p:nvSpPr>
            <p:cNvPr id="42" name="任意多边形 41"/>
            <p:cNvSpPr/>
            <p:nvPr/>
          </p:nvSpPr>
          <p:spPr>
            <a:xfrm>
              <a:off x="3306020" y="1159724"/>
              <a:ext cx="1982844" cy="1409593"/>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r>
                <a:rPr lang="zh-CN" altLang="en-US" sz="2000" b="1" dirty="0"/>
                <a:t>并发进程中的某个进程申请进入临界区时开始，应在有限时间内得以进入临界区</a:t>
              </a:r>
            </a:p>
          </p:txBody>
        </p:sp>
        <p:sp>
          <p:nvSpPr>
            <p:cNvPr id="43" name="任意多边形 42"/>
            <p:cNvSpPr/>
            <p:nvPr/>
          </p:nvSpPr>
          <p:spPr>
            <a:xfrm>
              <a:off x="3296332" y="2569318"/>
              <a:ext cx="1982844" cy="37472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p:spPr>
          <p:style>
            <a:lnRef idx="0">
              <a:schemeClr val="accent6"/>
            </a:lnRef>
            <a:fillRef idx="3">
              <a:schemeClr val="accent6"/>
            </a:fillRef>
            <a:effectRef idx="3">
              <a:schemeClr val="accent6"/>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endParaRPr lang="zh-CN" altLang="en-US" sz="2400" b="1" dirty="0"/>
            </a:p>
          </p:txBody>
        </p:sp>
        <p:sp>
          <p:nvSpPr>
            <p:cNvPr id="44" name="椭圆 43"/>
            <p:cNvSpPr/>
            <p:nvPr/>
          </p:nvSpPr>
          <p:spPr>
            <a:xfrm>
              <a:off x="4743966" y="2311070"/>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4</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
        <p:nvSpPr>
          <p:cNvPr id="4" name="矩形 3"/>
          <p:cNvSpPr/>
          <p:nvPr/>
        </p:nvSpPr>
        <p:spPr>
          <a:xfrm>
            <a:off x="282139" y="746592"/>
            <a:ext cx="5850075" cy="4349463"/>
          </a:xfrm>
          <a:prstGeom prst="rect">
            <a:avLst/>
          </a:prstGeom>
          <a:noFill/>
          <a:ln w="381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横卷形 45"/>
          <p:cNvSpPr/>
          <p:nvPr/>
        </p:nvSpPr>
        <p:spPr>
          <a:xfrm>
            <a:off x="6233688" y="74896"/>
            <a:ext cx="2802808" cy="2568861"/>
          </a:xfrm>
          <a:prstGeom prst="horizontalScroll">
            <a:avLst/>
          </a:prstGeom>
          <a:ln w="28575"/>
        </p:spPr>
        <p:style>
          <a:lnRef idx="1">
            <a:schemeClr val="accent2"/>
          </a:lnRef>
          <a:fillRef idx="2">
            <a:schemeClr val="accent2"/>
          </a:fillRef>
          <a:effectRef idx="1">
            <a:schemeClr val="accent2"/>
          </a:effectRef>
          <a:fontRef idx="minor">
            <a:schemeClr val="dk1"/>
          </a:fontRef>
        </p:style>
        <p:txBody>
          <a:bodyPr rtlCol="0" anchor="ctr"/>
          <a:lstStyle/>
          <a:p>
            <a:r>
              <a:rPr lang="zh-CN" altLang="en-US" sz="2000" b="1" dirty="0">
                <a:solidFill>
                  <a:schemeClr val="dk1">
                    <a:hueOff val="0"/>
                    <a:satOff val="0"/>
                    <a:lumOff val="0"/>
                    <a:alphaOff val="0"/>
                  </a:schemeClr>
                </a:solidFill>
              </a:rPr>
              <a:t>保证各并发进程享有平等的、独立的竞争和使用公有资源的权利，且保证每一时刻至多只有一个进程在临界区。</a:t>
            </a:r>
          </a:p>
        </p:txBody>
      </p:sp>
      <p:sp>
        <p:nvSpPr>
          <p:cNvPr id="47" name="横卷形 46"/>
          <p:cNvSpPr/>
          <p:nvPr/>
        </p:nvSpPr>
        <p:spPr>
          <a:xfrm>
            <a:off x="6012160" y="0"/>
            <a:ext cx="3056682" cy="2796157"/>
          </a:xfrm>
          <a:prstGeom prst="horizontalScroll">
            <a:avLst/>
          </a:prstGeom>
          <a:ln w="28575"/>
        </p:spPr>
        <p:style>
          <a:lnRef idx="1">
            <a:schemeClr val="accent2"/>
          </a:lnRef>
          <a:fillRef idx="2">
            <a:schemeClr val="accent2"/>
          </a:fillRef>
          <a:effectRef idx="1">
            <a:schemeClr val="accent2"/>
          </a:effectRef>
          <a:fontRef idx="minor">
            <a:schemeClr val="dk1"/>
          </a:fontRef>
        </p:style>
        <p:txBody>
          <a:bodyPr rtlCol="0" anchor="ctr"/>
          <a:lstStyle/>
          <a:p>
            <a:r>
              <a:rPr lang="zh-CN" altLang="en-US" sz="2000" b="1" dirty="0">
                <a:solidFill>
                  <a:schemeClr val="dk1">
                    <a:hueOff val="0"/>
                    <a:satOff val="0"/>
                    <a:lumOff val="0"/>
                    <a:alphaOff val="0"/>
                  </a:schemeClr>
                </a:solidFill>
              </a:rPr>
              <a:t>并发进程不发生</a:t>
            </a:r>
            <a:r>
              <a:rPr lang="zh-CN" altLang="en-US" sz="2000" b="1" dirty="0" smtClean="0">
                <a:solidFill>
                  <a:schemeClr val="dk1">
                    <a:hueOff val="0"/>
                    <a:satOff val="0"/>
                    <a:lumOff val="0"/>
                    <a:alphaOff val="0"/>
                  </a:schemeClr>
                </a:solidFill>
              </a:rPr>
              <a:t>死锁的</a:t>
            </a:r>
            <a:r>
              <a:rPr lang="zh-CN" altLang="en-US" sz="2000" b="1" dirty="0">
                <a:solidFill>
                  <a:schemeClr val="dk1">
                    <a:hueOff val="0"/>
                    <a:satOff val="0"/>
                    <a:lumOff val="0"/>
                    <a:alphaOff val="0"/>
                  </a:schemeClr>
                </a:solidFill>
              </a:rPr>
              <a:t>重要保证。否则，由于某个并发进程长期占有临界区，其他进程则因为不能进入临界区而进入互相等待状态。</a:t>
            </a:r>
          </a:p>
        </p:txBody>
      </p:sp>
      <p:sp>
        <p:nvSpPr>
          <p:cNvPr id="48" name="矩形 47"/>
          <p:cNvSpPr/>
          <p:nvPr/>
        </p:nvSpPr>
        <p:spPr>
          <a:xfrm>
            <a:off x="6337303" y="2643757"/>
            <a:ext cx="2721901" cy="2306881"/>
          </a:xfrm>
          <a:prstGeom prst="rect">
            <a:avLst/>
          </a:prstGeom>
          <a:noFill/>
          <a:ln w="381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down)">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down)">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500"/>
                                        <p:tgtEl>
                                          <p:spTgt spid="4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46"/>
                                        </p:tgtEl>
                                      </p:cBhvr>
                                    </p:animEffect>
                                    <p:set>
                                      <p:cBhvr>
                                        <p:cTn id="40" dur="1" fill="hold">
                                          <p:stCondLst>
                                            <p:cond delay="499"/>
                                          </p:stCondLst>
                                        </p:cTn>
                                        <p:tgtEl>
                                          <p:spTgt spid="4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grpId="1" nodeType="clickEffect">
                                  <p:stCondLst>
                                    <p:cond delay="0"/>
                                  </p:stCondLst>
                                  <p:childTnLst>
                                    <p:animEffect transition="out" filter="fade">
                                      <p:cBhvr>
                                        <p:cTn id="52" dur="500"/>
                                        <p:tgtEl>
                                          <p:spTgt spid="47"/>
                                        </p:tgtEl>
                                      </p:cBhvr>
                                    </p:animEffect>
                                    <p:set>
                                      <p:cBhvr>
                                        <p:cTn id="53"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6" grpId="0" animBg="1"/>
      <p:bldP spid="46" grpId="1" animBg="1"/>
      <p:bldP spid="47" grpId="0" animBg="1"/>
      <p:bldP spid="47" grpId="1" animBg="1"/>
      <p:bldP spid="4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进程互斥的加锁实现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107671"/>
            <a:ext cx="6912768"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怎样实现并发进程的</a:t>
            </a:r>
            <a:r>
              <a:rPr lang="zh-CN" altLang="en-US" sz="2400" b="1" dirty="0" smtClean="0">
                <a:solidFill>
                  <a:schemeClr val="bg1"/>
                </a:solidFill>
                <a:latin typeface="+mn-ea"/>
              </a:rPr>
              <a:t>互斥？</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可不可以把</a:t>
            </a:r>
            <a:r>
              <a:rPr lang="zh-CN" altLang="en-US" sz="2400" b="1" dirty="0">
                <a:solidFill>
                  <a:schemeClr val="bg1"/>
                </a:solidFill>
                <a:latin typeface="+mn-ea"/>
              </a:rPr>
              <a:t>临界区中的各个过程按不同的时间排列</a:t>
            </a:r>
            <a:r>
              <a:rPr lang="zh-CN" altLang="en-US" sz="2400" b="1" dirty="0" smtClean="0">
                <a:solidFill>
                  <a:schemeClr val="bg1"/>
                </a:solidFill>
                <a:latin typeface="+mn-ea"/>
              </a:rPr>
              <a:t>调用？</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pPr>
            <a:r>
              <a:rPr lang="zh-CN" altLang="en-US" sz="2400" b="1" dirty="0" smtClean="0">
                <a:solidFill>
                  <a:schemeClr val="bg1"/>
                </a:solidFill>
                <a:latin typeface="+mn-ea"/>
              </a:rPr>
              <a:t>  不可以。</a:t>
            </a:r>
            <a:r>
              <a:rPr lang="zh-CN" altLang="en-US" sz="2400" b="1" dirty="0">
                <a:solidFill>
                  <a:schemeClr val="bg1"/>
                </a:solidFill>
                <a:latin typeface="+mn-ea"/>
              </a:rPr>
              <a:t>因为这要求该组并发进程中的每个进程事先知道其他并发进程与系统的动作，由用户程序执行开始的随机性可知，这是不可能的</a:t>
            </a:r>
          </a:p>
        </p:txBody>
      </p:sp>
      <p:pic>
        <p:nvPicPr>
          <p:cNvPr id="29" name="图片 28"/>
          <p:cNvPicPr>
            <a:picLocks noChangeAspect="1"/>
          </p:cNvPicPr>
          <p:nvPr/>
        </p:nvPicPr>
        <p:blipFill rotWithShape="1">
          <a:blip r:embed="rId2" cstate="print">
            <a:extLst>
              <a:ext uri="{28A0092B-C50C-407E-A947-70E740481C1C}">
                <a14:useLocalDpi xmlns:a14="http://schemas.microsoft.com/office/drawing/2010/main" val="0"/>
              </a:ext>
            </a:extLst>
          </a:blip>
          <a:srcRect l="13888" t="8294" r="10905" b="7752"/>
          <a:stretch>
            <a:fillRect/>
          </a:stretch>
        </p:blipFill>
        <p:spPr>
          <a:xfrm rot="183595">
            <a:off x="5797924" y="339273"/>
            <a:ext cx="1190850" cy="13978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进程互斥的加锁实现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17861"/>
            <a:ext cx="6912768" cy="55976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一种可能的办法是对临界区</a:t>
            </a:r>
            <a:r>
              <a:rPr lang="zh-CN" altLang="en-US" sz="2400" b="1" dirty="0">
                <a:solidFill>
                  <a:srgbClr val="FFFF00"/>
                </a:solidFill>
                <a:latin typeface="+mn-ea"/>
              </a:rPr>
              <a:t>加锁</a:t>
            </a:r>
            <a:r>
              <a:rPr lang="zh-CN" altLang="en-US" sz="2400" b="1" dirty="0">
                <a:solidFill>
                  <a:schemeClr val="bg1"/>
                </a:solidFill>
                <a:latin typeface="+mn-ea"/>
              </a:rPr>
              <a:t>以实现互斥</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pic>
        <p:nvPicPr>
          <p:cNvPr id="29" name="Picture 7" descr="j02453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67412" y="2544167"/>
            <a:ext cx="1125537" cy="95408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5" descr="j023828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9672" y="1995686"/>
            <a:ext cx="1158875" cy="1096963"/>
          </a:xfrm>
          <a:prstGeom prst="rect">
            <a:avLst/>
          </a:prstGeom>
          <a:noFill/>
          <a:extLst>
            <a:ext uri="{909E8E84-426E-40DD-AFC4-6F175D3DCCD1}">
              <a14:hiddenFill xmlns:a14="http://schemas.microsoft.com/office/drawing/2010/main">
                <a:solidFill>
                  <a:srgbClr val="FFFFFF"/>
                </a:solidFill>
              </a14:hiddenFill>
            </a:ext>
          </a:extLst>
        </p:spPr>
      </p:pic>
      <p:sp>
        <p:nvSpPr>
          <p:cNvPr id="3" name="燕尾形箭头 2"/>
          <p:cNvSpPr/>
          <p:nvPr/>
        </p:nvSpPr>
        <p:spPr>
          <a:xfrm rot="830747">
            <a:off x="2930697" y="2534428"/>
            <a:ext cx="913090" cy="387623"/>
          </a:xfrm>
          <a:prstGeom prst="notch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85413" y="1898103"/>
            <a:ext cx="461078" cy="532701"/>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35259" y="3723878"/>
            <a:ext cx="761387" cy="761387"/>
          </a:xfrm>
          <a:prstGeom prst="rect">
            <a:avLst/>
          </a:prstGeom>
        </p:spPr>
      </p:pic>
      <p:pic>
        <p:nvPicPr>
          <p:cNvPr id="31" name="Picture 6" descr="j029230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02645" y="3590454"/>
            <a:ext cx="1508193" cy="89003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燕尾形箭头 31"/>
          <p:cNvSpPr/>
          <p:nvPr/>
        </p:nvSpPr>
        <p:spPr>
          <a:xfrm rot="19584694">
            <a:off x="3132340" y="3598401"/>
            <a:ext cx="913090" cy="387623"/>
          </a:xfrm>
          <a:prstGeom prst="notch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26" presetClass="emph" presetSubtype="0" fill="hold" nodeType="clickEffect">
                                  <p:stCondLst>
                                    <p:cond delay="0"/>
                                  </p:stCondLst>
                                  <p:childTnLst>
                                    <p:animEffect transition="out" filter="fade">
                                      <p:cBhvr>
                                        <p:cTn id="41" dur="500" tmFilter="0, 0; .2, .5; .8, .5; 1, 0"/>
                                        <p:tgtEl>
                                          <p:spTgt spid="6"/>
                                        </p:tgtEl>
                                      </p:cBhvr>
                                    </p:animEffect>
                                    <p:animScale>
                                      <p:cBhvr>
                                        <p:cTn id="42" dur="250" autoRev="1" fill="hold"/>
                                        <p:tgtEl>
                                          <p:spTgt spid="6"/>
                                        </p:tgtEl>
                                      </p:cBhvr>
                                      <p:by x="105000" y="105000"/>
                                    </p:animScale>
                                  </p:childTnLst>
                                </p:cTn>
                              </p:par>
                            </p:childTnLst>
                          </p:cTn>
                        </p:par>
                        <p:par>
                          <p:cTn id="43" fill="hold">
                            <p:stCondLst>
                              <p:cond delay="500"/>
                            </p:stCondLst>
                            <p:childTnLst>
                              <p:par>
                                <p:cTn id="44" presetID="26" presetClass="emph" presetSubtype="0" fill="hold" nodeType="afterEffect">
                                  <p:stCondLst>
                                    <p:cond delay="0"/>
                                  </p:stCondLst>
                                  <p:childTnLst>
                                    <p:animEffect transition="out" filter="fade">
                                      <p:cBhvr>
                                        <p:cTn id="45" dur="500" tmFilter="0, 0; .2, .5; .8, .5; 1, 0"/>
                                        <p:tgtEl>
                                          <p:spTgt spid="6"/>
                                        </p:tgtEl>
                                      </p:cBhvr>
                                    </p:animEffect>
                                    <p:animScale>
                                      <p:cBhvr>
                                        <p:cTn id="46" dur="250" autoRev="1" fill="hold"/>
                                        <p:tgtEl>
                                          <p:spTgt spid="6"/>
                                        </p:tgtEl>
                                      </p:cBhvr>
                                      <p:by x="105000" y="105000"/>
                                    </p:animScale>
                                  </p:childTnLst>
                                </p:cTn>
                              </p:par>
                            </p:childTnLst>
                          </p:cTn>
                        </p:par>
                        <p:par>
                          <p:cTn id="47" fill="hold">
                            <p:stCondLst>
                              <p:cond delay="1000"/>
                            </p:stCondLst>
                            <p:childTnLst>
                              <p:par>
                                <p:cTn id="48" presetID="26" presetClass="emph" presetSubtype="0" fill="hold" nodeType="afterEffect">
                                  <p:stCondLst>
                                    <p:cond delay="0"/>
                                  </p:stCondLst>
                                  <p:childTnLst>
                                    <p:animEffect transition="out" filter="fade">
                                      <p:cBhvr>
                                        <p:cTn id="49" dur="500" tmFilter="0, 0; .2, .5; .8, .5; 1, 0"/>
                                        <p:tgtEl>
                                          <p:spTgt spid="6"/>
                                        </p:tgtEl>
                                      </p:cBhvr>
                                    </p:animEffect>
                                    <p:animScale>
                                      <p:cBhvr>
                                        <p:cTn id="50" dur="250" autoRev="1" fill="hold"/>
                                        <p:tgtEl>
                                          <p:spTgt spid="6"/>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1" nodeType="clickEffect">
                                  <p:stCondLst>
                                    <p:cond delay="0"/>
                                  </p:stCondLst>
                                  <p:childTnLst>
                                    <p:animEffect transition="out" filter="fade">
                                      <p:cBhvr>
                                        <p:cTn id="54" dur="500"/>
                                        <p:tgtEl>
                                          <p:spTgt spid="3"/>
                                        </p:tgtEl>
                                      </p:cBhvr>
                                    </p:animEffect>
                                    <p:set>
                                      <p:cBhvr>
                                        <p:cTn id="55" dur="1" fill="hold">
                                          <p:stCondLst>
                                            <p:cond delay="499"/>
                                          </p:stCondLst>
                                        </p:cTn>
                                        <p:tgtEl>
                                          <p:spTgt spid="3"/>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6" presetClass="emph" presetSubtype="0" fill="hold" nodeType="clickEffect">
                                  <p:stCondLst>
                                    <p:cond delay="0"/>
                                  </p:stCondLst>
                                  <p:childTnLst>
                                    <p:animEffect transition="out" filter="fade">
                                      <p:cBhvr>
                                        <p:cTn id="59" dur="500" tmFilter="0, 0; .2, .5; .8, .5; 1, 0"/>
                                        <p:tgtEl>
                                          <p:spTgt spid="5"/>
                                        </p:tgtEl>
                                      </p:cBhvr>
                                    </p:animEffect>
                                    <p:animScale>
                                      <p:cBhvr>
                                        <p:cTn id="60" dur="250" autoRev="1" fill="hold"/>
                                        <p:tgtEl>
                                          <p:spTgt spid="5"/>
                                        </p:tgtEl>
                                      </p:cBhvr>
                                      <p:by x="105000" y="105000"/>
                                    </p:animScale>
                                  </p:childTnLst>
                                </p:cTn>
                              </p:par>
                            </p:childTnLst>
                          </p:cTn>
                        </p:par>
                        <p:par>
                          <p:cTn id="61" fill="hold">
                            <p:stCondLst>
                              <p:cond delay="500"/>
                            </p:stCondLst>
                            <p:childTnLst>
                              <p:par>
                                <p:cTn id="62" presetID="26" presetClass="emph" presetSubtype="0" fill="hold" nodeType="afterEffect">
                                  <p:stCondLst>
                                    <p:cond delay="0"/>
                                  </p:stCondLst>
                                  <p:childTnLst>
                                    <p:animEffect transition="out" filter="fade">
                                      <p:cBhvr>
                                        <p:cTn id="63" dur="500" tmFilter="0, 0; .2, .5; .8, .5; 1, 0"/>
                                        <p:tgtEl>
                                          <p:spTgt spid="5"/>
                                        </p:tgtEl>
                                      </p:cBhvr>
                                    </p:animEffect>
                                    <p:animScale>
                                      <p:cBhvr>
                                        <p:cTn id="64" dur="250" autoRev="1" fill="hold"/>
                                        <p:tgtEl>
                                          <p:spTgt spid="5"/>
                                        </p:tgtEl>
                                      </p:cBhvr>
                                      <p:by x="105000" y="105000"/>
                                    </p:animScale>
                                  </p:childTnLst>
                                </p:cTn>
                              </p:par>
                            </p:childTnLst>
                          </p:cTn>
                        </p:par>
                        <p:par>
                          <p:cTn id="65" fill="hold">
                            <p:stCondLst>
                              <p:cond delay="1000"/>
                            </p:stCondLst>
                            <p:childTnLst>
                              <p:par>
                                <p:cTn id="66" presetID="26" presetClass="emph" presetSubtype="0" fill="hold" nodeType="afterEffect">
                                  <p:stCondLst>
                                    <p:cond delay="0"/>
                                  </p:stCondLst>
                                  <p:childTnLst>
                                    <p:animEffect transition="out" filter="fade">
                                      <p:cBhvr>
                                        <p:cTn id="67" dur="500" tmFilter="0, 0; .2, .5; .8, .5; 1, 0"/>
                                        <p:tgtEl>
                                          <p:spTgt spid="5"/>
                                        </p:tgtEl>
                                      </p:cBhvr>
                                    </p:animEffect>
                                    <p:animScale>
                                      <p:cBhvr>
                                        <p:cTn id="68" dur="250" autoRev="1" fill="hold"/>
                                        <p:tgtEl>
                                          <p:spTgt spid="5"/>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wipe(left)">
                                      <p:cBhvr>
                                        <p:cTn id="73" dur="500"/>
                                        <p:tgtEl>
                                          <p:spTgt spid="32"/>
                                        </p:tgtEl>
                                      </p:cBhvr>
                                    </p:animEffect>
                                  </p:childTnLst>
                                </p:cTn>
                              </p:par>
                            </p:childTnLst>
                          </p:cTn>
                        </p:par>
                      </p:childTnLst>
                    </p:cTn>
                  </p:par>
                  <p:par>
                    <p:cTn id="74" fill="hold">
                      <p:stCondLst>
                        <p:cond delay="indefinite"/>
                      </p:stCondLst>
                      <p:childTnLst>
                        <p:par>
                          <p:cTn id="75" fill="hold">
                            <p:stCondLst>
                              <p:cond delay="0"/>
                            </p:stCondLst>
                            <p:childTnLst>
                              <p:par>
                                <p:cTn id="76" presetID="26" presetClass="emph" presetSubtype="0" fill="hold" nodeType="clickEffect">
                                  <p:stCondLst>
                                    <p:cond delay="0"/>
                                  </p:stCondLst>
                                  <p:childTnLst>
                                    <p:animEffect transition="out" filter="fade">
                                      <p:cBhvr>
                                        <p:cTn id="77" dur="500" tmFilter="0, 0; .2, .5; .8, .5; 1, 0"/>
                                        <p:tgtEl>
                                          <p:spTgt spid="6"/>
                                        </p:tgtEl>
                                      </p:cBhvr>
                                    </p:animEffect>
                                    <p:animScale>
                                      <p:cBhvr>
                                        <p:cTn id="78" dur="250" autoRev="1" fill="hold"/>
                                        <p:tgtEl>
                                          <p:spTgt spid="6"/>
                                        </p:tgtEl>
                                      </p:cBhvr>
                                      <p:by x="105000" y="105000"/>
                                    </p:animScale>
                                  </p:childTnLst>
                                </p:cTn>
                              </p:par>
                            </p:childTnLst>
                          </p:cTn>
                        </p:par>
                        <p:par>
                          <p:cTn id="79" fill="hold">
                            <p:stCondLst>
                              <p:cond delay="500"/>
                            </p:stCondLst>
                            <p:childTnLst>
                              <p:par>
                                <p:cTn id="80" presetID="26" presetClass="emph" presetSubtype="0" fill="hold" nodeType="afterEffect">
                                  <p:stCondLst>
                                    <p:cond delay="0"/>
                                  </p:stCondLst>
                                  <p:childTnLst>
                                    <p:animEffect transition="out" filter="fade">
                                      <p:cBhvr>
                                        <p:cTn id="81" dur="500" tmFilter="0, 0; .2, .5; .8, .5; 1, 0"/>
                                        <p:tgtEl>
                                          <p:spTgt spid="6"/>
                                        </p:tgtEl>
                                      </p:cBhvr>
                                    </p:animEffect>
                                    <p:animScale>
                                      <p:cBhvr>
                                        <p:cTn id="82" dur="250" autoRev="1" fill="hold"/>
                                        <p:tgtEl>
                                          <p:spTgt spid="6"/>
                                        </p:tgtEl>
                                      </p:cBhvr>
                                      <p:by x="105000" y="105000"/>
                                    </p:animScale>
                                  </p:childTnLst>
                                </p:cTn>
                              </p:par>
                            </p:childTnLst>
                          </p:cTn>
                        </p:par>
                        <p:par>
                          <p:cTn id="83" fill="hold">
                            <p:stCondLst>
                              <p:cond delay="1000"/>
                            </p:stCondLst>
                            <p:childTnLst>
                              <p:par>
                                <p:cTn id="84" presetID="26" presetClass="emph" presetSubtype="0" fill="hold" nodeType="afterEffect">
                                  <p:stCondLst>
                                    <p:cond delay="0"/>
                                  </p:stCondLst>
                                  <p:childTnLst>
                                    <p:animEffect transition="out" filter="fade">
                                      <p:cBhvr>
                                        <p:cTn id="85" dur="500" tmFilter="0, 0; .2, .5; .8, .5; 1, 0"/>
                                        <p:tgtEl>
                                          <p:spTgt spid="6"/>
                                        </p:tgtEl>
                                      </p:cBhvr>
                                    </p:animEffect>
                                    <p:animScale>
                                      <p:cBhvr>
                                        <p:cTn id="86"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进程互斥的加锁实现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107671"/>
            <a:ext cx="6912768" cy="3416320"/>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设临界区的类名为</a:t>
            </a:r>
            <a:r>
              <a:rPr lang="zh-CN" altLang="en-US" sz="2400" b="1" dirty="0" smtClean="0">
                <a:solidFill>
                  <a:schemeClr val="bg1"/>
                </a:solidFill>
                <a:latin typeface="+mn-ea"/>
              </a:rPr>
              <a:t>Ｓ</a:t>
            </a:r>
            <a:endParaRPr lang="en-US" altLang="zh-CN" sz="24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加锁后的临界区程序描述如下：</a:t>
            </a:r>
          </a:p>
          <a:p>
            <a:pPr marL="0" lvl="1" algn="just">
              <a:lnSpc>
                <a:spcPct val="150000"/>
              </a:lnSpc>
              <a:spcBef>
                <a:spcPct val="0"/>
              </a:spcBef>
              <a:buClr>
                <a:schemeClr val="accent6">
                  <a:lumMod val="60000"/>
                  <a:lumOff val="40000"/>
                </a:schemeClr>
              </a:buClr>
            </a:pPr>
            <a:r>
              <a:rPr lang="zh-CN" altLang="en-US" sz="2400" b="1" dirty="0">
                <a:solidFill>
                  <a:schemeClr val="bg1"/>
                </a:solidFill>
                <a:latin typeface="+mn-ea"/>
              </a:rPr>
              <a:t>	</a:t>
            </a:r>
            <a:r>
              <a:rPr lang="en-US" altLang="zh-CN" sz="2400" b="1" dirty="0">
                <a:solidFill>
                  <a:schemeClr val="bg1"/>
                </a:solidFill>
                <a:latin typeface="+mn-ea"/>
              </a:rPr>
              <a:t>lock(key </a:t>
            </a:r>
            <a:r>
              <a:rPr lang="zh-CN" altLang="en-US" sz="2400" b="1" dirty="0">
                <a:solidFill>
                  <a:schemeClr val="bg1"/>
                </a:solidFill>
                <a:latin typeface="+mn-ea"/>
              </a:rPr>
              <a:t>［Ｓ］</a:t>
            </a:r>
            <a:r>
              <a:rPr lang="en-US" altLang="zh-CN" sz="2400" b="1" dirty="0">
                <a:solidFill>
                  <a:schemeClr val="bg1"/>
                </a:solidFill>
                <a:latin typeface="+mn-ea"/>
              </a:rPr>
              <a:t>)</a:t>
            </a: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a:t>
            </a:r>
            <a:r>
              <a:rPr lang="zh-CN" altLang="en-US" sz="2400" b="1" dirty="0">
                <a:solidFill>
                  <a:schemeClr val="bg1"/>
                </a:solidFill>
                <a:latin typeface="+mn-ea"/>
              </a:rPr>
              <a:t>临 界 区</a:t>
            </a:r>
            <a:r>
              <a:rPr lang="en-US" altLang="zh-CN" sz="2400" b="1" dirty="0">
                <a:solidFill>
                  <a:schemeClr val="bg1"/>
                </a:solidFill>
                <a:latin typeface="+mn-ea"/>
              </a:rPr>
              <a:t>〉</a:t>
            </a:r>
          </a:p>
          <a:p>
            <a:pPr marL="0" lvl="1" algn="just">
              <a:lnSpc>
                <a:spcPct val="150000"/>
              </a:lnSpc>
              <a:spcBef>
                <a:spcPct val="0"/>
              </a:spcBef>
              <a:buClr>
                <a:schemeClr val="accent6">
                  <a:lumMod val="60000"/>
                  <a:lumOff val="40000"/>
                </a:schemeClr>
              </a:buClr>
            </a:pPr>
            <a:r>
              <a:rPr lang="en-US" altLang="zh-CN" sz="2400" b="1" dirty="0">
                <a:solidFill>
                  <a:schemeClr val="bg1"/>
                </a:solidFill>
                <a:latin typeface="+mn-ea"/>
              </a:rPr>
              <a:t>	unlock(key </a:t>
            </a:r>
            <a:r>
              <a:rPr lang="zh-CN" altLang="en-US" sz="2400" b="1" dirty="0">
                <a:solidFill>
                  <a:schemeClr val="bg1"/>
                </a:solidFill>
                <a:latin typeface="+mn-ea"/>
              </a:rPr>
              <a:t>［Ｓ］</a:t>
            </a:r>
            <a:r>
              <a:rPr lang="en-US" altLang="zh-CN" sz="2400" b="1" dirty="0">
                <a:solidFill>
                  <a:schemeClr val="bg1"/>
                </a:solidFill>
                <a:latin typeface="+mn-ea"/>
              </a:rPr>
              <a:t>)</a:t>
            </a:r>
          </a:p>
          <a:p>
            <a:pPr marL="0" lvl="1" indent="-34290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
        <p:nvSpPr>
          <p:cNvPr id="3" name="线形标注 2 2"/>
          <p:cNvSpPr/>
          <p:nvPr/>
        </p:nvSpPr>
        <p:spPr>
          <a:xfrm>
            <a:off x="5364088" y="894761"/>
            <a:ext cx="3240360" cy="937641"/>
          </a:xfrm>
          <a:prstGeom prst="borderCallout2">
            <a:avLst>
              <a:gd name="adj1" fmla="val 18750"/>
              <a:gd name="adj2" fmla="val -8333"/>
              <a:gd name="adj3" fmla="val 18750"/>
              <a:gd name="adj4" fmla="val -16667"/>
              <a:gd name="adj5" fmla="val 156940"/>
              <a:gd name="adj6" fmla="val -52025"/>
            </a:avLst>
          </a:prstGeom>
          <a:ln w="38100">
            <a:solidFill>
              <a:schemeClr val="accent2">
                <a:lumMod val="40000"/>
                <a:lumOff val="60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altLang="zh-CN" sz="2000" b="1" dirty="0">
                <a:solidFill>
                  <a:schemeClr val="dk1">
                    <a:hueOff val="0"/>
                    <a:satOff val="0"/>
                    <a:lumOff val="0"/>
                    <a:alphaOff val="0"/>
                  </a:schemeClr>
                </a:solidFill>
              </a:rPr>
              <a:t>key</a:t>
            </a:r>
            <a:r>
              <a:rPr lang="zh-CN" altLang="en-US" sz="2000" b="1" dirty="0">
                <a:solidFill>
                  <a:schemeClr val="dk1">
                    <a:hueOff val="0"/>
                    <a:satOff val="0"/>
                    <a:lumOff val="0"/>
                    <a:alphaOff val="0"/>
                  </a:schemeClr>
                </a:solidFill>
              </a:rPr>
              <a:t>［Ｓ］表示该锁定位属于类名为Ｓ的临界区</a:t>
            </a:r>
          </a:p>
        </p:txBody>
      </p:sp>
      <p:sp>
        <p:nvSpPr>
          <p:cNvPr id="29" name="线形标注 2 28"/>
          <p:cNvSpPr/>
          <p:nvPr/>
        </p:nvSpPr>
        <p:spPr>
          <a:xfrm>
            <a:off x="5364088" y="2211573"/>
            <a:ext cx="3456384" cy="1944353"/>
          </a:xfrm>
          <a:prstGeom prst="borderCallout2">
            <a:avLst>
              <a:gd name="adj1" fmla="val 18750"/>
              <a:gd name="adj2" fmla="val -8333"/>
              <a:gd name="adj3" fmla="val 18750"/>
              <a:gd name="adj4" fmla="val -16667"/>
              <a:gd name="adj5" fmla="val 64551"/>
              <a:gd name="adj6" fmla="val -46756"/>
            </a:avLst>
          </a:prstGeom>
          <a:ln w="28575">
            <a:solidFill>
              <a:schemeClr val="accent4">
                <a:lumMod val="40000"/>
                <a:lumOff val="6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just"/>
            <a:r>
              <a:rPr lang="en-US" altLang="zh-CN" sz="2000" b="1" dirty="0">
                <a:solidFill>
                  <a:schemeClr val="dk1">
                    <a:hueOff val="0"/>
                    <a:satOff val="0"/>
                    <a:lumOff val="0"/>
                    <a:alphaOff val="0"/>
                  </a:schemeClr>
                </a:solidFill>
              </a:rPr>
              <a:t>key </a:t>
            </a:r>
            <a:r>
              <a:rPr lang="zh-CN" altLang="en-US" sz="2000" b="1" dirty="0">
                <a:solidFill>
                  <a:schemeClr val="dk1">
                    <a:hueOff val="0"/>
                    <a:satOff val="0"/>
                    <a:lumOff val="0"/>
                    <a:alphaOff val="0"/>
                  </a:schemeClr>
                </a:solidFill>
              </a:rPr>
              <a:t>［Ｓ］</a:t>
            </a:r>
            <a:r>
              <a:rPr lang="en-US" altLang="zh-CN" sz="2000" b="1" dirty="0">
                <a:solidFill>
                  <a:schemeClr val="dk1">
                    <a:hueOff val="0"/>
                    <a:satOff val="0"/>
                    <a:lumOff val="0"/>
                    <a:alphaOff val="0"/>
                  </a:schemeClr>
                </a:solidFill>
              </a:rPr>
              <a:t>=1</a:t>
            </a:r>
            <a:r>
              <a:rPr lang="zh-CN" altLang="en-US" sz="2000" b="1" dirty="0">
                <a:solidFill>
                  <a:schemeClr val="dk1">
                    <a:hueOff val="0"/>
                    <a:satOff val="0"/>
                    <a:lumOff val="0"/>
                    <a:alphaOff val="0"/>
                  </a:schemeClr>
                </a:solidFill>
              </a:rPr>
              <a:t>时表示类名为Ｓ的临界区可用，</a:t>
            </a:r>
            <a:r>
              <a:rPr lang="en-US" altLang="zh-CN" sz="2000" b="1" dirty="0">
                <a:solidFill>
                  <a:schemeClr val="dk1">
                    <a:hueOff val="0"/>
                    <a:satOff val="0"/>
                    <a:lumOff val="0"/>
                    <a:alphaOff val="0"/>
                  </a:schemeClr>
                </a:solidFill>
              </a:rPr>
              <a:t>key </a:t>
            </a:r>
            <a:r>
              <a:rPr lang="zh-CN" altLang="en-US" sz="2000" b="1" dirty="0">
                <a:solidFill>
                  <a:schemeClr val="dk1">
                    <a:hueOff val="0"/>
                    <a:satOff val="0"/>
                    <a:lumOff val="0"/>
                    <a:alphaOff val="0"/>
                  </a:schemeClr>
                </a:solidFill>
              </a:rPr>
              <a:t>［Ｓ］</a:t>
            </a:r>
            <a:r>
              <a:rPr lang="en-US" altLang="zh-CN" sz="2000" b="1" dirty="0">
                <a:solidFill>
                  <a:schemeClr val="dk1">
                    <a:hueOff val="0"/>
                    <a:satOff val="0"/>
                    <a:lumOff val="0"/>
                    <a:alphaOff val="0"/>
                  </a:schemeClr>
                </a:solidFill>
              </a:rPr>
              <a:t>=0</a:t>
            </a:r>
            <a:r>
              <a:rPr lang="zh-CN" altLang="en-US" sz="2000" b="1" dirty="0">
                <a:solidFill>
                  <a:schemeClr val="dk1">
                    <a:hueOff val="0"/>
                    <a:satOff val="0"/>
                    <a:lumOff val="0"/>
                    <a:alphaOff val="0"/>
                  </a:schemeClr>
                </a:solidFill>
              </a:rPr>
              <a:t>时表示类名为Ｓ的临界区不可用。则，</a:t>
            </a:r>
            <a:r>
              <a:rPr lang="en-US" altLang="zh-CN" sz="2000" b="1" dirty="0">
                <a:solidFill>
                  <a:schemeClr val="dk1">
                    <a:hueOff val="0"/>
                    <a:satOff val="0"/>
                    <a:lumOff val="0"/>
                    <a:alphaOff val="0"/>
                  </a:schemeClr>
                </a:solidFill>
              </a:rPr>
              <a:t>unlock(key </a:t>
            </a:r>
            <a:r>
              <a:rPr lang="zh-CN" altLang="en-US" sz="2000" b="1" dirty="0">
                <a:solidFill>
                  <a:schemeClr val="dk1">
                    <a:hueOff val="0"/>
                    <a:satOff val="0"/>
                    <a:lumOff val="0"/>
                    <a:alphaOff val="0"/>
                  </a:schemeClr>
                </a:solidFill>
              </a:rPr>
              <a:t>［Ｓ］</a:t>
            </a:r>
            <a:r>
              <a:rPr lang="en-US" altLang="zh-CN" sz="2000" b="1" dirty="0">
                <a:solidFill>
                  <a:schemeClr val="dk1">
                    <a:hueOff val="0"/>
                    <a:satOff val="0"/>
                    <a:lumOff val="0"/>
                    <a:alphaOff val="0"/>
                  </a:schemeClr>
                </a:solidFill>
              </a:rPr>
              <a:t>)</a:t>
            </a:r>
            <a:r>
              <a:rPr lang="zh-CN" altLang="en-US" sz="2000" b="1" dirty="0">
                <a:solidFill>
                  <a:schemeClr val="dk1">
                    <a:hueOff val="0"/>
                    <a:satOff val="0"/>
                    <a:lumOff val="0"/>
                    <a:alphaOff val="0"/>
                  </a:schemeClr>
                </a:solidFill>
              </a:rPr>
              <a:t>只用一条语句即可实现。即：</a:t>
            </a:r>
          </a:p>
          <a:p>
            <a:pPr>
              <a:spcBef>
                <a:spcPct val="0"/>
              </a:spcBef>
            </a:pPr>
            <a:r>
              <a:rPr lang="zh-CN" altLang="en-US" sz="2000" b="1" dirty="0">
                <a:solidFill>
                  <a:schemeClr val="dk1">
                    <a:hueOff val="0"/>
                    <a:satOff val="0"/>
                    <a:lumOff val="0"/>
                    <a:alphaOff val="0"/>
                  </a:schemeClr>
                </a:solidFill>
              </a:rPr>
              <a:t>	</a:t>
            </a:r>
            <a:r>
              <a:rPr lang="en-US" altLang="zh-CN" sz="2000" b="1" dirty="0">
                <a:solidFill>
                  <a:srgbClr val="FF0000"/>
                </a:solidFill>
              </a:rPr>
              <a:t>key </a:t>
            </a:r>
            <a:r>
              <a:rPr lang="zh-CN" altLang="en-US" sz="2000" b="1" dirty="0">
                <a:solidFill>
                  <a:srgbClr val="FF0000"/>
                </a:solidFill>
              </a:rPr>
              <a:t>［Ｓ］←</a:t>
            </a:r>
            <a:r>
              <a:rPr lang="en-US" altLang="zh-CN" sz="2000" b="1" dirty="0">
                <a:solidFill>
                  <a:srgbClr val="FF0000"/>
                </a:solidFill>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进程互斥的加锁实现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977005"/>
            <a:ext cx="6912768" cy="397031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某一进程检查是否可进入临界区的方法：</a:t>
            </a:r>
            <a:endParaRPr lang="en-US" altLang="zh-CN" sz="2400" b="1" dirty="0" smtClean="0">
              <a:solidFill>
                <a:schemeClr val="bg1"/>
              </a:solidFill>
              <a:latin typeface="+mn-ea"/>
            </a:endParaRPr>
          </a:p>
          <a:p>
            <a:pPr marL="0" lvl="1" algn="just">
              <a:lnSpc>
                <a:spcPct val="125000"/>
              </a:lnSpc>
              <a:spcBef>
                <a:spcPct val="0"/>
              </a:spcBef>
              <a:buClr>
                <a:schemeClr val="accent6">
                  <a:lumMod val="60000"/>
                  <a:lumOff val="40000"/>
                </a:schemeClr>
              </a:buClr>
            </a:pPr>
            <a:r>
              <a:rPr lang="en-US" altLang="zh-CN" sz="2400" b="1" dirty="0" smtClean="0">
                <a:solidFill>
                  <a:schemeClr val="bg1"/>
                </a:solidFill>
                <a:latin typeface="+mn-ea"/>
              </a:rPr>
              <a:t>  lock (x)=</a:t>
            </a:r>
            <a:r>
              <a:rPr lang="en-US" altLang="zh-CN" sz="2400" b="1" dirty="0">
                <a:solidFill>
                  <a:schemeClr val="bg1"/>
                </a:solidFill>
                <a:latin typeface="+mn-ea"/>
              </a:rPr>
              <a:t>begin local v</a:t>
            </a:r>
          </a:p>
          <a:p>
            <a:pPr marL="0" lvl="1" algn="just">
              <a:lnSpc>
                <a:spcPct val="125000"/>
              </a:lnSpc>
              <a:spcBef>
                <a:spcPct val="0"/>
              </a:spcBef>
              <a:buClr>
                <a:schemeClr val="accent6">
                  <a:lumMod val="60000"/>
                  <a:lumOff val="40000"/>
                </a:schemeClr>
              </a:buClr>
            </a:pPr>
            <a:r>
              <a:rPr lang="en-US" altLang="zh-CN" sz="2400" b="1" dirty="0">
                <a:solidFill>
                  <a:schemeClr val="bg1"/>
                </a:solidFill>
                <a:latin typeface="+mn-ea"/>
              </a:rPr>
              <a:t>		repeat</a:t>
            </a:r>
          </a:p>
          <a:p>
            <a:pPr marL="0" lvl="1" algn="just">
              <a:lnSpc>
                <a:spcPct val="125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dirty="0" err="1">
                <a:solidFill>
                  <a:schemeClr val="bg1"/>
                </a:solidFill>
                <a:latin typeface="+mn-ea"/>
              </a:rPr>
              <a:t>v</a:t>
            </a:r>
            <a:r>
              <a:rPr lang="en-US" altLang="zh-CN" sz="2400" b="1" dirty="0" err="1" smtClean="0">
                <a:solidFill>
                  <a:schemeClr val="bg1"/>
                </a:solidFill>
                <a:latin typeface="+mn-ea"/>
              </a:rPr>
              <a:t>←x</a:t>
            </a:r>
            <a:endParaRPr lang="en-US" altLang="zh-CN" sz="2400" b="1" dirty="0">
              <a:solidFill>
                <a:schemeClr val="bg1"/>
              </a:solidFill>
              <a:latin typeface="+mn-ea"/>
            </a:endParaRPr>
          </a:p>
          <a:p>
            <a:pPr marL="0" lvl="1" algn="just">
              <a:lnSpc>
                <a:spcPct val="125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a:solidFill>
                  <a:schemeClr val="bg1"/>
                </a:solidFill>
                <a:latin typeface="+mn-ea"/>
              </a:rPr>
              <a:t>	</a:t>
            </a:r>
            <a:r>
              <a:rPr lang="en-US" altLang="zh-CN" sz="2400" b="1" smtClean="0">
                <a:solidFill>
                  <a:schemeClr val="bg1"/>
                </a:solidFill>
                <a:latin typeface="+mn-ea"/>
              </a:rPr>
              <a:t>until v=1</a:t>
            </a:r>
            <a:endParaRPr lang="en-US" altLang="zh-CN" sz="2400" b="1" dirty="0">
              <a:solidFill>
                <a:schemeClr val="bg1"/>
              </a:solidFill>
              <a:latin typeface="+mn-ea"/>
            </a:endParaRPr>
          </a:p>
          <a:p>
            <a:pPr marL="0" lvl="1" algn="just">
              <a:lnSpc>
                <a:spcPct val="125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x←0</a:t>
            </a:r>
          </a:p>
          <a:p>
            <a:pPr marL="0" lvl="1" algn="just">
              <a:lnSpc>
                <a:spcPct val="125000"/>
              </a:lnSpc>
              <a:spcBef>
                <a:spcPct val="0"/>
              </a:spcBef>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end</a:t>
            </a:r>
            <a:endParaRPr lang="en-US" altLang="zh-CN" sz="24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
        <p:nvSpPr>
          <p:cNvPr id="3" name="矩形 2"/>
          <p:cNvSpPr/>
          <p:nvPr/>
        </p:nvSpPr>
        <p:spPr>
          <a:xfrm>
            <a:off x="4932040" y="1062443"/>
            <a:ext cx="4104456" cy="208537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zh-CN" altLang="en-US" sz="2000" b="1" dirty="0">
                <a:solidFill>
                  <a:schemeClr val="dk1">
                    <a:hueOff val="0"/>
                    <a:satOff val="0"/>
                    <a:lumOff val="0"/>
                    <a:alphaOff val="0"/>
                  </a:schemeClr>
                </a:solidFill>
              </a:rPr>
              <a:t>这种实现方法是不能保证并发进程互斥执行所要求的准则</a:t>
            </a:r>
            <a:r>
              <a:rPr lang="en-US" altLang="zh-CN" sz="2000" b="1" dirty="0">
                <a:solidFill>
                  <a:schemeClr val="dk1">
                    <a:hueOff val="0"/>
                    <a:satOff val="0"/>
                    <a:lumOff val="0"/>
                    <a:alphaOff val="0"/>
                  </a:schemeClr>
                </a:solidFill>
              </a:rPr>
              <a:t>(3)</a:t>
            </a:r>
            <a:r>
              <a:rPr lang="zh-CN" altLang="en-US" sz="2000" b="1" dirty="0">
                <a:solidFill>
                  <a:schemeClr val="dk1">
                    <a:hueOff val="0"/>
                    <a:satOff val="0"/>
                    <a:lumOff val="0"/>
                    <a:alphaOff val="0"/>
                  </a:schemeClr>
                </a:solidFill>
              </a:rPr>
              <a:t>的。因为当同时有几个进程调用</a:t>
            </a:r>
            <a:r>
              <a:rPr lang="en-US" altLang="zh-CN" sz="2000" b="1" dirty="0">
                <a:solidFill>
                  <a:schemeClr val="dk1">
                    <a:hueOff val="0"/>
                    <a:satOff val="0"/>
                    <a:lumOff val="0"/>
                    <a:alphaOff val="0"/>
                  </a:schemeClr>
                </a:solidFill>
              </a:rPr>
              <a:t>lock(key </a:t>
            </a:r>
            <a:r>
              <a:rPr lang="zh-CN" altLang="en-US" sz="2000" b="1" dirty="0">
                <a:solidFill>
                  <a:schemeClr val="dk1">
                    <a:hueOff val="0"/>
                    <a:satOff val="0"/>
                    <a:lumOff val="0"/>
                    <a:alphaOff val="0"/>
                  </a:schemeClr>
                </a:solidFill>
              </a:rPr>
              <a:t>［Ｓ］</a:t>
            </a:r>
            <a:r>
              <a:rPr lang="en-US" altLang="zh-CN" sz="2000" b="1" dirty="0">
                <a:solidFill>
                  <a:schemeClr val="dk1">
                    <a:hueOff val="0"/>
                    <a:satOff val="0"/>
                    <a:lumOff val="0"/>
                    <a:alphaOff val="0"/>
                  </a:schemeClr>
                </a:solidFill>
              </a:rPr>
              <a:t>)</a:t>
            </a:r>
            <a:r>
              <a:rPr lang="zh-CN" altLang="en-US" sz="2000" b="1" dirty="0">
                <a:solidFill>
                  <a:schemeClr val="dk1">
                    <a:hueOff val="0"/>
                    <a:satOff val="0"/>
                    <a:lumOff val="0"/>
                    <a:alphaOff val="0"/>
                  </a:schemeClr>
                </a:solidFill>
              </a:rPr>
              <a:t>时，</a:t>
            </a:r>
            <a:r>
              <a:rPr lang="zh-CN" altLang="en-US" sz="2000" b="1" dirty="0" smtClean="0">
                <a:solidFill>
                  <a:schemeClr val="dk1">
                    <a:hueOff val="0"/>
                    <a:satOff val="0"/>
                    <a:lumOff val="0"/>
                    <a:alphaOff val="0"/>
                  </a:schemeClr>
                </a:solidFill>
              </a:rPr>
              <a:t>在</a:t>
            </a:r>
            <a:r>
              <a:rPr lang="en-US" altLang="zh-CN" sz="2000" b="1" dirty="0" smtClean="0">
                <a:solidFill>
                  <a:schemeClr val="dk1">
                    <a:hueOff val="0"/>
                    <a:satOff val="0"/>
                    <a:lumOff val="0"/>
                    <a:alphaOff val="0"/>
                  </a:schemeClr>
                </a:solidFill>
              </a:rPr>
              <a:t>x←</a:t>
            </a:r>
            <a:r>
              <a:rPr lang="en-US" altLang="zh-CN" sz="2000" b="1" dirty="0">
                <a:solidFill>
                  <a:schemeClr val="dk1">
                    <a:hueOff val="0"/>
                    <a:satOff val="0"/>
                    <a:lumOff val="0"/>
                    <a:alphaOff val="0"/>
                  </a:schemeClr>
                </a:solidFill>
              </a:rPr>
              <a:t>0</a:t>
            </a:r>
            <a:r>
              <a:rPr lang="zh-CN" altLang="en-US" sz="2000" b="1" dirty="0">
                <a:solidFill>
                  <a:schemeClr val="dk1">
                    <a:hueOff val="0"/>
                    <a:satOff val="0"/>
                    <a:lumOff val="0"/>
                    <a:alphaOff val="0"/>
                  </a:schemeClr>
                </a:solidFill>
              </a:rPr>
              <a:t>语句执行之前，可能已有两个以上的多个进程由于</a:t>
            </a:r>
            <a:r>
              <a:rPr lang="en-US" altLang="zh-CN" sz="2000" b="1" dirty="0">
                <a:solidFill>
                  <a:schemeClr val="dk1">
                    <a:hueOff val="0"/>
                    <a:satOff val="0"/>
                    <a:lumOff val="0"/>
                    <a:alphaOff val="0"/>
                  </a:schemeClr>
                </a:solidFill>
              </a:rPr>
              <a:t>key </a:t>
            </a:r>
            <a:r>
              <a:rPr lang="zh-CN" altLang="en-US" sz="2000" b="1" dirty="0">
                <a:solidFill>
                  <a:schemeClr val="dk1">
                    <a:hueOff val="0"/>
                    <a:satOff val="0"/>
                    <a:lumOff val="0"/>
                    <a:alphaOff val="0"/>
                  </a:schemeClr>
                </a:solidFill>
              </a:rPr>
              <a:t>［Ｓ］</a:t>
            </a:r>
            <a:r>
              <a:rPr lang="en-US" altLang="zh-CN" sz="2000" b="1" dirty="0">
                <a:solidFill>
                  <a:schemeClr val="dk1">
                    <a:hueOff val="0"/>
                    <a:satOff val="0"/>
                    <a:lumOff val="0"/>
                    <a:alphaOff val="0"/>
                  </a:schemeClr>
                </a:solidFill>
              </a:rPr>
              <a:t>=1</a:t>
            </a:r>
            <a:r>
              <a:rPr lang="zh-CN" altLang="en-US" sz="2000" b="1" dirty="0">
                <a:solidFill>
                  <a:schemeClr val="dk1">
                    <a:hueOff val="0"/>
                    <a:satOff val="0"/>
                    <a:lumOff val="0"/>
                    <a:alphaOff val="0"/>
                  </a:schemeClr>
                </a:solidFill>
              </a:rPr>
              <a:t>而进入临界区。</a:t>
            </a:r>
          </a:p>
        </p:txBody>
      </p:sp>
      <p:sp>
        <p:nvSpPr>
          <p:cNvPr id="29" name="矩形 28"/>
          <p:cNvSpPr/>
          <p:nvPr/>
        </p:nvSpPr>
        <p:spPr>
          <a:xfrm>
            <a:off x="4932040" y="3403944"/>
            <a:ext cx="4104456" cy="11521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zh-CN" altLang="en-US" sz="2000" b="1" dirty="0">
                <a:solidFill>
                  <a:schemeClr val="dk1">
                    <a:hueOff val="0"/>
                    <a:satOff val="0"/>
                    <a:lumOff val="0"/>
                    <a:alphaOff val="0"/>
                  </a:schemeClr>
                </a:solidFill>
              </a:rPr>
              <a:t>为解决这个问题有些机器在硬件中设置了“测试与设置指令，保证第一步和第二步执行不可分离。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信号量和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159834"/>
            <a:ext cx="6912768" cy="3970318"/>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尽管用加锁的方法可以实现进程之间的互斥，但这种方法仍然存在一些影响系统可靠性和执行效率的问题。例如，</a:t>
            </a:r>
            <a:r>
              <a:rPr lang="zh-CN" altLang="en-US" sz="2400" b="1" dirty="0">
                <a:solidFill>
                  <a:srgbClr val="FFFF00"/>
                </a:solidFill>
                <a:latin typeface="+mn-ea"/>
              </a:rPr>
              <a:t>循环测试锁定位将损耗较多的 </a:t>
            </a:r>
            <a:r>
              <a:rPr lang="en-US" altLang="zh-CN" sz="2400" b="1" dirty="0">
                <a:solidFill>
                  <a:srgbClr val="FFFF00"/>
                </a:solidFill>
                <a:latin typeface="+mn-ea"/>
              </a:rPr>
              <a:t>CPU</a:t>
            </a:r>
            <a:r>
              <a:rPr lang="zh-CN" altLang="en-US" sz="2400" b="1" dirty="0">
                <a:solidFill>
                  <a:srgbClr val="FFFF00"/>
                </a:solidFill>
                <a:latin typeface="+mn-ea"/>
              </a:rPr>
              <a:t>计算时间</a:t>
            </a:r>
            <a:r>
              <a:rPr lang="zh-CN" altLang="en-US" sz="2400" b="1" dirty="0">
                <a:solidFill>
                  <a:schemeClr val="bg1"/>
                </a:solidFill>
                <a:latin typeface="+mn-ea"/>
              </a:rPr>
              <a:t>。如果一组并发进程的进程数较多，且由于每个进程在申请进入临界区时都得对锁定位进行测试，这种开销是很大的。</a:t>
            </a:r>
          </a:p>
          <a:p>
            <a:pPr marL="0" lvl="1" indent="-34290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信号量和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939400"/>
            <a:ext cx="5256584"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使用加锁法实现进程间互斥时，还将导致在某些情况下出现不公平现象。</a:t>
            </a:r>
          </a:p>
        </p:txBody>
      </p:sp>
      <p:sp>
        <p:nvSpPr>
          <p:cNvPr id="3" name="矩形 2"/>
          <p:cNvSpPr/>
          <p:nvPr/>
        </p:nvSpPr>
        <p:spPr>
          <a:xfrm>
            <a:off x="1115616" y="2427734"/>
            <a:ext cx="2664296" cy="151216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spcBef>
                <a:spcPct val="0"/>
              </a:spcBef>
            </a:pPr>
            <a:r>
              <a:rPr lang="en-US" altLang="zh-CN" sz="2000" b="1" dirty="0">
                <a:latin typeface="Times New Roman" panose="02020603050405020304" pitchFamily="18" charset="0"/>
                <a:cs typeface="Times New Roman" panose="02020603050405020304" pitchFamily="18" charset="0"/>
              </a:rPr>
              <a:t>P</a:t>
            </a:r>
            <a:r>
              <a:rPr lang="en-US" altLang="zh-CN" sz="2000" b="1" baseline="-25000" dirty="0">
                <a:latin typeface="Times New Roman" panose="02020603050405020304" pitchFamily="18" charset="0"/>
                <a:cs typeface="Times New Roman" panose="02020603050405020304" pitchFamily="18" charset="0"/>
              </a:rPr>
              <a:t>A</a:t>
            </a:r>
          </a:p>
          <a:p>
            <a:pPr>
              <a:spcBef>
                <a:spcPct val="0"/>
              </a:spcBef>
            </a:pPr>
            <a:r>
              <a:rPr lang="en-US" altLang="zh-CN" sz="2000" b="1" dirty="0" smtClean="0">
                <a:latin typeface="Times New Roman" panose="02020603050405020304" pitchFamily="18" charset="0"/>
                <a:cs typeface="Times New Roman" panose="02020603050405020304" pitchFamily="18" charset="0"/>
              </a:rPr>
              <a:t>A</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lock(key</a:t>
            </a:r>
            <a:r>
              <a:rPr lang="zh-CN" altLang="en-US" sz="2000" b="1" dirty="0">
                <a:latin typeface="Times New Roman" panose="02020603050405020304" pitchFamily="18" charset="0"/>
                <a:cs typeface="Times New Roman" panose="02020603050405020304" pitchFamily="18" charset="0"/>
              </a:rPr>
              <a:t>［Ｓ］</a:t>
            </a:r>
            <a:r>
              <a:rPr lang="en-US" altLang="zh-CN" sz="2000" b="1" dirty="0">
                <a:latin typeface="Times New Roman" panose="02020603050405020304" pitchFamily="18" charset="0"/>
                <a:cs typeface="Times New Roman" panose="02020603050405020304" pitchFamily="18" charset="0"/>
              </a:rPr>
              <a:t>)</a:t>
            </a:r>
          </a:p>
          <a:p>
            <a:pPr>
              <a:spcBef>
                <a:spcPct val="0"/>
              </a:spcBef>
            </a:pPr>
            <a:r>
              <a:rPr lang="en-US" altLang="zh-CN" sz="2000" b="1" dirty="0" smtClean="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Ｓ</a:t>
            </a:r>
            <a:r>
              <a:rPr lang="en-US" altLang="zh-CN" sz="2000" b="1" dirty="0" smtClean="0">
                <a:latin typeface="Times New Roman" panose="02020603050405020304" pitchFamily="18" charset="0"/>
                <a:cs typeface="Times New Roman" panose="02020603050405020304" pitchFamily="18" charset="0"/>
              </a:rPr>
              <a:t>〉</a:t>
            </a:r>
          </a:p>
          <a:p>
            <a:pPr>
              <a:spcBef>
                <a:spcPct val="0"/>
              </a:spcBef>
            </a:pPr>
            <a:r>
              <a:rPr lang="en-US" altLang="zh-CN" sz="2000" b="1" dirty="0" smtClean="0">
                <a:latin typeface="Times New Roman" panose="02020603050405020304" pitchFamily="18" charset="0"/>
                <a:cs typeface="Times New Roman" panose="02020603050405020304" pitchFamily="18" charset="0"/>
              </a:rPr>
              <a:t>       unlock(key</a:t>
            </a:r>
            <a:r>
              <a:rPr lang="zh-CN" altLang="en-US" sz="2000" b="1" dirty="0">
                <a:latin typeface="Times New Roman" panose="02020603050405020304" pitchFamily="18" charset="0"/>
                <a:cs typeface="Times New Roman" panose="02020603050405020304" pitchFamily="18" charset="0"/>
              </a:rPr>
              <a:t>［Ｓ］</a:t>
            </a:r>
            <a:r>
              <a:rPr lang="en-US" altLang="zh-CN" sz="2000" b="1" dirty="0">
                <a:latin typeface="Times New Roman" panose="02020603050405020304" pitchFamily="18" charset="0"/>
                <a:cs typeface="Times New Roman" panose="02020603050405020304" pitchFamily="18" charset="0"/>
              </a:rPr>
              <a:t>)</a:t>
            </a:r>
          </a:p>
          <a:p>
            <a:pPr>
              <a:spcBef>
                <a:spcPct val="0"/>
              </a:spcBef>
            </a:pPr>
            <a:r>
              <a:rPr lang="en-US" altLang="zh-CN" sz="2000" b="1" dirty="0" smtClean="0">
                <a:latin typeface="Times New Roman" panose="02020603050405020304" pitchFamily="18" charset="0"/>
                <a:cs typeface="Times New Roman" panose="02020603050405020304" pitchFamily="18" charset="0"/>
              </a:rPr>
              <a:t>       </a:t>
            </a:r>
            <a:r>
              <a:rPr lang="en-US" altLang="zh-CN" sz="2000" b="1" dirty="0" err="1" smtClean="0">
                <a:latin typeface="Times New Roman" panose="02020603050405020304" pitchFamily="18" charset="0"/>
                <a:cs typeface="Times New Roman" panose="02020603050405020304" pitchFamily="18" charset="0"/>
              </a:rPr>
              <a:t>Goto</a:t>
            </a:r>
            <a:r>
              <a:rPr lang="en-US" altLang="zh-CN" sz="2000" b="1" dirty="0" smtClean="0">
                <a:latin typeface="Times New Roman" panose="02020603050405020304" pitchFamily="18" charset="0"/>
                <a:cs typeface="Times New Roman" panose="02020603050405020304" pitchFamily="18" charset="0"/>
              </a:rPr>
              <a:t> A  </a:t>
            </a:r>
            <a:endParaRPr lang="en-US" altLang="zh-CN" sz="2000" b="1" dirty="0">
              <a:latin typeface="Times New Roman" panose="02020603050405020304" pitchFamily="18" charset="0"/>
              <a:cs typeface="Times New Roman" panose="02020603050405020304" pitchFamily="18" charset="0"/>
            </a:endParaRPr>
          </a:p>
        </p:txBody>
      </p:sp>
      <p:sp>
        <p:nvSpPr>
          <p:cNvPr id="29" name="矩形 28"/>
          <p:cNvSpPr/>
          <p:nvPr/>
        </p:nvSpPr>
        <p:spPr>
          <a:xfrm>
            <a:off x="4655515" y="2427734"/>
            <a:ext cx="2857306" cy="151216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spcBef>
                <a:spcPct val="0"/>
              </a:spcBef>
            </a:pPr>
            <a:r>
              <a:rPr lang="en-US" altLang="zh-CN" sz="2000" b="1" dirty="0">
                <a:latin typeface="Times New Roman" panose="02020603050405020304" pitchFamily="18" charset="0"/>
                <a:cs typeface="Times New Roman" panose="02020603050405020304" pitchFamily="18" charset="0"/>
              </a:rPr>
              <a:t>P</a:t>
            </a:r>
            <a:r>
              <a:rPr lang="en-US" altLang="zh-CN" sz="2000" b="1" baseline="-25000" dirty="0">
                <a:latin typeface="Times New Roman" panose="02020603050405020304" pitchFamily="18" charset="0"/>
                <a:cs typeface="Times New Roman" panose="02020603050405020304" pitchFamily="18" charset="0"/>
              </a:rPr>
              <a:t>B</a:t>
            </a:r>
          </a:p>
          <a:p>
            <a:pPr>
              <a:spcBef>
                <a:spcPct val="0"/>
              </a:spcBef>
            </a:pPr>
            <a:r>
              <a:rPr lang="en-US" altLang="zh-CN" sz="2000" b="1" dirty="0" smtClean="0">
                <a:latin typeface="Times New Roman" panose="02020603050405020304" pitchFamily="18" charset="0"/>
                <a:cs typeface="Times New Roman" panose="02020603050405020304" pitchFamily="18" charset="0"/>
              </a:rPr>
              <a:t>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lock(key </a:t>
            </a:r>
            <a:r>
              <a:rPr lang="zh-CN" altLang="en-US" sz="2000" b="1" dirty="0">
                <a:latin typeface="Times New Roman" panose="02020603050405020304" pitchFamily="18" charset="0"/>
                <a:cs typeface="Times New Roman" panose="02020603050405020304" pitchFamily="18" charset="0"/>
              </a:rPr>
              <a:t>［Ｓ］</a:t>
            </a:r>
            <a:r>
              <a:rPr lang="en-US" altLang="zh-CN" sz="2000" b="1" dirty="0">
                <a:latin typeface="Times New Roman" panose="02020603050405020304" pitchFamily="18" charset="0"/>
                <a:cs typeface="Times New Roman" panose="02020603050405020304" pitchFamily="18" charset="0"/>
              </a:rPr>
              <a:t>)</a:t>
            </a:r>
          </a:p>
          <a:p>
            <a:pPr>
              <a:spcBef>
                <a:spcPct val="0"/>
              </a:spcBef>
            </a:pPr>
            <a:r>
              <a:rPr lang="en-US" altLang="zh-CN" sz="2000" b="1" dirty="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Ｓ＞</a:t>
            </a:r>
          </a:p>
          <a:p>
            <a:pPr>
              <a:spcBef>
                <a:spcPct val="0"/>
              </a:spcBef>
            </a:pPr>
            <a:r>
              <a:rPr lang="en-US" altLang="zh-CN" sz="2000" b="1" dirty="0" smtClean="0">
                <a:latin typeface="Times New Roman" panose="02020603050405020304" pitchFamily="18" charset="0"/>
                <a:cs typeface="Times New Roman" panose="02020603050405020304" pitchFamily="18" charset="0"/>
              </a:rPr>
              <a:t>       unlock(key </a:t>
            </a:r>
            <a:r>
              <a:rPr lang="zh-CN" altLang="en-US" sz="2000" b="1" dirty="0">
                <a:latin typeface="Times New Roman" panose="02020603050405020304" pitchFamily="18" charset="0"/>
                <a:cs typeface="Times New Roman" panose="02020603050405020304" pitchFamily="18" charset="0"/>
              </a:rPr>
              <a:t>［Ｓ］</a:t>
            </a:r>
            <a:r>
              <a:rPr lang="en-US" altLang="zh-CN" sz="2000" b="1" dirty="0">
                <a:latin typeface="Times New Roman" panose="02020603050405020304" pitchFamily="18" charset="0"/>
                <a:cs typeface="Times New Roman" panose="02020603050405020304" pitchFamily="18" charset="0"/>
              </a:rPr>
              <a:t>)</a:t>
            </a:r>
          </a:p>
          <a:p>
            <a:pPr>
              <a:spcBef>
                <a:spcPct val="0"/>
              </a:spcBef>
            </a:pPr>
            <a:r>
              <a:rPr lang="en-US" altLang="zh-CN" sz="2000" dirty="0" smtClean="0"/>
              <a:t>        </a:t>
            </a:r>
            <a:r>
              <a:rPr lang="en-US" altLang="zh-CN" sz="2000" b="1" dirty="0" err="1" smtClean="0">
                <a:latin typeface="Times New Roman" panose="02020603050405020304" pitchFamily="18" charset="0"/>
                <a:cs typeface="Times New Roman" panose="02020603050405020304" pitchFamily="18" charset="0"/>
              </a:rPr>
              <a:t>Goto</a:t>
            </a:r>
            <a:r>
              <a:rPr lang="en-US" altLang="zh-CN" sz="2000" b="1" dirty="0" smtClean="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B</a:t>
            </a:r>
          </a:p>
        </p:txBody>
      </p:sp>
      <p:sp>
        <p:nvSpPr>
          <p:cNvPr id="4" name="矩形 3"/>
          <p:cNvSpPr/>
          <p:nvPr/>
        </p:nvSpPr>
        <p:spPr>
          <a:xfrm>
            <a:off x="2445204" y="4083918"/>
            <a:ext cx="3898824" cy="461665"/>
          </a:xfrm>
          <a:prstGeom prst="rect">
            <a:avLst/>
          </a:prstGeom>
        </p:spPr>
        <p:txBody>
          <a:bodyPr wrap="none">
            <a:spAutoFit/>
          </a:bodyPr>
          <a:lstStyle/>
          <a:p>
            <a:r>
              <a:rPr lang="zh-CN" altLang="en-US" sz="2400" b="1" dirty="0">
                <a:solidFill>
                  <a:schemeClr val="bg1"/>
                </a:solidFill>
                <a:latin typeface="+mn-ea"/>
              </a:rPr>
              <a:t>进程</a:t>
            </a:r>
            <a:r>
              <a:rPr lang="en-US" altLang="zh-CN" sz="2400" b="1" dirty="0">
                <a:solidFill>
                  <a:schemeClr val="bg1"/>
                </a:solidFill>
                <a:latin typeface="+mn-ea"/>
              </a:rPr>
              <a:t>P</a:t>
            </a:r>
            <a:r>
              <a:rPr lang="en-US" altLang="zh-CN" sz="2400" b="1" baseline="-25000" dirty="0">
                <a:solidFill>
                  <a:schemeClr val="bg1"/>
                </a:solidFill>
                <a:latin typeface="+mn-ea"/>
              </a:rPr>
              <a:t>B</a:t>
            </a:r>
            <a:r>
              <a:rPr lang="zh-CN" altLang="en-US" sz="2400" b="1" dirty="0">
                <a:solidFill>
                  <a:schemeClr val="bg1"/>
                </a:solidFill>
                <a:latin typeface="+mn-ea"/>
              </a:rPr>
              <a:t>将处于永久饥饿状态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信号量和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999009"/>
            <a:ext cx="6912768" cy="4201150"/>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产生问题的</a:t>
            </a:r>
            <a:r>
              <a:rPr lang="zh-CN" altLang="en-US" sz="2200" b="1" dirty="0" smtClean="0">
                <a:solidFill>
                  <a:schemeClr val="bg1"/>
                </a:solidFill>
                <a:latin typeface="+mn-ea"/>
              </a:rPr>
              <a:t>原因？</a:t>
            </a:r>
            <a:endParaRPr lang="en-US" altLang="zh-CN" sz="22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在用加锁法解决进程互斥的问题时，</a:t>
            </a:r>
            <a:r>
              <a:rPr lang="zh-CN" altLang="en-US" sz="2200" b="1" dirty="0">
                <a:solidFill>
                  <a:srgbClr val="FFFF00"/>
                </a:solidFill>
                <a:latin typeface="+mn-ea"/>
              </a:rPr>
              <a:t>一个进程能否进入临界区是依靠进程自己调用</a:t>
            </a:r>
            <a:r>
              <a:rPr lang="en-US" altLang="zh-CN" sz="2200" b="1" dirty="0">
                <a:solidFill>
                  <a:srgbClr val="FFFF00"/>
                </a:solidFill>
                <a:latin typeface="+mn-ea"/>
              </a:rPr>
              <a:t>lock</a:t>
            </a:r>
            <a:r>
              <a:rPr lang="zh-CN" altLang="en-US" sz="2200" b="1" dirty="0">
                <a:solidFill>
                  <a:srgbClr val="FFFF00"/>
                </a:solidFill>
                <a:latin typeface="+mn-ea"/>
              </a:rPr>
              <a:t>过程去测试相应的锁定位</a:t>
            </a:r>
            <a:r>
              <a:rPr lang="zh-CN" altLang="en-US" sz="2200" b="1" dirty="0">
                <a:solidFill>
                  <a:schemeClr val="bg1"/>
                </a:solidFill>
                <a:latin typeface="+mn-ea"/>
              </a:rPr>
              <a:t>。每个进程能否进入临界区是依靠自己的测试判断。这样没有获得执行机会的进程当然无法判断，从而出现不公平现象。而获得了测试机会的进程又因需要测试而损失一定的</a:t>
            </a:r>
            <a:r>
              <a:rPr lang="en-US" altLang="zh-CN" sz="2200" b="1" dirty="0" smtClean="0">
                <a:solidFill>
                  <a:schemeClr val="bg1"/>
                </a:solidFill>
                <a:latin typeface="+mn-ea"/>
              </a:rPr>
              <a:t>CPU</a:t>
            </a:r>
            <a:r>
              <a:rPr lang="zh-CN" altLang="en-US" sz="2200" b="1" dirty="0" smtClean="0">
                <a:solidFill>
                  <a:schemeClr val="bg1"/>
                </a:solidFill>
                <a:latin typeface="+mn-ea"/>
              </a:rPr>
              <a:t>时间</a:t>
            </a:r>
            <a:r>
              <a:rPr lang="zh-CN" altLang="en-US" sz="2200" b="1" dirty="0">
                <a:solidFill>
                  <a:schemeClr val="bg1"/>
                </a:solidFill>
                <a:latin typeface="+mn-ea"/>
              </a:rPr>
              <a:t>。</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75872" y="397557"/>
            <a:ext cx="1512168" cy="11341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信号量和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55045" y="1099646"/>
            <a:ext cx="7229323" cy="3416320"/>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解决办法？</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设置一个教室管理员。从而，如果有学生申请使用教室而未能如愿时，教室管理员记下他的名字，并等到教室门一打开则通知该学生进入。这样，既减少了学生多次来去教室检查门是否被打开的时间，又减少了因为学生自发地检查造成的不公平现象</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1869" t="19600" b="9001"/>
          <a:stretch>
            <a:fillRect/>
          </a:stretch>
        </p:blipFill>
        <p:spPr>
          <a:xfrm>
            <a:off x="5646158" y="495096"/>
            <a:ext cx="2232248" cy="1084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信号量和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062032"/>
            <a:ext cx="7122830" cy="3970318"/>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管理员</a:t>
            </a:r>
            <a:r>
              <a:rPr lang="en-US" altLang="zh-CN" sz="2000" b="1" dirty="0" smtClean="0">
                <a:solidFill>
                  <a:schemeClr val="bg1"/>
                </a:solidFill>
                <a:latin typeface="+mn-ea"/>
              </a:rPr>
              <a:t>:</a:t>
            </a:r>
            <a:r>
              <a:rPr lang="zh-CN" altLang="en-US" sz="2000" b="1" dirty="0" smtClean="0">
                <a:solidFill>
                  <a:srgbClr val="FFFF00"/>
                </a:solidFill>
                <a:latin typeface="+mn-ea"/>
              </a:rPr>
              <a:t>信号量</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40000"/>
              </a:lnSpc>
              <a:buClr>
                <a:schemeClr val="accent6">
                  <a:lumMod val="60000"/>
                  <a:lumOff val="40000"/>
                </a:schemeClr>
              </a:buClr>
            </a:pPr>
            <a:r>
              <a:rPr lang="zh-CN" altLang="en-US" sz="2000" b="1" dirty="0" smtClean="0">
                <a:solidFill>
                  <a:schemeClr val="bg1"/>
                </a:solidFill>
                <a:latin typeface="+mn-ea"/>
              </a:rPr>
              <a:t>  信号量</a:t>
            </a:r>
            <a:r>
              <a:rPr lang="zh-CN" altLang="en-US" sz="2000" b="1" dirty="0">
                <a:solidFill>
                  <a:schemeClr val="bg1"/>
                </a:solidFill>
                <a:latin typeface="+mn-ea"/>
              </a:rPr>
              <a:t>管理相应临界区的公有资源，它代表可用资源实体</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信号量</a:t>
            </a:r>
            <a:r>
              <a:rPr lang="en-US" altLang="zh-CN" sz="2000" b="1" dirty="0" err="1">
                <a:solidFill>
                  <a:schemeClr val="bg1"/>
                </a:solidFill>
                <a:latin typeface="+mn-ea"/>
              </a:rPr>
              <a:t>sem</a:t>
            </a:r>
            <a:r>
              <a:rPr lang="zh-CN" altLang="en-US" sz="2000" b="1" dirty="0">
                <a:solidFill>
                  <a:schemeClr val="bg1"/>
                </a:solidFill>
                <a:latin typeface="+mn-ea"/>
              </a:rPr>
              <a:t>是一整数</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40000"/>
              </a:lnSpc>
              <a:buClr>
                <a:schemeClr val="accent6">
                  <a:lumMod val="60000"/>
                  <a:lumOff val="40000"/>
                </a:schemeClr>
              </a:buClr>
            </a:pPr>
            <a:r>
              <a:rPr lang="zh-CN" altLang="en-US" sz="2000" b="1" dirty="0">
                <a:solidFill>
                  <a:schemeClr val="bg1"/>
                </a:solidFill>
                <a:latin typeface="+mn-ea"/>
              </a:rPr>
              <a:t> </a:t>
            </a:r>
            <a:r>
              <a:rPr lang="zh-CN" altLang="en-US" sz="2000" b="1" dirty="0" smtClean="0">
                <a:solidFill>
                  <a:schemeClr val="bg1"/>
                </a:solidFill>
                <a:latin typeface="+mn-ea"/>
              </a:rPr>
              <a:t> </a:t>
            </a:r>
            <a:r>
              <a:rPr lang="en-US" altLang="zh-CN" sz="2000" b="1" dirty="0" err="1" smtClean="0">
                <a:solidFill>
                  <a:srgbClr val="FFFF00"/>
                </a:solidFill>
                <a:latin typeface="+mn-ea"/>
              </a:rPr>
              <a:t>sem</a:t>
            </a:r>
            <a:r>
              <a:rPr lang="zh-CN" altLang="en-US" sz="2000" b="1" dirty="0">
                <a:solidFill>
                  <a:srgbClr val="FFFF00"/>
                </a:solidFill>
                <a:latin typeface="+mn-ea"/>
              </a:rPr>
              <a:t>大于</a:t>
            </a:r>
            <a:r>
              <a:rPr lang="zh-CN" altLang="en-US" sz="2000" b="1" dirty="0" smtClean="0">
                <a:solidFill>
                  <a:srgbClr val="FFFF00"/>
                </a:solidFill>
                <a:latin typeface="+mn-ea"/>
              </a:rPr>
              <a:t>等于零</a:t>
            </a:r>
            <a:r>
              <a:rPr lang="en-US" altLang="zh-CN" sz="2000" b="1" dirty="0" smtClean="0">
                <a:solidFill>
                  <a:schemeClr val="bg1"/>
                </a:solidFill>
                <a:latin typeface="+mn-ea"/>
              </a:rPr>
              <a:t>:</a:t>
            </a:r>
            <a:r>
              <a:rPr lang="zh-CN" altLang="en-US" sz="2000" b="1" dirty="0" smtClean="0">
                <a:solidFill>
                  <a:srgbClr val="FFFF00"/>
                </a:solidFill>
                <a:latin typeface="+mn-ea"/>
              </a:rPr>
              <a:t>可</a:t>
            </a:r>
            <a:r>
              <a:rPr lang="zh-CN" altLang="en-US" sz="2000" b="1" dirty="0">
                <a:solidFill>
                  <a:srgbClr val="FFFF00"/>
                </a:solidFill>
                <a:latin typeface="+mn-ea"/>
              </a:rPr>
              <a:t>供并发进程使用的资源实体</a:t>
            </a:r>
            <a:r>
              <a:rPr lang="zh-CN" altLang="en-US" sz="2000" b="1" dirty="0" smtClean="0">
                <a:solidFill>
                  <a:srgbClr val="FFFF00"/>
                </a:solidFill>
                <a:latin typeface="+mn-ea"/>
              </a:rPr>
              <a:t>数</a:t>
            </a:r>
            <a:endParaRPr lang="en-US" altLang="zh-CN" sz="2000" b="1" dirty="0" smtClean="0">
              <a:solidFill>
                <a:schemeClr val="bg1"/>
              </a:solidFill>
              <a:latin typeface="+mn-ea"/>
            </a:endParaRPr>
          </a:p>
          <a:p>
            <a:pPr marL="0" lvl="1" algn="just">
              <a:lnSpc>
                <a:spcPct val="140000"/>
              </a:lnSpc>
              <a:buClr>
                <a:schemeClr val="accent6">
                  <a:lumMod val="60000"/>
                  <a:lumOff val="40000"/>
                </a:schemeClr>
              </a:buClr>
            </a:pPr>
            <a:r>
              <a:rPr lang="en-US" altLang="zh-CN" sz="2000" b="1" dirty="0">
                <a:solidFill>
                  <a:schemeClr val="bg1"/>
                </a:solidFill>
                <a:latin typeface="+mn-ea"/>
              </a:rPr>
              <a:t> </a:t>
            </a:r>
            <a:r>
              <a:rPr lang="en-US" altLang="zh-CN" sz="2000" b="1" dirty="0" smtClean="0">
                <a:solidFill>
                  <a:schemeClr val="bg1"/>
                </a:solidFill>
                <a:latin typeface="+mn-ea"/>
              </a:rPr>
              <a:t> </a:t>
            </a:r>
            <a:r>
              <a:rPr lang="en-US" altLang="zh-CN" sz="2000" b="1" dirty="0" err="1" smtClean="0">
                <a:solidFill>
                  <a:srgbClr val="FFFF00"/>
                </a:solidFill>
                <a:latin typeface="+mn-ea"/>
              </a:rPr>
              <a:t>sem</a:t>
            </a:r>
            <a:r>
              <a:rPr lang="zh-CN" altLang="en-US" sz="2000" b="1" dirty="0">
                <a:solidFill>
                  <a:srgbClr val="FFFF00"/>
                </a:solidFill>
                <a:latin typeface="+mn-ea"/>
              </a:rPr>
              <a:t>小于</a:t>
            </a:r>
            <a:r>
              <a:rPr lang="zh-CN" altLang="en-US" sz="2000" b="1" dirty="0" smtClean="0">
                <a:solidFill>
                  <a:srgbClr val="FFFF00"/>
                </a:solidFill>
                <a:latin typeface="+mn-ea"/>
              </a:rPr>
              <a:t>零</a:t>
            </a:r>
            <a:r>
              <a:rPr lang="en-US" altLang="zh-CN" sz="2000" b="1" dirty="0">
                <a:solidFill>
                  <a:schemeClr val="bg1"/>
                </a:solidFill>
                <a:latin typeface="+mn-ea"/>
              </a:rPr>
              <a:t>:</a:t>
            </a:r>
            <a:r>
              <a:rPr lang="zh-CN" altLang="en-US" sz="2000" b="1" dirty="0" smtClean="0">
                <a:solidFill>
                  <a:schemeClr val="bg1"/>
                </a:solidFill>
                <a:latin typeface="+mn-ea"/>
              </a:rPr>
              <a:t>正在</a:t>
            </a:r>
            <a:r>
              <a:rPr lang="zh-CN" altLang="en-US" sz="2000" b="1" dirty="0">
                <a:solidFill>
                  <a:srgbClr val="FFFF00"/>
                </a:solidFill>
                <a:latin typeface="+mn-ea"/>
              </a:rPr>
              <a:t>等待使用临界区的进程数</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40000"/>
              </a:lnSpc>
              <a:buClr>
                <a:schemeClr val="accent6">
                  <a:lumMod val="60000"/>
                  <a:lumOff val="40000"/>
                </a:schemeClr>
              </a:buClr>
            </a:pPr>
            <a:r>
              <a:rPr lang="en-US" altLang="zh-CN" sz="2000" b="1" dirty="0">
                <a:solidFill>
                  <a:schemeClr val="bg1"/>
                </a:solidFill>
                <a:latin typeface="+mn-ea"/>
              </a:rPr>
              <a:t> </a:t>
            </a:r>
            <a:r>
              <a:rPr lang="en-US" altLang="zh-CN" sz="2000" b="1" dirty="0" smtClean="0">
                <a:solidFill>
                  <a:schemeClr val="bg1"/>
                </a:solidFill>
                <a:latin typeface="+mn-ea"/>
              </a:rPr>
              <a:t> </a:t>
            </a:r>
            <a:r>
              <a:rPr lang="zh-CN" altLang="en-US" sz="2000" b="1" dirty="0" smtClean="0">
                <a:solidFill>
                  <a:srgbClr val="FFFF00"/>
                </a:solidFill>
                <a:latin typeface="+mn-ea"/>
              </a:rPr>
              <a:t>互斥</a:t>
            </a:r>
            <a:r>
              <a:rPr lang="zh-CN" altLang="en-US" sz="2000" b="1" dirty="0">
                <a:solidFill>
                  <a:schemeClr val="bg1"/>
                </a:solidFill>
                <a:latin typeface="+mn-ea"/>
              </a:rPr>
              <a:t>的信号量</a:t>
            </a:r>
            <a:r>
              <a:rPr lang="en-US" altLang="zh-CN" sz="2000" b="1" dirty="0" err="1">
                <a:solidFill>
                  <a:srgbClr val="FFFF00"/>
                </a:solidFill>
                <a:latin typeface="+mn-ea"/>
              </a:rPr>
              <a:t>sem</a:t>
            </a:r>
            <a:r>
              <a:rPr lang="zh-CN" altLang="en-US" sz="2000" b="1" dirty="0">
                <a:solidFill>
                  <a:srgbClr val="FFFF00"/>
                </a:solidFill>
                <a:latin typeface="+mn-ea"/>
              </a:rPr>
              <a:t>的</a:t>
            </a:r>
            <a:r>
              <a:rPr lang="zh-CN" altLang="en-US" sz="2000" b="1" dirty="0" smtClean="0">
                <a:solidFill>
                  <a:srgbClr val="FFFF00"/>
                </a:solidFill>
                <a:latin typeface="+mn-ea"/>
              </a:rPr>
              <a:t>初值</a:t>
            </a:r>
            <a:r>
              <a:rPr lang="en-US" altLang="zh-CN" sz="2000" b="1" dirty="0">
                <a:solidFill>
                  <a:srgbClr val="FFFF00"/>
                </a:solidFill>
                <a:latin typeface="+mn-ea"/>
              </a:rPr>
              <a:t>:</a:t>
            </a:r>
            <a:r>
              <a:rPr lang="zh-CN" altLang="en-US" sz="2000" b="1" dirty="0" smtClean="0">
                <a:solidFill>
                  <a:srgbClr val="FFFF00"/>
                </a:solidFill>
                <a:latin typeface="+mn-ea"/>
              </a:rPr>
              <a:t>大于零</a:t>
            </a:r>
            <a:endParaRPr lang="en-US" altLang="zh-CN" sz="2000" b="1" dirty="0" smtClean="0">
              <a:solidFill>
                <a:schemeClr val="bg1"/>
              </a:solidFill>
              <a:latin typeface="+mn-ea"/>
            </a:endParaRPr>
          </a:p>
          <a:p>
            <a:pPr marL="0" lvl="1" algn="just">
              <a:lnSpc>
                <a:spcPct val="140000"/>
              </a:lnSpc>
              <a:buClr>
                <a:schemeClr val="accent6">
                  <a:lumMod val="60000"/>
                  <a:lumOff val="40000"/>
                </a:schemeClr>
              </a:buClr>
            </a:pPr>
            <a:r>
              <a:rPr lang="en-US" altLang="zh-CN" sz="2000" b="1" dirty="0">
                <a:solidFill>
                  <a:schemeClr val="bg1"/>
                </a:solidFill>
                <a:latin typeface="+mn-ea"/>
              </a:rPr>
              <a:t> </a:t>
            </a:r>
            <a:r>
              <a:rPr lang="en-US" altLang="zh-CN" sz="2000" b="1" dirty="0" smtClean="0">
                <a:solidFill>
                  <a:schemeClr val="bg1"/>
                </a:solidFill>
                <a:latin typeface="+mn-ea"/>
              </a:rPr>
              <a:t> </a:t>
            </a:r>
            <a:r>
              <a:rPr lang="zh-CN" altLang="en-US" sz="2000" b="1" dirty="0" smtClean="0">
                <a:solidFill>
                  <a:schemeClr val="bg1"/>
                </a:solidFill>
                <a:latin typeface="+mn-ea"/>
              </a:rPr>
              <a:t>建立</a:t>
            </a:r>
            <a:r>
              <a:rPr lang="zh-CN" altLang="en-US" sz="2000" b="1" dirty="0">
                <a:solidFill>
                  <a:schemeClr val="bg1"/>
                </a:solidFill>
                <a:latin typeface="+mn-ea"/>
              </a:rPr>
              <a:t>一个</a:t>
            </a:r>
            <a:r>
              <a:rPr lang="zh-CN" altLang="en-US" sz="2000" b="1" dirty="0" smtClean="0">
                <a:solidFill>
                  <a:schemeClr val="bg1"/>
                </a:solidFill>
                <a:latin typeface="+mn-ea"/>
              </a:rPr>
              <a:t>信号量</a:t>
            </a:r>
            <a:r>
              <a:rPr lang="zh-CN" altLang="en-US" sz="2000" b="1" dirty="0">
                <a:solidFill>
                  <a:schemeClr val="bg1"/>
                </a:solidFill>
                <a:latin typeface="+mn-ea"/>
              </a:rPr>
              <a:t>需</a:t>
            </a:r>
            <a:r>
              <a:rPr lang="zh-CN" altLang="en-US" sz="2000" b="1" dirty="0" smtClean="0">
                <a:solidFill>
                  <a:schemeClr val="bg1"/>
                </a:solidFill>
                <a:latin typeface="+mn-ea"/>
              </a:rPr>
              <a:t>说明</a:t>
            </a:r>
            <a:r>
              <a:rPr lang="zh-CN" altLang="en-US" sz="2000" b="1" dirty="0">
                <a:solidFill>
                  <a:schemeClr val="bg1"/>
                </a:solidFill>
                <a:latin typeface="+mn-ea"/>
              </a:rPr>
              <a:t>所建信号量所代表的</a:t>
            </a:r>
            <a:r>
              <a:rPr lang="zh-CN" altLang="en-US" sz="2000" b="1" dirty="0" smtClean="0">
                <a:solidFill>
                  <a:schemeClr val="bg1"/>
                </a:solidFill>
                <a:latin typeface="+mn-ea"/>
              </a:rPr>
              <a:t>意义</a:t>
            </a:r>
            <a:r>
              <a:rPr lang="zh-CN" altLang="en-US" sz="2000" b="1" dirty="0">
                <a:solidFill>
                  <a:schemeClr val="bg1"/>
                </a:solidFill>
                <a:latin typeface="+mn-ea"/>
              </a:rPr>
              <a:t>、</a:t>
            </a:r>
            <a:r>
              <a:rPr lang="zh-CN" altLang="en-US" sz="2000" b="1" dirty="0" smtClean="0">
                <a:solidFill>
                  <a:schemeClr val="bg1"/>
                </a:solidFill>
                <a:latin typeface="+mn-ea"/>
              </a:rPr>
              <a:t>初值以及</a:t>
            </a:r>
            <a:r>
              <a:rPr lang="zh-CN" altLang="en-US" sz="2000" b="1" dirty="0">
                <a:solidFill>
                  <a:schemeClr val="bg1"/>
                </a:solidFill>
                <a:latin typeface="+mn-ea"/>
              </a:rPr>
              <a:t>相应的指向那些等待使用该临界区的</a:t>
            </a:r>
            <a:r>
              <a:rPr lang="zh-CN" altLang="en-US" sz="2000" b="1" dirty="0" smtClean="0">
                <a:solidFill>
                  <a:schemeClr val="bg1"/>
                </a:solidFill>
                <a:latin typeface="+mn-ea"/>
              </a:rPr>
              <a:t>进程所对应的数据结构</a:t>
            </a:r>
            <a:endParaRPr lang="zh-CN" altLang="en-US" sz="2000" b="1" dirty="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1869" t="19600" b="9001"/>
          <a:stretch>
            <a:fillRect/>
          </a:stretch>
        </p:blipFill>
        <p:spPr>
          <a:xfrm>
            <a:off x="5646158" y="495096"/>
            <a:ext cx="2232248" cy="1084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wipe(left)">
                                      <p:cBhvr>
                                        <p:cTn id="21" dur="5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wipe(left)">
                                      <p:cBhvr>
                                        <p:cTn id="26" dur="500"/>
                                        <p:tgtEl>
                                          <p:spTgt spid="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wipe(left)">
                                      <p:cBhvr>
                                        <p:cTn id="31" dur="500"/>
                                        <p:tgtEl>
                                          <p:spTgt spid="2">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wipe(left)">
                                      <p:cBhvr>
                                        <p:cTn id="36"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60733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申请进去临界区操作</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的主要</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动作</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7" y="1281469"/>
            <a:ext cx="6912768" cy="2862322"/>
          </a:xfrm>
          <a:prstGeom prst="rect">
            <a:avLst/>
          </a:prstGeom>
        </p:spPr>
        <p:txBody>
          <a:bodyPr wrap="square">
            <a:spAutoFit/>
          </a:bodyPr>
          <a:lstStyle/>
          <a:p>
            <a:pPr marL="0" lvl="1" algn="just">
              <a:lnSpc>
                <a:spcPct val="150000"/>
              </a:lnSpc>
              <a:buClr>
                <a:schemeClr val="accent6">
                  <a:lumMod val="60000"/>
                  <a:lumOff val="40000"/>
                </a:schemeClr>
              </a:buClr>
            </a:pPr>
            <a:r>
              <a:rPr lang="en-US" altLang="zh-CN" sz="2400" b="1" dirty="0" smtClean="0">
                <a:solidFill>
                  <a:schemeClr val="bg1"/>
                </a:solidFill>
                <a:latin typeface="+mn-ea"/>
              </a:rPr>
              <a:t>(1)</a:t>
            </a:r>
            <a:r>
              <a:rPr lang="en-US" altLang="zh-CN" sz="2400" b="1" dirty="0" err="1" smtClean="0">
                <a:solidFill>
                  <a:schemeClr val="bg1"/>
                </a:solidFill>
                <a:latin typeface="+mn-ea"/>
              </a:rPr>
              <a:t>sem</a:t>
            </a:r>
            <a:r>
              <a:rPr lang="zh-CN" altLang="en-US" sz="2400" b="1" dirty="0">
                <a:solidFill>
                  <a:schemeClr val="bg1"/>
                </a:solidFill>
                <a:latin typeface="+mn-ea"/>
              </a:rPr>
              <a:t>减 </a:t>
            </a:r>
            <a:r>
              <a:rPr lang="en-US" altLang="zh-CN" sz="2400" b="1" dirty="0">
                <a:solidFill>
                  <a:schemeClr val="bg1"/>
                </a:solidFill>
                <a:latin typeface="+mn-ea"/>
              </a:rPr>
              <a:t>1</a:t>
            </a:r>
            <a:r>
              <a:rPr lang="zh-CN" altLang="en-US" sz="2400" b="1" dirty="0">
                <a:solidFill>
                  <a:schemeClr val="bg1"/>
                </a:solidFill>
                <a:latin typeface="+mn-ea"/>
              </a:rPr>
              <a:t>；</a:t>
            </a:r>
          </a:p>
          <a:p>
            <a:pPr marL="0" lvl="1" algn="just">
              <a:lnSpc>
                <a:spcPct val="150000"/>
              </a:lnSpc>
              <a:buClr>
                <a:schemeClr val="accent6">
                  <a:lumMod val="60000"/>
                  <a:lumOff val="40000"/>
                </a:schemeClr>
              </a:buClr>
            </a:pPr>
            <a:r>
              <a:rPr lang="en-US" altLang="zh-CN" sz="2400" b="1" dirty="0">
                <a:solidFill>
                  <a:schemeClr val="bg1"/>
                </a:solidFill>
                <a:latin typeface="+mn-ea"/>
              </a:rPr>
              <a:t>(2</a:t>
            </a:r>
            <a:r>
              <a:rPr lang="en-US" altLang="zh-CN" sz="2400" b="1" dirty="0" smtClean="0">
                <a:solidFill>
                  <a:schemeClr val="bg1"/>
                </a:solidFill>
                <a:latin typeface="+mn-ea"/>
              </a:rPr>
              <a:t>)</a:t>
            </a:r>
            <a:r>
              <a:rPr lang="zh-CN" altLang="en-US" sz="2400" b="1" dirty="0" smtClean="0">
                <a:solidFill>
                  <a:schemeClr val="bg1"/>
                </a:solidFill>
                <a:latin typeface="+mn-ea"/>
              </a:rPr>
              <a:t>若</a:t>
            </a:r>
            <a:r>
              <a:rPr lang="en-US" altLang="zh-CN" sz="2400" b="1" dirty="0" err="1">
                <a:solidFill>
                  <a:schemeClr val="bg1"/>
                </a:solidFill>
                <a:latin typeface="+mn-ea"/>
              </a:rPr>
              <a:t>sem</a:t>
            </a:r>
            <a:r>
              <a:rPr lang="zh-CN" altLang="en-US" sz="2400" b="1" dirty="0">
                <a:solidFill>
                  <a:schemeClr val="bg1"/>
                </a:solidFill>
                <a:latin typeface="+mn-ea"/>
              </a:rPr>
              <a:t>减</a:t>
            </a:r>
            <a:r>
              <a:rPr lang="en-US" altLang="zh-CN" sz="2400" b="1" dirty="0">
                <a:solidFill>
                  <a:schemeClr val="bg1"/>
                </a:solidFill>
                <a:latin typeface="+mn-ea"/>
              </a:rPr>
              <a:t>1</a:t>
            </a:r>
            <a:r>
              <a:rPr lang="zh-CN" altLang="en-US" sz="2400" b="1" dirty="0">
                <a:solidFill>
                  <a:schemeClr val="bg1"/>
                </a:solidFill>
                <a:latin typeface="+mn-ea"/>
              </a:rPr>
              <a:t>后仍大于或等于零，则进程继续执行；</a:t>
            </a:r>
          </a:p>
          <a:p>
            <a:pPr marL="0" lvl="1" algn="just">
              <a:lnSpc>
                <a:spcPct val="150000"/>
              </a:lnSpc>
              <a:buClr>
                <a:schemeClr val="accent6">
                  <a:lumMod val="60000"/>
                  <a:lumOff val="40000"/>
                </a:schemeClr>
              </a:buClr>
            </a:pPr>
            <a:r>
              <a:rPr lang="en-US" altLang="zh-CN" sz="2400" b="1" dirty="0">
                <a:solidFill>
                  <a:schemeClr val="bg1"/>
                </a:solidFill>
                <a:latin typeface="+mn-ea"/>
              </a:rPr>
              <a:t>(3</a:t>
            </a:r>
            <a:r>
              <a:rPr lang="en-US" altLang="zh-CN" sz="2400" b="1" dirty="0" smtClean="0">
                <a:solidFill>
                  <a:schemeClr val="bg1"/>
                </a:solidFill>
                <a:latin typeface="+mn-ea"/>
              </a:rPr>
              <a:t>)</a:t>
            </a:r>
            <a:r>
              <a:rPr lang="zh-CN" altLang="en-US" sz="2400" b="1" dirty="0" smtClean="0">
                <a:solidFill>
                  <a:schemeClr val="bg1"/>
                </a:solidFill>
                <a:latin typeface="+mn-ea"/>
              </a:rPr>
              <a:t>若</a:t>
            </a:r>
            <a:r>
              <a:rPr lang="en-US" altLang="zh-CN" sz="2400" b="1" dirty="0" err="1">
                <a:solidFill>
                  <a:schemeClr val="bg1"/>
                </a:solidFill>
                <a:latin typeface="+mn-ea"/>
              </a:rPr>
              <a:t>sem</a:t>
            </a:r>
            <a:r>
              <a:rPr lang="zh-CN" altLang="en-US" sz="2400" b="1" dirty="0">
                <a:solidFill>
                  <a:schemeClr val="bg1"/>
                </a:solidFill>
                <a:latin typeface="+mn-ea"/>
              </a:rPr>
              <a:t>减</a:t>
            </a:r>
            <a:r>
              <a:rPr lang="en-US" altLang="zh-CN" sz="2400" b="1" dirty="0">
                <a:solidFill>
                  <a:schemeClr val="bg1"/>
                </a:solidFill>
                <a:latin typeface="+mn-ea"/>
              </a:rPr>
              <a:t>1</a:t>
            </a:r>
            <a:r>
              <a:rPr lang="zh-CN" altLang="en-US" sz="2400" b="1" dirty="0">
                <a:solidFill>
                  <a:schemeClr val="bg1"/>
                </a:solidFill>
                <a:latin typeface="+mn-ea"/>
              </a:rPr>
              <a:t>后小于零，则该进程被阻塞</a:t>
            </a:r>
            <a:r>
              <a:rPr lang="zh-CN" altLang="en-US" sz="2400" b="1" dirty="0" smtClean="0">
                <a:solidFill>
                  <a:schemeClr val="bg1"/>
                </a:solidFill>
                <a:latin typeface="+mn-ea"/>
              </a:rPr>
              <a:t>后</a:t>
            </a:r>
            <a:r>
              <a:rPr lang="zh-CN" altLang="en-US" sz="2400" b="1" dirty="0">
                <a:solidFill>
                  <a:schemeClr val="bg1"/>
                </a:solidFill>
                <a:latin typeface="+mn-ea"/>
              </a:rPr>
              <a:t>进入</a:t>
            </a:r>
            <a:r>
              <a:rPr lang="zh-CN" altLang="en-US" sz="2400" b="1" dirty="0" smtClean="0">
                <a:solidFill>
                  <a:schemeClr val="bg1"/>
                </a:solidFill>
                <a:latin typeface="+mn-ea"/>
              </a:rPr>
              <a:t>与</a:t>
            </a:r>
            <a:r>
              <a:rPr lang="zh-CN" altLang="en-US" sz="2400" b="1" dirty="0">
                <a:solidFill>
                  <a:schemeClr val="bg1"/>
                </a:solidFill>
                <a:latin typeface="+mn-ea"/>
              </a:rPr>
              <a:t>该信号相对应的队列中，然后转进程调度。</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pic>
        <p:nvPicPr>
          <p:cNvPr id="29" name="Picture 3" descr="图3"/>
          <p:cNvPicPr>
            <a:picLocks noChangeAspect="1" noChangeArrowheads="1"/>
          </p:cNvPicPr>
          <p:nvPr/>
        </p:nvPicPr>
        <p:blipFill rotWithShape="1">
          <a:blip r:embed="rId2">
            <a:extLst>
              <a:ext uri="{28A0092B-C50C-407E-A947-70E740481C1C}">
                <a14:useLocalDpi xmlns:a14="http://schemas.microsoft.com/office/drawing/2010/main" val="0"/>
              </a:ext>
            </a:extLst>
          </a:blip>
          <a:srcRect r="60880"/>
          <a:stretch>
            <a:fillRect/>
          </a:stretch>
        </p:blipFill>
        <p:spPr bwMode="auto">
          <a:xfrm>
            <a:off x="2699792" y="905261"/>
            <a:ext cx="3487688"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up)">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lvl="1">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从临界区出来操作</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的主要</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动作</a:t>
            </a:r>
            <a:r>
              <a:rPr lang="en-US" altLang="zh-CN" sz="3600" b="1"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—V</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7" y="1174115"/>
            <a:ext cx="6912768" cy="3416320"/>
          </a:xfrm>
          <a:prstGeom prst="rect">
            <a:avLst/>
          </a:prstGeom>
        </p:spPr>
        <p:txBody>
          <a:bodyPr wrap="square">
            <a:spAutoFit/>
          </a:bodyPr>
          <a:lstStyle/>
          <a:p>
            <a:pPr marL="0" lvl="1" algn="just">
              <a:lnSpc>
                <a:spcPct val="150000"/>
              </a:lnSpc>
              <a:buClr>
                <a:schemeClr val="accent6">
                  <a:lumMod val="60000"/>
                  <a:lumOff val="40000"/>
                </a:schemeClr>
              </a:buClr>
            </a:pPr>
            <a:r>
              <a:rPr lang="en-US" altLang="zh-CN" sz="2400" b="1" dirty="0">
                <a:solidFill>
                  <a:schemeClr val="bg1"/>
                </a:solidFill>
                <a:latin typeface="+mn-ea"/>
              </a:rPr>
              <a:t>(1)</a:t>
            </a:r>
            <a:r>
              <a:rPr lang="en-US" altLang="zh-CN" sz="2400" b="1" dirty="0" err="1" smtClean="0">
                <a:solidFill>
                  <a:schemeClr val="bg1"/>
                </a:solidFill>
                <a:latin typeface="+mn-ea"/>
              </a:rPr>
              <a:t>sem</a:t>
            </a:r>
            <a:r>
              <a:rPr lang="zh-CN" altLang="en-US" sz="2400" b="1" dirty="0">
                <a:solidFill>
                  <a:schemeClr val="bg1"/>
                </a:solidFill>
                <a:latin typeface="+mn-ea"/>
              </a:rPr>
              <a:t>加</a:t>
            </a:r>
            <a:r>
              <a:rPr lang="en-US" altLang="zh-CN" sz="2400" b="1" dirty="0">
                <a:solidFill>
                  <a:schemeClr val="bg1"/>
                </a:solidFill>
                <a:latin typeface="+mn-ea"/>
              </a:rPr>
              <a:t>1</a:t>
            </a:r>
            <a:r>
              <a:rPr lang="zh-CN" altLang="en-US" sz="2400" b="1" dirty="0">
                <a:solidFill>
                  <a:schemeClr val="bg1"/>
                </a:solidFill>
                <a:latin typeface="+mn-ea"/>
              </a:rPr>
              <a:t>；</a:t>
            </a:r>
          </a:p>
          <a:p>
            <a:pPr marL="0" lvl="1" algn="just">
              <a:lnSpc>
                <a:spcPct val="150000"/>
              </a:lnSpc>
              <a:buClr>
                <a:schemeClr val="accent6">
                  <a:lumMod val="60000"/>
                  <a:lumOff val="40000"/>
                </a:schemeClr>
              </a:buClr>
            </a:pPr>
            <a:r>
              <a:rPr lang="en-US" altLang="zh-CN" sz="2400" b="1" dirty="0">
                <a:solidFill>
                  <a:schemeClr val="bg1"/>
                </a:solidFill>
                <a:latin typeface="+mn-ea"/>
              </a:rPr>
              <a:t>(2</a:t>
            </a:r>
            <a:r>
              <a:rPr lang="en-US" altLang="zh-CN" sz="2400" b="1" dirty="0" smtClean="0">
                <a:solidFill>
                  <a:schemeClr val="bg1"/>
                </a:solidFill>
                <a:latin typeface="+mn-ea"/>
              </a:rPr>
              <a:t>)</a:t>
            </a:r>
            <a:r>
              <a:rPr lang="zh-CN" altLang="en-US" sz="2400" b="1" dirty="0" smtClean="0">
                <a:solidFill>
                  <a:schemeClr val="bg1"/>
                </a:solidFill>
                <a:latin typeface="+mn-ea"/>
              </a:rPr>
              <a:t>若</a:t>
            </a:r>
            <a:r>
              <a:rPr lang="zh-CN" altLang="en-US" sz="2400" b="1" dirty="0">
                <a:solidFill>
                  <a:schemeClr val="bg1"/>
                </a:solidFill>
                <a:latin typeface="+mn-ea"/>
              </a:rPr>
              <a:t>相加结果大于零</a:t>
            </a:r>
            <a:r>
              <a:rPr lang="zh-CN" altLang="en-US" sz="2400" b="1" dirty="0" smtClean="0">
                <a:solidFill>
                  <a:schemeClr val="bg1"/>
                </a:solidFill>
                <a:latin typeface="+mn-ea"/>
              </a:rPr>
              <a:t>，停止执行，进程返回调用处，继续</a:t>
            </a:r>
            <a:r>
              <a:rPr lang="zh-CN" altLang="en-US" sz="2400" b="1" dirty="0">
                <a:solidFill>
                  <a:schemeClr val="bg1"/>
                </a:solidFill>
                <a:latin typeface="+mn-ea"/>
              </a:rPr>
              <a:t>执行；</a:t>
            </a:r>
          </a:p>
          <a:p>
            <a:pPr marL="0" lvl="1" algn="just">
              <a:lnSpc>
                <a:spcPct val="150000"/>
              </a:lnSpc>
              <a:buClr>
                <a:schemeClr val="accent6">
                  <a:lumMod val="60000"/>
                  <a:lumOff val="40000"/>
                </a:schemeClr>
              </a:buClr>
            </a:pPr>
            <a:r>
              <a:rPr lang="en-US" altLang="zh-CN" sz="2400" b="1" dirty="0">
                <a:solidFill>
                  <a:schemeClr val="bg1"/>
                </a:solidFill>
                <a:latin typeface="+mn-ea"/>
              </a:rPr>
              <a:t>(3</a:t>
            </a:r>
            <a:r>
              <a:rPr lang="en-US" altLang="zh-CN" sz="2400" b="1" dirty="0" smtClean="0">
                <a:solidFill>
                  <a:schemeClr val="bg1"/>
                </a:solidFill>
                <a:latin typeface="+mn-ea"/>
              </a:rPr>
              <a:t>)</a:t>
            </a:r>
            <a:r>
              <a:rPr lang="zh-CN" altLang="en-US" sz="2400" b="1" dirty="0" smtClean="0">
                <a:solidFill>
                  <a:schemeClr val="bg1"/>
                </a:solidFill>
                <a:latin typeface="+mn-ea"/>
              </a:rPr>
              <a:t>若</a:t>
            </a:r>
            <a:r>
              <a:rPr lang="zh-CN" altLang="en-US" sz="2400" b="1" dirty="0">
                <a:solidFill>
                  <a:schemeClr val="bg1"/>
                </a:solidFill>
                <a:latin typeface="+mn-ea"/>
              </a:rPr>
              <a:t>相加结果小于或等于零，则从该信号的等待队列中唤醒一等待进程，然后再返回原进程继续执行或转进程调度</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30" name="Picture 3" descr="图3"/>
          <p:cNvPicPr>
            <a:picLocks noChangeAspect="1" noChangeArrowheads="1"/>
          </p:cNvPicPr>
          <p:nvPr/>
        </p:nvPicPr>
        <p:blipFill rotWithShape="1">
          <a:blip r:embed="rId2">
            <a:extLst>
              <a:ext uri="{28A0092B-C50C-407E-A947-70E740481C1C}">
                <a14:useLocalDpi xmlns:a14="http://schemas.microsoft.com/office/drawing/2010/main" val="0"/>
              </a:ext>
            </a:extLst>
          </a:blip>
          <a:srcRect l="56889"/>
          <a:stretch>
            <a:fillRect/>
          </a:stretch>
        </p:blipFill>
        <p:spPr bwMode="auto">
          <a:xfrm>
            <a:off x="2303083" y="600838"/>
            <a:ext cx="3843536"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up)">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6793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进入</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退出临界区（不允许中断）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7" y="1281469"/>
            <a:ext cx="6912768" cy="3877985"/>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采用Ｐ，Ｖ原语，可以把类名为Ｓ的临界区描述</a:t>
            </a:r>
            <a:r>
              <a:rPr lang="zh-CN" altLang="en-US" sz="2000" b="1" dirty="0" smtClean="0">
                <a:solidFill>
                  <a:srgbClr val="FFFF00"/>
                </a:solidFill>
                <a:latin typeface="+mn-ea"/>
              </a:rPr>
              <a:t>为 </a:t>
            </a:r>
            <a:r>
              <a:rPr lang="en-US" altLang="zh-CN" sz="2000" b="1" dirty="0" smtClean="0">
                <a:solidFill>
                  <a:srgbClr val="FFFF00"/>
                </a:solidFill>
                <a:latin typeface="+mn-ea"/>
              </a:rPr>
              <a:t>When </a:t>
            </a:r>
            <a:r>
              <a:rPr lang="zh-CN" altLang="en-US" sz="2000" b="1" dirty="0">
                <a:solidFill>
                  <a:srgbClr val="FFFF00"/>
                </a:solidFill>
                <a:latin typeface="+mn-ea"/>
              </a:rPr>
              <a:t>Ｓ </a:t>
            </a:r>
            <a:r>
              <a:rPr lang="en-US" altLang="zh-CN" sz="2000" b="1" dirty="0">
                <a:solidFill>
                  <a:srgbClr val="FFFF00"/>
                </a:solidFill>
                <a:latin typeface="+mn-ea"/>
              </a:rPr>
              <a:t>do </a:t>
            </a:r>
            <a:r>
              <a:rPr lang="zh-CN" altLang="en-US" sz="2000" b="1" dirty="0">
                <a:solidFill>
                  <a:srgbClr val="FFFF00"/>
                </a:solidFill>
                <a:latin typeface="+mn-ea"/>
              </a:rPr>
              <a:t>Ｐ</a:t>
            </a:r>
            <a:r>
              <a:rPr lang="en-US" altLang="zh-CN" sz="2000" b="1" dirty="0">
                <a:solidFill>
                  <a:srgbClr val="FFFF00"/>
                </a:solidFill>
                <a:latin typeface="+mn-ea"/>
              </a:rPr>
              <a:t>(</a:t>
            </a:r>
            <a:r>
              <a:rPr lang="en-US" altLang="zh-CN" sz="2000" b="1" dirty="0" err="1">
                <a:solidFill>
                  <a:srgbClr val="FFFF00"/>
                </a:solidFill>
                <a:latin typeface="+mn-ea"/>
              </a:rPr>
              <a:t>sem</a:t>
            </a:r>
            <a:r>
              <a:rPr lang="en-US" altLang="zh-CN" sz="2000" b="1" dirty="0" smtClean="0">
                <a:solidFill>
                  <a:srgbClr val="FFFF00"/>
                </a:solidFill>
                <a:latin typeface="+mn-ea"/>
              </a:rPr>
              <a:t>) </a:t>
            </a:r>
            <a:r>
              <a:rPr lang="zh-CN" altLang="en-US" sz="2000" b="1" dirty="0" smtClean="0">
                <a:solidFill>
                  <a:srgbClr val="FFFF00"/>
                </a:solidFill>
                <a:latin typeface="+mn-ea"/>
              </a:rPr>
              <a:t>临界区 Ｖ</a:t>
            </a:r>
            <a:r>
              <a:rPr lang="en-US" altLang="zh-CN" sz="2000" b="1" dirty="0">
                <a:solidFill>
                  <a:srgbClr val="FFFF00"/>
                </a:solidFill>
                <a:latin typeface="+mn-ea"/>
              </a:rPr>
              <a:t>(</a:t>
            </a:r>
            <a:r>
              <a:rPr lang="en-US" altLang="zh-CN" sz="2000" b="1" dirty="0" err="1">
                <a:solidFill>
                  <a:srgbClr val="FFFF00"/>
                </a:solidFill>
                <a:latin typeface="+mn-ea"/>
              </a:rPr>
              <a:t>sem</a:t>
            </a:r>
            <a:r>
              <a:rPr lang="en-US" altLang="zh-CN" sz="2000" b="1" dirty="0">
                <a:solidFill>
                  <a:srgbClr val="FFFF00"/>
                </a:solidFill>
                <a:latin typeface="+mn-ea"/>
              </a:rPr>
              <a:t>)od</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当某个进程正在临界区内执行时，其他进程如果执行了Ｐ原语操作，则该进程并不像调用</a:t>
            </a:r>
            <a:r>
              <a:rPr lang="en-US" altLang="zh-CN" sz="2000" b="1" dirty="0">
                <a:solidFill>
                  <a:schemeClr val="bg1"/>
                </a:solidFill>
                <a:latin typeface="+mn-ea"/>
              </a:rPr>
              <a:t>lock</a:t>
            </a:r>
            <a:r>
              <a:rPr lang="zh-CN" altLang="en-US" sz="2000" b="1" dirty="0">
                <a:solidFill>
                  <a:schemeClr val="bg1"/>
                </a:solidFill>
                <a:latin typeface="+mn-ea"/>
              </a:rPr>
              <a:t>时那样因进不了临界区而返回到</a:t>
            </a:r>
            <a:r>
              <a:rPr lang="en-US" altLang="zh-CN" sz="2000" b="1" dirty="0">
                <a:solidFill>
                  <a:schemeClr val="bg1"/>
                </a:solidFill>
                <a:latin typeface="+mn-ea"/>
              </a:rPr>
              <a:t>lock</a:t>
            </a:r>
            <a:r>
              <a:rPr lang="zh-CN" altLang="en-US" sz="2000" b="1" dirty="0">
                <a:solidFill>
                  <a:schemeClr val="bg1"/>
                </a:solidFill>
                <a:latin typeface="+mn-ea"/>
              </a:rPr>
              <a:t>的起点，等以后重新执行测试，而是</a:t>
            </a:r>
            <a:r>
              <a:rPr lang="zh-CN" altLang="en-US" sz="2000" b="1" dirty="0">
                <a:solidFill>
                  <a:srgbClr val="FFFF00"/>
                </a:solidFill>
                <a:latin typeface="+mn-ea"/>
              </a:rPr>
              <a:t>在等待队列中等待有其他进程做Ｖ原语操作释放资源后</a:t>
            </a:r>
            <a:r>
              <a:rPr lang="zh-CN" altLang="en-US" sz="2000" b="1" dirty="0">
                <a:solidFill>
                  <a:schemeClr val="bg1"/>
                </a:solidFill>
                <a:latin typeface="+mn-ea"/>
              </a:rPr>
              <a:t>，</a:t>
            </a:r>
            <a:r>
              <a:rPr lang="zh-CN" altLang="en-US" sz="2000" b="1" dirty="0">
                <a:solidFill>
                  <a:srgbClr val="FFFF00"/>
                </a:solidFill>
                <a:latin typeface="+mn-ea"/>
              </a:rPr>
              <a:t>进入临界区</a:t>
            </a:r>
            <a:r>
              <a:rPr lang="zh-CN" altLang="en-US" sz="2000" b="1" dirty="0">
                <a:solidFill>
                  <a:schemeClr val="bg1"/>
                </a:solidFill>
                <a:latin typeface="+mn-ea"/>
              </a:rPr>
              <a:t>，这时，Ｐ原语的执行才算真正结束。</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lvl="1">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87624" y="2139702"/>
            <a:ext cx="6912768" cy="79348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3600" b="1" dirty="0">
                <a:solidFill>
                  <a:schemeClr val="bg1"/>
                </a:solidFill>
                <a:latin typeface="+mn-ea"/>
              </a:rPr>
              <a:t>Ｐ，Ｖ过程要以原语</a:t>
            </a:r>
            <a:r>
              <a:rPr lang="zh-CN" altLang="en-US" sz="3600" b="1" dirty="0" smtClean="0">
                <a:solidFill>
                  <a:schemeClr val="bg1"/>
                </a:solidFill>
                <a:latin typeface="+mn-ea"/>
              </a:rPr>
              <a:t>实现</a:t>
            </a:r>
            <a:r>
              <a:rPr lang="en-US" altLang="zh-CN" sz="3600" b="1" dirty="0" smtClean="0">
                <a:solidFill>
                  <a:schemeClr val="bg1"/>
                </a:solidFill>
                <a:latin typeface="+mn-ea"/>
              </a:rPr>
              <a:t>!!</a:t>
            </a:r>
            <a:endParaRPr lang="zh-CN" altLang="en-US" sz="36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lvl="1">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PV</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原语的实现</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015376"/>
            <a:ext cx="6912768" cy="559769"/>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加锁法的软件实现方法</a:t>
            </a:r>
          </a:p>
        </p:txBody>
      </p:sp>
      <p:sp>
        <p:nvSpPr>
          <p:cNvPr id="3" name="矩形 2"/>
          <p:cNvSpPr/>
          <p:nvPr/>
        </p:nvSpPr>
        <p:spPr>
          <a:xfrm>
            <a:off x="179512" y="1159834"/>
            <a:ext cx="4495234" cy="3693319"/>
          </a:xfrm>
          <a:prstGeom prst="rect">
            <a:avLst/>
          </a:prstGeom>
          <a:solidFill>
            <a:schemeClr val="accent4">
              <a:lumMod val="50000"/>
            </a:schemeClr>
          </a:solidFill>
          <a:ln>
            <a:solidFill>
              <a:schemeClr val="accent4">
                <a:lumMod val="40000"/>
                <a:lumOff val="60000"/>
              </a:schemeClr>
            </a:solidFill>
          </a:ln>
          <a:scene3d>
            <a:camera prst="orthographicFront"/>
            <a:lightRig rig="threePt" dir="t"/>
          </a:scene3d>
          <a:sp3d>
            <a:bevelT/>
          </a:sp3d>
        </p:spPr>
        <p:style>
          <a:lnRef idx="1">
            <a:schemeClr val="accent4"/>
          </a:lnRef>
          <a:fillRef idx="3">
            <a:schemeClr val="accent4"/>
          </a:fillRef>
          <a:effectRef idx="2">
            <a:schemeClr val="accent4"/>
          </a:effectRef>
          <a:fontRef idx="minor">
            <a:schemeClr val="lt1"/>
          </a:fontRef>
        </p:style>
        <p:txBody>
          <a:bodyPr wrap="square">
            <a:spAutoFit/>
          </a:bodyPr>
          <a:lstStyle/>
          <a:p>
            <a:pPr>
              <a:spcBef>
                <a:spcPct val="0"/>
              </a:spcBef>
            </a:pPr>
            <a:r>
              <a:rPr lang="zh-CN" altLang="en-US" b="1" dirty="0" smtClean="0">
                <a:latin typeface="Times New Roman" panose="02020603050405020304" pitchFamily="18" charset="0"/>
                <a:cs typeface="Times New Roman" panose="02020603050405020304" pitchFamily="18" charset="0"/>
              </a:rPr>
              <a:t>Ｐ</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p>
          <a:p>
            <a:pPr>
              <a:spcBef>
                <a:spcPct val="0"/>
              </a:spcBef>
            </a:pPr>
            <a:r>
              <a:rPr lang="en-US" altLang="zh-CN" b="1" dirty="0" smtClean="0">
                <a:latin typeface="Times New Roman" panose="02020603050405020304" pitchFamily="18" charset="0"/>
                <a:cs typeface="Times New Roman" panose="02020603050405020304" pitchFamily="18" charset="0"/>
              </a:rPr>
              <a:t>     begin</a:t>
            </a:r>
            <a:endParaRPr lang="en-US" altLang="zh-CN" b="1" dirty="0">
              <a:latin typeface="Times New Roman" panose="02020603050405020304" pitchFamily="18" charset="0"/>
              <a:cs typeface="Times New Roman" panose="02020603050405020304" pitchFamily="18" charset="0"/>
            </a:endParaRPr>
          </a:p>
          <a:p>
            <a:pPr>
              <a:spcBef>
                <a:spcPct val="0"/>
              </a:spcBef>
            </a:pP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封锁</a:t>
            </a:r>
            <a:r>
              <a:rPr lang="zh-CN" altLang="en-US" b="1" dirty="0">
                <a:latin typeface="Times New Roman" panose="02020603050405020304" pitchFamily="18" charset="0"/>
                <a:cs typeface="Times New Roman" panose="02020603050405020304" pitchFamily="18" charset="0"/>
              </a:rPr>
              <a:t>中断；</a:t>
            </a:r>
          </a:p>
          <a:p>
            <a:pPr>
              <a:spcBef>
                <a:spcPct val="0"/>
              </a:spcBef>
            </a:pP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lock(</a:t>
            </a:r>
            <a:r>
              <a:rPr lang="en-US" altLang="zh-CN" b="1" dirty="0" err="1" smtClean="0">
                <a:latin typeface="Times New Roman" panose="02020603050405020304" pitchFamily="18" charset="0"/>
                <a:cs typeface="Times New Roman" panose="02020603050405020304" pitchFamily="18" charset="0"/>
              </a:rPr>
              <a:t>lockbit</a:t>
            </a:r>
            <a:r>
              <a:rPr lang="en-US" altLang="zh-CN" b="1" dirty="0">
                <a:latin typeface="Times New Roman" panose="02020603050405020304" pitchFamily="18" charset="0"/>
                <a:cs typeface="Times New Roman" panose="02020603050405020304" pitchFamily="18" charset="0"/>
              </a:rPr>
              <a:t>)</a:t>
            </a:r>
          </a:p>
          <a:p>
            <a:pPr>
              <a:spcBef>
                <a:spcPct val="0"/>
              </a:spcBef>
            </a:pPr>
            <a:r>
              <a:rPr lang="en-US" altLang="zh-CN"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val</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val</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a:t>
            </a:r>
          </a:p>
          <a:p>
            <a:pPr>
              <a:spcBef>
                <a:spcPct val="0"/>
              </a:spcBef>
            </a:pPr>
            <a:r>
              <a:rPr lang="en-US" altLang="zh-CN" b="1" dirty="0" smtClean="0">
                <a:latin typeface="Times New Roman" panose="02020603050405020304" pitchFamily="18" charset="0"/>
                <a:cs typeface="Times New Roman" panose="02020603050405020304" pitchFamily="18" charset="0"/>
              </a:rPr>
              <a:t>            if </a:t>
            </a:r>
            <a:r>
              <a:rPr lang="en-US" altLang="zh-CN" b="1" dirty="0" err="1">
                <a:latin typeface="Times New Roman" panose="02020603050405020304" pitchFamily="18" charset="0"/>
                <a:cs typeface="Times New Roman" panose="02020603050405020304" pitchFamily="18" charset="0"/>
              </a:rPr>
              <a:t>val</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&lt;0</a:t>
            </a:r>
          </a:p>
          <a:p>
            <a:pPr>
              <a:spcBef>
                <a:spcPct val="0"/>
              </a:spcBef>
            </a:pP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保护</a:t>
            </a:r>
            <a:r>
              <a:rPr lang="zh-CN" altLang="en-US" b="1" dirty="0">
                <a:latin typeface="Times New Roman" panose="02020603050405020304" pitchFamily="18" charset="0"/>
                <a:cs typeface="Times New Roman" panose="02020603050405020304" pitchFamily="18" charset="0"/>
              </a:rPr>
              <a:t>当前进程</a:t>
            </a:r>
            <a:r>
              <a:rPr lang="en-US" altLang="zh-CN" b="1" dirty="0">
                <a:latin typeface="Times New Roman" panose="02020603050405020304" pitchFamily="18" charset="0"/>
                <a:cs typeface="Times New Roman" panose="02020603050405020304" pitchFamily="18" charset="0"/>
              </a:rPr>
              <a:t>CPU</a:t>
            </a:r>
            <a:r>
              <a:rPr lang="zh-CN" altLang="en-US" b="1" dirty="0">
                <a:latin typeface="Times New Roman" panose="02020603050405020304" pitchFamily="18" charset="0"/>
                <a:cs typeface="Times New Roman" panose="02020603050405020304" pitchFamily="18" charset="0"/>
              </a:rPr>
              <a:t>现场</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当前</a:t>
            </a:r>
            <a:r>
              <a:rPr lang="zh-CN" altLang="en-US" b="1" dirty="0">
                <a:latin typeface="Times New Roman" panose="02020603050405020304" pitchFamily="18" charset="0"/>
                <a:cs typeface="Times New Roman" panose="02020603050405020304" pitchFamily="18" charset="0"/>
              </a:rPr>
              <a:t>进程状态置为</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等待</a:t>
            </a:r>
            <a:r>
              <a:rPr lang="en-US" altLang="zh-CN" b="1" dirty="0">
                <a:latin typeface="Times New Roman" panose="02020603050405020304" pitchFamily="18" charset="0"/>
                <a:cs typeface="Times New Roman" panose="02020603050405020304" pitchFamily="18" charset="0"/>
              </a:rPr>
              <a:t>″</a:t>
            </a:r>
          </a:p>
          <a:p>
            <a:pPr>
              <a:spcBef>
                <a:spcPct val="0"/>
              </a:spcBef>
            </a:pP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将</a:t>
            </a:r>
            <a:r>
              <a:rPr lang="zh-CN" altLang="en-US" b="1" dirty="0">
                <a:latin typeface="Times New Roman" panose="02020603050405020304" pitchFamily="18" charset="0"/>
                <a:cs typeface="Times New Roman" panose="02020603050405020304" pitchFamily="18" charset="0"/>
              </a:rPr>
              <a:t>当前进程插入信号</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等待队列</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转</a:t>
            </a:r>
            <a:r>
              <a:rPr lang="zh-CN" altLang="en-US" b="1" dirty="0">
                <a:latin typeface="Times New Roman" panose="02020603050405020304" pitchFamily="18" charset="0"/>
                <a:cs typeface="Times New Roman" panose="02020603050405020304" pitchFamily="18" charset="0"/>
              </a:rPr>
              <a:t>进程调度</a:t>
            </a:r>
          </a:p>
          <a:p>
            <a:pPr>
              <a:spcBef>
                <a:spcPct val="0"/>
              </a:spcBef>
            </a:pP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fi</a:t>
            </a:r>
            <a:endParaRPr lang="en-US" altLang="zh-CN" b="1" dirty="0">
              <a:latin typeface="Times New Roman" panose="02020603050405020304" pitchFamily="18" charset="0"/>
              <a:cs typeface="Times New Roman" panose="02020603050405020304" pitchFamily="18" charset="0"/>
            </a:endParaRPr>
          </a:p>
          <a:p>
            <a:pPr>
              <a:spcBef>
                <a:spcPct val="0"/>
              </a:spcBef>
            </a:pPr>
            <a:r>
              <a:rPr lang="en-US" altLang="zh-CN" b="1" dirty="0" smtClean="0">
                <a:latin typeface="Times New Roman" panose="02020603050405020304" pitchFamily="18" charset="0"/>
                <a:cs typeface="Times New Roman" panose="02020603050405020304" pitchFamily="18" charset="0"/>
              </a:rPr>
              <a:t>            unlock(</a:t>
            </a:r>
            <a:r>
              <a:rPr lang="en-US" altLang="zh-CN" b="1" dirty="0" err="1" smtClean="0">
                <a:latin typeface="Times New Roman" panose="02020603050405020304" pitchFamily="18" charset="0"/>
                <a:cs typeface="Times New Roman" panose="02020603050405020304" pitchFamily="18" charset="0"/>
              </a:rPr>
              <a:t>lockbit</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；开放中断</a:t>
            </a:r>
          </a:p>
          <a:p>
            <a:pPr>
              <a:spcBef>
                <a:spcPct val="0"/>
              </a:spcBef>
            </a:pP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end</a:t>
            </a:r>
            <a:endParaRPr lang="en-US" altLang="zh-CN" b="1" dirty="0">
              <a:latin typeface="Times New Roman" panose="02020603050405020304" pitchFamily="18" charset="0"/>
              <a:cs typeface="Times New Roman" panose="02020603050405020304" pitchFamily="18" charset="0"/>
            </a:endParaRPr>
          </a:p>
        </p:txBody>
      </p:sp>
      <p:sp>
        <p:nvSpPr>
          <p:cNvPr id="29" name="矩形 28"/>
          <p:cNvSpPr/>
          <p:nvPr/>
        </p:nvSpPr>
        <p:spPr>
          <a:xfrm>
            <a:off x="4788024" y="1038199"/>
            <a:ext cx="4104456" cy="3970318"/>
          </a:xfrm>
          <a:prstGeom prst="rect">
            <a:avLst/>
          </a:prstGeom>
          <a:solidFill>
            <a:srgbClr val="0E2D07"/>
          </a:solidFill>
          <a:scene3d>
            <a:camera prst="orthographicFront"/>
            <a:lightRig rig="threePt" dir="t"/>
          </a:scene3d>
          <a:sp3d>
            <a:bevelT/>
          </a:sp3d>
        </p:spPr>
        <p:style>
          <a:lnRef idx="1">
            <a:schemeClr val="accent3"/>
          </a:lnRef>
          <a:fillRef idx="3">
            <a:schemeClr val="accent3"/>
          </a:fillRef>
          <a:effectRef idx="2">
            <a:schemeClr val="accent3"/>
          </a:effectRef>
          <a:fontRef idx="minor">
            <a:schemeClr val="lt1"/>
          </a:fontRef>
        </p:style>
        <p:txBody>
          <a:bodyPr wrap="square">
            <a:spAutoFit/>
          </a:bodyPr>
          <a:lstStyle/>
          <a:p>
            <a:pPr>
              <a:spcBef>
                <a:spcPct val="0"/>
              </a:spcBef>
            </a:pPr>
            <a:r>
              <a:rPr lang="zh-CN" altLang="en-US" b="1" dirty="0">
                <a:latin typeface="Times New Roman" panose="02020603050405020304" pitchFamily="18" charset="0"/>
                <a:cs typeface="Times New Roman" panose="02020603050405020304" pitchFamily="18" charset="0"/>
              </a:rPr>
              <a:t>Ｖ（</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begin</a:t>
            </a:r>
            <a:endParaRPr lang="en-US" altLang="zh-CN" b="1" dirty="0">
              <a:latin typeface="Times New Roman" panose="02020603050405020304" pitchFamily="18" charset="0"/>
              <a:cs typeface="Times New Roman" panose="02020603050405020304" pitchFamily="18" charset="0"/>
            </a:endParaRP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封锁</a:t>
            </a:r>
            <a:r>
              <a:rPr lang="zh-CN" altLang="en-US" b="1" dirty="0">
                <a:latin typeface="Times New Roman" panose="02020603050405020304" pitchFamily="18" charset="0"/>
                <a:cs typeface="Times New Roman" panose="02020603050405020304" pitchFamily="18" charset="0"/>
              </a:rPr>
              <a:t>中断；</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lock(</a:t>
            </a:r>
            <a:r>
              <a:rPr lang="en-US" altLang="zh-CN" b="1" dirty="0" err="1" smtClean="0">
                <a:latin typeface="Times New Roman" panose="02020603050405020304" pitchFamily="18" charset="0"/>
                <a:cs typeface="Times New Roman" panose="02020603050405020304" pitchFamily="18" charset="0"/>
              </a:rPr>
              <a:t>lockbit</a:t>
            </a:r>
            <a:r>
              <a:rPr lang="en-US" altLang="zh-CN" b="1" dirty="0">
                <a:latin typeface="Times New Roman" panose="02020603050405020304" pitchFamily="18" charset="0"/>
                <a:cs typeface="Times New Roman" panose="02020603050405020304" pitchFamily="18" charset="0"/>
              </a:rPr>
              <a:t>)</a:t>
            </a: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va</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val</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a:t>
            </a: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if </a:t>
            </a:r>
            <a:r>
              <a:rPr lang="en-US" altLang="zh-CN" b="1" dirty="0" err="1">
                <a:latin typeface="Times New Roman" panose="02020603050405020304" pitchFamily="18" charset="0"/>
                <a:cs typeface="Times New Roman" panose="02020603050405020304" pitchFamily="18" charset="0"/>
              </a:rPr>
              <a:t>val</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0</a:t>
            </a: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localk</a:t>
            </a:r>
            <a:endParaRPr lang="en-US" altLang="zh-CN" b="1" dirty="0">
              <a:latin typeface="Times New Roman" panose="02020603050405020304" pitchFamily="18" charset="0"/>
              <a:cs typeface="Times New Roman" panose="02020603050405020304" pitchFamily="18" charset="0"/>
            </a:endParaRP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从</a:t>
            </a:r>
            <a:r>
              <a:rPr lang="en-US" altLang="zh-CN" b="1" dirty="0" err="1">
                <a:latin typeface="Times New Roman" panose="02020603050405020304" pitchFamily="18" charset="0"/>
                <a:cs typeface="Times New Roman" panose="02020603050405020304" pitchFamily="18" charset="0"/>
              </a:rPr>
              <a:t>sem</a:t>
            </a:r>
            <a:r>
              <a:rPr lang="zh-CN" altLang="en-US" b="1" dirty="0">
                <a:latin typeface="Times New Roman" panose="02020603050405020304" pitchFamily="18" charset="0"/>
                <a:cs typeface="Times New Roman" panose="02020603050405020304" pitchFamily="18" charset="0"/>
              </a:rPr>
              <a:t>等待队列中选取</a:t>
            </a:r>
            <a:r>
              <a:rPr lang="zh-CN" altLang="en-US" b="1" dirty="0" smtClean="0">
                <a:latin typeface="Times New Roman" panose="02020603050405020304" pitchFamily="18" charset="0"/>
                <a:cs typeface="Times New Roman" panose="02020603050405020304" pitchFamily="18" charset="0"/>
              </a:rPr>
              <a:t>一等</a:t>
            </a:r>
            <a:r>
              <a:rPr lang="en-US" altLang="zh-CN" b="1" dirty="0" smtClean="0">
                <a:latin typeface="Times New Roman" panose="02020603050405020304" pitchFamily="18" charset="0"/>
                <a:cs typeface="Times New Roman" panose="02020603050405020304" pitchFamily="18" charset="0"/>
              </a:rPr>
              <a:t>	   </a:t>
            </a:r>
            <a:r>
              <a:rPr lang="zh-CN" altLang="en-US" b="1" smtClean="0">
                <a:latin typeface="Times New Roman" panose="02020603050405020304" pitchFamily="18" charset="0"/>
                <a:cs typeface="Times New Roman" panose="02020603050405020304" pitchFamily="18" charset="0"/>
              </a:rPr>
              <a:t>待进程</a:t>
            </a:r>
            <a:r>
              <a:rPr lang="zh-CN" altLang="en-US" b="1" dirty="0">
                <a:latin typeface="Times New Roman" panose="02020603050405020304" pitchFamily="18" charset="0"/>
                <a:cs typeface="Times New Roman" panose="02020603050405020304" pitchFamily="18" charset="0"/>
              </a:rPr>
              <a:t>，将其指针置入</a:t>
            </a:r>
            <a:r>
              <a:rPr lang="en-US" altLang="zh-CN" b="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中</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将</a:t>
            </a:r>
            <a:r>
              <a:rPr lang="en-US" altLang="zh-CN" b="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插入就绪队列</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进程状态</a:t>
            </a:r>
            <a:r>
              <a:rPr lang="zh-CN" altLang="en-US" b="1" dirty="0">
                <a:latin typeface="Times New Roman" panose="02020603050405020304" pitchFamily="18" charset="0"/>
                <a:cs typeface="Times New Roman" panose="02020603050405020304" pitchFamily="18" charset="0"/>
              </a:rPr>
              <a:t>置“就绪”</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fi</a:t>
            </a:r>
            <a:endParaRPr lang="en-US" altLang="zh-CN" b="1" dirty="0">
              <a:latin typeface="Times New Roman" panose="02020603050405020304" pitchFamily="18" charset="0"/>
              <a:cs typeface="Times New Roman" panose="02020603050405020304" pitchFamily="18" charset="0"/>
            </a:endParaRP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unlock(</a:t>
            </a:r>
            <a:r>
              <a:rPr lang="en-US" altLang="zh-CN" b="1" dirty="0" err="1" smtClean="0">
                <a:latin typeface="Times New Roman" panose="02020603050405020304" pitchFamily="18" charset="0"/>
                <a:cs typeface="Times New Roman" panose="02020603050405020304" pitchFamily="18" charset="0"/>
              </a:rPr>
              <a:t>lockbit</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；开放中断</a:t>
            </a:r>
          </a:p>
          <a:p>
            <a:pPr>
              <a:spcBef>
                <a:spcPct val="0"/>
              </a:spcBef>
            </a:pPr>
            <a:r>
              <a:rPr lang="en-US" altLang="zh-CN" b="1" dirty="0" smtClean="0">
                <a:latin typeface="Times New Roman" panose="02020603050405020304" pitchFamily="18" charset="0"/>
                <a:cs typeface="Times New Roman" panose="02020603050405020304" pitchFamily="18" charset="0"/>
              </a:rPr>
              <a:t>       end</a:t>
            </a:r>
            <a:endParaRPr lang="en-US" altLang="zh-CN"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用Ｐ，Ｖ原语实现进程互斥</a:t>
            </a:r>
          </a:p>
        </p:txBody>
      </p:sp>
      <p:pic>
        <p:nvPicPr>
          <p:cNvPr id="29" name="Picture 7" descr="j02453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8206" y="1809608"/>
            <a:ext cx="1125537" cy="95408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4124786" y="1572281"/>
            <a:ext cx="769763" cy="369332"/>
          </a:xfrm>
          <a:prstGeom prst="rect">
            <a:avLst/>
          </a:prstGeom>
        </p:spPr>
        <p:txBody>
          <a:bodyPr wrap="none">
            <a:spAutoFit/>
          </a:bodyPr>
          <a:lstStyle/>
          <a:p>
            <a:r>
              <a:rPr lang="en-US" altLang="zh-CN" b="1" dirty="0" err="1" smtClean="0">
                <a:solidFill>
                  <a:srgbClr val="FFFF00"/>
                </a:solidFill>
                <a:latin typeface="+mn-ea"/>
              </a:rPr>
              <a:t>Sem</a:t>
            </a:r>
            <a:r>
              <a:rPr lang="en-US" altLang="zh-CN" b="1" dirty="0" smtClean="0">
                <a:solidFill>
                  <a:srgbClr val="FFFF00"/>
                </a:solidFill>
                <a:latin typeface="+mn-ea"/>
              </a:rPr>
              <a:t>=1</a:t>
            </a:r>
            <a:endParaRPr lang="zh-CN" altLang="en-US" dirty="0"/>
          </a:p>
        </p:txBody>
      </p:sp>
      <p:pic>
        <p:nvPicPr>
          <p:cNvPr id="30" name="Picture 5" descr="j023828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2635" y="1131590"/>
            <a:ext cx="1158875" cy="109696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732151" y="2330036"/>
            <a:ext cx="1699504" cy="369332"/>
          </a:xfrm>
          <a:prstGeom prst="rect">
            <a:avLst/>
          </a:prstGeom>
        </p:spPr>
        <p:txBody>
          <a:bodyPr wrap="none">
            <a:spAutoFit/>
          </a:bodyPr>
          <a:lstStyle/>
          <a:p>
            <a:r>
              <a:rPr lang="zh-CN" altLang="en-US" b="1" dirty="0">
                <a:solidFill>
                  <a:srgbClr val="FFFF00"/>
                </a:solidFill>
                <a:latin typeface="+mn-ea"/>
              </a:rPr>
              <a:t>Ｐ</a:t>
            </a:r>
            <a:r>
              <a:rPr lang="zh-CN" altLang="en-US" b="1" dirty="0" smtClean="0">
                <a:solidFill>
                  <a:srgbClr val="FFFF00"/>
                </a:solidFill>
                <a:latin typeface="+mn-ea"/>
              </a:rPr>
              <a:t>原语→</a:t>
            </a:r>
            <a:r>
              <a:rPr lang="en-US" altLang="zh-CN" b="1" dirty="0" err="1" smtClean="0">
                <a:solidFill>
                  <a:srgbClr val="FFFF00"/>
                </a:solidFill>
                <a:latin typeface="+mn-ea"/>
              </a:rPr>
              <a:t>sem</a:t>
            </a:r>
            <a:r>
              <a:rPr lang="en-US" altLang="zh-CN" b="1" dirty="0" smtClean="0">
                <a:solidFill>
                  <a:srgbClr val="FFFF00"/>
                </a:solidFill>
                <a:latin typeface="+mn-ea"/>
              </a:rPr>
              <a:t>=0</a:t>
            </a:r>
            <a:endParaRPr lang="zh-CN" altLang="en-US" dirty="0"/>
          </a:p>
        </p:txBody>
      </p:sp>
      <p:sp>
        <p:nvSpPr>
          <p:cNvPr id="31" name="燕尾形箭头 30"/>
          <p:cNvSpPr/>
          <p:nvPr/>
        </p:nvSpPr>
        <p:spPr>
          <a:xfrm rot="830747">
            <a:off x="3093096" y="1796413"/>
            <a:ext cx="913090" cy="387623"/>
          </a:xfrm>
          <a:prstGeom prst="notch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pic>
        <p:nvPicPr>
          <p:cNvPr id="32" name="Picture 6" descr="j029230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27806" y="2895081"/>
            <a:ext cx="1508193" cy="89003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矩形 32"/>
          <p:cNvSpPr/>
          <p:nvPr/>
        </p:nvSpPr>
        <p:spPr>
          <a:xfrm>
            <a:off x="1067026" y="3801213"/>
            <a:ext cx="3565400" cy="369332"/>
          </a:xfrm>
          <a:prstGeom prst="rect">
            <a:avLst/>
          </a:prstGeom>
        </p:spPr>
        <p:txBody>
          <a:bodyPr wrap="none">
            <a:spAutoFit/>
          </a:bodyPr>
          <a:lstStyle/>
          <a:p>
            <a:r>
              <a:rPr lang="zh-CN" altLang="en-US" b="1" dirty="0">
                <a:solidFill>
                  <a:srgbClr val="FFFF00"/>
                </a:solidFill>
                <a:latin typeface="+mn-ea"/>
              </a:rPr>
              <a:t>Ｐ</a:t>
            </a:r>
            <a:r>
              <a:rPr lang="zh-CN" altLang="en-US" b="1" dirty="0" smtClean="0">
                <a:solidFill>
                  <a:srgbClr val="FFFF00"/>
                </a:solidFill>
                <a:latin typeface="+mn-ea"/>
              </a:rPr>
              <a:t>原语→</a:t>
            </a:r>
            <a:r>
              <a:rPr lang="en-US" altLang="zh-CN" b="1" dirty="0" err="1" smtClean="0">
                <a:solidFill>
                  <a:srgbClr val="FFFF00"/>
                </a:solidFill>
                <a:latin typeface="+mn-ea"/>
              </a:rPr>
              <a:t>sem</a:t>
            </a:r>
            <a:r>
              <a:rPr lang="en-US" altLang="zh-CN" b="1" dirty="0" smtClean="0">
                <a:solidFill>
                  <a:srgbClr val="FFFF00"/>
                </a:solidFill>
                <a:latin typeface="+mn-ea"/>
              </a:rPr>
              <a:t>=-1  </a:t>
            </a:r>
            <a:r>
              <a:rPr lang="zh-CN" altLang="en-US" b="1" dirty="0" smtClean="0">
                <a:solidFill>
                  <a:srgbClr val="FFFF00"/>
                </a:solidFill>
                <a:latin typeface="+mn-ea"/>
              </a:rPr>
              <a:t>该进程被阻塞</a:t>
            </a:r>
            <a:endParaRPr lang="zh-CN" altLang="en-US" dirty="0"/>
          </a:p>
        </p:txBody>
      </p:sp>
      <p:sp>
        <p:nvSpPr>
          <p:cNvPr id="34" name="矩形 33"/>
          <p:cNvSpPr/>
          <p:nvPr/>
        </p:nvSpPr>
        <p:spPr>
          <a:xfrm>
            <a:off x="4973743" y="1809608"/>
            <a:ext cx="1584088" cy="369332"/>
          </a:xfrm>
          <a:prstGeom prst="rect">
            <a:avLst/>
          </a:prstGeom>
        </p:spPr>
        <p:txBody>
          <a:bodyPr wrap="none">
            <a:spAutoFit/>
          </a:bodyPr>
          <a:lstStyle/>
          <a:p>
            <a:r>
              <a:rPr lang="en-US" altLang="zh-CN" b="1" dirty="0" smtClean="0">
                <a:solidFill>
                  <a:srgbClr val="FFFF00"/>
                </a:solidFill>
                <a:latin typeface="+mn-ea"/>
              </a:rPr>
              <a:t>V</a:t>
            </a:r>
            <a:r>
              <a:rPr lang="zh-CN" altLang="en-US" b="1" dirty="0" smtClean="0">
                <a:solidFill>
                  <a:srgbClr val="FFFF00"/>
                </a:solidFill>
                <a:latin typeface="+mn-ea"/>
              </a:rPr>
              <a:t>原语→</a:t>
            </a:r>
            <a:r>
              <a:rPr lang="en-US" altLang="zh-CN" b="1" dirty="0" err="1" smtClean="0">
                <a:solidFill>
                  <a:srgbClr val="FFFF00"/>
                </a:solidFill>
                <a:latin typeface="+mn-ea"/>
              </a:rPr>
              <a:t>sem</a:t>
            </a:r>
            <a:r>
              <a:rPr lang="en-US" altLang="zh-CN" b="1" dirty="0" smtClean="0">
                <a:solidFill>
                  <a:srgbClr val="FFFF00"/>
                </a:solidFill>
                <a:latin typeface="+mn-ea"/>
              </a:rPr>
              <a:t>=0</a:t>
            </a:r>
            <a:endParaRPr lang="zh-CN" altLang="en-US" dirty="0"/>
          </a:p>
        </p:txBody>
      </p:sp>
      <p:grpSp>
        <p:nvGrpSpPr>
          <p:cNvPr id="6" name="组合 5"/>
          <p:cNvGrpSpPr/>
          <p:nvPr/>
        </p:nvGrpSpPr>
        <p:grpSpPr>
          <a:xfrm>
            <a:off x="5117824" y="2137872"/>
            <a:ext cx="1614416" cy="2359190"/>
            <a:chOff x="4959282" y="2259328"/>
            <a:chExt cx="1614416" cy="2359190"/>
          </a:xfrm>
        </p:grpSpPr>
        <p:sp>
          <p:nvSpPr>
            <p:cNvPr id="5" name="燕尾形箭头 4"/>
            <p:cNvSpPr/>
            <p:nvPr/>
          </p:nvSpPr>
          <p:spPr>
            <a:xfrm rot="8023026">
              <a:off x="4047259" y="3171351"/>
              <a:ext cx="2359190" cy="535143"/>
            </a:xfrm>
            <a:prstGeom prst="notched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
          <p:nvSpPr>
            <p:cNvPr id="35" name="矩形 34"/>
            <p:cNvSpPr/>
            <p:nvPr/>
          </p:nvSpPr>
          <p:spPr>
            <a:xfrm>
              <a:off x="5226854" y="3589068"/>
              <a:ext cx="1346844" cy="369332"/>
            </a:xfrm>
            <a:prstGeom prst="rect">
              <a:avLst/>
            </a:prstGeom>
          </p:spPr>
          <p:txBody>
            <a:bodyPr wrap="none">
              <a:spAutoFit/>
            </a:bodyPr>
            <a:lstStyle/>
            <a:p>
              <a:r>
                <a:rPr lang="zh-CN" altLang="en-US" b="1" dirty="0" smtClean="0">
                  <a:solidFill>
                    <a:srgbClr val="FFFF00"/>
                  </a:solidFill>
                  <a:latin typeface="+mn-ea"/>
                </a:rPr>
                <a:t>进程被唤醒</a:t>
              </a:r>
              <a:endParaRPr lang="zh-CN" altLang="en-US" dirty="0"/>
            </a:p>
          </p:txBody>
        </p:sp>
      </p:grpSp>
      <p:sp>
        <p:nvSpPr>
          <p:cNvPr id="36" name="燕尾形箭头 35"/>
          <p:cNvSpPr/>
          <p:nvPr/>
        </p:nvSpPr>
        <p:spPr>
          <a:xfrm rot="19463953">
            <a:off x="3445813" y="2921646"/>
            <a:ext cx="913090" cy="387623"/>
          </a:xfrm>
          <a:prstGeom prst="notch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7" name="矩形 36"/>
          <p:cNvSpPr/>
          <p:nvPr/>
        </p:nvSpPr>
        <p:spPr>
          <a:xfrm>
            <a:off x="3351217" y="3367553"/>
            <a:ext cx="1584088" cy="369332"/>
          </a:xfrm>
          <a:prstGeom prst="rect">
            <a:avLst/>
          </a:prstGeom>
        </p:spPr>
        <p:txBody>
          <a:bodyPr wrap="none">
            <a:spAutoFit/>
          </a:bodyPr>
          <a:lstStyle/>
          <a:p>
            <a:r>
              <a:rPr lang="en-US" altLang="zh-CN" b="1" dirty="0" smtClean="0">
                <a:solidFill>
                  <a:srgbClr val="FFFF00"/>
                </a:solidFill>
                <a:latin typeface="+mn-ea"/>
              </a:rPr>
              <a:t>V</a:t>
            </a:r>
            <a:r>
              <a:rPr lang="zh-CN" altLang="en-US" b="1" dirty="0" smtClean="0">
                <a:solidFill>
                  <a:srgbClr val="FFFF00"/>
                </a:solidFill>
                <a:latin typeface="+mn-ea"/>
              </a:rPr>
              <a:t>原语→</a:t>
            </a:r>
            <a:r>
              <a:rPr lang="en-US" altLang="zh-CN" b="1" dirty="0" err="1" smtClean="0">
                <a:solidFill>
                  <a:srgbClr val="FFFF00"/>
                </a:solidFill>
                <a:latin typeface="+mn-ea"/>
              </a:rPr>
              <a:t>sem</a:t>
            </a:r>
            <a:r>
              <a:rPr lang="en-US" altLang="zh-CN" b="1" dirty="0" smtClean="0">
                <a:solidFill>
                  <a:srgbClr val="FFFF00"/>
                </a:solidFill>
                <a:latin typeface="+mn-ea"/>
              </a:rPr>
              <a:t>=1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
                                            <p:txEl>
                                              <p:pRg st="0" end="0"/>
                                            </p:txEl>
                                          </p:spTgt>
                                        </p:tgtEl>
                                        <p:attrNameLst>
                                          <p:attrName>style.visibility</p:attrName>
                                        </p:attrNameLst>
                                      </p:cBhvr>
                                      <p:to>
                                        <p:strVal val="visible"/>
                                      </p:to>
                                    </p:set>
                                    <p:animEffect transition="in" filter="fade">
                                      <p:cBhvr>
                                        <p:cTn id="37" dur="500"/>
                                        <p:tgtEl>
                                          <p:spTgt spid="3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fade">
                                      <p:cBhvr>
                                        <p:cTn id="42" dur="500"/>
                                        <p:tgtEl>
                                          <p:spTgt spid="3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1"/>
                                        </p:tgtEl>
                                      </p:cBhvr>
                                    </p:animEffect>
                                    <p:set>
                                      <p:cBhvr>
                                        <p:cTn id="47" dur="1" fill="hold">
                                          <p:stCondLst>
                                            <p:cond delay="499"/>
                                          </p:stCondLst>
                                        </p:cTn>
                                        <p:tgtEl>
                                          <p:spTgt spid="3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up)">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7">
                                            <p:txEl>
                                              <p:pRg st="0" end="0"/>
                                            </p:txEl>
                                          </p:spTgt>
                                        </p:tgtEl>
                                        <p:attrNameLst>
                                          <p:attrName>style.visibility</p:attrName>
                                        </p:attrNameLst>
                                      </p:cBhvr>
                                      <p:to>
                                        <p:strVal val="visible"/>
                                      </p:to>
                                    </p:set>
                                    <p:animEffect transition="in" filter="fade">
                                      <p:cBhvr>
                                        <p:cTn id="62" dur="500"/>
                                        <p:tgtEl>
                                          <p:spTgt spid="37">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grpId="1" nodeType="clickEffect">
                                  <p:stCondLst>
                                    <p:cond delay="0"/>
                                  </p:stCondLst>
                                  <p:childTnLst>
                                    <p:animEffect transition="out" filter="fade">
                                      <p:cBhvr>
                                        <p:cTn id="66" dur="500"/>
                                        <p:tgtEl>
                                          <p:spTgt spid="36"/>
                                        </p:tgtEl>
                                      </p:cBhvr>
                                    </p:animEffect>
                                    <p:set>
                                      <p:cBhvr>
                                        <p:cTn id="67"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animBg="1"/>
      <p:bldP spid="31" grpId="1" animBg="1"/>
      <p:bldP spid="36" grpId="0" animBg="1"/>
      <p:bldP spid="36" grpId="1"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用Ｐ，Ｖ原语实现进程互斥</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159834"/>
            <a:ext cx="6941291" cy="3647152"/>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用信号量实现两并发进程</a:t>
            </a:r>
            <a:r>
              <a:rPr lang="en-US" altLang="zh-CN" sz="2200" b="1" dirty="0" smtClean="0">
                <a:solidFill>
                  <a:schemeClr val="bg1"/>
                </a:solidFill>
                <a:latin typeface="+mn-ea"/>
              </a:rPr>
              <a:t>P1</a:t>
            </a:r>
            <a:r>
              <a:rPr lang="zh-CN" altLang="en-US" sz="2200" b="1" dirty="0" smtClean="0">
                <a:solidFill>
                  <a:schemeClr val="bg1"/>
                </a:solidFill>
                <a:latin typeface="+mn-ea"/>
              </a:rPr>
              <a:t>，</a:t>
            </a:r>
            <a:r>
              <a:rPr lang="en-US" altLang="zh-CN" sz="2200" b="1" dirty="0" smtClean="0">
                <a:solidFill>
                  <a:schemeClr val="bg1"/>
                </a:solidFill>
                <a:latin typeface="+mn-ea"/>
              </a:rPr>
              <a:t>P2</a:t>
            </a:r>
            <a:r>
              <a:rPr lang="zh-CN" altLang="en-US" sz="2200" b="1" dirty="0" smtClean="0">
                <a:solidFill>
                  <a:schemeClr val="bg1"/>
                </a:solidFill>
                <a:latin typeface="+mn-ea"/>
              </a:rPr>
              <a:t>互斥的描述如下</a:t>
            </a:r>
            <a:endParaRPr lang="en-US" altLang="zh-CN" sz="22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200" b="1" dirty="0" smtClean="0">
                <a:solidFill>
                  <a:schemeClr val="bg1"/>
                </a:solidFill>
                <a:latin typeface="+mn-ea"/>
              </a:rPr>
              <a:t>1) </a:t>
            </a:r>
            <a:r>
              <a:rPr lang="zh-CN" altLang="en-US" sz="2200" b="1" dirty="0" smtClean="0">
                <a:solidFill>
                  <a:schemeClr val="bg1"/>
                </a:solidFill>
                <a:latin typeface="+mn-ea"/>
              </a:rPr>
              <a:t>设 </a:t>
            </a:r>
            <a:r>
              <a:rPr lang="en-US" altLang="zh-CN" sz="2200" b="1" dirty="0" err="1" smtClean="0">
                <a:solidFill>
                  <a:schemeClr val="bg1"/>
                </a:solidFill>
                <a:latin typeface="+mn-ea"/>
              </a:rPr>
              <a:t>sem</a:t>
            </a:r>
            <a:r>
              <a:rPr lang="zh-CN" altLang="en-US" sz="2200" b="1" dirty="0" smtClean="0">
                <a:solidFill>
                  <a:schemeClr val="bg1"/>
                </a:solidFill>
                <a:latin typeface="+mn-ea"/>
              </a:rPr>
              <a:t>为互斥信号量，其取值范围为</a:t>
            </a:r>
            <a:r>
              <a:rPr lang="en-US" altLang="zh-CN" sz="2200" b="1" dirty="0" smtClean="0">
                <a:solidFill>
                  <a:schemeClr val="bg1"/>
                </a:solidFill>
                <a:latin typeface="+mn-ea"/>
              </a:rPr>
              <a:t>(1,0,-1)</a:t>
            </a:r>
            <a:r>
              <a:rPr lang="zh-CN" altLang="en-US" sz="2200" b="1" dirty="0" smtClean="0">
                <a:solidFill>
                  <a:schemeClr val="bg1"/>
                </a:solidFill>
                <a:latin typeface="+mn-ea"/>
              </a:rPr>
              <a:t>。</a:t>
            </a:r>
          </a:p>
          <a:p>
            <a:pPr marL="0" lvl="1" algn="just">
              <a:lnSpc>
                <a:spcPct val="150000"/>
              </a:lnSpc>
              <a:buClr>
                <a:schemeClr val="accent6">
                  <a:lumMod val="60000"/>
                  <a:lumOff val="40000"/>
                </a:schemeClr>
              </a:buClr>
            </a:pPr>
            <a:r>
              <a:rPr lang="zh-CN" altLang="en-US" sz="2200" b="1" dirty="0" smtClean="0">
                <a:solidFill>
                  <a:schemeClr val="bg1"/>
                </a:solidFill>
                <a:latin typeface="+mn-ea"/>
              </a:rPr>
              <a:t>   其中</a:t>
            </a:r>
            <a:r>
              <a:rPr lang="en-US" altLang="zh-CN" sz="2200" b="1" dirty="0" err="1" smtClean="0">
                <a:solidFill>
                  <a:srgbClr val="FFFF00"/>
                </a:solidFill>
                <a:latin typeface="+mn-ea"/>
              </a:rPr>
              <a:t>sem</a:t>
            </a:r>
            <a:r>
              <a:rPr lang="en-US" altLang="zh-CN" sz="2200" b="1" dirty="0" smtClean="0">
                <a:solidFill>
                  <a:srgbClr val="FFFF00"/>
                </a:solidFill>
                <a:latin typeface="+mn-ea"/>
              </a:rPr>
              <a:t>=1</a:t>
            </a:r>
            <a:r>
              <a:rPr lang="zh-CN" altLang="en-US" sz="2200" b="1" dirty="0" smtClean="0">
                <a:solidFill>
                  <a:schemeClr val="bg1"/>
                </a:solidFill>
                <a:latin typeface="+mn-ea"/>
              </a:rPr>
              <a:t>表示进程</a:t>
            </a:r>
            <a:r>
              <a:rPr lang="en-US" altLang="zh-CN" sz="2200" b="1" dirty="0" smtClean="0">
                <a:solidFill>
                  <a:schemeClr val="bg1"/>
                </a:solidFill>
                <a:latin typeface="+mn-ea"/>
              </a:rPr>
              <a:t>PA</a:t>
            </a:r>
            <a:r>
              <a:rPr lang="zh-CN" altLang="en-US" sz="2200" b="1" dirty="0" smtClean="0">
                <a:solidFill>
                  <a:schemeClr val="bg1"/>
                </a:solidFill>
                <a:latin typeface="+mn-ea"/>
              </a:rPr>
              <a:t>和</a:t>
            </a:r>
            <a:r>
              <a:rPr lang="en-US" altLang="zh-CN" sz="2200" b="1" dirty="0" smtClean="0">
                <a:solidFill>
                  <a:schemeClr val="bg1"/>
                </a:solidFill>
                <a:latin typeface="+mn-ea"/>
              </a:rPr>
              <a:t>PB</a:t>
            </a:r>
            <a:r>
              <a:rPr lang="zh-CN" altLang="en-US" sz="2200" b="1" dirty="0" smtClean="0">
                <a:solidFill>
                  <a:srgbClr val="FFFF00"/>
                </a:solidFill>
                <a:latin typeface="+mn-ea"/>
              </a:rPr>
              <a:t>都未进入</a:t>
            </a:r>
            <a:r>
              <a:rPr lang="zh-CN" altLang="en-US" sz="2200" b="1" dirty="0" smtClean="0">
                <a:solidFill>
                  <a:schemeClr val="bg1"/>
                </a:solidFill>
                <a:latin typeface="+mn-ea"/>
              </a:rPr>
              <a:t>类名为Ｓ的临界区，</a:t>
            </a:r>
            <a:r>
              <a:rPr lang="en-US" altLang="zh-CN" sz="2200" b="1" dirty="0" err="1" smtClean="0">
                <a:solidFill>
                  <a:srgbClr val="FFFF00"/>
                </a:solidFill>
                <a:latin typeface="+mn-ea"/>
              </a:rPr>
              <a:t>sem</a:t>
            </a:r>
            <a:r>
              <a:rPr lang="en-US" altLang="zh-CN" sz="2200" b="1" dirty="0" smtClean="0">
                <a:solidFill>
                  <a:srgbClr val="FFFF00"/>
                </a:solidFill>
                <a:latin typeface="+mn-ea"/>
              </a:rPr>
              <a:t>=0</a:t>
            </a:r>
            <a:r>
              <a:rPr lang="zh-CN" altLang="en-US" sz="2200" b="1" dirty="0" smtClean="0">
                <a:solidFill>
                  <a:schemeClr val="bg1"/>
                </a:solidFill>
                <a:latin typeface="+mn-ea"/>
              </a:rPr>
              <a:t>表示进程</a:t>
            </a:r>
            <a:r>
              <a:rPr lang="en-US" altLang="zh-CN" sz="2200" b="1" dirty="0" smtClean="0">
                <a:solidFill>
                  <a:srgbClr val="FFFF00"/>
                </a:solidFill>
                <a:latin typeface="+mn-ea"/>
              </a:rPr>
              <a:t>PA</a:t>
            </a:r>
            <a:r>
              <a:rPr lang="zh-CN" altLang="en-US" sz="2200" b="1" dirty="0" smtClean="0">
                <a:solidFill>
                  <a:srgbClr val="FFFF00"/>
                </a:solidFill>
                <a:latin typeface="+mn-ea"/>
              </a:rPr>
              <a:t>或</a:t>
            </a:r>
            <a:r>
              <a:rPr lang="en-US" altLang="zh-CN" sz="2200" b="1" dirty="0" smtClean="0">
                <a:solidFill>
                  <a:srgbClr val="FFFF00"/>
                </a:solidFill>
                <a:latin typeface="+mn-ea"/>
              </a:rPr>
              <a:t>PB</a:t>
            </a:r>
            <a:r>
              <a:rPr lang="zh-CN" altLang="en-US" sz="2200" b="1" dirty="0" smtClean="0">
                <a:solidFill>
                  <a:srgbClr val="FFFF00"/>
                </a:solidFill>
                <a:latin typeface="+mn-ea"/>
              </a:rPr>
              <a:t>已进入</a:t>
            </a:r>
            <a:r>
              <a:rPr lang="zh-CN" altLang="en-US" sz="2200" b="1" dirty="0" smtClean="0">
                <a:solidFill>
                  <a:schemeClr val="bg1"/>
                </a:solidFill>
                <a:latin typeface="+mn-ea"/>
              </a:rPr>
              <a:t>类名为Ｓ的临界区，</a:t>
            </a:r>
            <a:r>
              <a:rPr lang="en-US" altLang="zh-CN" sz="2200" b="1" dirty="0" err="1" smtClean="0">
                <a:solidFill>
                  <a:srgbClr val="FFFF00"/>
                </a:solidFill>
                <a:latin typeface="+mn-ea"/>
              </a:rPr>
              <a:t>sem</a:t>
            </a:r>
            <a:r>
              <a:rPr lang="en-US" altLang="zh-CN" sz="2200" b="1" dirty="0" smtClean="0">
                <a:solidFill>
                  <a:srgbClr val="FFFF00"/>
                </a:solidFill>
                <a:latin typeface="+mn-ea"/>
              </a:rPr>
              <a:t>=-1</a:t>
            </a:r>
            <a:r>
              <a:rPr lang="zh-CN" altLang="en-US" sz="2200" b="1" dirty="0" smtClean="0">
                <a:solidFill>
                  <a:schemeClr val="bg1"/>
                </a:solidFill>
                <a:latin typeface="+mn-ea"/>
              </a:rPr>
              <a:t>表示进程</a:t>
            </a:r>
            <a:r>
              <a:rPr lang="en-US" altLang="zh-CN" sz="2200" b="1" dirty="0" smtClean="0">
                <a:solidFill>
                  <a:schemeClr val="bg1"/>
                </a:solidFill>
                <a:latin typeface="+mn-ea"/>
              </a:rPr>
              <a:t>PA</a:t>
            </a:r>
            <a:r>
              <a:rPr lang="zh-CN" altLang="en-US" sz="2200" b="1" dirty="0" smtClean="0">
                <a:solidFill>
                  <a:schemeClr val="bg1"/>
                </a:solidFill>
                <a:latin typeface="+mn-ea"/>
              </a:rPr>
              <a:t>和</a:t>
            </a:r>
            <a:r>
              <a:rPr lang="en-US" altLang="zh-CN" sz="2200" b="1" dirty="0" smtClean="0">
                <a:solidFill>
                  <a:schemeClr val="bg1"/>
                </a:solidFill>
                <a:latin typeface="+mn-ea"/>
              </a:rPr>
              <a:t>PB</a:t>
            </a:r>
            <a:r>
              <a:rPr lang="zh-CN" altLang="en-US" sz="2200" b="1" dirty="0" smtClean="0">
                <a:solidFill>
                  <a:schemeClr val="bg1"/>
                </a:solidFill>
                <a:latin typeface="+mn-ea"/>
              </a:rPr>
              <a:t>中，一</a:t>
            </a:r>
            <a:r>
              <a:rPr lang="zh-CN" altLang="en-US" sz="2200" b="1" dirty="0" smtClean="0">
                <a:solidFill>
                  <a:srgbClr val="FFFF00"/>
                </a:solidFill>
                <a:latin typeface="+mn-ea"/>
              </a:rPr>
              <a:t>个进程已进入</a:t>
            </a:r>
            <a:r>
              <a:rPr lang="zh-CN" altLang="en-US" sz="2200" b="1" dirty="0" smtClean="0">
                <a:solidFill>
                  <a:schemeClr val="bg1"/>
                </a:solidFill>
                <a:latin typeface="+mn-ea"/>
              </a:rPr>
              <a:t>临界区，而</a:t>
            </a:r>
            <a:r>
              <a:rPr lang="zh-CN" altLang="en-US" sz="2200" b="1" dirty="0" smtClean="0">
                <a:solidFill>
                  <a:srgbClr val="FFFF00"/>
                </a:solidFill>
                <a:latin typeface="+mn-ea"/>
              </a:rPr>
              <a:t>另一个</a:t>
            </a:r>
            <a:r>
              <a:rPr lang="zh-CN" altLang="en-US" sz="2200" b="1" dirty="0" smtClean="0">
                <a:solidFill>
                  <a:schemeClr val="bg1"/>
                </a:solidFill>
                <a:latin typeface="+mn-ea"/>
              </a:rPr>
              <a:t>进程</a:t>
            </a:r>
            <a:r>
              <a:rPr lang="zh-CN" altLang="en-US" sz="2200" b="1" dirty="0" smtClean="0">
                <a:solidFill>
                  <a:srgbClr val="FFFF00"/>
                </a:solidFill>
                <a:latin typeface="+mn-ea"/>
              </a:rPr>
              <a:t>等待</a:t>
            </a:r>
            <a:r>
              <a:rPr lang="zh-CN" altLang="en-US" sz="2200" b="1" dirty="0" smtClean="0">
                <a:solidFill>
                  <a:schemeClr val="bg1"/>
                </a:solidFill>
                <a:latin typeface="+mn-ea"/>
              </a:rPr>
              <a:t>进入临界区。</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200" b="1" dirty="0">
              <a:solidFill>
                <a:schemeClr val="bg1"/>
              </a:solidFill>
              <a:latin typeface="+mn-ea"/>
            </a:endParaRPr>
          </a:p>
        </p:txBody>
      </p:sp>
      <p:pic>
        <p:nvPicPr>
          <p:cNvPr id="2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24112"/>
          <a:stretch>
            <a:fillRect/>
          </a:stretch>
        </p:blipFill>
        <p:spPr bwMode="auto">
          <a:xfrm>
            <a:off x="899592" y="1085835"/>
            <a:ext cx="6348413" cy="3006997"/>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6350">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500" fill="hold"/>
                                        <p:tgtEl>
                                          <p:spTgt spid="29"/>
                                        </p:tgtEl>
                                        <p:attrNameLst>
                                          <p:attrName>ppt_x</p:attrName>
                                        </p:attrNameLst>
                                      </p:cBhvr>
                                      <p:tavLst>
                                        <p:tav tm="0">
                                          <p:val>
                                            <p:strVal val="#ppt_x"/>
                                          </p:val>
                                        </p:tav>
                                        <p:tav tm="100000">
                                          <p:val>
                                            <p:strVal val="#ppt_x"/>
                                          </p:val>
                                        </p:tav>
                                      </p:tavLst>
                                    </p:anim>
                                    <p:anim calcmode="lin" valueType="num">
                                      <p:cBhvr additive="base">
                                        <p:cTn id="2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12768"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在一组并发执行进程中，除了因为竞争公有资源而引起的间接制约带来进程之间互斥之外，还存在有因为</a:t>
            </a:r>
            <a:r>
              <a:rPr lang="zh-CN" altLang="en-US" sz="2400" b="1" dirty="0">
                <a:solidFill>
                  <a:srgbClr val="FFFF00"/>
                </a:solidFill>
                <a:latin typeface="+mn-ea"/>
              </a:rPr>
              <a:t>并发进程互相共享对方的私有资源所引起的</a:t>
            </a:r>
            <a:r>
              <a:rPr lang="zh-CN" altLang="en-US" sz="2400" b="1" u="sng" dirty="0">
                <a:solidFill>
                  <a:srgbClr val="FFFF00"/>
                </a:solidFill>
                <a:latin typeface="+mn-ea"/>
              </a:rPr>
              <a:t>直接制约</a:t>
            </a:r>
            <a:r>
              <a:rPr lang="zh-CN" altLang="en-US" sz="2400" b="1" dirty="0">
                <a:solidFill>
                  <a:schemeClr val="bg1"/>
                </a:solidFill>
                <a:latin typeface="+mn-ea"/>
              </a:rPr>
              <a:t>。直接制约将使得各并发进程同步执行。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同步的概念</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70415"/>
            <a:ext cx="6941291" cy="2600327"/>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en-US" altLang="zh-CN" sz="2400" b="1" dirty="0">
                <a:solidFill>
                  <a:schemeClr val="bg1"/>
                </a:solidFill>
                <a:latin typeface="+mn-ea"/>
              </a:rPr>
              <a:t>P</a:t>
            </a:r>
            <a:r>
              <a:rPr lang="en-US" altLang="zh-CN" sz="2400" b="1" baseline="-25000" dirty="0">
                <a:solidFill>
                  <a:schemeClr val="bg1"/>
                </a:solidFill>
                <a:latin typeface="+mn-ea"/>
              </a:rPr>
              <a:t>C</a:t>
            </a:r>
            <a:r>
              <a:rPr lang="zh-CN" altLang="en-US" sz="2400" b="1" dirty="0">
                <a:solidFill>
                  <a:schemeClr val="bg1"/>
                </a:solidFill>
                <a:latin typeface="+mn-ea"/>
              </a:rPr>
              <a:t>的输出结果是</a:t>
            </a:r>
            <a:r>
              <a:rPr lang="en-US" altLang="zh-CN" sz="2400" b="1" dirty="0">
                <a:solidFill>
                  <a:schemeClr val="bg1"/>
                </a:solidFill>
                <a:latin typeface="+mn-ea"/>
              </a:rPr>
              <a:t>P</a:t>
            </a:r>
            <a:r>
              <a:rPr lang="en-US" altLang="zh-CN" sz="2400" b="1" baseline="-25000" dirty="0">
                <a:solidFill>
                  <a:schemeClr val="bg1"/>
                </a:solidFill>
                <a:latin typeface="+mn-ea"/>
              </a:rPr>
              <a:t>P</a:t>
            </a:r>
            <a:r>
              <a:rPr lang="zh-CN" altLang="en-US" sz="2400" b="1" dirty="0">
                <a:solidFill>
                  <a:schemeClr val="bg1"/>
                </a:solidFill>
                <a:latin typeface="+mn-ea"/>
              </a:rPr>
              <a:t>的执行条件，反过来，</a:t>
            </a:r>
            <a:r>
              <a:rPr lang="en-US" altLang="zh-CN" sz="2400" b="1" dirty="0">
                <a:solidFill>
                  <a:schemeClr val="bg1"/>
                </a:solidFill>
                <a:latin typeface="+mn-ea"/>
              </a:rPr>
              <a:t>P</a:t>
            </a:r>
            <a:r>
              <a:rPr lang="en-US" altLang="zh-CN" sz="2400" b="1" baseline="-25000" dirty="0">
                <a:solidFill>
                  <a:schemeClr val="bg1"/>
                </a:solidFill>
                <a:latin typeface="+mn-ea"/>
              </a:rPr>
              <a:t>P</a:t>
            </a:r>
            <a:r>
              <a:rPr lang="zh-CN" altLang="en-US" sz="2400" b="1" dirty="0">
                <a:solidFill>
                  <a:schemeClr val="bg1"/>
                </a:solidFill>
                <a:latin typeface="+mn-ea"/>
              </a:rPr>
              <a:t>的执行结果也是</a:t>
            </a:r>
            <a:r>
              <a:rPr lang="en-US" altLang="zh-CN" sz="2400" b="1" dirty="0">
                <a:solidFill>
                  <a:schemeClr val="bg1"/>
                </a:solidFill>
                <a:latin typeface="+mn-ea"/>
              </a:rPr>
              <a:t>P</a:t>
            </a:r>
            <a:r>
              <a:rPr lang="en-US" altLang="zh-CN" sz="2400" b="1" baseline="-25000" dirty="0">
                <a:solidFill>
                  <a:schemeClr val="bg1"/>
                </a:solidFill>
                <a:latin typeface="+mn-ea"/>
              </a:rPr>
              <a:t>C</a:t>
            </a:r>
            <a:r>
              <a:rPr lang="zh-CN" altLang="en-US" sz="2400" b="1" dirty="0">
                <a:solidFill>
                  <a:schemeClr val="bg1"/>
                </a:solidFill>
                <a:latin typeface="+mn-ea"/>
              </a:rPr>
              <a:t>的执行条件。这种现象在操作系统和用户进程中大量存在。这与上节中讲述的进程互斥是不同的，</a:t>
            </a:r>
            <a:r>
              <a:rPr lang="zh-CN" altLang="en-US" sz="2400" b="1" dirty="0">
                <a:solidFill>
                  <a:srgbClr val="FFFF00"/>
                </a:solidFill>
                <a:latin typeface="+mn-ea"/>
              </a:rPr>
              <a:t>进程互斥时它们的执行顺序可以是任意的</a:t>
            </a:r>
            <a:r>
              <a:rPr lang="zh-CN" altLang="en-US" sz="2400" b="1" dirty="0">
                <a:solidFill>
                  <a:schemeClr val="bg1"/>
                </a:solidFill>
                <a:latin typeface="+mn-ea"/>
              </a:rPr>
              <a:t>。</a:t>
            </a:r>
            <a:endParaRPr lang="en-US" altLang="zh-CN"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同步的概念</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941291" cy="1754326"/>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一组在异步环境下的并发进程，各自的执行结果</a:t>
            </a:r>
            <a:r>
              <a:rPr lang="zh-CN" altLang="en-US" sz="2400" b="1" dirty="0">
                <a:solidFill>
                  <a:srgbClr val="FFFF00"/>
                </a:solidFill>
                <a:latin typeface="+mn-ea"/>
              </a:rPr>
              <a:t>互为对方的执行条件</a:t>
            </a:r>
            <a:r>
              <a:rPr lang="zh-CN" altLang="en-US" sz="2400" b="1" dirty="0">
                <a:solidFill>
                  <a:schemeClr val="bg1"/>
                </a:solidFill>
                <a:latin typeface="+mn-ea"/>
              </a:rPr>
              <a:t>，从而限制各进程的执行速度的过程称为并发进程间的</a:t>
            </a:r>
            <a:r>
              <a:rPr lang="zh-CN" altLang="en-US" sz="2400" b="1" dirty="0">
                <a:solidFill>
                  <a:srgbClr val="FFFF00"/>
                </a:solidFill>
                <a:latin typeface="+mn-ea"/>
              </a:rPr>
              <a:t>直接制约</a:t>
            </a:r>
            <a:r>
              <a:rPr lang="zh-CN" altLang="en-US" sz="24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同步的概念</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87624" y="1635646"/>
            <a:ext cx="6408712" cy="230832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把异步环境下的一组并发进程，因</a:t>
            </a:r>
            <a:r>
              <a:rPr lang="zh-CN" altLang="en-US" sz="2400" b="1" dirty="0">
                <a:solidFill>
                  <a:srgbClr val="FFFF00"/>
                </a:solidFill>
                <a:latin typeface="+mn-ea"/>
              </a:rPr>
              <a:t>直接制约而互相发送消息而进行互相合作、互相等待</a:t>
            </a:r>
            <a:r>
              <a:rPr lang="zh-CN" altLang="en-US" sz="2400" b="1" dirty="0">
                <a:solidFill>
                  <a:schemeClr val="bg1"/>
                </a:solidFill>
                <a:latin typeface="+mn-ea"/>
              </a:rPr>
              <a:t>，使得各进程按一定的速度执行的过程称为</a:t>
            </a:r>
            <a:r>
              <a:rPr lang="zh-CN" altLang="en-US" sz="2400" b="1" u="sng" dirty="0">
                <a:solidFill>
                  <a:schemeClr val="accent6">
                    <a:lumMod val="40000"/>
                    <a:lumOff val="60000"/>
                  </a:schemeClr>
                </a:solidFill>
                <a:latin typeface="+mn-ea"/>
              </a:rPr>
              <a:t>进程间的同步</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两个经典的同步问题</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9" name="Rectangle 3"/>
          <p:cNvSpPr>
            <a:spLocks noGrp="1" noChangeArrowheads="1"/>
          </p:cNvSpPr>
          <p:nvPr/>
        </p:nvSpPr>
        <p:spPr bwMode="auto">
          <a:xfrm>
            <a:off x="725537" y="97195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har char="•"/>
              <a:defRPr sz="2800" b="1" kern="1200">
                <a:solidFill>
                  <a:srgbClr val="660033"/>
                </a:solidFill>
                <a:latin typeface="+mn-lt"/>
                <a:ea typeface="+mn-ea"/>
                <a:cs typeface="+mn-cs"/>
              </a:defRPr>
            </a:lvl1pPr>
            <a:lvl2pPr marL="742950" indent="-285750" algn="l" rtl="0" fontAlgn="base">
              <a:spcBef>
                <a:spcPct val="0"/>
              </a:spcBef>
              <a:spcAft>
                <a:spcPct val="0"/>
              </a:spcAft>
              <a:buFont typeface="Arial" panose="020B0604020202020204" pitchFamily="34" charset="0"/>
              <a:buBlip>
                <a:blip r:embed="rId2"/>
              </a:buBlip>
              <a:defRPr sz="2400" b="1" kern="1200">
                <a:solidFill>
                  <a:srgbClr val="660033"/>
                </a:solidFill>
                <a:latin typeface="+mn-lt"/>
                <a:ea typeface="+mn-ea"/>
                <a:cs typeface="+mn-cs"/>
              </a:defRPr>
            </a:lvl2pPr>
            <a:lvl3pPr marL="1143000" indent="-228600" algn="l" rtl="0" fontAlgn="base">
              <a:spcBef>
                <a:spcPct val="0"/>
              </a:spcBef>
              <a:spcAft>
                <a:spcPct val="0"/>
              </a:spcAft>
              <a:buChar char="•"/>
              <a:defRPr sz="2000" b="1" kern="1200">
                <a:solidFill>
                  <a:srgbClr val="660033"/>
                </a:solidFill>
                <a:latin typeface="+mn-lt"/>
                <a:ea typeface="+mn-ea"/>
                <a:cs typeface="+mn-cs"/>
              </a:defRPr>
            </a:lvl3pPr>
            <a:lvl4pPr marL="1600200" indent="-228600" algn="l" rtl="0" fontAlgn="base">
              <a:spcBef>
                <a:spcPct val="0"/>
              </a:spcBef>
              <a:spcAft>
                <a:spcPct val="0"/>
              </a:spcAft>
              <a:buChar char="–"/>
              <a:defRPr b="1" kern="1200">
                <a:solidFill>
                  <a:srgbClr val="660033"/>
                </a:solidFill>
                <a:latin typeface="+mn-lt"/>
                <a:ea typeface="+mn-ea"/>
                <a:cs typeface="+mn-cs"/>
              </a:defRPr>
            </a:lvl4pPr>
            <a:lvl5pPr marL="2057400" indent="-228600" algn="l" rtl="0" fontAlgn="base">
              <a:spcBef>
                <a:spcPct val="0"/>
              </a:spcBef>
              <a:spcAft>
                <a:spcPct val="0"/>
              </a:spcAft>
              <a:buChar char="»"/>
              <a:defRPr sz="1600" b="1" kern="1200">
                <a:solidFill>
                  <a:srgbClr val="6600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lnSpc>
                <a:spcPct val="150000"/>
              </a:lnSpc>
              <a:buClr>
                <a:schemeClr val="accent6">
                  <a:lumMod val="60000"/>
                  <a:lumOff val="40000"/>
                </a:schemeClr>
              </a:buClr>
              <a:buFont typeface="Wingdings" panose="05000000000000000000" pitchFamily="2" charset="2"/>
              <a:buChar char="Ø"/>
            </a:pPr>
            <a:r>
              <a:rPr lang="zh-CN" altLang="en-US" dirty="0">
                <a:solidFill>
                  <a:schemeClr val="bg1"/>
                </a:solidFill>
                <a:latin typeface="+mn-ea"/>
              </a:rPr>
              <a:t>生产者与</a:t>
            </a:r>
            <a:r>
              <a:rPr lang="zh-CN" altLang="en-US" dirty="0" smtClean="0">
                <a:solidFill>
                  <a:schemeClr val="bg1"/>
                </a:solidFill>
                <a:latin typeface="+mn-ea"/>
              </a:rPr>
              <a:t>消费者（均为</a:t>
            </a:r>
            <a:r>
              <a:rPr lang="en-US" altLang="zh-CN" dirty="0" smtClean="0">
                <a:solidFill>
                  <a:schemeClr val="bg1"/>
                </a:solidFill>
                <a:latin typeface="+mn-ea"/>
              </a:rPr>
              <a:t>1</a:t>
            </a:r>
            <a:r>
              <a:rPr lang="zh-CN" altLang="en-US" dirty="0" smtClean="0">
                <a:solidFill>
                  <a:schemeClr val="bg1"/>
                </a:solidFill>
                <a:latin typeface="+mn-ea"/>
              </a:rPr>
              <a:t>个）</a:t>
            </a:r>
            <a:endParaRPr lang="zh-CN" altLang="en-US" dirty="0">
              <a:solidFill>
                <a:schemeClr val="bg1"/>
              </a:solidFill>
              <a:latin typeface="+mn-ea"/>
            </a:endParaRPr>
          </a:p>
          <a:p>
            <a:endParaRPr lang="zh-CN" altLang="en-US" dirty="0"/>
          </a:p>
          <a:p>
            <a:endParaRPr lang="zh-CN" altLang="en-US" dirty="0"/>
          </a:p>
          <a:p>
            <a:pPr marL="0" lvl="1" indent="0" algn="just">
              <a:lnSpc>
                <a:spcPct val="150000"/>
              </a:lnSpc>
              <a:buClr>
                <a:schemeClr val="accent6">
                  <a:lumMod val="60000"/>
                  <a:lumOff val="40000"/>
                </a:schemeClr>
              </a:buClr>
              <a:buFont typeface="Wingdings" panose="05000000000000000000" pitchFamily="2" charset="2"/>
              <a:buChar char="Ø"/>
            </a:pPr>
            <a:r>
              <a:rPr lang="zh-CN" altLang="en-US" dirty="0" smtClean="0">
                <a:solidFill>
                  <a:schemeClr val="bg1"/>
                </a:solidFill>
                <a:latin typeface="+mn-ea"/>
              </a:rPr>
              <a:t>读者</a:t>
            </a:r>
            <a:r>
              <a:rPr lang="zh-CN" altLang="en-US" dirty="0">
                <a:solidFill>
                  <a:schemeClr val="bg1"/>
                </a:solidFill>
                <a:latin typeface="+mn-ea"/>
              </a:rPr>
              <a:t>与写</a:t>
            </a:r>
            <a:r>
              <a:rPr lang="zh-CN" altLang="en-US" dirty="0" smtClean="0">
                <a:solidFill>
                  <a:schemeClr val="bg1"/>
                </a:solidFill>
                <a:latin typeface="+mn-ea"/>
              </a:rPr>
              <a:t>者</a:t>
            </a:r>
            <a:r>
              <a:rPr lang="zh-CN" altLang="en-US" dirty="0">
                <a:solidFill>
                  <a:schemeClr val="bg1"/>
                </a:solidFill>
                <a:latin typeface="+mn-ea"/>
              </a:rPr>
              <a:t>（均为</a:t>
            </a:r>
            <a:r>
              <a:rPr lang="en-US" altLang="zh-CN" dirty="0">
                <a:solidFill>
                  <a:schemeClr val="bg1"/>
                </a:solidFill>
                <a:latin typeface="+mn-ea"/>
              </a:rPr>
              <a:t>1</a:t>
            </a:r>
            <a:r>
              <a:rPr lang="zh-CN" altLang="en-US" dirty="0">
                <a:solidFill>
                  <a:schemeClr val="bg1"/>
                </a:solidFill>
                <a:latin typeface="+mn-ea"/>
              </a:rPr>
              <a:t>个）</a:t>
            </a:r>
          </a:p>
        </p:txBody>
      </p:sp>
      <p:grpSp>
        <p:nvGrpSpPr>
          <p:cNvPr id="3" name="组合 2"/>
          <p:cNvGrpSpPr/>
          <p:nvPr/>
        </p:nvGrpSpPr>
        <p:grpSpPr>
          <a:xfrm>
            <a:off x="1222698" y="1491630"/>
            <a:ext cx="6750687" cy="1162638"/>
            <a:chOff x="1222698" y="1491630"/>
            <a:chExt cx="6750687" cy="1162638"/>
          </a:xfrm>
        </p:grpSpPr>
        <p:pic>
          <p:nvPicPr>
            <p:cNvPr id="30" name="Picture 4" descr="j01983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649" y="1491630"/>
              <a:ext cx="1298736" cy="10301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5" descr="j019849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95787" y="1491630"/>
              <a:ext cx="1296293" cy="102851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j019837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22698" y="1567830"/>
              <a:ext cx="1368152" cy="1086438"/>
            </a:xfrm>
            <a:prstGeom prst="rect">
              <a:avLst/>
            </a:prstGeom>
            <a:noFill/>
            <a:extLst>
              <a:ext uri="{909E8E84-426E-40DD-AFC4-6F175D3DCCD1}">
                <a14:hiddenFill xmlns:a14="http://schemas.microsoft.com/office/drawing/2010/main">
                  <a:solidFill>
                    <a:srgbClr val="FFFFFF"/>
                  </a:solidFill>
                </a14:hiddenFill>
              </a:ext>
            </a:extLst>
          </p:spPr>
        </p:pic>
        <p:sp>
          <p:nvSpPr>
            <p:cNvPr id="33" name="AutoShape 7"/>
            <p:cNvSpPr>
              <a:spLocks noChangeArrowheads="1"/>
            </p:cNvSpPr>
            <p:nvPr/>
          </p:nvSpPr>
          <p:spPr bwMode="auto">
            <a:xfrm>
              <a:off x="2800114" y="1844349"/>
              <a:ext cx="703263" cy="533400"/>
            </a:xfrm>
            <a:prstGeom prst="notchedRightArrow">
              <a:avLst>
                <a:gd name="adj1" fmla="val 50000"/>
                <a:gd name="adj2" fmla="val 32961"/>
              </a:avLst>
            </a:prstGeom>
            <a:noFill/>
            <a:ln w="38100">
              <a:solidFill>
                <a:srgbClr val="FF99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1pPr>
              <a:lvl2pPr marL="4572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2pPr>
              <a:lvl3pPr marL="9144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3pPr>
              <a:lvl4pPr marL="13716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4pPr>
              <a:lvl5pPr marL="18288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5pPr>
              <a:lvl6pPr marL="22860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6pPr>
              <a:lvl7pPr marL="27432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7pPr>
              <a:lvl8pPr marL="32004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8pPr>
              <a:lvl9pPr marL="36576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9pPr>
            </a:lstStyle>
            <a:p>
              <a:pPr algn="ctr" eaLnBrk="0" hangingPunct="0">
                <a:spcBef>
                  <a:spcPct val="0"/>
                </a:spcBef>
                <a:buFontTx/>
                <a:buNone/>
              </a:pPr>
              <a:endParaRPr lang="zh-CN" altLang="zh-CN" sz="2400" b="0">
                <a:solidFill>
                  <a:srgbClr val="FF9966"/>
                </a:solidFill>
                <a:latin typeface="隶书" panose="02010509060101010101" pitchFamily="49" charset="-122"/>
              </a:endParaRPr>
            </a:p>
          </p:txBody>
        </p:sp>
        <p:sp>
          <p:nvSpPr>
            <p:cNvPr id="34" name="AutoShape 8"/>
            <p:cNvSpPr>
              <a:spLocks noChangeArrowheads="1"/>
            </p:cNvSpPr>
            <p:nvPr/>
          </p:nvSpPr>
          <p:spPr bwMode="auto">
            <a:xfrm>
              <a:off x="5645396" y="1844349"/>
              <a:ext cx="703262" cy="533400"/>
            </a:xfrm>
            <a:prstGeom prst="notchedRightArrow">
              <a:avLst>
                <a:gd name="adj1" fmla="val 50000"/>
                <a:gd name="adj2" fmla="val 32961"/>
              </a:avLst>
            </a:prstGeom>
            <a:noFill/>
            <a:ln w="38100">
              <a:solidFill>
                <a:srgbClr val="FF99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1pPr>
              <a:lvl2pPr marL="4572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2pPr>
              <a:lvl3pPr marL="9144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3pPr>
              <a:lvl4pPr marL="13716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4pPr>
              <a:lvl5pPr marL="18288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5pPr>
              <a:lvl6pPr marL="22860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6pPr>
              <a:lvl7pPr marL="27432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7pPr>
              <a:lvl8pPr marL="32004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8pPr>
              <a:lvl9pPr marL="36576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9pPr>
            </a:lstStyle>
            <a:p>
              <a:pPr algn="ctr" eaLnBrk="0" hangingPunct="0">
                <a:spcBef>
                  <a:spcPct val="0"/>
                </a:spcBef>
                <a:buFontTx/>
                <a:buNone/>
              </a:pPr>
              <a:endParaRPr lang="zh-CN" altLang="zh-CN" sz="2400" b="0">
                <a:solidFill>
                  <a:srgbClr val="FF9966"/>
                </a:solidFill>
                <a:latin typeface="隶书" panose="02010509060101010101" pitchFamily="49" charset="-122"/>
              </a:endParaRPr>
            </a:p>
          </p:txBody>
        </p:sp>
      </p:grpSp>
      <p:grpSp>
        <p:nvGrpSpPr>
          <p:cNvPr id="35" name="Group 9"/>
          <p:cNvGrpSpPr/>
          <p:nvPr/>
        </p:nvGrpSpPr>
        <p:grpSpPr bwMode="auto">
          <a:xfrm>
            <a:off x="1043608" y="3158941"/>
            <a:ext cx="6812929" cy="1560512"/>
            <a:chOff x="576" y="2947"/>
            <a:chExt cx="4649" cy="983"/>
          </a:xfrm>
        </p:grpSpPr>
        <p:pic>
          <p:nvPicPr>
            <p:cNvPr id="36" name="Picture 10" descr="bs01067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44" y="3235"/>
              <a:ext cx="1172" cy="69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1" descr="j024071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6" y="3187"/>
              <a:ext cx="983" cy="64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2" descr="j029547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12" y="3139"/>
              <a:ext cx="713" cy="620"/>
            </a:xfrm>
            <a:prstGeom prst="rect">
              <a:avLst/>
            </a:prstGeom>
            <a:noFill/>
            <a:extLst>
              <a:ext uri="{909E8E84-426E-40DD-AFC4-6F175D3DCCD1}">
                <a14:hiddenFill xmlns:a14="http://schemas.microsoft.com/office/drawing/2010/main">
                  <a:solidFill>
                    <a:srgbClr val="FFFFFF"/>
                  </a:solidFill>
                </a14:hiddenFill>
              </a:ext>
            </a:extLst>
          </p:spPr>
        </p:pic>
        <p:sp>
          <p:nvSpPr>
            <p:cNvPr id="39" name="AutoShape 13"/>
            <p:cNvSpPr>
              <a:spLocks noChangeArrowheads="1"/>
            </p:cNvSpPr>
            <p:nvPr/>
          </p:nvSpPr>
          <p:spPr bwMode="auto">
            <a:xfrm>
              <a:off x="1632" y="2947"/>
              <a:ext cx="1248" cy="336"/>
            </a:xfrm>
            <a:prstGeom prst="curvedDownArrow">
              <a:avLst>
                <a:gd name="adj1" fmla="val 67167"/>
                <a:gd name="adj2" fmla="val 148571"/>
                <a:gd name="adj3" fmla="val 33333"/>
              </a:avLst>
            </a:prstGeom>
            <a:noFill/>
            <a:ln w="2857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1pPr>
              <a:lvl2pPr marL="4572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2pPr>
              <a:lvl3pPr marL="9144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3pPr>
              <a:lvl4pPr marL="13716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4pPr>
              <a:lvl5pPr marL="18288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5pPr>
              <a:lvl6pPr marL="22860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6pPr>
              <a:lvl7pPr marL="27432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7pPr>
              <a:lvl8pPr marL="32004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8pPr>
              <a:lvl9pPr marL="36576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9pPr>
            </a:lstStyle>
            <a:p>
              <a:endParaRPr lang="zh-CN" altLang="en-US"/>
            </a:p>
          </p:txBody>
        </p:sp>
        <p:sp>
          <p:nvSpPr>
            <p:cNvPr id="40" name="AutoShape 14"/>
            <p:cNvSpPr>
              <a:spLocks noChangeArrowheads="1"/>
            </p:cNvSpPr>
            <p:nvPr/>
          </p:nvSpPr>
          <p:spPr bwMode="auto">
            <a:xfrm>
              <a:off x="3408" y="2995"/>
              <a:ext cx="1488" cy="240"/>
            </a:xfrm>
            <a:prstGeom prst="curvedDownArrow">
              <a:avLst>
                <a:gd name="adj1" fmla="val 124000"/>
                <a:gd name="adj2" fmla="val 248000"/>
                <a:gd name="adj3" fmla="val 33333"/>
              </a:avLst>
            </a:prstGeom>
            <a:noFill/>
            <a:ln w="2857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1pPr>
              <a:lvl2pPr marL="4572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2pPr>
              <a:lvl3pPr marL="9144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3pPr>
              <a:lvl4pPr marL="13716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4pPr>
              <a:lvl5pPr marL="1828800" algn="just" rtl="0" fontAlgn="base">
                <a:spcBef>
                  <a:spcPct val="20000"/>
                </a:spcBef>
                <a:spcAft>
                  <a:spcPct val="0"/>
                </a:spcAft>
                <a:buChar char="•"/>
                <a:defRPr sz="3400" b="1" kern="1200">
                  <a:solidFill>
                    <a:srgbClr val="FFFFFF"/>
                  </a:solidFill>
                  <a:latin typeface="Arial" panose="020B0604020202020204" pitchFamily="34" charset="0"/>
                  <a:ea typeface="隶书" panose="02010509060101010101" pitchFamily="49" charset="-122"/>
                  <a:cs typeface="+mn-cs"/>
                </a:defRPr>
              </a:lvl5pPr>
              <a:lvl6pPr marL="22860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6pPr>
              <a:lvl7pPr marL="27432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7pPr>
              <a:lvl8pPr marL="32004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8pPr>
              <a:lvl9pPr marL="3657600" algn="l" defTabSz="914400" rtl="0" eaLnBrk="1" latinLnBrk="0" hangingPunct="1">
                <a:defRPr sz="3400" b="1" kern="1200">
                  <a:solidFill>
                    <a:srgbClr val="FFFFFF"/>
                  </a:solidFill>
                  <a:latin typeface="Arial" panose="020B0604020202020204" pitchFamily="34" charset="0"/>
                  <a:ea typeface="隶书" panose="02010509060101010101" pitchFamily="49" charset="-122"/>
                  <a:cs typeface="+mn-cs"/>
                </a:defRPr>
              </a:lvl9p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xEl>
                                              <p:pRg st="3" end="3"/>
                                            </p:txEl>
                                          </p:spTgt>
                                        </p:tgtEl>
                                        <p:attrNameLst>
                                          <p:attrName>style.visibility</p:attrName>
                                        </p:attrNameLst>
                                      </p:cBhvr>
                                      <p:to>
                                        <p:strVal val="visible"/>
                                      </p:to>
                                    </p:set>
                                    <p:animEffect transition="in" filter="wipe(left)">
                                      <p:cBhvr>
                                        <p:cTn id="17" dur="500"/>
                                        <p:tgtEl>
                                          <p:spTgt spid="2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同步的概念</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70415"/>
            <a:ext cx="6941291" cy="2677656"/>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计算进程和打印进程共同使用同一缓冲区</a:t>
            </a:r>
            <a:r>
              <a:rPr lang="en-US" altLang="zh-CN" sz="2400" b="1" dirty="0" err="1">
                <a:solidFill>
                  <a:schemeClr val="bg1"/>
                </a:solidFill>
                <a:latin typeface="+mn-ea"/>
              </a:rPr>
              <a:t>Buf</a:t>
            </a:r>
            <a:r>
              <a:rPr lang="zh-CN" altLang="en-US" sz="2400" b="1" dirty="0">
                <a:solidFill>
                  <a:schemeClr val="bg1"/>
                </a:solidFill>
                <a:latin typeface="+mn-ea"/>
              </a:rPr>
              <a:t>。计算进程反复地把每次计算结果放</a:t>
            </a:r>
            <a:r>
              <a:rPr lang="zh-CN" altLang="en-US" sz="2400" b="1" dirty="0" smtClean="0">
                <a:solidFill>
                  <a:schemeClr val="bg1"/>
                </a:solidFill>
                <a:latin typeface="+mn-ea"/>
              </a:rPr>
              <a:t>入</a:t>
            </a:r>
            <a:r>
              <a:rPr lang="en-US" altLang="zh-CN" sz="2400" b="1" dirty="0" err="1" smtClean="0">
                <a:solidFill>
                  <a:schemeClr val="bg1"/>
                </a:solidFill>
                <a:latin typeface="+mn-ea"/>
              </a:rPr>
              <a:t>Buf</a:t>
            </a:r>
            <a:r>
              <a:rPr lang="zh-CN" altLang="en-US" sz="2400" b="1" dirty="0">
                <a:solidFill>
                  <a:schemeClr val="bg1"/>
                </a:solidFill>
                <a:latin typeface="+mn-ea"/>
              </a:rPr>
              <a:t>中，而打印进程则把计算进程每次放</a:t>
            </a:r>
            <a:r>
              <a:rPr lang="zh-CN" altLang="en-US" sz="2400" b="1" dirty="0" smtClean="0">
                <a:solidFill>
                  <a:schemeClr val="bg1"/>
                </a:solidFill>
                <a:latin typeface="+mn-ea"/>
              </a:rPr>
              <a:t>入</a:t>
            </a:r>
            <a:r>
              <a:rPr lang="en-US" altLang="zh-CN" sz="2400" b="1" dirty="0" err="1" smtClean="0">
                <a:solidFill>
                  <a:schemeClr val="bg1"/>
                </a:solidFill>
                <a:latin typeface="+mn-ea"/>
              </a:rPr>
              <a:t>Buf</a:t>
            </a:r>
            <a:r>
              <a:rPr lang="zh-CN" altLang="en-US" sz="2400" b="1" dirty="0">
                <a:solidFill>
                  <a:schemeClr val="bg1"/>
                </a:solidFill>
                <a:latin typeface="+mn-ea"/>
              </a:rPr>
              <a:t>中的数据通过打印机打印输出。如果不采取任何制约措施，这两个进程的执行起始时间和执行速度都是彼此独立的</a:t>
            </a:r>
          </a:p>
        </p:txBody>
      </p:sp>
      <p:sp>
        <p:nvSpPr>
          <p:cNvPr id="3" name="矩形 2"/>
          <p:cNvSpPr/>
          <p:nvPr/>
        </p:nvSpPr>
        <p:spPr>
          <a:xfrm>
            <a:off x="847169" y="1626868"/>
            <a:ext cx="3528392" cy="2926382"/>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spcBef>
                <a:spcPct val="0"/>
              </a:spcBef>
            </a:pPr>
            <a:r>
              <a:rPr lang="en-US" altLang="zh-CN" b="1" dirty="0" smtClean="0">
                <a:latin typeface="Times New Roman" panose="02020603050405020304" pitchFamily="18" charset="0"/>
                <a:cs typeface="Times New Roman" panose="02020603050405020304" pitchFamily="18" charset="0"/>
              </a:rPr>
              <a:t>P</a:t>
            </a:r>
            <a:r>
              <a:rPr lang="en-US" altLang="zh-CN" b="1" baseline="-25000" dirty="0" smtClean="0">
                <a:latin typeface="Times New Roman" panose="02020603050405020304" pitchFamily="18" charset="0"/>
                <a:cs typeface="Times New Roman" panose="02020603050405020304" pitchFamily="18" charset="0"/>
              </a:rPr>
              <a:t>C</a:t>
            </a:r>
            <a:r>
              <a:rPr lang="zh-CN" altLang="en-US" b="1" dirty="0" smtClean="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pPr>
              <a:lnSpc>
                <a:spcPct val="110000"/>
              </a:lnSpc>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A:local </a:t>
            </a:r>
            <a:r>
              <a:rPr lang="en-US" altLang="zh-CN" b="1" dirty="0" err="1">
                <a:latin typeface="Times New Roman" panose="02020603050405020304" pitchFamily="18" charset="0"/>
                <a:cs typeface="Times New Roman" panose="02020603050405020304" pitchFamily="18" charset="0"/>
              </a:rPr>
              <a:t>BufNow</a:t>
            </a:r>
            <a:endParaRPr lang="en-US" altLang="zh-CN" b="1" dirty="0">
              <a:latin typeface="Times New Roman" panose="02020603050405020304" pitchFamily="18" charset="0"/>
              <a:cs typeface="Times New Roman" panose="02020603050405020304" pitchFamily="18" charset="0"/>
            </a:endParaRPr>
          </a:p>
          <a:p>
            <a:pPr>
              <a:lnSpc>
                <a:spcPct val="110000"/>
              </a:lnSpc>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Repeat</a:t>
            </a:r>
            <a:endParaRPr lang="en-US" altLang="zh-CN" b="1" dirty="0">
              <a:latin typeface="Times New Roman" panose="02020603050405020304" pitchFamily="18" charset="0"/>
              <a:cs typeface="Times New Roman" panose="02020603050405020304" pitchFamily="18" charset="0"/>
            </a:endParaRPr>
          </a:p>
          <a:p>
            <a:pPr>
              <a:lnSpc>
                <a:spcPct val="110000"/>
              </a:lnSpc>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BufNow</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Buf</a:t>
            </a:r>
            <a:endParaRPr lang="en-US" altLang="zh-CN" b="1" dirty="0">
              <a:latin typeface="Times New Roman" panose="02020603050405020304" pitchFamily="18" charset="0"/>
              <a:cs typeface="Times New Roman" panose="02020603050405020304" pitchFamily="18" charset="0"/>
            </a:endParaRPr>
          </a:p>
          <a:p>
            <a:pPr>
              <a:lnSpc>
                <a:spcPct val="110000"/>
              </a:lnSpc>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Until </a:t>
            </a:r>
            <a:r>
              <a:rPr lang="en-US" altLang="zh-CN" b="1" dirty="0" err="1" smtClean="0">
                <a:latin typeface="Times New Roman" panose="02020603050405020304" pitchFamily="18" charset="0"/>
                <a:cs typeface="Times New Roman" panose="02020603050405020304" pitchFamily="18" charset="0"/>
              </a:rPr>
              <a:t>BufNow</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空</a:t>
            </a:r>
          </a:p>
          <a:p>
            <a:pPr>
              <a:lnSpc>
                <a:spcPct val="110000"/>
              </a:lnSpc>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计算</a:t>
            </a:r>
            <a:endParaRPr lang="zh-CN" altLang="en-US" b="1" dirty="0">
              <a:latin typeface="Times New Roman" panose="02020603050405020304" pitchFamily="18" charset="0"/>
              <a:cs typeface="Times New Roman" panose="02020603050405020304" pitchFamily="18" charset="0"/>
            </a:endParaRPr>
          </a:p>
          <a:p>
            <a:pPr>
              <a:lnSpc>
                <a:spcPct val="110000"/>
              </a:lnSpc>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得到</a:t>
            </a:r>
            <a:r>
              <a:rPr lang="zh-CN" altLang="en-US" b="1" dirty="0">
                <a:latin typeface="Times New Roman" panose="02020603050405020304" pitchFamily="18" charset="0"/>
                <a:cs typeface="Times New Roman" panose="02020603050405020304" pitchFamily="18" charset="0"/>
              </a:rPr>
              <a:t>计算结果</a:t>
            </a:r>
          </a:p>
          <a:p>
            <a:pPr>
              <a:lnSpc>
                <a:spcPct val="110000"/>
              </a:lnSpc>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计算结果</a:t>
            </a:r>
          </a:p>
          <a:p>
            <a:pPr>
              <a:lnSpc>
                <a:spcPct val="110000"/>
              </a:lnSpc>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Goto</a:t>
            </a: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a:t>
            </a:r>
            <a:endParaRPr lang="en-US" altLang="zh-CN" b="1" dirty="0">
              <a:latin typeface="Times New Roman" panose="02020603050405020304" pitchFamily="18" charset="0"/>
              <a:cs typeface="Times New Roman" panose="02020603050405020304" pitchFamily="18" charset="0"/>
            </a:endParaRPr>
          </a:p>
        </p:txBody>
      </p:sp>
      <p:sp>
        <p:nvSpPr>
          <p:cNvPr id="29" name="矩形 28"/>
          <p:cNvSpPr/>
          <p:nvPr/>
        </p:nvSpPr>
        <p:spPr>
          <a:xfrm>
            <a:off x="4572000" y="1727085"/>
            <a:ext cx="3144452" cy="2673054"/>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spcBef>
                <a:spcPct val="0"/>
              </a:spcBef>
            </a:pPr>
            <a:r>
              <a:rPr lang="en-US" altLang="zh-CN" b="1" dirty="0" smtClean="0">
                <a:latin typeface="Times New Roman" panose="02020603050405020304" pitchFamily="18" charset="0"/>
                <a:cs typeface="Times New Roman" panose="02020603050405020304" pitchFamily="18" charset="0"/>
              </a:rPr>
              <a:t>P</a:t>
            </a:r>
            <a:r>
              <a:rPr lang="en-US" altLang="zh-CN" b="1" baseline="-25000" dirty="0" smtClean="0">
                <a:latin typeface="Times New Roman" panose="02020603050405020304" pitchFamily="18" charset="0"/>
                <a:cs typeface="Times New Roman" panose="02020603050405020304" pitchFamily="18" charset="0"/>
              </a:rPr>
              <a:t>P</a:t>
            </a:r>
            <a:r>
              <a:rPr lang="en-US" altLang="zh-CN" b="1" dirty="0">
                <a:latin typeface="Times New Roman" panose="02020603050405020304" pitchFamily="18" charset="0"/>
                <a:cs typeface="Times New Roman" panose="02020603050405020304" pitchFamily="18" charset="0"/>
              </a:rPr>
              <a:t>:	</a:t>
            </a:r>
          </a:p>
          <a:p>
            <a:pPr>
              <a:lnSpc>
                <a:spcPct val="110000"/>
              </a:lnSpc>
              <a:spcBef>
                <a:spcPct val="0"/>
              </a:spcBef>
            </a:pPr>
            <a:r>
              <a:rPr lang="en-US" altLang="zh-CN" b="1" dirty="0" smtClean="0">
                <a:latin typeface="Times New Roman" panose="02020603050405020304" pitchFamily="18" charset="0"/>
                <a:cs typeface="Times New Roman" panose="02020603050405020304" pitchFamily="18" charset="0"/>
              </a:rPr>
              <a:t>    B:local </a:t>
            </a:r>
            <a:r>
              <a:rPr lang="en-US" altLang="zh-CN" b="1" dirty="0" err="1">
                <a:latin typeface="Times New Roman" panose="02020603050405020304" pitchFamily="18" charset="0"/>
                <a:cs typeface="Times New Roman" panose="02020603050405020304" pitchFamily="18" charset="0"/>
              </a:rPr>
              <a:t>Pri</a:t>
            </a:r>
            <a:endParaRPr lang="en-US" altLang="zh-CN" b="1" dirty="0">
              <a:latin typeface="Times New Roman" panose="02020603050405020304" pitchFamily="18" charset="0"/>
              <a:cs typeface="Times New Roman" panose="02020603050405020304" pitchFamily="18" charset="0"/>
            </a:endParaRPr>
          </a:p>
          <a:p>
            <a:pPr>
              <a:lnSpc>
                <a:spcPct val="110000"/>
              </a:lnSpc>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Repeat</a:t>
            </a:r>
            <a:endParaRPr lang="en-US" altLang="zh-CN" b="1" dirty="0">
              <a:latin typeface="Times New Roman" panose="02020603050405020304" pitchFamily="18" charset="0"/>
              <a:cs typeface="Times New Roman" panose="02020603050405020304" pitchFamily="18" charset="0"/>
            </a:endParaRPr>
          </a:p>
          <a:p>
            <a:pPr>
              <a:lnSpc>
                <a:spcPct val="110000"/>
              </a:lnSpc>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Pri</a:t>
            </a:r>
            <a:r>
              <a:rPr lang="en-US" altLang="zh-CN"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Buf</a:t>
            </a:r>
            <a:endParaRPr lang="en-US" altLang="zh-CN" b="1" dirty="0">
              <a:latin typeface="Times New Roman" panose="02020603050405020304" pitchFamily="18" charset="0"/>
              <a:cs typeface="Times New Roman" panose="02020603050405020304" pitchFamily="18" charset="0"/>
            </a:endParaRPr>
          </a:p>
          <a:p>
            <a:pPr>
              <a:lnSpc>
                <a:spcPct val="110000"/>
              </a:lnSpc>
              <a:spcBef>
                <a:spcPct val="0"/>
              </a:spcBef>
            </a:pPr>
            <a:r>
              <a:rPr lang="en-US" altLang="zh-CN" b="1" dirty="0" smtClean="0">
                <a:latin typeface="Times New Roman" panose="02020603050405020304" pitchFamily="18" charset="0"/>
                <a:cs typeface="Times New Roman" panose="02020603050405020304" pitchFamily="18" charset="0"/>
              </a:rPr>
              <a:t>          Until</a:t>
            </a: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Pri</a:t>
            </a:r>
            <a:r>
              <a:rPr lang="en-US" altLang="zh-CN"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空</a:t>
            </a:r>
          </a:p>
          <a:p>
            <a:pPr>
              <a:lnSpc>
                <a:spcPct val="110000"/>
              </a:lnSpc>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打印 </a:t>
            </a:r>
            <a:r>
              <a:rPr lang="en-US" altLang="zh-CN" b="1" dirty="0" err="1">
                <a:latin typeface="Times New Roman" panose="02020603050405020304" pitchFamily="18" charset="0"/>
                <a:cs typeface="Times New Roman" panose="02020603050405020304" pitchFamily="18" charset="0"/>
              </a:rPr>
              <a:t>Buf</a:t>
            </a:r>
            <a:r>
              <a:rPr lang="zh-CN" altLang="en-US" b="1" dirty="0">
                <a:latin typeface="Times New Roman" panose="02020603050405020304" pitchFamily="18" charset="0"/>
                <a:cs typeface="Times New Roman" panose="02020603050405020304" pitchFamily="18" charset="0"/>
              </a:rPr>
              <a:t>中的数据</a:t>
            </a:r>
          </a:p>
          <a:p>
            <a:pPr>
              <a:lnSpc>
                <a:spcPct val="110000"/>
              </a:lnSpc>
              <a:spcBef>
                <a:spcPct val="0"/>
              </a:spcBef>
            </a:pPr>
            <a:r>
              <a:rPr lang="zh-CN" altLang="en-US" b="1" dirty="0" smtClean="0">
                <a:latin typeface="Times New Roman" panose="02020603050405020304" pitchFamily="18" charset="0"/>
                <a:cs typeface="Times New Roman" panose="02020603050405020304" pitchFamily="18" charset="0"/>
              </a:rPr>
              <a:t>          清除 </a:t>
            </a:r>
            <a:r>
              <a:rPr lang="en-US" altLang="zh-CN" b="1" dirty="0" err="1">
                <a:latin typeface="Times New Roman" panose="02020603050405020304" pitchFamily="18" charset="0"/>
                <a:cs typeface="Times New Roman" panose="02020603050405020304" pitchFamily="18" charset="0"/>
              </a:rPr>
              <a:t>Buf</a:t>
            </a:r>
            <a:r>
              <a:rPr lang="zh-CN" altLang="en-US" b="1" dirty="0">
                <a:latin typeface="Times New Roman" panose="02020603050405020304" pitchFamily="18" charset="0"/>
                <a:cs typeface="Times New Roman" panose="02020603050405020304" pitchFamily="18" charset="0"/>
              </a:rPr>
              <a:t>中的数据</a:t>
            </a:r>
          </a:p>
          <a:p>
            <a:pPr>
              <a:lnSpc>
                <a:spcPct val="110000"/>
              </a:lnSpc>
              <a:spcBef>
                <a:spcPct val="0"/>
              </a:spcBef>
            </a:pPr>
            <a:r>
              <a:rPr lang="en-US" altLang="zh-CN"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Goto</a:t>
            </a: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B</a:t>
            </a:r>
            <a:endParaRPr lang="en-US" altLang="zh-CN"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同步的概念</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70415"/>
            <a:ext cx="6941291" cy="2600327"/>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按上面的描述并发执行进程</a:t>
            </a:r>
            <a:r>
              <a:rPr lang="en-US" altLang="zh-CN" sz="2400" b="1" dirty="0">
                <a:solidFill>
                  <a:schemeClr val="bg1"/>
                </a:solidFill>
                <a:latin typeface="+mn-ea"/>
              </a:rPr>
              <a:t>PC</a:t>
            </a:r>
            <a:r>
              <a:rPr lang="zh-CN" altLang="en-US" sz="2400" b="1" dirty="0">
                <a:solidFill>
                  <a:schemeClr val="bg1"/>
                </a:solidFill>
                <a:latin typeface="+mn-ea"/>
              </a:rPr>
              <a:t>和</a:t>
            </a:r>
            <a:r>
              <a:rPr lang="en-US" altLang="zh-CN" sz="2400" b="1" dirty="0">
                <a:solidFill>
                  <a:schemeClr val="bg1"/>
                </a:solidFill>
                <a:latin typeface="+mn-ea"/>
              </a:rPr>
              <a:t>PP</a:t>
            </a:r>
            <a:r>
              <a:rPr lang="zh-CN" altLang="en-US" sz="2400" b="1" dirty="0">
                <a:solidFill>
                  <a:schemeClr val="bg1"/>
                </a:solidFill>
                <a:latin typeface="+mn-ea"/>
              </a:rPr>
              <a:t>的话，则会造成</a:t>
            </a:r>
            <a:r>
              <a:rPr lang="en-US" altLang="zh-CN" sz="2400" b="1" dirty="0">
                <a:solidFill>
                  <a:srgbClr val="FFFF00"/>
                </a:solidFill>
                <a:latin typeface="+mn-ea"/>
              </a:rPr>
              <a:t>CPU</a:t>
            </a:r>
            <a:r>
              <a:rPr lang="zh-CN" altLang="en-US" sz="2400" b="1" dirty="0">
                <a:solidFill>
                  <a:srgbClr val="FFFF00"/>
                </a:solidFill>
                <a:latin typeface="+mn-ea"/>
              </a:rPr>
              <a:t>时间的极大浪费</a:t>
            </a:r>
            <a:r>
              <a:rPr lang="zh-CN" altLang="en-US" sz="2400" b="1" dirty="0">
                <a:solidFill>
                  <a:schemeClr val="bg1"/>
                </a:solidFill>
                <a:latin typeface="+mn-ea"/>
              </a:rPr>
              <a:t>（因为其中包含有二处</a:t>
            </a:r>
            <a:r>
              <a:rPr lang="zh-CN" altLang="en-US" sz="2400" b="1" dirty="0">
                <a:solidFill>
                  <a:srgbClr val="FFFF00"/>
                </a:solidFill>
                <a:latin typeface="+mn-ea"/>
              </a:rPr>
              <a:t>反复测试语句</a:t>
            </a:r>
            <a:r>
              <a:rPr lang="zh-CN" altLang="en-US" sz="2400" b="1" dirty="0">
                <a:solidFill>
                  <a:schemeClr val="bg1"/>
                </a:solidFill>
                <a:latin typeface="+mn-ea"/>
              </a:rPr>
              <a:t>）。这是操作系统设计要求不允许的。</a:t>
            </a:r>
            <a:r>
              <a:rPr lang="en-US" altLang="zh-CN" sz="2400" b="1" dirty="0">
                <a:solidFill>
                  <a:schemeClr val="bg1"/>
                </a:solidFill>
                <a:latin typeface="+mn-ea"/>
              </a:rPr>
              <a:t>CPU </a:t>
            </a:r>
            <a:r>
              <a:rPr lang="zh-CN" altLang="en-US" sz="2400" b="1" dirty="0">
                <a:solidFill>
                  <a:schemeClr val="bg1"/>
                </a:solidFill>
                <a:latin typeface="+mn-ea"/>
              </a:rPr>
              <a:t>时间的浪费主要是由于进程</a:t>
            </a:r>
            <a:r>
              <a:rPr lang="en-US" altLang="zh-CN" sz="2400" b="1" dirty="0">
                <a:solidFill>
                  <a:srgbClr val="FFFF00"/>
                </a:solidFill>
                <a:latin typeface="+mn-ea"/>
              </a:rPr>
              <a:t>P</a:t>
            </a:r>
            <a:r>
              <a:rPr lang="en-US" altLang="zh-CN" sz="2400" b="1" baseline="-25000" dirty="0">
                <a:solidFill>
                  <a:srgbClr val="FFFF00"/>
                </a:solidFill>
                <a:latin typeface="+mn-ea"/>
              </a:rPr>
              <a:t>C</a:t>
            </a:r>
            <a:r>
              <a:rPr lang="zh-CN" altLang="en-US" sz="2400" b="1" dirty="0">
                <a:solidFill>
                  <a:srgbClr val="FFFF00"/>
                </a:solidFill>
                <a:latin typeface="+mn-ea"/>
              </a:rPr>
              <a:t>和</a:t>
            </a:r>
            <a:r>
              <a:rPr lang="en-US" altLang="zh-CN" sz="2400" b="1" dirty="0">
                <a:solidFill>
                  <a:srgbClr val="FFFF00"/>
                </a:solidFill>
                <a:latin typeface="+mn-ea"/>
              </a:rPr>
              <a:t>P</a:t>
            </a:r>
            <a:r>
              <a:rPr lang="en-US" altLang="zh-CN" sz="2400" b="1" baseline="-25000" dirty="0">
                <a:solidFill>
                  <a:srgbClr val="FFFF00"/>
                </a:solidFill>
                <a:latin typeface="+mn-ea"/>
              </a:rPr>
              <a:t>P</a:t>
            </a:r>
            <a:r>
              <a:rPr lang="zh-CN" altLang="en-US" sz="2400" b="1" dirty="0">
                <a:solidFill>
                  <a:srgbClr val="FFFF00"/>
                </a:solidFill>
                <a:latin typeface="+mn-ea"/>
              </a:rPr>
              <a:t>的执行互相制约所引起的</a:t>
            </a:r>
            <a:r>
              <a:rPr lang="zh-CN" altLang="en-US" sz="24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同步的概念</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941291" cy="230832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进程的直接制约将会造成大量的</a:t>
            </a:r>
            <a:r>
              <a:rPr lang="en-US" altLang="zh-CN" sz="2400" b="1" dirty="0">
                <a:solidFill>
                  <a:schemeClr val="bg1"/>
                </a:solidFill>
                <a:latin typeface="+mn-ea"/>
              </a:rPr>
              <a:t>CPU</a:t>
            </a:r>
            <a:r>
              <a:rPr lang="zh-CN" altLang="en-US" sz="2400" b="1" dirty="0">
                <a:solidFill>
                  <a:schemeClr val="bg1"/>
                </a:solidFill>
                <a:latin typeface="+mn-ea"/>
              </a:rPr>
              <a:t>时间</a:t>
            </a:r>
            <a:r>
              <a:rPr lang="zh-CN" altLang="en-US" sz="2400" b="1" dirty="0" smtClean="0">
                <a:solidFill>
                  <a:schemeClr val="bg1"/>
                </a:solidFill>
                <a:latin typeface="+mn-ea"/>
              </a:rPr>
              <a:t>浪费</a:t>
            </a:r>
            <a:r>
              <a:rPr lang="en-US" altLang="zh-CN" sz="2400" b="1" dirty="0" smtClean="0">
                <a:solidFill>
                  <a:schemeClr val="bg1"/>
                </a:solidFill>
                <a:latin typeface="+mn-ea"/>
              </a:rPr>
              <a:t>,</a:t>
            </a:r>
            <a:r>
              <a:rPr lang="zh-CN" altLang="en-US" sz="2400" b="1" dirty="0" smtClean="0">
                <a:solidFill>
                  <a:schemeClr val="bg1"/>
                </a:solidFill>
                <a:latin typeface="+mn-ea"/>
              </a:rPr>
              <a:t>如何解决？</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解决方案：直接</a:t>
            </a:r>
            <a:r>
              <a:rPr lang="zh-CN" altLang="en-US" sz="2400" b="1" dirty="0">
                <a:solidFill>
                  <a:schemeClr val="bg1"/>
                </a:solidFill>
                <a:latin typeface="+mn-ea"/>
              </a:rPr>
              <a:t>制约的进程</a:t>
            </a:r>
            <a:r>
              <a:rPr lang="zh-CN" altLang="en-US" sz="2400" b="1" dirty="0">
                <a:solidFill>
                  <a:srgbClr val="FFFF00"/>
                </a:solidFill>
                <a:latin typeface="+mn-ea"/>
              </a:rPr>
              <a:t>互相给</a:t>
            </a:r>
            <a:r>
              <a:rPr lang="zh-CN" altLang="en-US" sz="2400" b="1" dirty="0" smtClean="0">
                <a:solidFill>
                  <a:srgbClr val="FFFF00"/>
                </a:solidFill>
                <a:latin typeface="+mn-ea"/>
              </a:rPr>
              <a:t>对</a:t>
            </a:r>
            <a:endParaRPr lang="en-US" altLang="zh-CN" sz="2400" b="1" dirty="0" smtClean="0">
              <a:solidFill>
                <a:srgbClr val="FFFF00"/>
              </a:solidFill>
              <a:latin typeface="+mn-ea"/>
            </a:endParaRPr>
          </a:p>
          <a:p>
            <a:pPr marL="0" lvl="1" algn="just">
              <a:lnSpc>
                <a:spcPct val="150000"/>
              </a:lnSpc>
              <a:buClr>
                <a:schemeClr val="accent6">
                  <a:lumMod val="60000"/>
                  <a:lumOff val="40000"/>
                </a:schemeClr>
              </a:buClr>
            </a:pPr>
            <a:r>
              <a:rPr lang="zh-CN" altLang="en-US" sz="2400" b="1" dirty="0" smtClean="0">
                <a:solidFill>
                  <a:srgbClr val="FFFF00"/>
                </a:solidFill>
                <a:latin typeface="+mn-ea"/>
              </a:rPr>
              <a:t>方进程发送</a:t>
            </a:r>
            <a:r>
              <a:rPr lang="zh-CN" altLang="en-US" sz="2400" b="1" dirty="0">
                <a:solidFill>
                  <a:srgbClr val="FFFF00"/>
                </a:solidFill>
                <a:latin typeface="+mn-ea"/>
              </a:rPr>
              <a:t>执行条件已经具备的</a:t>
            </a:r>
            <a:r>
              <a:rPr lang="zh-CN" altLang="en-US" sz="2400" b="1" dirty="0" smtClean="0">
                <a:solidFill>
                  <a:srgbClr val="FFFF00"/>
                </a:solidFill>
                <a:latin typeface="+mn-ea"/>
              </a:rPr>
              <a:t>信号</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8345" r="6450" b="15001"/>
          <a:stretch>
            <a:fillRect/>
          </a:stretch>
        </p:blipFill>
        <p:spPr>
          <a:xfrm>
            <a:off x="6474049" y="2139703"/>
            <a:ext cx="1177160" cy="15882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同步的概念</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1" y="1779662"/>
            <a:ext cx="6552728" cy="1200329"/>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具有</a:t>
            </a:r>
            <a:r>
              <a:rPr lang="zh-CN" altLang="en-US" sz="2400" b="1" dirty="0">
                <a:solidFill>
                  <a:srgbClr val="FFFF00"/>
                </a:solidFill>
                <a:latin typeface="+mn-ea"/>
              </a:rPr>
              <a:t>同步关系</a:t>
            </a:r>
            <a:r>
              <a:rPr lang="zh-CN" altLang="en-US" sz="2400" b="1" dirty="0">
                <a:solidFill>
                  <a:schemeClr val="bg1"/>
                </a:solidFill>
                <a:latin typeface="+mn-ea"/>
              </a:rPr>
              <a:t>的一组</a:t>
            </a:r>
            <a:r>
              <a:rPr lang="zh-CN" altLang="en-US" sz="2400" b="1" dirty="0">
                <a:solidFill>
                  <a:srgbClr val="FFFF00"/>
                </a:solidFill>
                <a:latin typeface="+mn-ea"/>
              </a:rPr>
              <a:t>并发进程</a:t>
            </a:r>
            <a:r>
              <a:rPr lang="zh-CN" altLang="en-US" sz="2400" b="1" dirty="0">
                <a:solidFill>
                  <a:schemeClr val="bg1"/>
                </a:solidFill>
                <a:latin typeface="+mn-ea"/>
              </a:rPr>
              <a:t>称为</a:t>
            </a:r>
            <a:r>
              <a:rPr lang="zh-CN" altLang="en-US" sz="2400" b="1" u="sng" dirty="0">
                <a:solidFill>
                  <a:schemeClr val="accent6">
                    <a:lumMod val="40000"/>
                    <a:lumOff val="60000"/>
                  </a:schemeClr>
                </a:solidFill>
                <a:latin typeface="+mn-ea"/>
              </a:rPr>
              <a:t>合作进程</a:t>
            </a:r>
            <a:r>
              <a:rPr lang="zh-CN" altLang="en-US" sz="2400" b="1" dirty="0">
                <a:solidFill>
                  <a:schemeClr val="bg1"/>
                </a:solidFill>
                <a:latin typeface="+mn-ea"/>
              </a:rPr>
              <a:t>，合作进程间</a:t>
            </a:r>
            <a:r>
              <a:rPr lang="zh-CN" altLang="en-US" sz="2400" b="1" dirty="0">
                <a:solidFill>
                  <a:srgbClr val="FFFF00"/>
                </a:solidFill>
                <a:latin typeface="+mn-ea"/>
              </a:rPr>
              <a:t>互相发送的信号</a:t>
            </a:r>
            <a:r>
              <a:rPr lang="zh-CN" altLang="en-US" sz="2400" b="1" dirty="0">
                <a:solidFill>
                  <a:schemeClr val="bg1"/>
                </a:solidFill>
                <a:latin typeface="+mn-ea"/>
              </a:rPr>
              <a:t>称为</a:t>
            </a:r>
            <a:r>
              <a:rPr lang="zh-CN" altLang="en-US" sz="2400" b="1" u="sng" dirty="0">
                <a:solidFill>
                  <a:schemeClr val="accent6">
                    <a:lumMod val="40000"/>
                    <a:lumOff val="60000"/>
                  </a:schemeClr>
                </a:solidFill>
                <a:latin typeface="+mn-ea"/>
              </a:rPr>
              <a:t>消息或事件</a:t>
            </a:r>
            <a:r>
              <a:rPr lang="zh-CN" altLang="en-US" sz="2400" b="1" dirty="0">
                <a:solidFill>
                  <a:schemeClr val="bg1"/>
                </a:solidFill>
                <a:latin typeface="+mn-ea"/>
              </a:rPr>
              <a:t>。</a:t>
            </a:r>
          </a:p>
        </p:txBody>
      </p:sp>
    </p:spTree>
    <p:extLst>
      <p:ext uri="{BB962C8B-B14F-4D97-AF65-F5344CB8AC3E}">
        <p14:creationId xmlns:p14="http://schemas.microsoft.com/office/powerpoint/2010/main" val="341041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同步的实现方法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77405"/>
            <a:ext cx="6941291" cy="3970318"/>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400" b="1" dirty="0">
                <a:solidFill>
                  <a:srgbClr val="FFFF00"/>
                </a:solidFill>
                <a:latin typeface="+mn-ea"/>
              </a:rPr>
              <a:t>wait(</a:t>
            </a:r>
            <a:r>
              <a:rPr lang="zh-CN" altLang="en-US" sz="2400" b="1" dirty="0">
                <a:solidFill>
                  <a:srgbClr val="FFFF00"/>
                </a:solidFill>
                <a:latin typeface="+mn-ea"/>
              </a:rPr>
              <a:t>消息名</a:t>
            </a:r>
            <a:r>
              <a:rPr lang="zh-CN" altLang="en-US" sz="2400" b="1" dirty="0" smtClean="0">
                <a:solidFill>
                  <a:srgbClr val="FFFF00"/>
                </a:solidFill>
                <a:latin typeface="+mn-ea"/>
              </a:rPr>
              <a:t>）</a:t>
            </a:r>
            <a:r>
              <a:rPr lang="en-US" altLang="zh-CN" sz="2400" b="1" dirty="0" smtClean="0">
                <a:solidFill>
                  <a:schemeClr val="bg1"/>
                </a:solidFill>
                <a:latin typeface="+mn-ea"/>
              </a:rPr>
              <a:t>——</a:t>
            </a:r>
            <a:r>
              <a:rPr lang="zh-CN" altLang="en-US" sz="2400" b="1" dirty="0" smtClean="0">
                <a:solidFill>
                  <a:schemeClr val="bg1"/>
                </a:solidFill>
                <a:latin typeface="+mn-ea"/>
              </a:rPr>
              <a:t>表示</a:t>
            </a:r>
            <a:r>
              <a:rPr lang="zh-CN" altLang="en-US" sz="2400" b="1" dirty="0">
                <a:solidFill>
                  <a:schemeClr val="bg1"/>
                </a:solidFill>
                <a:latin typeface="+mn-ea"/>
              </a:rPr>
              <a:t>进程等待合作进程发来的</a:t>
            </a:r>
            <a:r>
              <a:rPr lang="zh-CN" altLang="en-US" sz="2400" b="1" dirty="0" smtClean="0">
                <a:solidFill>
                  <a:schemeClr val="bg1"/>
                </a:solidFill>
                <a:latin typeface="+mn-ea"/>
              </a:rPr>
              <a:t>消息</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400" b="1" dirty="0" smtClean="0">
                <a:solidFill>
                  <a:srgbClr val="FFFF00"/>
                </a:solidFill>
                <a:latin typeface="+mn-ea"/>
              </a:rPr>
              <a:t>signal</a:t>
            </a:r>
            <a:r>
              <a:rPr lang="zh-CN" altLang="en-US" sz="2400" b="1" dirty="0">
                <a:solidFill>
                  <a:srgbClr val="FFFF00"/>
                </a:solidFill>
                <a:latin typeface="+mn-ea"/>
              </a:rPr>
              <a:t>（消息名</a:t>
            </a:r>
            <a:r>
              <a:rPr lang="zh-CN" altLang="en-US" sz="2400" b="1" dirty="0" smtClean="0">
                <a:solidFill>
                  <a:srgbClr val="FFFF00"/>
                </a:solidFill>
                <a:latin typeface="+mn-ea"/>
              </a:rPr>
              <a:t>）</a:t>
            </a:r>
            <a:r>
              <a:rPr lang="en-US" altLang="zh-CN" sz="2400" b="1" dirty="0" smtClean="0">
                <a:solidFill>
                  <a:schemeClr val="bg1"/>
                </a:solidFill>
                <a:latin typeface="+mn-ea"/>
              </a:rPr>
              <a:t>——</a:t>
            </a:r>
            <a:r>
              <a:rPr lang="zh-CN" altLang="en-US" sz="2400" b="1" dirty="0" smtClean="0">
                <a:solidFill>
                  <a:schemeClr val="bg1"/>
                </a:solidFill>
                <a:latin typeface="+mn-ea"/>
              </a:rPr>
              <a:t>表示</a:t>
            </a:r>
            <a:r>
              <a:rPr lang="zh-CN" altLang="en-US" sz="2400" b="1" dirty="0">
                <a:solidFill>
                  <a:schemeClr val="bg1"/>
                </a:solidFill>
                <a:latin typeface="+mn-ea"/>
              </a:rPr>
              <a:t>向合作进程发送消息</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设</a:t>
            </a:r>
            <a:r>
              <a:rPr lang="zh-CN" altLang="en-US" sz="2400" b="1" dirty="0">
                <a:solidFill>
                  <a:schemeClr val="bg1"/>
                </a:solidFill>
                <a:latin typeface="+mn-ea"/>
              </a:rPr>
              <a:t>消息名</a:t>
            </a:r>
            <a:r>
              <a:rPr lang="en-US" altLang="zh-CN" sz="2400" b="1" dirty="0" err="1">
                <a:solidFill>
                  <a:schemeClr val="bg1"/>
                </a:solidFill>
                <a:latin typeface="+mn-ea"/>
              </a:rPr>
              <a:t>Bufempty</a:t>
            </a:r>
            <a:r>
              <a:rPr lang="zh-CN" altLang="en-US" sz="2400" b="1" dirty="0">
                <a:solidFill>
                  <a:schemeClr val="bg1"/>
                </a:solidFill>
                <a:latin typeface="+mn-ea"/>
              </a:rPr>
              <a:t>表示</a:t>
            </a:r>
            <a:r>
              <a:rPr lang="en-US" altLang="zh-CN" sz="2400" b="1" dirty="0" err="1">
                <a:solidFill>
                  <a:schemeClr val="bg1"/>
                </a:solidFill>
                <a:latin typeface="+mn-ea"/>
              </a:rPr>
              <a:t>Buf</a:t>
            </a:r>
            <a:r>
              <a:rPr lang="zh-CN" altLang="en-US" sz="2400" b="1" dirty="0">
                <a:solidFill>
                  <a:schemeClr val="bg1"/>
                </a:solidFill>
                <a:latin typeface="+mn-ea"/>
              </a:rPr>
              <a:t>空，消息名</a:t>
            </a:r>
            <a:r>
              <a:rPr lang="en-US" altLang="zh-CN" sz="2400" b="1" dirty="0" err="1">
                <a:solidFill>
                  <a:schemeClr val="bg1"/>
                </a:solidFill>
                <a:latin typeface="+mn-ea"/>
              </a:rPr>
              <a:t>Buffull</a:t>
            </a:r>
            <a:r>
              <a:rPr lang="zh-CN" altLang="en-US" sz="2400" b="1" dirty="0">
                <a:solidFill>
                  <a:schemeClr val="bg1"/>
                </a:solidFill>
                <a:latin typeface="+mn-ea"/>
              </a:rPr>
              <a:t>表示</a:t>
            </a:r>
            <a:r>
              <a:rPr lang="en-US" altLang="zh-CN" sz="2400" b="1" dirty="0" err="1">
                <a:solidFill>
                  <a:schemeClr val="bg1"/>
                </a:solidFill>
                <a:latin typeface="+mn-ea"/>
              </a:rPr>
              <a:t>Buf</a:t>
            </a:r>
            <a:r>
              <a:rPr lang="zh-CN" altLang="en-US" sz="2400" b="1" dirty="0">
                <a:solidFill>
                  <a:schemeClr val="bg1"/>
                </a:solidFill>
                <a:latin typeface="+mn-ea"/>
              </a:rPr>
              <a:t>中装满了数据。</a:t>
            </a: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初始化</a:t>
            </a:r>
            <a:r>
              <a:rPr lang="en-US" altLang="zh-CN" sz="2400" b="1" dirty="0" err="1">
                <a:solidFill>
                  <a:schemeClr val="bg1"/>
                </a:solidFill>
                <a:latin typeface="+mn-ea"/>
              </a:rPr>
              <a:t>Bufempty</a:t>
            </a:r>
            <a:r>
              <a:rPr lang="en-US" altLang="zh-CN" sz="2400" b="1" dirty="0">
                <a:solidFill>
                  <a:schemeClr val="bg1"/>
                </a:solidFill>
                <a:latin typeface="+mn-ea"/>
              </a:rPr>
              <a:t>=true</a:t>
            </a:r>
            <a:r>
              <a:rPr lang="zh-CN" altLang="en-US" sz="2400" b="1" dirty="0">
                <a:solidFill>
                  <a:schemeClr val="bg1"/>
                </a:solidFill>
                <a:latin typeface="+mn-ea"/>
              </a:rPr>
              <a:t>，</a:t>
            </a:r>
            <a:r>
              <a:rPr lang="en-US" altLang="zh-CN" sz="2400" b="1" dirty="0" err="1">
                <a:solidFill>
                  <a:schemeClr val="bg1"/>
                </a:solidFill>
                <a:latin typeface="+mn-ea"/>
              </a:rPr>
              <a:t>Buffull</a:t>
            </a:r>
            <a:r>
              <a:rPr lang="en-US" altLang="zh-CN" sz="2400" b="1" dirty="0">
                <a:solidFill>
                  <a:schemeClr val="bg1"/>
                </a:solidFill>
                <a:latin typeface="+mn-ea"/>
              </a:rPr>
              <a:t>=false </a:t>
            </a:r>
            <a:r>
              <a:rPr lang="zh-CN" altLang="en-US" sz="2400" b="1" dirty="0">
                <a:solidFill>
                  <a:schemeClr val="bg1"/>
                </a:solidFill>
                <a:latin typeface="+mn-ea"/>
              </a:rPr>
              <a:t>。</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
        <p:nvSpPr>
          <p:cNvPr id="29" name="矩形 28"/>
          <p:cNvSpPr/>
          <p:nvPr/>
        </p:nvSpPr>
        <p:spPr>
          <a:xfrm>
            <a:off x="3419872" y="156509"/>
            <a:ext cx="3148767" cy="2457050"/>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spcBef>
                <a:spcPct val="0"/>
              </a:spcBef>
            </a:pPr>
            <a:r>
              <a:rPr lang="en-US" altLang="zh-CN" b="1" dirty="0" smtClean="0">
                <a:latin typeface="Times New Roman" panose="02020603050405020304" pitchFamily="18" charset="0"/>
                <a:cs typeface="Times New Roman" panose="02020603050405020304" pitchFamily="18" charset="0"/>
              </a:rPr>
              <a:t>P</a:t>
            </a:r>
            <a:r>
              <a:rPr lang="en-US" altLang="zh-CN" b="1" baseline="-25000" dirty="0" smtClean="0">
                <a:latin typeface="Times New Roman" panose="02020603050405020304" pitchFamily="18" charset="0"/>
                <a:cs typeface="Times New Roman" panose="02020603050405020304" pitchFamily="18" charset="0"/>
              </a:rPr>
              <a:t>C</a:t>
            </a:r>
            <a:r>
              <a:rPr lang="zh-CN" altLang="en-US" b="1" dirty="0" smtClean="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pPr>
              <a:lnSpc>
                <a:spcPct val="120000"/>
              </a:lnSpc>
            </a:pPr>
            <a:r>
              <a:rPr lang="en-US" altLang="zh-CN" b="1" dirty="0" smtClean="0">
                <a:latin typeface="Times New Roman" panose="02020603050405020304" pitchFamily="18" charset="0"/>
                <a:cs typeface="Times New Roman" panose="02020603050405020304" pitchFamily="18" charset="0"/>
              </a:rPr>
              <a:t>    A: wait(</a:t>
            </a:r>
            <a:r>
              <a:rPr lang="en-US" altLang="zh-CN" b="1" dirty="0" err="1" smtClean="0">
                <a:latin typeface="Times New Roman" panose="02020603050405020304" pitchFamily="18" charset="0"/>
                <a:cs typeface="Times New Roman" panose="02020603050405020304" pitchFamily="18" charset="0"/>
              </a:rPr>
              <a:t>Bufempty</a:t>
            </a:r>
            <a:r>
              <a:rPr lang="en-US" altLang="zh-CN" b="1" dirty="0">
                <a:latin typeface="Times New Roman" panose="02020603050405020304" pitchFamily="18" charset="0"/>
                <a:cs typeface="Times New Roman" panose="02020603050405020304" pitchFamily="18" charset="0"/>
              </a:rPr>
              <a:t>)</a:t>
            </a:r>
          </a:p>
          <a:p>
            <a:pPr>
              <a:lnSpc>
                <a:spcPct val="120000"/>
              </a:lnSpc>
            </a:pP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计算</a:t>
            </a:r>
            <a:endParaRPr lang="zh-CN" altLang="en-US" b="1" dirty="0">
              <a:latin typeface="Times New Roman" panose="02020603050405020304" pitchFamily="18" charset="0"/>
              <a:cs typeface="Times New Roman" panose="02020603050405020304" pitchFamily="18" charset="0"/>
            </a:endParaRPr>
          </a:p>
          <a:p>
            <a:pPr>
              <a:lnSpc>
                <a:spcPct val="120000"/>
              </a:lnSpc>
            </a:pPr>
            <a:r>
              <a:rPr lang="zh-CN" altLang="en-US"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计算</a:t>
            </a:r>
            <a:r>
              <a:rPr lang="zh-CN" altLang="en-US" b="1" dirty="0" smtClean="0">
                <a:latin typeface="Times New Roman" panose="02020603050405020304" pitchFamily="18" charset="0"/>
                <a:cs typeface="Times New Roman" panose="02020603050405020304" pitchFamily="18" charset="0"/>
              </a:rPr>
              <a:t>结果</a:t>
            </a:r>
            <a:r>
              <a:rPr lang="zh-CN" altLang="en-US"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Bufempty</a:t>
            </a:r>
            <a:r>
              <a:rPr lang="en-US" altLang="zh-CN"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false</a:t>
            </a:r>
          </a:p>
          <a:p>
            <a:pPr>
              <a:lnSpc>
                <a:spcPct val="120000"/>
              </a:lnSpc>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signal(</a:t>
            </a:r>
            <a:r>
              <a:rPr lang="en-US" altLang="zh-CN" b="1" dirty="0" err="1" smtClean="0">
                <a:latin typeface="Times New Roman" panose="02020603050405020304" pitchFamily="18" charset="0"/>
                <a:cs typeface="Times New Roman" panose="02020603050405020304" pitchFamily="18" charset="0"/>
              </a:rPr>
              <a:t>Buffull</a:t>
            </a:r>
            <a:r>
              <a:rPr lang="en-US" altLang="zh-CN" b="1" dirty="0">
                <a:latin typeface="Times New Roman" panose="02020603050405020304" pitchFamily="18" charset="0"/>
                <a:cs typeface="Times New Roman" panose="02020603050405020304" pitchFamily="18" charset="0"/>
              </a:rPr>
              <a:t>)</a:t>
            </a:r>
          </a:p>
          <a:p>
            <a:pPr>
              <a:lnSpc>
                <a:spcPct val="120000"/>
              </a:lnSpc>
            </a:pPr>
            <a:r>
              <a:rPr lang="en-US" altLang="zh-CN"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Goto</a:t>
            </a:r>
            <a:r>
              <a:rPr lang="en-US" altLang="zh-CN" b="1" dirty="0" smtClean="0">
                <a:latin typeface="Times New Roman" panose="02020603050405020304" pitchFamily="18" charset="0"/>
                <a:cs typeface="Times New Roman" panose="02020603050405020304" pitchFamily="18" charset="0"/>
              </a:rPr>
              <a:t>  A</a:t>
            </a:r>
            <a:endParaRPr lang="en-US" altLang="zh-CN" b="1" dirty="0">
              <a:latin typeface="Times New Roman" panose="02020603050405020304" pitchFamily="18" charset="0"/>
              <a:cs typeface="Times New Roman" panose="02020603050405020304" pitchFamily="18" charset="0"/>
            </a:endParaRPr>
          </a:p>
        </p:txBody>
      </p:sp>
      <p:sp>
        <p:nvSpPr>
          <p:cNvPr id="30" name="矩形 29"/>
          <p:cNvSpPr/>
          <p:nvPr/>
        </p:nvSpPr>
        <p:spPr>
          <a:xfrm>
            <a:off x="5868144" y="2397928"/>
            <a:ext cx="3144452" cy="2673054"/>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spcBef>
                <a:spcPct val="0"/>
              </a:spcBef>
            </a:pPr>
            <a:r>
              <a:rPr lang="en-US" altLang="zh-CN" b="1" dirty="0" smtClean="0">
                <a:latin typeface="Times New Roman" panose="02020603050405020304" pitchFamily="18" charset="0"/>
                <a:cs typeface="Times New Roman" panose="02020603050405020304" pitchFamily="18" charset="0"/>
              </a:rPr>
              <a:t>P</a:t>
            </a:r>
            <a:r>
              <a:rPr lang="en-US" altLang="zh-CN" b="1" baseline="-25000" dirty="0" smtClean="0">
                <a:latin typeface="Times New Roman" panose="02020603050405020304" pitchFamily="18" charset="0"/>
                <a:cs typeface="Times New Roman" panose="02020603050405020304" pitchFamily="18" charset="0"/>
              </a:rPr>
              <a:t>P</a:t>
            </a:r>
            <a:r>
              <a:rPr lang="en-US" altLang="zh-CN" b="1" dirty="0">
                <a:latin typeface="Times New Roman" panose="02020603050405020304" pitchFamily="18" charset="0"/>
                <a:cs typeface="Times New Roman" panose="02020603050405020304" pitchFamily="18" charset="0"/>
              </a:rPr>
              <a:t>:	</a:t>
            </a:r>
          </a:p>
          <a:p>
            <a:pPr>
              <a:lnSpc>
                <a:spcPct val="120000"/>
              </a:lnSpc>
            </a:pPr>
            <a:r>
              <a:rPr lang="en-US" altLang="zh-CN"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B: wait(</a:t>
            </a:r>
            <a:r>
              <a:rPr lang="en-US" altLang="zh-CN" b="1" dirty="0" err="1" smtClean="0">
                <a:latin typeface="Times New Roman" panose="02020603050405020304" pitchFamily="18" charset="0"/>
                <a:cs typeface="Times New Roman" panose="02020603050405020304" pitchFamily="18" charset="0"/>
              </a:rPr>
              <a:t>Buffull</a:t>
            </a:r>
            <a:r>
              <a:rPr lang="en-US" altLang="zh-CN" b="1" dirty="0">
                <a:latin typeface="Times New Roman" panose="02020603050405020304" pitchFamily="18" charset="0"/>
                <a:cs typeface="Times New Roman" panose="02020603050405020304" pitchFamily="18" charset="0"/>
              </a:rPr>
              <a:t>)</a:t>
            </a:r>
          </a:p>
          <a:p>
            <a:pPr>
              <a:lnSpc>
                <a:spcPct val="120000"/>
              </a:lnSpc>
            </a:pP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打印</a:t>
            </a:r>
            <a:r>
              <a:rPr lang="en-US" altLang="zh-CN" b="1" dirty="0" err="1">
                <a:latin typeface="Times New Roman" panose="02020603050405020304" pitchFamily="18" charset="0"/>
                <a:cs typeface="Times New Roman" panose="02020603050405020304" pitchFamily="18" charset="0"/>
              </a:rPr>
              <a:t>Buf</a:t>
            </a:r>
            <a:r>
              <a:rPr lang="zh-CN" altLang="en-US" b="1" dirty="0">
                <a:latin typeface="Times New Roman" panose="02020603050405020304" pitchFamily="18" charset="0"/>
                <a:cs typeface="Times New Roman" panose="02020603050405020304" pitchFamily="18" charset="0"/>
              </a:rPr>
              <a:t>中的数据</a:t>
            </a:r>
          </a:p>
          <a:p>
            <a:pPr>
              <a:lnSpc>
                <a:spcPct val="120000"/>
              </a:lnSpc>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清除</a:t>
            </a:r>
            <a:r>
              <a:rPr lang="en-US" altLang="zh-CN" b="1" dirty="0" err="1">
                <a:latin typeface="Times New Roman" panose="02020603050405020304" pitchFamily="18" charset="0"/>
                <a:cs typeface="Times New Roman" panose="02020603050405020304" pitchFamily="18" charset="0"/>
              </a:rPr>
              <a:t>Buf</a:t>
            </a:r>
            <a:r>
              <a:rPr lang="zh-CN" altLang="en-US" b="1" dirty="0">
                <a:latin typeface="Times New Roman" panose="02020603050405020304" pitchFamily="18" charset="0"/>
                <a:cs typeface="Times New Roman" panose="02020603050405020304" pitchFamily="18" charset="0"/>
              </a:rPr>
              <a:t>中的数据</a:t>
            </a:r>
          </a:p>
          <a:p>
            <a:pPr>
              <a:lnSpc>
                <a:spcPct val="120000"/>
              </a:lnSpc>
            </a:pPr>
            <a:r>
              <a:rPr lang="zh-CN" altLang="en-US"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Buffull</a:t>
            </a:r>
            <a:r>
              <a:rPr lang="en-US" altLang="zh-CN"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false</a:t>
            </a:r>
          </a:p>
          <a:p>
            <a:pPr>
              <a:lnSpc>
                <a:spcPct val="120000"/>
              </a:lnSpc>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signal(</a:t>
            </a:r>
            <a:r>
              <a:rPr lang="en-US" altLang="zh-CN" b="1" dirty="0" err="1" smtClean="0">
                <a:latin typeface="Times New Roman" panose="02020603050405020304" pitchFamily="18" charset="0"/>
                <a:cs typeface="Times New Roman" panose="02020603050405020304" pitchFamily="18" charset="0"/>
              </a:rPr>
              <a:t>Bufempty</a:t>
            </a:r>
            <a:r>
              <a:rPr lang="en-US" altLang="zh-CN" b="1" dirty="0">
                <a:latin typeface="Times New Roman" panose="02020603050405020304" pitchFamily="18" charset="0"/>
                <a:cs typeface="Times New Roman" panose="02020603050405020304" pitchFamily="18" charset="0"/>
              </a:rPr>
              <a:t>)</a:t>
            </a:r>
          </a:p>
          <a:p>
            <a:pPr>
              <a:lnSpc>
                <a:spcPct val="120000"/>
              </a:lnSpc>
            </a:pPr>
            <a:r>
              <a:rPr lang="en-US" altLang="zh-CN"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Goto</a:t>
            </a:r>
            <a:r>
              <a:rPr lang="en-US" altLang="zh-CN" b="1" dirty="0">
                <a:latin typeface="Times New Roman" panose="02020603050405020304" pitchFamily="18" charset="0"/>
                <a:cs typeface="Times New Roman" panose="02020603050405020304" pitchFamily="18" charset="0"/>
              </a:rPr>
              <a:t>	B</a:t>
            </a:r>
          </a:p>
        </p:txBody>
      </p:sp>
      <p:sp>
        <p:nvSpPr>
          <p:cNvPr id="3" name="线形标注 1 2"/>
          <p:cNvSpPr/>
          <p:nvPr/>
        </p:nvSpPr>
        <p:spPr>
          <a:xfrm>
            <a:off x="381036" y="709794"/>
            <a:ext cx="1841871" cy="1397958"/>
          </a:xfrm>
          <a:prstGeom prst="borderCallout1">
            <a:avLst>
              <a:gd name="adj1" fmla="val 25374"/>
              <a:gd name="adj2" fmla="val 103526"/>
              <a:gd name="adj3" fmla="val 9832"/>
              <a:gd name="adj4" fmla="val 207379"/>
            </a:avLst>
          </a:prstGeom>
          <a:ln w="38100">
            <a:solidFill>
              <a:schemeClr val="accent6">
                <a:lumMod val="40000"/>
                <a:lumOff val="60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altLang="zh-CN" sz="2000" b="1" dirty="0" smtClean="0">
                <a:latin typeface="+mn-ea"/>
              </a:rPr>
              <a:t>wait</a:t>
            </a:r>
            <a:r>
              <a:rPr lang="zh-CN" altLang="en-US" sz="2000" b="1" dirty="0">
                <a:latin typeface="+mn-ea"/>
              </a:rPr>
              <a:t>的功能是等待到消息名为</a:t>
            </a:r>
            <a:r>
              <a:rPr lang="en-US" altLang="zh-CN" sz="2000" b="1" dirty="0">
                <a:latin typeface="+mn-ea"/>
              </a:rPr>
              <a:t>true</a:t>
            </a:r>
            <a:r>
              <a:rPr lang="zh-CN" altLang="en-US" sz="2000" b="1" dirty="0">
                <a:latin typeface="+mn-ea"/>
              </a:rPr>
              <a:t>的进程继续执行</a:t>
            </a:r>
          </a:p>
        </p:txBody>
      </p:sp>
      <p:sp>
        <p:nvSpPr>
          <p:cNvPr id="31" name="线形标注 1 30"/>
          <p:cNvSpPr/>
          <p:nvPr/>
        </p:nvSpPr>
        <p:spPr>
          <a:xfrm>
            <a:off x="549054" y="2563585"/>
            <a:ext cx="2596335" cy="1397958"/>
          </a:xfrm>
          <a:prstGeom prst="borderCallout1">
            <a:avLst>
              <a:gd name="adj1" fmla="val 25374"/>
              <a:gd name="adj2" fmla="val 103526"/>
              <a:gd name="adj3" fmla="val -36534"/>
              <a:gd name="adj4" fmla="val 151653"/>
            </a:avLst>
          </a:prstGeom>
          <a:ln w="38100">
            <a:solidFill>
              <a:schemeClr val="accent6">
                <a:lumMod val="40000"/>
                <a:lumOff val="60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altLang="zh-CN" sz="2000" b="1" dirty="0">
                <a:latin typeface="+mn-ea"/>
              </a:rPr>
              <a:t>signal</a:t>
            </a:r>
            <a:r>
              <a:rPr lang="zh-CN" altLang="en-US" sz="2000" b="1" dirty="0">
                <a:latin typeface="+mn-ea"/>
              </a:rPr>
              <a:t>的功能则是向合作进程发送合作进程所需要的消息名，并将其值置为</a:t>
            </a:r>
            <a:r>
              <a:rPr lang="en-US" altLang="zh-CN" sz="2000" b="1" dirty="0">
                <a:latin typeface="+mn-ea"/>
              </a:rPr>
              <a:t>true</a:t>
            </a:r>
            <a:endParaRPr lang="zh-CN" altLang="en-US" sz="20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1000"/>
                                        <p:tgtEl>
                                          <p:spTgt spid="29"/>
                                        </p:tgtEl>
                                      </p:cBhvr>
                                    </p:animEffect>
                                    <p:anim calcmode="lin" valueType="num">
                                      <p:cBhvr>
                                        <p:cTn id="28" dur="1000" fill="hold"/>
                                        <p:tgtEl>
                                          <p:spTgt spid="29"/>
                                        </p:tgtEl>
                                        <p:attrNameLst>
                                          <p:attrName>ppt_x</p:attrName>
                                        </p:attrNameLst>
                                      </p:cBhvr>
                                      <p:tavLst>
                                        <p:tav tm="0">
                                          <p:val>
                                            <p:strVal val="#ppt_x"/>
                                          </p:val>
                                        </p:tav>
                                        <p:tav tm="100000">
                                          <p:val>
                                            <p:strVal val="#ppt_x"/>
                                          </p:val>
                                        </p:tav>
                                      </p:tavLst>
                                    </p:anim>
                                    <p:anim calcmode="lin" valueType="num">
                                      <p:cBhvr>
                                        <p:cTn id="2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1000"/>
                                        <p:tgtEl>
                                          <p:spTgt spid="30"/>
                                        </p:tgtEl>
                                      </p:cBhvr>
                                    </p:animEffect>
                                    <p:anim calcmode="lin" valueType="num">
                                      <p:cBhvr>
                                        <p:cTn id="35" dur="1000" fill="hold"/>
                                        <p:tgtEl>
                                          <p:spTgt spid="30"/>
                                        </p:tgtEl>
                                        <p:attrNameLst>
                                          <p:attrName>ppt_x</p:attrName>
                                        </p:attrNameLst>
                                      </p:cBhvr>
                                      <p:tavLst>
                                        <p:tav tm="0">
                                          <p:val>
                                            <p:strVal val="#ppt_x"/>
                                          </p:val>
                                        </p:tav>
                                        <p:tav tm="100000">
                                          <p:val>
                                            <p:strVal val="#ppt_x"/>
                                          </p:val>
                                        </p:tav>
                                      </p:tavLst>
                                    </p:anim>
                                    <p:anim calcmode="lin" valueType="num">
                                      <p:cBhvr>
                                        <p:cTn id="3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right)">
                                      <p:cBhvr>
                                        <p:cTn id="41" dur="500"/>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wipe(right)">
                                      <p:cBhvr>
                                        <p:cTn id="4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 grpId="0" animBg="1"/>
      <p:bldP spid="31"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同步的实现方法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39735"/>
            <a:ext cx="6941291" cy="3323987"/>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消息过程的具体实现解决方案：</a:t>
            </a:r>
            <a:r>
              <a:rPr lang="zh-CN" altLang="en-US" sz="2000" b="1" dirty="0">
                <a:solidFill>
                  <a:schemeClr val="bg1"/>
                </a:solidFill>
                <a:latin typeface="+mn-ea"/>
              </a:rPr>
              <a:t>把各</a:t>
            </a:r>
            <a:r>
              <a:rPr lang="zh-CN" altLang="en-US" sz="2000" b="1" dirty="0">
                <a:solidFill>
                  <a:srgbClr val="FFFF00"/>
                </a:solidFill>
                <a:latin typeface="+mn-ea"/>
              </a:rPr>
              <a:t>进程之间发送的消息</a:t>
            </a:r>
            <a:r>
              <a:rPr lang="zh-CN" altLang="en-US" sz="2000" b="1" dirty="0">
                <a:solidFill>
                  <a:schemeClr val="bg1"/>
                </a:solidFill>
                <a:latin typeface="+mn-ea"/>
              </a:rPr>
              <a:t>作为</a:t>
            </a:r>
            <a:r>
              <a:rPr lang="zh-CN" altLang="en-US" sz="2000" b="1" dirty="0">
                <a:solidFill>
                  <a:srgbClr val="FFFF00"/>
                </a:solidFill>
                <a:latin typeface="+mn-ea"/>
              </a:rPr>
              <a:t>信号量</a:t>
            </a:r>
            <a:r>
              <a:rPr lang="zh-CN" altLang="en-US" sz="2000" b="1" dirty="0">
                <a:solidFill>
                  <a:schemeClr val="bg1"/>
                </a:solidFill>
                <a:latin typeface="+mn-ea"/>
              </a:rPr>
              <a:t>看待。与进程互斥时不同的是，这里的信号量</a:t>
            </a:r>
            <a:r>
              <a:rPr lang="zh-CN" altLang="en-US" sz="2000" b="1" dirty="0">
                <a:solidFill>
                  <a:srgbClr val="FFFF00"/>
                </a:solidFill>
                <a:latin typeface="+mn-ea"/>
              </a:rPr>
              <a:t>只与制约进程及被制约进程有关</a:t>
            </a:r>
            <a:r>
              <a:rPr lang="zh-CN" altLang="en-US" sz="2000" b="1" dirty="0">
                <a:solidFill>
                  <a:schemeClr val="bg1"/>
                </a:solidFill>
                <a:latin typeface="+mn-ea"/>
              </a:rPr>
              <a:t>而不是与整组并发进程有关。因此，称该信号量为</a:t>
            </a:r>
            <a:r>
              <a:rPr lang="zh-CN" altLang="en-US" sz="2000" b="1" dirty="0">
                <a:solidFill>
                  <a:srgbClr val="FFFF00"/>
                </a:solidFill>
                <a:latin typeface="+mn-ea"/>
              </a:rPr>
              <a:t>私用信号量</a:t>
            </a:r>
            <a:r>
              <a:rPr lang="zh-CN" altLang="en-US" sz="2000" b="1" dirty="0">
                <a:solidFill>
                  <a:schemeClr val="bg1"/>
                </a:solidFill>
                <a:latin typeface="+mn-ea"/>
              </a:rPr>
              <a:t>（</a:t>
            </a:r>
            <a:r>
              <a:rPr lang="en-US" altLang="zh-CN" sz="2000" b="1" dirty="0">
                <a:solidFill>
                  <a:schemeClr val="bg1"/>
                </a:solidFill>
                <a:latin typeface="+mn-ea"/>
              </a:rPr>
              <a:t>Private </a:t>
            </a:r>
            <a:r>
              <a:rPr lang="en-US" altLang="zh-CN" sz="2000" b="1" dirty="0" err="1">
                <a:solidFill>
                  <a:schemeClr val="bg1"/>
                </a:solidFill>
                <a:latin typeface="+mn-ea"/>
              </a:rPr>
              <a:t>Semaphvre</a:t>
            </a:r>
            <a:r>
              <a:rPr lang="zh-CN" altLang="en-US" sz="2000" b="1" dirty="0">
                <a:solidFill>
                  <a:schemeClr val="bg1"/>
                </a:solidFill>
                <a:latin typeface="+mn-ea"/>
              </a:rPr>
              <a:t>）</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一</a:t>
            </a:r>
            <a:r>
              <a:rPr lang="zh-CN" altLang="en-US" sz="2000" b="1" dirty="0">
                <a:solidFill>
                  <a:schemeClr val="bg1"/>
                </a:solidFill>
                <a:latin typeface="+mn-ea"/>
              </a:rPr>
              <a:t>个进程</a:t>
            </a:r>
            <a:r>
              <a:rPr lang="en-US" altLang="zh-CN" sz="2000" b="1" dirty="0">
                <a:solidFill>
                  <a:schemeClr val="bg1"/>
                </a:solidFill>
                <a:latin typeface="+mn-ea"/>
              </a:rPr>
              <a:t>P</a:t>
            </a:r>
            <a:r>
              <a:rPr lang="en-US" altLang="zh-CN" sz="2000" b="1" baseline="-25000" dirty="0">
                <a:solidFill>
                  <a:schemeClr val="bg1"/>
                </a:solidFill>
                <a:latin typeface="+mn-ea"/>
              </a:rPr>
              <a:t>i</a:t>
            </a:r>
            <a:r>
              <a:rPr lang="zh-CN" altLang="en-US" sz="2000" b="1" dirty="0">
                <a:solidFill>
                  <a:schemeClr val="bg1"/>
                </a:solidFill>
                <a:latin typeface="+mn-ea"/>
              </a:rPr>
              <a:t>的私用信号量</a:t>
            </a:r>
            <a:r>
              <a:rPr lang="en-US" altLang="zh-CN" sz="2000" b="1" dirty="0">
                <a:solidFill>
                  <a:schemeClr val="bg1"/>
                </a:solidFill>
                <a:latin typeface="+mn-ea"/>
              </a:rPr>
              <a:t>Sem</a:t>
            </a:r>
            <a:r>
              <a:rPr lang="en-US" altLang="zh-CN" sz="2000" b="1" baseline="-25000" dirty="0">
                <a:solidFill>
                  <a:schemeClr val="bg1"/>
                </a:solidFill>
                <a:latin typeface="+mn-ea"/>
              </a:rPr>
              <a:t>i</a:t>
            </a:r>
            <a:r>
              <a:rPr lang="zh-CN" altLang="en-US" sz="2000" b="1" dirty="0">
                <a:solidFill>
                  <a:schemeClr val="bg1"/>
                </a:solidFill>
                <a:latin typeface="+mn-ea"/>
              </a:rPr>
              <a:t>是从制约进程发送来的进程</a:t>
            </a:r>
            <a:r>
              <a:rPr lang="en-US" altLang="zh-CN" sz="2000" b="1" dirty="0">
                <a:solidFill>
                  <a:schemeClr val="bg1"/>
                </a:solidFill>
                <a:latin typeface="+mn-ea"/>
              </a:rPr>
              <a:t>P</a:t>
            </a:r>
            <a:r>
              <a:rPr lang="en-US" altLang="zh-CN" sz="2000" b="1" baseline="-25000" dirty="0">
                <a:solidFill>
                  <a:schemeClr val="bg1"/>
                </a:solidFill>
                <a:latin typeface="+mn-ea"/>
              </a:rPr>
              <a:t>i</a:t>
            </a:r>
            <a:r>
              <a:rPr lang="zh-CN" altLang="en-US" sz="2000" b="1" dirty="0">
                <a:solidFill>
                  <a:schemeClr val="bg1"/>
                </a:solidFill>
                <a:latin typeface="+mn-ea"/>
              </a:rPr>
              <a:t>的执行条件所需要的消息。与私用信号量相对应，称</a:t>
            </a:r>
            <a:r>
              <a:rPr lang="zh-CN" altLang="en-US" sz="2000" b="1" dirty="0">
                <a:solidFill>
                  <a:srgbClr val="FFFF00"/>
                </a:solidFill>
                <a:latin typeface="+mn-ea"/>
              </a:rPr>
              <a:t>互斥</a:t>
            </a:r>
            <a:r>
              <a:rPr lang="zh-CN" altLang="en-US" sz="2000" b="1" dirty="0">
                <a:solidFill>
                  <a:schemeClr val="bg1"/>
                </a:solidFill>
                <a:latin typeface="+mn-ea"/>
              </a:rPr>
              <a:t>时使用的信号量为</a:t>
            </a:r>
            <a:r>
              <a:rPr lang="zh-CN" altLang="en-US" sz="2000" b="1" dirty="0">
                <a:solidFill>
                  <a:srgbClr val="FFFF00"/>
                </a:solidFill>
                <a:latin typeface="+mn-ea"/>
              </a:rPr>
              <a:t>公用信号量</a:t>
            </a:r>
            <a:r>
              <a:rPr lang="zh-CN" altLang="en-US" sz="20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27584" y="1419622"/>
            <a:ext cx="6941291" cy="1754326"/>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首先为各并发进程设置</a:t>
            </a:r>
            <a:r>
              <a:rPr lang="zh-CN" altLang="en-US" sz="2400" b="1" dirty="0">
                <a:solidFill>
                  <a:srgbClr val="FFFF00"/>
                </a:solidFill>
                <a:latin typeface="+mn-ea"/>
              </a:rPr>
              <a:t>私用信号量</a:t>
            </a:r>
            <a:r>
              <a:rPr lang="zh-CN" altLang="en-US" sz="2400" b="1" dirty="0">
                <a:solidFill>
                  <a:schemeClr val="bg1"/>
                </a:solidFill>
                <a:latin typeface="+mn-ea"/>
              </a:rPr>
              <a:t>，然后为私用信号量</a:t>
            </a:r>
            <a:r>
              <a:rPr lang="zh-CN" altLang="en-US" sz="2400" b="1" dirty="0">
                <a:solidFill>
                  <a:schemeClr val="accent6">
                    <a:lumMod val="40000"/>
                    <a:lumOff val="60000"/>
                  </a:schemeClr>
                </a:solidFill>
                <a:latin typeface="+mn-ea"/>
              </a:rPr>
              <a:t>赋初值</a:t>
            </a:r>
            <a:r>
              <a:rPr lang="zh-CN" altLang="en-US" sz="2400" b="1" dirty="0">
                <a:solidFill>
                  <a:schemeClr val="bg1"/>
                </a:solidFill>
                <a:latin typeface="+mn-ea"/>
              </a:rPr>
              <a:t>，最后利用</a:t>
            </a:r>
            <a:r>
              <a:rPr lang="zh-CN" altLang="en-US" sz="2400" b="1" dirty="0">
                <a:solidFill>
                  <a:schemeClr val="accent4">
                    <a:lumMod val="40000"/>
                    <a:lumOff val="60000"/>
                  </a:schemeClr>
                </a:solidFill>
                <a:latin typeface="+mn-ea"/>
              </a:rPr>
              <a:t>Ｐ，Ｖ原语</a:t>
            </a:r>
            <a:r>
              <a:rPr lang="zh-CN" altLang="en-US" sz="2400" b="1" dirty="0">
                <a:solidFill>
                  <a:schemeClr val="bg1"/>
                </a:solidFill>
                <a:latin typeface="+mn-ea"/>
              </a:rPr>
              <a:t>和</a:t>
            </a:r>
            <a:r>
              <a:rPr lang="zh-CN" altLang="en-US" sz="2400" b="1" dirty="0">
                <a:solidFill>
                  <a:schemeClr val="accent4">
                    <a:lumMod val="40000"/>
                    <a:lumOff val="60000"/>
                  </a:schemeClr>
                </a:solidFill>
                <a:latin typeface="+mn-ea"/>
              </a:rPr>
              <a:t>私用信号量规定各进程的执行顺序</a:t>
            </a:r>
            <a:r>
              <a:rPr lang="zh-CN" altLang="en-US" sz="2400" b="1" dirty="0">
                <a:solidFill>
                  <a:schemeClr val="bg1"/>
                </a:solidFill>
                <a:latin typeface="+mn-ea"/>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199684"/>
            <a:ext cx="6941291" cy="52084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一个生产者，一个消费者，公用一个缓冲区</a:t>
            </a:r>
          </a:p>
        </p:txBody>
      </p:sp>
      <p:sp>
        <p:nvSpPr>
          <p:cNvPr id="5" name="矩形 4"/>
          <p:cNvSpPr/>
          <p:nvPr/>
        </p:nvSpPr>
        <p:spPr>
          <a:xfrm>
            <a:off x="681036" y="2345738"/>
            <a:ext cx="7071046" cy="2292935"/>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满足如下条件：</a:t>
            </a:r>
          </a:p>
          <a:p>
            <a:pPr marL="0" lvl="1" algn="just">
              <a:lnSpc>
                <a:spcPct val="130000"/>
              </a:lnSpc>
              <a:buClr>
                <a:schemeClr val="accent6">
                  <a:lumMod val="60000"/>
                  <a:lumOff val="40000"/>
                </a:schemeClr>
              </a:buClr>
            </a:pPr>
            <a:r>
              <a:rPr lang="en-US" altLang="zh-CN" sz="2200" b="1" dirty="0" smtClean="0">
                <a:solidFill>
                  <a:schemeClr val="bg1"/>
                </a:solidFill>
                <a:latin typeface="+mn-ea"/>
              </a:rPr>
              <a:t>  (</a:t>
            </a:r>
            <a:r>
              <a:rPr lang="en-US" altLang="zh-CN" sz="2200" b="1" dirty="0">
                <a:solidFill>
                  <a:schemeClr val="bg1"/>
                </a:solidFill>
                <a:latin typeface="+mn-ea"/>
              </a:rPr>
              <a:t>1) </a:t>
            </a:r>
            <a:r>
              <a:rPr lang="zh-CN" altLang="en-US" sz="2200" b="1" dirty="0">
                <a:solidFill>
                  <a:schemeClr val="bg1"/>
                </a:solidFill>
                <a:latin typeface="+mn-ea"/>
              </a:rPr>
              <a:t>在</a:t>
            </a:r>
            <a:r>
              <a:rPr lang="en-US" altLang="zh-CN" sz="2200" b="1" dirty="0" smtClean="0">
                <a:solidFill>
                  <a:schemeClr val="bg1"/>
                </a:solidFill>
                <a:latin typeface="+mn-ea"/>
              </a:rPr>
              <a:t>PA</a:t>
            </a:r>
            <a:r>
              <a:rPr lang="zh-CN" altLang="en-US" sz="2200" b="1" dirty="0" smtClean="0">
                <a:solidFill>
                  <a:schemeClr val="bg1"/>
                </a:solidFill>
                <a:latin typeface="+mn-ea"/>
              </a:rPr>
              <a:t>送数据入缓冲区</a:t>
            </a:r>
            <a:r>
              <a:rPr lang="zh-CN" altLang="en-US" sz="2200" b="1" dirty="0">
                <a:solidFill>
                  <a:schemeClr val="bg1"/>
                </a:solidFill>
                <a:latin typeface="+mn-ea"/>
              </a:rPr>
              <a:t>之前，</a:t>
            </a:r>
            <a:r>
              <a:rPr lang="en-US" altLang="zh-CN" sz="2200" b="1" dirty="0">
                <a:solidFill>
                  <a:schemeClr val="bg1"/>
                </a:solidFill>
                <a:latin typeface="+mn-ea"/>
              </a:rPr>
              <a:t>PB</a:t>
            </a:r>
            <a:r>
              <a:rPr lang="zh-CN" altLang="en-US" sz="2200" b="1" dirty="0">
                <a:solidFill>
                  <a:schemeClr val="bg1"/>
                </a:solidFill>
                <a:latin typeface="+mn-ea"/>
              </a:rPr>
              <a:t>不可能从缓冲区中取出数据（假定数据块长等于缓冲区长度）；</a:t>
            </a:r>
          </a:p>
          <a:p>
            <a:pPr marL="0" lvl="1" algn="just">
              <a:lnSpc>
                <a:spcPct val="130000"/>
              </a:lnSpc>
              <a:buClr>
                <a:schemeClr val="accent6">
                  <a:lumMod val="60000"/>
                  <a:lumOff val="40000"/>
                </a:schemeClr>
              </a:buClr>
            </a:pPr>
            <a:r>
              <a:rPr lang="zh-CN" altLang="en-US" sz="2200" b="1" dirty="0" smtClean="0">
                <a:solidFill>
                  <a:schemeClr val="bg1"/>
                </a:solidFill>
                <a:latin typeface="+mn-ea"/>
              </a:rPr>
              <a:t> （</a:t>
            </a:r>
            <a:r>
              <a:rPr lang="en-US" altLang="zh-CN" sz="2200" b="1" dirty="0">
                <a:solidFill>
                  <a:schemeClr val="bg1"/>
                </a:solidFill>
                <a:latin typeface="+mn-ea"/>
              </a:rPr>
              <a:t>2) PA</a:t>
            </a:r>
            <a:r>
              <a:rPr lang="zh-CN" altLang="en-US" sz="2200" b="1" dirty="0">
                <a:solidFill>
                  <a:schemeClr val="bg1"/>
                </a:solidFill>
                <a:latin typeface="+mn-ea"/>
              </a:rPr>
              <a:t>往缓冲队列发送数据时</a:t>
            </a:r>
            <a:r>
              <a:rPr lang="zh-CN" altLang="en-US" sz="2200" b="1" dirty="0" smtClean="0">
                <a:solidFill>
                  <a:schemeClr val="bg1"/>
                </a:solidFill>
                <a:latin typeface="+mn-ea"/>
              </a:rPr>
              <a:t>，缓冲区必须是</a:t>
            </a:r>
            <a:r>
              <a:rPr lang="zh-CN" altLang="en-US" sz="2200" b="1" dirty="0">
                <a:solidFill>
                  <a:schemeClr val="bg1"/>
                </a:solidFill>
                <a:latin typeface="+mn-ea"/>
              </a:rPr>
              <a:t>空的；</a:t>
            </a:r>
          </a:p>
          <a:p>
            <a:pPr marL="0" lvl="1" algn="just">
              <a:lnSpc>
                <a:spcPct val="130000"/>
              </a:lnSpc>
              <a:buClr>
                <a:schemeClr val="accent6">
                  <a:lumMod val="60000"/>
                  <a:lumOff val="40000"/>
                </a:schemeClr>
              </a:buClr>
            </a:pPr>
            <a:r>
              <a:rPr lang="zh-CN" altLang="en-US" sz="2200" b="1" dirty="0" smtClean="0">
                <a:solidFill>
                  <a:schemeClr val="bg1"/>
                </a:solidFill>
                <a:latin typeface="+mn-ea"/>
              </a:rPr>
              <a:t> </a:t>
            </a:r>
            <a:endParaRPr lang="zh-CN" altLang="en-US" sz="2200" b="1" dirty="0">
              <a:solidFill>
                <a:schemeClr val="bg1"/>
              </a:solidFill>
              <a:latin typeface="+mn-ea"/>
            </a:endParaRPr>
          </a:p>
        </p:txBody>
      </p:sp>
      <p:grpSp>
        <p:nvGrpSpPr>
          <p:cNvPr id="13" name="组合 12"/>
          <p:cNvGrpSpPr/>
          <p:nvPr/>
        </p:nvGrpSpPr>
        <p:grpSpPr>
          <a:xfrm>
            <a:off x="850311" y="1796246"/>
            <a:ext cx="6693160" cy="661198"/>
            <a:chOff x="755576" y="1699060"/>
            <a:chExt cx="6693160" cy="661198"/>
          </a:xfrm>
        </p:grpSpPr>
        <p:sp>
          <p:nvSpPr>
            <p:cNvPr id="6" name="椭圆 5"/>
            <p:cNvSpPr/>
            <p:nvPr/>
          </p:nvSpPr>
          <p:spPr>
            <a:xfrm>
              <a:off x="1547664" y="1712186"/>
              <a:ext cx="648072" cy="648072"/>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600" b="1" dirty="0" smtClean="0">
                  <a:latin typeface="Times New Roman" panose="02020603050405020304" pitchFamily="18" charset="0"/>
                  <a:cs typeface="Times New Roman" panose="02020603050405020304" pitchFamily="18" charset="0"/>
                </a:rPr>
                <a:t>PA</a:t>
              </a:r>
              <a:endParaRPr lang="zh-CN" altLang="en-US" sz="1600" b="1" dirty="0">
                <a:latin typeface="Times New Roman" panose="02020603050405020304" pitchFamily="18" charset="0"/>
                <a:cs typeface="Times New Roman" panose="02020603050405020304" pitchFamily="18" charset="0"/>
              </a:endParaRPr>
            </a:p>
          </p:txBody>
        </p:sp>
        <p:sp>
          <p:nvSpPr>
            <p:cNvPr id="31" name="椭圆 30"/>
            <p:cNvSpPr/>
            <p:nvPr/>
          </p:nvSpPr>
          <p:spPr>
            <a:xfrm>
              <a:off x="5960605" y="1699060"/>
              <a:ext cx="648072" cy="648072"/>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600" b="1" dirty="0" smtClean="0">
                  <a:latin typeface="Times New Roman" panose="02020603050405020304" pitchFamily="18" charset="0"/>
                  <a:cs typeface="Times New Roman" panose="02020603050405020304" pitchFamily="18" charset="0"/>
                </a:rPr>
                <a:t>PB</a:t>
              </a:r>
              <a:endParaRPr lang="zh-CN" altLang="en-US" sz="1600" b="1" dirty="0">
                <a:latin typeface="Times New Roman" panose="02020603050405020304" pitchFamily="18" charset="0"/>
                <a:cs typeface="Times New Roman" panose="02020603050405020304" pitchFamily="18" charset="0"/>
              </a:endParaRPr>
            </a:p>
          </p:txBody>
        </p:sp>
        <p:sp>
          <p:nvSpPr>
            <p:cNvPr id="7" name="矩形 6"/>
            <p:cNvSpPr/>
            <p:nvPr/>
          </p:nvSpPr>
          <p:spPr>
            <a:xfrm>
              <a:off x="3563154" y="1835381"/>
              <a:ext cx="792088" cy="40083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b="1" dirty="0" smtClean="0"/>
                <a:t>BUF</a:t>
              </a:r>
              <a:endParaRPr lang="zh-CN" altLang="en-US" b="1" dirty="0"/>
            </a:p>
          </p:txBody>
        </p:sp>
        <p:cxnSp>
          <p:nvCxnSpPr>
            <p:cNvPr id="9" name="直接箭头连接符 8"/>
            <p:cNvCxnSpPr>
              <a:endCxn id="7" idx="1"/>
            </p:cNvCxnSpPr>
            <p:nvPr/>
          </p:nvCxnSpPr>
          <p:spPr>
            <a:xfrm flipV="1">
              <a:off x="2195736" y="2035799"/>
              <a:ext cx="1367418" cy="1101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2" name="直接箭头连接符 31"/>
            <p:cNvCxnSpPr>
              <a:endCxn id="31" idx="2"/>
            </p:cNvCxnSpPr>
            <p:nvPr/>
          </p:nvCxnSpPr>
          <p:spPr>
            <a:xfrm flipV="1">
              <a:off x="4355242" y="2023096"/>
              <a:ext cx="1605363" cy="2371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2" name="矩形 11"/>
            <p:cNvSpPr/>
            <p:nvPr/>
          </p:nvSpPr>
          <p:spPr>
            <a:xfrm>
              <a:off x="755576" y="1835381"/>
              <a:ext cx="881973" cy="369332"/>
            </a:xfrm>
            <a:prstGeom prst="rect">
              <a:avLst/>
            </a:prstGeom>
          </p:spPr>
          <p:txBody>
            <a:bodyPr wrap="none">
              <a:spAutoFit/>
            </a:bodyPr>
            <a:lstStyle/>
            <a:p>
              <a:r>
                <a:rPr lang="zh-CN" altLang="en-US" b="1" dirty="0">
                  <a:solidFill>
                    <a:srgbClr val="FFFF00"/>
                  </a:solidFill>
                  <a:latin typeface="+mn-ea"/>
                </a:rPr>
                <a:t>生产者</a:t>
              </a:r>
              <a:endParaRPr lang="zh-CN" altLang="en-US" dirty="0">
                <a:solidFill>
                  <a:srgbClr val="FFFF00"/>
                </a:solidFill>
              </a:endParaRPr>
            </a:p>
          </p:txBody>
        </p:sp>
        <p:sp>
          <p:nvSpPr>
            <p:cNvPr id="33" name="矩形 32"/>
            <p:cNvSpPr/>
            <p:nvPr/>
          </p:nvSpPr>
          <p:spPr>
            <a:xfrm>
              <a:off x="6566763" y="1856639"/>
              <a:ext cx="881973" cy="369332"/>
            </a:xfrm>
            <a:prstGeom prst="rect">
              <a:avLst/>
            </a:prstGeom>
          </p:spPr>
          <p:txBody>
            <a:bodyPr wrap="none">
              <a:spAutoFit/>
            </a:bodyPr>
            <a:lstStyle/>
            <a:p>
              <a:r>
                <a:rPr lang="zh-CN" altLang="en-US" b="1" dirty="0" smtClean="0">
                  <a:solidFill>
                    <a:srgbClr val="FFFF00"/>
                  </a:solidFill>
                  <a:latin typeface="+mn-ea"/>
                </a:rPr>
                <a:t>消费者</a:t>
              </a:r>
              <a:endParaRPr lang="zh-CN" altLang="en-US" dirty="0">
                <a:solidFill>
                  <a:srgbClr val="FFFF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wipe(left)">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wipe(left)">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wipe(left)">
                                      <p:cBhvr>
                                        <p:cTn id="3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199684"/>
            <a:ext cx="6941291" cy="52084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一个生产者，一个消费者，公用一个缓冲区</a:t>
            </a:r>
          </a:p>
        </p:txBody>
      </p:sp>
      <p:sp>
        <p:nvSpPr>
          <p:cNvPr id="5" name="矩形 4"/>
          <p:cNvSpPr/>
          <p:nvPr/>
        </p:nvSpPr>
        <p:spPr>
          <a:xfrm>
            <a:off x="877917" y="2345738"/>
            <a:ext cx="6862435" cy="2292935"/>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进程</a:t>
            </a:r>
            <a:r>
              <a:rPr lang="en-US" altLang="zh-CN" sz="2200" b="1" dirty="0">
                <a:solidFill>
                  <a:schemeClr val="bg1"/>
                </a:solidFill>
                <a:latin typeface="+mn-ea"/>
              </a:rPr>
              <a:t>PA</a:t>
            </a:r>
            <a:r>
              <a:rPr lang="zh-CN" altLang="en-US" sz="2200" b="1" dirty="0">
                <a:solidFill>
                  <a:schemeClr val="bg1"/>
                </a:solidFill>
                <a:latin typeface="+mn-ea"/>
              </a:rPr>
              <a:t>调用的过程</a:t>
            </a:r>
            <a:r>
              <a:rPr lang="en-US" altLang="zh-CN" sz="2200" b="1" dirty="0">
                <a:solidFill>
                  <a:schemeClr val="bg1"/>
                </a:solidFill>
                <a:latin typeface="+mn-ea"/>
              </a:rPr>
              <a:t>deposit(data)</a:t>
            </a:r>
            <a:r>
              <a:rPr lang="zh-CN" altLang="en-US" sz="2200" b="1" dirty="0">
                <a:solidFill>
                  <a:schemeClr val="bg1"/>
                </a:solidFill>
                <a:latin typeface="+mn-ea"/>
              </a:rPr>
              <a:t>和进程</a:t>
            </a:r>
            <a:r>
              <a:rPr lang="en-US" altLang="zh-CN" sz="2200" b="1" dirty="0">
                <a:solidFill>
                  <a:schemeClr val="bg1"/>
                </a:solidFill>
                <a:latin typeface="+mn-ea"/>
              </a:rPr>
              <a:t>PB</a:t>
            </a:r>
            <a:r>
              <a:rPr lang="zh-CN" altLang="en-US" sz="2200" b="1" dirty="0">
                <a:solidFill>
                  <a:schemeClr val="bg1"/>
                </a:solidFill>
                <a:latin typeface="+mn-ea"/>
              </a:rPr>
              <a:t>调用的过程</a:t>
            </a:r>
            <a:r>
              <a:rPr lang="en-US" altLang="zh-CN" sz="2200" b="1" dirty="0">
                <a:solidFill>
                  <a:schemeClr val="bg1"/>
                </a:solidFill>
                <a:latin typeface="+mn-ea"/>
              </a:rPr>
              <a:t>remove(data)</a:t>
            </a:r>
            <a:r>
              <a:rPr lang="zh-CN" altLang="en-US" sz="2200" b="1" dirty="0">
                <a:solidFill>
                  <a:schemeClr val="bg1"/>
                </a:solidFill>
                <a:latin typeface="+mn-ea"/>
              </a:rPr>
              <a:t>必须同步执行</a:t>
            </a:r>
            <a:endParaRPr lang="en-US" altLang="zh-CN" sz="2200" b="1" dirty="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设</a:t>
            </a:r>
            <a:r>
              <a:rPr lang="en-US" altLang="zh-CN" sz="2200" b="1" dirty="0" err="1">
                <a:solidFill>
                  <a:schemeClr val="bg1"/>
                </a:solidFill>
                <a:latin typeface="+mn-ea"/>
              </a:rPr>
              <a:t>Bufempty</a:t>
            </a:r>
            <a:r>
              <a:rPr lang="zh-CN" altLang="en-US" sz="2200" b="1" dirty="0">
                <a:solidFill>
                  <a:schemeClr val="bg1"/>
                </a:solidFill>
                <a:latin typeface="+mn-ea"/>
              </a:rPr>
              <a:t>为进程</a:t>
            </a:r>
            <a:r>
              <a:rPr lang="en-US" altLang="zh-CN" sz="2200" b="1" dirty="0">
                <a:solidFill>
                  <a:schemeClr val="bg1"/>
                </a:solidFill>
                <a:latin typeface="+mn-ea"/>
              </a:rPr>
              <a:t>PA</a:t>
            </a:r>
            <a:r>
              <a:rPr lang="zh-CN" altLang="en-US" sz="2200" b="1" dirty="0">
                <a:solidFill>
                  <a:schemeClr val="bg1"/>
                </a:solidFill>
                <a:latin typeface="+mn-ea"/>
              </a:rPr>
              <a:t>的私用信号量，</a:t>
            </a:r>
            <a:r>
              <a:rPr lang="en-US" altLang="zh-CN" sz="2200" b="1" dirty="0" err="1">
                <a:solidFill>
                  <a:schemeClr val="bg1"/>
                </a:solidFill>
                <a:latin typeface="+mn-ea"/>
              </a:rPr>
              <a:t>Buffull</a:t>
            </a:r>
            <a:r>
              <a:rPr lang="en-US" altLang="zh-CN" sz="2200" b="1" dirty="0">
                <a:solidFill>
                  <a:schemeClr val="bg1"/>
                </a:solidFill>
                <a:latin typeface="+mn-ea"/>
              </a:rPr>
              <a:t> </a:t>
            </a:r>
            <a:r>
              <a:rPr lang="zh-CN" altLang="en-US" sz="2200" b="1" dirty="0">
                <a:solidFill>
                  <a:schemeClr val="bg1"/>
                </a:solidFill>
                <a:latin typeface="+mn-ea"/>
              </a:rPr>
              <a:t>为进程</a:t>
            </a:r>
            <a:r>
              <a:rPr lang="en-US" altLang="zh-CN" sz="2200" b="1" dirty="0">
                <a:solidFill>
                  <a:schemeClr val="bg1"/>
                </a:solidFill>
                <a:latin typeface="+mn-ea"/>
              </a:rPr>
              <a:t>PB</a:t>
            </a:r>
            <a:r>
              <a:rPr lang="zh-CN" altLang="en-US" sz="2200" b="1" dirty="0">
                <a:solidFill>
                  <a:schemeClr val="bg1"/>
                </a:solidFill>
                <a:latin typeface="+mn-ea"/>
              </a:rPr>
              <a:t>的私用信号量</a:t>
            </a:r>
            <a:r>
              <a:rPr lang="zh-CN" altLang="en-US" sz="2200" b="1" dirty="0" smtClean="0">
                <a:solidFill>
                  <a:schemeClr val="bg1"/>
                </a:solidFill>
                <a:latin typeface="+mn-ea"/>
              </a:rPr>
              <a:t>；（</a:t>
            </a:r>
            <a:r>
              <a:rPr lang="en-US" altLang="zh-CN" sz="2200" b="1" dirty="0">
                <a:solidFill>
                  <a:schemeClr val="bg1"/>
                </a:solidFill>
                <a:latin typeface="+mn-ea"/>
              </a:rPr>
              <a:t>2) </a:t>
            </a:r>
            <a:r>
              <a:rPr lang="zh-CN" altLang="en-US" sz="2200" b="1" dirty="0">
                <a:solidFill>
                  <a:schemeClr val="bg1"/>
                </a:solidFill>
                <a:latin typeface="+mn-ea"/>
              </a:rPr>
              <a:t>令</a:t>
            </a:r>
            <a:r>
              <a:rPr lang="en-US" altLang="zh-CN" sz="2200" b="1" dirty="0" err="1">
                <a:solidFill>
                  <a:schemeClr val="bg1"/>
                </a:solidFill>
                <a:latin typeface="+mn-ea"/>
              </a:rPr>
              <a:t>Bufempty</a:t>
            </a:r>
            <a:r>
              <a:rPr lang="zh-CN" altLang="en-US" sz="2200" b="1" dirty="0">
                <a:solidFill>
                  <a:schemeClr val="bg1"/>
                </a:solidFill>
                <a:latin typeface="+mn-ea"/>
              </a:rPr>
              <a:t>的初始值</a:t>
            </a:r>
            <a:r>
              <a:rPr lang="zh-CN" altLang="en-US" sz="2200" b="1" dirty="0" smtClean="0">
                <a:solidFill>
                  <a:schemeClr val="bg1"/>
                </a:solidFill>
                <a:latin typeface="+mn-ea"/>
              </a:rPr>
              <a:t>为</a:t>
            </a:r>
            <a:r>
              <a:rPr lang="en-US" altLang="zh-CN" sz="2200" b="1" dirty="0" smtClean="0">
                <a:solidFill>
                  <a:schemeClr val="bg1"/>
                </a:solidFill>
                <a:latin typeface="+mn-ea"/>
              </a:rPr>
              <a:t>1</a:t>
            </a:r>
            <a:r>
              <a:rPr lang="zh-CN" altLang="en-US" sz="2200" b="1" dirty="0" smtClean="0">
                <a:solidFill>
                  <a:schemeClr val="bg1"/>
                </a:solidFill>
                <a:latin typeface="+mn-ea"/>
              </a:rPr>
              <a:t>，</a:t>
            </a:r>
            <a:r>
              <a:rPr lang="en-US" altLang="zh-CN" sz="2200" b="1" dirty="0" err="1" smtClean="0">
                <a:solidFill>
                  <a:schemeClr val="bg1"/>
                </a:solidFill>
                <a:latin typeface="+mn-ea"/>
              </a:rPr>
              <a:t>Buffull</a:t>
            </a:r>
            <a:r>
              <a:rPr lang="en-US" altLang="zh-CN" sz="2200" b="1" dirty="0" smtClean="0">
                <a:solidFill>
                  <a:schemeClr val="bg1"/>
                </a:solidFill>
                <a:latin typeface="+mn-ea"/>
              </a:rPr>
              <a:t> </a:t>
            </a:r>
            <a:r>
              <a:rPr lang="zh-CN" altLang="en-US" sz="2200" b="1" dirty="0">
                <a:solidFill>
                  <a:schemeClr val="bg1"/>
                </a:solidFill>
                <a:latin typeface="+mn-ea"/>
              </a:rPr>
              <a:t>的初始值为</a:t>
            </a:r>
            <a:r>
              <a:rPr lang="en-US" altLang="zh-CN" sz="2200" b="1" dirty="0">
                <a:solidFill>
                  <a:schemeClr val="bg1"/>
                </a:solidFill>
                <a:latin typeface="+mn-ea"/>
              </a:rPr>
              <a:t>0</a:t>
            </a:r>
            <a:r>
              <a:rPr lang="zh-CN" altLang="en-US" sz="2200" b="1" dirty="0">
                <a:solidFill>
                  <a:schemeClr val="bg1"/>
                </a:solidFill>
                <a:latin typeface="+mn-ea"/>
              </a:rPr>
              <a:t>；</a:t>
            </a:r>
          </a:p>
        </p:txBody>
      </p:sp>
      <p:grpSp>
        <p:nvGrpSpPr>
          <p:cNvPr id="13" name="组合 12"/>
          <p:cNvGrpSpPr/>
          <p:nvPr/>
        </p:nvGrpSpPr>
        <p:grpSpPr>
          <a:xfrm>
            <a:off x="850311" y="1796246"/>
            <a:ext cx="6693160" cy="661198"/>
            <a:chOff x="755576" y="1699060"/>
            <a:chExt cx="6693160" cy="661198"/>
          </a:xfrm>
        </p:grpSpPr>
        <p:sp>
          <p:nvSpPr>
            <p:cNvPr id="6" name="椭圆 5"/>
            <p:cNvSpPr/>
            <p:nvPr/>
          </p:nvSpPr>
          <p:spPr>
            <a:xfrm>
              <a:off x="1547664" y="1712186"/>
              <a:ext cx="648072" cy="648072"/>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600" b="1" dirty="0" smtClean="0">
                  <a:latin typeface="Times New Roman" panose="02020603050405020304" pitchFamily="18" charset="0"/>
                  <a:cs typeface="Times New Roman" panose="02020603050405020304" pitchFamily="18" charset="0"/>
                </a:rPr>
                <a:t>PA</a:t>
              </a:r>
              <a:endParaRPr lang="zh-CN" altLang="en-US" sz="1600" b="1" dirty="0">
                <a:latin typeface="Times New Roman" panose="02020603050405020304" pitchFamily="18" charset="0"/>
                <a:cs typeface="Times New Roman" panose="02020603050405020304" pitchFamily="18" charset="0"/>
              </a:endParaRPr>
            </a:p>
          </p:txBody>
        </p:sp>
        <p:sp>
          <p:nvSpPr>
            <p:cNvPr id="31" name="椭圆 30"/>
            <p:cNvSpPr/>
            <p:nvPr/>
          </p:nvSpPr>
          <p:spPr>
            <a:xfrm>
              <a:off x="5960605" y="1699060"/>
              <a:ext cx="648072" cy="648072"/>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600" b="1" dirty="0" smtClean="0">
                  <a:latin typeface="Times New Roman" panose="02020603050405020304" pitchFamily="18" charset="0"/>
                  <a:cs typeface="Times New Roman" panose="02020603050405020304" pitchFamily="18" charset="0"/>
                </a:rPr>
                <a:t>PB</a:t>
              </a:r>
              <a:endParaRPr lang="zh-CN" altLang="en-US" sz="1600" b="1" dirty="0">
                <a:latin typeface="Times New Roman" panose="02020603050405020304" pitchFamily="18" charset="0"/>
                <a:cs typeface="Times New Roman" panose="02020603050405020304" pitchFamily="18" charset="0"/>
              </a:endParaRPr>
            </a:p>
          </p:txBody>
        </p:sp>
        <p:sp>
          <p:nvSpPr>
            <p:cNvPr id="7" name="矩形 6"/>
            <p:cNvSpPr/>
            <p:nvPr/>
          </p:nvSpPr>
          <p:spPr>
            <a:xfrm>
              <a:off x="3563154" y="1835381"/>
              <a:ext cx="792088" cy="40083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b="1" dirty="0" smtClean="0"/>
                <a:t>BUF</a:t>
              </a:r>
              <a:endParaRPr lang="zh-CN" altLang="en-US" b="1" dirty="0"/>
            </a:p>
          </p:txBody>
        </p:sp>
        <p:cxnSp>
          <p:nvCxnSpPr>
            <p:cNvPr id="9" name="直接箭头连接符 8"/>
            <p:cNvCxnSpPr>
              <a:endCxn id="7" idx="1"/>
            </p:cNvCxnSpPr>
            <p:nvPr/>
          </p:nvCxnSpPr>
          <p:spPr>
            <a:xfrm flipV="1">
              <a:off x="2195736" y="2035799"/>
              <a:ext cx="1367418" cy="1101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2" name="直接箭头连接符 31"/>
            <p:cNvCxnSpPr>
              <a:endCxn id="31" idx="2"/>
            </p:cNvCxnSpPr>
            <p:nvPr/>
          </p:nvCxnSpPr>
          <p:spPr>
            <a:xfrm flipV="1">
              <a:off x="4355242" y="2023096"/>
              <a:ext cx="1605363" cy="2371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2" name="矩形 11"/>
            <p:cNvSpPr/>
            <p:nvPr/>
          </p:nvSpPr>
          <p:spPr>
            <a:xfrm>
              <a:off x="755576" y="1835381"/>
              <a:ext cx="881973" cy="369332"/>
            </a:xfrm>
            <a:prstGeom prst="rect">
              <a:avLst/>
            </a:prstGeom>
          </p:spPr>
          <p:txBody>
            <a:bodyPr wrap="none">
              <a:spAutoFit/>
            </a:bodyPr>
            <a:lstStyle/>
            <a:p>
              <a:r>
                <a:rPr lang="zh-CN" altLang="en-US" b="1" dirty="0">
                  <a:solidFill>
                    <a:srgbClr val="FFFF00"/>
                  </a:solidFill>
                  <a:latin typeface="+mn-ea"/>
                </a:rPr>
                <a:t>生产者</a:t>
              </a:r>
              <a:endParaRPr lang="zh-CN" altLang="en-US" dirty="0">
                <a:solidFill>
                  <a:srgbClr val="FFFF00"/>
                </a:solidFill>
              </a:endParaRPr>
            </a:p>
          </p:txBody>
        </p:sp>
        <p:sp>
          <p:nvSpPr>
            <p:cNvPr id="33" name="矩形 32"/>
            <p:cNvSpPr/>
            <p:nvPr/>
          </p:nvSpPr>
          <p:spPr>
            <a:xfrm>
              <a:off x="6566763" y="1856639"/>
              <a:ext cx="881973" cy="369332"/>
            </a:xfrm>
            <a:prstGeom prst="rect">
              <a:avLst/>
            </a:prstGeom>
          </p:spPr>
          <p:txBody>
            <a:bodyPr wrap="none">
              <a:spAutoFit/>
            </a:bodyPr>
            <a:lstStyle/>
            <a:p>
              <a:r>
                <a:rPr lang="zh-CN" altLang="en-US" b="1" dirty="0" smtClean="0">
                  <a:solidFill>
                    <a:srgbClr val="FFFF00"/>
                  </a:solidFill>
                  <a:latin typeface="+mn-ea"/>
                </a:rPr>
                <a:t>消费者</a:t>
              </a:r>
              <a:endParaRPr lang="zh-CN" altLang="en-US" dirty="0">
                <a:solidFill>
                  <a:srgbClr val="FFFF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199684"/>
            <a:ext cx="6941291" cy="52084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一个生产者，一个消费者，公用一个缓冲区</a:t>
            </a:r>
          </a:p>
        </p:txBody>
      </p:sp>
      <p:grpSp>
        <p:nvGrpSpPr>
          <p:cNvPr id="13" name="组合 12"/>
          <p:cNvGrpSpPr/>
          <p:nvPr/>
        </p:nvGrpSpPr>
        <p:grpSpPr>
          <a:xfrm>
            <a:off x="850311" y="1796246"/>
            <a:ext cx="6693160" cy="661198"/>
            <a:chOff x="755576" y="1699060"/>
            <a:chExt cx="6693160" cy="661198"/>
          </a:xfrm>
        </p:grpSpPr>
        <p:sp>
          <p:nvSpPr>
            <p:cNvPr id="6" name="椭圆 5"/>
            <p:cNvSpPr/>
            <p:nvPr/>
          </p:nvSpPr>
          <p:spPr>
            <a:xfrm>
              <a:off x="1547664" y="1712186"/>
              <a:ext cx="648072" cy="648072"/>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600" b="1" dirty="0" smtClean="0">
                  <a:latin typeface="Times New Roman" panose="02020603050405020304" pitchFamily="18" charset="0"/>
                  <a:cs typeface="Times New Roman" panose="02020603050405020304" pitchFamily="18" charset="0"/>
                </a:rPr>
                <a:t>PA</a:t>
              </a:r>
              <a:endParaRPr lang="zh-CN" altLang="en-US" sz="1600" b="1" dirty="0">
                <a:latin typeface="Times New Roman" panose="02020603050405020304" pitchFamily="18" charset="0"/>
                <a:cs typeface="Times New Roman" panose="02020603050405020304" pitchFamily="18" charset="0"/>
              </a:endParaRPr>
            </a:p>
          </p:txBody>
        </p:sp>
        <p:sp>
          <p:nvSpPr>
            <p:cNvPr id="31" name="椭圆 30"/>
            <p:cNvSpPr/>
            <p:nvPr/>
          </p:nvSpPr>
          <p:spPr>
            <a:xfrm>
              <a:off x="5960605" y="1699060"/>
              <a:ext cx="648072" cy="648072"/>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600" b="1" dirty="0" smtClean="0">
                  <a:latin typeface="Times New Roman" panose="02020603050405020304" pitchFamily="18" charset="0"/>
                  <a:cs typeface="Times New Roman" panose="02020603050405020304" pitchFamily="18" charset="0"/>
                </a:rPr>
                <a:t>PB</a:t>
              </a:r>
              <a:endParaRPr lang="zh-CN" altLang="en-US" sz="1600" b="1" dirty="0">
                <a:latin typeface="Times New Roman" panose="02020603050405020304" pitchFamily="18" charset="0"/>
                <a:cs typeface="Times New Roman" panose="02020603050405020304" pitchFamily="18" charset="0"/>
              </a:endParaRPr>
            </a:p>
          </p:txBody>
        </p:sp>
        <p:sp>
          <p:nvSpPr>
            <p:cNvPr id="7" name="矩形 6"/>
            <p:cNvSpPr/>
            <p:nvPr/>
          </p:nvSpPr>
          <p:spPr>
            <a:xfrm>
              <a:off x="3563154" y="1835381"/>
              <a:ext cx="792088" cy="40083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b="1" dirty="0" smtClean="0"/>
                <a:t>BUF</a:t>
              </a:r>
              <a:endParaRPr lang="zh-CN" altLang="en-US" b="1" dirty="0"/>
            </a:p>
          </p:txBody>
        </p:sp>
        <p:cxnSp>
          <p:nvCxnSpPr>
            <p:cNvPr id="9" name="直接箭头连接符 8"/>
            <p:cNvCxnSpPr>
              <a:endCxn id="7" idx="1"/>
            </p:cNvCxnSpPr>
            <p:nvPr/>
          </p:nvCxnSpPr>
          <p:spPr>
            <a:xfrm flipV="1">
              <a:off x="2195736" y="2035799"/>
              <a:ext cx="1367418" cy="1101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2" name="直接箭头连接符 31"/>
            <p:cNvCxnSpPr>
              <a:endCxn id="31" idx="2"/>
            </p:cNvCxnSpPr>
            <p:nvPr/>
          </p:nvCxnSpPr>
          <p:spPr>
            <a:xfrm flipV="1">
              <a:off x="4355242" y="2023096"/>
              <a:ext cx="1605363" cy="2371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2" name="矩形 11"/>
            <p:cNvSpPr/>
            <p:nvPr/>
          </p:nvSpPr>
          <p:spPr>
            <a:xfrm>
              <a:off x="755576" y="1835381"/>
              <a:ext cx="881973" cy="369332"/>
            </a:xfrm>
            <a:prstGeom prst="rect">
              <a:avLst/>
            </a:prstGeom>
          </p:spPr>
          <p:txBody>
            <a:bodyPr wrap="none">
              <a:spAutoFit/>
            </a:bodyPr>
            <a:lstStyle/>
            <a:p>
              <a:r>
                <a:rPr lang="zh-CN" altLang="en-US" b="1" dirty="0">
                  <a:solidFill>
                    <a:srgbClr val="FFFF00"/>
                  </a:solidFill>
                  <a:latin typeface="+mn-ea"/>
                </a:rPr>
                <a:t>生产者</a:t>
              </a:r>
              <a:endParaRPr lang="zh-CN" altLang="en-US" dirty="0">
                <a:solidFill>
                  <a:srgbClr val="FFFF00"/>
                </a:solidFill>
              </a:endParaRPr>
            </a:p>
          </p:txBody>
        </p:sp>
        <p:sp>
          <p:nvSpPr>
            <p:cNvPr id="33" name="矩形 32"/>
            <p:cNvSpPr/>
            <p:nvPr/>
          </p:nvSpPr>
          <p:spPr>
            <a:xfrm>
              <a:off x="6566763" y="1856639"/>
              <a:ext cx="881973" cy="369332"/>
            </a:xfrm>
            <a:prstGeom prst="rect">
              <a:avLst/>
            </a:prstGeom>
          </p:spPr>
          <p:txBody>
            <a:bodyPr wrap="none">
              <a:spAutoFit/>
            </a:bodyPr>
            <a:lstStyle/>
            <a:p>
              <a:r>
                <a:rPr lang="zh-CN" altLang="en-US" b="1" dirty="0" smtClean="0">
                  <a:solidFill>
                    <a:srgbClr val="FFFF00"/>
                  </a:solidFill>
                  <a:latin typeface="+mn-ea"/>
                </a:rPr>
                <a:t>消费者</a:t>
              </a:r>
              <a:endParaRPr lang="zh-CN" altLang="en-US" dirty="0">
                <a:solidFill>
                  <a:srgbClr val="FFFF00"/>
                </a:solidFill>
              </a:endParaRPr>
            </a:p>
          </p:txBody>
        </p:sp>
      </p:grpSp>
      <p:sp>
        <p:nvSpPr>
          <p:cNvPr id="29" name="矩形 28"/>
          <p:cNvSpPr/>
          <p:nvPr/>
        </p:nvSpPr>
        <p:spPr>
          <a:xfrm>
            <a:off x="763088" y="2619530"/>
            <a:ext cx="3448872" cy="2100890"/>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PA: deposit(data):</a:t>
            </a:r>
          </a:p>
          <a:p>
            <a:pPr>
              <a:spcBef>
                <a:spcPct val="10000"/>
              </a:spcBef>
            </a:pPr>
            <a:r>
              <a:rPr lang="en-US" altLang="zh-CN" b="1" dirty="0">
                <a:latin typeface="Times New Roman" panose="02020603050405020304" pitchFamily="18" charset="0"/>
                <a:cs typeface="Times New Roman" panose="02020603050405020304" pitchFamily="18" charset="0"/>
              </a:rPr>
              <a:t>	begin 		P(</a:t>
            </a:r>
            <a:r>
              <a:rPr lang="en-US" altLang="zh-CN" b="1" dirty="0" err="1">
                <a:latin typeface="Times New Roman" panose="02020603050405020304" pitchFamily="18" charset="0"/>
                <a:cs typeface="Times New Roman" panose="02020603050405020304" pitchFamily="18" charset="0"/>
              </a:rPr>
              <a:t>Bufempty</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 data   //</a:t>
            </a:r>
            <a:r>
              <a:rPr lang="zh-CN" altLang="en-US" b="1" dirty="0" smtClean="0">
                <a:latin typeface="Times New Roman" panose="02020603050405020304" pitchFamily="18" charset="0"/>
                <a:cs typeface="Times New Roman" panose="02020603050405020304" pitchFamily="18" charset="0"/>
              </a:rPr>
              <a:t>生产产品</a:t>
            </a:r>
            <a:endParaRPr lang="en-US" altLang="zh-CN" b="1" dirty="0" smtClean="0">
              <a:latin typeface="Times New Roman" panose="02020603050405020304" pitchFamily="18" charset="0"/>
              <a:cs typeface="Times New Roman" panose="02020603050405020304" pitchFamily="18" charset="0"/>
            </a:endParaRPr>
          </a:p>
          <a:p>
            <a:pPr>
              <a:spcBef>
                <a:spcPct val="10000"/>
              </a:spcBef>
            </a:pP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Ｖ</a:t>
            </a:r>
            <a:r>
              <a:rPr lang="en-US" altLang="zh-CN" b="1" dirty="0">
                <a:latin typeface="Times New Roman" panose="02020603050405020304" pitchFamily="18" charset="0"/>
                <a:cs typeface="Times New Roman" panose="02020603050405020304" pitchFamily="18" charset="0"/>
              </a:rPr>
              <a:t>(</a:t>
            </a:r>
            <a:r>
              <a:rPr lang="en-US" altLang="zh-CN" b="1" dirty="0" err="1" smtClean="0">
                <a:latin typeface="Times New Roman" panose="02020603050405020304" pitchFamily="18" charset="0"/>
                <a:cs typeface="Times New Roman" panose="02020603050405020304" pitchFamily="18" charset="0"/>
              </a:rPr>
              <a:t>Buffull</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pPr>
              <a:spcBef>
                <a:spcPct val="1000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end</a:t>
            </a:r>
          </a:p>
        </p:txBody>
      </p:sp>
      <p:sp>
        <p:nvSpPr>
          <p:cNvPr id="34" name="矩形 33"/>
          <p:cNvSpPr/>
          <p:nvPr/>
        </p:nvSpPr>
        <p:spPr>
          <a:xfrm>
            <a:off x="4788024" y="2632033"/>
            <a:ext cx="3528392" cy="2143656"/>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PB: remove(data):</a:t>
            </a:r>
          </a:p>
          <a:p>
            <a:pPr>
              <a:spcBef>
                <a:spcPct val="10000"/>
              </a:spcBef>
            </a:pPr>
            <a:r>
              <a:rPr lang="en-US" altLang="zh-CN" b="1" dirty="0">
                <a:latin typeface="Times New Roman" panose="02020603050405020304" pitchFamily="18" charset="0"/>
                <a:cs typeface="Times New Roman" panose="02020603050405020304" pitchFamily="18" charset="0"/>
              </a:rPr>
              <a:t>	Begin </a:t>
            </a:r>
            <a:endParaRPr lang="en-US" altLang="zh-CN" b="1" dirty="0" smtClean="0">
              <a:latin typeface="Times New Roman" panose="02020603050405020304" pitchFamily="18" charset="0"/>
              <a:cs typeface="Times New Roman" panose="02020603050405020304" pitchFamily="18" charset="0"/>
            </a:endParaRP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Ｐ </a:t>
            </a:r>
            <a:r>
              <a:rPr lang="en-US" altLang="zh-CN" b="1" dirty="0">
                <a:latin typeface="Times New Roman" panose="02020603050405020304" pitchFamily="18" charset="0"/>
                <a:cs typeface="Times New Roman" panose="02020603050405020304" pitchFamily="18" charset="0"/>
              </a:rPr>
              <a:t>(</a:t>
            </a:r>
            <a:r>
              <a:rPr lang="en-US" altLang="zh-CN" b="1" dirty="0" err="1" smtClean="0">
                <a:latin typeface="Times New Roman" panose="02020603050405020304" pitchFamily="18" charset="0"/>
                <a:cs typeface="Times New Roman" panose="02020603050405020304" pitchFamily="18" charset="0"/>
              </a:rPr>
              <a:t>Buffull</a:t>
            </a:r>
            <a:r>
              <a:rPr lang="en-US" altLang="zh-CN" b="1" dirty="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pPr>
              <a:spcBef>
                <a:spcPct val="10000"/>
              </a:spcBef>
            </a:pPr>
            <a:r>
              <a:rPr lang="zh-CN" altLang="en-US"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data </a:t>
            </a:r>
            <a:r>
              <a:rPr lang="en-US" altLang="zh-CN"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消费产品</a:t>
            </a:r>
            <a:r>
              <a:rPr lang="en-US" altLang="zh-CN"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Ｖ</a:t>
            </a:r>
            <a:r>
              <a:rPr lang="en-US" altLang="zh-CN" b="1" dirty="0" smtClean="0">
                <a:latin typeface="Times New Roman" panose="02020603050405020304" pitchFamily="18" charset="0"/>
                <a:cs typeface="Times New Roman" panose="02020603050405020304" pitchFamily="18" charset="0"/>
              </a:rPr>
              <a:t>(</a:t>
            </a:r>
            <a:r>
              <a:rPr lang="en-US" altLang="zh-CN" b="1" dirty="0" err="1" smtClean="0">
                <a:latin typeface="Times New Roman" panose="02020603050405020304" pitchFamily="18" charset="0"/>
                <a:cs typeface="Times New Roman" panose="02020603050405020304" pitchFamily="18" charset="0"/>
              </a:rPr>
              <a:t>Bufempty</a:t>
            </a:r>
            <a:r>
              <a:rPr lang="en-US" altLang="zh-CN" b="1" dirty="0" smtClean="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pPr>
              <a:spcBef>
                <a:spcPct val="1000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1000"/>
                                        <p:tgtEl>
                                          <p:spTgt spid="34"/>
                                        </p:tgtEl>
                                      </p:cBhvr>
                                    </p:animEffect>
                                    <p:anim calcmode="lin" valueType="num">
                                      <p:cBhvr>
                                        <p:cTn id="15" dur="1000" fill="hold"/>
                                        <p:tgtEl>
                                          <p:spTgt spid="34"/>
                                        </p:tgtEl>
                                        <p:attrNameLst>
                                          <p:attrName>ppt_x</p:attrName>
                                        </p:attrNameLst>
                                      </p:cBhvr>
                                      <p:tavLst>
                                        <p:tav tm="0">
                                          <p:val>
                                            <p:strVal val="#ppt_x"/>
                                          </p:val>
                                        </p:tav>
                                        <p:tav tm="100000">
                                          <p:val>
                                            <p:strVal val="#ppt_x"/>
                                          </p:val>
                                        </p:tav>
                                      </p:tavLst>
                                    </p:anim>
                                    <p:anim calcmode="lin" valueType="num">
                                      <p:cBhvr>
                                        <p:cTn id="1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4"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199684"/>
            <a:ext cx="6941291" cy="481863"/>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一个生产者，一个消费者，公用一</a:t>
            </a:r>
            <a:r>
              <a:rPr lang="zh-CN" altLang="en-US" sz="2000" b="1" dirty="0" smtClean="0">
                <a:solidFill>
                  <a:schemeClr val="bg1"/>
                </a:solidFill>
                <a:latin typeface="+mn-ea"/>
              </a:rPr>
              <a:t>个长度为</a:t>
            </a:r>
            <a:r>
              <a:rPr lang="en-US" altLang="zh-CN" sz="2000" b="1" dirty="0" smtClean="0">
                <a:solidFill>
                  <a:schemeClr val="bg1"/>
                </a:solidFill>
                <a:latin typeface="+mn-ea"/>
              </a:rPr>
              <a:t>n</a:t>
            </a:r>
            <a:r>
              <a:rPr lang="zh-CN" altLang="en-US" sz="2000" b="1" dirty="0" smtClean="0">
                <a:solidFill>
                  <a:schemeClr val="bg1"/>
                </a:solidFill>
                <a:latin typeface="+mn-ea"/>
              </a:rPr>
              <a:t>的有界缓冲区</a:t>
            </a:r>
            <a:endParaRPr lang="zh-CN" altLang="en-US" sz="2000" b="1" dirty="0">
              <a:solidFill>
                <a:schemeClr val="bg1"/>
              </a:solidFill>
              <a:latin typeface="+mn-ea"/>
            </a:endParaRPr>
          </a:p>
        </p:txBody>
      </p:sp>
      <p:grpSp>
        <p:nvGrpSpPr>
          <p:cNvPr id="4" name="组合 3"/>
          <p:cNvGrpSpPr/>
          <p:nvPr/>
        </p:nvGrpSpPr>
        <p:grpSpPr>
          <a:xfrm>
            <a:off x="611560" y="1062443"/>
            <a:ext cx="7560840" cy="1039737"/>
            <a:chOff x="683568" y="2195933"/>
            <a:chExt cx="7560840" cy="1039737"/>
          </a:xfrm>
        </p:grpSpPr>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195933"/>
              <a:ext cx="7393312" cy="98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38783" y="2866338"/>
              <a:ext cx="1224136" cy="369332"/>
            </a:xfrm>
            <a:prstGeom prst="rect">
              <a:avLst/>
            </a:prstGeom>
            <a:noFill/>
          </p:spPr>
          <p:txBody>
            <a:bodyPr wrap="square" rtlCol="0">
              <a:spAutoFit/>
            </a:bodyPr>
            <a:lstStyle/>
            <a:p>
              <a:r>
                <a:rPr lang="zh-CN" altLang="en-US" b="1" dirty="0">
                  <a:solidFill>
                    <a:srgbClr val="FF0000"/>
                  </a:solidFill>
                </a:rPr>
                <a:t>生产者</a:t>
              </a:r>
            </a:p>
          </p:txBody>
        </p:sp>
        <p:sp>
          <p:nvSpPr>
            <p:cNvPr id="30" name="文本框 29"/>
            <p:cNvSpPr txBox="1"/>
            <p:nvPr/>
          </p:nvSpPr>
          <p:spPr>
            <a:xfrm>
              <a:off x="7020272" y="2860481"/>
              <a:ext cx="1224136" cy="369332"/>
            </a:xfrm>
            <a:prstGeom prst="rect">
              <a:avLst/>
            </a:prstGeom>
            <a:noFill/>
          </p:spPr>
          <p:txBody>
            <a:bodyPr wrap="square" rtlCol="0">
              <a:spAutoFit/>
            </a:bodyPr>
            <a:lstStyle/>
            <a:p>
              <a:r>
                <a:rPr lang="zh-CN" altLang="en-US" b="1" dirty="0" smtClean="0">
                  <a:solidFill>
                    <a:srgbClr val="FF0000"/>
                  </a:solidFill>
                </a:rPr>
                <a:t>消费者</a:t>
              </a:r>
              <a:endParaRPr lang="zh-CN" altLang="en-US" b="1" dirty="0">
                <a:solidFill>
                  <a:srgbClr val="FF0000"/>
                </a:solidFill>
              </a:endParaRPr>
            </a:p>
          </p:txBody>
        </p:sp>
      </p:grpSp>
      <p:sp>
        <p:nvSpPr>
          <p:cNvPr id="5" name="矩形 4"/>
          <p:cNvSpPr/>
          <p:nvPr/>
        </p:nvSpPr>
        <p:spPr>
          <a:xfrm>
            <a:off x="784247" y="2186256"/>
            <a:ext cx="6882630" cy="2436244"/>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满足如下条件：</a:t>
            </a:r>
          </a:p>
          <a:p>
            <a:pPr marL="0" lvl="1" algn="just">
              <a:lnSpc>
                <a:spcPct val="130000"/>
              </a:lnSpc>
              <a:buClr>
                <a:schemeClr val="accent6">
                  <a:lumMod val="60000"/>
                  <a:lumOff val="40000"/>
                </a:schemeClr>
              </a:buClr>
            </a:pPr>
            <a:r>
              <a:rPr lang="en-US" altLang="zh-CN" sz="2000" b="1" dirty="0" smtClean="0">
                <a:solidFill>
                  <a:schemeClr val="bg1"/>
                </a:solidFill>
                <a:latin typeface="+mn-ea"/>
              </a:rPr>
              <a:t>  (</a:t>
            </a:r>
            <a:r>
              <a:rPr lang="en-US" altLang="zh-CN" sz="2000" b="1" dirty="0">
                <a:solidFill>
                  <a:schemeClr val="bg1"/>
                </a:solidFill>
                <a:latin typeface="+mn-ea"/>
              </a:rPr>
              <a:t>1) </a:t>
            </a:r>
            <a:r>
              <a:rPr lang="zh-CN" altLang="en-US" sz="2000" b="1" dirty="0">
                <a:solidFill>
                  <a:schemeClr val="bg1"/>
                </a:solidFill>
                <a:latin typeface="+mn-ea"/>
              </a:rPr>
              <a:t>在</a:t>
            </a:r>
            <a:r>
              <a:rPr lang="en-US" altLang="zh-CN" sz="2000" b="1" dirty="0">
                <a:solidFill>
                  <a:schemeClr val="bg1"/>
                </a:solidFill>
                <a:latin typeface="+mn-ea"/>
              </a:rPr>
              <a:t>PA</a:t>
            </a:r>
            <a:r>
              <a:rPr lang="zh-CN" altLang="en-US" sz="2000" b="1" dirty="0">
                <a:solidFill>
                  <a:schemeClr val="bg1"/>
                </a:solidFill>
                <a:latin typeface="+mn-ea"/>
              </a:rPr>
              <a:t>至少送一块数据入一个缓冲区之前，</a:t>
            </a:r>
            <a:r>
              <a:rPr lang="en-US" altLang="zh-CN" sz="2000" b="1" dirty="0">
                <a:solidFill>
                  <a:schemeClr val="bg1"/>
                </a:solidFill>
                <a:latin typeface="+mn-ea"/>
              </a:rPr>
              <a:t>PB</a:t>
            </a:r>
            <a:r>
              <a:rPr lang="zh-CN" altLang="en-US" sz="2000" b="1" dirty="0">
                <a:solidFill>
                  <a:schemeClr val="bg1"/>
                </a:solidFill>
                <a:latin typeface="+mn-ea"/>
              </a:rPr>
              <a:t>不可能从缓冲区中取出数据（假定数据块长等于缓冲区长度）；</a:t>
            </a:r>
          </a:p>
          <a:p>
            <a:pPr marL="0" lvl="1" algn="just">
              <a:lnSpc>
                <a:spcPct val="130000"/>
              </a:lnSpc>
              <a:buClr>
                <a:schemeClr val="accent6">
                  <a:lumMod val="60000"/>
                  <a:lumOff val="40000"/>
                </a:schemeClr>
              </a:buClr>
            </a:pPr>
            <a:r>
              <a:rPr lang="zh-CN" altLang="en-US" sz="2000" b="1" dirty="0" smtClean="0">
                <a:solidFill>
                  <a:schemeClr val="bg1"/>
                </a:solidFill>
                <a:latin typeface="+mn-ea"/>
              </a:rPr>
              <a:t> （</a:t>
            </a:r>
            <a:r>
              <a:rPr lang="en-US" altLang="zh-CN" sz="2000" b="1" dirty="0">
                <a:solidFill>
                  <a:schemeClr val="bg1"/>
                </a:solidFill>
                <a:latin typeface="+mn-ea"/>
              </a:rPr>
              <a:t>2) PA</a:t>
            </a:r>
            <a:r>
              <a:rPr lang="zh-CN" altLang="en-US" sz="2000" b="1" dirty="0">
                <a:solidFill>
                  <a:schemeClr val="bg1"/>
                </a:solidFill>
                <a:latin typeface="+mn-ea"/>
              </a:rPr>
              <a:t>往缓冲队列发送数据时，至少有一个缓冲区是空的；</a:t>
            </a:r>
          </a:p>
          <a:p>
            <a:pPr marL="0" lvl="1" algn="just">
              <a:lnSpc>
                <a:spcPct val="130000"/>
              </a:lnSpc>
              <a:buClr>
                <a:schemeClr val="accent6">
                  <a:lumMod val="60000"/>
                  <a:lumOff val="40000"/>
                </a:schemeClr>
              </a:buClr>
            </a:pPr>
            <a:r>
              <a:rPr lang="zh-CN" altLang="en-US" sz="2000" b="1" dirty="0" smtClean="0">
                <a:solidFill>
                  <a:schemeClr val="bg1"/>
                </a:solidFill>
                <a:latin typeface="+mn-ea"/>
              </a:rPr>
              <a:t> （</a:t>
            </a:r>
            <a:r>
              <a:rPr lang="en-US" altLang="zh-CN" sz="2000" b="1" dirty="0">
                <a:solidFill>
                  <a:schemeClr val="bg1"/>
                </a:solidFill>
                <a:latin typeface="+mn-ea"/>
              </a:rPr>
              <a:t>3) </a:t>
            </a:r>
            <a:r>
              <a:rPr lang="zh-CN" altLang="en-US" sz="2000" b="1" dirty="0">
                <a:solidFill>
                  <a:schemeClr val="bg1"/>
                </a:solidFill>
                <a:latin typeface="+mn-ea"/>
              </a:rPr>
              <a:t>由</a:t>
            </a:r>
            <a:r>
              <a:rPr lang="en-US" altLang="zh-CN" sz="2000" b="1" dirty="0">
                <a:solidFill>
                  <a:schemeClr val="bg1"/>
                </a:solidFill>
                <a:latin typeface="+mn-ea"/>
              </a:rPr>
              <a:t>PA</a:t>
            </a:r>
            <a:r>
              <a:rPr lang="zh-CN" altLang="en-US" sz="2000" b="1" dirty="0">
                <a:solidFill>
                  <a:schemeClr val="bg1"/>
                </a:solidFill>
                <a:latin typeface="+mn-ea"/>
              </a:rPr>
              <a:t>发送的数据块在缓冲队列中按先进先出（</a:t>
            </a:r>
            <a:r>
              <a:rPr lang="en-US" altLang="zh-CN" sz="2000" b="1" dirty="0">
                <a:solidFill>
                  <a:schemeClr val="bg1"/>
                </a:solidFill>
                <a:latin typeface="+mn-ea"/>
              </a:rPr>
              <a:t>FIFO</a:t>
            </a:r>
            <a:r>
              <a:rPr lang="zh-CN" altLang="en-US" sz="2000" b="1" dirty="0">
                <a:solidFill>
                  <a:schemeClr val="bg1"/>
                </a:solidFill>
                <a:latin typeface="+mn-ea"/>
              </a:rPr>
              <a:t>）方式排列。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wipe(left)">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wipe(left)">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wipe(left)">
                                      <p:cBhvr>
                                        <p:cTn id="3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199684"/>
            <a:ext cx="6941291" cy="55976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一个生产者，一个消费者，公用一个缓冲区</a:t>
            </a:r>
          </a:p>
        </p:txBody>
      </p:sp>
      <p:grpSp>
        <p:nvGrpSpPr>
          <p:cNvPr id="4" name="组合 3"/>
          <p:cNvGrpSpPr/>
          <p:nvPr/>
        </p:nvGrpSpPr>
        <p:grpSpPr>
          <a:xfrm>
            <a:off x="611560" y="1154282"/>
            <a:ext cx="7560840" cy="1039737"/>
            <a:chOff x="683568" y="2195933"/>
            <a:chExt cx="7560840" cy="1039737"/>
          </a:xfrm>
        </p:grpSpPr>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195933"/>
              <a:ext cx="7393312" cy="98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38783" y="2866338"/>
              <a:ext cx="1224136" cy="369332"/>
            </a:xfrm>
            <a:prstGeom prst="rect">
              <a:avLst/>
            </a:prstGeom>
            <a:noFill/>
          </p:spPr>
          <p:txBody>
            <a:bodyPr wrap="square" rtlCol="0">
              <a:spAutoFit/>
            </a:bodyPr>
            <a:lstStyle/>
            <a:p>
              <a:r>
                <a:rPr lang="zh-CN" altLang="en-US" b="1" dirty="0">
                  <a:solidFill>
                    <a:srgbClr val="FF0000"/>
                  </a:solidFill>
                </a:rPr>
                <a:t>生产者</a:t>
              </a:r>
            </a:p>
          </p:txBody>
        </p:sp>
        <p:sp>
          <p:nvSpPr>
            <p:cNvPr id="30" name="文本框 29"/>
            <p:cNvSpPr txBox="1"/>
            <p:nvPr/>
          </p:nvSpPr>
          <p:spPr>
            <a:xfrm>
              <a:off x="7020272" y="2860481"/>
              <a:ext cx="1224136" cy="369332"/>
            </a:xfrm>
            <a:prstGeom prst="rect">
              <a:avLst/>
            </a:prstGeom>
            <a:noFill/>
          </p:spPr>
          <p:txBody>
            <a:bodyPr wrap="square" rtlCol="0">
              <a:spAutoFit/>
            </a:bodyPr>
            <a:lstStyle/>
            <a:p>
              <a:r>
                <a:rPr lang="zh-CN" altLang="en-US" b="1" dirty="0" smtClean="0">
                  <a:solidFill>
                    <a:srgbClr val="FF0000"/>
                  </a:solidFill>
                </a:rPr>
                <a:t>消费者</a:t>
              </a:r>
              <a:endParaRPr lang="zh-CN" altLang="en-US" b="1" dirty="0">
                <a:solidFill>
                  <a:srgbClr val="FF0000"/>
                </a:solidFill>
              </a:endParaRPr>
            </a:p>
          </p:txBody>
        </p:sp>
      </p:grpSp>
      <p:sp>
        <p:nvSpPr>
          <p:cNvPr id="5" name="矩形 4"/>
          <p:cNvSpPr/>
          <p:nvPr/>
        </p:nvSpPr>
        <p:spPr>
          <a:xfrm>
            <a:off x="785714" y="2160289"/>
            <a:ext cx="6882630" cy="2882520"/>
          </a:xfrm>
          <a:prstGeom prst="rect">
            <a:avLst/>
          </a:prstGeom>
        </p:spPr>
        <p:txBody>
          <a:bodyPr wrap="square">
            <a:spAutoFit/>
          </a:bodyPr>
          <a:lstStyle/>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进程</a:t>
            </a:r>
            <a:r>
              <a:rPr lang="en-US" altLang="zh-CN" sz="2000" b="1" dirty="0">
                <a:solidFill>
                  <a:schemeClr val="bg1"/>
                </a:solidFill>
                <a:latin typeface="+mn-ea"/>
              </a:rPr>
              <a:t>PA</a:t>
            </a:r>
            <a:r>
              <a:rPr lang="zh-CN" altLang="en-US" sz="2000" b="1" dirty="0">
                <a:solidFill>
                  <a:schemeClr val="bg1"/>
                </a:solidFill>
                <a:latin typeface="+mn-ea"/>
              </a:rPr>
              <a:t>调用的过程</a:t>
            </a:r>
            <a:r>
              <a:rPr lang="en-US" altLang="zh-CN" sz="2000" b="1" dirty="0">
                <a:solidFill>
                  <a:schemeClr val="bg1"/>
                </a:solidFill>
                <a:latin typeface="+mn-ea"/>
              </a:rPr>
              <a:t>deposit(data)</a:t>
            </a:r>
            <a:r>
              <a:rPr lang="zh-CN" altLang="en-US" sz="2000" b="1" dirty="0">
                <a:solidFill>
                  <a:schemeClr val="bg1"/>
                </a:solidFill>
                <a:latin typeface="+mn-ea"/>
              </a:rPr>
              <a:t>和进程</a:t>
            </a:r>
            <a:r>
              <a:rPr lang="en-US" altLang="zh-CN" sz="2000" b="1" dirty="0">
                <a:solidFill>
                  <a:schemeClr val="bg1"/>
                </a:solidFill>
                <a:latin typeface="+mn-ea"/>
              </a:rPr>
              <a:t>PB</a:t>
            </a:r>
            <a:r>
              <a:rPr lang="zh-CN" altLang="en-US" sz="2000" b="1" dirty="0">
                <a:solidFill>
                  <a:schemeClr val="bg1"/>
                </a:solidFill>
                <a:latin typeface="+mn-ea"/>
              </a:rPr>
              <a:t>调用的过程</a:t>
            </a:r>
            <a:r>
              <a:rPr lang="en-US" altLang="zh-CN" sz="2000" b="1" dirty="0">
                <a:solidFill>
                  <a:schemeClr val="bg1"/>
                </a:solidFill>
                <a:latin typeface="+mn-ea"/>
              </a:rPr>
              <a:t>remove(data)</a:t>
            </a:r>
            <a:r>
              <a:rPr lang="zh-CN" altLang="en-US" sz="2000" b="1" dirty="0">
                <a:solidFill>
                  <a:schemeClr val="bg1"/>
                </a:solidFill>
                <a:latin typeface="+mn-ea"/>
              </a:rPr>
              <a:t>必须同步</a:t>
            </a:r>
            <a:r>
              <a:rPr lang="zh-CN" altLang="en-US" sz="2000" b="1" dirty="0" smtClean="0">
                <a:solidFill>
                  <a:schemeClr val="bg1"/>
                </a:solidFill>
                <a:latin typeface="+mn-ea"/>
              </a:rPr>
              <a:t>执行</a:t>
            </a:r>
            <a:endParaRPr lang="en-US" altLang="zh-CN" sz="2000" b="1" dirty="0" smtClean="0">
              <a:solidFill>
                <a:schemeClr val="bg1"/>
              </a:solidFill>
              <a:latin typeface="+mn-ea"/>
            </a:endParaRPr>
          </a:p>
          <a:p>
            <a:pPr marL="0" lvl="1" algn="just">
              <a:lnSpc>
                <a:spcPct val="130000"/>
              </a:lnSpc>
              <a:buClr>
                <a:schemeClr val="accent6">
                  <a:lumMod val="60000"/>
                  <a:lumOff val="40000"/>
                </a:schemeClr>
              </a:buClr>
            </a:pPr>
            <a:r>
              <a:rPr lang="zh-CN" altLang="en-US" sz="2000" b="1" dirty="0">
                <a:solidFill>
                  <a:schemeClr val="bg1"/>
                </a:solidFill>
                <a:latin typeface="+mn-ea"/>
              </a:rPr>
              <a:t>（</a:t>
            </a:r>
            <a:r>
              <a:rPr lang="en-US" altLang="zh-CN" sz="2000" b="1" dirty="0">
                <a:solidFill>
                  <a:schemeClr val="bg1"/>
                </a:solidFill>
                <a:latin typeface="+mn-ea"/>
              </a:rPr>
              <a:t>1</a:t>
            </a:r>
            <a:r>
              <a:rPr lang="en-US" altLang="zh-CN" sz="2000" b="1" dirty="0" smtClean="0">
                <a:solidFill>
                  <a:schemeClr val="bg1"/>
                </a:solidFill>
                <a:latin typeface="+mn-ea"/>
              </a:rPr>
              <a:t>) </a:t>
            </a:r>
            <a:r>
              <a:rPr lang="zh-CN" altLang="en-US" sz="2000" b="1" dirty="0" smtClean="0">
                <a:solidFill>
                  <a:schemeClr val="bg1"/>
                </a:solidFill>
                <a:latin typeface="+mn-ea"/>
              </a:rPr>
              <a:t>设</a:t>
            </a:r>
            <a:r>
              <a:rPr lang="en-US" altLang="zh-CN" sz="2000" b="1" dirty="0" err="1">
                <a:solidFill>
                  <a:schemeClr val="bg1"/>
                </a:solidFill>
                <a:latin typeface="+mn-ea"/>
              </a:rPr>
              <a:t>Bufempty</a:t>
            </a:r>
            <a:r>
              <a:rPr lang="zh-CN" altLang="en-US" sz="2000" b="1" dirty="0">
                <a:solidFill>
                  <a:schemeClr val="bg1"/>
                </a:solidFill>
                <a:latin typeface="+mn-ea"/>
              </a:rPr>
              <a:t>为进程</a:t>
            </a:r>
            <a:r>
              <a:rPr lang="en-US" altLang="zh-CN" sz="2000" b="1" dirty="0">
                <a:solidFill>
                  <a:schemeClr val="bg1"/>
                </a:solidFill>
                <a:latin typeface="+mn-ea"/>
              </a:rPr>
              <a:t>PA</a:t>
            </a:r>
            <a:r>
              <a:rPr lang="zh-CN" altLang="en-US" sz="2000" b="1" dirty="0">
                <a:solidFill>
                  <a:schemeClr val="bg1"/>
                </a:solidFill>
                <a:latin typeface="+mn-ea"/>
              </a:rPr>
              <a:t>的私用信号量，</a:t>
            </a:r>
            <a:r>
              <a:rPr lang="en-US" altLang="zh-CN" sz="2000" b="1" dirty="0" err="1">
                <a:solidFill>
                  <a:schemeClr val="bg1"/>
                </a:solidFill>
                <a:latin typeface="+mn-ea"/>
              </a:rPr>
              <a:t>Buffull</a:t>
            </a:r>
            <a:r>
              <a:rPr lang="en-US" altLang="zh-CN" sz="2000" b="1" dirty="0">
                <a:solidFill>
                  <a:schemeClr val="bg1"/>
                </a:solidFill>
                <a:latin typeface="+mn-ea"/>
              </a:rPr>
              <a:t> </a:t>
            </a:r>
            <a:r>
              <a:rPr lang="zh-CN" altLang="en-US" sz="2000" b="1" dirty="0">
                <a:solidFill>
                  <a:schemeClr val="bg1"/>
                </a:solidFill>
                <a:latin typeface="+mn-ea"/>
              </a:rPr>
              <a:t>为进程</a:t>
            </a:r>
            <a:r>
              <a:rPr lang="en-US" altLang="zh-CN" sz="2000" b="1" dirty="0">
                <a:solidFill>
                  <a:schemeClr val="bg1"/>
                </a:solidFill>
                <a:latin typeface="+mn-ea"/>
              </a:rPr>
              <a:t>PB</a:t>
            </a:r>
            <a:r>
              <a:rPr lang="zh-CN" altLang="en-US" sz="2000" b="1" dirty="0">
                <a:solidFill>
                  <a:schemeClr val="bg1"/>
                </a:solidFill>
                <a:latin typeface="+mn-ea"/>
              </a:rPr>
              <a:t>的私用信号量；</a:t>
            </a:r>
          </a:p>
          <a:p>
            <a:pPr marL="0" lvl="1" algn="just">
              <a:lnSpc>
                <a:spcPct val="130000"/>
              </a:lnSpc>
              <a:buClr>
                <a:schemeClr val="accent6">
                  <a:lumMod val="60000"/>
                  <a:lumOff val="40000"/>
                </a:schemeClr>
              </a:buClr>
            </a:pPr>
            <a:r>
              <a:rPr lang="zh-CN" altLang="en-US" sz="2000" b="1" dirty="0">
                <a:solidFill>
                  <a:schemeClr val="bg1"/>
                </a:solidFill>
                <a:latin typeface="+mn-ea"/>
              </a:rPr>
              <a:t>（</a:t>
            </a:r>
            <a:r>
              <a:rPr lang="en-US" altLang="zh-CN" sz="2000" b="1" dirty="0">
                <a:solidFill>
                  <a:schemeClr val="bg1"/>
                </a:solidFill>
                <a:latin typeface="+mn-ea"/>
              </a:rPr>
              <a:t>2) </a:t>
            </a:r>
            <a:r>
              <a:rPr lang="zh-CN" altLang="en-US" sz="2000" b="1" dirty="0">
                <a:solidFill>
                  <a:schemeClr val="bg1"/>
                </a:solidFill>
                <a:latin typeface="+mn-ea"/>
              </a:rPr>
              <a:t>令</a:t>
            </a:r>
            <a:r>
              <a:rPr lang="en-US" altLang="zh-CN" sz="2000" b="1" dirty="0" err="1">
                <a:solidFill>
                  <a:schemeClr val="bg1"/>
                </a:solidFill>
                <a:latin typeface="+mn-ea"/>
              </a:rPr>
              <a:t>Bufempty</a:t>
            </a:r>
            <a:r>
              <a:rPr lang="zh-CN" altLang="en-US" sz="2000" b="1" dirty="0">
                <a:solidFill>
                  <a:schemeClr val="bg1"/>
                </a:solidFill>
                <a:latin typeface="+mn-ea"/>
              </a:rPr>
              <a:t>的初始值为</a:t>
            </a:r>
            <a:r>
              <a:rPr lang="en-US" altLang="zh-CN" sz="2000" b="1" dirty="0">
                <a:solidFill>
                  <a:schemeClr val="bg1"/>
                </a:solidFill>
                <a:latin typeface="+mn-ea"/>
              </a:rPr>
              <a:t>n</a:t>
            </a:r>
            <a:r>
              <a:rPr lang="zh-CN" altLang="en-US" sz="2000" b="1" dirty="0">
                <a:solidFill>
                  <a:schemeClr val="bg1"/>
                </a:solidFill>
                <a:latin typeface="+mn-ea"/>
              </a:rPr>
              <a:t>（</a:t>
            </a:r>
            <a:r>
              <a:rPr lang="en-US" altLang="zh-CN" sz="2000" b="1" dirty="0">
                <a:solidFill>
                  <a:schemeClr val="bg1"/>
                </a:solidFill>
                <a:latin typeface="+mn-ea"/>
              </a:rPr>
              <a:t>n </a:t>
            </a:r>
            <a:r>
              <a:rPr lang="zh-CN" altLang="en-US" sz="2000" b="1" dirty="0">
                <a:solidFill>
                  <a:schemeClr val="bg1"/>
                </a:solidFill>
                <a:latin typeface="+mn-ea"/>
              </a:rPr>
              <a:t>为缓冲队列的缓冲区个数），</a:t>
            </a:r>
            <a:r>
              <a:rPr lang="en-US" altLang="zh-CN" sz="2000" b="1" dirty="0" err="1">
                <a:solidFill>
                  <a:schemeClr val="bg1"/>
                </a:solidFill>
                <a:latin typeface="+mn-ea"/>
              </a:rPr>
              <a:t>Buffull</a:t>
            </a:r>
            <a:r>
              <a:rPr lang="en-US" altLang="zh-CN" sz="2000" b="1" dirty="0">
                <a:solidFill>
                  <a:schemeClr val="bg1"/>
                </a:solidFill>
                <a:latin typeface="+mn-ea"/>
              </a:rPr>
              <a:t> </a:t>
            </a:r>
            <a:r>
              <a:rPr lang="zh-CN" altLang="en-US" sz="2000" b="1" dirty="0">
                <a:solidFill>
                  <a:schemeClr val="bg1"/>
                </a:solidFill>
                <a:latin typeface="+mn-ea"/>
              </a:rPr>
              <a:t>的初始值为</a:t>
            </a:r>
            <a:r>
              <a:rPr lang="en-US" altLang="zh-CN" sz="2000" b="1" dirty="0">
                <a:solidFill>
                  <a:schemeClr val="bg1"/>
                </a:solidFill>
                <a:latin typeface="+mn-ea"/>
              </a:rPr>
              <a:t>0</a:t>
            </a:r>
            <a:r>
              <a:rPr lang="zh-CN" altLang="en-US" sz="2000" b="1" dirty="0">
                <a:solidFill>
                  <a:schemeClr val="bg1"/>
                </a:solidFill>
                <a:latin typeface="+mn-ea"/>
              </a:rPr>
              <a:t>；</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199684"/>
            <a:ext cx="6941291" cy="55976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一个生产者，一个消费者，公用一个缓冲区</a:t>
            </a:r>
          </a:p>
        </p:txBody>
      </p:sp>
      <p:grpSp>
        <p:nvGrpSpPr>
          <p:cNvPr id="4" name="组合 3"/>
          <p:cNvGrpSpPr/>
          <p:nvPr/>
        </p:nvGrpSpPr>
        <p:grpSpPr>
          <a:xfrm>
            <a:off x="611560" y="1154282"/>
            <a:ext cx="7560840" cy="1039737"/>
            <a:chOff x="683568" y="2195933"/>
            <a:chExt cx="7560840" cy="1039737"/>
          </a:xfrm>
        </p:grpSpPr>
        <p:pic>
          <p:nvPicPr>
            <p:cNvPr id="29"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195933"/>
              <a:ext cx="7393312" cy="98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38783" y="2866338"/>
              <a:ext cx="1224136" cy="369332"/>
            </a:xfrm>
            <a:prstGeom prst="rect">
              <a:avLst/>
            </a:prstGeom>
            <a:noFill/>
          </p:spPr>
          <p:txBody>
            <a:bodyPr wrap="square" rtlCol="0">
              <a:spAutoFit/>
            </a:bodyPr>
            <a:lstStyle/>
            <a:p>
              <a:r>
                <a:rPr lang="zh-CN" altLang="en-US" b="1" dirty="0">
                  <a:solidFill>
                    <a:srgbClr val="FF0000"/>
                  </a:solidFill>
                </a:rPr>
                <a:t>生产者</a:t>
              </a:r>
            </a:p>
          </p:txBody>
        </p:sp>
        <p:sp>
          <p:nvSpPr>
            <p:cNvPr id="30" name="文本框 29"/>
            <p:cNvSpPr txBox="1"/>
            <p:nvPr/>
          </p:nvSpPr>
          <p:spPr>
            <a:xfrm>
              <a:off x="7020272" y="2860481"/>
              <a:ext cx="1224136" cy="369332"/>
            </a:xfrm>
            <a:prstGeom prst="rect">
              <a:avLst/>
            </a:prstGeom>
            <a:noFill/>
          </p:spPr>
          <p:txBody>
            <a:bodyPr wrap="square" rtlCol="0">
              <a:spAutoFit/>
            </a:bodyPr>
            <a:lstStyle/>
            <a:p>
              <a:r>
                <a:rPr lang="zh-CN" altLang="en-US" b="1" dirty="0" smtClean="0">
                  <a:solidFill>
                    <a:srgbClr val="FF0000"/>
                  </a:solidFill>
                </a:rPr>
                <a:t>消费者</a:t>
              </a:r>
              <a:endParaRPr lang="zh-CN" altLang="en-US" b="1" dirty="0">
                <a:solidFill>
                  <a:srgbClr val="FF0000"/>
                </a:solidFill>
              </a:endParaRPr>
            </a:p>
          </p:txBody>
        </p:sp>
      </p:grpSp>
      <p:sp>
        <p:nvSpPr>
          <p:cNvPr id="31" name="矩形 30"/>
          <p:cNvSpPr/>
          <p:nvPr/>
        </p:nvSpPr>
        <p:spPr>
          <a:xfrm>
            <a:off x="583110" y="2323294"/>
            <a:ext cx="3558822" cy="2604946"/>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PA: deposit(data):</a:t>
            </a:r>
          </a:p>
          <a:p>
            <a:pPr>
              <a:spcBef>
                <a:spcPct val="10000"/>
              </a:spcBef>
            </a:pPr>
            <a:r>
              <a:rPr lang="en-US" altLang="zh-CN" b="1" dirty="0">
                <a:latin typeface="Times New Roman" panose="02020603050405020304" pitchFamily="18" charset="0"/>
                <a:cs typeface="Times New Roman" panose="02020603050405020304" pitchFamily="18" charset="0"/>
              </a:rPr>
              <a:t>	begin local </a:t>
            </a:r>
            <a:r>
              <a:rPr lang="en-US" altLang="zh-CN" b="1" dirty="0" smtClean="0">
                <a:latin typeface="Times New Roman" panose="02020603050405020304" pitchFamily="18" charset="0"/>
                <a:cs typeface="Times New Roman" panose="02020603050405020304" pitchFamily="18" charset="0"/>
              </a:rPr>
              <a:t>x</a:t>
            </a: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P</a:t>
            </a:r>
            <a:r>
              <a:rPr lang="zh-CN" altLang="en-US" b="1" dirty="0">
                <a:latin typeface="Times New Roman" panose="02020603050405020304" pitchFamily="18" charset="0"/>
                <a:cs typeface="Times New Roman" panose="02020603050405020304" pitchFamily="18" charset="0"/>
              </a:rPr>
              <a:t> （ </a:t>
            </a:r>
            <a:r>
              <a:rPr lang="en-US" altLang="zh-CN" b="1" dirty="0" err="1" smtClean="0">
                <a:latin typeface="Times New Roman" panose="02020603050405020304" pitchFamily="18" charset="0"/>
                <a:cs typeface="Times New Roman" panose="02020603050405020304" pitchFamily="18" charset="0"/>
              </a:rPr>
              <a:t>Bufempty</a:t>
            </a:r>
            <a:r>
              <a:rPr lang="zh-CN" altLang="en-US" b="1" dirty="0">
                <a:latin typeface="Times New Roman" panose="02020603050405020304" pitchFamily="18" charset="0"/>
                <a:cs typeface="Times New Roman" panose="02020603050405020304" pitchFamily="18" charset="0"/>
              </a:rPr>
              <a:t> ） </a:t>
            </a:r>
            <a:r>
              <a:rPr lang="zh-CN" altLang="en-US" b="1" dirty="0" smtClean="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按</a:t>
            </a:r>
            <a:r>
              <a:rPr lang="en-US" altLang="zh-CN" b="1" dirty="0" smtClean="0">
                <a:latin typeface="Times New Roman" panose="02020603050405020304" pitchFamily="18" charset="0"/>
                <a:cs typeface="Times New Roman" panose="02020603050405020304" pitchFamily="18" charset="0"/>
              </a:rPr>
              <a:t>FIFO</a:t>
            </a:r>
            <a:r>
              <a:rPr lang="zh-CN" altLang="en-US" b="1" dirty="0" smtClean="0">
                <a:latin typeface="Times New Roman" panose="02020603050405020304" pitchFamily="18" charset="0"/>
                <a:cs typeface="Times New Roman" panose="02020603050405020304" pitchFamily="18" charset="0"/>
              </a:rPr>
              <a:t>方式选择一个空</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缓冲区</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(x)</a:t>
            </a:r>
            <a:r>
              <a:rPr lang="zh-CN" altLang="en-US" b="1" dirty="0" smtClean="0">
                <a:latin typeface="Times New Roman" panose="02020603050405020304" pitchFamily="18" charset="0"/>
                <a:cs typeface="Times New Roman" panose="02020603050405020304" pitchFamily="18" charset="0"/>
              </a:rPr>
              <a:t>；</a:t>
            </a:r>
          </a:p>
          <a:p>
            <a:pPr>
              <a:spcBef>
                <a:spcPct val="10000"/>
              </a:spcBef>
            </a:pPr>
            <a:r>
              <a:rPr lang="zh-CN" altLang="en-US" b="1" dirty="0" smtClean="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(x)← data</a:t>
            </a: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Buf</a:t>
            </a:r>
            <a:r>
              <a:rPr lang="en-US" altLang="zh-CN" b="1" dirty="0">
                <a:latin typeface="Times New Roman" panose="02020603050405020304" pitchFamily="18" charset="0"/>
                <a:cs typeface="Times New Roman" panose="02020603050405020304" pitchFamily="18" charset="0"/>
              </a:rPr>
              <a:t>(x)</a:t>
            </a:r>
            <a:r>
              <a:rPr lang="zh-CN" altLang="en-US" b="1" dirty="0">
                <a:latin typeface="Times New Roman" panose="02020603050405020304" pitchFamily="18" charset="0"/>
                <a:cs typeface="Times New Roman" panose="02020603050405020304" pitchFamily="18" charset="0"/>
              </a:rPr>
              <a:t>置满标记</a:t>
            </a:r>
          </a:p>
          <a:p>
            <a:pPr>
              <a:spcBef>
                <a:spcPct val="10000"/>
              </a:spcBef>
            </a:pPr>
            <a:r>
              <a:rPr lang="zh-CN" altLang="en-US" b="1" dirty="0">
                <a:latin typeface="Times New Roman" panose="02020603050405020304" pitchFamily="18" charset="0"/>
                <a:cs typeface="Times New Roman" panose="02020603050405020304" pitchFamily="18" charset="0"/>
              </a:rPr>
              <a:t>	Ｖ（</a:t>
            </a:r>
            <a:r>
              <a:rPr lang="en-US" altLang="zh-CN" b="1" dirty="0" err="1">
                <a:latin typeface="Times New Roman" panose="02020603050405020304" pitchFamily="18" charset="0"/>
                <a:cs typeface="Times New Roman" panose="02020603050405020304" pitchFamily="18" charset="0"/>
              </a:rPr>
              <a:t>Buffull</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end</a:t>
            </a:r>
          </a:p>
        </p:txBody>
      </p:sp>
      <p:sp>
        <p:nvSpPr>
          <p:cNvPr id="32" name="矩形 31"/>
          <p:cNvSpPr/>
          <p:nvPr/>
        </p:nvSpPr>
        <p:spPr>
          <a:xfrm>
            <a:off x="5006028" y="2280528"/>
            <a:ext cx="3744416" cy="2673054"/>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PB: remove(data):</a:t>
            </a:r>
          </a:p>
          <a:p>
            <a:pPr>
              <a:spcBef>
                <a:spcPct val="10000"/>
              </a:spcBef>
            </a:pPr>
            <a:r>
              <a:rPr lang="en-US" altLang="zh-CN" b="1" dirty="0">
                <a:latin typeface="Times New Roman" panose="02020603050405020304" pitchFamily="18" charset="0"/>
                <a:cs typeface="Times New Roman" panose="02020603050405020304" pitchFamily="18" charset="0"/>
              </a:rPr>
              <a:t>	Begin local x</a:t>
            </a: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Ｐ </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Buffull</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按</a:t>
            </a:r>
            <a:r>
              <a:rPr lang="en-US" altLang="zh-CN" b="1" dirty="0">
                <a:latin typeface="Times New Roman" panose="02020603050405020304" pitchFamily="18" charset="0"/>
                <a:cs typeface="Times New Roman" panose="02020603050405020304" pitchFamily="18" charset="0"/>
              </a:rPr>
              <a:t>FIFO</a:t>
            </a:r>
            <a:r>
              <a:rPr lang="zh-CN" altLang="en-US" b="1" dirty="0">
                <a:latin typeface="Times New Roman" panose="02020603050405020304" pitchFamily="18" charset="0"/>
                <a:cs typeface="Times New Roman" panose="02020603050405020304" pitchFamily="18" charset="0"/>
              </a:rPr>
              <a:t>方式选择</a:t>
            </a:r>
            <a:r>
              <a:rPr lang="zh-CN" altLang="en-US" b="1" dirty="0" smtClean="0">
                <a:latin typeface="Times New Roman" panose="02020603050405020304" pitchFamily="18" charset="0"/>
                <a:cs typeface="Times New Roman" panose="02020603050405020304" pitchFamily="18" charset="0"/>
              </a:rPr>
              <a:t>一</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个</a:t>
            </a:r>
            <a:r>
              <a:rPr lang="zh-CN" altLang="en-US" b="1" dirty="0">
                <a:latin typeface="Times New Roman" panose="02020603050405020304" pitchFamily="18" charset="0"/>
                <a:cs typeface="Times New Roman" panose="02020603050405020304" pitchFamily="18" charset="0"/>
              </a:rPr>
              <a:t>装满数据的缓冲区</a:t>
            </a:r>
            <a:r>
              <a:rPr lang="en-US" altLang="zh-CN" b="1" dirty="0" err="1">
                <a:latin typeface="Times New Roman" panose="02020603050405020304" pitchFamily="18" charset="0"/>
                <a:cs typeface="Times New Roman" panose="02020603050405020304" pitchFamily="18" charset="0"/>
              </a:rPr>
              <a:t>Buf</a:t>
            </a:r>
            <a:r>
              <a:rPr lang="en-US" altLang="zh-CN" b="1" dirty="0">
                <a:latin typeface="Times New Roman" panose="02020603050405020304" pitchFamily="18" charset="0"/>
                <a:cs typeface="Times New Roman" panose="02020603050405020304" pitchFamily="18" charset="0"/>
              </a:rPr>
              <a:t>(x)</a:t>
            </a: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data </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Buf</a:t>
            </a:r>
            <a:r>
              <a:rPr lang="en-US" altLang="zh-CN" b="1" dirty="0">
                <a:latin typeface="Times New Roman" panose="02020603050405020304" pitchFamily="18" charset="0"/>
                <a:cs typeface="Times New Roman" panose="02020603050405020304" pitchFamily="18" charset="0"/>
              </a:rPr>
              <a:t>(x)</a:t>
            </a: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(x</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置空标记</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Ｖ </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Bufempty</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end</a:t>
            </a:r>
          </a:p>
        </p:txBody>
      </p:sp>
      <p:sp>
        <p:nvSpPr>
          <p:cNvPr id="6" name="线形标注 1 5"/>
          <p:cNvSpPr/>
          <p:nvPr/>
        </p:nvSpPr>
        <p:spPr>
          <a:xfrm>
            <a:off x="4276521" y="939399"/>
            <a:ext cx="4071322" cy="1328537"/>
          </a:xfrm>
          <a:prstGeom prst="borderCallout1">
            <a:avLst>
              <a:gd name="adj1" fmla="val 18750"/>
              <a:gd name="adj2" fmla="val -8333"/>
              <a:gd name="adj3" fmla="val 130907"/>
              <a:gd name="adj4" fmla="val -38072"/>
            </a:avLst>
          </a:prstGeom>
          <a:ln w="38100"/>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a:latin typeface="+mn-ea"/>
              </a:rPr>
              <a:t>局部变量</a:t>
            </a:r>
            <a:r>
              <a:rPr lang="en-US" altLang="zh-CN" sz="2000" b="1" dirty="0">
                <a:latin typeface="+mn-ea"/>
              </a:rPr>
              <a:t>x</a:t>
            </a:r>
            <a:r>
              <a:rPr lang="zh-CN" altLang="en-US" sz="2000" b="1" dirty="0">
                <a:latin typeface="+mn-ea"/>
              </a:rPr>
              <a:t>用来指明缓冲区的区号，给</a:t>
            </a:r>
            <a:r>
              <a:rPr lang="en-US" altLang="zh-CN" sz="2000" b="1" dirty="0" err="1">
                <a:latin typeface="+mn-ea"/>
              </a:rPr>
              <a:t>Buf</a:t>
            </a:r>
            <a:r>
              <a:rPr lang="en-US" altLang="zh-CN" sz="2000" b="1" dirty="0">
                <a:latin typeface="+mn-ea"/>
              </a:rPr>
              <a:t>(x)</a:t>
            </a:r>
            <a:r>
              <a:rPr lang="zh-CN" altLang="en-US" sz="2000" b="1" dirty="0">
                <a:latin typeface="+mn-ea"/>
              </a:rPr>
              <a:t>置标志位是为了便于区别和搜索空缓冲区及非空缓冲区。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6"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199684"/>
            <a:ext cx="6941291" cy="230832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思考</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pPr>
            <a:r>
              <a:rPr lang="zh-CN" altLang="en-US" sz="2400" b="1" dirty="0" smtClean="0">
                <a:solidFill>
                  <a:schemeClr val="bg1"/>
                </a:solidFill>
                <a:latin typeface="+mn-ea"/>
              </a:rPr>
              <a:t>（</a:t>
            </a:r>
            <a:r>
              <a:rPr lang="en-US" altLang="zh-CN" sz="2400" b="1" dirty="0" smtClean="0">
                <a:solidFill>
                  <a:schemeClr val="bg1"/>
                </a:solidFill>
                <a:latin typeface="+mn-ea"/>
              </a:rPr>
              <a:t>1</a:t>
            </a:r>
            <a:r>
              <a:rPr lang="zh-CN" altLang="en-US" sz="2400" b="1" dirty="0" smtClean="0">
                <a:solidFill>
                  <a:schemeClr val="bg1"/>
                </a:solidFill>
                <a:latin typeface="+mn-ea"/>
              </a:rPr>
              <a:t>）上面两种情况需要</a:t>
            </a:r>
            <a:r>
              <a:rPr lang="zh-CN" altLang="en-US" sz="2400" b="1" dirty="0">
                <a:solidFill>
                  <a:schemeClr val="bg1"/>
                </a:solidFill>
                <a:latin typeface="+mn-ea"/>
              </a:rPr>
              <a:t>考虑互斥吗？为什么</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pPr>
            <a:r>
              <a:rPr lang="zh-CN" altLang="en-US" sz="2400" b="1" dirty="0" smtClean="0">
                <a:solidFill>
                  <a:schemeClr val="bg1"/>
                </a:solidFill>
                <a:latin typeface="+mn-ea"/>
              </a:rPr>
              <a:t>（</a:t>
            </a:r>
            <a:r>
              <a:rPr lang="en-US" altLang="zh-CN" sz="2400" b="1" dirty="0" smtClean="0">
                <a:solidFill>
                  <a:schemeClr val="bg1"/>
                </a:solidFill>
                <a:latin typeface="+mn-ea"/>
              </a:rPr>
              <a:t>2</a:t>
            </a:r>
            <a:r>
              <a:rPr lang="zh-CN" altLang="en-US" sz="2400" b="1" dirty="0" smtClean="0">
                <a:solidFill>
                  <a:schemeClr val="bg1"/>
                </a:solidFill>
                <a:latin typeface="+mn-ea"/>
              </a:rPr>
              <a:t>）</a:t>
            </a:r>
            <a:r>
              <a:rPr lang="zh-CN" altLang="en-US" sz="2400" b="1" dirty="0">
                <a:solidFill>
                  <a:schemeClr val="bg1"/>
                </a:solidFill>
                <a:latin typeface="+mn-ea"/>
              </a:rPr>
              <a:t>一个生产者，一个消费者，</a:t>
            </a:r>
            <a:r>
              <a:rPr lang="zh-CN" altLang="en-US" sz="2400" b="1" dirty="0" smtClean="0">
                <a:solidFill>
                  <a:schemeClr val="bg1"/>
                </a:solidFill>
                <a:latin typeface="+mn-ea"/>
              </a:rPr>
              <a:t>公用一个长度为</a:t>
            </a:r>
            <a:r>
              <a:rPr lang="en-US" altLang="zh-CN" sz="2400" b="1" dirty="0" smtClean="0">
                <a:solidFill>
                  <a:schemeClr val="bg1"/>
                </a:solidFill>
                <a:latin typeface="+mn-ea"/>
              </a:rPr>
              <a:t>n</a:t>
            </a:r>
            <a:r>
              <a:rPr lang="zh-CN" altLang="en-US" sz="2400" b="1" dirty="0">
                <a:solidFill>
                  <a:schemeClr val="bg1"/>
                </a:solidFill>
                <a:latin typeface="+mn-ea"/>
              </a:rPr>
              <a:t>的</a:t>
            </a:r>
            <a:r>
              <a:rPr lang="zh-CN" altLang="en-US" sz="2400" b="1" dirty="0" smtClean="0">
                <a:solidFill>
                  <a:schemeClr val="bg1"/>
                </a:solidFill>
                <a:latin typeface="+mn-ea"/>
              </a:rPr>
              <a:t>环形缓冲区。</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思考</a:t>
            </a:r>
          </a:p>
        </p:txBody>
      </p:sp>
      <p:sp>
        <p:nvSpPr>
          <p:cNvPr id="5" name="矩形 4"/>
          <p:cNvSpPr/>
          <p:nvPr/>
        </p:nvSpPr>
        <p:spPr>
          <a:xfrm>
            <a:off x="827584" y="1276853"/>
            <a:ext cx="6912768" cy="2092881"/>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empty——</a:t>
            </a:r>
            <a:r>
              <a:rPr lang="zh-CN" altLang="en-US" sz="2000" b="1" dirty="0">
                <a:solidFill>
                  <a:schemeClr val="bg1"/>
                </a:solidFill>
                <a:latin typeface="+mn-ea"/>
              </a:rPr>
              <a:t>表示缓冲区是否为空，初值为</a:t>
            </a:r>
            <a:r>
              <a:rPr lang="en-US" altLang="zh-CN" sz="2000" b="1" dirty="0">
                <a:solidFill>
                  <a:schemeClr val="bg1"/>
                </a:solidFill>
                <a:latin typeface="+mn-ea"/>
              </a:rPr>
              <a:t>n</a:t>
            </a:r>
            <a:r>
              <a:rPr lang="zh-CN" altLang="en-US" sz="2000" b="1" dirty="0">
                <a:solidFill>
                  <a:schemeClr val="bg1"/>
                </a:solidFill>
                <a:latin typeface="+mn-ea"/>
              </a:rPr>
              <a:t>。</a:t>
            </a:r>
            <a:br>
              <a:rPr lang="zh-CN" altLang="en-US" sz="2000" b="1" dirty="0">
                <a:solidFill>
                  <a:schemeClr val="bg1"/>
                </a:solidFill>
                <a:latin typeface="+mn-ea"/>
              </a:rPr>
            </a:br>
            <a:r>
              <a:rPr lang="en-US" altLang="zh-CN" sz="2000" b="1" dirty="0">
                <a:solidFill>
                  <a:schemeClr val="bg1"/>
                </a:solidFill>
                <a:latin typeface="+mn-ea"/>
              </a:rPr>
              <a:t>full——</a:t>
            </a:r>
            <a:r>
              <a:rPr lang="zh-CN" altLang="en-US" sz="2000" b="1" dirty="0">
                <a:solidFill>
                  <a:schemeClr val="bg1"/>
                </a:solidFill>
                <a:latin typeface="+mn-ea"/>
              </a:rPr>
              <a:t>表示缓冲区中是否为满，初值为</a:t>
            </a:r>
            <a:r>
              <a:rPr lang="en-US" altLang="zh-CN" sz="2000" b="1" dirty="0">
                <a:solidFill>
                  <a:schemeClr val="bg1"/>
                </a:solidFill>
                <a:latin typeface="+mn-ea"/>
              </a:rPr>
              <a:t>0</a:t>
            </a:r>
            <a:r>
              <a:rPr lang="zh-CN" altLang="en-US" sz="2000" b="1" dirty="0">
                <a:solidFill>
                  <a:schemeClr val="bg1"/>
                </a:solidFill>
                <a:latin typeface="+mn-ea"/>
              </a:rPr>
              <a:t>。</a:t>
            </a: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 </a:t>
            </a:r>
            <a:r>
              <a:rPr lang="zh-CN" altLang="en-US" sz="2000" b="1" dirty="0" smtClean="0">
                <a:solidFill>
                  <a:schemeClr val="bg1"/>
                </a:solidFill>
                <a:latin typeface="+mn-ea"/>
              </a:rPr>
              <a:t>设缓冲区单元的</a:t>
            </a:r>
            <a:r>
              <a:rPr lang="zh-CN" altLang="en-US" sz="2000" b="1" dirty="0">
                <a:solidFill>
                  <a:schemeClr val="bg1"/>
                </a:solidFill>
                <a:latin typeface="+mn-ea"/>
              </a:rPr>
              <a:t>编号为</a:t>
            </a:r>
            <a:r>
              <a:rPr lang="en-US" altLang="zh-CN" sz="2000" b="1" dirty="0">
                <a:solidFill>
                  <a:schemeClr val="bg1"/>
                </a:solidFill>
                <a:latin typeface="+mn-ea"/>
              </a:rPr>
              <a:t>1</a:t>
            </a:r>
            <a:r>
              <a:rPr lang="zh-CN" altLang="en-US" sz="2000" b="1" dirty="0">
                <a:solidFill>
                  <a:schemeClr val="bg1"/>
                </a:solidFill>
                <a:latin typeface="+mn-ea"/>
              </a:rPr>
              <a:t>～</a:t>
            </a:r>
            <a:r>
              <a:rPr lang="en-US" altLang="zh-CN" sz="2000" b="1" dirty="0" smtClean="0">
                <a:solidFill>
                  <a:schemeClr val="bg1"/>
                </a:solidFill>
                <a:latin typeface="+mn-ea"/>
              </a:rPr>
              <a:t>n</a:t>
            </a:r>
            <a:r>
              <a:rPr lang="zh-CN" altLang="en-US" sz="2000" b="1" dirty="0" smtClean="0">
                <a:solidFill>
                  <a:schemeClr val="bg1"/>
                </a:solidFill>
                <a:latin typeface="+mn-ea"/>
              </a:rPr>
              <a:t>，</a:t>
            </a:r>
            <a:r>
              <a:rPr lang="zh-CN" altLang="en-US" sz="2000" b="1" dirty="0">
                <a:solidFill>
                  <a:schemeClr val="bg1"/>
                </a:solidFill>
                <a:latin typeface="+mn-ea"/>
              </a:rPr>
              <a:t>定义两个指针</a:t>
            </a:r>
            <a:r>
              <a:rPr lang="en-US" altLang="zh-CN" sz="2000" b="1" dirty="0">
                <a:solidFill>
                  <a:schemeClr val="bg1"/>
                </a:solidFill>
                <a:latin typeface="+mn-ea"/>
              </a:rPr>
              <a:t>in</a:t>
            </a:r>
            <a:r>
              <a:rPr lang="zh-CN" altLang="en-US" sz="2000" b="1" dirty="0">
                <a:solidFill>
                  <a:schemeClr val="bg1"/>
                </a:solidFill>
                <a:latin typeface="+mn-ea"/>
              </a:rPr>
              <a:t>和</a:t>
            </a:r>
            <a:r>
              <a:rPr lang="en-US" altLang="zh-CN" sz="2000" b="1" dirty="0">
                <a:solidFill>
                  <a:schemeClr val="bg1"/>
                </a:solidFill>
                <a:latin typeface="+mn-ea"/>
              </a:rPr>
              <a:t>out</a:t>
            </a:r>
            <a:r>
              <a:rPr lang="zh-CN" altLang="en-US" sz="2000" b="1" dirty="0">
                <a:solidFill>
                  <a:schemeClr val="bg1"/>
                </a:solidFill>
                <a:latin typeface="+mn-ea"/>
              </a:rPr>
              <a:t>，分别是生产者进程和消费者进程使用的指</a:t>
            </a:r>
            <a:br>
              <a:rPr lang="zh-CN" altLang="en-US" sz="2000" b="1" dirty="0">
                <a:solidFill>
                  <a:schemeClr val="bg1"/>
                </a:solidFill>
                <a:latin typeface="+mn-ea"/>
              </a:rPr>
            </a:br>
            <a:r>
              <a:rPr lang="zh-CN" altLang="en-US" sz="2000" b="1" dirty="0">
                <a:solidFill>
                  <a:schemeClr val="bg1"/>
                </a:solidFill>
                <a:latin typeface="+mn-ea"/>
              </a:rPr>
              <a:t>，指向下一个可用的</a:t>
            </a:r>
            <a:r>
              <a:rPr lang="zh-CN" altLang="en-US" sz="2000" b="1" dirty="0" smtClean="0">
                <a:solidFill>
                  <a:schemeClr val="bg1"/>
                </a:solidFill>
                <a:latin typeface="+mn-ea"/>
              </a:rPr>
              <a:t>缓冲区单元。</a:t>
            </a:r>
            <a:endParaRPr lang="zh-CN" altLang="en-US" sz="2000" b="1" dirty="0">
              <a:solidFill>
                <a:schemeClr val="bg1"/>
              </a:solidFill>
              <a:latin typeface="+mn-ea"/>
            </a:endParaRPr>
          </a:p>
        </p:txBody>
      </p:sp>
      <p:sp>
        <p:nvSpPr>
          <p:cNvPr id="31" name="矩形 30"/>
          <p:cNvSpPr/>
          <p:nvPr/>
        </p:nvSpPr>
        <p:spPr>
          <a:xfrm>
            <a:off x="883316" y="1476742"/>
            <a:ext cx="3558822" cy="3220273"/>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spcBef>
                <a:spcPct val="10000"/>
              </a:spcBef>
            </a:pPr>
            <a:r>
              <a:rPr lang="en-US" altLang="zh-CN" b="1" dirty="0" err="1" smtClean="0">
                <a:latin typeface="Times New Roman" panose="02020603050405020304" pitchFamily="18" charset="0"/>
                <a:cs typeface="Times New Roman" panose="02020603050405020304" pitchFamily="18" charset="0"/>
              </a:rPr>
              <a:t>PA:</a:t>
            </a:r>
            <a:r>
              <a:rPr lang="en-US" altLang="zh-CN" b="1" dirty="0" err="1">
                <a:latin typeface="Times New Roman" panose="02020603050405020304" pitchFamily="18" charset="0"/>
                <a:cs typeface="Times New Roman" panose="02020603050405020304" pitchFamily="18" charset="0"/>
              </a:rPr>
              <a:t>deposit</a:t>
            </a:r>
            <a:r>
              <a:rPr lang="en-US" altLang="zh-CN" b="1" dirty="0">
                <a:latin typeface="Times New Roman" panose="02020603050405020304" pitchFamily="18" charset="0"/>
                <a:cs typeface="Times New Roman" panose="02020603050405020304" pitchFamily="18" charset="0"/>
              </a:rPr>
              <a:t>(data):</a:t>
            </a:r>
          </a:p>
          <a:p>
            <a:pPr>
              <a:lnSpc>
                <a:spcPct val="120000"/>
              </a:lnSpc>
              <a:spcBef>
                <a:spcPct val="10000"/>
              </a:spcBef>
            </a:pPr>
            <a:r>
              <a:rPr lang="en-US" altLang="zh-CN" b="1" dirty="0" smtClean="0">
                <a:latin typeface="Times New Roman" panose="02020603050405020304" pitchFamily="18" charset="0"/>
                <a:cs typeface="Times New Roman" panose="02020603050405020304" pitchFamily="18" charset="0"/>
              </a:rPr>
              <a:t>while(TRUE)</a:t>
            </a:r>
          </a:p>
          <a:p>
            <a:pPr>
              <a:lnSpc>
                <a:spcPct val="120000"/>
              </a:lnSpc>
              <a:spcBef>
                <a:spcPct val="10000"/>
              </a:spcBef>
            </a:pPr>
            <a:r>
              <a:rPr lang="en-US" altLang="zh-CN" b="1" dirty="0" smtClean="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生产一个产品</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P(empty);</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(in)</a:t>
            </a:r>
            <a:r>
              <a:rPr lang="en-US" altLang="zh-CN" b="1" dirty="0">
                <a:latin typeface="Times New Roman" panose="02020603050405020304" pitchFamily="18" charset="0"/>
                <a:cs typeface="Times New Roman" panose="02020603050405020304" pitchFamily="18" charset="0"/>
              </a:rPr>
              <a:t>← data</a:t>
            </a:r>
          </a:p>
          <a:p>
            <a:pPr>
              <a:lnSpc>
                <a:spcPct val="120000"/>
              </a:lnSpc>
              <a:spcBef>
                <a:spcPct val="10000"/>
              </a:spcBef>
            </a:pPr>
            <a:r>
              <a:rPr lang="en-US" altLang="zh-CN" b="1" dirty="0">
                <a:latin typeface="Times New Roman" panose="02020603050405020304" pitchFamily="18" charset="0"/>
                <a:cs typeface="Times New Roman" panose="02020603050405020304" pitchFamily="18" charset="0"/>
              </a:rPr>
              <a:t>     in=(in+1)mod n</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V(full);</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a:t>
            </a:r>
          </a:p>
        </p:txBody>
      </p:sp>
      <p:sp>
        <p:nvSpPr>
          <p:cNvPr id="32" name="矩形 31"/>
          <p:cNvSpPr/>
          <p:nvPr/>
        </p:nvSpPr>
        <p:spPr>
          <a:xfrm>
            <a:off x="4814492" y="1476742"/>
            <a:ext cx="3744416" cy="3220273"/>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spcBef>
                <a:spcPct val="10000"/>
              </a:spcBef>
            </a:pPr>
            <a:r>
              <a:rPr lang="en-US" altLang="zh-CN" b="1" dirty="0">
                <a:latin typeface="Times New Roman" panose="02020603050405020304" pitchFamily="18" charset="0"/>
                <a:cs typeface="Times New Roman" panose="02020603050405020304" pitchFamily="18" charset="0"/>
              </a:rPr>
              <a:t>PB: remove(data):</a:t>
            </a:r>
          </a:p>
          <a:p>
            <a:pPr>
              <a:lnSpc>
                <a:spcPct val="120000"/>
              </a:lnSpc>
              <a:spcBef>
                <a:spcPct val="10000"/>
              </a:spcBef>
            </a:pPr>
            <a:r>
              <a:rPr lang="en-US" altLang="zh-CN" b="1" dirty="0">
                <a:latin typeface="Times New Roman" panose="02020603050405020304" pitchFamily="18" charset="0"/>
                <a:cs typeface="Times New Roman" panose="02020603050405020304" pitchFamily="18" charset="0"/>
              </a:rPr>
              <a:t>while(TRUE</a:t>
            </a:r>
            <a:r>
              <a:rPr lang="en-US" altLang="zh-CN" b="1" dirty="0" smtClean="0">
                <a:latin typeface="Times New Roman" panose="02020603050405020304" pitchFamily="18" charset="0"/>
                <a:cs typeface="Times New Roman" panose="02020603050405020304" pitchFamily="18" charset="0"/>
              </a:rPr>
              <a:t>)</a:t>
            </a:r>
          </a:p>
          <a:p>
            <a:pPr>
              <a:lnSpc>
                <a:spcPct val="120000"/>
              </a:lnSpc>
              <a:spcBef>
                <a:spcPct val="10000"/>
              </a:spcBef>
            </a:pPr>
            <a:r>
              <a:rPr lang="en-US" altLang="zh-CN" b="1" dirty="0" smtClean="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P(full</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data ← </a:t>
            </a:r>
            <a:r>
              <a:rPr lang="en-US" altLang="zh-CN" b="1" dirty="0" err="1" smtClean="0">
                <a:latin typeface="Times New Roman" panose="02020603050405020304" pitchFamily="18" charset="0"/>
                <a:cs typeface="Times New Roman" panose="02020603050405020304" pitchFamily="18" charset="0"/>
              </a:rPr>
              <a:t>Buf</a:t>
            </a:r>
            <a:r>
              <a:rPr lang="en-US" altLang="zh-CN" b="1" dirty="0" smtClean="0">
                <a:latin typeface="Times New Roman" panose="02020603050405020304" pitchFamily="18" charset="0"/>
                <a:cs typeface="Times New Roman" panose="02020603050405020304" pitchFamily="18" charset="0"/>
              </a:rPr>
              <a:t>(out)</a:t>
            </a:r>
            <a:endParaRPr lang="en-US" altLang="zh-CN" b="1" dirty="0">
              <a:latin typeface="Times New Roman" panose="02020603050405020304" pitchFamily="18" charset="0"/>
              <a:cs typeface="Times New Roman" panose="02020603050405020304" pitchFamily="18" charset="0"/>
            </a:endParaRPr>
          </a:p>
          <a:p>
            <a:pPr>
              <a:lnSpc>
                <a:spcPct val="120000"/>
              </a:lnSpc>
              <a:spcBef>
                <a:spcPct val="1000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out=(out+1)mod n</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V(empty);</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消费该产品</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1000"/>
                                        <p:tgtEl>
                                          <p:spTgt spid="32"/>
                                        </p:tgtEl>
                                      </p:cBhvr>
                                    </p:animEffect>
                                    <p:anim calcmode="lin" valueType="num">
                                      <p:cBhvr>
                                        <p:cTn id="25" dur="1000" fill="hold"/>
                                        <p:tgtEl>
                                          <p:spTgt spid="32"/>
                                        </p:tgtEl>
                                        <p:attrNameLst>
                                          <p:attrName>ppt_x</p:attrName>
                                        </p:attrNameLst>
                                      </p:cBhvr>
                                      <p:tavLst>
                                        <p:tav tm="0">
                                          <p:val>
                                            <p:strVal val="#ppt_x"/>
                                          </p:val>
                                        </p:tav>
                                        <p:tav tm="100000">
                                          <p:val>
                                            <p:strVal val="#ppt_x"/>
                                          </p:val>
                                        </p:tav>
                                      </p:tavLst>
                                    </p:anim>
                                    <p:anim calcmode="lin" valueType="num">
                                      <p:cBhvr>
                                        <p:cTn id="2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347614"/>
            <a:ext cx="6950976" cy="421653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一组生产者</a:t>
            </a:r>
            <a:r>
              <a:rPr lang="zh-CN" altLang="en-US" sz="2000" b="1" dirty="0">
                <a:solidFill>
                  <a:schemeClr val="bg1"/>
                </a:solidFill>
                <a:latin typeface="+mn-ea"/>
              </a:rPr>
              <a:t>，</a:t>
            </a:r>
            <a:r>
              <a:rPr lang="zh-CN" altLang="en-US" sz="2000" b="1" dirty="0" smtClean="0">
                <a:solidFill>
                  <a:schemeClr val="bg1"/>
                </a:solidFill>
                <a:latin typeface="+mn-ea"/>
              </a:rPr>
              <a:t>一</a:t>
            </a:r>
            <a:r>
              <a:rPr lang="zh-CN" altLang="en-US" sz="2000" b="1" dirty="0">
                <a:solidFill>
                  <a:schemeClr val="bg1"/>
                </a:solidFill>
                <a:latin typeface="+mn-ea"/>
              </a:rPr>
              <a:t>组</a:t>
            </a:r>
            <a:r>
              <a:rPr lang="zh-CN" altLang="en-US" sz="2000" b="1" dirty="0" smtClean="0">
                <a:solidFill>
                  <a:schemeClr val="bg1"/>
                </a:solidFill>
                <a:latin typeface="+mn-ea"/>
              </a:rPr>
              <a:t>消费者</a:t>
            </a:r>
            <a:r>
              <a:rPr lang="zh-CN" altLang="en-US" sz="2000" b="1" dirty="0">
                <a:solidFill>
                  <a:schemeClr val="bg1"/>
                </a:solidFill>
                <a:latin typeface="+mn-ea"/>
              </a:rPr>
              <a:t>，公用一</a:t>
            </a:r>
            <a:r>
              <a:rPr lang="zh-CN" altLang="en-US" sz="2000" b="1" dirty="0" smtClean="0">
                <a:solidFill>
                  <a:schemeClr val="bg1"/>
                </a:solidFill>
                <a:latin typeface="+mn-ea"/>
              </a:rPr>
              <a:t>个长度为</a:t>
            </a:r>
            <a:r>
              <a:rPr lang="en-US" altLang="zh-CN" sz="2000" b="1" dirty="0" smtClean="0">
                <a:solidFill>
                  <a:schemeClr val="bg1"/>
                </a:solidFill>
                <a:latin typeface="+mn-ea"/>
              </a:rPr>
              <a:t>n</a:t>
            </a:r>
            <a:r>
              <a:rPr lang="zh-CN" altLang="en-US" sz="2000" b="1" dirty="0" smtClean="0">
                <a:solidFill>
                  <a:schemeClr val="bg1"/>
                </a:solidFill>
                <a:latin typeface="+mn-ea"/>
              </a:rPr>
              <a:t>的有界缓冲区。</a:t>
            </a:r>
            <a:endParaRPr lang="en-US" altLang="zh-CN" sz="20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生产者和消费者之间满足如下条件：</a:t>
            </a:r>
          </a:p>
          <a:p>
            <a:pPr marL="0" lvl="1" algn="just">
              <a:lnSpc>
                <a:spcPct val="130000"/>
              </a:lnSpc>
              <a:buClr>
                <a:schemeClr val="accent6">
                  <a:lumMod val="60000"/>
                  <a:lumOff val="40000"/>
                </a:schemeClr>
              </a:buClr>
            </a:pPr>
            <a:r>
              <a:rPr lang="en-US" altLang="zh-CN" sz="2000" b="1" dirty="0" smtClean="0">
                <a:solidFill>
                  <a:schemeClr val="bg1"/>
                </a:solidFill>
                <a:latin typeface="+mn-ea"/>
              </a:rPr>
              <a:t> (</a:t>
            </a:r>
            <a:r>
              <a:rPr lang="en-US" altLang="zh-CN" sz="2000" b="1" dirty="0">
                <a:solidFill>
                  <a:schemeClr val="bg1"/>
                </a:solidFill>
                <a:latin typeface="+mn-ea"/>
              </a:rPr>
              <a:t>1) </a:t>
            </a:r>
            <a:r>
              <a:rPr lang="zh-CN" altLang="en-US" sz="2000" b="1" dirty="0">
                <a:solidFill>
                  <a:schemeClr val="bg1"/>
                </a:solidFill>
                <a:latin typeface="+mn-ea"/>
              </a:rPr>
              <a:t>消费者想接收数据时，有界缓冲区中至少有一个单元是满的；</a:t>
            </a:r>
          </a:p>
          <a:p>
            <a:pPr marL="0" lvl="1" algn="just">
              <a:lnSpc>
                <a:spcPct val="130000"/>
              </a:lnSpc>
              <a:buClr>
                <a:schemeClr val="accent6">
                  <a:lumMod val="60000"/>
                  <a:lumOff val="40000"/>
                </a:schemeClr>
              </a:buClr>
            </a:pPr>
            <a:r>
              <a:rPr lang="en-US" altLang="zh-CN" sz="2000" b="1" dirty="0" smtClean="0">
                <a:solidFill>
                  <a:schemeClr val="bg1"/>
                </a:solidFill>
                <a:latin typeface="+mn-ea"/>
              </a:rPr>
              <a:t> (</a:t>
            </a:r>
            <a:r>
              <a:rPr lang="en-US" altLang="zh-CN" sz="2000" b="1" dirty="0">
                <a:solidFill>
                  <a:schemeClr val="bg1"/>
                </a:solidFill>
                <a:latin typeface="+mn-ea"/>
              </a:rPr>
              <a:t>2) </a:t>
            </a:r>
            <a:r>
              <a:rPr lang="zh-CN" altLang="en-US" sz="2000" b="1" dirty="0">
                <a:solidFill>
                  <a:schemeClr val="bg1"/>
                </a:solidFill>
                <a:latin typeface="+mn-ea"/>
              </a:rPr>
              <a:t>生产者想发送数据时，有界缓冲区中至少有一个单元是空的。</a:t>
            </a: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另外，由于有界缓冲区是临界资源，因此，各生产者进程和各消费者进程之间必须</a:t>
            </a:r>
            <a:r>
              <a:rPr lang="zh-CN" altLang="en-US" sz="2000" b="1" dirty="0">
                <a:solidFill>
                  <a:srgbClr val="FFFF00"/>
                </a:solidFill>
                <a:latin typeface="+mn-ea"/>
              </a:rPr>
              <a:t>互斥执行</a:t>
            </a:r>
            <a:r>
              <a:rPr lang="zh-CN" altLang="en-US" sz="20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pic>
        <p:nvPicPr>
          <p:cNvPr id="33"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3451" y="411389"/>
            <a:ext cx="5455431" cy="1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arn(outVertical)">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left)">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left)">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left)">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wipe(left)">
                                      <p:cBhvr>
                                        <p:cTn id="3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347614"/>
            <a:ext cx="6950976" cy="378565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一组生产者</a:t>
            </a:r>
            <a:r>
              <a:rPr lang="zh-CN" altLang="en-US" sz="2000" b="1" dirty="0">
                <a:solidFill>
                  <a:schemeClr val="bg1"/>
                </a:solidFill>
                <a:latin typeface="+mn-ea"/>
              </a:rPr>
              <a:t>，</a:t>
            </a:r>
            <a:r>
              <a:rPr lang="zh-CN" altLang="en-US" sz="2000" b="1" dirty="0" smtClean="0">
                <a:solidFill>
                  <a:schemeClr val="bg1"/>
                </a:solidFill>
                <a:latin typeface="+mn-ea"/>
              </a:rPr>
              <a:t>一</a:t>
            </a:r>
            <a:r>
              <a:rPr lang="zh-CN" altLang="en-US" sz="2000" b="1" dirty="0">
                <a:solidFill>
                  <a:schemeClr val="bg1"/>
                </a:solidFill>
                <a:latin typeface="+mn-ea"/>
              </a:rPr>
              <a:t>组</a:t>
            </a:r>
            <a:r>
              <a:rPr lang="zh-CN" altLang="en-US" sz="2000" b="1" dirty="0" smtClean="0">
                <a:solidFill>
                  <a:schemeClr val="bg1"/>
                </a:solidFill>
                <a:latin typeface="+mn-ea"/>
              </a:rPr>
              <a:t>消费者</a:t>
            </a:r>
            <a:r>
              <a:rPr lang="zh-CN" altLang="en-US" sz="2000" b="1" dirty="0">
                <a:solidFill>
                  <a:schemeClr val="bg1"/>
                </a:solidFill>
                <a:latin typeface="+mn-ea"/>
              </a:rPr>
              <a:t>，公用一</a:t>
            </a:r>
            <a:r>
              <a:rPr lang="zh-CN" altLang="en-US" sz="2000" b="1" dirty="0" smtClean="0">
                <a:solidFill>
                  <a:schemeClr val="bg1"/>
                </a:solidFill>
                <a:latin typeface="+mn-ea"/>
              </a:rPr>
              <a:t>个长度为</a:t>
            </a:r>
            <a:r>
              <a:rPr lang="en-US" altLang="zh-CN" sz="2000" b="1" dirty="0" smtClean="0">
                <a:solidFill>
                  <a:schemeClr val="bg1"/>
                </a:solidFill>
                <a:latin typeface="+mn-ea"/>
              </a:rPr>
              <a:t>n</a:t>
            </a:r>
            <a:r>
              <a:rPr lang="zh-CN" altLang="en-US" sz="2000" b="1" dirty="0" smtClean="0">
                <a:solidFill>
                  <a:schemeClr val="bg1"/>
                </a:solidFill>
                <a:latin typeface="+mn-ea"/>
              </a:rPr>
              <a:t>的有界缓冲区。</a:t>
            </a:r>
            <a:endParaRPr lang="en-US" altLang="zh-CN" sz="20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000" b="1" dirty="0">
                <a:solidFill>
                  <a:srgbClr val="FFFF00"/>
                </a:solidFill>
                <a:latin typeface="+mn-ea"/>
              </a:rPr>
              <a:t>公用信号量</a:t>
            </a:r>
            <a:r>
              <a:rPr lang="en-US" altLang="zh-CN" sz="2000" b="1" dirty="0" err="1">
                <a:solidFill>
                  <a:srgbClr val="FFFF00"/>
                </a:solidFill>
                <a:latin typeface="+mn-ea"/>
              </a:rPr>
              <a:t>mutex</a:t>
            </a:r>
            <a:r>
              <a:rPr lang="zh-CN" altLang="en-US" sz="2000" b="1" dirty="0">
                <a:solidFill>
                  <a:schemeClr val="bg1"/>
                </a:solidFill>
                <a:latin typeface="+mn-ea"/>
              </a:rPr>
              <a:t>保证生产者进程和消费者进程之间的</a:t>
            </a:r>
            <a:r>
              <a:rPr lang="zh-CN" altLang="en-US" sz="2000" b="1" dirty="0">
                <a:solidFill>
                  <a:srgbClr val="FFFF00"/>
                </a:solidFill>
                <a:latin typeface="+mn-ea"/>
              </a:rPr>
              <a:t>互斥</a:t>
            </a:r>
            <a:r>
              <a:rPr lang="zh-CN" altLang="en-US" sz="2000" b="1" dirty="0">
                <a:solidFill>
                  <a:schemeClr val="bg1"/>
                </a:solidFill>
                <a:latin typeface="+mn-ea"/>
              </a:rPr>
              <a:t>，设</a:t>
            </a:r>
            <a:r>
              <a:rPr lang="zh-CN" altLang="en-US" sz="2000" b="1" dirty="0">
                <a:solidFill>
                  <a:srgbClr val="FFFF00"/>
                </a:solidFill>
                <a:latin typeface="+mn-ea"/>
              </a:rPr>
              <a:t>信号量</a:t>
            </a:r>
            <a:r>
              <a:rPr lang="en-US" altLang="zh-CN" sz="2000" b="1" dirty="0">
                <a:solidFill>
                  <a:srgbClr val="FFFF00"/>
                </a:solidFill>
                <a:latin typeface="+mn-ea"/>
              </a:rPr>
              <a:t>avail</a:t>
            </a:r>
            <a:r>
              <a:rPr lang="zh-CN" altLang="en-US" sz="2000" b="1" dirty="0">
                <a:solidFill>
                  <a:schemeClr val="bg1"/>
                </a:solidFill>
                <a:latin typeface="+mn-ea"/>
              </a:rPr>
              <a:t>为</a:t>
            </a:r>
            <a:r>
              <a:rPr lang="zh-CN" altLang="en-US" sz="2000" b="1" dirty="0">
                <a:solidFill>
                  <a:srgbClr val="FFFF00"/>
                </a:solidFill>
                <a:latin typeface="+mn-ea"/>
              </a:rPr>
              <a:t>生产者进程的私用信号量</a:t>
            </a:r>
            <a:r>
              <a:rPr lang="zh-CN" altLang="en-US" sz="2000" b="1" dirty="0">
                <a:solidFill>
                  <a:schemeClr val="bg1"/>
                </a:solidFill>
                <a:latin typeface="+mn-ea"/>
              </a:rPr>
              <a:t>，</a:t>
            </a:r>
            <a:r>
              <a:rPr lang="zh-CN" altLang="en-US" sz="2000" b="1" dirty="0">
                <a:solidFill>
                  <a:srgbClr val="FFFF00"/>
                </a:solidFill>
                <a:latin typeface="+mn-ea"/>
              </a:rPr>
              <a:t>信号量</a:t>
            </a:r>
            <a:r>
              <a:rPr lang="en-US" altLang="zh-CN" sz="2000" b="1" dirty="0">
                <a:solidFill>
                  <a:srgbClr val="FFFF00"/>
                </a:solidFill>
                <a:latin typeface="+mn-ea"/>
              </a:rPr>
              <a:t>full</a:t>
            </a:r>
            <a:r>
              <a:rPr lang="zh-CN" altLang="en-US" sz="2000" b="1" dirty="0">
                <a:solidFill>
                  <a:schemeClr val="bg1"/>
                </a:solidFill>
                <a:latin typeface="+mn-ea"/>
              </a:rPr>
              <a:t>为</a:t>
            </a:r>
            <a:r>
              <a:rPr lang="zh-CN" altLang="en-US" sz="2000" b="1" dirty="0">
                <a:solidFill>
                  <a:srgbClr val="FFFF00"/>
                </a:solidFill>
                <a:latin typeface="+mn-ea"/>
              </a:rPr>
              <a:t>消费者进程的私用信号量</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信号量</a:t>
            </a:r>
            <a:r>
              <a:rPr lang="en-US" altLang="zh-CN" sz="2000" b="1" dirty="0">
                <a:solidFill>
                  <a:schemeClr val="bg1"/>
                </a:solidFill>
                <a:latin typeface="+mn-ea"/>
              </a:rPr>
              <a:t>avail</a:t>
            </a:r>
            <a:r>
              <a:rPr lang="zh-CN" altLang="en-US" sz="2000" b="1" dirty="0">
                <a:solidFill>
                  <a:schemeClr val="bg1"/>
                </a:solidFill>
                <a:latin typeface="+mn-ea"/>
              </a:rPr>
              <a:t>表示有界缓冲区中的空单元数，初值为</a:t>
            </a:r>
            <a:r>
              <a:rPr lang="en-US" altLang="zh-CN" sz="2000" b="1" dirty="0">
                <a:solidFill>
                  <a:schemeClr val="bg1"/>
                </a:solidFill>
                <a:latin typeface="+mn-ea"/>
              </a:rPr>
              <a:t>n</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信号量</a:t>
            </a:r>
            <a:r>
              <a:rPr lang="en-US" altLang="zh-CN" sz="2000" b="1" dirty="0">
                <a:solidFill>
                  <a:schemeClr val="bg1"/>
                </a:solidFill>
                <a:latin typeface="+mn-ea"/>
              </a:rPr>
              <a:t>full</a:t>
            </a:r>
            <a:r>
              <a:rPr lang="zh-CN" altLang="en-US" sz="2000" b="1" dirty="0">
                <a:solidFill>
                  <a:schemeClr val="bg1"/>
                </a:solidFill>
                <a:latin typeface="+mn-ea"/>
              </a:rPr>
              <a:t>表示有界缓冲区中非空单元数，初值为</a:t>
            </a:r>
            <a:r>
              <a:rPr lang="en-US" altLang="zh-CN" sz="2000" b="1" dirty="0">
                <a:solidFill>
                  <a:schemeClr val="bg1"/>
                </a:solidFill>
                <a:latin typeface="+mn-ea"/>
              </a:rPr>
              <a:t>0</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信号量</a:t>
            </a:r>
            <a:r>
              <a:rPr lang="en-US" altLang="zh-CN" sz="2000" b="1" dirty="0" err="1">
                <a:solidFill>
                  <a:schemeClr val="bg1"/>
                </a:solidFill>
                <a:latin typeface="+mn-ea"/>
              </a:rPr>
              <a:t>mutex</a:t>
            </a:r>
            <a:r>
              <a:rPr lang="zh-CN" altLang="en-US" sz="2000" b="1" dirty="0">
                <a:solidFill>
                  <a:schemeClr val="bg1"/>
                </a:solidFill>
                <a:latin typeface="+mn-ea"/>
              </a:rPr>
              <a:t>表示可用有界缓冲区的个数，初值为 </a:t>
            </a:r>
            <a:r>
              <a:rPr lang="en-US" altLang="zh-CN" sz="2000" b="1" dirty="0">
                <a:solidFill>
                  <a:schemeClr val="bg1"/>
                </a:solidFill>
                <a:latin typeface="+mn-ea"/>
              </a:rPr>
              <a:t>1</a:t>
            </a:r>
            <a:r>
              <a:rPr lang="zh-CN" altLang="en-US" sz="2000" b="1" dirty="0">
                <a:solidFill>
                  <a:schemeClr val="bg1"/>
                </a:solidFill>
                <a:latin typeface="+mn-ea"/>
              </a:rPr>
              <a:t>。</a:t>
            </a:r>
            <a:endParaRPr lang="en-US" altLang="zh-CN" sz="20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endParaRPr lang="zh-CN" altLang="en-US" sz="2000" b="1" dirty="0">
              <a:solidFill>
                <a:schemeClr val="bg1"/>
              </a:solidFill>
              <a:latin typeface="+mn-ea"/>
            </a:endParaRPr>
          </a:p>
        </p:txBody>
      </p:sp>
      <p:pic>
        <p:nvPicPr>
          <p:cNvPr id="33"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266" y="479203"/>
            <a:ext cx="5455431" cy="1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810791" y="1347614"/>
            <a:ext cx="6950976" cy="481863"/>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一组生产者</a:t>
            </a:r>
            <a:r>
              <a:rPr lang="zh-CN" altLang="en-US" sz="2000" b="1" dirty="0">
                <a:solidFill>
                  <a:schemeClr val="bg1"/>
                </a:solidFill>
                <a:latin typeface="+mn-ea"/>
              </a:rPr>
              <a:t>，</a:t>
            </a:r>
            <a:r>
              <a:rPr lang="zh-CN" altLang="en-US" sz="2000" b="1" dirty="0" smtClean="0">
                <a:solidFill>
                  <a:schemeClr val="bg1"/>
                </a:solidFill>
                <a:latin typeface="+mn-ea"/>
              </a:rPr>
              <a:t>一</a:t>
            </a:r>
            <a:r>
              <a:rPr lang="zh-CN" altLang="en-US" sz="2000" b="1" dirty="0">
                <a:solidFill>
                  <a:schemeClr val="bg1"/>
                </a:solidFill>
                <a:latin typeface="+mn-ea"/>
              </a:rPr>
              <a:t>组</a:t>
            </a:r>
            <a:r>
              <a:rPr lang="zh-CN" altLang="en-US" sz="2000" b="1" dirty="0" smtClean="0">
                <a:solidFill>
                  <a:schemeClr val="bg1"/>
                </a:solidFill>
                <a:latin typeface="+mn-ea"/>
              </a:rPr>
              <a:t>消费者</a:t>
            </a:r>
            <a:r>
              <a:rPr lang="zh-CN" altLang="en-US" sz="2000" b="1" dirty="0">
                <a:solidFill>
                  <a:schemeClr val="bg1"/>
                </a:solidFill>
                <a:latin typeface="+mn-ea"/>
              </a:rPr>
              <a:t>，公用一</a:t>
            </a:r>
            <a:r>
              <a:rPr lang="zh-CN" altLang="en-US" sz="2000" b="1" dirty="0" smtClean="0">
                <a:solidFill>
                  <a:schemeClr val="bg1"/>
                </a:solidFill>
                <a:latin typeface="+mn-ea"/>
              </a:rPr>
              <a:t>个长度为</a:t>
            </a:r>
            <a:r>
              <a:rPr lang="en-US" altLang="zh-CN" sz="2000" b="1" dirty="0" smtClean="0">
                <a:solidFill>
                  <a:schemeClr val="bg1"/>
                </a:solidFill>
                <a:latin typeface="+mn-ea"/>
              </a:rPr>
              <a:t>n</a:t>
            </a:r>
            <a:r>
              <a:rPr lang="zh-CN" altLang="en-US" sz="2000" b="1" dirty="0" smtClean="0">
                <a:solidFill>
                  <a:schemeClr val="bg1"/>
                </a:solidFill>
                <a:latin typeface="+mn-ea"/>
              </a:rPr>
              <a:t>的有界缓冲区。</a:t>
            </a:r>
            <a:endParaRPr lang="en-US" altLang="zh-CN" sz="2000" b="1" dirty="0" smtClean="0">
              <a:solidFill>
                <a:schemeClr val="bg1"/>
              </a:solidFill>
              <a:latin typeface="+mn-ea"/>
            </a:endParaRPr>
          </a:p>
        </p:txBody>
      </p:sp>
      <p:pic>
        <p:nvPicPr>
          <p:cNvPr id="33"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117" y="535534"/>
            <a:ext cx="5455431" cy="1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矩形 28"/>
          <p:cNvSpPr/>
          <p:nvPr/>
        </p:nvSpPr>
        <p:spPr>
          <a:xfrm>
            <a:off x="727457" y="2280106"/>
            <a:ext cx="3558822" cy="2604946"/>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deposit(data):</a:t>
            </a: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begin</a:t>
            </a:r>
            <a:endParaRPr lang="en-US" altLang="zh-CN" b="1" dirty="0">
              <a:latin typeface="Times New Roman" panose="02020603050405020304" pitchFamily="18" charset="0"/>
              <a:cs typeface="Times New Roman" panose="02020603050405020304" pitchFamily="18" charset="0"/>
            </a:endParaRP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Ｐ（</a:t>
            </a:r>
            <a:r>
              <a:rPr lang="en-US" altLang="zh-CN" b="1" dirty="0">
                <a:latin typeface="Times New Roman" panose="02020603050405020304" pitchFamily="18" charset="0"/>
                <a:cs typeface="Times New Roman" panose="02020603050405020304" pitchFamily="18" charset="0"/>
              </a:rPr>
              <a:t>avail</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Ｐ</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送</a:t>
            </a:r>
            <a:r>
              <a:rPr lang="zh-CN" altLang="en-US" b="1" dirty="0">
                <a:latin typeface="Times New Roman" panose="02020603050405020304" pitchFamily="18" charset="0"/>
                <a:cs typeface="Times New Roman" panose="02020603050405020304" pitchFamily="18" charset="0"/>
              </a:rPr>
              <a:t>数据入缓冲区某单元</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full</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end</a:t>
            </a:r>
            <a:endParaRPr lang="en-US" altLang="zh-CN" b="1" dirty="0">
              <a:latin typeface="Times New Roman" panose="02020603050405020304" pitchFamily="18" charset="0"/>
              <a:cs typeface="Times New Roman" panose="02020603050405020304" pitchFamily="18" charset="0"/>
            </a:endParaRPr>
          </a:p>
        </p:txBody>
      </p:sp>
      <p:sp>
        <p:nvSpPr>
          <p:cNvPr id="30" name="矩形 29"/>
          <p:cNvSpPr/>
          <p:nvPr/>
        </p:nvSpPr>
        <p:spPr>
          <a:xfrm>
            <a:off x="4788024" y="2363022"/>
            <a:ext cx="3382396" cy="2451462"/>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remove(data):</a:t>
            </a: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begin</a:t>
            </a:r>
          </a:p>
          <a:p>
            <a:pPr>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Ｐ（</a:t>
            </a:r>
            <a:r>
              <a:rPr lang="en-US" altLang="zh-CN" b="1" dirty="0" smtClean="0">
                <a:latin typeface="Times New Roman" panose="02020603050405020304" pitchFamily="18" charset="0"/>
                <a:cs typeface="Times New Roman" panose="02020603050405020304" pitchFamily="18" charset="0"/>
              </a:rPr>
              <a:t>full</a:t>
            </a:r>
            <a:r>
              <a:rPr lang="zh-CN" altLang="en-US" b="1" dirty="0" smtClean="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Ｐ</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取</a:t>
            </a:r>
            <a:r>
              <a:rPr lang="zh-CN" altLang="en-US" b="1" dirty="0">
                <a:latin typeface="Times New Roman" panose="02020603050405020304" pitchFamily="18" charset="0"/>
                <a:cs typeface="Times New Roman" panose="02020603050405020304" pitchFamily="18" charset="0"/>
              </a:rPr>
              <a:t>缓冲区中某单元数据</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avail</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end</a:t>
            </a:r>
            <a:endParaRPr lang="en-US" altLang="zh-CN"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1000"/>
                                        <p:tgtEl>
                                          <p:spTgt spid="30"/>
                                        </p:tgtEl>
                                      </p:cBhvr>
                                    </p:animEffect>
                                    <p:anim calcmode="lin" valueType="num">
                                      <p:cBhvr>
                                        <p:cTn id="15" dur="1000" fill="hold"/>
                                        <p:tgtEl>
                                          <p:spTgt spid="30"/>
                                        </p:tgtEl>
                                        <p:attrNameLst>
                                          <p:attrName>ppt_x</p:attrName>
                                        </p:attrNameLst>
                                      </p:cBhvr>
                                      <p:tavLst>
                                        <p:tav tm="0">
                                          <p:val>
                                            <p:strVal val="#ppt_x"/>
                                          </p:val>
                                        </p:tav>
                                        <p:tav tm="100000">
                                          <p:val>
                                            <p:strVal val="#ppt_x"/>
                                          </p:val>
                                        </p:tav>
                                      </p:tavLst>
                                    </p:anim>
                                    <p:anim calcmode="lin" valueType="num">
                                      <p:cBhvr>
                                        <p:cTn id="1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用Ｐ，Ｖ原语操作实现同步</a:t>
            </a:r>
          </a:p>
        </p:txBody>
      </p:sp>
      <p:sp>
        <p:nvSpPr>
          <p:cNvPr id="2" name="矩形 1"/>
          <p:cNvSpPr/>
          <p:nvPr/>
        </p:nvSpPr>
        <p:spPr>
          <a:xfrm>
            <a:off x="755576" y="2859782"/>
            <a:ext cx="6941291"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思考：</a:t>
            </a:r>
            <a:r>
              <a:rPr lang="zh-CN" altLang="en-US" sz="2400" b="1" dirty="0">
                <a:solidFill>
                  <a:schemeClr val="bg1"/>
                </a:solidFill>
                <a:latin typeface="+mn-ea"/>
              </a:rPr>
              <a:t>Ｐ原语的操作次序能否改变</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pPr>
            <a:r>
              <a:rPr lang="zh-CN" altLang="en-US" sz="2400" b="1" dirty="0" smtClean="0">
                <a:solidFill>
                  <a:schemeClr val="bg1"/>
                </a:solidFill>
                <a:latin typeface="+mn-ea"/>
              </a:rPr>
              <a:t>        </a:t>
            </a:r>
            <a:r>
              <a:rPr lang="en-US" altLang="zh-CN" sz="2400" b="1" dirty="0" smtClean="0">
                <a:solidFill>
                  <a:schemeClr val="bg1"/>
                </a:solidFill>
                <a:latin typeface="+mn-ea"/>
              </a:rPr>
              <a:t>V </a:t>
            </a:r>
            <a:r>
              <a:rPr lang="zh-CN" altLang="en-US" sz="2400" b="1" dirty="0" smtClean="0">
                <a:solidFill>
                  <a:schemeClr val="bg1"/>
                </a:solidFill>
                <a:latin typeface="+mn-ea"/>
              </a:rPr>
              <a:t>原语</a:t>
            </a:r>
            <a:r>
              <a:rPr lang="zh-CN" altLang="en-US" sz="2400" b="1" dirty="0">
                <a:solidFill>
                  <a:schemeClr val="bg1"/>
                </a:solidFill>
                <a:latin typeface="+mn-ea"/>
              </a:rPr>
              <a:t>的操作次序能否改变？</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pic>
        <p:nvPicPr>
          <p:cNvPr id="29"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344876"/>
            <a:ext cx="5455431" cy="1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课堂</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小练习</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70468"/>
            <a:ext cx="6941291"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桌上</a:t>
            </a:r>
            <a:r>
              <a:rPr lang="zh-CN" altLang="en-US" sz="2400" b="1" dirty="0">
                <a:solidFill>
                  <a:schemeClr val="bg1"/>
                </a:solidFill>
                <a:latin typeface="+mn-ea"/>
              </a:rPr>
              <a:t>有一空盘，允许存放一只水果。爸爸可向盘中放苹果，也可向盘中放桔子，儿子专等吃盘中的桔子，女儿专等吃盘中的苹果。规定当盘空时一次只能放一只水果供吃者取用，请用</a:t>
            </a:r>
            <a:r>
              <a:rPr lang="en-US" altLang="zh-CN" sz="2400" b="1" dirty="0">
                <a:solidFill>
                  <a:schemeClr val="bg1"/>
                </a:solidFill>
                <a:latin typeface="+mn-ea"/>
              </a:rPr>
              <a:t>P</a:t>
            </a:r>
            <a:r>
              <a:rPr lang="zh-CN" altLang="en-US" sz="2400" b="1" dirty="0">
                <a:solidFill>
                  <a:schemeClr val="bg1"/>
                </a:solidFill>
                <a:latin typeface="+mn-ea"/>
              </a:rPr>
              <a:t>、</a:t>
            </a:r>
            <a:r>
              <a:rPr lang="en-US" altLang="zh-CN" sz="2400" b="1" dirty="0">
                <a:solidFill>
                  <a:schemeClr val="bg1"/>
                </a:solidFill>
                <a:latin typeface="+mn-ea"/>
              </a:rPr>
              <a:t>V</a:t>
            </a:r>
            <a:r>
              <a:rPr lang="zh-CN" altLang="en-US" sz="2400" b="1" dirty="0">
                <a:solidFill>
                  <a:schemeClr val="bg1"/>
                </a:solidFill>
                <a:latin typeface="+mn-ea"/>
              </a:rPr>
              <a:t>原语实现爸爸、儿子、女儿三个并发进程</a:t>
            </a:r>
            <a:r>
              <a:rPr lang="zh-CN" altLang="en-US" sz="2400" b="1" dirty="0" smtClean="0">
                <a:solidFill>
                  <a:schemeClr val="bg1"/>
                </a:solidFill>
                <a:latin typeface="+mn-ea"/>
              </a:rPr>
              <a:t>的并发控制</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课堂</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小练习</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44876"/>
            <a:ext cx="6941291" cy="2862322"/>
          </a:xfrm>
          <a:prstGeom prst="rect">
            <a:avLst/>
          </a:prstGeom>
        </p:spPr>
        <p:txBody>
          <a:bodyPr wrap="square">
            <a:spAutoFit/>
          </a:bodyPr>
          <a:lstStyle/>
          <a:p>
            <a:pPr marL="0" lvl="2"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解</a:t>
            </a:r>
            <a:r>
              <a:rPr lang="zh-CN" altLang="en-US" sz="2400" b="1" dirty="0">
                <a:solidFill>
                  <a:schemeClr val="bg1"/>
                </a:solidFill>
                <a:latin typeface="+mn-ea"/>
              </a:rPr>
              <a:t>：在本题中，应设置三个信号量</a:t>
            </a:r>
            <a:r>
              <a:rPr lang="en-US" altLang="zh-CN" sz="2400" b="1" dirty="0">
                <a:solidFill>
                  <a:schemeClr val="bg1"/>
                </a:solidFill>
                <a:latin typeface="+mn-ea"/>
              </a:rPr>
              <a:t>S</a:t>
            </a:r>
            <a:r>
              <a:rPr lang="zh-CN" altLang="en-US" sz="2400" b="1" dirty="0">
                <a:solidFill>
                  <a:schemeClr val="bg1"/>
                </a:solidFill>
                <a:latin typeface="+mn-ea"/>
              </a:rPr>
              <a:t>、</a:t>
            </a:r>
            <a:r>
              <a:rPr lang="en-US" altLang="zh-CN" sz="2400" b="1" dirty="0">
                <a:solidFill>
                  <a:schemeClr val="bg1"/>
                </a:solidFill>
                <a:latin typeface="+mn-ea"/>
              </a:rPr>
              <a:t>So</a:t>
            </a:r>
            <a:r>
              <a:rPr lang="zh-CN" altLang="en-US" sz="2400" b="1" dirty="0">
                <a:solidFill>
                  <a:schemeClr val="bg1"/>
                </a:solidFill>
                <a:latin typeface="+mn-ea"/>
              </a:rPr>
              <a:t>、</a:t>
            </a:r>
            <a:r>
              <a:rPr lang="en-US" altLang="zh-CN" sz="2400" b="1" dirty="0">
                <a:solidFill>
                  <a:schemeClr val="bg1"/>
                </a:solidFill>
                <a:latin typeface="+mn-ea"/>
              </a:rPr>
              <a:t>Sa</a:t>
            </a:r>
            <a:r>
              <a:rPr lang="zh-CN" altLang="en-US" sz="2400" b="1" dirty="0">
                <a:solidFill>
                  <a:schemeClr val="bg1"/>
                </a:solidFill>
                <a:latin typeface="+mn-ea"/>
              </a:rPr>
              <a:t>，信号量</a:t>
            </a:r>
            <a:r>
              <a:rPr lang="en-US" altLang="zh-CN" sz="2400" b="1" dirty="0">
                <a:solidFill>
                  <a:schemeClr val="bg1"/>
                </a:solidFill>
                <a:latin typeface="+mn-ea"/>
              </a:rPr>
              <a:t>S</a:t>
            </a:r>
            <a:r>
              <a:rPr lang="zh-CN" altLang="en-US" sz="2400" b="1" dirty="0">
                <a:solidFill>
                  <a:schemeClr val="bg1"/>
                </a:solidFill>
                <a:latin typeface="+mn-ea"/>
              </a:rPr>
              <a:t>表示盘子是否为空，其初值为</a:t>
            </a:r>
            <a:r>
              <a:rPr lang="en-US" altLang="zh-CN" sz="2400" b="1" dirty="0">
                <a:solidFill>
                  <a:schemeClr val="bg1"/>
                </a:solidFill>
                <a:latin typeface="+mn-ea"/>
              </a:rPr>
              <a:t>l</a:t>
            </a:r>
            <a:r>
              <a:rPr lang="zh-CN" altLang="en-US" sz="2400" b="1" dirty="0">
                <a:solidFill>
                  <a:schemeClr val="bg1"/>
                </a:solidFill>
                <a:latin typeface="+mn-ea"/>
              </a:rPr>
              <a:t>；信号量</a:t>
            </a:r>
            <a:r>
              <a:rPr lang="en-US" altLang="zh-CN" sz="2400" b="1" dirty="0">
                <a:solidFill>
                  <a:schemeClr val="bg1"/>
                </a:solidFill>
                <a:latin typeface="+mn-ea"/>
              </a:rPr>
              <a:t>So</a:t>
            </a:r>
            <a:r>
              <a:rPr lang="zh-CN" altLang="en-US" sz="2400" b="1" dirty="0">
                <a:solidFill>
                  <a:schemeClr val="bg1"/>
                </a:solidFill>
                <a:latin typeface="+mn-ea"/>
              </a:rPr>
              <a:t>表示盘中是否有桔子，其初值为</a:t>
            </a:r>
            <a:r>
              <a:rPr lang="en-US" altLang="zh-CN" sz="2400" b="1" dirty="0">
                <a:solidFill>
                  <a:schemeClr val="bg1"/>
                </a:solidFill>
                <a:latin typeface="+mn-ea"/>
              </a:rPr>
              <a:t>0</a:t>
            </a:r>
            <a:r>
              <a:rPr lang="zh-CN" altLang="en-US" sz="2400" b="1" dirty="0">
                <a:solidFill>
                  <a:schemeClr val="bg1"/>
                </a:solidFill>
                <a:latin typeface="+mn-ea"/>
              </a:rPr>
              <a:t>；信号量</a:t>
            </a:r>
            <a:r>
              <a:rPr lang="en-US" altLang="zh-CN" sz="2400" b="1" dirty="0">
                <a:solidFill>
                  <a:schemeClr val="bg1"/>
                </a:solidFill>
                <a:latin typeface="+mn-ea"/>
              </a:rPr>
              <a:t>Sa</a:t>
            </a:r>
            <a:r>
              <a:rPr lang="zh-CN" altLang="en-US" sz="2400" b="1" dirty="0">
                <a:solidFill>
                  <a:schemeClr val="bg1"/>
                </a:solidFill>
                <a:latin typeface="+mn-ea"/>
              </a:rPr>
              <a:t>表示盘中是否有苹果，其初值为</a:t>
            </a:r>
            <a:r>
              <a:rPr lang="en-US" altLang="zh-CN" sz="2400" b="1" dirty="0">
                <a:solidFill>
                  <a:schemeClr val="bg1"/>
                </a:solidFill>
                <a:latin typeface="+mn-ea"/>
              </a:rPr>
              <a:t>0</a:t>
            </a:r>
            <a:r>
              <a:rPr lang="zh-CN" altLang="en-US" sz="2400" b="1" dirty="0">
                <a:solidFill>
                  <a:schemeClr val="bg1"/>
                </a:solidFill>
                <a:latin typeface="+mn-ea"/>
              </a:rPr>
              <a:t>。同步描述如下：</a:t>
            </a:r>
            <a:br>
              <a:rPr lang="zh-CN" altLang="en-US" sz="2400" b="1" dirty="0">
                <a:solidFill>
                  <a:schemeClr val="bg1"/>
                </a:solidFill>
                <a:latin typeface="+mn-ea"/>
              </a:rPr>
            </a:br>
            <a:r>
              <a:rPr lang="zh-CN" altLang="en-US" sz="2400" b="1" dirty="0">
                <a:solidFill>
                  <a:schemeClr val="bg1"/>
                </a:solidFill>
                <a:latin typeface="+mn-ea"/>
              </a:rPr>
              <a:t>    </a:t>
            </a:r>
          </a:p>
        </p:txBody>
      </p:sp>
      <p:sp>
        <p:nvSpPr>
          <p:cNvPr id="31" name="矩形 30"/>
          <p:cNvSpPr/>
          <p:nvPr/>
        </p:nvSpPr>
        <p:spPr>
          <a:xfrm>
            <a:off x="405576" y="356163"/>
            <a:ext cx="3558822" cy="2604946"/>
          </a:xfrm>
          <a:prstGeom prst="rect">
            <a:avLst/>
          </a:prstGeom>
          <a:effectLst>
            <a:innerShdw blurRad="63500" dist="50800" dir="13500000">
              <a:prstClr val="black">
                <a:alpha val="50000"/>
              </a:prstClr>
            </a:innerShdw>
          </a:effectLst>
          <a:scene3d>
            <a:camera prst="orthographicFront"/>
            <a:lightRig rig="threePt" dir="t"/>
          </a:scene3d>
          <a:sp3d>
            <a:bevelT/>
          </a:sp3d>
        </p:spPr>
        <p:style>
          <a:lnRef idx="1">
            <a:schemeClr val="accent2"/>
          </a:lnRef>
          <a:fillRef idx="3">
            <a:schemeClr val="accent2"/>
          </a:fillRef>
          <a:effectRef idx="2">
            <a:schemeClr val="accent2"/>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father(fruit)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begin</a:t>
            </a:r>
            <a:r>
              <a:rPr lang="en-US" altLang="zh-CN" b="1" dirty="0">
                <a:latin typeface="Times New Roman" panose="02020603050405020304" pitchFamily="18" charset="0"/>
                <a:cs typeface="Times New Roman" panose="02020603050405020304" pitchFamily="18" charset="0"/>
              </a:rPr>
              <a:t>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P(S);</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将水果放入盘中</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if</a:t>
            </a:r>
            <a:r>
              <a:rPr lang="zh-CN" altLang="en-US" b="1" dirty="0">
                <a:latin typeface="Times New Roman" panose="02020603050405020304" pitchFamily="18" charset="0"/>
                <a:cs typeface="Times New Roman" panose="02020603050405020304" pitchFamily="18" charset="0"/>
              </a:rPr>
              <a:t>（放入的是桔子）</a:t>
            </a:r>
            <a:r>
              <a:rPr lang="en-US" altLang="zh-CN" b="1" dirty="0">
                <a:latin typeface="Times New Roman" panose="02020603050405020304" pitchFamily="18" charset="0"/>
                <a:cs typeface="Times New Roman" panose="02020603050405020304" pitchFamily="18" charset="0"/>
              </a:rPr>
              <a:t>V(So);</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else  V(Sa);</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end</a:t>
            </a:r>
            <a:endParaRPr lang="zh-CN" altLang="en-US" b="1" dirty="0">
              <a:latin typeface="Times New Roman" panose="02020603050405020304" pitchFamily="18" charset="0"/>
              <a:cs typeface="Times New Roman" panose="02020603050405020304" pitchFamily="18" charset="0"/>
            </a:endParaRPr>
          </a:p>
        </p:txBody>
      </p:sp>
      <p:sp>
        <p:nvSpPr>
          <p:cNvPr id="29" name="矩形 28"/>
          <p:cNvSpPr/>
          <p:nvPr/>
        </p:nvSpPr>
        <p:spPr>
          <a:xfrm>
            <a:off x="2298722" y="2311017"/>
            <a:ext cx="3558822" cy="2604946"/>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son(data)</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begin</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P(So);</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从盘中取出桔子</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V(S);</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吃桔子</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
            </a:r>
            <a:br>
              <a:rPr lang="zh-CN" altLang="en-US" b="1" dirty="0">
                <a:latin typeface="Times New Roman" panose="02020603050405020304" pitchFamily="18" charset="0"/>
                <a:cs typeface="Times New Roman" panose="02020603050405020304" pitchFamily="18" charset="0"/>
              </a:rPr>
            </a:b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end</a:t>
            </a:r>
            <a:br>
              <a:rPr lang="en-US" altLang="zh-CN" b="1" dirty="0">
                <a:latin typeface="Times New Roman" panose="02020603050405020304" pitchFamily="18" charset="0"/>
                <a:cs typeface="Times New Roman" panose="02020603050405020304" pitchFamily="18" charset="0"/>
              </a:rPr>
            </a:br>
            <a:endParaRPr lang="en-US" altLang="zh-CN" b="1" dirty="0">
              <a:latin typeface="Times New Roman" panose="02020603050405020304" pitchFamily="18" charset="0"/>
              <a:cs typeface="Times New Roman" panose="02020603050405020304" pitchFamily="18" charset="0"/>
            </a:endParaRPr>
          </a:p>
        </p:txBody>
      </p:sp>
      <p:sp>
        <p:nvSpPr>
          <p:cNvPr id="30" name="矩形 29"/>
          <p:cNvSpPr/>
          <p:nvPr/>
        </p:nvSpPr>
        <p:spPr>
          <a:xfrm>
            <a:off x="5592117" y="142858"/>
            <a:ext cx="3382396" cy="2376264"/>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10000"/>
              </a:spcBef>
            </a:pPr>
            <a:r>
              <a:rPr lang="en-US" altLang="zh-CN" b="1" dirty="0">
                <a:latin typeface="Times New Roman" panose="02020603050405020304" pitchFamily="18" charset="0"/>
                <a:cs typeface="Times New Roman" panose="02020603050405020304" pitchFamily="18" charset="0"/>
              </a:rPr>
              <a:t>daughter(data)</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begin</a:t>
            </a:r>
            <a:r>
              <a:rPr lang="en-US" altLang="zh-CN" b="1" dirty="0">
                <a:latin typeface="Times New Roman" panose="02020603050405020304" pitchFamily="18" charset="0"/>
                <a:cs typeface="Times New Roman" panose="02020603050405020304" pitchFamily="18" charset="0"/>
              </a:rPr>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P(Sa);</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从盘中取出苹果</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V(S);</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吃苹果</a:t>
            </a:r>
            <a:r>
              <a:rPr lang="en-US" altLang="zh-CN" b="1" dirty="0">
                <a:latin typeface="Times New Roman" panose="02020603050405020304" pitchFamily="18" charset="0"/>
                <a:cs typeface="Times New Roman" panose="02020603050405020304" pitchFamily="18" charset="0"/>
              </a:rPr>
              <a:t>;</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end</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1000"/>
                                        <p:tgtEl>
                                          <p:spTgt spid="30"/>
                                        </p:tgtEl>
                                      </p:cBhvr>
                                    </p:animEffect>
                                    <p:anim calcmode="lin" valueType="num">
                                      <p:cBhvr>
                                        <p:cTn id="27" dur="1000" fill="hold"/>
                                        <p:tgtEl>
                                          <p:spTgt spid="30"/>
                                        </p:tgtEl>
                                        <p:attrNameLst>
                                          <p:attrName>ppt_x</p:attrName>
                                        </p:attrNameLst>
                                      </p:cBhvr>
                                      <p:tavLst>
                                        <p:tav tm="0">
                                          <p:val>
                                            <p:strVal val="#ppt_x"/>
                                          </p:val>
                                        </p:tav>
                                        <p:tav tm="100000">
                                          <p:val>
                                            <p:strVal val="#ppt_x"/>
                                          </p:val>
                                        </p:tav>
                                      </p:tavLst>
                                    </p:anim>
                                    <p:anim calcmode="lin" valueType="num">
                                      <p:cBhvr>
                                        <p:cTn id="2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9" grpId="0" animBg="1"/>
      <p:bldP spid="30"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课堂小练习</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07554"/>
            <a:ext cx="6941291" cy="332975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四个进程</a:t>
            </a:r>
            <a:r>
              <a:rPr lang="en-US" altLang="zh-CN" sz="2400" b="1" dirty="0">
                <a:solidFill>
                  <a:schemeClr val="bg1"/>
                </a:solidFill>
                <a:latin typeface="+mn-ea"/>
              </a:rPr>
              <a:t>A</a:t>
            </a:r>
            <a:r>
              <a:rPr lang="zh-CN" altLang="en-US" sz="2400" b="1" dirty="0">
                <a:solidFill>
                  <a:schemeClr val="bg1"/>
                </a:solidFill>
                <a:latin typeface="+mn-ea"/>
              </a:rPr>
              <a:t>、</a:t>
            </a:r>
            <a:r>
              <a:rPr lang="en-US" altLang="zh-CN" sz="2400" b="1" dirty="0">
                <a:solidFill>
                  <a:schemeClr val="bg1"/>
                </a:solidFill>
                <a:latin typeface="+mn-ea"/>
              </a:rPr>
              <a:t>B</a:t>
            </a:r>
            <a:r>
              <a:rPr lang="zh-CN" altLang="en-US" sz="2400" b="1" dirty="0">
                <a:solidFill>
                  <a:schemeClr val="bg1"/>
                </a:solidFill>
                <a:latin typeface="+mn-ea"/>
              </a:rPr>
              <a:t>、</a:t>
            </a:r>
            <a:r>
              <a:rPr lang="en-US" altLang="zh-CN" sz="2400" b="1" dirty="0">
                <a:solidFill>
                  <a:schemeClr val="bg1"/>
                </a:solidFill>
                <a:latin typeface="+mn-ea"/>
              </a:rPr>
              <a:t>C</a:t>
            </a:r>
            <a:r>
              <a:rPr lang="zh-CN" altLang="en-US" sz="2400" b="1" dirty="0">
                <a:solidFill>
                  <a:schemeClr val="bg1"/>
                </a:solidFill>
                <a:latin typeface="+mn-ea"/>
              </a:rPr>
              <a:t>、</a:t>
            </a:r>
            <a:r>
              <a:rPr lang="en-US" altLang="zh-CN" sz="2400" b="1" dirty="0">
                <a:solidFill>
                  <a:schemeClr val="bg1"/>
                </a:solidFill>
                <a:latin typeface="+mn-ea"/>
              </a:rPr>
              <a:t>D</a:t>
            </a:r>
            <a:r>
              <a:rPr lang="zh-CN" altLang="en-US" sz="2400" b="1" dirty="0">
                <a:solidFill>
                  <a:schemeClr val="bg1"/>
                </a:solidFill>
                <a:latin typeface="+mn-ea"/>
              </a:rPr>
              <a:t>都要读一个共享文件</a:t>
            </a:r>
            <a:r>
              <a:rPr lang="en-US" altLang="zh-CN" sz="2400" b="1" dirty="0">
                <a:solidFill>
                  <a:schemeClr val="bg1"/>
                </a:solidFill>
                <a:latin typeface="+mn-ea"/>
              </a:rPr>
              <a:t>F</a:t>
            </a:r>
            <a:r>
              <a:rPr lang="zh-CN" altLang="en-US" sz="2400" b="1" dirty="0">
                <a:solidFill>
                  <a:schemeClr val="bg1"/>
                </a:solidFill>
                <a:latin typeface="+mn-ea"/>
              </a:rPr>
              <a:t>，系统允许多个进程同时读文件</a:t>
            </a:r>
            <a:r>
              <a:rPr lang="en-US" altLang="zh-CN" sz="2400" b="1" dirty="0">
                <a:solidFill>
                  <a:schemeClr val="bg1"/>
                </a:solidFill>
                <a:latin typeface="+mn-ea"/>
              </a:rPr>
              <a:t>F</a:t>
            </a:r>
            <a:r>
              <a:rPr lang="zh-CN" altLang="en-US" sz="2400" b="1" dirty="0">
                <a:solidFill>
                  <a:schemeClr val="bg1"/>
                </a:solidFill>
                <a:latin typeface="+mn-ea"/>
              </a:rPr>
              <a:t>。但限制是进程</a:t>
            </a:r>
            <a:r>
              <a:rPr lang="en-US" altLang="zh-CN" sz="2400" b="1" dirty="0">
                <a:solidFill>
                  <a:schemeClr val="bg1"/>
                </a:solidFill>
                <a:latin typeface="+mn-ea"/>
              </a:rPr>
              <a:t>A</a:t>
            </a:r>
            <a:r>
              <a:rPr lang="zh-CN" altLang="en-US" sz="2400" b="1" dirty="0">
                <a:solidFill>
                  <a:schemeClr val="bg1"/>
                </a:solidFill>
                <a:latin typeface="+mn-ea"/>
              </a:rPr>
              <a:t>和进程</a:t>
            </a:r>
            <a:r>
              <a:rPr lang="en-US" altLang="zh-CN" sz="2400" b="1" dirty="0">
                <a:solidFill>
                  <a:schemeClr val="bg1"/>
                </a:solidFill>
                <a:latin typeface="+mn-ea"/>
              </a:rPr>
              <a:t>C</a:t>
            </a:r>
            <a:r>
              <a:rPr lang="zh-CN" altLang="en-US" sz="2400" b="1" dirty="0">
                <a:solidFill>
                  <a:schemeClr val="bg1"/>
                </a:solidFill>
                <a:latin typeface="+mn-ea"/>
              </a:rPr>
              <a:t>不能同时读文件</a:t>
            </a:r>
            <a:r>
              <a:rPr lang="en-US" altLang="zh-CN" sz="2400" b="1" dirty="0">
                <a:solidFill>
                  <a:schemeClr val="bg1"/>
                </a:solidFill>
                <a:latin typeface="+mn-ea"/>
              </a:rPr>
              <a:t>F</a:t>
            </a:r>
            <a:r>
              <a:rPr lang="zh-CN" altLang="en-US" sz="2400" b="1" dirty="0">
                <a:solidFill>
                  <a:schemeClr val="bg1"/>
                </a:solidFill>
                <a:latin typeface="+mn-ea"/>
              </a:rPr>
              <a:t>，进程</a:t>
            </a:r>
            <a:r>
              <a:rPr lang="en-US" altLang="zh-CN" sz="2400" b="1" dirty="0">
                <a:solidFill>
                  <a:schemeClr val="bg1"/>
                </a:solidFill>
                <a:latin typeface="+mn-ea"/>
              </a:rPr>
              <a:t>B</a:t>
            </a:r>
            <a:r>
              <a:rPr lang="zh-CN" altLang="en-US" sz="2400" b="1" dirty="0">
                <a:solidFill>
                  <a:schemeClr val="bg1"/>
                </a:solidFill>
                <a:latin typeface="+mn-ea"/>
              </a:rPr>
              <a:t>和进程</a:t>
            </a:r>
            <a:r>
              <a:rPr lang="en-US" altLang="zh-CN" sz="2400" b="1" dirty="0">
                <a:solidFill>
                  <a:schemeClr val="bg1"/>
                </a:solidFill>
                <a:latin typeface="+mn-ea"/>
              </a:rPr>
              <a:t>D</a:t>
            </a:r>
            <a:r>
              <a:rPr lang="zh-CN" altLang="en-US" sz="2400" b="1" dirty="0">
                <a:solidFill>
                  <a:schemeClr val="bg1"/>
                </a:solidFill>
                <a:latin typeface="+mn-ea"/>
              </a:rPr>
              <a:t>也不能同时读文件</a:t>
            </a:r>
            <a:r>
              <a:rPr lang="en-US" altLang="zh-CN" sz="2400" b="1" dirty="0">
                <a:solidFill>
                  <a:schemeClr val="bg1"/>
                </a:solidFill>
                <a:latin typeface="+mn-ea"/>
              </a:rPr>
              <a:t>F</a:t>
            </a:r>
            <a:r>
              <a:rPr lang="zh-CN" altLang="en-US" sz="2400" b="1" dirty="0">
                <a:solidFill>
                  <a:schemeClr val="bg1"/>
                </a:solidFill>
                <a:latin typeface="+mn-ea"/>
              </a:rPr>
              <a:t>。为了使这四个进程并发执行时能按系统要求使用文件，现用</a:t>
            </a:r>
            <a:r>
              <a:rPr lang="en-US" altLang="zh-CN" sz="2400" b="1" dirty="0">
                <a:solidFill>
                  <a:schemeClr val="bg1"/>
                </a:solidFill>
                <a:latin typeface="+mn-ea"/>
              </a:rPr>
              <a:t>PV</a:t>
            </a:r>
            <a:r>
              <a:rPr lang="zh-CN" altLang="en-US" sz="2400" b="1" dirty="0">
                <a:solidFill>
                  <a:schemeClr val="bg1"/>
                </a:solidFill>
                <a:latin typeface="+mn-ea"/>
              </a:rPr>
              <a:t>操作进行管理，请回答下面的问题</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课堂</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小练习</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041461"/>
            <a:ext cx="6941291" cy="3416320"/>
          </a:xfrm>
          <a:prstGeom prst="rect">
            <a:avLst/>
          </a:prstGeom>
        </p:spPr>
        <p:txBody>
          <a:bodyPr wrap="square">
            <a:spAutoFit/>
          </a:bodyPr>
          <a:lstStyle/>
          <a:p>
            <a:pPr marL="0" lvl="1" algn="just">
              <a:lnSpc>
                <a:spcPct val="120000"/>
              </a:lnSpc>
              <a:buClr>
                <a:schemeClr val="accent6">
                  <a:lumMod val="60000"/>
                  <a:lumOff val="40000"/>
                </a:schemeClr>
              </a:buClr>
            </a:pPr>
            <a:r>
              <a:rPr lang="zh-CN" altLang="en-US" sz="2000" b="1" dirty="0" smtClean="0">
                <a:solidFill>
                  <a:schemeClr val="bg1"/>
                </a:solidFill>
                <a:latin typeface="+mn-ea"/>
              </a:rPr>
              <a:t>（</a:t>
            </a:r>
            <a:r>
              <a:rPr lang="en-US" altLang="zh-CN" sz="2000" b="1" dirty="0">
                <a:solidFill>
                  <a:schemeClr val="bg1"/>
                </a:solidFill>
                <a:latin typeface="+mn-ea"/>
              </a:rPr>
              <a:t>1</a:t>
            </a:r>
            <a:r>
              <a:rPr lang="zh-CN" altLang="en-US" sz="2000" b="1" dirty="0">
                <a:solidFill>
                  <a:schemeClr val="bg1"/>
                </a:solidFill>
                <a:latin typeface="+mn-ea"/>
              </a:rPr>
              <a:t>）应定义的信号量及</a:t>
            </a:r>
            <a:r>
              <a:rPr lang="zh-CN" altLang="en-US" sz="2000" b="1" dirty="0" smtClean="0">
                <a:solidFill>
                  <a:schemeClr val="bg1"/>
                </a:solidFill>
                <a:latin typeface="+mn-ea"/>
              </a:rPr>
              <a:t>初值？</a:t>
            </a:r>
            <a:endParaRPr lang="en-US" altLang="zh-CN" sz="2000" b="1" dirty="0" smtClean="0">
              <a:solidFill>
                <a:schemeClr val="bg1"/>
              </a:solidFill>
              <a:latin typeface="+mn-ea"/>
            </a:endParaRPr>
          </a:p>
          <a:p>
            <a:pPr marL="0" lvl="1" algn="just">
              <a:lnSpc>
                <a:spcPct val="120000"/>
              </a:lnSpc>
              <a:buClr>
                <a:schemeClr val="accent6">
                  <a:lumMod val="60000"/>
                  <a:lumOff val="40000"/>
                </a:schemeClr>
              </a:buClr>
            </a:pPr>
            <a:r>
              <a:rPr lang="zh-CN" altLang="en-US" sz="2000" b="1" dirty="0" smtClean="0">
                <a:solidFill>
                  <a:schemeClr val="bg1"/>
                </a:solidFill>
                <a:latin typeface="+mn-ea"/>
              </a:rPr>
              <a:t>（</a:t>
            </a:r>
            <a:r>
              <a:rPr lang="en-US" altLang="zh-CN" sz="2000" b="1" dirty="0">
                <a:solidFill>
                  <a:schemeClr val="bg1"/>
                </a:solidFill>
                <a:latin typeface="+mn-ea"/>
              </a:rPr>
              <a:t>2</a:t>
            </a:r>
            <a:r>
              <a:rPr lang="zh-CN" altLang="en-US" sz="2000" b="1" dirty="0">
                <a:solidFill>
                  <a:schemeClr val="bg1"/>
                </a:solidFill>
                <a:latin typeface="+mn-ea"/>
              </a:rPr>
              <a:t>）在下列的程序中填上适当的</a:t>
            </a:r>
            <a:r>
              <a:rPr lang="en-US" altLang="zh-CN" sz="2000" b="1" dirty="0">
                <a:solidFill>
                  <a:schemeClr val="bg1"/>
                </a:solidFill>
                <a:latin typeface="+mn-ea"/>
              </a:rPr>
              <a:t>P</a:t>
            </a:r>
            <a:r>
              <a:rPr lang="zh-CN" altLang="en-US" sz="2000" b="1" dirty="0">
                <a:solidFill>
                  <a:schemeClr val="bg1"/>
                </a:solidFill>
                <a:latin typeface="+mn-ea"/>
              </a:rPr>
              <a:t>、</a:t>
            </a:r>
            <a:r>
              <a:rPr lang="en-US" altLang="zh-CN" sz="2000" b="1" dirty="0">
                <a:solidFill>
                  <a:schemeClr val="bg1"/>
                </a:solidFill>
                <a:latin typeface="+mn-ea"/>
              </a:rPr>
              <a:t>V</a:t>
            </a:r>
            <a:r>
              <a:rPr lang="zh-CN" altLang="en-US" sz="2000" b="1" dirty="0">
                <a:solidFill>
                  <a:schemeClr val="bg1"/>
                </a:solidFill>
                <a:latin typeface="+mn-ea"/>
              </a:rPr>
              <a:t>操作，以保证它们能正确并发工作</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20000"/>
              </a:lnSpc>
              <a:buClr>
                <a:schemeClr val="accent6">
                  <a:lumMod val="60000"/>
                  <a:lumOff val="40000"/>
                </a:schemeClr>
              </a:buClr>
            </a:pPr>
            <a:r>
              <a:rPr lang="en-US" altLang="zh-CN" sz="2000" b="1" dirty="0" smtClean="0">
                <a:solidFill>
                  <a:schemeClr val="bg1"/>
                </a:solidFill>
                <a:latin typeface="+mn-ea"/>
              </a:rPr>
              <a:t>     A</a:t>
            </a:r>
            <a:r>
              <a:rPr lang="en-US" altLang="zh-CN" sz="2000" b="1" dirty="0">
                <a:solidFill>
                  <a:schemeClr val="bg1"/>
                </a:solidFill>
                <a:latin typeface="+mn-ea"/>
              </a:rPr>
              <a:t>()         B()          </a:t>
            </a:r>
            <a:r>
              <a:rPr lang="en-US" altLang="zh-CN" sz="2000" b="1" dirty="0" smtClean="0">
                <a:solidFill>
                  <a:schemeClr val="bg1"/>
                </a:solidFill>
                <a:latin typeface="+mn-ea"/>
              </a:rPr>
              <a:t>C</a:t>
            </a:r>
            <a:r>
              <a:rPr lang="en-US" altLang="zh-CN" sz="2000" b="1" dirty="0">
                <a:solidFill>
                  <a:schemeClr val="bg1"/>
                </a:solidFill>
                <a:latin typeface="+mn-ea"/>
              </a:rPr>
              <a:t>()           </a:t>
            </a:r>
            <a:r>
              <a:rPr lang="en-US" altLang="zh-CN" sz="2000" b="1" dirty="0" smtClean="0">
                <a:solidFill>
                  <a:schemeClr val="bg1"/>
                </a:solidFill>
                <a:latin typeface="+mn-ea"/>
              </a:rPr>
              <a:t>D()</a:t>
            </a:r>
          </a:p>
          <a:p>
            <a:pPr marL="0" lvl="1" algn="just">
              <a:lnSpc>
                <a:spcPct val="120000"/>
              </a:lnSpc>
              <a:buClr>
                <a:schemeClr val="accent6">
                  <a:lumMod val="60000"/>
                  <a:lumOff val="40000"/>
                </a:schemeClr>
              </a:buClr>
            </a:pPr>
            <a:r>
              <a:rPr lang="en-US" altLang="zh-CN" sz="2000" b="1" dirty="0">
                <a:solidFill>
                  <a:schemeClr val="bg1"/>
                </a:solidFill>
                <a:latin typeface="+mn-ea"/>
              </a:rPr>
              <a:t> </a:t>
            </a:r>
            <a:r>
              <a:rPr lang="en-US" altLang="zh-CN" sz="2000" b="1" dirty="0" smtClean="0">
                <a:solidFill>
                  <a:schemeClr val="bg1"/>
                </a:solidFill>
                <a:latin typeface="+mn-ea"/>
              </a:rPr>
              <a:t>    {</a:t>
            </a:r>
            <a:r>
              <a:rPr lang="en-US" altLang="zh-CN" sz="2000" b="1" dirty="0">
                <a:solidFill>
                  <a:schemeClr val="bg1"/>
                </a:solidFill>
                <a:latin typeface="+mn-ea"/>
              </a:rPr>
              <a:t>    </a:t>
            </a:r>
            <a:r>
              <a:rPr lang="en-US" altLang="zh-CN" sz="2000" b="1" dirty="0" smtClean="0">
                <a:solidFill>
                  <a:schemeClr val="bg1"/>
                </a:solidFill>
                <a:latin typeface="+mn-ea"/>
              </a:rPr>
              <a:t>        {</a:t>
            </a:r>
            <a:r>
              <a:rPr lang="en-US" altLang="zh-CN" sz="2000" b="1" dirty="0">
                <a:solidFill>
                  <a:schemeClr val="bg1"/>
                </a:solidFill>
                <a:latin typeface="+mn-ea"/>
              </a:rPr>
              <a:t>     </a:t>
            </a:r>
            <a:r>
              <a:rPr lang="en-US" altLang="zh-CN" sz="2000" b="1" dirty="0" smtClean="0">
                <a:solidFill>
                  <a:schemeClr val="bg1"/>
                </a:solidFill>
                <a:latin typeface="+mn-ea"/>
              </a:rPr>
              <a:t>      {</a:t>
            </a:r>
            <a:r>
              <a:rPr lang="en-US" altLang="zh-CN" sz="2000" b="1" dirty="0">
                <a:solidFill>
                  <a:schemeClr val="bg1"/>
                </a:solidFill>
                <a:latin typeface="+mn-ea"/>
              </a:rPr>
              <a:t> </a:t>
            </a:r>
            <a:r>
              <a:rPr lang="en-US" altLang="zh-CN" sz="2000" b="1" dirty="0" smtClean="0">
                <a:solidFill>
                  <a:schemeClr val="bg1"/>
                </a:solidFill>
                <a:latin typeface="+mn-ea"/>
              </a:rPr>
              <a:t>            {</a:t>
            </a:r>
          </a:p>
          <a:p>
            <a:pPr marL="0" lvl="1" algn="just">
              <a:lnSpc>
                <a:spcPct val="120000"/>
              </a:lnSpc>
              <a:buClr>
                <a:schemeClr val="accent6">
                  <a:lumMod val="60000"/>
                  <a:lumOff val="40000"/>
                </a:schemeClr>
              </a:buClr>
            </a:pPr>
            <a:r>
              <a:rPr lang="en-US" altLang="zh-CN" sz="2000" b="1" dirty="0" smtClean="0">
                <a:solidFill>
                  <a:schemeClr val="bg1"/>
                </a:solidFill>
                <a:latin typeface="+mn-ea"/>
              </a:rPr>
              <a:t>       [</a:t>
            </a:r>
            <a:r>
              <a:rPr lang="en-US" altLang="zh-CN" sz="2000" b="1" dirty="0">
                <a:solidFill>
                  <a:schemeClr val="bg1"/>
                </a:solidFill>
                <a:latin typeface="+mn-ea"/>
              </a:rPr>
              <a:t>1];        [3];       </a:t>
            </a:r>
            <a:r>
              <a:rPr lang="en-US" altLang="zh-CN" sz="2000" b="1" dirty="0" smtClean="0">
                <a:solidFill>
                  <a:schemeClr val="bg1"/>
                </a:solidFill>
                <a:latin typeface="+mn-ea"/>
              </a:rPr>
              <a:t> [</a:t>
            </a:r>
            <a:r>
              <a:rPr lang="en-US" altLang="zh-CN" sz="2000" b="1" dirty="0">
                <a:solidFill>
                  <a:schemeClr val="bg1"/>
                </a:solidFill>
                <a:latin typeface="+mn-ea"/>
              </a:rPr>
              <a:t>5];     </a:t>
            </a:r>
            <a:r>
              <a:rPr lang="en-US" altLang="zh-CN" sz="2000" b="1" dirty="0" smtClean="0">
                <a:solidFill>
                  <a:schemeClr val="bg1"/>
                </a:solidFill>
                <a:latin typeface="+mn-ea"/>
              </a:rPr>
              <a:t>     [</a:t>
            </a:r>
            <a:r>
              <a:rPr lang="en-US" altLang="zh-CN" sz="2000" b="1" dirty="0">
                <a:solidFill>
                  <a:schemeClr val="bg1"/>
                </a:solidFill>
                <a:latin typeface="+mn-ea"/>
              </a:rPr>
              <a:t>7</a:t>
            </a:r>
            <a:r>
              <a:rPr lang="en-US" altLang="zh-CN" sz="2000" b="1" dirty="0" smtClean="0">
                <a:solidFill>
                  <a:schemeClr val="bg1"/>
                </a:solidFill>
                <a:latin typeface="+mn-ea"/>
              </a:rPr>
              <a:t>];</a:t>
            </a:r>
          </a:p>
          <a:p>
            <a:pPr marL="0" lvl="1" algn="just">
              <a:lnSpc>
                <a:spcPct val="120000"/>
              </a:lnSpc>
              <a:buClr>
                <a:schemeClr val="accent6">
                  <a:lumMod val="60000"/>
                  <a:lumOff val="40000"/>
                </a:schemeClr>
              </a:buClr>
            </a:pPr>
            <a:r>
              <a:rPr lang="en-US" altLang="zh-CN" sz="2000" b="1" dirty="0" smtClean="0">
                <a:solidFill>
                  <a:schemeClr val="bg1"/>
                </a:solidFill>
                <a:latin typeface="+mn-ea"/>
              </a:rPr>
              <a:t>       read </a:t>
            </a:r>
            <a:r>
              <a:rPr lang="en-US" altLang="zh-CN" sz="2000" b="1" dirty="0">
                <a:solidFill>
                  <a:schemeClr val="bg1"/>
                </a:solidFill>
                <a:latin typeface="+mn-ea"/>
              </a:rPr>
              <a:t>F;     </a:t>
            </a:r>
            <a:r>
              <a:rPr lang="en-US" altLang="zh-CN" sz="2000" b="1" dirty="0" smtClean="0">
                <a:solidFill>
                  <a:schemeClr val="bg1"/>
                </a:solidFill>
                <a:latin typeface="+mn-ea"/>
              </a:rPr>
              <a:t>read </a:t>
            </a:r>
            <a:r>
              <a:rPr lang="en-US" altLang="zh-CN" sz="2000" b="1" dirty="0">
                <a:solidFill>
                  <a:schemeClr val="bg1"/>
                </a:solidFill>
                <a:latin typeface="+mn-ea"/>
              </a:rPr>
              <a:t>F;  </a:t>
            </a:r>
            <a:r>
              <a:rPr lang="en-US" altLang="zh-CN" sz="2000" b="1" dirty="0" smtClean="0">
                <a:solidFill>
                  <a:schemeClr val="bg1"/>
                </a:solidFill>
                <a:latin typeface="+mn-ea"/>
              </a:rPr>
              <a:t>   read </a:t>
            </a:r>
            <a:r>
              <a:rPr lang="en-US" altLang="zh-CN" sz="2000" b="1" dirty="0">
                <a:solidFill>
                  <a:schemeClr val="bg1"/>
                </a:solidFill>
                <a:latin typeface="+mn-ea"/>
              </a:rPr>
              <a:t>F;      </a:t>
            </a:r>
            <a:r>
              <a:rPr lang="en-US" altLang="zh-CN" sz="2000" b="1" dirty="0" smtClean="0">
                <a:solidFill>
                  <a:schemeClr val="bg1"/>
                </a:solidFill>
                <a:latin typeface="+mn-ea"/>
              </a:rPr>
              <a:t> read </a:t>
            </a:r>
            <a:r>
              <a:rPr lang="en-US" altLang="zh-CN" sz="2000" b="1" dirty="0">
                <a:solidFill>
                  <a:schemeClr val="bg1"/>
                </a:solidFill>
                <a:latin typeface="+mn-ea"/>
              </a:rPr>
              <a:t>F</a:t>
            </a:r>
            <a:r>
              <a:rPr lang="en-US" altLang="zh-CN" sz="2000" b="1" dirty="0" smtClean="0">
                <a:solidFill>
                  <a:schemeClr val="bg1"/>
                </a:solidFill>
                <a:latin typeface="+mn-ea"/>
              </a:rPr>
              <a:t>;</a:t>
            </a:r>
          </a:p>
          <a:p>
            <a:pPr marL="0" lvl="1" algn="just">
              <a:lnSpc>
                <a:spcPct val="120000"/>
              </a:lnSpc>
              <a:buClr>
                <a:schemeClr val="accent6">
                  <a:lumMod val="60000"/>
                  <a:lumOff val="40000"/>
                </a:schemeClr>
              </a:buClr>
            </a:pPr>
            <a:r>
              <a:rPr lang="en-US" altLang="zh-CN" sz="2000" b="1" dirty="0" smtClean="0">
                <a:solidFill>
                  <a:schemeClr val="bg1"/>
                </a:solidFill>
                <a:latin typeface="+mn-ea"/>
              </a:rPr>
              <a:t>       [</a:t>
            </a:r>
            <a:r>
              <a:rPr lang="en-US" altLang="zh-CN" sz="2000" b="1" dirty="0">
                <a:solidFill>
                  <a:schemeClr val="bg1"/>
                </a:solidFill>
                <a:latin typeface="+mn-ea"/>
              </a:rPr>
              <a:t>2];       </a:t>
            </a:r>
            <a:r>
              <a:rPr lang="en-US" altLang="zh-CN" sz="2000" b="1" dirty="0" smtClean="0">
                <a:solidFill>
                  <a:schemeClr val="bg1"/>
                </a:solidFill>
                <a:latin typeface="+mn-ea"/>
              </a:rPr>
              <a:t> [</a:t>
            </a:r>
            <a:r>
              <a:rPr lang="en-US" altLang="zh-CN" sz="2000" b="1" dirty="0">
                <a:solidFill>
                  <a:schemeClr val="bg1"/>
                </a:solidFill>
                <a:latin typeface="+mn-ea"/>
              </a:rPr>
              <a:t>4];      </a:t>
            </a:r>
            <a:r>
              <a:rPr lang="en-US" altLang="zh-CN" sz="2000" b="1" dirty="0" smtClean="0">
                <a:solidFill>
                  <a:schemeClr val="bg1"/>
                </a:solidFill>
                <a:latin typeface="+mn-ea"/>
              </a:rPr>
              <a:t>  [</a:t>
            </a:r>
            <a:r>
              <a:rPr lang="en-US" altLang="zh-CN" sz="2000" b="1" dirty="0">
                <a:solidFill>
                  <a:schemeClr val="bg1"/>
                </a:solidFill>
                <a:latin typeface="+mn-ea"/>
              </a:rPr>
              <a:t>6];   </a:t>
            </a:r>
            <a:r>
              <a:rPr lang="en-US" altLang="zh-CN" sz="2000" b="1" dirty="0" smtClean="0">
                <a:solidFill>
                  <a:schemeClr val="bg1"/>
                </a:solidFill>
                <a:latin typeface="+mn-ea"/>
              </a:rPr>
              <a:t>      </a:t>
            </a:r>
            <a:r>
              <a:rPr lang="en-US" altLang="zh-CN" sz="2000" b="1" dirty="0">
                <a:solidFill>
                  <a:schemeClr val="bg1"/>
                </a:solidFill>
                <a:latin typeface="+mn-ea"/>
              </a:rPr>
              <a:t> [8</a:t>
            </a:r>
            <a:r>
              <a:rPr lang="en-US" altLang="zh-CN" sz="2000" b="1" dirty="0" smtClean="0">
                <a:solidFill>
                  <a:schemeClr val="bg1"/>
                </a:solidFill>
                <a:latin typeface="+mn-ea"/>
              </a:rPr>
              <a:t>];</a:t>
            </a:r>
          </a:p>
          <a:p>
            <a:pPr marL="0" lvl="1" algn="just">
              <a:lnSpc>
                <a:spcPct val="120000"/>
              </a:lnSpc>
              <a:buClr>
                <a:schemeClr val="accent6">
                  <a:lumMod val="60000"/>
                  <a:lumOff val="40000"/>
                </a:schemeClr>
              </a:buClr>
            </a:pPr>
            <a:r>
              <a:rPr lang="en-US" altLang="zh-CN" sz="2000" b="1" dirty="0">
                <a:solidFill>
                  <a:schemeClr val="bg1"/>
                </a:solidFill>
                <a:latin typeface="+mn-ea"/>
              </a:rPr>
              <a:t> </a:t>
            </a:r>
            <a:r>
              <a:rPr lang="en-US" altLang="zh-CN" sz="2000" b="1" dirty="0" smtClean="0">
                <a:solidFill>
                  <a:schemeClr val="bg1"/>
                </a:solidFill>
                <a:latin typeface="+mn-ea"/>
              </a:rPr>
              <a:t>    </a:t>
            </a:r>
            <a:r>
              <a:rPr lang="en-US" altLang="zh-CN" sz="2000" b="1" dirty="0">
                <a:solidFill>
                  <a:schemeClr val="bg1"/>
                </a:solidFill>
                <a:latin typeface="+mn-ea"/>
              </a:rPr>
              <a:t> }      </a:t>
            </a:r>
            <a:r>
              <a:rPr lang="en-US" altLang="zh-CN" sz="2000" b="1" dirty="0" smtClean="0">
                <a:solidFill>
                  <a:schemeClr val="bg1"/>
                </a:solidFill>
                <a:latin typeface="+mn-ea"/>
              </a:rPr>
              <a:t>     </a:t>
            </a:r>
            <a:r>
              <a:rPr lang="en-US" altLang="zh-CN" sz="2000" b="1" dirty="0">
                <a:solidFill>
                  <a:schemeClr val="bg1"/>
                </a:solidFill>
                <a:latin typeface="+mn-ea"/>
              </a:rPr>
              <a:t> }       </a:t>
            </a:r>
            <a:r>
              <a:rPr lang="en-US" altLang="zh-CN" sz="2000" b="1" dirty="0" smtClean="0">
                <a:solidFill>
                  <a:schemeClr val="bg1"/>
                </a:solidFill>
                <a:latin typeface="+mn-ea"/>
              </a:rPr>
              <a:t>  </a:t>
            </a:r>
            <a:r>
              <a:rPr lang="en-US" altLang="zh-CN" sz="2000" b="1" dirty="0">
                <a:solidFill>
                  <a:schemeClr val="bg1"/>
                </a:solidFill>
                <a:latin typeface="+mn-ea"/>
              </a:rPr>
              <a:t>  }             </a:t>
            </a:r>
            <a:r>
              <a:rPr lang="en-US" altLang="zh-CN" sz="2000" b="1" dirty="0" smtClean="0">
                <a:solidFill>
                  <a:schemeClr val="bg1"/>
                </a:solidFill>
                <a:latin typeface="+mn-ea"/>
              </a:rPr>
              <a:t>}</a:t>
            </a:r>
            <a:r>
              <a:rPr lang="en-US" altLang="zh-CN" sz="2000" b="1" dirty="0">
                <a:solidFill>
                  <a:schemeClr val="bg1"/>
                </a:solidFill>
                <a:latin typeface="+mn-ea"/>
              </a:rPr>
              <a:t> </a:t>
            </a:r>
            <a:endParaRPr lang="en-US" altLang="zh-CN" sz="2000" b="1" dirty="0" smtClean="0">
              <a:solidFill>
                <a:schemeClr val="bg1"/>
              </a:solidFill>
              <a:latin typeface="+mn-ea"/>
            </a:endParaRPr>
          </a:p>
        </p:txBody>
      </p:sp>
      <p:sp>
        <p:nvSpPr>
          <p:cNvPr id="3" name="矩形标注 2"/>
          <p:cNvSpPr/>
          <p:nvPr/>
        </p:nvSpPr>
        <p:spPr>
          <a:xfrm>
            <a:off x="4775835" y="135255"/>
            <a:ext cx="4345940" cy="1174115"/>
          </a:xfrm>
          <a:prstGeom prst="wedgeRectCallout">
            <a:avLst>
              <a:gd name="adj1" fmla="val -67226"/>
              <a:gd name="adj2" fmla="val 42063"/>
            </a:avLst>
          </a:prstGeom>
        </p:spPr>
        <p:style>
          <a:lnRef idx="1">
            <a:schemeClr val="accent3"/>
          </a:lnRef>
          <a:fillRef idx="2">
            <a:schemeClr val="accent3"/>
          </a:fillRef>
          <a:effectRef idx="1">
            <a:schemeClr val="accent3"/>
          </a:effectRef>
          <a:fontRef idx="minor">
            <a:schemeClr val="dk1"/>
          </a:fontRef>
        </p:style>
        <p:txBody>
          <a:bodyPr rtlCol="0" anchor="ctr"/>
          <a:lstStyle/>
          <a:p>
            <a:pPr marL="0" lvl="1" indent="0" algn="just" fontAlgn="auto">
              <a:lnSpc>
                <a:spcPct val="100000"/>
              </a:lnSpc>
              <a:buClr>
                <a:schemeClr val="accent6">
                  <a:lumMod val="60000"/>
                  <a:lumOff val="40000"/>
                </a:schemeClr>
              </a:buClr>
              <a:buFont typeface="Wingdings" panose="05000000000000000000" pitchFamily="2" charset="2"/>
              <a:buChar char="Ø"/>
            </a:pPr>
            <a:r>
              <a:rPr lang="zh-CN" altLang="en-US" b="1" dirty="0" smtClean="0">
                <a:solidFill>
                  <a:schemeClr val="tx1"/>
                </a:solidFill>
                <a:latin typeface="+mn-ea"/>
                <a:sym typeface="+mn-ea"/>
              </a:rPr>
              <a:t>本题只需要互斥：</a:t>
            </a:r>
            <a:endParaRPr lang="en-US" altLang="zh-CN" b="1" dirty="0" smtClean="0">
              <a:solidFill>
                <a:schemeClr val="tx1"/>
              </a:solidFill>
              <a:latin typeface="+mn-ea"/>
            </a:endParaRPr>
          </a:p>
          <a:p>
            <a:pPr marL="0" lvl="1" indent="0" algn="just" fontAlgn="auto">
              <a:lnSpc>
                <a:spcPct val="100000"/>
              </a:lnSpc>
              <a:buClr>
                <a:schemeClr val="accent6">
                  <a:lumMod val="60000"/>
                  <a:lumOff val="40000"/>
                </a:schemeClr>
              </a:buClr>
            </a:pPr>
            <a:r>
              <a:rPr lang="zh-CN" altLang="en-US" b="1" dirty="0">
                <a:solidFill>
                  <a:schemeClr val="tx1"/>
                </a:solidFill>
                <a:latin typeface="+mn-ea"/>
                <a:sym typeface="+mn-ea"/>
              </a:rPr>
              <a:t>  定义二个信号量</a:t>
            </a:r>
            <a:r>
              <a:rPr lang="en-US" altLang="zh-CN" b="1" dirty="0">
                <a:solidFill>
                  <a:schemeClr val="tx1"/>
                </a:solidFill>
                <a:latin typeface="+mn-ea"/>
                <a:sym typeface="+mn-ea"/>
              </a:rPr>
              <a:t>S1</a:t>
            </a:r>
            <a:r>
              <a:rPr lang="zh-CN" altLang="en-US" b="1" dirty="0">
                <a:solidFill>
                  <a:schemeClr val="tx1"/>
                </a:solidFill>
                <a:latin typeface="+mn-ea"/>
                <a:sym typeface="+mn-ea"/>
              </a:rPr>
              <a:t>、</a:t>
            </a:r>
            <a:r>
              <a:rPr lang="en-US" altLang="zh-CN" b="1" dirty="0">
                <a:solidFill>
                  <a:schemeClr val="tx1"/>
                </a:solidFill>
                <a:latin typeface="+mn-ea"/>
                <a:sym typeface="+mn-ea"/>
              </a:rPr>
              <a:t>S2</a:t>
            </a:r>
            <a:r>
              <a:rPr lang="zh-CN" altLang="en-US" b="1" dirty="0">
                <a:solidFill>
                  <a:schemeClr val="tx1"/>
                </a:solidFill>
                <a:latin typeface="+mn-ea"/>
                <a:sym typeface="+mn-ea"/>
              </a:rPr>
              <a:t>，初值均为</a:t>
            </a:r>
            <a:r>
              <a:rPr lang="en-US" altLang="zh-CN" b="1" dirty="0">
                <a:solidFill>
                  <a:schemeClr val="tx1"/>
                </a:solidFill>
                <a:latin typeface="+mn-ea"/>
                <a:sym typeface="+mn-ea"/>
              </a:rPr>
              <a:t>1</a:t>
            </a:r>
            <a:r>
              <a:rPr lang="zh-CN" altLang="en-US" b="1" dirty="0">
                <a:solidFill>
                  <a:schemeClr val="tx1"/>
                </a:solidFill>
                <a:latin typeface="+mn-ea"/>
                <a:sym typeface="+mn-ea"/>
              </a:rPr>
              <a:t>，即：</a:t>
            </a:r>
            <a:r>
              <a:rPr lang="en-US" altLang="zh-CN" b="1" dirty="0">
                <a:solidFill>
                  <a:schemeClr val="tx1"/>
                </a:solidFill>
                <a:latin typeface="+mn-ea"/>
                <a:sym typeface="+mn-ea"/>
              </a:rPr>
              <a:t>S1=1</a:t>
            </a:r>
            <a:r>
              <a:rPr lang="zh-CN" altLang="en-US" b="1" dirty="0">
                <a:solidFill>
                  <a:schemeClr val="tx1"/>
                </a:solidFill>
                <a:latin typeface="+mn-ea"/>
                <a:sym typeface="+mn-ea"/>
              </a:rPr>
              <a:t>，</a:t>
            </a:r>
            <a:r>
              <a:rPr lang="en-US" altLang="zh-CN" b="1" dirty="0">
                <a:solidFill>
                  <a:schemeClr val="tx1"/>
                </a:solidFill>
                <a:latin typeface="+mn-ea"/>
                <a:sym typeface="+mn-ea"/>
              </a:rPr>
              <a:t>S2=1</a:t>
            </a:r>
            <a:r>
              <a:rPr lang="zh-CN" altLang="en-US" b="1" dirty="0">
                <a:solidFill>
                  <a:schemeClr val="tx1"/>
                </a:solidFill>
                <a:latin typeface="+mn-ea"/>
                <a:sym typeface="+mn-ea"/>
              </a:rPr>
              <a:t>。其中进程</a:t>
            </a:r>
            <a:r>
              <a:rPr lang="en-US" altLang="zh-CN" b="1" dirty="0">
                <a:solidFill>
                  <a:schemeClr val="tx1"/>
                </a:solidFill>
                <a:latin typeface="+mn-ea"/>
                <a:sym typeface="+mn-ea"/>
              </a:rPr>
              <a:t>A</a:t>
            </a:r>
            <a:r>
              <a:rPr lang="zh-CN" altLang="en-US" b="1" dirty="0">
                <a:solidFill>
                  <a:schemeClr val="tx1"/>
                </a:solidFill>
                <a:latin typeface="+mn-ea"/>
                <a:sym typeface="+mn-ea"/>
              </a:rPr>
              <a:t>和</a:t>
            </a:r>
            <a:r>
              <a:rPr lang="en-US" altLang="zh-CN" b="1" dirty="0">
                <a:solidFill>
                  <a:schemeClr val="tx1"/>
                </a:solidFill>
                <a:latin typeface="+mn-ea"/>
                <a:sym typeface="+mn-ea"/>
              </a:rPr>
              <a:t>C</a:t>
            </a:r>
            <a:r>
              <a:rPr lang="zh-CN" altLang="en-US" b="1" dirty="0">
                <a:solidFill>
                  <a:schemeClr val="tx1"/>
                </a:solidFill>
                <a:latin typeface="+mn-ea"/>
                <a:sym typeface="+mn-ea"/>
              </a:rPr>
              <a:t>使用信号量</a:t>
            </a:r>
            <a:r>
              <a:rPr lang="en-US" altLang="zh-CN" b="1" dirty="0">
                <a:solidFill>
                  <a:schemeClr val="tx1"/>
                </a:solidFill>
                <a:latin typeface="+mn-ea"/>
                <a:sym typeface="+mn-ea"/>
              </a:rPr>
              <a:t>S1</a:t>
            </a:r>
            <a:r>
              <a:rPr lang="zh-CN" altLang="en-US" b="1" dirty="0">
                <a:solidFill>
                  <a:schemeClr val="tx1"/>
                </a:solidFill>
                <a:latin typeface="+mn-ea"/>
                <a:sym typeface="+mn-ea"/>
              </a:rPr>
              <a:t>，进程</a:t>
            </a:r>
            <a:r>
              <a:rPr lang="en-US" altLang="zh-CN" b="1" dirty="0">
                <a:solidFill>
                  <a:schemeClr val="tx1"/>
                </a:solidFill>
                <a:latin typeface="+mn-ea"/>
                <a:sym typeface="+mn-ea"/>
              </a:rPr>
              <a:t>B</a:t>
            </a:r>
            <a:r>
              <a:rPr lang="zh-CN" altLang="en-US" b="1" dirty="0">
                <a:solidFill>
                  <a:schemeClr val="tx1"/>
                </a:solidFill>
                <a:latin typeface="+mn-ea"/>
                <a:sym typeface="+mn-ea"/>
              </a:rPr>
              <a:t>和</a:t>
            </a:r>
            <a:r>
              <a:rPr lang="en-US" altLang="zh-CN" b="1" dirty="0">
                <a:solidFill>
                  <a:schemeClr val="tx1"/>
                </a:solidFill>
                <a:latin typeface="+mn-ea"/>
                <a:sym typeface="+mn-ea"/>
              </a:rPr>
              <a:t>D</a:t>
            </a:r>
            <a:r>
              <a:rPr lang="zh-CN" altLang="en-US" b="1" dirty="0">
                <a:solidFill>
                  <a:schemeClr val="tx1"/>
                </a:solidFill>
                <a:latin typeface="+mn-ea"/>
                <a:sym typeface="+mn-ea"/>
              </a:rPr>
              <a:t>使用信号量</a:t>
            </a:r>
            <a:r>
              <a:rPr lang="en-US" altLang="zh-CN" b="1" dirty="0">
                <a:solidFill>
                  <a:schemeClr val="tx1"/>
                </a:solidFill>
                <a:latin typeface="+mn-ea"/>
                <a:sym typeface="+mn-ea"/>
              </a:rPr>
              <a:t>S2</a:t>
            </a:r>
            <a:r>
              <a:rPr lang="zh-CN" altLang="en-US" b="1" dirty="0" smtClean="0">
                <a:solidFill>
                  <a:schemeClr val="tx1"/>
                </a:solidFill>
                <a:latin typeface="+mn-ea"/>
                <a:sym typeface="+mn-ea"/>
              </a:rPr>
              <a:t>。</a:t>
            </a:r>
          </a:p>
        </p:txBody>
      </p:sp>
      <p:sp>
        <p:nvSpPr>
          <p:cNvPr id="4" name="矩形标注 3"/>
          <p:cNvSpPr/>
          <p:nvPr/>
        </p:nvSpPr>
        <p:spPr>
          <a:xfrm>
            <a:off x="5057775" y="477520"/>
            <a:ext cx="3926840" cy="1174115"/>
          </a:xfrm>
          <a:prstGeom prst="wedgeRectCallout">
            <a:avLst>
              <a:gd name="adj1" fmla="val -67226"/>
              <a:gd name="adj2" fmla="val 42063"/>
            </a:avLst>
          </a:prstGeom>
        </p:spPr>
        <p:style>
          <a:lnRef idx="1">
            <a:schemeClr val="accent3"/>
          </a:lnRef>
          <a:fillRef idx="2">
            <a:schemeClr val="accent3"/>
          </a:fillRef>
          <a:effectRef idx="1">
            <a:schemeClr val="accent3"/>
          </a:effectRef>
          <a:fontRef idx="minor">
            <a:schemeClr val="dk1"/>
          </a:fontRef>
        </p:style>
        <p:txBody>
          <a:bodyPr rtlCol="0" anchor="ctr"/>
          <a:lstStyle/>
          <a:p>
            <a:pPr marL="0" lvl="1" indent="0" algn="just" fontAlgn="auto">
              <a:lnSpc>
                <a:spcPct val="100000"/>
              </a:lnSpc>
              <a:buClr>
                <a:schemeClr val="accent6">
                  <a:lumMod val="60000"/>
                  <a:lumOff val="40000"/>
                </a:schemeClr>
              </a:buClr>
              <a:buFont typeface="Wingdings" panose="05000000000000000000" pitchFamily="2" charset="2"/>
              <a:buChar char="Ø"/>
            </a:pPr>
            <a:r>
              <a:rPr lang="zh-CN" altLang="en-US" b="1" dirty="0" smtClean="0">
                <a:solidFill>
                  <a:schemeClr val="tx1"/>
                </a:solidFill>
                <a:latin typeface="+mn-ea"/>
                <a:sym typeface="+mn-ea"/>
              </a:rPr>
              <a:t>本题只需要互斥：</a:t>
            </a:r>
            <a:endParaRPr lang="en-US" altLang="zh-CN" b="1" dirty="0" smtClean="0">
              <a:solidFill>
                <a:schemeClr val="tx1"/>
              </a:solidFill>
              <a:latin typeface="+mn-ea"/>
            </a:endParaRPr>
          </a:p>
          <a:p>
            <a:pPr marL="0" lvl="1" indent="0" algn="just" fontAlgn="auto">
              <a:lnSpc>
                <a:spcPct val="100000"/>
              </a:lnSpc>
              <a:buClr>
                <a:schemeClr val="accent6">
                  <a:lumMod val="60000"/>
                  <a:lumOff val="40000"/>
                </a:schemeClr>
              </a:buClr>
            </a:pPr>
            <a:r>
              <a:rPr lang="zh-CN" altLang="en-US" b="1" dirty="0">
                <a:solidFill>
                  <a:schemeClr val="tx1"/>
                </a:solidFill>
                <a:latin typeface="+mn-ea"/>
                <a:sym typeface="+mn-ea"/>
              </a:rPr>
              <a:t>  从</a:t>
            </a:r>
            <a:r>
              <a:rPr lang="en-US" altLang="zh-CN" b="1" dirty="0">
                <a:solidFill>
                  <a:schemeClr val="tx1"/>
                </a:solidFill>
                <a:latin typeface="+mn-ea"/>
                <a:sym typeface="+mn-ea"/>
              </a:rPr>
              <a:t>[1]</a:t>
            </a:r>
            <a:r>
              <a:rPr lang="zh-CN" altLang="en-US" b="1" dirty="0">
                <a:solidFill>
                  <a:schemeClr val="tx1"/>
                </a:solidFill>
                <a:latin typeface="+mn-ea"/>
                <a:sym typeface="+mn-ea"/>
              </a:rPr>
              <a:t>到</a:t>
            </a:r>
            <a:r>
              <a:rPr lang="en-US" altLang="zh-CN" b="1" dirty="0">
                <a:solidFill>
                  <a:schemeClr val="tx1"/>
                </a:solidFill>
                <a:latin typeface="+mn-ea"/>
                <a:sym typeface="+mn-ea"/>
              </a:rPr>
              <a:t>[8]</a:t>
            </a:r>
            <a:r>
              <a:rPr lang="zh-CN" altLang="en-US" b="1" dirty="0">
                <a:solidFill>
                  <a:schemeClr val="tx1"/>
                </a:solidFill>
                <a:latin typeface="+mn-ea"/>
                <a:sym typeface="+mn-ea"/>
              </a:rPr>
              <a:t>分别为：</a:t>
            </a:r>
            <a:r>
              <a:rPr lang="en-US" altLang="zh-CN" b="1" dirty="0">
                <a:solidFill>
                  <a:schemeClr val="tx1"/>
                </a:solidFill>
                <a:latin typeface="+mn-ea"/>
                <a:sym typeface="+mn-ea"/>
              </a:rPr>
              <a:t>P(S1) V(S1) P(S2) V(S2) P(S1) V(S1) P(S2) V(S2)</a:t>
            </a:r>
            <a:endParaRPr lang="en-US" altLang="zh-CN" b="1" dirty="0" smtClean="0">
              <a:solidFill>
                <a:schemeClr val="tx1"/>
              </a:solidFill>
              <a:latin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left)">
                                      <p:cBhvr>
                                        <p:cTn id="17" dur="500"/>
                                        <p:tgtEl>
                                          <p:spTgt spid="2">
                                            <p:txEl>
                                              <p:pRg st="1" end="1"/>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wipe(left)">
                                      <p:cBhvr>
                                        <p:cTn id="20" dur="500"/>
                                        <p:tgtEl>
                                          <p:spTgt spid="2">
                                            <p:txEl>
                                              <p:pRg st="2" end="2"/>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wipe(left)">
                                      <p:cBhvr>
                                        <p:cTn id="26" dur="500"/>
                                        <p:tgtEl>
                                          <p:spTgt spid="2">
                                            <p:txEl>
                                              <p:pRg st="4" end="4"/>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Effect transition="in" filter="wipe(left)">
                                      <p:cBhvr>
                                        <p:cTn id="29" dur="500"/>
                                        <p:tgtEl>
                                          <p:spTgt spid="2">
                                            <p:txEl>
                                              <p:pRg st="5" end="5"/>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wipe(left)">
                                      <p:cBhvr>
                                        <p:cTn id="32" dur="500"/>
                                        <p:tgtEl>
                                          <p:spTgt spid="2">
                                            <p:txEl>
                                              <p:pRg st="6" end="6"/>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wipe(left)">
                                      <p:cBhvr>
                                        <p:cTn id="35" dur="500"/>
                                        <p:tgtEl>
                                          <p:spTgt spid="2">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ldLvl="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信号量的实现和应用</a:t>
            </a:r>
          </a:p>
        </p:txBody>
      </p:sp>
      <p:sp>
        <p:nvSpPr>
          <p:cNvPr id="2" name="矩形 1"/>
          <p:cNvSpPr/>
          <p:nvPr/>
        </p:nvSpPr>
        <p:spPr>
          <a:xfrm>
            <a:off x="755576" y="1075478"/>
            <a:ext cx="6941291" cy="3416320"/>
          </a:xfrm>
          <a:prstGeom prst="rect">
            <a:avLst/>
          </a:prstGeom>
        </p:spPr>
        <p:txBody>
          <a:bodyPr wrap="square">
            <a:spAutoFit/>
          </a:bodyPr>
          <a:lstStyle/>
          <a:p>
            <a:pPr marL="0" lvl="1" indent="-1714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信号量的实现和</a:t>
            </a:r>
            <a:r>
              <a:rPr lang="zh-CN" altLang="en-US" sz="2400" b="1" dirty="0" smtClean="0">
                <a:solidFill>
                  <a:schemeClr val="bg1"/>
                </a:solidFill>
                <a:latin typeface="+mn-ea"/>
              </a:rPr>
              <a:t>应用（对应蓝桥上实验</a:t>
            </a:r>
            <a:r>
              <a:rPr lang="en-US" altLang="zh-CN" sz="2400" b="1" dirty="0" smtClean="0">
                <a:solidFill>
                  <a:schemeClr val="bg1"/>
                </a:solidFill>
                <a:latin typeface="+mn-ea"/>
              </a:rPr>
              <a:t>6</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ctr">
              <a:lnSpc>
                <a:spcPct val="150000"/>
              </a:lnSpc>
              <a:buClr>
                <a:schemeClr val="accent6">
                  <a:lumMod val="60000"/>
                  <a:lumOff val="40000"/>
                </a:schemeClr>
              </a:buClr>
            </a:pPr>
            <a:r>
              <a:rPr lang="en-US" altLang="zh-CN" sz="2000" dirty="0">
                <a:solidFill>
                  <a:schemeClr val="bg1"/>
                </a:solidFill>
              </a:rPr>
              <a:t>https://www.lanqiao.cn/courses/115/learning/?</a:t>
            </a:r>
            <a:r>
              <a:rPr lang="en-US" altLang="zh-CN" sz="2000" dirty="0" smtClean="0">
                <a:solidFill>
                  <a:schemeClr val="bg1"/>
                </a:solidFill>
              </a:rPr>
              <a:t>id=572</a:t>
            </a:r>
          </a:p>
          <a:p>
            <a:pPr marL="0" lvl="1" indent="-1714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内容</a:t>
            </a:r>
            <a:r>
              <a:rPr lang="en-US" altLang="zh-CN" sz="2400" b="1" dirty="0" smtClean="0">
                <a:solidFill>
                  <a:schemeClr val="bg1"/>
                </a:solidFill>
                <a:latin typeface="+mn-ea"/>
              </a:rPr>
              <a:t>1</a:t>
            </a:r>
            <a:r>
              <a:rPr lang="zh-CN" altLang="en-US" sz="2400" b="1" dirty="0" smtClean="0">
                <a:solidFill>
                  <a:schemeClr val="bg1"/>
                </a:solidFill>
                <a:latin typeface="+mn-ea"/>
              </a:rPr>
              <a:t>：</a:t>
            </a:r>
            <a:r>
              <a:rPr lang="zh-CN" altLang="en-US" sz="2400" b="1" dirty="0">
                <a:solidFill>
                  <a:schemeClr val="bg1"/>
                </a:solidFill>
                <a:latin typeface="+mn-ea"/>
              </a:rPr>
              <a:t>在 </a:t>
            </a:r>
            <a:r>
              <a:rPr lang="en-US" altLang="zh-CN" sz="2400" b="1" dirty="0">
                <a:solidFill>
                  <a:schemeClr val="bg1"/>
                </a:solidFill>
                <a:latin typeface="+mn-ea"/>
              </a:rPr>
              <a:t>Ubuntu </a:t>
            </a:r>
            <a:r>
              <a:rPr lang="zh-CN" altLang="en-US" sz="2400" b="1" dirty="0">
                <a:solidFill>
                  <a:schemeClr val="bg1"/>
                </a:solidFill>
                <a:latin typeface="+mn-ea"/>
              </a:rPr>
              <a:t>下编写程序，用信号量解决生产者</a:t>
            </a:r>
            <a:r>
              <a:rPr lang="en-US" altLang="zh-CN" sz="2400" b="1" dirty="0">
                <a:solidFill>
                  <a:schemeClr val="bg1"/>
                </a:solidFill>
                <a:latin typeface="+mn-ea"/>
              </a:rPr>
              <a:t>——</a:t>
            </a:r>
            <a:r>
              <a:rPr lang="zh-CN" altLang="en-US" sz="2400" b="1" dirty="0">
                <a:solidFill>
                  <a:schemeClr val="bg1"/>
                </a:solidFill>
                <a:latin typeface="+mn-ea"/>
              </a:rPr>
              <a:t>消费者问题；</a:t>
            </a:r>
          </a:p>
          <a:p>
            <a:pPr marL="0" lvl="1" indent="-1714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内容</a:t>
            </a:r>
            <a:r>
              <a:rPr lang="en-US" altLang="zh-CN" sz="2400" b="1" dirty="0" smtClean="0">
                <a:solidFill>
                  <a:schemeClr val="bg1"/>
                </a:solidFill>
                <a:latin typeface="+mn-ea"/>
              </a:rPr>
              <a:t>2</a:t>
            </a:r>
            <a:r>
              <a:rPr lang="zh-CN" altLang="en-US" sz="2400" b="1" dirty="0" smtClean="0">
                <a:solidFill>
                  <a:schemeClr val="bg1"/>
                </a:solidFill>
                <a:latin typeface="+mn-ea"/>
              </a:rPr>
              <a:t>：在 </a:t>
            </a:r>
            <a:r>
              <a:rPr lang="en-US" altLang="zh-CN" sz="2400" b="1" dirty="0" smtClean="0">
                <a:solidFill>
                  <a:schemeClr val="bg1"/>
                </a:solidFill>
                <a:latin typeface="+mn-ea"/>
              </a:rPr>
              <a:t>0.11 </a:t>
            </a:r>
            <a:r>
              <a:rPr lang="zh-CN" altLang="en-US" sz="2400" b="1" dirty="0" smtClean="0">
                <a:solidFill>
                  <a:schemeClr val="bg1"/>
                </a:solidFill>
                <a:latin typeface="+mn-ea"/>
              </a:rPr>
              <a:t>中实现信号量，用生产者</a:t>
            </a:r>
            <a:r>
              <a:rPr lang="en-US" altLang="zh-CN" sz="2400" b="1" dirty="0" smtClean="0">
                <a:solidFill>
                  <a:schemeClr val="bg1"/>
                </a:solidFill>
                <a:latin typeface="+mn-ea"/>
              </a:rPr>
              <a:t>—</a:t>
            </a:r>
            <a:r>
              <a:rPr lang="zh-CN" altLang="en-US" sz="2400" b="1" dirty="0" smtClean="0">
                <a:solidFill>
                  <a:schemeClr val="bg1"/>
                </a:solidFill>
                <a:latin typeface="+mn-ea"/>
              </a:rPr>
              <a:t>消费者程序检验之（选做）。</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88725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进程运行轨迹的跟踪与统计</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819174"/>
            <a:ext cx="6941291" cy="3970318"/>
          </a:xfrm>
          <a:prstGeom prst="rect">
            <a:avLst/>
          </a:prstGeom>
        </p:spPr>
        <p:txBody>
          <a:bodyPr wrap="square">
            <a:spAutoFit/>
          </a:bodyPr>
          <a:lstStyle/>
          <a:p>
            <a:pPr marL="0" lvl="1" indent="-171450" algn="just">
              <a:lnSpc>
                <a:spcPct val="15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 </a:t>
            </a:r>
            <a:r>
              <a:rPr lang="zh-CN" altLang="en-US" sz="2400" b="1" dirty="0" smtClean="0">
                <a:solidFill>
                  <a:srgbClr val="FFFF00"/>
                </a:solidFill>
                <a:latin typeface="+mn-ea"/>
              </a:rPr>
              <a:t>对应蓝桥平台的实验</a:t>
            </a:r>
            <a:r>
              <a:rPr lang="en-US" altLang="zh-CN" sz="2400" b="1" dirty="0" smtClean="0">
                <a:solidFill>
                  <a:srgbClr val="FFFF00"/>
                </a:solidFill>
                <a:latin typeface="+mn-ea"/>
              </a:rPr>
              <a:t>4</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a:t>
            </a:r>
            <a:r>
              <a:rPr lang="en-US" altLang="zh-CN" sz="2000" dirty="0" smtClean="0">
                <a:solidFill>
                  <a:schemeClr val="bg1"/>
                </a:solidFill>
              </a:rPr>
              <a:t>https://www.lanqiao.cn/courses/115/learning/?id=570</a:t>
            </a:r>
          </a:p>
          <a:p>
            <a:pPr marL="0" lvl="1" indent="-1714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内容</a:t>
            </a:r>
            <a:r>
              <a:rPr lang="en-US" altLang="zh-CN" sz="2400" b="1" dirty="0" smtClean="0">
                <a:solidFill>
                  <a:schemeClr val="bg1"/>
                </a:solidFill>
                <a:latin typeface="+mn-ea"/>
              </a:rPr>
              <a:t>1</a:t>
            </a:r>
            <a:r>
              <a:rPr lang="zh-CN" altLang="en-US" sz="2400" b="1" dirty="0" smtClean="0">
                <a:solidFill>
                  <a:schemeClr val="bg1"/>
                </a:solidFill>
                <a:latin typeface="+mn-ea"/>
              </a:rPr>
              <a:t>：基于</a:t>
            </a:r>
            <a:r>
              <a:rPr lang="zh-CN" altLang="en-US" sz="2400" b="1" dirty="0">
                <a:solidFill>
                  <a:schemeClr val="bg1"/>
                </a:solidFill>
                <a:latin typeface="+mn-ea"/>
              </a:rPr>
              <a:t>模板 </a:t>
            </a:r>
            <a:r>
              <a:rPr lang="en-US" altLang="zh-CN" sz="2400" b="1" dirty="0" err="1">
                <a:solidFill>
                  <a:schemeClr val="bg1"/>
                </a:solidFill>
                <a:latin typeface="+mn-ea"/>
              </a:rPr>
              <a:t>process.c</a:t>
            </a:r>
            <a:r>
              <a:rPr lang="en-US" altLang="zh-CN" sz="2400" b="1" dirty="0">
                <a:solidFill>
                  <a:schemeClr val="bg1"/>
                </a:solidFill>
                <a:latin typeface="+mn-ea"/>
              </a:rPr>
              <a:t> </a:t>
            </a:r>
            <a:r>
              <a:rPr lang="zh-CN" altLang="en-US" sz="2400" b="1" dirty="0">
                <a:solidFill>
                  <a:schemeClr val="bg1"/>
                </a:solidFill>
                <a:latin typeface="+mn-ea"/>
              </a:rPr>
              <a:t>编写多进程的样本程序，实现如下</a:t>
            </a:r>
            <a:r>
              <a:rPr lang="zh-CN" altLang="en-US" sz="2400" b="1" dirty="0" smtClean="0">
                <a:solidFill>
                  <a:schemeClr val="bg1"/>
                </a:solidFill>
                <a:latin typeface="+mn-ea"/>
              </a:rPr>
              <a:t>功能</a:t>
            </a:r>
            <a:r>
              <a:rPr lang="zh-CN" altLang="en-US" sz="2400" b="1" dirty="0">
                <a:solidFill>
                  <a:schemeClr val="bg1"/>
                </a:solidFill>
                <a:latin typeface="+mn-ea"/>
              </a:rPr>
              <a:t>：</a:t>
            </a:r>
            <a:r>
              <a:rPr lang="zh-CN" altLang="en-US" sz="2400" b="1" dirty="0" smtClean="0">
                <a:solidFill>
                  <a:schemeClr val="bg1"/>
                </a:solidFill>
                <a:latin typeface="+mn-ea"/>
              </a:rPr>
              <a:t>所有</a:t>
            </a:r>
            <a:r>
              <a:rPr lang="zh-CN" altLang="en-US" sz="2400" b="1" dirty="0">
                <a:solidFill>
                  <a:schemeClr val="bg1"/>
                </a:solidFill>
                <a:latin typeface="+mn-ea"/>
              </a:rPr>
              <a:t>子进程都并行运行，每个子进程的实际运行时间一般不</a:t>
            </a:r>
            <a:r>
              <a:rPr lang="zh-CN" altLang="en-US" sz="2400" b="1" dirty="0" smtClean="0">
                <a:solidFill>
                  <a:schemeClr val="bg1"/>
                </a:solidFill>
                <a:latin typeface="+mn-ea"/>
              </a:rPr>
              <a:t>超过</a:t>
            </a:r>
            <a:r>
              <a:rPr lang="en-US" altLang="zh-CN" sz="2400" b="1" dirty="0" smtClean="0">
                <a:solidFill>
                  <a:schemeClr val="bg1"/>
                </a:solidFill>
                <a:latin typeface="+mn-ea"/>
              </a:rPr>
              <a:t>30</a:t>
            </a:r>
            <a:r>
              <a:rPr lang="zh-CN" altLang="en-US" sz="2400" b="1" dirty="0" smtClean="0">
                <a:solidFill>
                  <a:schemeClr val="bg1"/>
                </a:solidFill>
                <a:latin typeface="+mn-ea"/>
              </a:rPr>
              <a:t>秒；父</a:t>
            </a:r>
            <a:r>
              <a:rPr lang="zh-CN" altLang="en-US" sz="2400" b="1" dirty="0">
                <a:solidFill>
                  <a:schemeClr val="bg1"/>
                </a:solidFill>
                <a:latin typeface="+mn-ea"/>
              </a:rPr>
              <a:t>进程向标准输出打印所有子进程</a:t>
            </a:r>
            <a:r>
              <a:rPr lang="zh-CN" altLang="en-US" sz="2400" b="1" dirty="0" smtClean="0">
                <a:solidFill>
                  <a:schemeClr val="bg1"/>
                </a:solidFill>
                <a:latin typeface="+mn-ea"/>
              </a:rPr>
              <a:t>的</a:t>
            </a:r>
            <a:r>
              <a:rPr lang="en-US" altLang="zh-CN" sz="2400" b="1" dirty="0" smtClean="0">
                <a:solidFill>
                  <a:schemeClr val="bg1"/>
                </a:solidFill>
                <a:latin typeface="+mn-ea"/>
              </a:rPr>
              <a:t>id</a:t>
            </a:r>
            <a:r>
              <a:rPr lang="zh-CN" altLang="en-US" sz="2400" b="1" dirty="0">
                <a:solidFill>
                  <a:schemeClr val="bg1"/>
                </a:solidFill>
                <a:latin typeface="+mn-ea"/>
              </a:rPr>
              <a:t>，并在所有子进程都退出后才</a:t>
            </a:r>
            <a:r>
              <a:rPr lang="zh-CN" altLang="en-US" sz="2400" b="1" dirty="0" smtClean="0">
                <a:solidFill>
                  <a:schemeClr val="bg1"/>
                </a:solidFill>
                <a:latin typeface="+mn-ea"/>
              </a:rPr>
              <a:t>退出。</a:t>
            </a:r>
            <a:endParaRPr lang="zh-CN" altLang="en-US" sz="2400" b="1" dirty="0">
              <a:solidFill>
                <a:schemeClr val="bg1"/>
              </a:solidFill>
              <a:latin typeface="+mn-ea"/>
            </a:endParaRPr>
          </a:p>
        </p:txBody>
      </p:sp>
    </p:spTree>
    <p:extLst>
      <p:ext uri="{BB962C8B-B14F-4D97-AF65-F5344CB8AC3E}">
        <p14:creationId xmlns:p14="http://schemas.microsoft.com/office/powerpoint/2010/main" val="815381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527211"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运行轨迹的跟踪与统计</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840760" cy="2775760"/>
          </a:xfrm>
          <a:prstGeom prst="rect">
            <a:avLst/>
          </a:prstGeom>
        </p:spPr>
        <p:txBody>
          <a:bodyPr wrap="square">
            <a:spAutoFit/>
          </a:bodyPr>
          <a:lstStyle/>
          <a:p>
            <a:pPr marL="0" lvl="1" indent="-1714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内容</a:t>
            </a:r>
            <a:r>
              <a:rPr lang="en-US" altLang="zh-CN" sz="2400" b="1" dirty="0" smtClean="0">
                <a:solidFill>
                  <a:schemeClr val="bg1"/>
                </a:solidFill>
                <a:latin typeface="+mn-ea"/>
              </a:rPr>
              <a:t>2</a:t>
            </a:r>
            <a:r>
              <a:rPr lang="zh-CN" altLang="en-US" sz="2400" b="1" dirty="0" smtClean="0">
                <a:solidFill>
                  <a:schemeClr val="bg1"/>
                </a:solidFill>
                <a:latin typeface="+mn-ea"/>
              </a:rPr>
              <a:t>：在 </a:t>
            </a:r>
            <a:r>
              <a:rPr lang="en-US" altLang="zh-CN" sz="2400" b="1" dirty="0">
                <a:solidFill>
                  <a:schemeClr val="bg1"/>
                </a:solidFill>
                <a:latin typeface="+mn-ea"/>
              </a:rPr>
              <a:t>Linux0.11 </a:t>
            </a:r>
            <a:r>
              <a:rPr lang="zh-CN" altLang="en-US" sz="2400" b="1" dirty="0">
                <a:solidFill>
                  <a:schemeClr val="bg1"/>
                </a:solidFill>
                <a:latin typeface="+mn-ea"/>
              </a:rPr>
              <a:t>上实现进程运行轨迹的跟踪</a:t>
            </a:r>
            <a:r>
              <a:rPr lang="zh-CN" altLang="en-US" sz="2400" b="1" dirty="0" smtClean="0">
                <a:solidFill>
                  <a:schemeClr val="bg1"/>
                </a:solidFill>
                <a:latin typeface="+mn-ea"/>
              </a:rPr>
              <a:t>。基本</a:t>
            </a:r>
            <a:r>
              <a:rPr lang="zh-CN" altLang="en-US" sz="2400" b="1" dirty="0">
                <a:solidFill>
                  <a:schemeClr val="bg1"/>
                </a:solidFill>
                <a:latin typeface="+mn-ea"/>
              </a:rPr>
              <a:t>任务是在内核中维护一个日志文件 </a:t>
            </a:r>
            <a:r>
              <a:rPr lang="en-US" altLang="zh-CN" sz="2400" b="1" dirty="0">
                <a:solidFill>
                  <a:schemeClr val="bg1"/>
                </a:solidFill>
                <a:latin typeface="+mn-ea"/>
              </a:rPr>
              <a:t>/</a:t>
            </a:r>
            <a:r>
              <a:rPr lang="en-US" altLang="zh-CN" sz="2400" b="1" dirty="0" err="1">
                <a:solidFill>
                  <a:schemeClr val="bg1"/>
                </a:solidFill>
                <a:latin typeface="+mn-ea"/>
              </a:rPr>
              <a:t>var</a:t>
            </a:r>
            <a:r>
              <a:rPr lang="en-US" altLang="zh-CN" sz="2400" b="1" dirty="0">
                <a:solidFill>
                  <a:schemeClr val="bg1"/>
                </a:solidFill>
                <a:latin typeface="+mn-ea"/>
              </a:rPr>
              <a:t>/process.log</a:t>
            </a:r>
            <a:r>
              <a:rPr lang="zh-CN" altLang="en-US" sz="2400" b="1" dirty="0">
                <a:solidFill>
                  <a:schemeClr val="bg1"/>
                </a:solidFill>
                <a:latin typeface="+mn-ea"/>
              </a:rPr>
              <a:t>，把从操作系统启动到系统关机过程中所有进程的运行轨迹都记录在这</a:t>
            </a:r>
            <a:r>
              <a:rPr lang="zh-CN" altLang="en-US" sz="2400" b="1" dirty="0" smtClean="0">
                <a:solidFill>
                  <a:schemeClr val="bg1"/>
                </a:solidFill>
                <a:latin typeface="+mn-ea"/>
              </a:rPr>
              <a:t>一</a:t>
            </a:r>
            <a:r>
              <a:rPr lang="en-US" altLang="zh-CN" sz="2400" b="1" dirty="0" smtClean="0">
                <a:solidFill>
                  <a:schemeClr val="bg1"/>
                </a:solidFill>
                <a:latin typeface="+mn-ea"/>
              </a:rPr>
              <a:t>log </a:t>
            </a:r>
            <a:r>
              <a:rPr lang="zh-CN" altLang="en-US" sz="2400" b="1" dirty="0">
                <a:solidFill>
                  <a:schemeClr val="bg1"/>
                </a:solidFill>
                <a:latin typeface="+mn-ea"/>
              </a:rPr>
              <a:t>文件中</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16825831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95925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运行轨迹的跟踪与统计</a:t>
            </a:r>
          </a:p>
        </p:txBody>
      </p:sp>
      <p:sp>
        <p:nvSpPr>
          <p:cNvPr id="2" name="矩形 1"/>
          <p:cNvSpPr/>
          <p:nvPr/>
        </p:nvSpPr>
        <p:spPr>
          <a:xfrm>
            <a:off x="755576" y="1256896"/>
            <a:ext cx="6984776" cy="3060005"/>
          </a:xfrm>
          <a:prstGeom prst="rect">
            <a:avLst/>
          </a:prstGeom>
        </p:spPr>
        <p:txBody>
          <a:bodyPr wrap="square">
            <a:spAutoFit/>
          </a:bodyPr>
          <a:lstStyle/>
          <a:p>
            <a:pPr marL="0" lvl="1" indent="-171450"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内容</a:t>
            </a:r>
            <a:r>
              <a:rPr lang="en-US" altLang="zh-CN" sz="2200" b="1" dirty="0" smtClean="0">
                <a:solidFill>
                  <a:schemeClr val="bg1"/>
                </a:solidFill>
                <a:latin typeface="+mn-ea"/>
              </a:rPr>
              <a:t>3</a:t>
            </a:r>
            <a:r>
              <a:rPr lang="zh-CN" altLang="en-US" sz="2200" b="1" dirty="0" smtClean="0">
                <a:solidFill>
                  <a:schemeClr val="bg1"/>
                </a:solidFill>
                <a:latin typeface="+mn-ea"/>
              </a:rPr>
              <a:t>：在</a:t>
            </a:r>
            <a:r>
              <a:rPr lang="zh-CN" altLang="en-US" sz="2200" b="1" dirty="0">
                <a:solidFill>
                  <a:schemeClr val="bg1"/>
                </a:solidFill>
                <a:latin typeface="+mn-ea"/>
              </a:rPr>
              <a:t>修改过</a:t>
            </a:r>
            <a:r>
              <a:rPr lang="zh-CN" altLang="en-US" sz="2200" b="1" dirty="0" smtClean="0">
                <a:solidFill>
                  <a:schemeClr val="bg1"/>
                </a:solidFill>
                <a:latin typeface="+mn-ea"/>
              </a:rPr>
              <a:t>的</a:t>
            </a:r>
            <a:r>
              <a:rPr lang="en-US" altLang="zh-CN" sz="2200" b="1" dirty="0" smtClean="0">
                <a:solidFill>
                  <a:schemeClr val="bg1"/>
                </a:solidFill>
                <a:latin typeface="+mn-ea"/>
              </a:rPr>
              <a:t>0.11</a:t>
            </a:r>
            <a:r>
              <a:rPr lang="zh-CN" altLang="en-US" sz="2200" b="1" dirty="0" smtClean="0">
                <a:solidFill>
                  <a:schemeClr val="bg1"/>
                </a:solidFill>
                <a:latin typeface="+mn-ea"/>
              </a:rPr>
              <a:t>上</a:t>
            </a:r>
            <a:r>
              <a:rPr lang="zh-CN" altLang="en-US" sz="2200" b="1" dirty="0">
                <a:solidFill>
                  <a:schemeClr val="bg1"/>
                </a:solidFill>
                <a:latin typeface="+mn-ea"/>
              </a:rPr>
              <a:t>运行样本程序，通过</a:t>
            </a:r>
            <a:r>
              <a:rPr lang="zh-CN" altLang="en-US" sz="2200" b="1" dirty="0" smtClean="0">
                <a:solidFill>
                  <a:schemeClr val="bg1"/>
                </a:solidFill>
                <a:latin typeface="+mn-ea"/>
              </a:rPr>
              <a:t>分析</a:t>
            </a:r>
            <a:r>
              <a:rPr lang="en-US" altLang="zh-CN" sz="2200" b="1" dirty="0" smtClean="0">
                <a:solidFill>
                  <a:schemeClr val="bg1"/>
                </a:solidFill>
                <a:latin typeface="+mn-ea"/>
              </a:rPr>
              <a:t>log </a:t>
            </a:r>
            <a:r>
              <a:rPr lang="zh-CN" altLang="en-US" sz="2200" b="1" dirty="0">
                <a:solidFill>
                  <a:schemeClr val="bg1"/>
                </a:solidFill>
                <a:latin typeface="+mn-ea"/>
              </a:rPr>
              <a:t>文件，统计该程序建立的所有进程的等待时间、完成时间（周转时间）和运行时间，然后计算平均等待时间，平均完成时间和吞吐量。可以自己编写统计程序，也可以使用 </a:t>
            </a:r>
            <a:r>
              <a:rPr lang="en-US" altLang="zh-CN" sz="2200" b="1" dirty="0">
                <a:solidFill>
                  <a:schemeClr val="bg1"/>
                </a:solidFill>
                <a:latin typeface="+mn-ea"/>
              </a:rPr>
              <a:t>python </a:t>
            </a:r>
            <a:r>
              <a:rPr lang="zh-CN" altLang="en-US" sz="2200" b="1" dirty="0">
                <a:solidFill>
                  <a:schemeClr val="bg1"/>
                </a:solidFill>
                <a:latin typeface="+mn-ea"/>
              </a:rPr>
              <a:t>脚本程序</a:t>
            </a:r>
            <a:r>
              <a:rPr lang="en-US" altLang="zh-CN" sz="2200" b="1" dirty="0">
                <a:solidFill>
                  <a:schemeClr val="bg1"/>
                </a:solidFill>
                <a:latin typeface="+mn-ea"/>
              </a:rPr>
              <a:t>—— stat_log.py</a:t>
            </a:r>
            <a:r>
              <a:rPr lang="zh-CN" altLang="en-US" sz="2200" b="1" dirty="0">
                <a:solidFill>
                  <a:schemeClr val="bg1"/>
                </a:solidFill>
                <a:latin typeface="+mn-ea"/>
              </a:rPr>
              <a:t>（在 </a:t>
            </a:r>
            <a:r>
              <a:rPr lang="en-US" altLang="zh-CN" sz="2200" b="1" dirty="0">
                <a:solidFill>
                  <a:schemeClr val="bg1"/>
                </a:solidFill>
                <a:latin typeface="+mn-ea"/>
              </a:rPr>
              <a:t>/home/teacher/ </a:t>
            </a:r>
            <a:r>
              <a:rPr lang="zh-CN" altLang="en-US" sz="2200" b="1" dirty="0">
                <a:solidFill>
                  <a:schemeClr val="bg1"/>
                </a:solidFill>
                <a:latin typeface="+mn-ea"/>
              </a:rPr>
              <a:t>目录下</a:t>
            </a:r>
            <a:r>
              <a:rPr lang="zh-CN" altLang="en-US" sz="2200" b="1" dirty="0" smtClean="0">
                <a:solidFill>
                  <a:schemeClr val="bg1"/>
                </a:solidFill>
                <a:latin typeface="+mn-ea"/>
              </a:rPr>
              <a:t>）</a:t>
            </a:r>
            <a:r>
              <a:rPr lang="en-US" altLang="zh-CN" sz="2200" b="1" dirty="0" smtClean="0">
                <a:solidFill>
                  <a:schemeClr val="bg1"/>
                </a:solidFill>
                <a:latin typeface="+mn-ea"/>
              </a:rPr>
              <a:t>——</a:t>
            </a:r>
            <a:r>
              <a:rPr lang="zh-CN" altLang="en-US" sz="2200" b="1" dirty="0">
                <a:solidFill>
                  <a:schemeClr val="bg1"/>
                </a:solidFill>
                <a:latin typeface="+mn-ea"/>
              </a:rPr>
              <a:t>进行统计</a:t>
            </a:r>
            <a:r>
              <a:rPr lang="zh-CN" altLang="en-US" sz="2200" b="1" dirty="0" smtClean="0">
                <a:solidFill>
                  <a:schemeClr val="bg1"/>
                </a:solidFill>
                <a:latin typeface="+mn-ea"/>
              </a:rPr>
              <a:t>。</a:t>
            </a:r>
            <a:endParaRPr lang="zh-CN" altLang="en-US" sz="2200" b="1" dirty="0">
              <a:solidFill>
                <a:schemeClr val="bg1"/>
              </a:solidFill>
              <a:latin typeface="+mn-ea"/>
            </a:endParaRPr>
          </a:p>
        </p:txBody>
      </p:sp>
    </p:spTree>
    <p:extLst>
      <p:ext uri="{BB962C8B-B14F-4D97-AF65-F5344CB8AC3E}">
        <p14:creationId xmlns:p14="http://schemas.microsoft.com/office/powerpoint/2010/main" val="36439544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795925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进程运行轨迹的跟踪与统计</a:t>
            </a:r>
          </a:p>
        </p:txBody>
      </p:sp>
      <p:sp>
        <p:nvSpPr>
          <p:cNvPr id="2" name="矩形 1"/>
          <p:cNvSpPr/>
          <p:nvPr/>
        </p:nvSpPr>
        <p:spPr>
          <a:xfrm>
            <a:off x="866139" y="1635646"/>
            <a:ext cx="6941291" cy="1754326"/>
          </a:xfrm>
          <a:prstGeom prst="rect">
            <a:avLst/>
          </a:prstGeom>
        </p:spPr>
        <p:txBody>
          <a:bodyPr wrap="square">
            <a:spAutoFit/>
          </a:bodyPr>
          <a:lstStyle/>
          <a:p>
            <a:pPr marL="0" lvl="1" indent="-1714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内容</a:t>
            </a:r>
            <a:r>
              <a:rPr lang="en-US" altLang="zh-CN" sz="2400" b="1" dirty="0" smtClean="0">
                <a:solidFill>
                  <a:schemeClr val="bg1"/>
                </a:solidFill>
                <a:latin typeface="+mn-ea"/>
              </a:rPr>
              <a:t>4</a:t>
            </a:r>
            <a:r>
              <a:rPr lang="zh-CN" altLang="en-US" sz="2400" b="1" dirty="0">
                <a:solidFill>
                  <a:schemeClr val="bg1"/>
                </a:solidFill>
                <a:latin typeface="+mn-ea"/>
              </a:rPr>
              <a:t>：修改 </a:t>
            </a:r>
            <a:r>
              <a:rPr lang="en-US" altLang="zh-CN" sz="2400" b="1" dirty="0">
                <a:solidFill>
                  <a:schemeClr val="bg1"/>
                </a:solidFill>
                <a:latin typeface="+mn-ea"/>
              </a:rPr>
              <a:t>0.11 </a:t>
            </a:r>
            <a:r>
              <a:rPr lang="zh-CN" altLang="en-US" sz="2400" b="1" dirty="0">
                <a:solidFill>
                  <a:schemeClr val="bg1"/>
                </a:solidFill>
                <a:latin typeface="+mn-ea"/>
              </a:rPr>
              <a:t>进程调度的时间片，然后再运行同样的样本程序，统计同样的时间数据，和原有的情况对比，体会不同时间片带来的差异。</a:t>
            </a:r>
          </a:p>
        </p:txBody>
      </p:sp>
    </p:spTree>
    <p:extLst>
      <p:ext uri="{BB962C8B-B14F-4D97-AF65-F5344CB8AC3E}">
        <p14:creationId xmlns:p14="http://schemas.microsoft.com/office/powerpoint/2010/main" val="28000188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43648" y="571711"/>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进程的概念及描述</a:t>
              </a:r>
              <a:endParaRPr lang="en-US" altLang="zh-CN"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进程状态及其转换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进程控制、互斥、同步与通信</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3</a:t>
              </a:r>
            </a:p>
          </p:txBody>
        </p:sp>
      </p:grpSp>
      <p:grpSp>
        <p:nvGrpSpPr>
          <p:cNvPr id="27" name="Group 61"/>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死锁问题               </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4</a:t>
              </a:r>
            </a:p>
          </p:txBody>
        </p:sp>
      </p:grpSp>
      <p:grpSp>
        <p:nvGrpSpPr>
          <p:cNvPr id="32" name="Group 51"/>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线程的概念、分类与执行</a:t>
              </a:r>
              <a:endParaRPr lang="en-US" altLang="zh-CN"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7"/>
                                        </p:tgtEl>
                                      </p:cBhvr>
                                      <p:by x="150000" y="150000"/>
                                    </p:animScale>
                                  </p:childTnLst>
                                </p:cTn>
                              </p:par>
                              <p:par>
                                <p:cTn id="7" presetID="64" presetClass="path" presetSubtype="0" accel="50000" decel="50000" fill="hold" nodeType="withEffect">
                                  <p:stCondLst>
                                    <p:cond delay="0"/>
                                  </p:stCondLst>
                                  <p:childTnLst>
                                    <p:animMotion origin="layout" path="M -3.61111E-6 1.60494E-6 L 0.00139 -0.16482 " pathEditMode="relative" rAng="0" ptsTypes="AA">
                                      <p:cBhvr>
                                        <p:cTn id="8" dur="2000" fill="hold"/>
                                        <p:tgtEl>
                                          <p:spTgt spid="27"/>
                                        </p:tgtEl>
                                        <p:attrNameLst>
                                          <p:attrName>ppt_x</p:attrName>
                                          <p:attrName>ppt_y</p:attrName>
                                        </p:attrNameLst>
                                      </p:cBhvr>
                                      <p:rCtr x="69" y="-8241"/>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32"/>
                                        </p:tgtEl>
                                      </p:cBhvr>
                                    </p:animEffect>
                                    <p:set>
                                      <p:cBhvr>
                                        <p:cTn id="14" dur="1" fill="hold">
                                          <p:stCondLst>
                                            <p:cond delay="1999"/>
                                          </p:stCondLst>
                                        </p:cTn>
                                        <p:tgtEl>
                                          <p:spTgt spid="32"/>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1"/>
                                        </p:tgtEl>
                                      </p:cBhvr>
                                    </p:animEffect>
                                    <p:set>
                                      <p:cBhvr>
                                        <p:cTn id="17" dur="1" fill="hold">
                                          <p:stCondLst>
                                            <p:cond delay="19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6"/>
                                        </p:tgtEl>
                                      </p:cBhvr>
                                    </p:animEffect>
                                    <p:set>
                                      <p:cBhvr>
                                        <p:cTn id="20"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p>
        </p:txBody>
      </p:sp>
      <p:sp>
        <p:nvSpPr>
          <p:cNvPr id="2" name="矩形 1"/>
          <p:cNvSpPr/>
          <p:nvPr/>
        </p:nvSpPr>
        <p:spPr>
          <a:xfrm>
            <a:off x="755576" y="1307554"/>
            <a:ext cx="6941291"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所谓死锁，是指各并发进程彼此</a:t>
            </a:r>
            <a:r>
              <a:rPr lang="zh-CN" altLang="en-US" sz="2400" b="1" dirty="0">
                <a:solidFill>
                  <a:srgbClr val="FFFF00"/>
                </a:solidFill>
                <a:latin typeface="+mn-ea"/>
              </a:rPr>
              <a:t>互相等待对方</a:t>
            </a:r>
            <a:r>
              <a:rPr lang="zh-CN" altLang="en-US" sz="2400" b="1" dirty="0">
                <a:solidFill>
                  <a:schemeClr val="bg1"/>
                </a:solidFill>
                <a:latin typeface="+mn-ea"/>
              </a:rPr>
              <a:t>所拥有的</a:t>
            </a:r>
            <a:r>
              <a:rPr lang="zh-CN" altLang="en-US" sz="2400" b="1" dirty="0">
                <a:solidFill>
                  <a:srgbClr val="FFFF00"/>
                </a:solidFill>
                <a:latin typeface="+mn-ea"/>
              </a:rPr>
              <a:t>资源</a:t>
            </a:r>
            <a:r>
              <a:rPr lang="zh-CN" altLang="en-US" sz="2400" b="1" dirty="0">
                <a:solidFill>
                  <a:schemeClr val="bg1"/>
                </a:solidFill>
                <a:latin typeface="+mn-ea"/>
              </a:rPr>
              <a:t>，且这些并发进程在得到对方的资源之前</a:t>
            </a:r>
            <a:r>
              <a:rPr lang="zh-CN" altLang="en-US" sz="2400" b="1" dirty="0">
                <a:solidFill>
                  <a:srgbClr val="FFFF00"/>
                </a:solidFill>
                <a:latin typeface="+mn-ea"/>
              </a:rPr>
              <a:t>不会释放自己所拥有的资源</a:t>
            </a:r>
            <a:r>
              <a:rPr lang="zh-CN" altLang="en-US" sz="2400" b="1" dirty="0">
                <a:solidFill>
                  <a:schemeClr val="bg1"/>
                </a:solidFill>
                <a:latin typeface="+mn-ea"/>
              </a:rPr>
              <a:t>。从而造成大家都想得到资源而又都得不到资源，各并发进程不能继续向前推进的状态。</a:t>
            </a:r>
            <a:endParaRPr lang="en-US" altLang="zh-CN" sz="2400" b="1" dirty="0">
              <a:solidFill>
                <a:schemeClr val="bg1"/>
              </a:solidFill>
              <a:latin typeface="+mn-ea"/>
            </a:endParaRPr>
          </a:p>
        </p:txBody>
      </p:sp>
      <p:pic>
        <p:nvPicPr>
          <p:cNvPr id="29"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493" y="1126170"/>
            <a:ext cx="5187455" cy="3314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circle(out)">
                                      <p:cBhvr>
                                        <p:cTn id="12"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p>
        </p:txBody>
      </p:sp>
      <p:sp>
        <p:nvSpPr>
          <p:cNvPr id="2" name="矩形 1"/>
          <p:cNvSpPr/>
          <p:nvPr/>
        </p:nvSpPr>
        <p:spPr>
          <a:xfrm>
            <a:off x="755576" y="1405178"/>
            <a:ext cx="6941291" cy="317317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有并发进程</a:t>
            </a:r>
            <a:r>
              <a:rPr lang="en-US" altLang="zh-CN" sz="2200" b="1" dirty="0">
                <a:solidFill>
                  <a:schemeClr val="bg1"/>
                </a:solidFill>
                <a:latin typeface="+mn-ea"/>
              </a:rPr>
              <a:t>P</a:t>
            </a:r>
            <a:r>
              <a:rPr lang="en-US" altLang="zh-CN" sz="2200" b="1" baseline="-25000" dirty="0">
                <a:solidFill>
                  <a:schemeClr val="bg1"/>
                </a:solidFill>
                <a:latin typeface="+mn-ea"/>
              </a:rPr>
              <a:t>1</a:t>
            </a:r>
            <a:r>
              <a:rPr lang="zh-CN" altLang="en-US" sz="2200" b="1" dirty="0">
                <a:solidFill>
                  <a:schemeClr val="bg1"/>
                </a:solidFill>
                <a:latin typeface="+mn-ea"/>
              </a:rPr>
              <a:t>，</a:t>
            </a:r>
            <a:r>
              <a:rPr lang="en-US" altLang="zh-CN" sz="2200" b="1" dirty="0">
                <a:solidFill>
                  <a:schemeClr val="bg1"/>
                </a:solidFill>
                <a:latin typeface="+mn-ea"/>
              </a:rPr>
              <a:t>P</a:t>
            </a:r>
            <a:r>
              <a:rPr lang="en-US" altLang="zh-CN" sz="2200" b="1" baseline="-25000" dirty="0">
                <a:solidFill>
                  <a:schemeClr val="bg1"/>
                </a:solidFill>
                <a:latin typeface="+mn-ea"/>
              </a:rPr>
              <a:t>2</a:t>
            </a:r>
            <a:r>
              <a:rPr lang="zh-CN" altLang="en-US" sz="2200" b="1" dirty="0">
                <a:solidFill>
                  <a:schemeClr val="bg1"/>
                </a:solidFill>
                <a:latin typeface="+mn-ea"/>
              </a:rPr>
              <a:t>，</a:t>
            </a:r>
            <a:r>
              <a:rPr lang="en-US" altLang="zh-CN" sz="2200" b="1" dirty="0">
                <a:solidFill>
                  <a:schemeClr val="bg1"/>
                </a:solidFill>
                <a:latin typeface="+mn-ea"/>
              </a:rPr>
              <a:t>…</a:t>
            </a:r>
            <a:r>
              <a:rPr lang="zh-CN" altLang="en-US" sz="2200" b="1" dirty="0">
                <a:solidFill>
                  <a:schemeClr val="bg1"/>
                </a:solidFill>
                <a:latin typeface="+mn-ea"/>
              </a:rPr>
              <a:t>，</a:t>
            </a:r>
            <a:r>
              <a:rPr lang="en-US" altLang="zh-CN" sz="2200" b="1" dirty="0" err="1">
                <a:solidFill>
                  <a:schemeClr val="bg1"/>
                </a:solidFill>
                <a:latin typeface="+mn-ea"/>
              </a:rPr>
              <a:t>P</a:t>
            </a:r>
            <a:r>
              <a:rPr lang="en-US" altLang="zh-CN" sz="2200" b="1" baseline="-25000" dirty="0" err="1">
                <a:solidFill>
                  <a:schemeClr val="bg1"/>
                </a:solidFill>
                <a:latin typeface="+mn-ea"/>
              </a:rPr>
              <a:t>n</a:t>
            </a:r>
            <a:r>
              <a:rPr lang="zh-CN" altLang="en-US" sz="2200" b="1" dirty="0">
                <a:solidFill>
                  <a:schemeClr val="bg1"/>
                </a:solidFill>
                <a:latin typeface="+mn-ea"/>
              </a:rPr>
              <a:t>，它们共享资源</a:t>
            </a:r>
            <a:r>
              <a:rPr lang="en-US" altLang="zh-CN" sz="2200" b="1" dirty="0">
                <a:solidFill>
                  <a:schemeClr val="bg1"/>
                </a:solidFill>
                <a:latin typeface="+mn-ea"/>
              </a:rPr>
              <a:t>R</a:t>
            </a:r>
            <a:r>
              <a:rPr lang="en-US" altLang="zh-CN" sz="2200" b="1" baseline="-25000" dirty="0">
                <a:solidFill>
                  <a:schemeClr val="bg1"/>
                </a:solidFill>
                <a:latin typeface="+mn-ea"/>
              </a:rPr>
              <a:t>1</a:t>
            </a:r>
            <a:r>
              <a:rPr lang="zh-CN" altLang="en-US" sz="2200" b="1" dirty="0">
                <a:solidFill>
                  <a:schemeClr val="bg1"/>
                </a:solidFill>
                <a:latin typeface="+mn-ea"/>
              </a:rPr>
              <a:t>，</a:t>
            </a:r>
            <a:r>
              <a:rPr lang="en-US" altLang="zh-CN" sz="2200" b="1" dirty="0">
                <a:solidFill>
                  <a:schemeClr val="bg1"/>
                </a:solidFill>
                <a:latin typeface="+mn-ea"/>
              </a:rPr>
              <a:t>R</a:t>
            </a:r>
            <a:r>
              <a:rPr lang="en-US" altLang="zh-CN" sz="2200" b="1" baseline="-25000" dirty="0">
                <a:solidFill>
                  <a:schemeClr val="bg1"/>
                </a:solidFill>
                <a:latin typeface="+mn-ea"/>
              </a:rPr>
              <a:t>2</a:t>
            </a:r>
            <a:r>
              <a:rPr lang="zh-CN" altLang="en-US" sz="2200" b="1" dirty="0">
                <a:solidFill>
                  <a:schemeClr val="bg1"/>
                </a:solidFill>
                <a:latin typeface="+mn-ea"/>
              </a:rPr>
              <a:t>，</a:t>
            </a:r>
            <a:r>
              <a:rPr lang="en-US" altLang="zh-CN" sz="2200" b="1" dirty="0">
                <a:solidFill>
                  <a:schemeClr val="bg1"/>
                </a:solidFill>
                <a:latin typeface="+mn-ea"/>
              </a:rPr>
              <a:t>…</a:t>
            </a:r>
            <a:r>
              <a:rPr lang="zh-CN" altLang="en-US" sz="2200" b="1" dirty="0">
                <a:solidFill>
                  <a:schemeClr val="bg1"/>
                </a:solidFill>
                <a:latin typeface="+mn-ea"/>
              </a:rPr>
              <a:t>，</a:t>
            </a:r>
            <a:r>
              <a:rPr lang="en-US" altLang="zh-CN" sz="2200" b="1" dirty="0">
                <a:solidFill>
                  <a:schemeClr val="bg1"/>
                </a:solidFill>
                <a:latin typeface="+mn-ea"/>
              </a:rPr>
              <a:t>R</a:t>
            </a:r>
            <a:r>
              <a:rPr lang="en-US" altLang="zh-CN" sz="2200" b="1" baseline="-25000" dirty="0">
                <a:solidFill>
                  <a:schemeClr val="bg1"/>
                </a:solidFill>
                <a:latin typeface="+mn-ea"/>
              </a:rPr>
              <a:t>m</a:t>
            </a:r>
            <a:r>
              <a:rPr lang="zh-CN" altLang="en-US" sz="2200" b="1" dirty="0">
                <a:solidFill>
                  <a:schemeClr val="bg1"/>
                </a:solidFill>
                <a:latin typeface="+mn-ea"/>
              </a:rPr>
              <a:t>（</a:t>
            </a:r>
            <a:r>
              <a:rPr lang="en-US" altLang="zh-CN" sz="2200" b="1" dirty="0">
                <a:solidFill>
                  <a:schemeClr val="bg1"/>
                </a:solidFill>
                <a:latin typeface="+mn-ea"/>
              </a:rPr>
              <a:t>n&gt;0</a:t>
            </a:r>
            <a:r>
              <a:rPr lang="zh-CN" altLang="en-US" sz="2200" b="1" dirty="0">
                <a:solidFill>
                  <a:schemeClr val="bg1"/>
                </a:solidFill>
                <a:latin typeface="+mn-ea"/>
              </a:rPr>
              <a:t>，</a:t>
            </a:r>
            <a:r>
              <a:rPr lang="en-US" altLang="zh-CN" sz="2200" b="1" dirty="0">
                <a:solidFill>
                  <a:schemeClr val="bg1"/>
                </a:solidFill>
                <a:latin typeface="+mn-ea"/>
              </a:rPr>
              <a:t>m&gt;0</a:t>
            </a:r>
            <a:r>
              <a:rPr lang="zh-CN" altLang="en-US" sz="2200" b="1" dirty="0">
                <a:solidFill>
                  <a:schemeClr val="bg1"/>
                </a:solidFill>
                <a:latin typeface="+mn-ea"/>
              </a:rPr>
              <a:t>，</a:t>
            </a:r>
            <a:r>
              <a:rPr lang="en-US" altLang="zh-CN" sz="2200" b="1" dirty="0">
                <a:solidFill>
                  <a:schemeClr val="bg1"/>
                </a:solidFill>
                <a:latin typeface="+mn-ea"/>
              </a:rPr>
              <a:t>n&gt;=m</a:t>
            </a:r>
            <a:r>
              <a:rPr lang="zh-CN" altLang="en-US" sz="2200" b="1" dirty="0">
                <a:solidFill>
                  <a:schemeClr val="bg1"/>
                </a:solidFill>
                <a:latin typeface="+mn-ea"/>
              </a:rPr>
              <a:t>）。其中，每个</a:t>
            </a:r>
            <a:r>
              <a:rPr lang="en-US" altLang="zh-CN" sz="2200" b="1" dirty="0">
                <a:solidFill>
                  <a:schemeClr val="bg1"/>
                </a:solidFill>
                <a:latin typeface="+mn-ea"/>
              </a:rPr>
              <a:t>P</a:t>
            </a:r>
            <a:r>
              <a:rPr lang="en-US" altLang="zh-CN" sz="2200" b="1" baseline="-25000" dirty="0">
                <a:solidFill>
                  <a:schemeClr val="bg1"/>
                </a:solidFill>
                <a:latin typeface="+mn-ea"/>
              </a:rPr>
              <a:t>i</a:t>
            </a:r>
            <a:r>
              <a:rPr lang="zh-CN" altLang="en-US" sz="2200" b="1" dirty="0">
                <a:solidFill>
                  <a:schemeClr val="bg1"/>
                </a:solidFill>
                <a:latin typeface="+mn-ea"/>
              </a:rPr>
              <a:t>（</a:t>
            </a:r>
            <a:r>
              <a:rPr lang="en-US" altLang="zh-CN" sz="2200" b="1" dirty="0">
                <a:solidFill>
                  <a:schemeClr val="bg1"/>
                </a:solidFill>
                <a:latin typeface="+mn-ea"/>
              </a:rPr>
              <a:t>1≤i≤n</a:t>
            </a:r>
            <a:r>
              <a:rPr lang="zh-CN" altLang="en-US" sz="2200" b="1" dirty="0">
                <a:solidFill>
                  <a:schemeClr val="bg1"/>
                </a:solidFill>
                <a:latin typeface="+mn-ea"/>
              </a:rPr>
              <a:t>）拥有资源</a:t>
            </a:r>
            <a:r>
              <a:rPr lang="en-US" altLang="zh-CN" sz="2200" b="1" dirty="0" err="1">
                <a:solidFill>
                  <a:schemeClr val="bg1"/>
                </a:solidFill>
                <a:latin typeface="+mn-ea"/>
              </a:rPr>
              <a:t>R</a:t>
            </a:r>
            <a:r>
              <a:rPr lang="en-US" altLang="zh-CN" sz="2200" b="1" baseline="-25000" dirty="0" err="1">
                <a:solidFill>
                  <a:schemeClr val="bg1"/>
                </a:solidFill>
                <a:latin typeface="+mn-ea"/>
              </a:rPr>
              <a:t>j</a:t>
            </a:r>
            <a:r>
              <a:rPr lang="zh-CN" altLang="en-US" sz="2200" b="1" dirty="0">
                <a:solidFill>
                  <a:schemeClr val="bg1"/>
                </a:solidFill>
                <a:latin typeface="+mn-ea"/>
              </a:rPr>
              <a:t>（</a:t>
            </a:r>
            <a:r>
              <a:rPr lang="en-US" altLang="zh-CN" sz="2200" b="1" dirty="0">
                <a:solidFill>
                  <a:schemeClr val="bg1"/>
                </a:solidFill>
                <a:latin typeface="+mn-ea"/>
              </a:rPr>
              <a:t>1 ≤j ≤m</a:t>
            </a:r>
            <a:r>
              <a:rPr lang="zh-CN" altLang="en-US" sz="2200" b="1" dirty="0">
                <a:solidFill>
                  <a:schemeClr val="bg1"/>
                </a:solidFill>
                <a:latin typeface="+mn-ea"/>
              </a:rPr>
              <a:t>），直到不再有剩余资源。同时，各</a:t>
            </a:r>
            <a:r>
              <a:rPr lang="en-US" altLang="zh-CN" sz="2200" b="1" dirty="0">
                <a:solidFill>
                  <a:srgbClr val="FFFF00"/>
                </a:solidFill>
                <a:latin typeface="+mn-ea"/>
              </a:rPr>
              <a:t>P</a:t>
            </a:r>
            <a:r>
              <a:rPr lang="en-US" altLang="zh-CN" sz="2200" b="1" baseline="-25000" dirty="0">
                <a:solidFill>
                  <a:srgbClr val="FFFF00"/>
                </a:solidFill>
                <a:latin typeface="+mn-ea"/>
              </a:rPr>
              <a:t>i</a:t>
            </a:r>
            <a:r>
              <a:rPr lang="zh-CN" altLang="en-US" sz="2200" b="1" dirty="0">
                <a:solidFill>
                  <a:srgbClr val="FFFF00"/>
                </a:solidFill>
                <a:latin typeface="+mn-ea"/>
              </a:rPr>
              <a:t>又在不释放</a:t>
            </a:r>
            <a:r>
              <a:rPr lang="en-US" altLang="zh-CN" sz="2200" b="1" dirty="0" err="1">
                <a:solidFill>
                  <a:srgbClr val="FFFF00"/>
                </a:solidFill>
                <a:latin typeface="+mn-ea"/>
              </a:rPr>
              <a:t>R</a:t>
            </a:r>
            <a:r>
              <a:rPr lang="en-US" altLang="zh-CN" sz="2200" b="1" baseline="-25000" dirty="0" err="1">
                <a:solidFill>
                  <a:srgbClr val="FFFF00"/>
                </a:solidFill>
                <a:latin typeface="+mn-ea"/>
              </a:rPr>
              <a:t>j</a:t>
            </a:r>
            <a:r>
              <a:rPr lang="en-US" altLang="zh-CN" sz="2200" b="1" dirty="0">
                <a:solidFill>
                  <a:srgbClr val="FFFF00"/>
                </a:solidFill>
                <a:latin typeface="+mn-ea"/>
              </a:rPr>
              <a:t> </a:t>
            </a:r>
            <a:r>
              <a:rPr lang="zh-CN" altLang="en-US" sz="2200" b="1" dirty="0">
                <a:solidFill>
                  <a:srgbClr val="FFFF00"/>
                </a:solidFill>
                <a:latin typeface="+mn-ea"/>
              </a:rPr>
              <a:t>的前提下要求得到</a:t>
            </a:r>
            <a:r>
              <a:rPr lang="en-US" altLang="zh-CN" sz="2200" b="1" dirty="0" err="1">
                <a:solidFill>
                  <a:srgbClr val="FFFF00"/>
                </a:solidFill>
                <a:latin typeface="+mn-ea"/>
              </a:rPr>
              <a:t>R</a:t>
            </a:r>
            <a:r>
              <a:rPr lang="en-US" altLang="zh-CN" sz="2200" b="1" baseline="-25000" dirty="0" err="1">
                <a:solidFill>
                  <a:srgbClr val="FFFF00"/>
                </a:solidFill>
                <a:latin typeface="+mn-ea"/>
              </a:rPr>
              <a:t>k</a:t>
            </a:r>
            <a:r>
              <a:rPr lang="zh-CN" altLang="en-US" sz="2200" b="1" dirty="0">
                <a:solidFill>
                  <a:schemeClr val="bg1"/>
                </a:solidFill>
                <a:latin typeface="+mn-ea"/>
              </a:rPr>
              <a:t>（</a:t>
            </a:r>
            <a:r>
              <a:rPr lang="en-US" altLang="zh-CN" sz="2200" b="1" dirty="0" err="1">
                <a:solidFill>
                  <a:schemeClr val="bg1"/>
                </a:solidFill>
                <a:latin typeface="+mn-ea"/>
              </a:rPr>
              <a:t>k≠j</a:t>
            </a:r>
            <a:r>
              <a:rPr lang="zh-CN" altLang="en-US" sz="2200" b="1" dirty="0">
                <a:solidFill>
                  <a:schemeClr val="bg1"/>
                </a:solidFill>
                <a:latin typeface="+mn-ea"/>
              </a:rPr>
              <a:t>，</a:t>
            </a:r>
            <a:r>
              <a:rPr lang="en-US" altLang="zh-CN" sz="2200" b="1" dirty="0">
                <a:solidFill>
                  <a:schemeClr val="bg1"/>
                </a:solidFill>
                <a:latin typeface="+mn-ea"/>
              </a:rPr>
              <a:t>1 ≤</a:t>
            </a:r>
            <a:r>
              <a:rPr lang="en-US" altLang="zh-CN" sz="2200" b="1" dirty="0" err="1">
                <a:solidFill>
                  <a:schemeClr val="bg1"/>
                </a:solidFill>
                <a:latin typeface="+mn-ea"/>
              </a:rPr>
              <a:t>k≤m</a:t>
            </a:r>
            <a:r>
              <a:rPr lang="zh-CN" altLang="en-US" sz="2200" b="1" dirty="0">
                <a:solidFill>
                  <a:schemeClr val="bg1"/>
                </a:solidFill>
                <a:latin typeface="+mn-ea"/>
              </a:rPr>
              <a:t>），从而造成资源的互相占有和互相等待。在没有外力驱动的情况下，该组并发进程停止往前推进，陷入永久等待状态。</a:t>
            </a:r>
            <a:endParaRPr lang="en-US" altLang="zh-CN" sz="22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死锁的起因</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05178"/>
            <a:ext cx="6941291"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产生死锁的根本原因在于系统提供的资源个数少于并发进程所要求的该类资源数。显然，由于资源的有限性，不可能为所有要求资源的进程无限制地提供资源。</a:t>
            </a:r>
            <a:endParaRPr lang="en-US" altLang="zh-CN"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死锁产生的必要条件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2699779" y="1247691"/>
            <a:ext cx="3413760" cy="3413760"/>
          </a:xfrm>
          <a:custGeom>
            <a:avLst/>
            <a:gdLst>
              <a:gd name="connsiteX0" fmla="*/ 1706880 w 3413760"/>
              <a:gd name="connsiteY0" fmla="*/ 0 h 3413760"/>
              <a:gd name="connsiteX1" fmla="*/ 3413760 w 3413760"/>
              <a:gd name="connsiteY1" fmla="*/ 1706880 h 3413760"/>
              <a:gd name="connsiteX2" fmla="*/ 1706880 w 3413760"/>
              <a:gd name="connsiteY2" fmla="*/ 1706880 h 3413760"/>
              <a:gd name="connsiteX3" fmla="*/ 1706880 w 3413760"/>
              <a:gd name="connsiteY3" fmla="*/ 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0"/>
                </a:moveTo>
                <a:cubicBezTo>
                  <a:pt x="2649564" y="0"/>
                  <a:pt x="3413760" y="764196"/>
                  <a:pt x="3413760" y="1706880"/>
                </a:cubicBezTo>
                <a:lnTo>
                  <a:pt x="1706880" y="1706880"/>
                </a:lnTo>
                <a:lnTo>
                  <a:pt x="1706880" y="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783994" tIns="669646" rIns="446126" bIns="1804314" numCol="1" spcCol="1270" anchor="ctr" anchorCtr="0">
            <a:noAutofit/>
          </a:bodyPr>
          <a:lstStyle/>
          <a:p>
            <a:pPr lvl="0" algn="ctr" defTabSz="1333500">
              <a:lnSpc>
                <a:spcPct val="90000"/>
              </a:lnSpc>
              <a:spcBef>
                <a:spcPct val="0"/>
              </a:spcBef>
              <a:spcAft>
                <a:spcPct val="35000"/>
              </a:spcAft>
            </a:pPr>
            <a:r>
              <a:rPr lang="zh-CN" altLang="en-US" sz="3000" b="1" kern="1200" dirty="0" smtClean="0"/>
              <a:t>互斥条件</a:t>
            </a:r>
            <a:endParaRPr lang="zh-CN" altLang="en-US" sz="3000" b="1" kern="1200" dirty="0"/>
          </a:p>
        </p:txBody>
      </p:sp>
      <p:sp>
        <p:nvSpPr>
          <p:cNvPr id="5" name="任意多边形 4"/>
          <p:cNvSpPr/>
          <p:nvPr/>
        </p:nvSpPr>
        <p:spPr>
          <a:xfrm>
            <a:off x="2672835" y="1216226"/>
            <a:ext cx="3413760" cy="3413760"/>
          </a:xfrm>
          <a:custGeom>
            <a:avLst/>
            <a:gdLst>
              <a:gd name="connsiteX0" fmla="*/ 3413760 w 3413760"/>
              <a:gd name="connsiteY0" fmla="*/ 1706880 h 3413760"/>
              <a:gd name="connsiteX1" fmla="*/ 1706880 w 3413760"/>
              <a:gd name="connsiteY1" fmla="*/ 3413760 h 3413760"/>
              <a:gd name="connsiteX2" fmla="*/ 1706880 w 3413760"/>
              <a:gd name="connsiteY2" fmla="*/ 1706880 h 3413760"/>
              <a:gd name="connsiteX3" fmla="*/ 341376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3413760" y="1706880"/>
                </a:moveTo>
                <a:cubicBezTo>
                  <a:pt x="3413760" y="2649564"/>
                  <a:pt x="2649564" y="3413760"/>
                  <a:pt x="1706880" y="3413760"/>
                </a:cubicBezTo>
                <a:lnTo>
                  <a:pt x="1706880" y="1706880"/>
                </a:lnTo>
                <a:lnTo>
                  <a:pt x="341376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805940" tIns="1805940" rIns="424180" bIns="668020" numCol="1" spcCol="1270" anchor="ctr" anchorCtr="0">
            <a:noAutofit/>
          </a:bodyPr>
          <a:lstStyle/>
          <a:p>
            <a:pPr lvl="0" algn="ctr" defTabSz="1333500">
              <a:lnSpc>
                <a:spcPct val="90000"/>
              </a:lnSpc>
              <a:spcBef>
                <a:spcPct val="0"/>
              </a:spcBef>
              <a:spcAft>
                <a:spcPct val="35000"/>
              </a:spcAft>
            </a:pPr>
            <a:r>
              <a:rPr lang="zh-CN" altLang="en-US" sz="3000" b="1" kern="1200" dirty="0" smtClean="0"/>
              <a:t>不剥夺条件</a:t>
            </a:r>
            <a:endParaRPr lang="zh-CN" altLang="en-US" sz="3000" b="1" kern="1200" dirty="0"/>
          </a:p>
        </p:txBody>
      </p:sp>
      <p:sp>
        <p:nvSpPr>
          <p:cNvPr id="6" name="任意多边形 5"/>
          <p:cNvSpPr/>
          <p:nvPr/>
        </p:nvSpPr>
        <p:spPr>
          <a:xfrm>
            <a:off x="2672835" y="1216226"/>
            <a:ext cx="3413760" cy="3413760"/>
          </a:xfrm>
          <a:custGeom>
            <a:avLst/>
            <a:gdLst>
              <a:gd name="connsiteX0" fmla="*/ 1706880 w 3413760"/>
              <a:gd name="connsiteY0" fmla="*/ 3413760 h 3413760"/>
              <a:gd name="connsiteX1" fmla="*/ 0 w 3413760"/>
              <a:gd name="connsiteY1" fmla="*/ 1706880 h 3413760"/>
              <a:gd name="connsiteX2" fmla="*/ 1706880 w 3413760"/>
              <a:gd name="connsiteY2" fmla="*/ 1706880 h 3413760"/>
              <a:gd name="connsiteX3" fmla="*/ 1706880 w 3413760"/>
              <a:gd name="connsiteY3" fmla="*/ 341376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3413760"/>
                </a:moveTo>
                <a:cubicBezTo>
                  <a:pt x="764196" y="3413760"/>
                  <a:pt x="0" y="2649564"/>
                  <a:pt x="0" y="1706880"/>
                </a:cubicBezTo>
                <a:lnTo>
                  <a:pt x="1706880" y="1706880"/>
                </a:lnTo>
                <a:lnTo>
                  <a:pt x="1706880" y="341376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24180" tIns="1805940" rIns="1805940" bIns="668020" numCol="1" spcCol="1270" anchor="ctr" anchorCtr="0">
            <a:noAutofit/>
          </a:bodyPr>
          <a:lstStyle/>
          <a:p>
            <a:pPr lvl="0" algn="ctr" defTabSz="1333500">
              <a:lnSpc>
                <a:spcPct val="90000"/>
              </a:lnSpc>
              <a:spcBef>
                <a:spcPct val="0"/>
              </a:spcBef>
              <a:spcAft>
                <a:spcPct val="35000"/>
              </a:spcAft>
            </a:pPr>
            <a:r>
              <a:rPr lang="zh-CN" altLang="en-US" sz="3000" b="1" kern="1200" dirty="0" smtClean="0"/>
              <a:t>部分分配</a:t>
            </a:r>
            <a:endParaRPr lang="zh-CN" altLang="en-US" sz="3000" b="1" kern="1200" dirty="0"/>
          </a:p>
        </p:txBody>
      </p:sp>
      <p:sp>
        <p:nvSpPr>
          <p:cNvPr id="7" name="任意多边形 6"/>
          <p:cNvSpPr/>
          <p:nvPr/>
        </p:nvSpPr>
        <p:spPr>
          <a:xfrm>
            <a:off x="2672835" y="1216226"/>
            <a:ext cx="3413760" cy="3413760"/>
          </a:xfrm>
          <a:custGeom>
            <a:avLst/>
            <a:gdLst>
              <a:gd name="connsiteX0" fmla="*/ 0 w 3413760"/>
              <a:gd name="connsiteY0" fmla="*/ 1706880 h 3413760"/>
              <a:gd name="connsiteX1" fmla="*/ 1706880 w 3413760"/>
              <a:gd name="connsiteY1" fmla="*/ 0 h 3413760"/>
              <a:gd name="connsiteX2" fmla="*/ 1706880 w 3413760"/>
              <a:gd name="connsiteY2" fmla="*/ 1706880 h 3413760"/>
              <a:gd name="connsiteX3" fmla="*/ 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0" y="1706880"/>
                </a:moveTo>
                <a:cubicBezTo>
                  <a:pt x="0" y="764196"/>
                  <a:pt x="764196" y="0"/>
                  <a:pt x="1706880" y="0"/>
                </a:cubicBezTo>
                <a:lnTo>
                  <a:pt x="1706880" y="1706880"/>
                </a:lnTo>
                <a:lnTo>
                  <a:pt x="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24180" tIns="668020" rIns="1805940" bIns="1805940" numCol="1" spcCol="1270" anchor="ctr" anchorCtr="0">
            <a:noAutofit/>
          </a:bodyPr>
          <a:lstStyle/>
          <a:p>
            <a:pPr lvl="0" algn="ctr" defTabSz="1333500">
              <a:lnSpc>
                <a:spcPct val="90000"/>
              </a:lnSpc>
              <a:spcBef>
                <a:spcPct val="0"/>
              </a:spcBef>
              <a:spcAft>
                <a:spcPct val="35000"/>
              </a:spcAft>
            </a:pPr>
            <a:r>
              <a:rPr lang="zh-CN" altLang="en-US" sz="3000" b="1" kern="1200" dirty="0" smtClean="0"/>
              <a:t>环路条件</a:t>
            </a:r>
            <a:endParaRPr lang="zh-CN" altLang="en-US" sz="3000" b="1" kern="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8995" y="104297"/>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死锁的消除方法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353757" y="3615744"/>
            <a:ext cx="6762295" cy="1337686"/>
            <a:chOff x="1011954" y="3586783"/>
            <a:chExt cx="6762295" cy="1337686"/>
          </a:xfrm>
        </p:grpSpPr>
        <p:sp>
          <p:nvSpPr>
            <p:cNvPr id="6" name="任意多边形 5"/>
            <p:cNvSpPr/>
            <p:nvPr/>
          </p:nvSpPr>
          <p:spPr>
            <a:xfrm>
              <a:off x="1011954" y="3586783"/>
              <a:ext cx="6762293" cy="1302704"/>
            </a:xfrm>
            <a:custGeom>
              <a:avLst/>
              <a:gdLst>
                <a:gd name="connsiteX0" fmla="*/ 0 w 6096000"/>
                <a:gd name="connsiteY0" fmla="*/ 0 h 1004093"/>
                <a:gd name="connsiteX1" fmla="*/ 6096000 w 6096000"/>
                <a:gd name="connsiteY1" fmla="*/ 0 h 1004093"/>
                <a:gd name="connsiteX2" fmla="*/ 6096000 w 6096000"/>
                <a:gd name="connsiteY2" fmla="*/ 1004093 h 1004093"/>
                <a:gd name="connsiteX3" fmla="*/ 0 w 6096000"/>
                <a:gd name="connsiteY3" fmla="*/ 1004093 h 1004093"/>
                <a:gd name="connsiteX4" fmla="*/ 0 w 6096000"/>
                <a:gd name="connsiteY4" fmla="*/ 0 h 1004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004093">
                  <a:moveTo>
                    <a:pt x="0" y="0"/>
                  </a:moveTo>
                  <a:lnTo>
                    <a:pt x="6096000" y="0"/>
                  </a:lnTo>
                  <a:lnTo>
                    <a:pt x="6096000" y="1004093"/>
                  </a:lnTo>
                  <a:lnTo>
                    <a:pt x="0" y="1004093"/>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99136" tIns="199136" rIns="199136" bIns="661019" numCol="1" spcCol="1270" anchor="ctr" anchorCtr="0">
              <a:noAutofit/>
            </a:bodyPr>
            <a:lstStyle/>
            <a:p>
              <a:pPr lvl="0" algn="ctr" defTabSz="1244600">
                <a:lnSpc>
                  <a:spcPct val="90000"/>
                </a:lnSpc>
                <a:spcBef>
                  <a:spcPct val="0"/>
                </a:spcBef>
              </a:pPr>
              <a:r>
                <a:rPr lang="zh-CN" altLang="en-US" sz="2800" b="1" kern="1200" smtClean="0"/>
                <a:t>检测与恢复</a:t>
              </a:r>
              <a:endParaRPr lang="en-US" altLang="zh-CN" sz="2800" b="1" kern="1200" dirty="0" smtClean="0"/>
            </a:p>
            <a:p>
              <a:pPr lvl="0" algn="ctr" defTabSz="1244600">
                <a:lnSpc>
                  <a:spcPct val="90000"/>
                </a:lnSpc>
                <a:spcBef>
                  <a:spcPct val="0"/>
                </a:spcBef>
              </a:pPr>
              <a:endParaRPr lang="zh-CN" altLang="en-US" sz="2800" b="1" kern="1200" dirty="0"/>
            </a:p>
          </p:txBody>
        </p:sp>
        <p:sp>
          <p:nvSpPr>
            <p:cNvPr id="7" name="任意多边形 6"/>
            <p:cNvSpPr/>
            <p:nvPr/>
          </p:nvSpPr>
          <p:spPr>
            <a:xfrm>
              <a:off x="1011954" y="4009956"/>
              <a:ext cx="6762295" cy="914513"/>
            </a:xfrm>
            <a:custGeom>
              <a:avLst/>
              <a:gdLst>
                <a:gd name="connsiteX0" fmla="*/ 0 w 6096000"/>
                <a:gd name="connsiteY0" fmla="*/ 0 h 461883"/>
                <a:gd name="connsiteX1" fmla="*/ 6096000 w 6096000"/>
                <a:gd name="connsiteY1" fmla="*/ 0 h 461883"/>
                <a:gd name="connsiteX2" fmla="*/ 6096000 w 6096000"/>
                <a:gd name="connsiteY2" fmla="*/ 461883 h 461883"/>
                <a:gd name="connsiteX3" fmla="*/ 0 w 6096000"/>
                <a:gd name="connsiteY3" fmla="*/ 461883 h 461883"/>
                <a:gd name="connsiteX4" fmla="*/ 0 w 6096000"/>
                <a:gd name="connsiteY4" fmla="*/ 0 h 461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461883">
                  <a:moveTo>
                    <a:pt x="0" y="0"/>
                  </a:moveTo>
                  <a:lnTo>
                    <a:pt x="6096000" y="0"/>
                  </a:lnTo>
                  <a:lnTo>
                    <a:pt x="6096000" y="461883"/>
                  </a:lnTo>
                  <a:lnTo>
                    <a:pt x="0" y="461883"/>
                  </a:lnTo>
                  <a:lnTo>
                    <a:pt x="0" y="0"/>
                  </a:lnTo>
                  <a:close/>
                </a:path>
              </a:pathLst>
            </a:custGeom>
            <a:scene3d>
              <a:camera prst="orthographicFront"/>
              <a:lightRig rig="flat" dir="t"/>
            </a:scene3d>
            <a:sp3d z="190500" extrusionH="12700" prstMaterial="plastic">
              <a:bevelT w="50800" h="50800"/>
            </a:sp3d>
          </p:spPr>
          <p:style>
            <a:lnRef idx="1">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2">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13792" tIns="20320" rIns="113792" bIns="20320" numCol="1" spcCol="1270" anchor="ctr" anchorCtr="0">
              <a:noAutofit/>
            </a:bodyPr>
            <a:lstStyle/>
            <a:p>
              <a:pPr lvl="0" defTabSz="711200">
                <a:lnSpc>
                  <a:spcPct val="90000"/>
                </a:lnSpc>
                <a:spcBef>
                  <a:spcPct val="0"/>
                </a:spcBef>
                <a:spcAft>
                  <a:spcPct val="35000"/>
                </a:spcAft>
              </a:pPr>
              <a:r>
                <a:rPr lang="zh-CN" altLang="en-US" sz="2000" b="1" kern="1200" dirty="0" smtClean="0"/>
                <a:t>指系统设有专门的机构，当死锁发生时，该机构能够检测到死锁发生的位置和原因，并能通过外力破坏死锁发生的必要条件，从而使得并发进程从死锁状态中恢复出来</a:t>
              </a:r>
              <a:endParaRPr lang="zh-CN" altLang="en-US" sz="2000" b="1" kern="1200" dirty="0"/>
            </a:p>
          </p:txBody>
        </p:sp>
      </p:grpSp>
      <p:grpSp>
        <p:nvGrpSpPr>
          <p:cNvPr id="13" name="组合 12"/>
          <p:cNvGrpSpPr/>
          <p:nvPr/>
        </p:nvGrpSpPr>
        <p:grpSpPr>
          <a:xfrm>
            <a:off x="353757" y="2084406"/>
            <a:ext cx="6762293" cy="1544297"/>
            <a:chOff x="1011954" y="2055445"/>
            <a:chExt cx="6762293" cy="1544297"/>
          </a:xfrm>
        </p:grpSpPr>
        <p:sp>
          <p:nvSpPr>
            <p:cNvPr id="8" name="任意多边形 7"/>
            <p:cNvSpPr/>
            <p:nvPr/>
          </p:nvSpPr>
          <p:spPr>
            <a:xfrm>
              <a:off x="1011954" y="2055445"/>
              <a:ext cx="6762293" cy="1544297"/>
            </a:xfrm>
            <a:custGeom>
              <a:avLst/>
              <a:gdLst>
                <a:gd name="connsiteX0" fmla="*/ 0 w 6096000"/>
                <a:gd name="connsiteY0" fmla="*/ 540859 h 1544296"/>
                <a:gd name="connsiteX1" fmla="*/ 2854963 w 6096000"/>
                <a:gd name="connsiteY1" fmla="*/ 540859 h 1544296"/>
                <a:gd name="connsiteX2" fmla="*/ 2854963 w 6096000"/>
                <a:gd name="connsiteY2" fmla="*/ 386074 h 1544296"/>
                <a:gd name="connsiteX3" fmla="*/ 2661926 w 6096000"/>
                <a:gd name="connsiteY3" fmla="*/ 386074 h 1544296"/>
                <a:gd name="connsiteX4" fmla="*/ 3048000 w 6096000"/>
                <a:gd name="connsiteY4" fmla="*/ 0 h 1544296"/>
                <a:gd name="connsiteX5" fmla="*/ 3434074 w 6096000"/>
                <a:gd name="connsiteY5" fmla="*/ 386074 h 1544296"/>
                <a:gd name="connsiteX6" fmla="*/ 3241037 w 6096000"/>
                <a:gd name="connsiteY6" fmla="*/ 386074 h 1544296"/>
                <a:gd name="connsiteX7" fmla="*/ 3241037 w 6096000"/>
                <a:gd name="connsiteY7" fmla="*/ 540859 h 1544296"/>
                <a:gd name="connsiteX8" fmla="*/ 6096000 w 6096000"/>
                <a:gd name="connsiteY8" fmla="*/ 540859 h 1544296"/>
                <a:gd name="connsiteX9" fmla="*/ 6096000 w 6096000"/>
                <a:gd name="connsiteY9" fmla="*/ 1544296 h 1544296"/>
                <a:gd name="connsiteX10" fmla="*/ 0 w 6096000"/>
                <a:gd name="connsiteY10" fmla="*/ 1544296 h 1544296"/>
                <a:gd name="connsiteX11" fmla="*/ 0 w 6096000"/>
                <a:gd name="connsiteY11" fmla="*/ 540859 h 154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96000" h="1544296">
                  <a:moveTo>
                    <a:pt x="6096000" y="1003437"/>
                  </a:moveTo>
                  <a:lnTo>
                    <a:pt x="3241037" y="1003437"/>
                  </a:lnTo>
                  <a:lnTo>
                    <a:pt x="3241037" y="1158222"/>
                  </a:lnTo>
                  <a:lnTo>
                    <a:pt x="3434074" y="1158222"/>
                  </a:lnTo>
                  <a:lnTo>
                    <a:pt x="3048000" y="1544295"/>
                  </a:lnTo>
                  <a:lnTo>
                    <a:pt x="2661926" y="1158222"/>
                  </a:lnTo>
                  <a:lnTo>
                    <a:pt x="2854963" y="1158222"/>
                  </a:lnTo>
                  <a:lnTo>
                    <a:pt x="2854963" y="1003437"/>
                  </a:lnTo>
                  <a:lnTo>
                    <a:pt x="0" y="1003437"/>
                  </a:lnTo>
                  <a:lnTo>
                    <a:pt x="0" y="1"/>
                  </a:lnTo>
                  <a:lnTo>
                    <a:pt x="6096000" y="1"/>
                  </a:lnTo>
                  <a:lnTo>
                    <a:pt x="6096000" y="100343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199136" tIns="199136" rIns="199136" bIns="1201386" numCol="1" spcCol="1270" anchor="ctr" anchorCtr="0">
              <a:noAutofit/>
            </a:bodyPr>
            <a:lstStyle/>
            <a:p>
              <a:pPr algn="ctr" defTabSz="1244600">
                <a:lnSpc>
                  <a:spcPct val="150000"/>
                </a:lnSpc>
                <a:spcBef>
                  <a:spcPct val="0"/>
                </a:spcBef>
              </a:pPr>
              <a:endParaRPr lang="en-US" altLang="zh-CN" sz="2800" b="1" dirty="0" smtClean="0"/>
            </a:p>
            <a:p>
              <a:pPr algn="ctr" defTabSz="1244600">
                <a:spcBef>
                  <a:spcPct val="0"/>
                </a:spcBef>
              </a:pPr>
              <a:r>
                <a:rPr lang="zh-CN" altLang="en-US" sz="2800" b="1" dirty="0" smtClean="0"/>
                <a:t>避免</a:t>
              </a:r>
              <a:endParaRPr lang="en-US" altLang="zh-CN" sz="2800" b="1" dirty="0" smtClean="0"/>
            </a:p>
            <a:p>
              <a:pPr algn="ctr" defTabSz="1244600">
                <a:lnSpc>
                  <a:spcPct val="150000"/>
                </a:lnSpc>
                <a:spcBef>
                  <a:spcPct val="0"/>
                </a:spcBef>
                <a:spcAft>
                  <a:spcPct val="35000"/>
                </a:spcAft>
              </a:pPr>
              <a:endParaRPr lang="zh-CN" altLang="en-US" sz="2800" b="1" dirty="0"/>
            </a:p>
          </p:txBody>
        </p:sp>
        <p:sp>
          <p:nvSpPr>
            <p:cNvPr id="9" name="任意多边形 8"/>
            <p:cNvSpPr/>
            <p:nvPr/>
          </p:nvSpPr>
          <p:spPr>
            <a:xfrm>
              <a:off x="1011954" y="2465659"/>
              <a:ext cx="6762293" cy="611954"/>
            </a:xfrm>
            <a:custGeom>
              <a:avLst/>
              <a:gdLst>
                <a:gd name="connsiteX0" fmla="*/ 0 w 6096000"/>
                <a:gd name="connsiteY0" fmla="*/ 0 h 461744"/>
                <a:gd name="connsiteX1" fmla="*/ 6096000 w 6096000"/>
                <a:gd name="connsiteY1" fmla="*/ 0 h 461744"/>
                <a:gd name="connsiteX2" fmla="*/ 6096000 w 6096000"/>
                <a:gd name="connsiteY2" fmla="*/ 461744 h 461744"/>
                <a:gd name="connsiteX3" fmla="*/ 0 w 6096000"/>
                <a:gd name="connsiteY3" fmla="*/ 461744 h 461744"/>
                <a:gd name="connsiteX4" fmla="*/ 0 w 6096000"/>
                <a:gd name="connsiteY4" fmla="*/ 0 h 461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461744">
                  <a:moveTo>
                    <a:pt x="0" y="0"/>
                  </a:moveTo>
                  <a:lnTo>
                    <a:pt x="6096000" y="0"/>
                  </a:lnTo>
                  <a:lnTo>
                    <a:pt x="6096000" y="461744"/>
                  </a:lnTo>
                  <a:lnTo>
                    <a:pt x="0" y="461744"/>
                  </a:lnTo>
                  <a:lnTo>
                    <a:pt x="0" y="0"/>
                  </a:lnTo>
                  <a:close/>
                </a:path>
              </a:pathLst>
            </a:custGeom>
            <a:scene3d>
              <a:camera prst="orthographicFront"/>
              <a:lightRig rig="flat" dir="t"/>
            </a:scene3d>
            <a:sp3d z="190500" extrusionH="12700" prstMaterial="plastic">
              <a:bevelT w="50800" h="50800"/>
            </a:sp3d>
          </p:spPr>
          <p:style>
            <a:lnRef idx="1">
              <a:schemeClr val="accent5">
                <a:tint val="40000"/>
                <a:alpha val="90000"/>
                <a:hueOff val="0"/>
                <a:satOff val="0"/>
                <a:lumOff val="0"/>
                <a:alphaOff val="0"/>
              </a:schemeClr>
            </a:lnRef>
            <a:fillRef idx="1">
              <a:schemeClr val="accent5">
                <a:tint val="40000"/>
                <a:alpha val="90000"/>
                <a:hueOff val="-5370241"/>
                <a:satOff val="24126"/>
                <a:lumOff val="1658"/>
                <a:alphaOff val="0"/>
              </a:schemeClr>
            </a:fillRef>
            <a:effectRef idx="2">
              <a:schemeClr val="accent5">
                <a:tint val="40000"/>
                <a:alpha val="90000"/>
                <a:hueOff val="-5370241"/>
                <a:satOff val="24126"/>
                <a:lumOff val="1658"/>
                <a:alphaOff val="0"/>
              </a:schemeClr>
            </a:effectRef>
            <a:fontRef idx="minor">
              <a:schemeClr val="dk1">
                <a:hueOff val="0"/>
                <a:satOff val="0"/>
                <a:lumOff val="0"/>
                <a:alphaOff val="0"/>
              </a:schemeClr>
            </a:fontRef>
          </p:style>
          <p:txBody>
            <a:bodyPr spcFirstLastPara="0" vert="horz" wrap="square" lIns="113792" tIns="20320" rIns="113792" bIns="20320" numCol="1" spcCol="1270" anchor="ctr" anchorCtr="0">
              <a:noAutofit/>
            </a:bodyPr>
            <a:lstStyle/>
            <a:p>
              <a:pPr lvl="0" defTabSz="711200">
                <a:lnSpc>
                  <a:spcPct val="90000"/>
                </a:lnSpc>
                <a:spcBef>
                  <a:spcPct val="0"/>
                </a:spcBef>
                <a:spcAft>
                  <a:spcPct val="35000"/>
                </a:spcAft>
              </a:pPr>
              <a:r>
                <a:rPr lang="zh-CN" altLang="en-US" sz="2000" b="1" kern="1200" dirty="0" smtClean="0"/>
                <a:t>系统在分配资源时，根据资源的使用情况提前做出预测，从而避免死锁的发生</a:t>
              </a:r>
              <a:endParaRPr lang="zh-CN" altLang="en-US" sz="2000" b="1" kern="1200" dirty="0"/>
            </a:p>
          </p:txBody>
        </p:sp>
      </p:grpSp>
      <p:grpSp>
        <p:nvGrpSpPr>
          <p:cNvPr id="12" name="组合 11"/>
          <p:cNvGrpSpPr/>
          <p:nvPr/>
        </p:nvGrpSpPr>
        <p:grpSpPr>
          <a:xfrm>
            <a:off x="387391" y="373462"/>
            <a:ext cx="6812560" cy="1769307"/>
            <a:chOff x="961688" y="339098"/>
            <a:chExt cx="6812560" cy="1769307"/>
          </a:xfrm>
        </p:grpSpPr>
        <p:sp>
          <p:nvSpPr>
            <p:cNvPr id="10" name="任意多边形 9"/>
            <p:cNvSpPr/>
            <p:nvPr/>
          </p:nvSpPr>
          <p:spPr>
            <a:xfrm>
              <a:off x="974916" y="339098"/>
              <a:ext cx="6799332" cy="1769307"/>
            </a:xfrm>
            <a:custGeom>
              <a:avLst/>
              <a:gdLst>
                <a:gd name="connsiteX0" fmla="*/ 0 w 6096000"/>
                <a:gd name="connsiteY0" fmla="*/ 540859 h 1544296"/>
                <a:gd name="connsiteX1" fmla="*/ 2854963 w 6096000"/>
                <a:gd name="connsiteY1" fmla="*/ 540859 h 1544296"/>
                <a:gd name="connsiteX2" fmla="*/ 2854963 w 6096000"/>
                <a:gd name="connsiteY2" fmla="*/ 386074 h 1544296"/>
                <a:gd name="connsiteX3" fmla="*/ 2661926 w 6096000"/>
                <a:gd name="connsiteY3" fmla="*/ 386074 h 1544296"/>
                <a:gd name="connsiteX4" fmla="*/ 3048000 w 6096000"/>
                <a:gd name="connsiteY4" fmla="*/ 0 h 1544296"/>
                <a:gd name="connsiteX5" fmla="*/ 3434074 w 6096000"/>
                <a:gd name="connsiteY5" fmla="*/ 386074 h 1544296"/>
                <a:gd name="connsiteX6" fmla="*/ 3241037 w 6096000"/>
                <a:gd name="connsiteY6" fmla="*/ 386074 h 1544296"/>
                <a:gd name="connsiteX7" fmla="*/ 3241037 w 6096000"/>
                <a:gd name="connsiteY7" fmla="*/ 540859 h 1544296"/>
                <a:gd name="connsiteX8" fmla="*/ 6096000 w 6096000"/>
                <a:gd name="connsiteY8" fmla="*/ 540859 h 1544296"/>
                <a:gd name="connsiteX9" fmla="*/ 6096000 w 6096000"/>
                <a:gd name="connsiteY9" fmla="*/ 1544296 h 1544296"/>
                <a:gd name="connsiteX10" fmla="*/ 0 w 6096000"/>
                <a:gd name="connsiteY10" fmla="*/ 1544296 h 1544296"/>
                <a:gd name="connsiteX11" fmla="*/ 0 w 6096000"/>
                <a:gd name="connsiteY11" fmla="*/ 540859 h 154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96000" h="1544296">
                  <a:moveTo>
                    <a:pt x="6096000" y="1003437"/>
                  </a:moveTo>
                  <a:lnTo>
                    <a:pt x="3241037" y="1003437"/>
                  </a:lnTo>
                  <a:lnTo>
                    <a:pt x="3241037" y="1158222"/>
                  </a:lnTo>
                  <a:lnTo>
                    <a:pt x="3434074" y="1158222"/>
                  </a:lnTo>
                  <a:lnTo>
                    <a:pt x="3048000" y="1544295"/>
                  </a:lnTo>
                  <a:lnTo>
                    <a:pt x="2661926" y="1158222"/>
                  </a:lnTo>
                  <a:lnTo>
                    <a:pt x="2854963" y="1158222"/>
                  </a:lnTo>
                  <a:lnTo>
                    <a:pt x="2854963" y="1003437"/>
                  </a:lnTo>
                  <a:lnTo>
                    <a:pt x="0" y="1003437"/>
                  </a:lnTo>
                  <a:lnTo>
                    <a:pt x="0" y="1"/>
                  </a:lnTo>
                  <a:lnTo>
                    <a:pt x="6096000" y="1"/>
                  </a:lnTo>
                  <a:lnTo>
                    <a:pt x="6096000" y="100343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199136" tIns="199137" rIns="199136" bIns="1201386" numCol="1" spcCol="1270" anchor="ctr" anchorCtr="0">
              <a:noAutofit/>
            </a:bodyPr>
            <a:lstStyle/>
            <a:p>
              <a:pPr lvl="0" algn="ctr" defTabSz="1244600">
                <a:lnSpc>
                  <a:spcPct val="150000"/>
                </a:lnSpc>
                <a:spcBef>
                  <a:spcPct val="0"/>
                </a:spcBef>
              </a:pPr>
              <a:r>
                <a:rPr lang="zh-CN" altLang="en-US" sz="2800" b="1" kern="1200" dirty="0" smtClean="0"/>
                <a:t>预防</a:t>
              </a:r>
              <a:endParaRPr lang="en-US" altLang="zh-CN" sz="2800" b="1" kern="1200" dirty="0" smtClean="0"/>
            </a:p>
            <a:p>
              <a:pPr lvl="0" algn="ctr" defTabSz="1244600">
                <a:spcBef>
                  <a:spcPct val="0"/>
                </a:spcBef>
              </a:pPr>
              <a:endParaRPr lang="zh-CN" altLang="en-US" sz="2800" b="1" kern="1200" dirty="0"/>
            </a:p>
          </p:txBody>
        </p:sp>
        <p:sp>
          <p:nvSpPr>
            <p:cNvPr id="11" name="任意多边形 10"/>
            <p:cNvSpPr/>
            <p:nvPr/>
          </p:nvSpPr>
          <p:spPr>
            <a:xfrm>
              <a:off x="961688" y="808865"/>
              <a:ext cx="6812559" cy="638685"/>
            </a:xfrm>
            <a:custGeom>
              <a:avLst/>
              <a:gdLst>
                <a:gd name="connsiteX0" fmla="*/ 0 w 6096000"/>
                <a:gd name="connsiteY0" fmla="*/ 0 h 461744"/>
                <a:gd name="connsiteX1" fmla="*/ 6096000 w 6096000"/>
                <a:gd name="connsiteY1" fmla="*/ 0 h 461744"/>
                <a:gd name="connsiteX2" fmla="*/ 6096000 w 6096000"/>
                <a:gd name="connsiteY2" fmla="*/ 461744 h 461744"/>
                <a:gd name="connsiteX3" fmla="*/ 0 w 6096000"/>
                <a:gd name="connsiteY3" fmla="*/ 461744 h 461744"/>
                <a:gd name="connsiteX4" fmla="*/ 0 w 6096000"/>
                <a:gd name="connsiteY4" fmla="*/ 0 h 461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461744">
                  <a:moveTo>
                    <a:pt x="0" y="0"/>
                  </a:moveTo>
                  <a:lnTo>
                    <a:pt x="6096000" y="0"/>
                  </a:lnTo>
                  <a:lnTo>
                    <a:pt x="6096000" y="461744"/>
                  </a:lnTo>
                  <a:lnTo>
                    <a:pt x="0" y="461744"/>
                  </a:lnTo>
                  <a:lnTo>
                    <a:pt x="0" y="0"/>
                  </a:lnTo>
                  <a:close/>
                </a:path>
              </a:pathLst>
            </a:custGeom>
            <a:scene3d>
              <a:camera prst="orthographicFront"/>
              <a:lightRig rig="flat" dir="t"/>
            </a:scene3d>
            <a:sp3d z="190500" extrusionH="12700" prstMaterial="plastic">
              <a:bevelT w="50800" h="50800"/>
            </a:sp3d>
          </p:spPr>
          <p:style>
            <a:lnRef idx="1">
              <a:schemeClr val="accent5">
                <a:tint val="40000"/>
                <a:alpha val="90000"/>
                <a:hueOff val="0"/>
                <a:satOff val="0"/>
                <a:lumOff val="0"/>
                <a:alphaOff val="0"/>
              </a:schemeClr>
            </a:lnRef>
            <a:fillRef idx="1">
              <a:schemeClr val="accent5">
                <a:tint val="40000"/>
                <a:alpha val="90000"/>
                <a:hueOff val="-10740482"/>
                <a:satOff val="48253"/>
                <a:lumOff val="3317"/>
                <a:alphaOff val="0"/>
              </a:schemeClr>
            </a:fillRef>
            <a:effectRef idx="2">
              <a:schemeClr val="accent5">
                <a:tint val="40000"/>
                <a:alpha val="90000"/>
                <a:hueOff val="-10740482"/>
                <a:satOff val="48253"/>
                <a:lumOff val="3317"/>
                <a:alphaOff val="0"/>
              </a:schemeClr>
            </a:effectRef>
            <a:fontRef idx="minor">
              <a:schemeClr val="dk1">
                <a:hueOff val="0"/>
                <a:satOff val="0"/>
                <a:lumOff val="0"/>
                <a:alphaOff val="0"/>
              </a:schemeClr>
            </a:fontRef>
          </p:style>
          <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2000" b="1" kern="1200" dirty="0" smtClean="0"/>
                <a:t>采用某种策略，限制并发进程对资源的请求，从而使得死锁的必要条件在系统执行的任何时间都不满足。</a:t>
              </a:r>
              <a:endParaRPr lang="zh-CN" altLang="en-US" sz="2000" b="1" kern="1200" dirty="0"/>
            </a:p>
          </p:txBody>
        </p:sp>
      </p:grpSp>
      <p:sp>
        <p:nvSpPr>
          <p:cNvPr id="30" name="矩形 29"/>
          <p:cNvSpPr/>
          <p:nvPr/>
        </p:nvSpPr>
        <p:spPr>
          <a:xfrm>
            <a:off x="7330154" y="123792"/>
            <a:ext cx="1776429" cy="163121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a:t>通过预防和避免的手段达到排除死锁的目的是一件十分困难的事</a:t>
            </a:r>
            <a:r>
              <a:rPr lang="zh-CN" altLang="en-US" sz="2000" b="1" dirty="0" smtClean="0"/>
              <a:t>。</a:t>
            </a:r>
            <a:endParaRPr lang="zh-CN" altLang="en-US" sz="2000" b="1" dirty="0"/>
          </a:p>
        </p:txBody>
      </p:sp>
      <p:sp>
        <p:nvSpPr>
          <p:cNvPr id="31" name="矩形 30"/>
          <p:cNvSpPr/>
          <p:nvPr/>
        </p:nvSpPr>
        <p:spPr>
          <a:xfrm>
            <a:off x="7330154" y="1923678"/>
            <a:ext cx="1776429" cy="317009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smtClean="0"/>
              <a:t>死锁的检测和恢复则不必花费多少执行时间就能发现死锁和从死锁中恢复出来。因此，在实际操作系统中大都使用检测与恢复法排除死锁。</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up)">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up)">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up)">
                                      <p:cBhvr>
                                        <p:cTn id="2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8995" y="104297"/>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死锁预防</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41" name="组合 40"/>
          <p:cNvGrpSpPr/>
          <p:nvPr/>
        </p:nvGrpSpPr>
        <p:grpSpPr>
          <a:xfrm>
            <a:off x="899592" y="1059582"/>
            <a:ext cx="3125623" cy="1802270"/>
            <a:chOff x="899592" y="1173395"/>
            <a:chExt cx="3125623" cy="1802270"/>
          </a:xfrm>
        </p:grpSpPr>
        <p:sp>
          <p:nvSpPr>
            <p:cNvPr id="31" name="任意多边形 30"/>
            <p:cNvSpPr/>
            <p:nvPr/>
          </p:nvSpPr>
          <p:spPr>
            <a:xfrm>
              <a:off x="901050" y="1173395"/>
              <a:ext cx="2962929" cy="1220348"/>
            </a:xfrm>
            <a:custGeom>
              <a:avLst/>
              <a:gdLst>
                <a:gd name="connsiteX0" fmla="*/ 79953 w 2024885"/>
                <a:gd name="connsiteY0" fmla="*/ 0 h 999411"/>
                <a:gd name="connsiteX1" fmla="*/ 1944932 w 2024885"/>
                <a:gd name="connsiteY1" fmla="*/ 0 h 999411"/>
                <a:gd name="connsiteX2" fmla="*/ 2024885 w 2024885"/>
                <a:gd name="connsiteY2" fmla="*/ 79953 h 999411"/>
                <a:gd name="connsiteX3" fmla="*/ 2024885 w 2024885"/>
                <a:gd name="connsiteY3" fmla="*/ 999411 h 999411"/>
                <a:gd name="connsiteX4" fmla="*/ 2024885 w 2024885"/>
                <a:gd name="connsiteY4" fmla="*/ 999411 h 999411"/>
                <a:gd name="connsiteX5" fmla="*/ 0 w 2024885"/>
                <a:gd name="connsiteY5" fmla="*/ 999411 h 999411"/>
                <a:gd name="connsiteX6" fmla="*/ 0 w 2024885"/>
                <a:gd name="connsiteY6" fmla="*/ 999411 h 999411"/>
                <a:gd name="connsiteX7" fmla="*/ 0 w 2024885"/>
                <a:gd name="connsiteY7" fmla="*/ 79953 h 999411"/>
                <a:gd name="connsiteX8" fmla="*/ 79953 w 2024885"/>
                <a:gd name="connsiteY8" fmla="*/ 0 h 99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4885" h="999411">
                  <a:moveTo>
                    <a:pt x="79953" y="0"/>
                  </a:moveTo>
                  <a:lnTo>
                    <a:pt x="1944932" y="0"/>
                  </a:lnTo>
                  <a:cubicBezTo>
                    <a:pt x="1989089" y="0"/>
                    <a:pt x="2024885" y="35796"/>
                    <a:pt x="2024885" y="79953"/>
                  </a:cubicBezTo>
                  <a:lnTo>
                    <a:pt x="2024885" y="999411"/>
                  </a:lnTo>
                  <a:lnTo>
                    <a:pt x="2024885" y="999411"/>
                  </a:lnTo>
                  <a:lnTo>
                    <a:pt x="0" y="999411"/>
                  </a:lnTo>
                  <a:lnTo>
                    <a:pt x="0" y="999411"/>
                  </a:lnTo>
                  <a:lnTo>
                    <a:pt x="0" y="79953"/>
                  </a:lnTo>
                  <a:cubicBezTo>
                    <a:pt x="0" y="35796"/>
                    <a:pt x="35796" y="0"/>
                    <a:pt x="79953"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8977" tIns="130097" rIns="58977" bIns="35560" numCol="1" spcCol="1270" anchor="t" anchorCtr="0">
              <a:noAutofit/>
            </a:bodyPr>
            <a:lstStyle/>
            <a:p>
              <a:pPr marL="285750" lvl="1" indent="-285750" algn="l" defTabSz="1244600">
                <a:lnSpc>
                  <a:spcPct val="90000"/>
                </a:lnSpc>
                <a:spcBef>
                  <a:spcPct val="0"/>
                </a:spcBef>
                <a:spcAft>
                  <a:spcPct val="15000"/>
                </a:spcAft>
                <a:buChar char="•"/>
              </a:pPr>
              <a:r>
                <a:rPr lang="zh-CN" altLang="en-US" sz="2400" b="1" kern="1200" dirty="0" smtClean="0"/>
                <a:t>例如：允许同时访问某些资源</a:t>
              </a:r>
              <a:endParaRPr lang="zh-CN" altLang="en-US" sz="2400" b="1" kern="1200" dirty="0"/>
            </a:p>
          </p:txBody>
        </p:sp>
        <p:sp>
          <p:nvSpPr>
            <p:cNvPr id="32" name="任意多边形 31"/>
            <p:cNvSpPr/>
            <p:nvPr/>
          </p:nvSpPr>
          <p:spPr>
            <a:xfrm>
              <a:off x="899592" y="2179193"/>
              <a:ext cx="2962929" cy="793643"/>
            </a:xfrm>
            <a:custGeom>
              <a:avLst/>
              <a:gdLst>
                <a:gd name="connsiteX0" fmla="*/ 0 w 2024885"/>
                <a:gd name="connsiteY0" fmla="*/ 0 h 649959"/>
                <a:gd name="connsiteX1" fmla="*/ 2024885 w 2024885"/>
                <a:gd name="connsiteY1" fmla="*/ 0 h 649959"/>
                <a:gd name="connsiteX2" fmla="*/ 2024885 w 2024885"/>
                <a:gd name="connsiteY2" fmla="*/ 649959 h 649959"/>
                <a:gd name="connsiteX3" fmla="*/ 0 w 2024885"/>
                <a:gd name="connsiteY3" fmla="*/ 649959 h 649959"/>
                <a:gd name="connsiteX4" fmla="*/ 0 w 2024885"/>
                <a:gd name="connsiteY4" fmla="*/ 0 h 64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885" h="649959">
                  <a:moveTo>
                    <a:pt x="0" y="0"/>
                  </a:moveTo>
                  <a:lnTo>
                    <a:pt x="2024885" y="0"/>
                  </a:lnTo>
                  <a:lnTo>
                    <a:pt x="2024885" y="649959"/>
                  </a:lnTo>
                  <a:lnTo>
                    <a:pt x="0" y="649959"/>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64770" tIns="0" rIns="620500" bIns="0" numCol="1" spcCol="1270" anchor="ctr" anchorCtr="0">
              <a:noAutofit/>
            </a:bodyPr>
            <a:lstStyle/>
            <a:p>
              <a:pPr lvl="0" algn="l" defTabSz="755650">
                <a:lnSpc>
                  <a:spcPct val="90000"/>
                </a:lnSpc>
                <a:spcBef>
                  <a:spcPct val="0"/>
                </a:spcBef>
                <a:spcAft>
                  <a:spcPct val="35000"/>
                </a:spcAft>
              </a:pPr>
              <a:r>
                <a:rPr lang="zh-CN" altLang="en-US" sz="2400" b="1" kern="1200" dirty="0" smtClean="0"/>
                <a:t>打破资源的互斥和不可剥夺</a:t>
              </a:r>
              <a:endParaRPr lang="zh-CN" altLang="en-US" sz="2400" b="1" kern="1200" dirty="0"/>
            </a:p>
          </p:txBody>
        </p:sp>
        <p:sp>
          <p:nvSpPr>
            <p:cNvPr id="33" name="椭圆 32"/>
            <p:cNvSpPr/>
            <p:nvPr/>
          </p:nvSpPr>
          <p:spPr>
            <a:xfrm>
              <a:off x="3198232" y="2197211"/>
              <a:ext cx="826983" cy="778454"/>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sp>
        <p:sp>
          <p:nvSpPr>
            <p:cNvPr id="40" name="矩形 39"/>
            <p:cNvSpPr/>
            <p:nvPr/>
          </p:nvSpPr>
          <p:spPr>
            <a:xfrm>
              <a:off x="3415195" y="2301017"/>
              <a:ext cx="393056" cy="535531"/>
            </a:xfrm>
            <a:prstGeom prst="rect">
              <a:avLst/>
            </a:prstGeom>
          </p:spPr>
          <p:txBody>
            <a:bodyPr wrap="none">
              <a:spAutoFit/>
            </a:bodyPr>
            <a:lstStyle/>
            <a:p>
              <a:pPr marL="0" lvl="1" defTabSz="1244600">
                <a:lnSpc>
                  <a:spcPct val="90000"/>
                </a:lnSpc>
                <a:spcBef>
                  <a:spcPct val="0"/>
                </a:spcBef>
                <a:spcAft>
                  <a:spcPct val="15000"/>
                </a:spcAft>
              </a:pPr>
              <a:r>
                <a:rPr lang="en-US" altLang="zh-CN" sz="3200" b="1" dirty="0" smtClean="0">
                  <a:ln w="9525">
                    <a:solidFill>
                      <a:schemeClr val="bg1"/>
                    </a:solidFill>
                    <a:prstDash val="solid"/>
                  </a:ln>
                  <a:effectLst>
                    <a:outerShdw blurRad="12700" dist="38100" dir="2700000" algn="tl" rotWithShape="0">
                      <a:schemeClr val="bg1">
                        <a:lumMod val="50000"/>
                      </a:schemeClr>
                    </a:outerShdw>
                  </a:effectLst>
                </a:rPr>
                <a:t>1</a:t>
              </a:r>
              <a:endParaRPr lang="zh-CN" altLang="en-US" sz="3200" b="1" dirty="0">
                <a:ln w="9525">
                  <a:solidFill>
                    <a:schemeClr val="bg1"/>
                  </a:solidFill>
                  <a:prstDash val="solid"/>
                </a:ln>
                <a:effectLst>
                  <a:outerShdw blurRad="12700" dist="38100" dir="2700000" algn="tl" rotWithShape="0">
                    <a:schemeClr val="bg1">
                      <a:lumMod val="50000"/>
                    </a:schemeClr>
                  </a:outerShdw>
                </a:effectLst>
              </a:endParaRPr>
            </a:p>
          </p:txBody>
        </p:sp>
      </p:grpSp>
      <p:grpSp>
        <p:nvGrpSpPr>
          <p:cNvPr id="44" name="组合 43"/>
          <p:cNvGrpSpPr/>
          <p:nvPr/>
        </p:nvGrpSpPr>
        <p:grpSpPr>
          <a:xfrm>
            <a:off x="4571999" y="1059582"/>
            <a:ext cx="3295164" cy="1798334"/>
            <a:chOff x="4571999" y="1173395"/>
            <a:chExt cx="3295164" cy="1798334"/>
          </a:xfrm>
        </p:grpSpPr>
        <p:sp>
          <p:nvSpPr>
            <p:cNvPr id="34" name="任意多边形 33"/>
            <p:cNvSpPr/>
            <p:nvPr/>
          </p:nvSpPr>
          <p:spPr>
            <a:xfrm>
              <a:off x="4571999" y="1173395"/>
              <a:ext cx="3102663" cy="1346701"/>
            </a:xfrm>
            <a:custGeom>
              <a:avLst/>
              <a:gdLst>
                <a:gd name="connsiteX0" fmla="*/ 86890 w 2024885"/>
                <a:gd name="connsiteY0" fmla="*/ 0 h 1086127"/>
                <a:gd name="connsiteX1" fmla="*/ 1937995 w 2024885"/>
                <a:gd name="connsiteY1" fmla="*/ 0 h 1086127"/>
                <a:gd name="connsiteX2" fmla="*/ 2024885 w 2024885"/>
                <a:gd name="connsiteY2" fmla="*/ 86890 h 1086127"/>
                <a:gd name="connsiteX3" fmla="*/ 2024885 w 2024885"/>
                <a:gd name="connsiteY3" fmla="*/ 1086127 h 1086127"/>
                <a:gd name="connsiteX4" fmla="*/ 2024885 w 2024885"/>
                <a:gd name="connsiteY4" fmla="*/ 1086127 h 1086127"/>
                <a:gd name="connsiteX5" fmla="*/ 0 w 2024885"/>
                <a:gd name="connsiteY5" fmla="*/ 1086127 h 1086127"/>
                <a:gd name="connsiteX6" fmla="*/ 0 w 2024885"/>
                <a:gd name="connsiteY6" fmla="*/ 1086127 h 1086127"/>
                <a:gd name="connsiteX7" fmla="*/ 0 w 2024885"/>
                <a:gd name="connsiteY7" fmla="*/ 86890 h 1086127"/>
                <a:gd name="connsiteX8" fmla="*/ 86890 w 2024885"/>
                <a:gd name="connsiteY8" fmla="*/ 0 h 108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4885" h="1086127">
                  <a:moveTo>
                    <a:pt x="86890" y="0"/>
                  </a:moveTo>
                  <a:lnTo>
                    <a:pt x="1937995" y="0"/>
                  </a:lnTo>
                  <a:cubicBezTo>
                    <a:pt x="1985983" y="0"/>
                    <a:pt x="2024885" y="38902"/>
                    <a:pt x="2024885" y="86890"/>
                  </a:cubicBezTo>
                  <a:lnTo>
                    <a:pt x="2024885" y="1086127"/>
                  </a:lnTo>
                  <a:lnTo>
                    <a:pt x="2024885" y="1086127"/>
                  </a:lnTo>
                  <a:lnTo>
                    <a:pt x="0" y="1086127"/>
                  </a:lnTo>
                  <a:lnTo>
                    <a:pt x="0" y="1086127"/>
                  </a:lnTo>
                  <a:lnTo>
                    <a:pt x="0" y="86890"/>
                  </a:lnTo>
                  <a:cubicBezTo>
                    <a:pt x="0" y="38902"/>
                    <a:pt x="38902" y="0"/>
                    <a:pt x="86890"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2119" tIns="105459" rIns="52119" bIns="26670" numCol="1" spcCol="1270" anchor="t" anchorCtr="0">
              <a:noAutofit/>
            </a:bodyPr>
            <a:lstStyle/>
            <a:p>
              <a:pPr marL="228600" lvl="1" indent="-228600" algn="l" defTabSz="933450">
                <a:lnSpc>
                  <a:spcPct val="90000"/>
                </a:lnSpc>
                <a:spcBef>
                  <a:spcPct val="0"/>
                </a:spcBef>
                <a:spcAft>
                  <a:spcPct val="15000"/>
                </a:spcAft>
                <a:buChar char="•"/>
              </a:pPr>
              <a:r>
                <a:rPr lang="zh-CN" altLang="en-US" sz="2400" b="1" dirty="0"/>
                <a:t>预先分配各并发进程所需要的全部资源</a:t>
              </a:r>
            </a:p>
          </p:txBody>
        </p:sp>
        <p:sp>
          <p:nvSpPr>
            <p:cNvPr id="35" name="任意多边形 34"/>
            <p:cNvSpPr/>
            <p:nvPr/>
          </p:nvSpPr>
          <p:spPr>
            <a:xfrm>
              <a:off x="4572000" y="2165838"/>
              <a:ext cx="3102662" cy="805891"/>
            </a:xfrm>
            <a:custGeom>
              <a:avLst/>
              <a:gdLst>
                <a:gd name="connsiteX0" fmla="*/ 0 w 2024885"/>
                <a:gd name="connsiteY0" fmla="*/ 0 h 649959"/>
                <a:gd name="connsiteX1" fmla="*/ 2024885 w 2024885"/>
                <a:gd name="connsiteY1" fmla="*/ 0 h 649959"/>
                <a:gd name="connsiteX2" fmla="*/ 2024885 w 2024885"/>
                <a:gd name="connsiteY2" fmla="*/ 649959 h 649959"/>
                <a:gd name="connsiteX3" fmla="*/ 0 w 2024885"/>
                <a:gd name="connsiteY3" fmla="*/ 649959 h 649959"/>
                <a:gd name="connsiteX4" fmla="*/ 0 w 2024885"/>
                <a:gd name="connsiteY4" fmla="*/ 0 h 64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885" h="649959">
                  <a:moveTo>
                    <a:pt x="0" y="0"/>
                  </a:moveTo>
                  <a:lnTo>
                    <a:pt x="2024885" y="0"/>
                  </a:lnTo>
                  <a:lnTo>
                    <a:pt x="2024885" y="649959"/>
                  </a:lnTo>
                  <a:lnTo>
                    <a:pt x="0" y="649959"/>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64770" tIns="0" rIns="620500" bIns="0" numCol="1" spcCol="1270" anchor="ctr" anchorCtr="0">
              <a:noAutofit/>
            </a:bodyPr>
            <a:lstStyle/>
            <a:p>
              <a:pPr defTabSz="755650">
                <a:lnSpc>
                  <a:spcPct val="90000"/>
                </a:lnSpc>
                <a:spcBef>
                  <a:spcPct val="0"/>
                </a:spcBef>
                <a:spcAft>
                  <a:spcPct val="35000"/>
                </a:spcAft>
              </a:pPr>
              <a:r>
                <a:rPr lang="zh-CN" altLang="en-US" sz="2400" b="1" dirty="0"/>
                <a:t>打破资源的部分分配</a:t>
              </a:r>
            </a:p>
          </p:txBody>
        </p:sp>
        <p:sp>
          <p:nvSpPr>
            <p:cNvPr id="36" name="椭圆 35"/>
            <p:cNvSpPr/>
            <p:nvPr/>
          </p:nvSpPr>
          <p:spPr>
            <a:xfrm>
              <a:off x="7057460" y="2179193"/>
              <a:ext cx="809703" cy="753180"/>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sp>
        <p:sp>
          <p:nvSpPr>
            <p:cNvPr id="42" name="矩形 41"/>
            <p:cNvSpPr/>
            <p:nvPr/>
          </p:nvSpPr>
          <p:spPr>
            <a:xfrm>
              <a:off x="7265783" y="2288017"/>
              <a:ext cx="393056" cy="535531"/>
            </a:xfrm>
            <a:prstGeom prst="rect">
              <a:avLst/>
            </a:prstGeom>
          </p:spPr>
          <p:txBody>
            <a:bodyPr wrap="none">
              <a:spAutoFit/>
            </a:bodyPr>
            <a:lstStyle/>
            <a:p>
              <a:pPr marL="0" lvl="1" defTabSz="1244600">
                <a:lnSpc>
                  <a:spcPct val="90000"/>
                </a:lnSpc>
                <a:spcBef>
                  <a:spcPct val="0"/>
                </a:spcBef>
                <a:spcAft>
                  <a:spcPct val="15000"/>
                </a:spcAft>
              </a:pPr>
              <a:r>
                <a:rPr lang="en-US" altLang="zh-CN" sz="3200" b="1" dirty="0" smtClean="0">
                  <a:ln w="9525">
                    <a:solidFill>
                      <a:schemeClr val="bg1"/>
                    </a:solidFill>
                    <a:prstDash val="solid"/>
                  </a:ln>
                  <a:effectLst>
                    <a:outerShdw blurRad="12700" dist="38100" dir="2700000" algn="tl" rotWithShape="0">
                      <a:schemeClr val="bg1">
                        <a:lumMod val="50000"/>
                      </a:schemeClr>
                    </a:outerShdw>
                  </a:effectLst>
                  <a:hlinkClick r:id="rId3" action="ppaction://hlinksldjump"/>
                </a:rPr>
                <a:t>2</a:t>
              </a:r>
              <a:endParaRPr lang="zh-CN" altLang="en-US" sz="3200" b="1" dirty="0">
                <a:ln w="9525">
                  <a:solidFill>
                    <a:schemeClr val="bg1"/>
                  </a:solidFill>
                  <a:prstDash val="solid"/>
                </a:ln>
                <a:effectLst>
                  <a:outerShdw blurRad="12700" dist="38100" dir="2700000" algn="tl" rotWithShape="0">
                    <a:schemeClr val="bg1">
                      <a:lumMod val="50000"/>
                    </a:schemeClr>
                  </a:outerShdw>
                </a:effectLst>
              </a:endParaRPr>
            </a:p>
          </p:txBody>
        </p:sp>
      </p:grpSp>
      <p:grpSp>
        <p:nvGrpSpPr>
          <p:cNvPr id="46" name="组合 45"/>
          <p:cNvGrpSpPr/>
          <p:nvPr/>
        </p:nvGrpSpPr>
        <p:grpSpPr>
          <a:xfrm>
            <a:off x="1331640" y="3051022"/>
            <a:ext cx="5192033" cy="1680475"/>
            <a:chOff x="1331640" y="3051022"/>
            <a:chExt cx="5192033" cy="1680475"/>
          </a:xfrm>
        </p:grpSpPr>
        <p:sp>
          <p:nvSpPr>
            <p:cNvPr id="37" name="任意多边形 36"/>
            <p:cNvSpPr/>
            <p:nvPr/>
          </p:nvSpPr>
          <p:spPr>
            <a:xfrm>
              <a:off x="1331640" y="3051022"/>
              <a:ext cx="4896544" cy="951981"/>
            </a:xfrm>
            <a:custGeom>
              <a:avLst/>
              <a:gdLst>
                <a:gd name="connsiteX0" fmla="*/ 120923 w 2024885"/>
                <a:gd name="connsiteY0" fmla="*/ 0 h 1511534"/>
                <a:gd name="connsiteX1" fmla="*/ 1903962 w 2024885"/>
                <a:gd name="connsiteY1" fmla="*/ 0 h 1511534"/>
                <a:gd name="connsiteX2" fmla="*/ 2024885 w 2024885"/>
                <a:gd name="connsiteY2" fmla="*/ 120923 h 1511534"/>
                <a:gd name="connsiteX3" fmla="*/ 2024885 w 2024885"/>
                <a:gd name="connsiteY3" fmla="*/ 1511534 h 1511534"/>
                <a:gd name="connsiteX4" fmla="*/ 2024885 w 2024885"/>
                <a:gd name="connsiteY4" fmla="*/ 1511534 h 1511534"/>
                <a:gd name="connsiteX5" fmla="*/ 0 w 2024885"/>
                <a:gd name="connsiteY5" fmla="*/ 1511534 h 1511534"/>
                <a:gd name="connsiteX6" fmla="*/ 0 w 2024885"/>
                <a:gd name="connsiteY6" fmla="*/ 1511534 h 1511534"/>
                <a:gd name="connsiteX7" fmla="*/ 0 w 2024885"/>
                <a:gd name="connsiteY7" fmla="*/ 120923 h 1511534"/>
                <a:gd name="connsiteX8" fmla="*/ 120923 w 2024885"/>
                <a:gd name="connsiteY8" fmla="*/ 0 h 151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4885" h="1511534">
                  <a:moveTo>
                    <a:pt x="120923" y="0"/>
                  </a:moveTo>
                  <a:lnTo>
                    <a:pt x="1903962" y="0"/>
                  </a:lnTo>
                  <a:cubicBezTo>
                    <a:pt x="1970746" y="0"/>
                    <a:pt x="2024885" y="54139"/>
                    <a:pt x="2024885" y="120923"/>
                  </a:cubicBezTo>
                  <a:lnTo>
                    <a:pt x="2024885" y="1511534"/>
                  </a:lnTo>
                  <a:lnTo>
                    <a:pt x="2024885" y="1511534"/>
                  </a:lnTo>
                  <a:lnTo>
                    <a:pt x="0" y="1511534"/>
                  </a:lnTo>
                  <a:lnTo>
                    <a:pt x="0" y="1511534"/>
                  </a:lnTo>
                  <a:lnTo>
                    <a:pt x="0" y="120923"/>
                  </a:lnTo>
                  <a:cubicBezTo>
                    <a:pt x="0" y="54139"/>
                    <a:pt x="54139" y="0"/>
                    <a:pt x="120923"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0977" tIns="142097" rIns="70977" bIns="35560" numCol="1" spcCol="1270" anchor="t" anchorCtr="0">
              <a:noAutofit/>
            </a:bodyPr>
            <a:lstStyle/>
            <a:p>
              <a:pPr marL="285750" lvl="1" indent="-285750" defTabSz="1244600">
                <a:lnSpc>
                  <a:spcPct val="90000"/>
                </a:lnSpc>
                <a:spcBef>
                  <a:spcPct val="0"/>
                </a:spcBef>
                <a:spcAft>
                  <a:spcPct val="15000"/>
                </a:spcAft>
                <a:buChar char="•"/>
              </a:pPr>
              <a:r>
                <a:rPr lang="zh-CN" altLang="en-US" sz="2400" b="1" dirty="0"/>
                <a:t>把资源分类按顺序排列，使进程在申请、保持资源时不形成环路。</a:t>
              </a:r>
            </a:p>
          </p:txBody>
        </p:sp>
        <p:sp>
          <p:nvSpPr>
            <p:cNvPr id="38" name="任意多边形 37"/>
            <p:cNvSpPr/>
            <p:nvPr/>
          </p:nvSpPr>
          <p:spPr>
            <a:xfrm>
              <a:off x="1331640" y="4002633"/>
              <a:ext cx="4896544" cy="666832"/>
            </a:xfrm>
            <a:custGeom>
              <a:avLst/>
              <a:gdLst>
                <a:gd name="connsiteX0" fmla="*/ 0 w 2024885"/>
                <a:gd name="connsiteY0" fmla="*/ 0 h 649959"/>
                <a:gd name="connsiteX1" fmla="*/ 2024885 w 2024885"/>
                <a:gd name="connsiteY1" fmla="*/ 0 h 649959"/>
                <a:gd name="connsiteX2" fmla="*/ 2024885 w 2024885"/>
                <a:gd name="connsiteY2" fmla="*/ 649959 h 649959"/>
                <a:gd name="connsiteX3" fmla="*/ 0 w 2024885"/>
                <a:gd name="connsiteY3" fmla="*/ 649959 h 649959"/>
                <a:gd name="connsiteX4" fmla="*/ 0 w 2024885"/>
                <a:gd name="connsiteY4" fmla="*/ 0 h 64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885" h="649959">
                  <a:moveTo>
                    <a:pt x="0" y="0"/>
                  </a:moveTo>
                  <a:lnTo>
                    <a:pt x="2024885" y="0"/>
                  </a:lnTo>
                  <a:lnTo>
                    <a:pt x="2024885" y="649959"/>
                  </a:lnTo>
                  <a:lnTo>
                    <a:pt x="0" y="649959"/>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64770" tIns="0" rIns="620500" bIns="0" numCol="1" spcCol="1270" anchor="ctr" anchorCtr="0">
              <a:noAutofit/>
            </a:bodyPr>
            <a:lstStyle/>
            <a:p>
              <a:pPr algn="dist" defTabSz="896620">
                <a:lnSpc>
                  <a:spcPct val="90000"/>
                </a:lnSpc>
                <a:spcBef>
                  <a:spcPct val="0"/>
                </a:spcBef>
              </a:pPr>
              <a:r>
                <a:rPr lang="zh-CN" altLang="en-US" sz="2400" b="1" dirty="0"/>
                <a:t>打破死锁的</a:t>
              </a:r>
              <a:r>
                <a:rPr lang="zh-CN" altLang="en-US" sz="2400" b="1" dirty="0" smtClean="0"/>
                <a:t>环路条件</a:t>
              </a:r>
              <a:endParaRPr lang="zh-CN" altLang="en-US" sz="2400" b="1" dirty="0"/>
            </a:p>
          </p:txBody>
        </p:sp>
        <p:sp>
          <p:nvSpPr>
            <p:cNvPr id="39" name="椭圆 38"/>
            <p:cNvSpPr/>
            <p:nvPr/>
          </p:nvSpPr>
          <p:spPr>
            <a:xfrm>
              <a:off x="5722986" y="4039718"/>
              <a:ext cx="800687" cy="691779"/>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sp>
        <p:sp>
          <p:nvSpPr>
            <p:cNvPr id="43" name="矩形 42"/>
            <p:cNvSpPr/>
            <p:nvPr/>
          </p:nvSpPr>
          <p:spPr>
            <a:xfrm>
              <a:off x="5926801" y="4117841"/>
              <a:ext cx="393056" cy="535531"/>
            </a:xfrm>
            <a:prstGeom prst="rect">
              <a:avLst/>
            </a:prstGeom>
          </p:spPr>
          <p:txBody>
            <a:bodyPr wrap="none">
              <a:spAutoFit/>
            </a:bodyPr>
            <a:lstStyle/>
            <a:p>
              <a:pPr marL="0" lvl="1" defTabSz="1244600">
                <a:lnSpc>
                  <a:spcPct val="90000"/>
                </a:lnSpc>
                <a:spcBef>
                  <a:spcPct val="0"/>
                </a:spcBef>
                <a:spcAft>
                  <a:spcPct val="15000"/>
                </a:spcAft>
              </a:pPr>
              <a:r>
                <a:rPr lang="en-US" altLang="zh-CN" sz="3200" b="1" dirty="0" smtClean="0">
                  <a:ln w="9525">
                    <a:solidFill>
                      <a:schemeClr val="bg1"/>
                    </a:solidFill>
                    <a:prstDash val="solid"/>
                  </a:ln>
                  <a:effectLst>
                    <a:outerShdw blurRad="12700" dist="38100" dir="2700000" algn="tl" rotWithShape="0">
                      <a:schemeClr val="bg1">
                        <a:lumMod val="50000"/>
                      </a:schemeClr>
                    </a:outerShdw>
                  </a:effectLst>
                  <a:hlinkClick r:id="rId4" action="ppaction://hlinksldjump"/>
                </a:rPr>
                <a:t>3</a:t>
              </a:r>
              <a:endParaRPr lang="zh-CN" altLang="en-US" sz="3200" b="1" dirty="0">
                <a:ln w="9525">
                  <a:solidFill>
                    <a:schemeClr val="bg1"/>
                  </a:solidFill>
                  <a:prstDash val="solid"/>
                </a:ln>
                <a:effectLst>
                  <a:outerShdw blurRad="12700" dist="38100" dir="2700000" algn="tl" rotWithShape="0">
                    <a:schemeClr val="bg1">
                      <a:lumMod val="50000"/>
                    </a:schemeClr>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up)">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wipe(up)">
                                      <p:cBhvr>
                                        <p:cTn id="1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8995" y="104297"/>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死锁预防</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缺点</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11" name="任意多边形 10"/>
          <p:cNvSpPr/>
          <p:nvPr/>
        </p:nvSpPr>
        <p:spPr>
          <a:xfrm>
            <a:off x="2166729" y="2881281"/>
            <a:ext cx="1999062" cy="1999062"/>
          </a:xfrm>
          <a:custGeom>
            <a:avLst/>
            <a:gdLst>
              <a:gd name="connsiteX0" fmla="*/ 0 w 1999062"/>
              <a:gd name="connsiteY0" fmla="*/ 1999062 h 1999062"/>
              <a:gd name="connsiteX1" fmla="*/ 1999062 w 1999062"/>
              <a:gd name="connsiteY1" fmla="*/ 0 h 1999062"/>
              <a:gd name="connsiteX2" fmla="*/ 1999062 w 1999062"/>
              <a:gd name="connsiteY2" fmla="*/ 1999062 h 1999062"/>
              <a:gd name="connsiteX3" fmla="*/ 0 w 1999062"/>
              <a:gd name="connsiteY3" fmla="*/ 1999062 h 1999062"/>
            </a:gdLst>
            <a:ahLst/>
            <a:cxnLst>
              <a:cxn ang="0">
                <a:pos x="connsiteX0" y="connsiteY0"/>
              </a:cxn>
              <a:cxn ang="0">
                <a:pos x="connsiteX1" y="connsiteY1"/>
              </a:cxn>
              <a:cxn ang="0">
                <a:pos x="connsiteX2" y="connsiteY2"/>
              </a:cxn>
              <a:cxn ang="0">
                <a:pos x="connsiteX3" y="connsiteY3"/>
              </a:cxn>
            </a:cxnLst>
            <a:rect l="l" t="t" r="r" b="b"/>
            <a:pathLst>
              <a:path w="1999062" h="1999062">
                <a:moveTo>
                  <a:pt x="1999062" y="1999062"/>
                </a:moveTo>
                <a:cubicBezTo>
                  <a:pt x="895011" y="1999062"/>
                  <a:pt x="0" y="1104051"/>
                  <a:pt x="0" y="0"/>
                </a:cubicBezTo>
                <a:lnTo>
                  <a:pt x="1999062" y="0"/>
                </a:lnTo>
                <a:lnTo>
                  <a:pt x="1999062" y="199906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713528" tIns="128016" rIns="128016" bIns="713528" numCol="1" spcCol="1270" anchor="ctr" anchorCtr="0">
            <a:noAutofit/>
          </a:bodyPr>
          <a:lstStyle/>
          <a:p>
            <a:pPr marL="0" lvl="0" algn="l" defTabSz="914400" rtl="0" eaLnBrk="1" latinLnBrk="0" hangingPunct="1">
              <a:lnSpc>
                <a:spcPct val="90000"/>
              </a:lnSpc>
              <a:spcBef>
                <a:spcPct val="0"/>
              </a:spcBef>
              <a:spcAft>
                <a:spcPct val="35000"/>
              </a:spcAft>
            </a:pPr>
            <a:r>
              <a:rPr lang="zh-CN" altLang="en-US" sz="1800" b="1" kern="1200" dirty="0" smtClean="0">
                <a:solidFill>
                  <a:schemeClr val="bg1"/>
                </a:solidFill>
                <a:latin typeface="+mn-lt"/>
                <a:ea typeface="+mn-ea"/>
                <a:cs typeface="+mn-cs"/>
              </a:rPr>
              <a:t>降低了进程的并发性</a:t>
            </a:r>
            <a:endParaRPr lang="zh-CN" altLang="en-US" sz="1800" b="1" kern="1200" dirty="0">
              <a:solidFill>
                <a:schemeClr val="bg1"/>
              </a:solidFill>
              <a:latin typeface="+mn-lt"/>
              <a:ea typeface="+mn-ea"/>
              <a:cs typeface="+mn-cs"/>
            </a:endParaRPr>
          </a:p>
        </p:txBody>
      </p:sp>
      <p:grpSp>
        <p:nvGrpSpPr>
          <p:cNvPr id="29" name="组合 28"/>
          <p:cNvGrpSpPr/>
          <p:nvPr/>
        </p:nvGrpSpPr>
        <p:grpSpPr>
          <a:xfrm>
            <a:off x="2166729" y="789883"/>
            <a:ext cx="2045231" cy="1999062"/>
            <a:chOff x="2166729" y="789883"/>
            <a:chExt cx="2045231" cy="1999062"/>
          </a:xfrm>
        </p:grpSpPr>
        <p:sp>
          <p:nvSpPr>
            <p:cNvPr id="8" name="任意多边形 7"/>
            <p:cNvSpPr/>
            <p:nvPr/>
          </p:nvSpPr>
          <p:spPr>
            <a:xfrm>
              <a:off x="2166729" y="789883"/>
              <a:ext cx="1999062" cy="1999062"/>
            </a:xfrm>
            <a:custGeom>
              <a:avLst/>
              <a:gdLst>
                <a:gd name="connsiteX0" fmla="*/ 0 w 1999062"/>
                <a:gd name="connsiteY0" fmla="*/ 1999062 h 1999062"/>
                <a:gd name="connsiteX1" fmla="*/ 1999062 w 1999062"/>
                <a:gd name="connsiteY1" fmla="*/ 0 h 1999062"/>
                <a:gd name="connsiteX2" fmla="*/ 1999062 w 1999062"/>
                <a:gd name="connsiteY2" fmla="*/ 1999062 h 1999062"/>
                <a:gd name="connsiteX3" fmla="*/ 0 w 1999062"/>
                <a:gd name="connsiteY3" fmla="*/ 1999062 h 1999062"/>
              </a:gdLst>
              <a:ahLst/>
              <a:cxnLst>
                <a:cxn ang="0">
                  <a:pos x="connsiteX0" y="connsiteY0"/>
                </a:cxn>
                <a:cxn ang="0">
                  <a:pos x="connsiteX1" y="connsiteY1"/>
                </a:cxn>
                <a:cxn ang="0">
                  <a:pos x="connsiteX2" y="connsiteY2"/>
                </a:cxn>
                <a:cxn ang="0">
                  <a:pos x="connsiteX3" y="connsiteY3"/>
                </a:cxn>
              </a:cxnLst>
              <a:rect l="l" t="t" r="r" b="b"/>
              <a:pathLst>
                <a:path w="1999062" h="1999062">
                  <a:moveTo>
                    <a:pt x="0" y="1999062"/>
                  </a:moveTo>
                  <a:cubicBezTo>
                    <a:pt x="0" y="895011"/>
                    <a:pt x="895011" y="0"/>
                    <a:pt x="1999062" y="0"/>
                  </a:cubicBezTo>
                  <a:lnTo>
                    <a:pt x="1999062" y="1999062"/>
                  </a:lnTo>
                  <a:lnTo>
                    <a:pt x="0" y="199906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13528" tIns="713528" rIns="128016" bIns="128016" numCol="1" spcCol="1270" anchor="ctr" anchorCtr="0">
              <a:noAutofit/>
            </a:bodyPr>
            <a:lstStyle/>
            <a:p>
              <a:pPr lvl="0" algn="ctr" defTabSz="800100">
                <a:lnSpc>
                  <a:spcPct val="90000"/>
                </a:lnSpc>
                <a:spcBef>
                  <a:spcPct val="0"/>
                </a:spcBef>
                <a:spcAft>
                  <a:spcPct val="35000"/>
                </a:spcAft>
              </a:pPr>
              <a:endParaRPr lang="zh-CN" altLang="en-US" sz="1800" kern="1200" dirty="0"/>
            </a:p>
          </p:txBody>
        </p:sp>
        <p:sp>
          <p:nvSpPr>
            <p:cNvPr id="2" name="矩形 1"/>
            <p:cNvSpPr/>
            <p:nvPr/>
          </p:nvSpPr>
          <p:spPr>
            <a:xfrm>
              <a:off x="2411760" y="1223909"/>
              <a:ext cx="1800200" cy="1477328"/>
            </a:xfrm>
            <a:prstGeom prst="rect">
              <a:avLst/>
            </a:prstGeom>
          </p:spPr>
          <p:txBody>
            <a:bodyPr wrap="square">
              <a:spAutoFit/>
            </a:bodyPr>
            <a:lstStyle/>
            <a:p>
              <a:pPr lvl="0"/>
              <a:r>
                <a:rPr lang="zh-CN" altLang="en-US" b="1" dirty="0" smtClean="0">
                  <a:solidFill>
                    <a:schemeClr val="bg1"/>
                  </a:solidFill>
                </a:rPr>
                <a:t>        在许多情况  </a:t>
              </a:r>
              <a:r>
                <a:rPr lang="en-US" altLang="zh-CN" b="1" dirty="0">
                  <a:solidFill>
                    <a:schemeClr val="bg1"/>
                  </a:solidFill>
                </a:rPr>
                <a:t> </a:t>
              </a:r>
              <a:r>
                <a:rPr lang="en-US" altLang="zh-CN" b="1" dirty="0" smtClean="0">
                  <a:solidFill>
                    <a:schemeClr val="bg1"/>
                  </a:solidFill>
                </a:rPr>
                <a:t> </a:t>
              </a:r>
              <a:r>
                <a:rPr lang="zh-CN" altLang="en-US" b="1" dirty="0" smtClean="0">
                  <a:solidFill>
                    <a:schemeClr val="bg1"/>
                  </a:solidFill>
                </a:rPr>
                <a:t>下</a:t>
              </a:r>
              <a:r>
                <a:rPr lang="zh-CN" altLang="en-US" b="1" dirty="0">
                  <a:solidFill>
                    <a:schemeClr val="bg1"/>
                  </a:solidFill>
                </a:rPr>
                <a:t>，一个进程在执行之前不可能提出它所需要的全部</a:t>
              </a:r>
              <a:r>
                <a:rPr lang="zh-CN" altLang="en-US" b="1" dirty="0" smtClean="0">
                  <a:solidFill>
                    <a:schemeClr val="bg1"/>
                  </a:solidFill>
                </a:rPr>
                <a:t>资源。</a:t>
              </a:r>
              <a:endParaRPr lang="zh-CN" altLang="en-US" b="1" dirty="0">
                <a:solidFill>
                  <a:schemeClr val="bg1"/>
                </a:solidFill>
              </a:endParaRPr>
            </a:p>
          </p:txBody>
        </p:sp>
      </p:grpSp>
      <p:grpSp>
        <p:nvGrpSpPr>
          <p:cNvPr id="30" name="组合 29"/>
          <p:cNvGrpSpPr/>
          <p:nvPr/>
        </p:nvGrpSpPr>
        <p:grpSpPr>
          <a:xfrm>
            <a:off x="4211960" y="789883"/>
            <a:ext cx="2045229" cy="1999062"/>
            <a:chOff x="4211960" y="789883"/>
            <a:chExt cx="2045229" cy="1999062"/>
          </a:xfrm>
        </p:grpSpPr>
        <p:sp>
          <p:nvSpPr>
            <p:cNvPr id="9" name="任意多边形 8"/>
            <p:cNvSpPr/>
            <p:nvPr/>
          </p:nvSpPr>
          <p:spPr>
            <a:xfrm>
              <a:off x="4258127" y="789883"/>
              <a:ext cx="1999062" cy="1999062"/>
            </a:xfrm>
            <a:custGeom>
              <a:avLst/>
              <a:gdLst>
                <a:gd name="connsiteX0" fmla="*/ 0 w 1999062"/>
                <a:gd name="connsiteY0" fmla="*/ 1999062 h 1999062"/>
                <a:gd name="connsiteX1" fmla="*/ 1999062 w 1999062"/>
                <a:gd name="connsiteY1" fmla="*/ 0 h 1999062"/>
                <a:gd name="connsiteX2" fmla="*/ 1999062 w 1999062"/>
                <a:gd name="connsiteY2" fmla="*/ 1999062 h 1999062"/>
                <a:gd name="connsiteX3" fmla="*/ 0 w 1999062"/>
                <a:gd name="connsiteY3" fmla="*/ 1999062 h 1999062"/>
              </a:gdLst>
              <a:ahLst/>
              <a:cxnLst>
                <a:cxn ang="0">
                  <a:pos x="connsiteX0" y="connsiteY0"/>
                </a:cxn>
                <a:cxn ang="0">
                  <a:pos x="connsiteX1" y="connsiteY1"/>
                </a:cxn>
                <a:cxn ang="0">
                  <a:pos x="connsiteX2" y="connsiteY2"/>
                </a:cxn>
                <a:cxn ang="0">
                  <a:pos x="connsiteX3" y="connsiteY3"/>
                </a:cxn>
              </a:cxnLst>
              <a:rect l="l" t="t" r="r" b="b"/>
              <a:pathLst>
                <a:path w="1999062" h="1999062">
                  <a:moveTo>
                    <a:pt x="0" y="0"/>
                  </a:moveTo>
                  <a:cubicBezTo>
                    <a:pt x="1104051" y="0"/>
                    <a:pt x="1999062" y="895011"/>
                    <a:pt x="1999062" y="1999062"/>
                  </a:cubicBezTo>
                  <a:lnTo>
                    <a:pt x="0" y="1999062"/>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28016" tIns="713528" rIns="713528" bIns="128016" numCol="1" spcCol="1270" anchor="ctr" anchorCtr="0">
              <a:noAutofit/>
            </a:bodyPr>
            <a:lstStyle/>
            <a:p>
              <a:pPr lvl="0" algn="ctr" defTabSz="800100">
                <a:lnSpc>
                  <a:spcPct val="90000"/>
                </a:lnSpc>
                <a:spcBef>
                  <a:spcPct val="0"/>
                </a:spcBef>
                <a:spcAft>
                  <a:spcPct val="35000"/>
                </a:spcAft>
              </a:pPr>
              <a:endParaRPr lang="zh-CN" altLang="en-US" sz="1800" b="1" kern="1200" dirty="0">
                <a:solidFill>
                  <a:schemeClr val="bg1"/>
                </a:solidFill>
                <a:latin typeface="+mn-lt"/>
                <a:ea typeface="+mn-ea"/>
                <a:cs typeface="+mn-cs"/>
              </a:endParaRPr>
            </a:p>
          </p:txBody>
        </p:sp>
        <p:sp>
          <p:nvSpPr>
            <p:cNvPr id="4" name="矩形 3"/>
            <p:cNvSpPr/>
            <p:nvPr/>
          </p:nvSpPr>
          <p:spPr>
            <a:xfrm>
              <a:off x="4211960" y="946911"/>
              <a:ext cx="1872208" cy="1754326"/>
            </a:xfrm>
            <a:prstGeom prst="rect">
              <a:avLst/>
            </a:prstGeom>
          </p:spPr>
          <p:txBody>
            <a:bodyPr wrap="square">
              <a:spAutoFit/>
            </a:bodyPr>
            <a:lstStyle/>
            <a:p>
              <a:pPr lvl="0"/>
              <a:r>
                <a:rPr lang="zh-CN" altLang="en-US" b="1" dirty="0">
                  <a:solidFill>
                    <a:schemeClr val="bg1"/>
                  </a:solidFill>
                </a:rPr>
                <a:t>无论所</a:t>
              </a:r>
              <a:r>
                <a:rPr lang="zh-CN" altLang="en-US" b="1" dirty="0" smtClean="0">
                  <a:solidFill>
                    <a:schemeClr val="bg1"/>
                  </a:solidFill>
                </a:rPr>
                <a:t>需</a:t>
              </a:r>
              <a:endParaRPr lang="en-US" altLang="zh-CN" b="1" dirty="0" smtClean="0">
                <a:solidFill>
                  <a:schemeClr val="bg1"/>
                </a:solidFill>
              </a:endParaRPr>
            </a:p>
            <a:p>
              <a:pPr lvl="0"/>
              <a:r>
                <a:rPr lang="zh-CN" altLang="en-US" b="1" dirty="0" smtClean="0">
                  <a:solidFill>
                    <a:schemeClr val="bg1"/>
                  </a:solidFill>
                </a:rPr>
                <a:t>资源</a:t>
              </a:r>
              <a:r>
                <a:rPr lang="zh-CN" altLang="en-US" b="1" dirty="0">
                  <a:solidFill>
                    <a:schemeClr val="bg1"/>
                  </a:solidFill>
                </a:rPr>
                <a:t>何时</a:t>
              </a:r>
              <a:r>
                <a:rPr lang="zh-CN" altLang="en-US" b="1" dirty="0" smtClean="0">
                  <a:solidFill>
                    <a:schemeClr val="bg1"/>
                  </a:solidFill>
                </a:rPr>
                <a:t>用</a:t>
              </a:r>
              <a:endParaRPr lang="en-US" altLang="zh-CN" b="1" dirty="0" smtClean="0">
                <a:solidFill>
                  <a:schemeClr val="bg1"/>
                </a:solidFill>
              </a:endParaRPr>
            </a:p>
            <a:p>
              <a:pPr lvl="0"/>
              <a:r>
                <a:rPr lang="zh-CN" altLang="en-US" b="1" dirty="0" smtClean="0">
                  <a:solidFill>
                    <a:schemeClr val="bg1"/>
                  </a:solidFill>
                </a:rPr>
                <a:t>到，一</a:t>
              </a:r>
              <a:r>
                <a:rPr lang="zh-CN" altLang="en-US" b="1" dirty="0">
                  <a:solidFill>
                    <a:schemeClr val="bg1"/>
                  </a:solidFill>
                </a:rPr>
                <a:t>个</a:t>
              </a:r>
              <a:r>
                <a:rPr lang="zh-CN" altLang="en-US" b="1" dirty="0" smtClean="0">
                  <a:solidFill>
                    <a:schemeClr val="bg1"/>
                  </a:solidFill>
                </a:rPr>
                <a:t>进程</a:t>
              </a:r>
              <a:endParaRPr lang="en-US" altLang="zh-CN" b="1" dirty="0" smtClean="0">
                <a:solidFill>
                  <a:schemeClr val="bg1"/>
                </a:solidFill>
              </a:endParaRPr>
            </a:p>
            <a:p>
              <a:pPr lvl="0"/>
              <a:r>
                <a:rPr lang="zh-CN" altLang="en-US" b="1" dirty="0" smtClean="0">
                  <a:solidFill>
                    <a:schemeClr val="bg1"/>
                  </a:solidFill>
                </a:rPr>
                <a:t>只有</a:t>
              </a:r>
              <a:r>
                <a:rPr lang="zh-CN" altLang="en-US" b="1" dirty="0">
                  <a:solidFill>
                    <a:schemeClr val="bg1"/>
                  </a:solidFill>
                </a:rPr>
                <a:t>在所有要求资源都得到满足之后才开始执行</a:t>
              </a:r>
            </a:p>
          </p:txBody>
        </p:sp>
      </p:grpSp>
      <p:grpSp>
        <p:nvGrpSpPr>
          <p:cNvPr id="31" name="组合 30"/>
          <p:cNvGrpSpPr/>
          <p:nvPr/>
        </p:nvGrpSpPr>
        <p:grpSpPr>
          <a:xfrm>
            <a:off x="4258127" y="2859782"/>
            <a:ext cx="1999062" cy="2031325"/>
            <a:chOff x="4258127" y="2859782"/>
            <a:chExt cx="1999062" cy="2031325"/>
          </a:xfrm>
        </p:grpSpPr>
        <p:sp>
          <p:nvSpPr>
            <p:cNvPr id="10" name="任意多边形 9"/>
            <p:cNvSpPr/>
            <p:nvPr/>
          </p:nvSpPr>
          <p:spPr>
            <a:xfrm>
              <a:off x="4258127" y="2881280"/>
              <a:ext cx="1999062" cy="1999063"/>
            </a:xfrm>
            <a:custGeom>
              <a:avLst/>
              <a:gdLst>
                <a:gd name="connsiteX0" fmla="*/ 0 w 1999062"/>
                <a:gd name="connsiteY0" fmla="*/ 1999062 h 1999062"/>
                <a:gd name="connsiteX1" fmla="*/ 1999062 w 1999062"/>
                <a:gd name="connsiteY1" fmla="*/ 0 h 1999062"/>
                <a:gd name="connsiteX2" fmla="*/ 1999062 w 1999062"/>
                <a:gd name="connsiteY2" fmla="*/ 1999062 h 1999062"/>
                <a:gd name="connsiteX3" fmla="*/ 0 w 1999062"/>
                <a:gd name="connsiteY3" fmla="*/ 1999062 h 1999062"/>
              </a:gdLst>
              <a:ahLst/>
              <a:cxnLst>
                <a:cxn ang="0">
                  <a:pos x="connsiteX0" y="connsiteY0"/>
                </a:cxn>
                <a:cxn ang="0">
                  <a:pos x="connsiteX1" y="connsiteY1"/>
                </a:cxn>
                <a:cxn ang="0">
                  <a:pos x="connsiteX2" y="connsiteY2"/>
                </a:cxn>
                <a:cxn ang="0">
                  <a:pos x="connsiteX3" y="connsiteY3"/>
                </a:cxn>
              </a:cxnLst>
              <a:rect l="l" t="t" r="r" b="b"/>
              <a:pathLst>
                <a:path w="1999062" h="1999062">
                  <a:moveTo>
                    <a:pt x="1999062" y="0"/>
                  </a:moveTo>
                  <a:cubicBezTo>
                    <a:pt x="1999062" y="1104051"/>
                    <a:pt x="1104051" y="1999062"/>
                    <a:pt x="0" y="1999062"/>
                  </a:cubicBezTo>
                  <a:lnTo>
                    <a:pt x="0" y="0"/>
                  </a:lnTo>
                  <a:lnTo>
                    <a:pt x="1999062"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28016" tIns="128017" rIns="713528" bIns="713528" numCol="1" spcCol="1270" anchor="ctr" anchorCtr="0">
              <a:noAutofit/>
            </a:bodyPr>
            <a:lstStyle/>
            <a:p>
              <a:pPr marL="0" lvl="0" algn="l" defTabSz="914400" rtl="0" eaLnBrk="1" latinLnBrk="0" hangingPunct="1">
                <a:lnSpc>
                  <a:spcPct val="90000"/>
                </a:lnSpc>
                <a:spcBef>
                  <a:spcPct val="0"/>
                </a:spcBef>
                <a:spcAft>
                  <a:spcPct val="35000"/>
                </a:spcAft>
              </a:pPr>
              <a:endParaRPr lang="zh-CN" altLang="en-US" sz="1800" b="1" kern="1200" dirty="0">
                <a:solidFill>
                  <a:schemeClr val="bg1"/>
                </a:solidFill>
                <a:latin typeface="+mn-lt"/>
                <a:ea typeface="+mn-ea"/>
                <a:cs typeface="+mn-cs"/>
              </a:endParaRPr>
            </a:p>
          </p:txBody>
        </p:sp>
        <p:sp>
          <p:nvSpPr>
            <p:cNvPr id="5" name="矩形 4"/>
            <p:cNvSpPr/>
            <p:nvPr/>
          </p:nvSpPr>
          <p:spPr>
            <a:xfrm>
              <a:off x="4283968" y="2859782"/>
              <a:ext cx="1872208" cy="2031325"/>
            </a:xfrm>
            <a:prstGeom prst="rect">
              <a:avLst/>
            </a:prstGeom>
          </p:spPr>
          <p:txBody>
            <a:bodyPr wrap="square">
              <a:spAutoFit/>
            </a:bodyPr>
            <a:lstStyle/>
            <a:p>
              <a:pPr lvl="0"/>
              <a:r>
                <a:rPr lang="zh-CN" altLang="en-US" b="1" dirty="0">
                  <a:solidFill>
                    <a:schemeClr val="bg1"/>
                  </a:solidFill>
                </a:rPr>
                <a:t>对于那些不经常使用的资源，进程在生存</a:t>
              </a:r>
              <a:r>
                <a:rPr lang="zh-CN" altLang="en-US" b="1" dirty="0" smtClean="0">
                  <a:solidFill>
                    <a:schemeClr val="bg1"/>
                  </a:solidFill>
                </a:rPr>
                <a:t>过程</a:t>
              </a:r>
              <a:endParaRPr lang="en-US" altLang="zh-CN" b="1" dirty="0" smtClean="0">
                <a:solidFill>
                  <a:schemeClr val="bg1"/>
                </a:solidFill>
              </a:endParaRPr>
            </a:p>
            <a:p>
              <a:pPr lvl="0"/>
              <a:r>
                <a:rPr lang="zh-CN" altLang="en-US" b="1" dirty="0" smtClean="0">
                  <a:solidFill>
                    <a:schemeClr val="bg1"/>
                  </a:solidFill>
                </a:rPr>
                <a:t>期间</a:t>
              </a:r>
              <a:r>
                <a:rPr lang="zh-CN" altLang="en-US" b="1" dirty="0">
                  <a:solidFill>
                    <a:schemeClr val="bg1"/>
                  </a:solidFill>
                </a:rPr>
                <a:t>一直</a:t>
              </a:r>
              <a:r>
                <a:rPr lang="zh-CN" altLang="en-US" b="1" dirty="0" smtClean="0">
                  <a:solidFill>
                    <a:schemeClr val="bg1"/>
                  </a:solidFill>
                </a:rPr>
                <a:t>占</a:t>
              </a:r>
              <a:endParaRPr lang="en-US" altLang="zh-CN" b="1" dirty="0" smtClean="0">
                <a:solidFill>
                  <a:schemeClr val="bg1"/>
                </a:solidFill>
              </a:endParaRPr>
            </a:p>
            <a:p>
              <a:pPr lvl="0"/>
              <a:r>
                <a:rPr lang="zh-CN" altLang="en-US" b="1" dirty="0" smtClean="0">
                  <a:solidFill>
                    <a:schemeClr val="bg1"/>
                  </a:solidFill>
                </a:rPr>
                <a:t>用</a:t>
              </a:r>
              <a:r>
                <a:rPr lang="zh-CN" altLang="en-US" b="1" dirty="0">
                  <a:solidFill>
                    <a:schemeClr val="bg1"/>
                  </a:solidFill>
                </a:rPr>
                <a:t>它们是</a:t>
              </a:r>
              <a:r>
                <a:rPr lang="zh-CN" altLang="en-US" b="1" dirty="0" smtClean="0">
                  <a:solidFill>
                    <a:schemeClr val="bg1"/>
                  </a:solidFill>
                </a:rPr>
                <a:t>一</a:t>
              </a:r>
              <a:endParaRPr lang="en-US" altLang="zh-CN" b="1" dirty="0" smtClean="0">
                <a:solidFill>
                  <a:schemeClr val="bg1"/>
                </a:solidFill>
              </a:endParaRPr>
            </a:p>
            <a:p>
              <a:pPr lvl="0"/>
              <a:r>
                <a:rPr lang="zh-CN" altLang="en-US" b="1" dirty="0" smtClean="0">
                  <a:solidFill>
                    <a:schemeClr val="bg1"/>
                  </a:solidFill>
                </a:rPr>
                <a:t>种</a:t>
              </a:r>
              <a:r>
                <a:rPr lang="zh-CN" altLang="en-US" b="1" dirty="0">
                  <a:solidFill>
                    <a:schemeClr val="bg1"/>
                  </a:solidFill>
                </a:rPr>
                <a:t>极大</a:t>
              </a:r>
              <a:r>
                <a:rPr lang="zh-CN" altLang="en-US" b="1" dirty="0" smtClean="0">
                  <a:solidFill>
                    <a:schemeClr val="bg1"/>
                  </a:solidFill>
                </a:rPr>
                <a:t>的</a:t>
              </a:r>
              <a:endParaRPr lang="en-US" altLang="zh-CN" b="1" dirty="0" smtClean="0">
                <a:solidFill>
                  <a:schemeClr val="bg1"/>
                </a:solidFill>
              </a:endParaRPr>
            </a:p>
            <a:p>
              <a:pPr lvl="0"/>
              <a:r>
                <a:rPr lang="zh-CN" altLang="en-US" b="1" dirty="0" smtClean="0">
                  <a:solidFill>
                    <a:schemeClr val="bg1"/>
                  </a:solidFill>
                </a:rPr>
                <a:t>浪费</a:t>
              </a:r>
              <a:endParaRPr lang="zh-CN" altLang="en-US" b="1" dirty="0">
                <a:solidFill>
                  <a:schemeClr val="bg1"/>
                </a:solidFill>
              </a:endParaRPr>
            </a:p>
          </p:txBody>
        </p:sp>
      </p:grpSp>
      <p:sp>
        <p:nvSpPr>
          <p:cNvPr id="6" name="动作按钮: 第一张 5">
            <a:hlinkClick r:id="" action="ppaction://hlinkshowjump?jump=previousslide" highlightClick="1"/>
          </p:cNvPr>
          <p:cNvSpPr/>
          <p:nvPr/>
        </p:nvSpPr>
        <p:spPr>
          <a:xfrm>
            <a:off x="6660232" y="4155926"/>
            <a:ext cx="432048" cy="360040"/>
          </a:xfrm>
          <a:prstGeom prst="actionButtonHom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2" name="环形箭头 11"/>
          <p:cNvSpPr/>
          <p:nvPr/>
        </p:nvSpPr>
        <p:spPr>
          <a:xfrm>
            <a:off x="3866855" y="2499740"/>
            <a:ext cx="690207" cy="600180"/>
          </a:xfrm>
          <a:prstGeom prst="circularArrow">
            <a:avLst/>
          </a:prstGeom>
          <a:scene3d>
            <a:camera prst="orthographicFront"/>
            <a:lightRig rig="flat" dir="t"/>
          </a:scene3d>
          <a:sp3d z="190500" prstMaterial="plastic">
            <a:bevelT w="120900" h="88900"/>
            <a:bevelB w="88900" h="31750" prst="angle"/>
          </a:sp3d>
        </p:spPr>
        <p:style>
          <a:lnRef idx="0">
            <a:schemeClr val="lt1">
              <a:hueOff val="0"/>
              <a:satOff val="0"/>
              <a:lumOff val="0"/>
              <a:alphaOff val="0"/>
            </a:schemeClr>
          </a:lnRef>
          <a:fillRef idx="1">
            <a:schemeClr val="accent2">
              <a:tint val="40000"/>
              <a:hueOff val="0"/>
              <a:satOff val="0"/>
              <a:lumOff val="0"/>
              <a:alphaOff val="0"/>
            </a:schemeClr>
          </a:fillRef>
          <a:effectRef idx="3">
            <a:schemeClr val="accent2">
              <a:tint val="40000"/>
              <a:hueOff val="0"/>
              <a:satOff val="0"/>
              <a:lumOff val="0"/>
              <a:alphaOff val="0"/>
            </a:schemeClr>
          </a:effectRef>
          <a:fontRef idx="minor">
            <a:schemeClr val="dk1">
              <a:hueOff val="0"/>
              <a:satOff val="0"/>
              <a:lumOff val="0"/>
              <a:alphaOff val="0"/>
            </a:schemeClr>
          </a:fontRef>
        </p:style>
      </p:sp>
      <p:sp>
        <p:nvSpPr>
          <p:cNvPr id="13" name="环形箭头 12"/>
          <p:cNvSpPr/>
          <p:nvPr/>
        </p:nvSpPr>
        <p:spPr>
          <a:xfrm rot="10800000">
            <a:off x="3866855" y="2559695"/>
            <a:ext cx="690207" cy="600180"/>
          </a:xfrm>
          <a:prstGeom prst="circularArrow">
            <a:avLst/>
          </a:prstGeom>
          <a:scene3d>
            <a:camera prst="orthographicFront"/>
            <a:lightRig rig="flat" dir="t"/>
          </a:scene3d>
          <a:sp3d z="190500" prstMaterial="plastic">
            <a:bevelT w="120900" h="88900"/>
            <a:bevelB w="88900" h="31750" prst="angle"/>
          </a:sp3d>
        </p:spPr>
        <p:style>
          <a:lnRef idx="0">
            <a:schemeClr val="lt1">
              <a:hueOff val="0"/>
              <a:satOff val="0"/>
              <a:lumOff val="0"/>
              <a:alphaOff val="0"/>
            </a:schemeClr>
          </a:lnRef>
          <a:fillRef idx="1">
            <a:schemeClr val="accent2">
              <a:tint val="40000"/>
              <a:hueOff val="0"/>
              <a:satOff val="0"/>
              <a:lumOff val="0"/>
              <a:alphaOff val="0"/>
            </a:schemeClr>
          </a:fillRef>
          <a:effectRef idx="3">
            <a:schemeClr val="accent2">
              <a:tint val="40000"/>
              <a:hueOff val="0"/>
              <a:satOff val="0"/>
              <a:lumOff val="0"/>
              <a:alphaOff val="0"/>
            </a:schemeClr>
          </a:effectRef>
          <a:fontRef idx="minor">
            <a:schemeClr val="dk1">
              <a:hueOff val="0"/>
              <a:satOff val="0"/>
              <a:lumOff val="0"/>
              <a:alphaOff val="0"/>
            </a:schemeClr>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righ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死锁预防</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94772"/>
            <a:ext cx="6941291" cy="332975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如</a:t>
            </a:r>
            <a:r>
              <a:rPr lang="zh-CN" altLang="en-US" sz="2400" b="1" dirty="0">
                <a:solidFill>
                  <a:schemeClr val="bg1"/>
                </a:solidFill>
                <a:latin typeface="+mn-ea"/>
              </a:rPr>
              <a:t>有</a:t>
            </a:r>
            <a:r>
              <a:rPr lang="en-US" altLang="zh-CN" sz="2400" b="1" dirty="0">
                <a:solidFill>
                  <a:schemeClr val="bg1"/>
                </a:solidFill>
                <a:latin typeface="+mn-ea"/>
              </a:rPr>
              <a:t>m</a:t>
            </a:r>
            <a:r>
              <a:rPr lang="zh-CN" altLang="en-US" sz="2400" b="1" dirty="0">
                <a:solidFill>
                  <a:schemeClr val="bg1"/>
                </a:solidFill>
                <a:latin typeface="+mn-ea"/>
              </a:rPr>
              <a:t>种资源，则列出</a:t>
            </a:r>
            <a:r>
              <a:rPr lang="en-US" altLang="zh-CN" sz="2400" b="1" dirty="0">
                <a:solidFill>
                  <a:schemeClr val="bg1"/>
                </a:solidFill>
                <a:latin typeface="+mn-ea"/>
              </a:rPr>
              <a:t>R</a:t>
            </a:r>
            <a:r>
              <a:rPr lang="en-US" altLang="zh-CN" sz="2400" b="1" baseline="-25000"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R</a:t>
            </a:r>
            <a:r>
              <a:rPr lang="en-US" altLang="zh-CN" sz="2400" b="1" baseline="-25000"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a:t>
            </a:r>
            <a:r>
              <a:rPr lang="zh-CN" altLang="en-US" sz="2400" b="1" dirty="0">
                <a:solidFill>
                  <a:schemeClr val="bg1"/>
                </a:solidFill>
                <a:latin typeface="+mn-ea"/>
              </a:rPr>
              <a:t>＜</a:t>
            </a:r>
            <a:r>
              <a:rPr lang="en-US" altLang="zh-CN" sz="2400" b="1" dirty="0">
                <a:solidFill>
                  <a:schemeClr val="bg1"/>
                </a:solidFill>
                <a:latin typeface="+mn-ea"/>
              </a:rPr>
              <a:t>R</a:t>
            </a:r>
            <a:r>
              <a:rPr lang="en-US" altLang="zh-CN" sz="2400" b="1" baseline="-25000" dirty="0">
                <a:solidFill>
                  <a:schemeClr val="bg1"/>
                </a:solidFill>
                <a:latin typeface="+mn-ea"/>
              </a:rPr>
              <a:t>m</a:t>
            </a:r>
            <a:r>
              <a:rPr lang="zh-CN" altLang="en-US" sz="2400" b="1" dirty="0">
                <a:solidFill>
                  <a:schemeClr val="bg1"/>
                </a:solidFill>
                <a:latin typeface="+mn-ea"/>
              </a:rPr>
              <a:t>。若进程</a:t>
            </a:r>
            <a:r>
              <a:rPr lang="en-US" altLang="zh-CN" sz="2400" b="1" dirty="0">
                <a:solidFill>
                  <a:schemeClr val="bg1"/>
                </a:solidFill>
                <a:latin typeface="+mn-ea"/>
              </a:rPr>
              <a:t>P</a:t>
            </a:r>
            <a:r>
              <a:rPr lang="en-US" altLang="zh-CN" sz="2400" b="1" baseline="-25000" dirty="0">
                <a:solidFill>
                  <a:schemeClr val="bg1"/>
                </a:solidFill>
                <a:latin typeface="+mn-ea"/>
              </a:rPr>
              <a:t>i</a:t>
            </a:r>
            <a:r>
              <a:rPr lang="zh-CN" altLang="en-US" sz="2400" b="1" dirty="0">
                <a:solidFill>
                  <a:schemeClr val="bg1"/>
                </a:solidFill>
                <a:latin typeface="+mn-ea"/>
              </a:rPr>
              <a:t>保持了资源</a:t>
            </a:r>
            <a:r>
              <a:rPr lang="en-US" altLang="zh-CN" sz="2400" b="1" dirty="0" err="1">
                <a:solidFill>
                  <a:schemeClr val="bg1"/>
                </a:solidFill>
                <a:latin typeface="+mn-ea"/>
              </a:rPr>
              <a:t>R</a:t>
            </a:r>
            <a:r>
              <a:rPr lang="en-US" altLang="zh-CN" sz="2400" b="1" baseline="-25000" dirty="0" err="1">
                <a:solidFill>
                  <a:schemeClr val="bg1"/>
                </a:solidFill>
                <a:latin typeface="+mn-ea"/>
              </a:rPr>
              <a:t>i</a:t>
            </a:r>
            <a:r>
              <a:rPr lang="zh-CN" altLang="en-US" sz="2400" b="1" dirty="0">
                <a:solidFill>
                  <a:schemeClr val="bg1"/>
                </a:solidFill>
                <a:latin typeface="+mn-ea"/>
              </a:rPr>
              <a:t>，则它</a:t>
            </a:r>
            <a:r>
              <a:rPr lang="zh-CN" altLang="en-US" sz="2400" b="1" dirty="0">
                <a:solidFill>
                  <a:srgbClr val="FFFF00"/>
                </a:solidFill>
                <a:latin typeface="+mn-ea"/>
              </a:rPr>
              <a:t>只能申请比</a:t>
            </a:r>
            <a:r>
              <a:rPr lang="en-US" altLang="zh-CN" sz="2400" b="1" dirty="0" err="1">
                <a:solidFill>
                  <a:srgbClr val="FFFF00"/>
                </a:solidFill>
                <a:latin typeface="+mn-ea"/>
              </a:rPr>
              <a:t>R</a:t>
            </a:r>
            <a:r>
              <a:rPr lang="en-US" altLang="zh-CN" sz="2400" b="1" baseline="-25000" dirty="0" err="1">
                <a:solidFill>
                  <a:srgbClr val="FFFF00"/>
                </a:solidFill>
                <a:latin typeface="+mn-ea"/>
              </a:rPr>
              <a:t>i</a:t>
            </a:r>
            <a:r>
              <a:rPr lang="zh-CN" altLang="en-US" sz="2400" b="1" dirty="0">
                <a:solidFill>
                  <a:srgbClr val="FFFF00"/>
                </a:solidFill>
                <a:latin typeface="+mn-ea"/>
              </a:rPr>
              <a:t>级别更高的资源</a:t>
            </a:r>
            <a:r>
              <a:rPr lang="en-US" altLang="zh-CN" sz="2400" b="1" dirty="0" err="1">
                <a:solidFill>
                  <a:srgbClr val="FFFF00"/>
                </a:solidFill>
                <a:latin typeface="+mn-ea"/>
              </a:rPr>
              <a:t>R</a:t>
            </a:r>
            <a:r>
              <a:rPr lang="en-US" altLang="zh-CN" sz="2400" b="1" baseline="-25000" dirty="0" err="1">
                <a:solidFill>
                  <a:srgbClr val="FFFF00"/>
                </a:solidFill>
                <a:latin typeface="+mn-ea"/>
              </a:rPr>
              <a:t>j</a:t>
            </a:r>
            <a:r>
              <a:rPr lang="zh-CN" altLang="en-US" sz="2400" b="1" dirty="0">
                <a:solidFill>
                  <a:srgbClr val="FFFF00"/>
                </a:solidFill>
                <a:latin typeface="+mn-ea"/>
              </a:rPr>
              <a:t>（</a:t>
            </a:r>
            <a:r>
              <a:rPr lang="en-US" altLang="zh-CN" sz="2400" b="1" dirty="0" err="1">
                <a:solidFill>
                  <a:srgbClr val="FFFF00"/>
                </a:solidFill>
                <a:latin typeface="+mn-ea"/>
              </a:rPr>
              <a:t>R</a:t>
            </a:r>
            <a:r>
              <a:rPr lang="en-US" altLang="zh-CN" sz="2400" b="1" baseline="-25000" dirty="0" err="1">
                <a:solidFill>
                  <a:srgbClr val="FFFF00"/>
                </a:solidFill>
                <a:latin typeface="+mn-ea"/>
              </a:rPr>
              <a:t>i</a:t>
            </a:r>
            <a:r>
              <a:rPr lang="en-US" altLang="zh-CN" sz="2400" b="1" dirty="0">
                <a:solidFill>
                  <a:srgbClr val="FFFF00"/>
                </a:solidFill>
                <a:latin typeface="+mn-ea"/>
              </a:rPr>
              <a:t> </a:t>
            </a:r>
            <a:r>
              <a:rPr lang="zh-CN" altLang="en-US" sz="2400" b="1" dirty="0">
                <a:solidFill>
                  <a:srgbClr val="FFFF00"/>
                </a:solidFill>
                <a:latin typeface="+mn-ea"/>
              </a:rPr>
              <a:t>＜</a:t>
            </a:r>
            <a:r>
              <a:rPr lang="en-US" altLang="zh-CN" sz="2400" b="1" dirty="0" err="1">
                <a:solidFill>
                  <a:srgbClr val="FFFF00"/>
                </a:solidFill>
                <a:latin typeface="+mn-ea"/>
              </a:rPr>
              <a:t>Rj</a:t>
            </a:r>
            <a:r>
              <a:rPr lang="en-US" altLang="zh-CN" sz="2400" b="1" dirty="0">
                <a:solidFill>
                  <a:srgbClr val="FFFF00"/>
                </a:solidFill>
                <a:latin typeface="+mn-ea"/>
              </a:rPr>
              <a:t> </a:t>
            </a:r>
            <a:r>
              <a:rPr lang="zh-CN" altLang="en-US" sz="2400" b="1" dirty="0">
                <a:solidFill>
                  <a:srgbClr val="FFFF00"/>
                </a:solidFill>
                <a:latin typeface="+mn-ea"/>
              </a:rPr>
              <a:t>）</a:t>
            </a:r>
            <a:r>
              <a:rPr lang="zh-CN" altLang="en-US" sz="2400" b="1" dirty="0">
                <a:solidFill>
                  <a:schemeClr val="bg1"/>
                </a:solidFill>
                <a:latin typeface="+mn-ea"/>
              </a:rPr>
              <a:t>。</a:t>
            </a:r>
            <a:r>
              <a:rPr lang="zh-CN" altLang="en-US" sz="2400" b="1" dirty="0">
                <a:solidFill>
                  <a:srgbClr val="FFFF00"/>
                </a:solidFill>
                <a:latin typeface="+mn-ea"/>
              </a:rPr>
              <a:t>释放资源</a:t>
            </a:r>
            <a:r>
              <a:rPr lang="zh-CN" altLang="en-US" sz="2400" b="1" dirty="0">
                <a:solidFill>
                  <a:schemeClr val="bg1"/>
                </a:solidFill>
                <a:latin typeface="+mn-ea"/>
              </a:rPr>
              <a:t>时必须是</a:t>
            </a:r>
            <a:r>
              <a:rPr lang="en-US" altLang="zh-CN" sz="2400" b="1" dirty="0" err="1">
                <a:solidFill>
                  <a:srgbClr val="FFFF00"/>
                </a:solidFill>
                <a:latin typeface="+mn-ea"/>
              </a:rPr>
              <a:t>R</a:t>
            </a:r>
            <a:r>
              <a:rPr lang="en-US" altLang="zh-CN" sz="2400" b="1" baseline="-25000" dirty="0" err="1">
                <a:solidFill>
                  <a:srgbClr val="FFFF00"/>
                </a:solidFill>
                <a:latin typeface="+mn-ea"/>
              </a:rPr>
              <a:t>j</a:t>
            </a:r>
            <a:r>
              <a:rPr lang="zh-CN" altLang="en-US" sz="2400" b="1" dirty="0">
                <a:solidFill>
                  <a:srgbClr val="FFFF00"/>
                </a:solidFill>
                <a:latin typeface="+mn-ea"/>
              </a:rPr>
              <a:t>先于</a:t>
            </a:r>
            <a:r>
              <a:rPr lang="en-US" altLang="zh-CN" sz="2400" b="1" dirty="0" err="1">
                <a:solidFill>
                  <a:srgbClr val="FFFF00"/>
                </a:solidFill>
                <a:latin typeface="+mn-ea"/>
              </a:rPr>
              <a:t>R</a:t>
            </a:r>
            <a:r>
              <a:rPr lang="en-US" altLang="zh-CN" sz="2400" b="1" baseline="-25000" dirty="0" err="1">
                <a:solidFill>
                  <a:srgbClr val="FFFF00"/>
                </a:solidFill>
                <a:latin typeface="+mn-ea"/>
              </a:rPr>
              <a:t>i</a:t>
            </a:r>
            <a:r>
              <a:rPr lang="zh-CN" altLang="en-US" sz="2400" b="1" dirty="0">
                <a:solidFill>
                  <a:srgbClr val="FFFF00"/>
                </a:solidFill>
                <a:latin typeface="+mn-ea"/>
              </a:rPr>
              <a:t>被释放</a:t>
            </a:r>
            <a:r>
              <a:rPr lang="zh-CN" altLang="en-US" sz="2400" b="1" dirty="0">
                <a:solidFill>
                  <a:schemeClr val="bg1"/>
                </a:solidFill>
                <a:latin typeface="+mn-ea"/>
              </a:rPr>
              <a:t>，从而避免环路的产生</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这种</a:t>
            </a:r>
            <a:r>
              <a:rPr lang="zh-CN" altLang="en-US" sz="2400" b="1" dirty="0">
                <a:solidFill>
                  <a:schemeClr val="bg1"/>
                </a:solidFill>
                <a:latin typeface="+mn-ea"/>
              </a:rPr>
              <a:t>方法的缺点是</a:t>
            </a:r>
            <a:r>
              <a:rPr lang="zh-CN" altLang="en-US" sz="2400" b="1" dirty="0">
                <a:solidFill>
                  <a:srgbClr val="FFFF00"/>
                </a:solidFill>
                <a:latin typeface="+mn-ea"/>
              </a:rPr>
              <a:t>限制了进程对资源的请求</a:t>
            </a:r>
            <a:r>
              <a:rPr lang="zh-CN" altLang="en-US" sz="2400" b="1" dirty="0">
                <a:solidFill>
                  <a:schemeClr val="bg1"/>
                </a:solidFill>
                <a:latin typeface="+mn-ea"/>
              </a:rPr>
              <a:t>，而且对资源的分类编序也耗去一定的系统开销。</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p>
        </p:txBody>
      </p:sp>
      <p:sp>
        <p:nvSpPr>
          <p:cNvPr id="2" name="矩形 1"/>
          <p:cNvSpPr/>
          <p:nvPr/>
        </p:nvSpPr>
        <p:spPr>
          <a:xfrm>
            <a:off x="755576" y="1344876"/>
            <a:ext cx="6941291" cy="317317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死锁避免可被称为</a:t>
            </a:r>
            <a:r>
              <a:rPr lang="zh-CN" altLang="en-US" sz="2200" b="1" dirty="0">
                <a:solidFill>
                  <a:srgbClr val="FFFF00"/>
                </a:solidFill>
                <a:latin typeface="+mn-ea"/>
              </a:rPr>
              <a:t>动态预防</a:t>
            </a:r>
            <a:r>
              <a:rPr lang="zh-CN" altLang="en-US" sz="2200" b="1" dirty="0">
                <a:solidFill>
                  <a:schemeClr val="bg1"/>
                </a:solidFill>
                <a:latin typeface="+mn-ea"/>
              </a:rPr>
              <a:t>，因为系统采用动态分配资源，在分配过程中预测出死锁发生的可能性并加以避免的方法。</a:t>
            </a:r>
          </a:p>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死锁避免的一种基本模式是</a:t>
            </a:r>
            <a:r>
              <a:rPr lang="zh-CN" altLang="en-US" sz="2200" b="1" dirty="0">
                <a:solidFill>
                  <a:srgbClr val="FFFF00"/>
                </a:solidFill>
                <a:latin typeface="+mn-ea"/>
              </a:rPr>
              <a:t>把进程分为多个步</a:t>
            </a:r>
            <a:r>
              <a:rPr lang="zh-CN" altLang="en-US" sz="2200" b="1" dirty="0">
                <a:solidFill>
                  <a:schemeClr val="bg1"/>
                </a:solidFill>
                <a:latin typeface="+mn-ea"/>
              </a:rPr>
              <a:t>，其中</a:t>
            </a:r>
            <a:r>
              <a:rPr lang="zh-CN" altLang="en-US" sz="2200" b="1" dirty="0">
                <a:solidFill>
                  <a:srgbClr val="FFFF00"/>
                </a:solidFill>
                <a:latin typeface="+mn-ea"/>
              </a:rPr>
              <a:t>每个步所使用的资源是固定</a:t>
            </a:r>
            <a:r>
              <a:rPr lang="zh-CN" altLang="en-US" sz="2200" b="1" dirty="0">
                <a:solidFill>
                  <a:schemeClr val="bg1"/>
                </a:solidFill>
                <a:latin typeface="+mn-ea"/>
              </a:rPr>
              <a:t>的，且在一个步内，进程所保持的资源数不变。即进程的资源请求、使用与释放要依靠不同的步完成。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p>
        </p:txBody>
      </p:sp>
      <p:sp>
        <p:nvSpPr>
          <p:cNvPr id="2" name="矩形 1"/>
          <p:cNvSpPr/>
          <p:nvPr/>
        </p:nvSpPr>
        <p:spPr>
          <a:xfrm>
            <a:off x="683568" y="1344876"/>
            <a:ext cx="7128792" cy="3083921"/>
          </a:xfrm>
          <a:prstGeom prst="rect">
            <a:avLst/>
          </a:prstGeom>
        </p:spPr>
        <p:txBody>
          <a:bodyPr wrap="square">
            <a:spAutoFit/>
          </a:bodyPr>
          <a:lstStyle/>
          <a:p>
            <a:pPr>
              <a:lnSpc>
                <a:spcPct val="135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可用一向量矩阵</a:t>
            </a:r>
            <a:r>
              <a:rPr lang="zh-CN" altLang="en-US" sz="2400" b="1" dirty="0">
                <a:solidFill>
                  <a:srgbClr val="FFFF00"/>
                </a:solidFill>
                <a:latin typeface="+mn-ea"/>
              </a:rPr>
              <a:t>＜Ｗ，Ａ，Ｂ，Ｆ＞</a:t>
            </a:r>
            <a:r>
              <a:rPr lang="zh-CN" altLang="en-US" sz="2400" b="1" dirty="0">
                <a:solidFill>
                  <a:schemeClr val="bg1"/>
                </a:solidFill>
                <a:latin typeface="+mn-ea"/>
              </a:rPr>
              <a:t>来描述各进程的资源请求和获得系统空闲资源的状况。其中，Ｗ＝（Ｗ</a:t>
            </a:r>
            <a:r>
              <a:rPr lang="en-US" altLang="zh-CN" sz="2400" b="1" baseline="-25000" dirty="0">
                <a:solidFill>
                  <a:schemeClr val="bg1"/>
                </a:solidFill>
                <a:latin typeface="+mn-ea"/>
              </a:rPr>
              <a:t>1</a:t>
            </a:r>
            <a:r>
              <a:rPr lang="zh-CN" altLang="en-US" sz="2400" b="1" dirty="0">
                <a:solidFill>
                  <a:schemeClr val="bg1"/>
                </a:solidFill>
                <a:latin typeface="+mn-ea"/>
              </a:rPr>
              <a:t>，Ｗ</a:t>
            </a:r>
            <a:r>
              <a:rPr lang="en-US" altLang="zh-CN" sz="2400" b="1" baseline="-25000"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a:t>
            </a:r>
            <a:r>
              <a:rPr lang="zh-CN" altLang="en-US" sz="2400" b="1" dirty="0">
                <a:solidFill>
                  <a:schemeClr val="bg1"/>
                </a:solidFill>
                <a:latin typeface="+mn-ea"/>
              </a:rPr>
              <a:t>，Ｗ</a:t>
            </a:r>
            <a:r>
              <a:rPr lang="en-US" altLang="zh-CN" sz="2400" b="1" baseline="-25000" dirty="0">
                <a:solidFill>
                  <a:schemeClr val="bg1"/>
                </a:solidFill>
                <a:latin typeface="+mn-ea"/>
              </a:rPr>
              <a:t>n</a:t>
            </a:r>
            <a:r>
              <a:rPr lang="zh-CN" altLang="en-US" sz="2400" b="1" dirty="0">
                <a:solidFill>
                  <a:schemeClr val="bg1"/>
                </a:solidFill>
                <a:latin typeface="+mn-ea"/>
              </a:rPr>
              <a:t>）是一个</a:t>
            </a:r>
            <a:r>
              <a:rPr lang="en-US" altLang="zh-CN" sz="2400" b="1" dirty="0" err="1">
                <a:solidFill>
                  <a:schemeClr val="bg1"/>
                </a:solidFill>
                <a:latin typeface="+mn-ea"/>
              </a:rPr>
              <a:t>n×m</a:t>
            </a:r>
            <a:r>
              <a:rPr lang="zh-CN" altLang="en-US" sz="2400" b="1" dirty="0">
                <a:solidFill>
                  <a:schemeClr val="bg1"/>
                </a:solidFill>
                <a:latin typeface="+mn-ea"/>
              </a:rPr>
              <a:t>维矩阵，</a:t>
            </a:r>
            <a:r>
              <a:rPr lang="en-US" altLang="zh-CN" sz="2400" b="1" dirty="0">
                <a:solidFill>
                  <a:schemeClr val="bg1"/>
                </a:solidFill>
                <a:latin typeface="+mn-ea"/>
              </a:rPr>
              <a:t>n</a:t>
            </a:r>
            <a:r>
              <a:rPr lang="zh-CN" altLang="en-US" sz="2400" b="1" dirty="0">
                <a:solidFill>
                  <a:schemeClr val="bg1"/>
                </a:solidFill>
                <a:latin typeface="+mn-ea"/>
              </a:rPr>
              <a:t>表示并发进程数目，</a:t>
            </a:r>
            <a:r>
              <a:rPr lang="en-US" altLang="zh-CN" sz="2400" b="1" dirty="0">
                <a:solidFill>
                  <a:schemeClr val="bg1"/>
                </a:solidFill>
                <a:latin typeface="+mn-ea"/>
              </a:rPr>
              <a:t>m</a:t>
            </a:r>
            <a:r>
              <a:rPr lang="zh-CN" altLang="en-US" sz="2400" b="1" dirty="0">
                <a:solidFill>
                  <a:schemeClr val="bg1"/>
                </a:solidFill>
                <a:latin typeface="+mn-ea"/>
              </a:rPr>
              <a:t>表示资源类型数目，</a:t>
            </a:r>
            <a:r>
              <a:rPr lang="zh-CN" altLang="en-US" sz="2400" b="1" dirty="0">
                <a:solidFill>
                  <a:srgbClr val="FFFF00"/>
                </a:solidFill>
                <a:latin typeface="+mn-ea"/>
              </a:rPr>
              <a:t>Ｗ</a:t>
            </a:r>
            <a:r>
              <a:rPr lang="en-US" altLang="zh-CN" sz="2400" b="1" baseline="-25000" dirty="0" err="1">
                <a:solidFill>
                  <a:srgbClr val="FFFF00"/>
                </a:solidFill>
                <a:latin typeface="+mn-ea"/>
              </a:rPr>
              <a:t>ij</a:t>
            </a:r>
            <a:r>
              <a:rPr lang="zh-CN" altLang="en-US" sz="2400" b="1" dirty="0">
                <a:solidFill>
                  <a:srgbClr val="FFFF00"/>
                </a:solidFill>
                <a:latin typeface="+mn-ea"/>
              </a:rPr>
              <a:t>＝</a:t>
            </a:r>
            <a:r>
              <a:rPr lang="en-US" altLang="zh-CN" sz="2400" b="1" dirty="0" err="1">
                <a:solidFill>
                  <a:srgbClr val="FFFF00"/>
                </a:solidFill>
                <a:latin typeface="+mn-ea"/>
              </a:rPr>
              <a:t>ω</a:t>
            </a:r>
            <a:r>
              <a:rPr lang="en-US" altLang="zh-CN" sz="2400" b="1" baseline="-25000" dirty="0" err="1">
                <a:solidFill>
                  <a:srgbClr val="FFFF00"/>
                </a:solidFill>
                <a:latin typeface="+mn-ea"/>
              </a:rPr>
              <a:t>i</a:t>
            </a:r>
            <a:r>
              <a:rPr lang="en-US" altLang="zh-CN" sz="2400" b="1" dirty="0">
                <a:solidFill>
                  <a:srgbClr val="FFFF00"/>
                </a:solidFill>
                <a:latin typeface="+mn-ea"/>
              </a:rPr>
              <a:t>(j)</a:t>
            </a:r>
            <a:r>
              <a:rPr lang="zh-CN" altLang="en-US" sz="2400" b="1" dirty="0">
                <a:solidFill>
                  <a:schemeClr val="bg1"/>
                </a:solidFill>
                <a:latin typeface="+mn-ea"/>
              </a:rPr>
              <a:t>是</a:t>
            </a:r>
            <a:r>
              <a:rPr lang="zh-CN" altLang="en-US" sz="2400" b="1" dirty="0">
                <a:solidFill>
                  <a:srgbClr val="FFFF00"/>
                </a:solidFill>
                <a:latin typeface="+mn-ea"/>
              </a:rPr>
              <a:t>进程</a:t>
            </a:r>
            <a:r>
              <a:rPr lang="en-US" altLang="zh-CN" sz="2400" b="1" dirty="0">
                <a:solidFill>
                  <a:srgbClr val="FFFF00"/>
                </a:solidFill>
                <a:latin typeface="+mn-ea"/>
              </a:rPr>
              <a:t>P</a:t>
            </a:r>
            <a:r>
              <a:rPr lang="en-US" altLang="zh-CN" sz="2400" b="1" baseline="-25000" dirty="0">
                <a:solidFill>
                  <a:srgbClr val="FFFF00"/>
                </a:solidFill>
                <a:latin typeface="+mn-ea"/>
              </a:rPr>
              <a:t>i</a:t>
            </a:r>
            <a:r>
              <a:rPr lang="zh-CN" altLang="en-US" sz="2400" b="1" dirty="0">
                <a:solidFill>
                  <a:srgbClr val="FFFF00"/>
                </a:solidFill>
                <a:latin typeface="+mn-ea"/>
              </a:rPr>
              <a:t>在某一执行步时为完成任务请求</a:t>
            </a:r>
            <a:r>
              <a:rPr lang="zh-CN" altLang="en-US" sz="2400" b="1" u="sng" dirty="0">
                <a:solidFill>
                  <a:srgbClr val="FFFF00"/>
                </a:solidFill>
                <a:uFill>
                  <a:solidFill>
                    <a:srgbClr val="FFFF00"/>
                  </a:solidFill>
                </a:uFill>
                <a:latin typeface="+mn-ea"/>
              </a:rPr>
              <a:t>追加</a:t>
            </a:r>
            <a:r>
              <a:rPr lang="zh-CN" altLang="en-US" sz="2400" b="1" dirty="0">
                <a:solidFill>
                  <a:srgbClr val="FFFF00"/>
                </a:solidFill>
                <a:latin typeface="+mn-ea"/>
              </a:rPr>
              <a:t>的资源</a:t>
            </a:r>
            <a:r>
              <a:rPr lang="en-US" altLang="zh-CN" sz="2400" b="1" dirty="0" err="1">
                <a:solidFill>
                  <a:srgbClr val="FFFF00"/>
                </a:solidFill>
                <a:latin typeface="+mn-ea"/>
              </a:rPr>
              <a:t>R</a:t>
            </a:r>
            <a:r>
              <a:rPr lang="en-US" altLang="zh-CN" sz="2400" b="1" baseline="-25000" dirty="0" err="1">
                <a:solidFill>
                  <a:srgbClr val="FFFF00"/>
                </a:solidFill>
                <a:latin typeface="+mn-ea"/>
              </a:rPr>
              <a:t>j</a:t>
            </a:r>
            <a:r>
              <a:rPr lang="zh-CN" altLang="en-US" sz="2400" b="1" dirty="0">
                <a:solidFill>
                  <a:srgbClr val="FFFF00"/>
                </a:solidFill>
                <a:latin typeface="+mn-ea"/>
              </a:rPr>
              <a:t>的单元数目</a:t>
            </a:r>
            <a:r>
              <a:rPr lang="zh-CN" altLang="en-US" sz="2400" b="1" dirty="0">
                <a:solidFill>
                  <a:schemeClr val="bg1"/>
                </a:solidFill>
                <a:latin typeface="+mn-ea"/>
              </a:rPr>
              <a:t>。</a:t>
            </a:r>
            <a:r>
              <a:rPr lang="en-US" altLang="zh-CN" sz="2400" b="1" dirty="0" err="1">
                <a:solidFill>
                  <a:schemeClr val="bg1"/>
                </a:solidFill>
                <a:latin typeface="+mn-ea"/>
              </a:rPr>
              <a:t>ω</a:t>
            </a:r>
            <a:r>
              <a:rPr lang="en-US" altLang="zh-CN" sz="2400" b="1" baseline="-25000" dirty="0" err="1">
                <a:solidFill>
                  <a:schemeClr val="bg1"/>
                </a:solidFill>
                <a:latin typeface="+mn-ea"/>
              </a:rPr>
              <a:t>i</a:t>
            </a:r>
            <a:r>
              <a:rPr lang="zh-CN" altLang="en-US" sz="2400" b="1" dirty="0">
                <a:solidFill>
                  <a:schemeClr val="bg1"/>
                </a:solidFill>
                <a:latin typeface="+mn-ea"/>
              </a:rPr>
              <a:t>被称为进程</a:t>
            </a:r>
            <a:r>
              <a:rPr lang="en-US" altLang="zh-CN" sz="2400" b="1" dirty="0">
                <a:solidFill>
                  <a:schemeClr val="bg1"/>
                </a:solidFill>
                <a:latin typeface="+mn-ea"/>
              </a:rPr>
              <a:t>P</a:t>
            </a:r>
            <a:r>
              <a:rPr lang="en-US" altLang="zh-CN" sz="2400" b="1" baseline="-25000" dirty="0">
                <a:solidFill>
                  <a:schemeClr val="bg1"/>
                </a:solidFill>
                <a:latin typeface="+mn-ea"/>
              </a:rPr>
              <a:t>i</a:t>
            </a:r>
            <a:r>
              <a:rPr lang="zh-CN" altLang="en-US" sz="2400" b="1" dirty="0">
                <a:solidFill>
                  <a:schemeClr val="bg1"/>
                </a:solidFill>
                <a:latin typeface="+mn-ea"/>
              </a:rPr>
              <a:t>的请求向量</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p>
        </p:txBody>
      </p:sp>
      <p:sp>
        <p:nvSpPr>
          <p:cNvPr id="2" name="矩形 1"/>
          <p:cNvSpPr/>
          <p:nvPr/>
        </p:nvSpPr>
        <p:spPr>
          <a:xfrm>
            <a:off x="899592" y="1384209"/>
            <a:ext cx="6941291" cy="2775760"/>
          </a:xfrm>
          <a:prstGeom prst="rect">
            <a:avLst/>
          </a:prstGeom>
        </p:spPr>
        <p:txBody>
          <a:bodyPr wrap="square">
            <a:spAutoFit/>
          </a:bodyPr>
          <a:lstStyle/>
          <a:p>
            <a:pPr>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Ａ</a:t>
            </a:r>
            <a:r>
              <a:rPr lang="zh-CN" altLang="en-US" sz="2400" b="1" dirty="0">
                <a:solidFill>
                  <a:schemeClr val="bg1"/>
                </a:solidFill>
                <a:latin typeface="+mn-ea"/>
              </a:rPr>
              <a:t>＝（Ａ</a:t>
            </a:r>
            <a:r>
              <a:rPr lang="en-US" altLang="zh-CN" sz="2400" b="1" baseline="-25000" dirty="0">
                <a:solidFill>
                  <a:schemeClr val="bg1"/>
                </a:solidFill>
                <a:latin typeface="+mn-ea"/>
              </a:rPr>
              <a:t>1</a:t>
            </a:r>
            <a:r>
              <a:rPr lang="zh-CN" altLang="en-US" sz="2400" b="1" dirty="0">
                <a:solidFill>
                  <a:schemeClr val="bg1"/>
                </a:solidFill>
                <a:latin typeface="+mn-ea"/>
              </a:rPr>
              <a:t>，Ａ</a:t>
            </a:r>
            <a:r>
              <a:rPr lang="en-US" altLang="zh-CN" sz="2400" b="1" baseline="-25000"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a:t>
            </a:r>
            <a:r>
              <a:rPr lang="zh-CN" altLang="en-US" sz="2400" b="1" dirty="0">
                <a:solidFill>
                  <a:schemeClr val="bg1"/>
                </a:solidFill>
                <a:latin typeface="+mn-ea"/>
              </a:rPr>
              <a:t>，Ａ</a:t>
            </a:r>
            <a:r>
              <a:rPr lang="en-US" altLang="zh-CN" sz="2400" b="1" baseline="-25000" dirty="0">
                <a:solidFill>
                  <a:schemeClr val="bg1"/>
                </a:solidFill>
                <a:latin typeface="+mn-ea"/>
              </a:rPr>
              <a:t>n</a:t>
            </a:r>
            <a:r>
              <a:rPr lang="zh-CN" altLang="en-US" sz="2400" b="1" dirty="0">
                <a:solidFill>
                  <a:schemeClr val="bg1"/>
                </a:solidFill>
                <a:latin typeface="+mn-ea"/>
              </a:rPr>
              <a:t>）是</a:t>
            </a:r>
            <a:r>
              <a:rPr lang="en-US" altLang="zh-CN" sz="2400" b="1" dirty="0" err="1">
                <a:solidFill>
                  <a:schemeClr val="bg1"/>
                </a:solidFill>
                <a:latin typeface="+mn-ea"/>
              </a:rPr>
              <a:t>n×m</a:t>
            </a:r>
            <a:r>
              <a:rPr lang="zh-CN" altLang="en-US" sz="2400" b="1" dirty="0">
                <a:solidFill>
                  <a:schemeClr val="bg1"/>
                </a:solidFill>
                <a:latin typeface="+mn-ea"/>
              </a:rPr>
              <a:t>维分配矩阵，</a:t>
            </a:r>
            <a:r>
              <a:rPr lang="zh-CN" altLang="en-US" sz="2400" b="1" dirty="0">
                <a:solidFill>
                  <a:srgbClr val="FFFF00"/>
                </a:solidFill>
                <a:latin typeface="+mn-ea"/>
              </a:rPr>
              <a:t>Ａ</a:t>
            </a:r>
            <a:r>
              <a:rPr lang="en-US" altLang="zh-CN" sz="2400" b="1" baseline="-25000" dirty="0" err="1">
                <a:solidFill>
                  <a:srgbClr val="FFFF00"/>
                </a:solidFill>
                <a:latin typeface="+mn-ea"/>
              </a:rPr>
              <a:t>ij</a:t>
            </a:r>
            <a:r>
              <a:rPr lang="zh-CN" altLang="en-US" sz="2400" b="1" dirty="0">
                <a:solidFill>
                  <a:srgbClr val="FFFF00"/>
                </a:solidFill>
                <a:latin typeface="+mn-ea"/>
              </a:rPr>
              <a:t>＝ａ</a:t>
            </a:r>
            <a:r>
              <a:rPr lang="en-US" altLang="zh-CN" sz="2400" b="1" baseline="-25000" dirty="0" err="1">
                <a:solidFill>
                  <a:srgbClr val="FFFF00"/>
                </a:solidFill>
                <a:latin typeface="+mn-ea"/>
              </a:rPr>
              <a:t>i</a:t>
            </a:r>
            <a:r>
              <a:rPr lang="en-US" altLang="zh-CN" sz="2400" b="1" dirty="0">
                <a:solidFill>
                  <a:srgbClr val="FFFF00"/>
                </a:solidFill>
                <a:latin typeface="+mn-ea"/>
              </a:rPr>
              <a:t>(j)</a:t>
            </a:r>
            <a:r>
              <a:rPr lang="zh-CN" altLang="en-US" sz="2400" b="1" dirty="0">
                <a:solidFill>
                  <a:srgbClr val="FFFF00"/>
                </a:solidFill>
                <a:latin typeface="+mn-ea"/>
              </a:rPr>
              <a:t>是系统分配给进程</a:t>
            </a:r>
            <a:r>
              <a:rPr lang="en-US" altLang="zh-CN" sz="2400" b="1" dirty="0">
                <a:solidFill>
                  <a:srgbClr val="FFFF00"/>
                </a:solidFill>
                <a:latin typeface="+mn-ea"/>
              </a:rPr>
              <a:t>P</a:t>
            </a:r>
            <a:r>
              <a:rPr lang="en-US" altLang="zh-CN" sz="2400" b="1" baseline="-25000" dirty="0">
                <a:solidFill>
                  <a:srgbClr val="FFFF00"/>
                </a:solidFill>
                <a:latin typeface="+mn-ea"/>
              </a:rPr>
              <a:t>i</a:t>
            </a:r>
            <a:r>
              <a:rPr lang="zh-CN" altLang="en-US" sz="2400" b="1" dirty="0">
                <a:solidFill>
                  <a:srgbClr val="FFFF00"/>
                </a:solidFill>
                <a:latin typeface="+mn-ea"/>
              </a:rPr>
              <a:t>的资源</a:t>
            </a:r>
            <a:r>
              <a:rPr lang="en-US" altLang="zh-CN" sz="2400" b="1" dirty="0" err="1">
                <a:solidFill>
                  <a:srgbClr val="FFFF00"/>
                </a:solidFill>
                <a:latin typeface="+mn-ea"/>
              </a:rPr>
              <a:t>R</a:t>
            </a:r>
            <a:r>
              <a:rPr lang="en-US" altLang="zh-CN" sz="2400" b="1" baseline="-25000" dirty="0" err="1">
                <a:solidFill>
                  <a:srgbClr val="FFFF00"/>
                </a:solidFill>
                <a:latin typeface="+mn-ea"/>
              </a:rPr>
              <a:t>j</a:t>
            </a:r>
            <a:r>
              <a:rPr lang="zh-CN" altLang="en-US" sz="2400" b="1" dirty="0">
                <a:solidFill>
                  <a:srgbClr val="FFFF00"/>
                </a:solidFill>
                <a:latin typeface="+mn-ea"/>
              </a:rPr>
              <a:t>的单元数</a:t>
            </a:r>
            <a:r>
              <a:rPr lang="zh-CN" altLang="en-US" sz="2400" b="1" dirty="0">
                <a:solidFill>
                  <a:schemeClr val="bg1"/>
                </a:solidFill>
                <a:latin typeface="+mn-ea"/>
              </a:rPr>
              <a:t>，Ａ</a:t>
            </a:r>
            <a:r>
              <a:rPr lang="en-US" altLang="zh-CN" sz="2400" b="1" baseline="-25000" dirty="0" err="1">
                <a:solidFill>
                  <a:schemeClr val="bg1"/>
                </a:solidFill>
                <a:latin typeface="+mn-ea"/>
              </a:rPr>
              <a:t>i</a:t>
            </a:r>
            <a:r>
              <a:rPr lang="zh-CN" altLang="en-US" sz="2400" b="1" dirty="0">
                <a:solidFill>
                  <a:schemeClr val="bg1"/>
                </a:solidFill>
                <a:latin typeface="+mn-ea"/>
              </a:rPr>
              <a:t>被称为分配向量</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Ｂ</a:t>
            </a:r>
            <a:r>
              <a:rPr lang="zh-CN" altLang="en-US" sz="2400" b="1" dirty="0">
                <a:solidFill>
                  <a:schemeClr val="bg1"/>
                </a:solidFill>
                <a:latin typeface="+mn-ea"/>
              </a:rPr>
              <a:t>＝（Ｂ</a:t>
            </a:r>
            <a:r>
              <a:rPr lang="en-US" altLang="zh-CN" sz="2400" b="1" baseline="-25000" dirty="0">
                <a:solidFill>
                  <a:schemeClr val="bg1"/>
                </a:solidFill>
                <a:latin typeface="+mn-ea"/>
              </a:rPr>
              <a:t>1</a:t>
            </a:r>
            <a:r>
              <a:rPr lang="zh-CN" altLang="en-US" sz="2400" b="1" dirty="0">
                <a:solidFill>
                  <a:schemeClr val="bg1"/>
                </a:solidFill>
                <a:latin typeface="+mn-ea"/>
              </a:rPr>
              <a:t>，Ｂ</a:t>
            </a:r>
            <a:r>
              <a:rPr lang="en-US" altLang="zh-CN" sz="2400" b="1" baseline="-25000"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a:t>
            </a:r>
            <a:r>
              <a:rPr lang="zh-CN" altLang="en-US" sz="2400" b="1" dirty="0">
                <a:solidFill>
                  <a:schemeClr val="bg1"/>
                </a:solidFill>
                <a:latin typeface="+mn-ea"/>
              </a:rPr>
              <a:t>，Ｂ</a:t>
            </a:r>
            <a:r>
              <a:rPr lang="en-US" altLang="zh-CN" sz="2400" b="1" baseline="-25000" dirty="0">
                <a:solidFill>
                  <a:schemeClr val="bg1"/>
                </a:solidFill>
                <a:latin typeface="+mn-ea"/>
              </a:rPr>
              <a:t>n</a:t>
            </a:r>
            <a:r>
              <a:rPr lang="zh-CN" altLang="en-US" sz="2400" b="1" dirty="0">
                <a:solidFill>
                  <a:schemeClr val="bg1"/>
                </a:solidFill>
                <a:latin typeface="+mn-ea"/>
              </a:rPr>
              <a:t>）是</a:t>
            </a:r>
            <a:r>
              <a:rPr lang="en-US" altLang="zh-CN" sz="2400" b="1" dirty="0" err="1">
                <a:solidFill>
                  <a:schemeClr val="bg1"/>
                </a:solidFill>
                <a:latin typeface="+mn-ea"/>
              </a:rPr>
              <a:t>n×m</a:t>
            </a:r>
            <a:r>
              <a:rPr lang="zh-CN" altLang="en-US" sz="2400" b="1" dirty="0">
                <a:solidFill>
                  <a:schemeClr val="bg1"/>
                </a:solidFill>
                <a:latin typeface="+mn-ea"/>
              </a:rPr>
              <a:t>维释放矩阵，</a:t>
            </a:r>
            <a:r>
              <a:rPr lang="zh-CN" altLang="en-US" sz="2400" b="1" dirty="0">
                <a:solidFill>
                  <a:srgbClr val="FFFF00"/>
                </a:solidFill>
                <a:latin typeface="+mn-ea"/>
              </a:rPr>
              <a:t>Ｂ</a:t>
            </a:r>
            <a:r>
              <a:rPr lang="en-US" altLang="zh-CN" sz="2400" b="1" baseline="-25000" dirty="0" err="1">
                <a:solidFill>
                  <a:srgbClr val="FFFF00"/>
                </a:solidFill>
                <a:latin typeface="+mn-ea"/>
              </a:rPr>
              <a:t>ij</a:t>
            </a:r>
            <a:r>
              <a:rPr lang="zh-CN" altLang="en-US" sz="2400" b="1" dirty="0">
                <a:solidFill>
                  <a:srgbClr val="FFFF00"/>
                </a:solidFill>
                <a:latin typeface="+mn-ea"/>
              </a:rPr>
              <a:t>＝ｂ</a:t>
            </a:r>
            <a:r>
              <a:rPr lang="en-US" altLang="zh-CN" sz="2400" b="1" baseline="-25000" dirty="0" err="1">
                <a:solidFill>
                  <a:srgbClr val="FFFF00"/>
                </a:solidFill>
                <a:latin typeface="+mn-ea"/>
              </a:rPr>
              <a:t>i</a:t>
            </a:r>
            <a:r>
              <a:rPr lang="en-US" altLang="zh-CN" sz="2400" b="1" dirty="0">
                <a:solidFill>
                  <a:srgbClr val="FFFF00"/>
                </a:solidFill>
                <a:latin typeface="+mn-ea"/>
              </a:rPr>
              <a:t>(j)</a:t>
            </a:r>
            <a:r>
              <a:rPr lang="zh-CN" altLang="en-US" sz="2400" b="1" dirty="0">
                <a:solidFill>
                  <a:srgbClr val="FFFF00"/>
                </a:solidFill>
                <a:latin typeface="+mn-ea"/>
              </a:rPr>
              <a:t>是进程</a:t>
            </a:r>
            <a:r>
              <a:rPr lang="en-US" altLang="zh-CN" sz="2400" b="1" dirty="0">
                <a:solidFill>
                  <a:srgbClr val="FFFF00"/>
                </a:solidFill>
                <a:latin typeface="+mn-ea"/>
              </a:rPr>
              <a:t>P</a:t>
            </a:r>
            <a:r>
              <a:rPr lang="en-US" altLang="zh-CN" sz="2400" b="1" baseline="-25000" dirty="0">
                <a:solidFill>
                  <a:srgbClr val="FFFF00"/>
                </a:solidFill>
                <a:latin typeface="+mn-ea"/>
              </a:rPr>
              <a:t>i</a:t>
            </a:r>
            <a:r>
              <a:rPr lang="zh-CN" altLang="en-US" sz="2400" b="1" dirty="0">
                <a:solidFill>
                  <a:srgbClr val="FFFF00"/>
                </a:solidFill>
                <a:latin typeface="+mn-ea"/>
              </a:rPr>
              <a:t>释放的资源</a:t>
            </a:r>
            <a:r>
              <a:rPr lang="en-US" altLang="zh-CN" sz="2400" b="1" dirty="0" err="1">
                <a:solidFill>
                  <a:srgbClr val="FFFF00"/>
                </a:solidFill>
                <a:latin typeface="+mn-ea"/>
              </a:rPr>
              <a:t>R</a:t>
            </a:r>
            <a:r>
              <a:rPr lang="en-US" altLang="zh-CN" sz="2400" b="1" baseline="-25000" dirty="0" err="1">
                <a:solidFill>
                  <a:srgbClr val="FFFF00"/>
                </a:solidFill>
                <a:latin typeface="+mn-ea"/>
              </a:rPr>
              <a:t>j</a:t>
            </a:r>
            <a:r>
              <a:rPr lang="zh-CN" altLang="en-US" sz="2400" b="1" dirty="0">
                <a:solidFill>
                  <a:srgbClr val="FFFF00"/>
                </a:solidFill>
                <a:latin typeface="+mn-ea"/>
              </a:rPr>
              <a:t>的单元数</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9592" y="1203598"/>
            <a:ext cx="6941291" cy="3970318"/>
          </a:xfrm>
          <a:prstGeom prst="rect">
            <a:avLst/>
          </a:prstGeom>
        </p:spPr>
        <p:txBody>
          <a:bodyPr wrap="square">
            <a:spAutoFit/>
          </a:bodyPr>
          <a:lstStyle/>
          <a:p>
            <a:pPr>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Ｆ</a:t>
            </a:r>
            <a:r>
              <a:rPr lang="zh-CN" altLang="en-US" sz="2400" b="1" dirty="0">
                <a:solidFill>
                  <a:srgbClr val="FFFF00"/>
                </a:solidFill>
                <a:latin typeface="+mn-ea"/>
              </a:rPr>
              <a:t>＝（ｆ</a:t>
            </a:r>
            <a:r>
              <a:rPr lang="en-US" altLang="zh-CN" sz="2400" b="1" baseline="-25000" dirty="0">
                <a:solidFill>
                  <a:srgbClr val="FFFF00"/>
                </a:solidFill>
                <a:latin typeface="+mn-ea"/>
              </a:rPr>
              <a:t>1</a:t>
            </a:r>
            <a:r>
              <a:rPr lang="zh-CN" altLang="en-US" sz="2400" b="1" dirty="0">
                <a:solidFill>
                  <a:srgbClr val="FFFF00"/>
                </a:solidFill>
                <a:latin typeface="+mn-ea"/>
              </a:rPr>
              <a:t>，ｆ</a:t>
            </a:r>
            <a:r>
              <a:rPr lang="en-US" altLang="zh-CN" sz="2400" b="1" baseline="-25000" dirty="0">
                <a:solidFill>
                  <a:srgbClr val="FFFF00"/>
                </a:solidFill>
                <a:latin typeface="+mn-ea"/>
              </a:rPr>
              <a:t>2</a:t>
            </a:r>
            <a:r>
              <a:rPr lang="zh-CN" altLang="en-US" sz="2400" b="1" dirty="0">
                <a:solidFill>
                  <a:srgbClr val="FFFF00"/>
                </a:solidFill>
                <a:latin typeface="+mn-ea"/>
              </a:rPr>
              <a:t>，</a:t>
            </a:r>
            <a:r>
              <a:rPr lang="en-US" altLang="zh-CN" sz="2400" b="1" dirty="0">
                <a:solidFill>
                  <a:srgbClr val="FFFF00"/>
                </a:solidFill>
                <a:latin typeface="+mn-ea"/>
              </a:rPr>
              <a:t>…</a:t>
            </a:r>
            <a:r>
              <a:rPr lang="zh-CN" altLang="en-US" sz="2400" b="1" dirty="0">
                <a:solidFill>
                  <a:srgbClr val="FFFF00"/>
                </a:solidFill>
                <a:latin typeface="+mn-ea"/>
              </a:rPr>
              <a:t>，ｆ</a:t>
            </a:r>
            <a:r>
              <a:rPr lang="en-US" altLang="zh-CN" sz="2400" b="1" baseline="-25000" dirty="0">
                <a:solidFill>
                  <a:srgbClr val="FFFF00"/>
                </a:solidFill>
                <a:latin typeface="+mn-ea"/>
              </a:rPr>
              <a:t>m</a:t>
            </a:r>
            <a:r>
              <a:rPr lang="zh-CN" altLang="en-US" sz="2400" b="1" dirty="0">
                <a:solidFill>
                  <a:srgbClr val="FFFF00"/>
                </a:solidFill>
                <a:latin typeface="+mn-ea"/>
              </a:rPr>
              <a:t>）是空闲资源向量</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buClr>
                <a:schemeClr val="accent6">
                  <a:lumMod val="40000"/>
                  <a:lumOff val="60000"/>
                </a:schemeClr>
              </a:buClr>
            </a:pPr>
            <a:r>
              <a:rPr lang="zh-CN" altLang="en-US" sz="2400" b="1" dirty="0" smtClean="0">
                <a:solidFill>
                  <a:schemeClr val="bg1"/>
                </a:solidFill>
                <a:latin typeface="+mn-ea"/>
              </a:rPr>
              <a:t> 设</a:t>
            </a:r>
            <a:r>
              <a:rPr lang="zh-CN" altLang="en-US" sz="2400" b="1" dirty="0">
                <a:solidFill>
                  <a:schemeClr val="bg1"/>
                </a:solidFill>
                <a:latin typeface="+mn-ea"/>
              </a:rPr>
              <a:t>Ｃ＝（ｃ</a:t>
            </a:r>
            <a:r>
              <a:rPr lang="en-US" altLang="zh-CN" sz="2400" b="1" baseline="-25000" dirty="0">
                <a:solidFill>
                  <a:schemeClr val="bg1"/>
                </a:solidFill>
                <a:latin typeface="+mn-ea"/>
              </a:rPr>
              <a:t>1</a:t>
            </a:r>
            <a:r>
              <a:rPr lang="zh-CN" altLang="en-US" sz="2400" b="1" dirty="0">
                <a:solidFill>
                  <a:schemeClr val="bg1"/>
                </a:solidFill>
                <a:latin typeface="+mn-ea"/>
              </a:rPr>
              <a:t>，ｃ</a:t>
            </a:r>
            <a:r>
              <a:rPr lang="en-US" altLang="zh-CN" sz="2400" b="1" baseline="-25000"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a:t>
            </a:r>
            <a:r>
              <a:rPr lang="zh-CN" altLang="en-US" sz="2400" b="1" dirty="0">
                <a:solidFill>
                  <a:schemeClr val="bg1"/>
                </a:solidFill>
                <a:latin typeface="+mn-ea"/>
              </a:rPr>
              <a:t>，ｃ</a:t>
            </a:r>
            <a:r>
              <a:rPr lang="en-US" altLang="zh-CN" sz="2400" b="1" baseline="-25000" dirty="0">
                <a:solidFill>
                  <a:schemeClr val="bg1"/>
                </a:solidFill>
                <a:latin typeface="+mn-ea"/>
              </a:rPr>
              <a:t>m</a:t>
            </a:r>
            <a:r>
              <a:rPr lang="zh-CN" altLang="en-US" sz="2400" b="1" dirty="0">
                <a:solidFill>
                  <a:schemeClr val="bg1"/>
                </a:solidFill>
                <a:latin typeface="+mn-ea"/>
              </a:rPr>
              <a:t>）为系统能力向量，则有</a:t>
            </a:r>
          </a:p>
          <a:p>
            <a:pPr>
              <a:lnSpc>
                <a:spcPct val="150000"/>
              </a:lnSpc>
              <a:buClr>
                <a:schemeClr val="accent6">
                  <a:lumMod val="40000"/>
                  <a:lumOff val="60000"/>
                </a:schemeClr>
              </a:buClr>
            </a:pPr>
            <a:r>
              <a:rPr lang="zh-CN" altLang="en-US" sz="2400" b="1" dirty="0">
                <a:solidFill>
                  <a:schemeClr val="bg1"/>
                </a:solidFill>
                <a:latin typeface="+mn-ea"/>
              </a:rPr>
              <a:t>                                    </a:t>
            </a:r>
          </a:p>
          <a:p>
            <a:pPr>
              <a:lnSpc>
                <a:spcPct val="150000"/>
              </a:lnSpc>
              <a:buClr>
                <a:schemeClr val="accent6">
                  <a:lumMod val="40000"/>
                  <a:lumOff val="60000"/>
                </a:schemeClr>
              </a:buClr>
            </a:pPr>
            <a:r>
              <a:rPr lang="zh-CN" altLang="en-US" sz="2400" b="1" dirty="0" smtClean="0">
                <a:solidFill>
                  <a:schemeClr val="bg1"/>
                </a:solidFill>
                <a:latin typeface="+mn-ea"/>
              </a:rPr>
              <a:t>  即</a:t>
            </a:r>
            <a:r>
              <a:rPr lang="zh-CN" altLang="en-US" sz="2400" b="1" dirty="0">
                <a:solidFill>
                  <a:schemeClr val="bg1"/>
                </a:solidFill>
                <a:latin typeface="+mn-ea"/>
              </a:rPr>
              <a:t>Ｒ</a:t>
            </a:r>
            <a:r>
              <a:rPr lang="en-US" altLang="zh-CN" sz="2400" b="1" baseline="-25000" dirty="0">
                <a:solidFill>
                  <a:schemeClr val="bg1"/>
                </a:solidFill>
                <a:latin typeface="+mn-ea"/>
              </a:rPr>
              <a:t>j</a:t>
            </a:r>
            <a:r>
              <a:rPr lang="zh-CN" altLang="en-US" sz="2400" b="1" dirty="0">
                <a:solidFill>
                  <a:schemeClr val="bg1"/>
                </a:solidFill>
                <a:latin typeface="+mn-ea"/>
              </a:rPr>
              <a:t>类资源的空闲单元数是总单元数减去已分配给各进程的单元数。</a:t>
            </a:r>
          </a:p>
          <a:p>
            <a:pPr indent="-342900">
              <a:lnSpc>
                <a:spcPct val="150000"/>
              </a:lnSpc>
              <a:buClr>
                <a:schemeClr val="accent6">
                  <a:lumMod val="40000"/>
                  <a:lumOff val="60000"/>
                </a:schemeClr>
              </a:buClr>
              <a:buFont typeface="Wingdings" panose="05000000000000000000" pitchFamily="2" charset="2"/>
              <a:buChar char="Ø"/>
            </a:pPr>
            <a:endParaRPr lang="zh-CN" altLang="en-US" sz="2400" b="1" dirty="0">
              <a:solidFill>
                <a:schemeClr val="bg1"/>
              </a:solidFill>
              <a:latin typeface="+mn-ea"/>
            </a:endParaRPr>
          </a:p>
        </p:txBody>
      </p:sp>
      <p:grpSp>
        <p:nvGrpSpPr>
          <p:cNvPr id="4" name="组合 3"/>
          <p:cNvGrpSpPr/>
          <p:nvPr/>
        </p:nvGrpSpPr>
        <p:grpSpPr>
          <a:xfrm>
            <a:off x="2987824" y="2283718"/>
            <a:ext cx="2304256" cy="746888"/>
            <a:chOff x="2483769" y="2283718"/>
            <a:chExt cx="2304256" cy="746888"/>
          </a:xfrm>
        </p:grpSpPr>
        <p:sp>
          <p:nvSpPr>
            <p:cNvPr id="3" name="矩形 2"/>
            <p:cNvSpPr/>
            <p:nvPr/>
          </p:nvSpPr>
          <p:spPr>
            <a:xfrm>
              <a:off x="2483769" y="2310526"/>
              <a:ext cx="2304256" cy="72008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aphicFrame>
          <p:nvGraphicFramePr>
            <p:cNvPr id="29" name="Object 3"/>
            <p:cNvGraphicFramePr>
              <a:graphicFrameLocks noChangeAspect="1"/>
            </p:cNvGraphicFramePr>
            <p:nvPr/>
          </p:nvGraphicFramePr>
          <p:xfrm>
            <a:off x="2483769" y="2283718"/>
            <a:ext cx="2304256" cy="714973"/>
          </p:xfrm>
          <a:graphic>
            <a:graphicData uri="http://schemas.openxmlformats.org/presentationml/2006/ole">
              <mc:AlternateContent xmlns:mc="http://schemas.openxmlformats.org/markup-compatibility/2006">
                <mc:Choice xmlns:v="urn:schemas-microsoft-com:vml" Requires="v">
                  <p:oleObj spid="_x0000_s2441" name="Equation" r:id="rId4" imgW="965200" imgH="431800" progId="Equation.DSMT4">
                    <p:embed/>
                  </p:oleObj>
                </mc:Choice>
                <mc:Fallback>
                  <p:oleObj name="Equation" r:id="rId4" imgW="965200" imgH="431800" progId="Equation.DSMT4">
                    <p:embed/>
                    <p:pic>
                      <p:nvPicPr>
                        <p:cNvPr id="0" name="图片 23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3769" y="2283718"/>
                          <a:ext cx="2304256" cy="714973"/>
                        </a:xfrm>
                        <a:prstGeom prst="rect">
                          <a:avLst/>
                        </a:prstGeom>
                        <a:noFill/>
                        <a:ln>
                          <a:noFill/>
                        </a:ln>
                        <a:effectLst/>
                      </p:spPr>
                    </p:pic>
                  </p:oleObj>
                </mc:Fallback>
              </mc:AlternateContent>
            </a:graphicData>
          </a:graphic>
        </p:graphicFrame>
      </p:gr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left)">
                                      <p:cBhvr>
                                        <p:cTn id="2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p>
        </p:txBody>
      </p:sp>
      <p:sp>
        <p:nvSpPr>
          <p:cNvPr id="2" name="矩形 1"/>
          <p:cNvSpPr/>
          <p:nvPr/>
        </p:nvSpPr>
        <p:spPr>
          <a:xfrm>
            <a:off x="741314" y="1242465"/>
            <a:ext cx="6941291" cy="3416320"/>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若对于Ｐ</a:t>
            </a:r>
            <a:r>
              <a:rPr lang="en-US" altLang="zh-CN" sz="2400" b="1" baseline="-25000" dirty="0" err="1">
                <a:solidFill>
                  <a:schemeClr val="bg1"/>
                </a:solidFill>
                <a:latin typeface="+mn-ea"/>
              </a:rPr>
              <a:t>i</a:t>
            </a:r>
            <a:r>
              <a:rPr lang="en-US" altLang="zh-CN" sz="2400" b="1" dirty="0">
                <a:solidFill>
                  <a:schemeClr val="bg1"/>
                </a:solidFill>
                <a:latin typeface="+mn-ea"/>
              </a:rPr>
              <a:t>(1)</a:t>
            </a:r>
            <a:r>
              <a:rPr lang="zh-CN" altLang="en-US" sz="2400" b="1" dirty="0">
                <a:solidFill>
                  <a:schemeClr val="bg1"/>
                </a:solidFill>
                <a:latin typeface="+mn-ea"/>
              </a:rPr>
              <a:t>，Ｐ</a:t>
            </a:r>
            <a:r>
              <a:rPr lang="en-US" altLang="zh-CN" sz="2400" b="1" baseline="-25000" dirty="0" err="1">
                <a:solidFill>
                  <a:schemeClr val="bg1"/>
                </a:solidFill>
                <a:latin typeface="+mn-ea"/>
              </a:rPr>
              <a:t>i</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a:t>
            </a:r>
            <a:r>
              <a:rPr lang="zh-CN" altLang="en-US" sz="2400" b="1" dirty="0">
                <a:solidFill>
                  <a:schemeClr val="bg1"/>
                </a:solidFill>
                <a:latin typeface="+mn-ea"/>
              </a:rPr>
              <a:t>，Ｐ</a:t>
            </a:r>
            <a:r>
              <a:rPr lang="en-US" altLang="zh-CN" sz="2400" b="1" baseline="-25000" dirty="0" err="1">
                <a:solidFill>
                  <a:schemeClr val="bg1"/>
                </a:solidFill>
                <a:latin typeface="+mn-ea"/>
              </a:rPr>
              <a:t>i</a:t>
            </a:r>
            <a:r>
              <a:rPr lang="en-US" altLang="zh-CN" sz="2400" b="1" dirty="0">
                <a:solidFill>
                  <a:schemeClr val="bg1"/>
                </a:solidFill>
                <a:latin typeface="+mn-ea"/>
              </a:rPr>
              <a:t>(k)</a:t>
            </a:r>
            <a:r>
              <a:rPr lang="zh-CN" altLang="en-US" sz="2400" b="1" dirty="0">
                <a:solidFill>
                  <a:schemeClr val="bg1"/>
                </a:solidFill>
                <a:latin typeface="+mn-ea"/>
              </a:rPr>
              <a:t>有：</a:t>
            </a:r>
          </a:p>
          <a:p>
            <a:pPr>
              <a:lnSpc>
                <a:spcPct val="150000"/>
              </a:lnSpc>
              <a:buClr>
                <a:schemeClr val="accent6">
                  <a:lumMod val="40000"/>
                  <a:lumOff val="60000"/>
                </a:schemeClr>
              </a:buClr>
            </a:pPr>
            <a:r>
              <a:rPr lang="zh-CN" altLang="en-US" sz="2400" b="1" dirty="0">
                <a:solidFill>
                  <a:schemeClr val="bg1"/>
                </a:solidFill>
                <a:latin typeface="+mn-ea"/>
              </a:rPr>
              <a:t>	</a:t>
            </a:r>
            <a:r>
              <a:rPr lang="en-US" altLang="zh-CN" sz="2400" b="1" dirty="0" err="1">
                <a:solidFill>
                  <a:schemeClr val="bg1"/>
                </a:solidFill>
                <a:latin typeface="+mn-ea"/>
              </a:rPr>
              <a:t>ω</a:t>
            </a:r>
            <a:r>
              <a:rPr lang="en-US" altLang="zh-CN" sz="2400" b="1" baseline="-25000" dirty="0" err="1">
                <a:solidFill>
                  <a:schemeClr val="bg1"/>
                </a:solidFill>
                <a:latin typeface="+mn-ea"/>
              </a:rPr>
              <a:t>i</a:t>
            </a:r>
            <a:r>
              <a:rPr lang="en-US" altLang="zh-CN" sz="2400" b="1" dirty="0">
                <a:solidFill>
                  <a:schemeClr val="bg1"/>
                </a:solidFill>
                <a:latin typeface="+mn-ea"/>
              </a:rPr>
              <a:t>(1)≤F     </a:t>
            </a:r>
            <a:r>
              <a:rPr lang="zh-CN" altLang="en-US" sz="2400" b="1" dirty="0">
                <a:solidFill>
                  <a:schemeClr val="bg1"/>
                </a:solidFill>
                <a:latin typeface="+mn-ea"/>
              </a:rPr>
              <a:t>且                          </a:t>
            </a:r>
          </a:p>
          <a:p>
            <a:pPr>
              <a:lnSpc>
                <a:spcPct val="150000"/>
              </a:lnSpc>
              <a:buClr>
                <a:schemeClr val="accent6">
                  <a:lumMod val="40000"/>
                  <a:lumOff val="60000"/>
                </a:schemeClr>
              </a:buClr>
            </a:pPr>
            <a:r>
              <a:rPr lang="zh-CN" altLang="en-US" sz="2400" b="1" dirty="0">
                <a:solidFill>
                  <a:schemeClr val="bg1"/>
                </a:solidFill>
                <a:latin typeface="+mn-ea"/>
              </a:rPr>
              <a:t>	</a:t>
            </a:r>
            <a:endParaRPr lang="en-US" altLang="zh-CN" sz="2400" b="1" dirty="0">
              <a:solidFill>
                <a:schemeClr val="bg1"/>
              </a:solidFill>
              <a:latin typeface="+mn-ea"/>
            </a:endParaRPr>
          </a:p>
          <a:p>
            <a:pPr>
              <a:lnSpc>
                <a:spcPct val="150000"/>
              </a:lnSpc>
              <a:buClr>
                <a:schemeClr val="accent6">
                  <a:lumMod val="40000"/>
                  <a:lumOff val="60000"/>
                </a:schemeClr>
              </a:buClr>
            </a:pPr>
            <a:r>
              <a:rPr lang="zh-CN" altLang="en-US" sz="2400" b="1" dirty="0" smtClean="0">
                <a:solidFill>
                  <a:schemeClr val="bg1"/>
                </a:solidFill>
                <a:latin typeface="+mn-ea"/>
              </a:rPr>
              <a:t>   成立</a:t>
            </a:r>
            <a:r>
              <a:rPr lang="zh-CN" altLang="en-US" sz="2400" b="1" dirty="0">
                <a:solidFill>
                  <a:schemeClr val="bg1"/>
                </a:solidFill>
                <a:latin typeface="+mn-ea"/>
              </a:rPr>
              <a:t>，则进程Ｐ在结束序列中。如果所有并发进程都在结束序列中，则系统是安全的（</a:t>
            </a:r>
            <a:r>
              <a:rPr lang="zh-CN" altLang="en-US" sz="2400" b="1" dirty="0">
                <a:solidFill>
                  <a:srgbClr val="FFFF00"/>
                </a:solidFill>
                <a:latin typeface="+mn-ea"/>
              </a:rPr>
              <a:t>无死锁</a:t>
            </a:r>
            <a:r>
              <a:rPr lang="zh-CN" altLang="en-US" sz="2400" b="1" dirty="0">
                <a:solidFill>
                  <a:schemeClr val="bg1"/>
                </a:solidFill>
                <a:latin typeface="+mn-ea"/>
              </a:rPr>
              <a:t>）。</a:t>
            </a:r>
          </a:p>
          <a:p>
            <a:pPr indent="-342900">
              <a:lnSpc>
                <a:spcPct val="150000"/>
              </a:lnSpc>
              <a:buClr>
                <a:schemeClr val="accent6">
                  <a:lumMod val="40000"/>
                  <a:lumOff val="60000"/>
                </a:schemeClr>
              </a:buClr>
              <a:buFont typeface="Wingdings" panose="05000000000000000000" pitchFamily="2" charset="2"/>
              <a:buChar char="Ø"/>
            </a:pPr>
            <a:endParaRPr lang="zh-CN" altLang="en-US" sz="2400" b="1" dirty="0">
              <a:solidFill>
                <a:schemeClr val="bg1"/>
              </a:solidFill>
              <a:latin typeface="+mn-ea"/>
            </a:endParaRPr>
          </a:p>
        </p:txBody>
      </p:sp>
      <p:grpSp>
        <p:nvGrpSpPr>
          <p:cNvPr id="5" name="组合 4"/>
          <p:cNvGrpSpPr/>
          <p:nvPr/>
        </p:nvGrpSpPr>
        <p:grpSpPr>
          <a:xfrm>
            <a:off x="4211960" y="1851670"/>
            <a:ext cx="2631162" cy="754798"/>
            <a:chOff x="4211960" y="1995686"/>
            <a:chExt cx="2631162" cy="754798"/>
          </a:xfrm>
        </p:grpSpPr>
        <p:sp>
          <p:nvSpPr>
            <p:cNvPr id="3" name="矩形 2"/>
            <p:cNvSpPr/>
            <p:nvPr/>
          </p:nvSpPr>
          <p:spPr>
            <a:xfrm>
              <a:off x="4211960" y="2033444"/>
              <a:ext cx="2631162" cy="71703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aphicFrame>
          <p:nvGraphicFramePr>
            <p:cNvPr id="30" name="Object 4"/>
            <p:cNvGraphicFramePr>
              <a:graphicFrameLocks noChangeAspect="1"/>
            </p:cNvGraphicFramePr>
            <p:nvPr/>
          </p:nvGraphicFramePr>
          <p:xfrm>
            <a:off x="4211960" y="1995686"/>
            <a:ext cx="2422376" cy="754798"/>
          </p:xfrm>
          <a:graphic>
            <a:graphicData uri="http://schemas.openxmlformats.org/presentationml/2006/ole">
              <mc:AlternateContent xmlns:mc="http://schemas.openxmlformats.org/markup-compatibility/2006">
                <mc:Choice xmlns:v="urn:schemas-microsoft-com:vml" Requires="v">
                  <p:oleObj spid="_x0000_s3465" name="Equation" r:id="rId4" imgW="1205865" imgH="444500" progId="Equation.DSMT4">
                    <p:embed/>
                  </p:oleObj>
                </mc:Choice>
                <mc:Fallback>
                  <p:oleObj name="Equation" r:id="rId4" imgW="1205865" imgH="444500" progId="Equation.DSMT4">
                    <p:embed/>
                    <p:pic>
                      <p:nvPicPr>
                        <p:cNvPr id="0" name="图片 33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960" y="1995686"/>
                          <a:ext cx="2422376" cy="754798"/>
                        </a:xfrm>
                        <a:prstGeom prst="rect">
                          <a:avLst/>
                        </a:prstGeom>
                        <a:noFill/>
                        <a:ln>
                          <a:noFill/>
                        </a:ln>
                        <a:effec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left)">
                                      <p:cBhvr>
                                        <p:cTn id="2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安全状态</a:t>
            </a:r>
          </a:p>
        </p:txBody>
      </p:sp>
      <p:sp>
        <p:nvSpPr>
          <p:cNvPr id="2" name="矩形 1"/>
          <p:cNvSpPr/>
          <p:nvPr/>
        </p:nvSpPr>
        <p:spPr>
          <a:xfrm>
            <a:off x="741314" y="1242465"/>
            <a:ext cx="6941291" cy="2861310"/>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系统能按某种进程推进顺序（</a:t>
            </a:r>
            <a:r>
              <a:rPr lang="en-US" altLang="zh-CN" sz="2400" b="1" dirty="0">
                <a:solidFill>
                  <a:schemeClr val="bg1"/>
                </a:solidFill>
                <a:latin typeface="+mn-ea"/>
              </a:rPr>
              <a:t>P</a:t>
            </a:r>
            <a:r>
              <a:rPr lang="en-US" altLang="zh-CN" sz="2400" b="1" baseline="-25000" dirty="0">
                <a:solidFill>
                  <a:schemeClr val="bg1"/>
                </a:solidFill>
                <a:latin typeface="+mn-ea"/>
              </a:rPr>
              <a:t>1</a:t>
            </a:r>
            <a:r>
              <a:rPr lang="en-US" altLang="zh-CN" sz="2400" b="1" dirty="0">
                <a:solidFill>
                  <a:schemeClr val="bg1"/>
                </a:solidFill>
                <a:latin typeface="+mn-ea"/>
              </a:rPr>
              <a:t>,P</a:t>
            </a:r>
            <a:r>
              <a:rPr lang="en-US" altLang="zh-CN" sz="2400" b="1" baseline="-25000" dirty="0">
                <a:solidFill>
                  <a:schemeClr val="bg1"/>
                </a:solidFill>
                <a:latin typeface="+mn-ea"/>
              </a:rPr>
              <a:t>2</a:t>
            </a:r>
            <a:r>
              <a:rPr lang="en-US" altLang="zh-CN" sz="2400" b="1" dirty="0">
                <a:solidFill>
                  <a:schemeClr val="bg1"/>
                </a:solidFill>
                <a:latin typeface="+mn-ea"/>
              </a:rPr>
              <a:t>,...,P</a:t>
            </a:r>
            <a:r>
              <a:rPr lang="en-US" altLang="zh-CN" sz="2400" b="1" baseline="-25000" dirty="0">
                <a:solidFill>
                  <a:schemeClr val="bg1"/>
                </a:solidFill>
                <a:latin typeface="+mn-ea"/>
              </a:rPr>
              <a:t>n</a:t>
            </a:r>
            <a:r>
              <a:rPr lang="zh-CN" altLang="en-US" sz="2400" b="1" dirty="0">
                <a:solidFill>
                  <a:schemeClr val="bg1"/>
                </a:solidFill>
                <a:latin typeface="+mn-ea"/>
              </a:rPr>
              <a:t>）为每个进程</a:t>
            </a:r>
            <a:r>
              <a:rPr lang="en-US" altLang="zh-CN" sz="2400" b="1" dirty="0">
                <a:solidFill>
                  <a:schemeClr val="bg1"/>
                </a:solidFill>
                <a:latin typeface="+mn-ea"/>
              </a:rPr>
              <a:t>P</a:t>
            </a:r>
            <a:r>
              <a:rPr lang="en-US" altLang="zh-CN" sz="2400" b="1" baseline="-25000" dirty="0">
                <a:solidFill>
                  <a:schemeClr val="bg1"/>
                </a:solidFill>
                <a:latin typeface="+mn-ea"/>
              </a:rPr>
              <a:t>i</a:t>
            </a:r>
            <a:r>
              <a:rPr lang="zh-CN" altLang="en-US" sz="2400" b="1" dirty="0">
                <a:solidFill>
                  <a:schemeClr val="bg1"/>
                </a:solidFill>
                <a:latin typeface="+mn-ea"/>
              </a:rPr>
              <a:t>分配其所需的资源，直至满足每个</a:t>
            </a:r>
            <a:r>
              <a:rPr lang="zh-CN" altLang="en-US" sz="2400" b="1" dirty="0">
                <a:solidFill>
                  <a:schemeClr val="bg1"/>
                </a:solidFill>
                <a:latin typeface="+mn-ea"/>
                <a:sym typeface="+mn-ea"/>
              </a:rPr>
              <a:t>进程</a:t>
            </a:r>
            <a:r>
              <a:rPr lang="zh-CN" altLang="en-US" sz="2400" b="1" dirty="0">
                <a:solidFill>
                  <a:schemeClr val="bg1"/>
                </a:solidFill>
                <a:latin typeface="+mn-ea"/>
              </a:rPr>
              <a:t>对</a:t>
            </a:r>
            <a:r>
              <a:rPr lang="zh-CN" altLang="en-US" sz="2400" b="1" dirty="0">
                <a:solidFill>
                  <a:schemeClr val="bg1"/>
                </a:solidFill>
                <a:latin typeface="+mn-ea"/>
                <a:sym typeface="+mn-ea"/>
              </a:rPr>
              <a:t>资源</a:t>
            </a:r>
            <a:r>
              <a:rPr lang="zh-CN" altLang="en-US" sz="2400" b="1" dirty="0">
                <a:solidFill>
                  <a:schemeClr val="bg1"/>
                </a:solidFill>
                <a:latin typeface="+mn-ea"/>
              </a:rPr>
              <a:t>的最大需求，进而使每个进程都可以顺利完成的一种状态，此时称</a:t>
            </a:r>
            <a:r>
              <a:rPr lang="zh-CN" altLang="en-US" sz="2400" b="1" dirty="0">
                <a:solidFill>
                  <a:schemeClr val="bg1"/>
                </a:solidFill>
                <a:latin typeface="+mn-ea"/>
                <a:sym typeface="+mn-ea"/>
              </a:rPr>
              <a:t>（</a:t>
            </a:r>
            <a:r>
              <a:rPr lang="en-US" altLang="zh-CN" sz="2400" b="1" dirty="0">
                <a:solidFill>
                  <a:schemeClr val="bg1"/>
                </a:solidFill>
                <a:latin typeface="+mn-ea"/>
                <a:sym typeface="+mn-ea"/>
              </a:rPr>
              <a:t>P</a:t>
            </a:r>
            <a:r>
              <a:rPr lang="en-US" altLang="zh-CN" sz="2400" b="1" baseline="-25000" dirty="0">
                <a:solidFill>
                  <a:schemeClr val="bg1"/>
                </a:solidFill>
                <a:latin typeface="+mn-ea"/>
                <a:sym typeface="+mn-ea"/>
              </a:rPr>
              <a:t>1</a:t>
            </a:r>
            <a:r>
              <a:rPr lang="en-US" altLang="zh-CN" sz="2400" b="1" dirty="0">
                <a:solidFill>
                  <a:schemeClr val="bg1"/>
                </a:solidFill>
                <a:latin typeface="+mn-ea"/>
                <a:sym typeface="+mn-ea"/>
              </a:rPr>
              <a:t>,P</a:t>
            </a:r>
            <a:r>
              <a:rPr lang="en-US" altLang="zh-CN" sz="2400" b="1" baseline="-25000" dirty="0">
                <a:solidFill>
                  <a:schemeClr val="bg1"/>
                </a:solidFill>
                <a:latin typeface="+mn-ea"/>
                <a:sym typeface="+mn-ea"/>
              </a:rPr>
              <a:t>2</a:t>
            </a:r>
            <a:r>
              <a:rPr lang="en-US" altLang="zh-CN" sz="2400" b="1" dirty="0">
                <a:solidFill>
                  <a:schemeClr val="bg1"/>
                </a:solidFill>
                <a:latin typeface="+mn-ea"/>
                <a:sym typeface="+mn-ea"/>
              </a:rPr>
              <a:t>,...,P</a:t>
            </a:r>
            <a:r>
              <a:rPr lang="en-US" altLang="zh-CN" sz="2400" b="1" baseline="-25000" dirty="0">
                <a:solidFill>
                  <a:schemeClr val="bg1"/>
                </a:solidFill>
                <a:latin typeface="+mn-ea"/>
                <a:sym typeface="+mn-ea"/>
              </a:rPr>
              <a:t>n</a:t>
            </a:r>
            <a:r>
              <a:rPr lang="zh-CN" altLang="en-US" sz="2400" b="1" dirty="0">
                <a:solidFill>
                  <a:schemeClr val="bg1"/>
                </a:solidFill>
                <a:latin typeface="+mn-ea"/>
                <a:sym typeface="+mn-ea"/>
              </a:rPr>
              <a:t>）为安全序列</a:t>
            </a:r>
            <a:r>
              <a:rPr lang="zh-CN" altLang="en-US" sz="2400" b="1" dirty="0" smtClean="0">
                <a:solidFill>
                  <a:schemeClr val="bg1"/>
                </a:solidFill>
                <a:latin typeface="+mn-ea"/>
              </a:rPr>
              <a:t>求。</a:t>
            </a:r>
            <a:r>
              <a:rPr lang="en-US" altLang="zh-CN" sz="2400" b="1" dirty="0" smtClean="0">
                <a:solidFill>
                  <a:schemeClr val="bg1"/>
                </a:solidFill>
                <a:latin typeface="+mn-ea"/>
              </a:rPr>
              <a:t>   </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安全状态（举例）</a:t>
            </a:r>
          </a:p>
        </p:txBody>
      </p:sp>
      <p:sp>
        <p:nvSpPr>
          <p:cNvPr id="2" name="矩形 1"/>
          <p:cNvSpPr/>
          <p:nvPr/>
        </p:nvSpPr>
        <p:spPr>
          <a:xfrm>
            <a:off x="741314" y="1242465"/>
            <a:ext cx="6941291" cy="2861310"/>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假定系统中有</a:t>
            </a:r>
            <a:r>
              <a:rPr lang="en-US" altLang="zh-CN" sz="2400" b="1" dirty="0">
                <a:solidFill>
                  <a:schemeClr val="bg1"/>
                </a:solidFill>
                <a:latin typeface="+mn-ea"/>
              </a:rPr>
              <a:t>3</a:t>
            </a:r>
            <a:r>
              <a:rPr lang="zh-CN" altLang="en-US" sz="2400" b="1" dirty="0">
                <a:solidFill>
                  <a:schemeClr val="bg1"/>
                </a:solidFill>
                <a:latin typeface="+mn-ea"/>
              </a:rPr>
              <a:t>个进程，</a:t>
            </a:r>
            <a:r>
              <a:rPr lang="en-US" altLang="zh-CN" sz="2400" b="1" dirty="0">
                <a:solidFill>
                  <a:schemeClr val="bg1"/>
                </a:solidFill>
                <a:latin typeface="+mn-ea"/>
              </a:rPr>
              <a:t>P</a:t>
            </a:r>
            <a:r>
              <a:rPr lang="en-US" altLang="zh-CN" sz="2400" b="1" baseline="-25000"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P</a:t>
            </a:r>
            <a:r>
              <a:rPr lang="en-US" altLang="zh-CN" sz="2400" b="1" baseline="-25000"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P</a:t>
            </a:r>
            <a:r>
              <a:rPr lang="en-US" altLang="zh-CN" sz="2400" b="1" baseline="-25000" dirty="0">
                <a:solidFill>
                  <a:schemeClr val="bg1"/>
                </a:solidFill>
                <a:latin typeface="+mn-ea"/>
              </a:rPr>
              <a:t>3</a:t>
            </a:r>
            <a:r>
              <a:rPr lang="zh-CN" altLang="en-US" sz="2400" b="1" dirty="0">
                <a:solidFill>
                  <a:schemeClr val="bg1"/>
                </a:solidFill>
                <a:latin typeface="+mn-ea"/>
              </a:rPr>
              <a:t>共有</a:t>
            </a:r>
            <a:r>
              <a:rPr lang="en-US" altLang="zh-CN" sz="2400" b="1" dirty="0">
                <a:solidFill>
                  <a:schemeClr val="bg1"/>
                </a:solidFill>
                <a:latin typeface="+mn-ea"/>
              </a:rPr>
              <a:t>12</a:t>
            </a:r>
            <a:r>
              <a:rPr lang="zh-CN" altLang="en-US" sz="2400" b="1" dirty="0">
                <a:solidFill>
                  <a:schemeClr val="bg1"/>
                </a:solidFill>
                <a:latin typeface="+mn-ea"/>
              </a:rPr>
              <a:t>台磁带机。进程</a:t>
            </a:r>
            <a:r>
              <a:rPr lang="en-US" altLang="zh-CN" sz="2400" b="1" dirty="0">
                <a:solidFill>
                  <a:schemeClr val="bg1"/>
                </a:solidFill>
                <a:latin typeface="+mn-ea"/>
                <a:sym typeface="+mn-ea"/>
              </a:rPr>
              <a:t>P</a:t>
            </a:r>
            <a:r>
              <a:rPr lang="en-US" altLang="zh-CN" sz="2400" b="1" baseline="-25000" dirty="0">
                <a:solidFill>
                  <a:schemeClr val="bg1"/>
                </a:solidFill>
                <a:latin typeface="+mn-ea"/>
                <a:sym typeface="+mn-ea"/>
              </a:rPr>
              <a:t>1</a:t>
            </a:r>
            <a:r>
              <a:rPr lang="zh-CN" altLang="en-US" sz="2400" b="1" dirty="0">
                <a:solidFill>
                  <a:schemeClr val="bg1"/>
                </a:solidFill>
                <a:latin typeface="+mn-ea"/>
                <a:sym typeface="+mn-ea"/>
              </a:rPr>
              <a:t>总共需要</a:t>
            </a:r>
            <a:r>
              <a:rPr lang="en-US" altLang="zh-CN" sz="2400" b="1" dirty="0">
                <a:solidFill>
                  <a:schemeClr val="bg1"/>
                </a:solidFill>
                <a:latin typeface="+mn-ea"/>
                <a:sym typeface="+mn-ea"/>
              </a:rPr>
              <a:t>10</a:t>
            </a:r>
            <a:r>
              <a:rPr lang="zh-CN" altLang="en-US" sz="2400" b="1" dirty="0">
                <a:solidFill>
                  <a:schemeClr val="bg1"/>
                </a:solidFill>
                <a:latin typeface="+mn-ea"/>
                <a:sym typeface="+mn-ea"/>
              </a:rPr>
              <a:t>台磁带机，进程</a:t>
            </a:r>
            <a:r>
              <a:rPr lang="en-US" altLang="zh-CN" sz="2400" b="1" dirty="0" smtClean="0">
                <a:solidFill>
                  <a:schemeClr val="bg1"/>
                </a:solidFill>
                <a:latin typeface="+mn-ea"/>
                <a:sym typeface="+mn-ea"/>
              </a:rPr>
              <a:t>P</a:t>
            </a:r>
            <a:r>
              <a:rPr lang="en-US" altLang="zh-CN" sz="2400" b="1" baseline="-25000" dirty="0" smtClean="0">
                <a:solidFill>
                  <a:schemeClr val="bg1"/>
                </a:solidFill>
                <a:latin typeface="+mn-ea"/>
                <a:sym typeface="+mn-ea"/>
              </a:rPr>
              <a:t>2</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P</a:t>
            </a:r>
            <a:r>
              <a:rPr lang="en-US" altLang="zh-CN" sz="2400" b="1" baseline="-25000" dirty="0" smtClean="0">
                <a:solidFill>
                  <a:schemeClr val="bg1"/>
                </a:solidFill>
                <a:latin typeface="+mn-ea"/>
                <a:sym typeface="+mn-ea"/>
              </a:rPr>
              <a:t>3</a:t>
            </a:r>
            <a:r>
              <a:rPr lang="zh-CN" altLang="en-US" sz="2400" b="1" dirty="0" smtClean="0">
                <a:solidFill>
                  <a:schemeClr val="bg1"/>
                </a:solidFill>
                <a:latin typeface="+mn-ea"/>
                <a:sym typeface="+mn-ea"/>
              </a:rPr>
              <a:t>分别</a:t>
            </a:r>
            <a:r>
              <a:rPr lang="zh-CN" altLang="en-US" sz="2400" b="1" dirty="0">
                <a:solidFill>
                  <a:schemeClr val="bg1"/>
                </a:solidFill>
                <a:latin typeface="+mn-ea"/>
                <a:sym typeface="+mn-ea"/>
              </a:rPr>
              <a:t>需要</a:t>
            </a:r>
            <a:r>
              <a:rPr lang="en-US" altLang="zh-CN" sz="2400" b="1" dirty="0">
                <a:solidFill>
                  <a:schemeClr val="bg1"/>
                </a:solidFill>
                <a:latin typeface="+mn-ea"/>
                <a:sym typeface="+mn-ea"/>
              </a:rPr>
              <a:t>4</a:t>
            </a:r>
            <a:r>
              <a:rPr lang="zh-CN" altLang="en-US" sz="2400" b="1" dirty="0">
                <a:solidFill>
                  <a:schemeClr val="bg1"/>
                </a:solidFill>
                <a:latin typeface="+mn-ea"/>
                <a:sym typeface="+mn-ea"/>
              </a:rPr>
              <a:t>台和</a:t>
            </a:r>
            <a:r>
              <a:rPr lang="en-US" altLang="zh-CN" sz="2400" b="1" dirty="0">
                <a:solidFill>
                  <a:schemeClr val="bg1"/>
                </a:solidFill>
                <a:latin typeface="+mn-ea"/>
                <a:sym typeface="+mn-ea"/>
              </a:rPr>
              <a:t>9</a:t>
            </a:r>
            <a:r>
              <a:rPr lang="zh-CN" altLang="en-US" sz="2400" b="1" dirty="0">
                <a:solidFill>
                  <a:schemeClr val="bg1"/>
                </a:solidFill>
                <a:latin typeface="+mn-ea"/>
                <a:sym typeface="+mn-ea"/>
              </a:rPr>
              <a:t>台磁带机。假设在</a:t>
            </a:r>
            <a:r>
              <a:rPr lang="en-US" altLang="zh-CN" sz="2400" b="1" dirty="0">
                <a:solidFill>
                  <a:schemeClr val="bg1"/>
                </a:solidFill>
                <a:latin typeface="+mn-ea"/>
                <a:sym typeface="+mn-ea"/>
              </a:rPr>
              <a:t>t</a:t>
            </a:r>
            <a:r>
              <a:rPr lang="en-US" altLang="zh-CN" sz="2400" b="1" baseline="-25000" dirty="0">
                <a:solidFill>
                  <a:schemeClr val="bg1"/>
                </a:solidFill>
                <a:latin typeface="+mn-ea"/>
                <a:sym typeface="+mn-ea"/>
              </a:rPr>
              <a:t>0</a:t>
            </a:r>
            <a:r>
              <a:rPr lang="zh-CN" altLang="en-US" sz="2400" b="1" dirty="0">
                <a:solidFill>
                  <a:schemeClr val="bg1"/>
                </a:solidFill>
                <a:latin typeface="+mn-ea"/>
                <a:sym typeface="+mn-ea"/>
              </a:rPr>
              <a:t>时刻，进程</a:t>
            </a:r>
            <a:r>
              <a:rPr lang="en-US" altLang="zh-CN" sz="2400" b="1" dirty="0">
                <a:solidFill>
                  <a:schemeClr val="bg1"/>
                </a:solidFill>
                <a:latin typeface="+mn-ea"/>
                <a:sym typeface="+mn-ea"/>
              </a:rPr>
              <a:t>P</a:t>
            </a:r>
            <a:r>
              <a:rPr lang="en-US" altLang="zh-CN" sz="2400" b="1" baseline="-25000" dirty="0">
                <a:solidFill>
                  <a:schemeClr val="bg1"/>
                </a:solidFill>
                <a:latin typeface="+mn-ea"/>
                <a:sym typeface="+mn-ea"/>
              </a:rPr>
              <a:t>1</a:t>
            </a:r>
            <a:r>
              <a:rPr lang="zh-CN" altLang="en-US" sz="2400" b="1" dirty="0">
                <a:solidFill>
                  <a:schemeClr val="bg1"/>
                </a:solidFill>
                <a:latin typeface="+mn-ea"/>
                <a:sym typeface="+mn-ea"/>
              </a:rPr>
              <a:t>、</a:t>
            </a:r>
            <a:r>
              <a:rPr lang="en-US" altLang="zh-CN" sz="2400" b="1" dirty="0">
                <a:solidFill>
                  <a:schemeClr val="bg1"/>
                </a:solidFill>
                <a:latin typeface="+mn-ea"/>
                <a:sym typeface="+mn-ea"/>
              </a:rPr>
              <a:t>P</a:t>
            </a:r>
            <a:r>
              <a:rPr lang="en-US" altLang="zh-CN" sz="2400" b="1" baseline="-25000" dirty="0">
                <a:solidFill>
                  <a:schemeClr val="bg1"/>
                </a:solidFill>
                <a:latin typeface="+mn-ea"/>
                <a:sym typeface="+mn-ea"/>
              </a:rPr>
              <a:t>2</a:t>
            </a:r>
            <a:r>
              <a:rPr lang="zh-CN" altLang="en-US" sz="2400" b="1" dirty="0">
                <a:solidFill>
                  <a:schemeClr val="bg1"/>
                </a:solidFill>
                <a:latin typeface="+mn-ea"/>
                <a:sym typeface="+mn-ea"/>
              </a:rPr>
              <a:t>、</a:t>
            </a:r>
            <a:r>
              <a:rPr lang="en-US" altLang="zh-CN" sz="2400" b="1" dirty="0">
                <a:solidFill>
                  <a:schemeClr val="bg1"/>
                </a:solidFill>
                <a:latin typeface="+mn-ea"/>
                <a:sym typeface="+mn-ea"/>
              </a:rPr>
              <a:t>P</a:t>
            </a:r>
            <a:r>
              <a:rPr lang="en-US" altLang="zh-CN" sz="2400" b="1" baseline="-25000" dirty="0">
                <a:solidFill>
                  <a:schemeClr val="bg1"/>
                </a:solidFill>
                <a:latin typeface="+mn-ea"/>
                <a:sym typeface="+mn-ea"/>
              </a:rPr>
              <a:t>3</a:t>
            </a:r>
            <a:r>
              <a:rPr lang="zh-CN" altLang="en-US" sz="2400" b="1" dirty="0">
                <a:solidFill>
                  <a:schemeClr val="bg1"/>
                </a:solidFill>
                <a:latin typeface="+mn-ea"/>
                <a:sym typeface="+mn-ea"/>
              </a:rPr>
              <a:t>已分别获得</a:t>
            </a:r>
            <a:r>
              <a:rPr lang="en-US" altLang="zh-CN" sz="2400" b="1" dirty="0">
                <a:solidFill>
                  <a:schemeClr val="bg1"/>
                </a:solidFill>
                <a:latin typeface="+mn-ea"/>
                <a:sym typeface="+mn-ea"/>
              </a:rPr>
              <a:t>5</a:t>
            </a:r>
            <a:r>
              <a:rPr lang="zh-CN" altLang="en-US" sz="2400" b="1" dirty="0">
                <a:solidFill>
                  <a:schemeClr val="bg1"/>
                </a:solidFill>
                <a:latin typeface="+mn-ea"/>
                <a:sym typeface="+mn-ea"/>
              </a:rPr>
              <a:t>台、</a:t>
            </a:r>
            <a:r>
              <a:rPr lang="en-US" altLang="zh-CN" sz="2400" b="1" dirty="0">
                <a:solidFill>
                  <a:schemeClr val="bg1"/>
                </a:solidFill>
                <a:latin typeface="+mn-ea"/>
                <a:sym typeface="+mn-ea"/>
              </a:rPr>
              <a:t>2</a:t>
            </a:r>
            <a:r>
              <a:rPr lang="zh-CN" altLang="en-US" sz="2400" b="1" dirty="0">
                <a:solidFill>
                  <a:schemeClr val="bg1"/>
                </a:solidFill>
                <a:latin typeface="+mn-ea"/>
                <a:sym typeface="+mn-ea"/>
              </a:rPr>
              <a:t>台、</a:t>
            </a:r>
            <a:r>
              <a:rPr lang="en-US" altLang="zh-CN" sz="2400" b="1" dirty="0">
                <a:solidFill>
                  <a:schemeClr val="bg1"/>
                </a:solidFill>
                <a:latin typeface="+mn-ea"/>
                <a:sym typeface="+mn-ea"/>
              </a:rPr>
              <a:t>2</a:t>
            </a:r>
            <a:r>
              <a:rPr lang="zh-CN" altLang="en-US" sz="2400" b="1" dirty="0">
                <a:solidFill>
                  <a:schemeClr val="bg1"/>
                </a:solidFill>
                <a:latin typeface="+mn-ea"/>
                <a:sym typeface="+mn-ea"/>
              </a:rPr>
              <a:t>台磁带机，尚有</a:t>
            </a:r>
            <a:r>
              <a:rPr lang="en-US" altLang="zh-CN" sz="2400" b="1" dirty="0">
                <a:solidFill>
                  <a:schemeClr val="bg1"/>
                </a:solidFill>
                <a:latin typeface="+mn-ea"/>
                <a:sym typeface="+mn-ea"/>
              </a:rPr>
              <a:t>3</a:t>
            </a:r>
            <a:r>
              <a:rPr lang="zh-CN" altLang="en-US" sz="2400" b="1" dirty="0">
                <a:solidFill>
                  <a:schemeClr val="bg1"/>
                </a:solidFill>
                <a:latin typeface="+mn-ea"/>
                <a:sym typeface="+mn-ea"/>
              </a:rPr>
              <a:t>台磁带机空闲（未分配）。则是否存在安全序列？</a:t>
            </a:r>
          </a:p>
        </p:txBody>
      </p:sp>
      <p:graphicFrame>
        <p:nvGraphicFramePr>
          <p:cNvPr id="4" name="表格 3"/>
          <p:cNvGraphicFramePr/>
          <p:nvPr>
            <p:extLst>
              <p:ext uri="{D42A27DB-BD31-4B8C-83A1-F6EECF244321}">
                <p14:modId xmlns:p14="http://schemas.microsoft.com/office/powerpoint/2010/main" val="2881972657"/>
              </p:ext>
            </p:extLst>
          </p:nvPr>
        </p:nvGraphicFramePr>
        <p:xfrm>
          <a:off x="1115616" y="2534055"/>
          <a:ext cx="6398260" cy="1569720"/>
        </p:xfrm>
        <a:graphic>
          <a:graphicData uri="http://schemas.openxmlformats.org/drawingml/2006/table">
            <a:tbl>
              <a:tblPr firstRow="1" bandRow="1">
                <a:tableStyleId>{5C22544A-7EE6-4342-B048-85BDC9FD1C3A}</a:tableStyleId>
              </a:tblPr>
              <a:tblGrid>
                <a:gridCol w="1599565">
                  <a:extLst>
                    <a:ext uri="{9D8B030D-6E8A-4147-A177-3AD203B41FA5}">
                      <a16:colId xmlns:a16="http://schemas.microsoft.com/office/drawing/2014/main" val="20000"/>
                    </a:ext>
                  </a:extLst>
                </a:gridCol>
                <a:gridCol w="1599565">
                  <a:extLst>
                    <a:ext uri="{9D8B030D-6E8A-4147-A177-3AD203B41FA5}">
                      <a16:colId xmlns:a16="http://schemas.microsoft.com/office/drawing/2014/main" val="20001"/>
                    </a:ext>
                  </a:extLst>
                </a:gridCol>
                <a:gridCol w="1599565">
                  <a:extLst>
                    <a:ext uri="{9D8B030D-6E8A-4147-A177-3AD203B41FA5}">
                      <a16:colId xmlns:a16="http://schemas.microsoft.com/office/drawing/2014/main" val="20002"/>
                    </a:ext>
                  </a:extLst>
                </a:gridCol>
                <a:gridCol w="1599565">
                  <a:extLst>
                    <a:ext uri="{9D8B030D-6E8A-4147-A177-3AD203B41FA5}">
                      <a16:colId xmlns:a16="http://schemas.microsoft.com/office/drawing/2014/main" val="20003"/>
                    </a:ext>
                  </a:extLst>
                </a:gridCol>
              </a:tblGrid>
              <a:tr h="381000">
                <a:tc>
                  <a:txBody>
                    <a:bodyPr/>
                    <a:lstStyle/>
                    <a:p>
                      <a:pPr>
                        <a:buNone/>
                      </a:pPr>
                      <a:r>
                        <a:rPr lang="zh-CN" altLang="en-US"/>
                        <a:t>进程</a:t>
                      </a:r>
                    </a:p>
                  </a:txBody>
                  <a:tcPr/>
                </a:tc>
                <a:tc>
                  <a:txBody>
                    <a:bodyPr/>
                    <a:lstStyle/>
                    <a:p>
                      <a:pPr>
                        <a:buNone/>
                      </a:pPr>
                      <a:r>
                        <a:rPr lang="zh-CN" altLang="en-US"/>
                        <a:t>最大需求</a:t>
                      </a:r>
                    </a:p>
                  </a:txBody>
                  <a:tcPr/>
                </a:tc>
                <a:tc>
                  <a:txBody>
                    <a:bodyPr/>
                    <a:lstStyle/>
                    <a:p>
                      <a:pPr>
                        <a:buNone/>
                      </a:pPr>
                      <a:r>
                        <a:rPr lang="zh-CN" altLang="en-US"/>
                        <a:t>已分配</a:t>
                      </a:r>
                    </a:p>
                  </a:txBody>
                  <a:tcPr/>
                </a:tc>
                <a:tc>
                  <a:txBody>
                    <a:bodyPr/>
                    <a:lstStyle/>
                    <a:p>
                      <a:pPr>
                        <a:buNone/>
                      </a:pPr>
                      <a:r>
                        <a:rPr lang="zh-CN" altLang="en-US"/>
                        <a:t>可用</a:t>
                      </a:r>
                    </a:p>
                  </a:txBody>
                  <a:tcPr/>
                </a:tc>
                <a:extLst>
                  <a:ext uri="{0D108BD9-81ED-4DB2-BD59-A6C34878D82A}">
                    <a16:rowId xmlns:a16="http://schemas.microsoft.com/office/drawing/2014/main" val="10000"/>
                  </a:ext>
                </a:extLst>
              </a:tr>
              <a:tr h="381000">
                <a:tc>
                  <a:txBody>
                    <a:bodyPr/>
                    <a:lstStyle/>
                    <a:p>
                      <a:pPr algn="ctr">
                        <a:buNone/>
                      </a:pPr>
                      <a:r>
                        <a:rPr lang="en-US" altLang="zh-CN"/>
                        <a:t>P</a:t>
                      </a:r>
                      <a:r>
                        <a:rPr lang="en-US" altLang="zh-CN" baseline="-25000"/>
                        <a:t>1</a:t>
                      </a:r>
                    </a:p>
                  </a:txBody>
                  <a:tcPr/>
                </a:tc>
                <a:tc>
                  <a:txBody>
                    <a:bodyPr/>
                    <a:lstStyle/>
                    <a:p>
                      <a:pPr algn="ctr">
                        <a:buNone/>
                      </a:pPr>
                      <a:r>
                        <a:rPr lang="en-US" altLang="zh-CN"/>
                        <a:t>10</a:t>
                      </a:r>
                    </a:p>
                  </a:txBody>
                  <a:tcPr/>
                </a:tc>
                <a:tc>
                  <a:txBody>
                    <a:bodyPr/>
                    <a:lstStyle/>
                    <a:p>
                      <a:pPr algn="ctr">
                        <a:buNone/>
                      </a:pPr>
                      <a:r>
                        <a:rPr lang="en-US" altLang="zh-CN" dirty="0"/>
                        <a:t>5</a:t>
                      </a:r>
                    </a:p>
                  </a:txBody>
                  <a:tcPr/>
                </a:tc>
                <a:tc rowSpan="3">
                  <a:txBody>
                    <a:bodyPr/>
                    <a:lstStyle/>
                    <a:p>
                      <a:pPr algn="ctr">
                        <a:buNone/>
                      </a:pPr>
                      <a:endParaRPr lang="en-US" altLang="zh-CN"/>
                    </a:p>
                    <a:p>
                      <a:pPr algn="ctr">
                        <a:buNone/>
                      </a:pPr>
                      <a:r>
                        <a:rPr lang="en-US" altLang="zh-CN"/>
                        <a:t>3</a:t>
                      </a:r>
                    </a:p>
                    <a:p>
                      <a:pPr algn="ctr">
                        <a:buNone/>
                      </a:pPr>
                      <a:endParaRPr lang="en-US" altLang="zh-CN"/>
                    </a:p>
                    <a:p>
                      <a:pPr algn="ctr">
                        <a:buNone/>
                      </a:pPr>
                      <a:endParaRPr lang="en-US" altLang="zh-CN"/>
                    </a:p>
                  </a:txBody>
                  <a:tcPr/>
                </a:tc>
                <a:extLst>
                  <a:ext uri="{0D108BD9-81ED-4DB2-BD59-A6C34878D82A}">
                    <a16:rowId xmlns:a16="http://schemas.microsoft.com/office/drawing/2014/main" val="10001"/>
                  </a:ext>
                </a:extLst>
              </a:tr>
              <a:tr h="381000">
                <a:tc>
                  <a:txBody>
                    <a:bodyPr/>
                    <a:lstStyle/>
                    <a:p>
                      <a:pPr algn="ctr">
                        <a:buNone/>
                      </a:pPr>
                      <a:r>
                        <a:rPr lang="en-US" altLang="zh-CN"/>
                        <a:t>P</a:t>
                      </a:r>
                      <a:r>
                        <a:rPr lang="en-US" altLang="zh-CN" baseline="-25000"/>
                        <a:t>2</a:t>
                      </a:r>
                    </a:p>
                  </a:txBody>
                  <a:tcPr/>
                </a:tc>
                <a:tc>
                  <a:txBody>
                    <a:bodyPr/>
                    <a:lstStyle/>
                    <a:p>
                      <a:pPr algn="ctr">
                        <a:buNone/>
                      </a:pPr>
                      <a:r>
                        <a:rPr lang="en-US" altLang="zh-CN"/>
                        <a:t>4</a:t>
                      </a:r>
                    </a:p>
                  </a:txBody>
                  <a:tcPr/>
                </a:tc>
                <a:tc>
                  <a:txBody>
                    <a:bodyPr/>
                    <a:lstStyle/>
                    <a:p>
                      <a:pPr algn="ctr">
                        <a:buNone/>
                      </a:pPr>
                      <a:r>
                        <a:rPr lang="en-US" altLang="zh-CN"/>
                        <a:t>2</a:t>
                      </a:r>
                    </a:p>
                  </a:txBody>
                  <a:tcPr/>
                </a:tc>
                <a:tc vMerge="1">
                  <a:txBody>
                    <a:bodyPr/>
                    <a:lstStyle/>
                    <a:p>
                      <a:endParaRPr lang="zh-CN"/>
                    </a:p>
                  </a:txBody>
                  <a:tcPr/>
                </a:tc>
                <a:extLst>
                  <a:ext uri="{0D108BD9-81ED-4DB2-BD59-A6C34878D82A}">
                    <a16:rowId xmlns:a16="http://schemas.microsoft.com/office/drawing/2014/main" val="10002"/>
                  </a:ext>
                </a:extLst>
              </a:tr>
              <a:tr h="381000">
                <a:tc>
                  <a:txBody>
                    <a:bodyPr/>
                    <a:lstStyle/>
                    <a:p>
                      <a:pPr algn="ctr">
                        <a:buNone/>
                      </a:pPr>
                      <a:r>
                        <a:rPr lang="en-US" altLang="zh-CN"/>
                        <a:t>P</a:t>
                      </a:r>
                      <a:r>
                        <a:rPr lang="en-US" altLang="zh-CN" baseline="-25000"/>
                        <a:t>3</a:t>
                      </a:r>
                    </a:p>
                  </a:txBody>
                  <a:tcPr/>
                </a:tc>
                <a:tc>
                  <a:txBody>
                    <a:bodyPr/>
                    <a:lstStyle/>
                    <a:p>
                      <a:pPr algn="ctr">
                        <a:buNone/>
                      </a:pPr>
                      <a:r>
                        <a:rPr lang="en-US" altLang="zh-CN"/>
                        <a:t>9</a:t>
                      </a:r>
                    </a:p>
                  </a:txBody>
                  <a:tcPr/>
                </a:tc>
                <a:tc>
                  <a:txBody>
                    <a:bodyPr/>
                    <a:lstStyle/>
                    <a:p>
                      <a:pPr algn="ctr">
                        <a:buNone/>
                      </a:pPr>
                      <a:r>
                        <a:rPr lang="en-US" altLang="zh-CN" dirty="0"/>
                        <a:t>2</a:t>
                      </a:r>
                    </a:p>
                  </a:txBody>
                  <a:tcPr/>
                </a:tc>
                <a:tc vMerge="1">
                  <a:txBody>
                    <a:bodyPr/>
                    <a:lstStyle/>
                    <a:p>
                      <a:endParaRPr lang="zh-CN"/>
                    </a:p>
                  </a:txBody>
                  <a:tcPr/>
                </a:tc>
                <a:extLst>
                  <a:ext uri="{0D108BD9-81ED-4DB2-BD59-A6C34878D82A}">
                    <a16:rowId xmlns:a16="http://schemas.microsoft.com/office/drawing/2014/main" val="10003"/>
                  </a:ext>
                </a:extLst>
              </a:tr>
            </a:tbl>
          </a:graphicData>
        </a:graphic>
      </p:graphicFrame>
      <p:sp>
        <p:nvSpPr>
          <p:cNvPr id="3" name="矩形 2"/>
          <p:cNvSpPr/>
          <p:nvPr/>
        </p:nvSpPr>
        <p:spPr>
          <a:xfrm>
            <a:off x="5652120" y="3180445"/>
            <a:ext cx="787395"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altLang="zh-CN" sz="5400" b="1" dirty="0" smtClean="0">
                <a:ln/>
                <a:solidFill>
                  <a:schemeClr val="accent3"/>
                </a:solidFill>
              </a:rPr>
              <a:t>P</a:t>
            </a:r>
            <a:r>
              <a:rPr lang="en-US" altLang="zh-CN" sz="5400" b="1" baseline="-25000" dirty="0" smtClean="0">
                <a:ln/>
                <a:solidFill>
                  <a:schemeClr val="accent3"/>
                </a:solidFill>
              </a:rPr>
              <a:t>2</a:t>
            </a:r>
            <a:endParaRPr lang="zh-CN" altLang="en-US" sz="5400" b="1" baseline="-25000" dirty="0">
              <a:ln/>
              <a:solidFill>
                <a:schemeClr val="accent3"/>
              </a:solidFill>
            </a:endParaRPr>
          </a:p>
        </p:txBody>
      </p:sp>
      <p:sp>
        <p:nvSpPr>
          <p:cNvPr id="29" name="矩形 28"/>
          <p:cNvSpPr/>
          <p:nvPr/>
        </p:nvSpPr>
        <p:spPr>
          <a:xfrm>
            <a:off x="6233400" y="3180445"/>
            <a:ext cx="787395"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altLang="zh-CN" sz="5400" b="1" dirty="0" smtClean="0">
                <a:ln/>
                <a:solidFill>
                  <a:schemeClr val="accent3"/>
                </a:solidFill>
              </a:rPr>
              <a:t>P</a:t>
            </a:r>
            <a:r>
              <a:rPr lang="en-US" altLang="zh-CN" sz="5400" b="1" baseline="-25000" dirty="0" smtClean="0">
                <a:ln/>
                <a:solidFill>
                  <a:schemeClr val="accent3"/>
                </a:solidFill>
              </a:rPr>
              <a:t>1</a:t>
            </a:r>
            <a:endParaRPr lang="zh-CN" altLang="en-US" sz="5400" b="1" baseline="-25000" dirty="0">
              <a:ln/>
              <a:solidFill>
                <a:schemeClr val="accent3"/>
              </a:solidFill>
            </a:endParaRPr>
          </a:p>
        </p:txBody>
      </p:sp>
      <p:sp>
        <p:nvSpPr>
          <p:cNvPr id="30" name="矩形 29"/>
          <p:cNvSpPr/>
          <p:nvPr/>
        </p:nvSpPr>
        <p:spPr>
          <a:xfrm>
            <a:off x="6801097" y="3180445"/>
            <a:ext cx="787395"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altLang="zh-CN" sz="5400" b="1" dirty="0" smtClean="0">
                <a:ln/>
                <a:solidFill>
                  <a:schemeClr val="accent3"/>
                </a:solidFill>
              </a:rPr>
              <a:t>P</a:t>
            </a:r>
            <a:r>
              <a:rPr lang="en-US" altLang="zh-CN" sz="5400" b="1" baseline="-25000" dirty="0" smtClean="0">
                <a:ln/>
                <a:solidFill>
                  <a:schemeClr val="accent3"/>
                </a:solidFill>
              </a:rPr>
              <a:t>3</a:t>
            </a:r>
            <a:endParaRPr lang="zh-CN" altLang="en-US" sz="5400" b="1" baseline="-25000" dirty="0">
              <a:ln/>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9" grpId="0"/>
      <p:bldP spid="30"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安全状态</a:t>
            </a:r>
          </a:p>
        </p:txBody>
      </p:sp>
      <p:sp>
        <p:nvSpPr>
          <p:cNvPr id="2" name="矩形 1"/>
          <p:cNvSpPr/>
          <p:nvPr/>
        </p:nvSpPr>
        <p:spPr>
          <a:xfrm>
            <a:off x="922020" y="1163320"/>
            <a:ext cx="6760210" cy="3415030"/>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sym typeface="+mn-ea"/>
              </a:rPr>
              <a:t>死锁避免的基本思想</a:t>
            </a:r>
            <a:r>
              <a:rPr lang="en-US" altLang="zh-CN" sz="2400" b="1" dirty="0">
                <a:solidFill>
                  <a:schemeClr val="bg1"/>
                </a:solidFill>
                <a:latin typeface="+mn-ea"/>
                <a:sym typeface="+mn-ea"/>
              </a:rPr>
              <a:t>---</a:t>
            </a:r>
            <a:r>
              <a:rPr lang="zh-CN" altLang="en-US" sz="2400" b="1" dirty="0">
                <a:solidFill>
                  <a:schemeClr val="bg1"/>
                </a:solidFill>
                <a:latin typeface="+mn-ea"/>
                <a:sym typeface="+mn-ea"/>
              </a:rPr>
              <a:t>确保系统始终处于安全状态。</a:t>
            </a:r>
            <a:endParaRPr lang="en-US" altLang="zh-CN" sz="2400" b="1" dirty="0">
              <a:solidFill>
                <a:schemeClr val="bg1"/>
              </a:solidFill>
              <a:latin typeface="+mn-ea"/>
              <a:sym typeface="+mn-ea"/>
            </a:endParaRPr>
          </a:p>
          <a:p>
            <a:pPr indent="-342900">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sym typeface="+mn-ea"/>
              </a:rPr>
              <a:t>一个系统开始时</a:t>
            </a:r>
            <a:r>
              <a:rPr lang="zh-CN" altLang="en-US" sz="2400" b="1" dirty="0" smtClean="0">
                <a:solidFill>
                  <a:schemeClr val="bg1"/>
                </a:solidFill>
                <a:latin typeface="+mn-ea"/>
                <a:sym typeface="+mn-ea"/>
              </a:rPr>
              <a:t>是处于</a:t>
            </a:r>
            <a:r>
              <a:rPr lang="zh-CN" altLang="en-US" sz="2400" b="1" dirty="0">
                <a:solidFill>
                  <a:schemeClr val="bg1"/>
                </a:solidFill>
                <a:latin typeface="+mn-ea"/>
                <a:sym typeface="+mn-ea"/>
              </a:rPr>
              <a:t>安全状态的</a:t>
            </a:r>
            <a:r>
              <a:rPr lang="en-US" altLang="zh-CN" sz="2400" b="1" dirty="0">
                <a:solidFill>
                  <a:schemeClr val="bg1"/>
                </a:solidFill>
                <a:latin typeface="+mn-ea"/>
                <a:sym typeface="+mn-ea"/>
              </a:rPr>
              <a:t>,</a:t>
            </a:r>
            <a:r>
              <a:rPr lang="zh-CN" altLang="en-US" sz="2400" b="1" dirty="0">
                <a:solidFill>
                  <a:schemeClr val="bg1"/>
                </a:solidFill>
                <a:latin typeface="+mn-ea"/>
                <a:sym typeface="+mn-ea"/>
              </a:rPr>
              <a:t>当有一个进程请求一个可用资源时</a:t>
            </a:r>
            <a:r>
              <a:rPr lang="en-US" altLang="zh-CN" sz="2400" b="1" dirty="0">
                <a:solidFill>
                  <a:schemeClr val="bg1"/>
                </a:solidFill>
                <a:latin typeface="+mn-ea"/>
                <a:sym typeface="+mn-ea"/>
              </a:rPr>
              <a:t>,</a:t>
            </a:r>
            <a:r>
              <a:rPr lang="zh-CN" altLang="en-US" sz="2400" b="1" dirty="0">
                <a:solidFill>
                  <a:schemeClr val="bg1"/>
                </a:solidFill>
                <a:latin typeface="+mn-ea"/>
                <a:sym typeface="+mn-ea"/>
              </a:rPr>
              <a:t>系统对该进程的请求进行计算</a:t>
            </a:r>
            <a:r>
              <a:rPr lang="en-US" altLang="zh-CN" sz="2400" b="1" dirty="0">
                <a:solidFill>
                  <a:schemeClr val="bg1"/>
                </a:solidFill>
                <a:latin typeface="+mn-ea"/>
                <a:sym typeface="+mn-ea"/>
              </a:rPr>
              <a:t>,</a:t>
            </a:r>
            <a:r>
              <a:rPr lang="zh-CN" altLang="en-US" sz="2400" b="1" dirty="0">
                <a:solidFill>
                  <a:schemeClr val="bg1"/>
                </a:solidFill>
                <a:latin typeface="+mn-ea"/>
                <a:sym typeface="+mn-ea"/>
              </a:rPr>
              <a:t>若将资源分配给进程后系统仍处于安全状态</a:t>
            </a:r>
            <a:r>
              <a:rPr lang="en-US" altLang="zh-CN" sz="2400" b="1" dirty="0">
                <a:solidFill>
                  <a:schemeClr val="bg1"/>
                </a:solidFill>
                <a:latin typeface="+mn-ea"/>
                <a:sym typeface="+mn-ea"/>
              </a:rPr>
              <a:t>,</a:t>
            </a:r>
            <a:r>
              <a:rPr lang="zh-CN" altLang="en-US" sz="2400" b="1" dirty="0">
                <a:solidFill>
                  <a:schemeClr val="bg1"/>
                </a:solidFill>
                <a:latin typeface="+mn-ea"/>
                <a:sym typeface="+mn-ea"/>
              </a:rPr>
              <a:t>则将资源分配给该进程。</a:t>
            </a:r>
            <a:endParaRPr lang="en-US" altLang="zh-CN" sz="2400" b="1" dirty="0">
              <a:solidFill>
                <a:schemeClr val="bg1"/>
              </a:solidFill>
              <a:latin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避免的典型算法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a:t>
            </a:r>
          </a:p>
        </p:txBody>
      </p:sp>
      <p:sp>
        <p:nvSpPr>
          <p:cNvPr id="2" name="矩形 1"/>
          <p:cNvSpPr/>
          <p:nvPr/>
        </p:nvSpPr>
        <p:spPr>
          <a:xfrm>
            <a:off x="971600" y="1395087"/>
            <a:ext cx="6760210" cy="2308324"/>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银行家算法是由迪杰斯特拉（</a:t>
            </a:r>
            <a:r>
              <a:rPr lang="en-US" altLang="zh-CN" sz="2400" b="1" dirty="0" err="1" smtClean="0">
                <a:solidFill>
                  <a:schemeClr val="bg1"/>
                </a:solidFill>
                <a:latin typeface="+mn-ea"/>
                <a:sym typeface="+mn-ea"/>
              </a:rPr>
              <a:t>Dijkstra</a:t>
            </a:r>
            <a:r>
              <a:rPr lang="zh-CN" altLang="en-US" sz="2400" b="1" dirty="0" smtClean="0">
                <a:solidFill>
                  <a:schemeClr val="bg1"/>
                </a:solidFill>
                <a:latin typeface="+mn-ea"/>
                <a:sym typeface="+mn-ea"/>
              </a:rPr>
              <a:t>）提出的，该算法原本为银行系统而设计，以确保银行在发放现金贷款时不会发生不能满足，所有客户需求的情况，也在</a:t>
            </a:r>
            <a:r>
              <a:rPr lang="en-US" altLang="zh-CN" sz="2400" b="1" dirty="0" smtClean="0">
                <a:solidFill>
                  <a:schemeClr val="bg1"/>
                </a:solidFill>
                <a:latin typeface="+mn-ea"/>
                <a:sym typeface="+mn-ea"/>
              </a:rPr>
              <a:t>OS</a:t>
            </a:r>
            <a:r>
              <a:rPr lang="zh-CN" altLang="en-US" sz="2400" b="1" dirty="0" smtClean="0">
                <a:solidFill>
                  <a:schemeClr val="bg1"/>
                </a:solidFill>
                <a:latin typeface="+mn-ea"/>
                <a:sym typeface="+mn-ea"/>
              </a:rPr>
              <a:t>中用于避免死锁。</a:t>
            </a:r>
            <a:endParaRPr lang="en-US" altLang="zh-CN" sz="2400" b="1" dirty="0">
              <a:solidFill>
                <a:schemeClr val="bg1"/>
              </a:solidFill>
              <a:latin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避免的典型算法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a:t>
            </a:r>
          </a:p>
        </p:txBody>
      </p:sp>
      <p:sp>
        <p:nvSpPr>
          <p:cNvPr id="2" name="矩形 1"/>
          <p:cNvSpPr/>
          <p:nvPr/>
        </p:nvSpPr>
        <p:spPr>
          <a:xfrm>
            <a:off x="809942" y="939400"/>
            <a:ext cx="7002418" cy="3785652"/>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sym typeface="+mn-ea"/>
              </a:rPr>
              <a:t>核心思想：</a:t>
            </a:r>
            <a:endParaRPr lang="en-US" altLang="zh-CN" sz="2000" b="1" dirty="0" smtClean="0">
              <a:solidFill>
                <a:schemeClr val="bg1"/>
              </a:solidFill>
              <a:latin typeface="+mn-ea"/>
              <a:sym typeface="+mn-ea"/>
            </a:endParaRPr>
          </a:p>
          <a:p>
            <a:pPr>
              <a:lnSpc>
                <a:spcPct val="150000"/>
              </a:lnSpc>
              <a:buClr>
                <a:schemeClr val="accent6">
                  <a:lumMod val="40000"/>
                  <a:lumOff val="60000"/>
                </a:schemeClr>
              </a:buClr>
            </a:pPr>
            <a:r>
              <a:rPr lang="zh-CN" altLang="en-US" sz="2000" b="1" dirty="0" smtClean="0">
                <a:solidFill>
                  <a:schemeClr val="bg1"/>
                </a:solidFill>
                <a:latin typeface="+mn-ea"/>
                <a:sym typeface="+mn-ea"/>
              </a:rPr>
              <a:t>（</a:t>
            </a:r>
            <a:r>
              <a:rPr lang="en-US" altLang="zh-CN" sz="2000" b="1" dirty="0" smtClean="0">
                <a:solidFill>
                  <a:schemeClr val="bg1"/>
                </a:solidFill>
                <a:latin typeface="+mn-ea"/>
                <a:sym typeface="+mn-ea"/>
              </a:rPr>
              <a:t>1</a:t>
            </a:r>
            <a:r>
              <a:rPr lang="zh-CN" altLang="en-US" sz="2000" b="1" dirty="0" smtClean="0">
                <a:solidFill>
                  <a:schemeClr val="bg1"/>
                </a:solidFill>
                <a:latin typeface="+mn-ea"/>
                <a:sym typeface="+mn-ea"/>
              </a:rPr>
              <a:t>）每个新进程进入系统时，必须声明在运行中可能需要的每种资源的</a:t>
            </a:r>
            <a:r>
              <a:rPr lang="zh-CN" altLang="en-US" sz="2000" b="1" dirty="0" smtClean="0">
                <a:solidFill>
                  <a:srgbClr val="FFFF00"/>
                </a:solidFill>
                <a:latin typeface="+mn-ea"/>
                <a:sym typeface="+mn-ea"/>
              </a:rPr>
              <a:t>最大单元数目</a:t>
            </a:r>
            <a:r>
              <a:rPr lang="en-US" altLang="zh-CN" sz="2000" b="1" dirty="0" smtClean="0">
                <a:solidFill>
                  <a:srgbClr val="FFFF00"/>
                </a:solidFill>
                <a:latin typeface="+mn-ea"/>
                <a:sym typeface="+mn-ea"/>
              </a:rPr>
              <a:t>Max</a:t>
            </a:r>
            <a:r>
              <a:rPr lang="zh-CN" altLang="en-US" sz="2000" b="1" dirty="0" smtClean="0">
                <a:solidFill>
                  <a:schemeClr val="bg1"/>
                </a:solidFill>
                <a:latin typeface="+mn-ea"/>
                <a:sym typeface="+mn-ea"/>
              </a:rPr>
              <a:t>（不应超过系统所拥有的</a:t>
            </a:r>
            <a:r>
              <a:rPr lang="zh-CN" altLang="en-US" sz="2000" b="1" dirty="0" smtClean="0">
                <a:solidFill>
                  <a:srgbClr val="FFFF00"/>
                </a:solidFill>
                <a:latin typeface="+mn-ea"/>
                <a:sym typeface="+mn-ea"/>
              </a:rPr>
              <a:t>资源总量</a:t>
            </a:r>
            <a:r>
              <a:rPr lang="en-US" altLang="zh-CN" sz="2000" b="1" dirty="0" err="1" smtClean="0">
                <a:solidFill>
                  <a:srgbClr val="FFFF00"/>
                </a:solidFill>
                <a:latin typeface="+mn-ea"/>
                <a:sym typeface="+mn-ea"/>
              </a:rPr>
              <a:t>Availabel</a:t>
            </a:r>
            <a:r>
              <a:rPr lang="zh-CN" altLang="en-US" sz="2000" b="1" dirty="0" smtClean="0">
                <a:solidFill>
                  <a:schemeClr val="bg1"/>
                </a:solidFill>
                <a:latin typeface="+mn-ea"/>
                <a:sym typeface="+mn-ea"/>
              </a:rPr>
              <a:t>）。</a:t>
            </a:r>
            <a:endParaRPr lang="en-US" altLang="zh-CN" sz="2000" b="1" dirty="0" smtClean="0">
              <a:solidFill>
                <a:schemeClr val="bg1"/>
              </a:solidFill>
              <a:latin typeface="+mn-ea"/>
              <a:sym typeface="+mn-ea"/>
            </a:endParaRPr>
          </a:p>
          <a:p>
            <a:pPr>
              <a:lnSpc>
                <a:spcPct val="150000"/>
              </a:lnSpc>
              <a:buClr>
                <a:schemeClr val="accent6">
                  <a:lumMod val="40000"/>
                  <a:lumOff val="60000"/>
                </a:schemeClr>
              </a:buClr>
            </a:pPr>
            <a:r>
              <a:rPr lang="zh-CN" altLang="en-US" sz="2000" b="1" dirty="0" smtClean="0">
                <a:solidFill>
                  <a:schemeClr val="bg1"/>
                </a:solidFill>
                <a:latin typeface="+mn-ea"/>
                <a:sym typeface="+mn-ea"/>
              </a:rPr>
              <a:t>（</a:t>
            </a:r>
            <a:r>
              <a:rPr lang="en-US" altLang="zh-CN" sz="2000" b="1" dirty="0" smtClean="0">
                <a:solidFill>
                  <a:schemeClr val="bg1"/>
                </a:solidFill>
                <a:latin typeface="+mn-ea"/>
                <a:sym typeface="+mn-ea"/>
              </a:rPr>
              <a:t>2</a:t>
            </a:r>
            <a:r>
              <a:rPr lang="zh-CN" altLang="en-US" sz="2000" b="1" dirty="0" smtClean="0">
                <a:solidFill>
                  <a:schemeClr val="bg1"/>
                </a:solidFill>
                <a:latin typeface="+mn-ea"/>
                <a:sym typeface="+mn-ea"/>
              </a:rPr>
              <a:t>）当进程请求一组资源时，系统必须首先确定是否有足够的资源可分配给该进程。</a:t>
            </a:r>
            <a:endParaRPr lang="en-US" altLang="zh-CN" sz="2000" b="1" dirty="0" smtClean="0">
              <a:solidFill>
                <a:schemeClr val="bg1"/>
              </a:solidFill>
              <a:latin typeface="+mn-ea"/>
              <a:sym typeface="+mn-ea"/>
            </a:endParaRPr>
          </a:p>
          <a:p>
            <a:pPr>
              <a:lnSpc>
                <a:spcPct val="150000"/>
              </a:lnSpc>
              <a:buClr>
                <a:schemeClr val="accent6">
                  <a:lumMod val="40000"/>
                  <a:lumOff val="60000"/>
                </a:schemeClr>
              </a:buClr>
            </a:pPr>
            <a:r>
              <a:rPr lang="zh-CN" altLang="en-US" sz="2000" b="1" dirty="0" smtClean="0">
                <a:solidFill>
                  <a:schemeClr val="bg1"/>
                </a:solidFill>
                <a:latin typeface="+mn-ea"/>
                <a:sym typeface="+mn-ea"/>
              </a:rPr>
              <a:t>（</a:t>
            </a:r>
            <a:r>
              <a:rPr lang="en-US" altLang="zh-CN" sz="2000" b="1" dirty="0" smtClean="0">
                <a:solidFill>
                  <a:schemeClr val="bg1"/>
                </a:solidFill>
                <a:latin typeface="+mn-ea"/>
                <a:sym typeface="+mn-ea"/>
              </a:rPr>
              <a:t>3</a:t>
            </a:r>
            <a:r>
              <a:rPr lang="zh-CN" altLang="en-US" sz="2000" b="1" dirty="0" smtClean="0">
                <a:solidFill>
                  <a:schemeClr val="bg1"/>
                </a:solidFill>
                <a:latin typeface="+mn-ea"/>
                <a:sym typeface="+mn-ea"/>
              </a:rPr>
              <a:t>）若有，则进一步判定若将资源分配给该进程，系统是否会处于不安全状态。若否，则分配，若是，则不分配。</a:t>
            </a:r>
            <a:endParaRPr lang="en-US" altLang="zh-CN" sz="2000" b="1" dirty="0">
              <a:solidFill>
                <a:schemeClr val="bg1"/>
              </a:solidFill>
              <a:latin typeface="+mn-ea"/>
              <a:sym typeface="+mn-ea"/>
            </a:endParaRPr>
          </a:p>
        </p:txBody>
      </p:sp>
    </p:spTree>
    <p:extLst>
      <p:ext uri="{BB962C8B-B14F-4D97-AF65-F5344CB8AC3E}">
        <p14:creationId xmlns:p14="http://schemas.microsoft.com/office/powerpoint/2010/main" val="399847947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避免的典型算法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a:t>
            </a:r>
          </a:p>
        </p:txBody>
      </p:sp>
      <p:sp>
        <p:nvSpPr>
          <p:cNvPr id="2" name="矩形 1"/>
          <p:cNvSpPr/>
          <p:nvPr/>
        </p:nvSpPr>
        <p:spPr>
          <a:xfrm>
            <a:off x="755576" y="986037"/>
            <a:ext cx="7146434" cy="3416320"/>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定义数据结构：</a:t>
            </a:r>
            <a:endParaRPr lang="en-US" altLang="zh-CN" sz="2400" b="1" dirty="0" smtClean="0">
              <a:solidFill>
                <a:schemeClr val="bg1"/>
              </a:solidFill>
              <a:latin typeface="+mn-ea"/>
              <a:sym typeface="+mn-ea"/>
            </a:endParaRPr>
          </a:p>
          <a:p>
            <a:pPr>
              <a:lnSpc>
                <a:spcPct val="150000"/>
              </a:lnSpc>
              <a:buClr>
                <a:schemeClr val="accent6">
                  <a:lumMod val="40000"/>
                  <a:lumOff val="60000"/>
                </a:schemeClr>
              </a:buClr>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1</a:t>
            </a:r>
            <a:r>
              <a:rPr lang="zh-CN" altLang="en-US" sz="2400" b="1" dirty="0" smtClean="0">
                <a:solidFill>
                  <a:schemeClr val="bg1"/>
                </a:solidFill>
                <a:latin typeface="+mn-ea"/>
                <a:sym typeface="+mn-ea"/>
              </a:rPr>
              <a:t>）</a:t>
            </a:r>
            <a:r>
              <a:rPr lang="zh-CN" altLang="en-US" sz="2400" b="1" dirty="0" smtClean="0">
                <a:solidFill>
                  <a:srgbClr val="FFFF00"/>
                </a:solidFill>
                <a:latin typeface="+mn-ea"/>
                <a:sym typeface="+mn-ea"/>
              </a:rPr>
              <a:t>可利用资源向量</a:t>
            </a:r>
            <a:r>
              <a:rPr lang="en-US" altLang="zh-CN" sz="2400" b="1" dirty="0" smtClean="0">
                <a:solidFill>
                  <a:srgbClr val="FFFF00"/>
                </a:solidFill>
                <a:latin typeface="+mn-ea"/>
                <a:sym typeface="+mn-ea"/>
              </a:rPr>
              <a:t>Available[m]</a:t>
            </a:r>
            <a:r>
              <a:rPr lang="en-US" altLang="zh-CN" sz="2400" b="1" dirty="0" smtClean="0">
                <a:solidFill>
                  <a:schemeClr val="bg1"/>
                </a:solidFill>
                <a:latin typeface="+mn-ea"/>
                <a:sym typeface="+mn-ea"/>
              </a:rPr>
              <a:t>,m</a:t>
            </a:r>
            <a:r>
              <a:rPr lang="zh-CN" altLang="en-US" sz="2400" b="1" dirty="0" smtClean="0">
                <a:solidFill>
                  <a:schemeClr val="bg1"/>
                </a:solidFill>
                <a:latin typeface="+mn-ea"/>
                <a:sym typeface="+mn-ea"/>
              </a:rPr>
              <a:t>为资源的类型数目。</a:t>
            </a:r>
            <a:r>
              <a:rPr lang="en-US" altLang="zh-CN" sz="2400" b="1" dirty="0" smtClean="0">
                <a:solidFill>
                  <a:schemeClr val="bg1"/>
                </a:solidFill>
                <a:latin typeface="+mn-ea"/>
                <a:sym typeface="+mn-ea"/>
              </a:rPr>
              <a:t>Available[j]</a:t>
            </a:r>
            <a:r>
              <a:rPr lang="zh-CN" altLang="en-US" sz="2400" b="1" dirty="0" smtClean="0">
                <a:solidFill>
                  <a:schemeClr val="bg1"/>
                </a:solidFill>
                <a:latin typeface="+mn-ea"/>
                <a:sym typeface="+mn-ea"/>
              </a:rPr>
              <a:t>表示系统中现有资源</a:t>
            </a:r>
            <a:r>
              <a:rPr lang="en-US" altLang="zh-CN" sz="2400" b="1" dirty="0" err="1" smtClean="0">
                <a:solidFill>
                  <a:schemeClr val="bg1"/>
                </a:solidFill>
                <a:latin typeface="+mn-ea"/>
                <a:sym typeface="+mn-ea"/>
              </a:rPr>
              <a:t>R</a:t>
            </a:r>
            <a:r>
              <a:rPr lang="en-US" altLang="zh-CN" sz="2400" b="1" baseline="-25000" dirty="0" err="1" smtClean="0">
                <a:solidFill>
                  <a:schemeClr val="bg1"/>
                </a:solidFill>
                <a:latin typeface="+mn-ea"/>
                <a:sym typeface="+mn-ea"/>
              </a:rPr>
              <a:t>j</a:t>
            </a:r>
            <a:r>
              <a:rPr lang="zh-CN" altLang="en-US" sz="2400" b="1" dirty="0" smtClean="0">
                <a:solidFill>
                  <a:schemeClr val="bg1"/>
                </a:solidFill>
                <a:latin typeface="+mn-ea"/>
                <a:sym typeface="+mn-ea"/>
              </a:rPr>
              <a:t>的个数。</a:t>
            </a:r>
            <a:endParaRPr lang="en-US" altLang="zh-CN" sz="2400" b="1" dirty="0" smtClean="0">
              <a:solidFill>
                <a:schemeClr val="bg1"/>
              </a:solidFill>
              <a:latin typeface="+mn-ea"/>
              <a:sym typeface="+mn-ea"/>
            </a:endParaRPr>
          </a:p>
          <a:p>
            <a:pPr>
              <a:lnSpc>
                <a:spcPct val="150000"/>
              </a:lnSpc>
              <a:buClr>
                <a:schemeClr val="accent6">
                  <a:lumMod val="40000"/>
                  <a:lumOff val="60000"/>
                </a:schemeClr>
              </a:buClr>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a:t>
            </a:r>
            <a:r>
              <a:rPr lang="zh-CN" altLang="en-US" sz="2400" b="1" dirty="0" smtClean="0">
                <a:solidFill>
                  <a:srgbClr val="FFFF00"/>
                </a:solidFill>
                <a:latin typeface="+mn-ea"/>
                <a:sym typeface="+mn-ea"/>
              </a:rPr>
              <a:t>最大需求矩阵</a:t>
            </a:r>
            <a:r>
              <a:rPr lang="en-US" altLang="zh-CN" sz="2400" b="1" dirty="0" smtClean="0">
                <a:solidFill>
                  <a:srgbClr val="FFFF00"/>
                </a:solidFill>
                <a:latin typeface="+mn-ea"/>
                <a:sym typeface="+mn-ea"/>
              </a:rPr>
              <a:t>Max[</a:t>
            </a:r>
            <a:r>
              <a:rPr lang="en-US" altLang="zh-CN" sz="2400" b="1" dirty="0" err="1" smtClean="0">
                <a:solidFill>
                  <a:srgbClr val="FFFF00"/>
                </a:solidFill>
                <a:latin typeface="+mn-ea"/>
                <a:sym typeface="+mn-ea"/>
              </a:rPr>
              <a:t>n,m</a:t>
            </a:r>
            <a:r>
              <a:rPr lang="en-US" altLang="zh-CN" sz="2400" b="1" dirty="0" smtClean="0">
                <a:solidFill>
                  <a:srgbClr val="FFFF00"/>
                </a:solidFill>
                <a:latin typeface="+mn-ea"/>
                <a:sym typeface="+mn-ea"/>
              </a:rPr>
              <a:t>]</a:t>
            </a:r>
            <a:r>
              <a:rPr lang="zh-CN" altLang="en-US" sz="2400" b="1" dirty="0" smtClean="0">
                <a:solidFill>
                  <a:schemeClr val="bg1"/>
                </a:solidFill>
                <a:latin typeface="+mn-ea"/>
                <a:sym typeface="+mn-ea"/>
              </a:rPr>
              <a:t>，定义了系统中</a:t>
            </a:r>
            <a:r>
              <a:rPr lang="en-US" altLang="zh-CN" sz="2400" b="1" dirty="0" smtClean="0">
                <a:solidFill>
                  <a:schemeClr val="bg1"/>
                </a:solidFill>
                <a:latin typeface="+mn-ea"/>
                <a:sym typeface="+mn-ea"/>
              </a:rPr>
              <a:t>n</a:t>
            </a:r>
            <a:r>
              <a:rPr lang="zh-CN" altLang="en-US" sz="2400" b="1" dirty="0" smtClean="0">
                <a:solidFill>
                  <a:schemeClr val="bg1"/>
                </a:solidFill>
                <a:latin typeface="+mn-ea"/>
                <a:sym typeface="+mn-ea"/>
              </a:rPr>
              <a:t>个进程中的每个进程对</a:t>
            </a:r>
            <a:r>
              <a:rPr lang="en-US" altLang="zh-CN" sz="2400" b="1" dirty="0" smtClean="0">
                <a:solidFill>
                  <a:schemeClr val="bg1"/>
                </a:solidFill>
                <a:latin typeface="+mn-ea"/>
                <a:sym typeface="+mn-ea"/>
              </a:rPr>
              <a:t>m</a:t>
            </a:r>
            <a:r>
              <a:rPr lang="zh-CN" altLang="en-US" sz="2400" b="1" dirty="0" smtClean="0">
                <a:solidFill>
                  <a:schemeClr val="bg1"/>
                </a:solidFill>
                <a:latin typeface="+mn-ea"/>
                <a:sym typeface="+mn-ea"/>
              </a:rPr>
              <a:t>类资源的最大需求。</a:t>
            </a:r>
            <a:r>
              <a:rPr lang="en-US" altLang="zh-CN" sz="2400" b="1" dirty="0">
                <a:solidFill>
                  <a:schemeClr val="bg1"/>
                </a:solidFill>
                <a:latin typeface="+mn-ea"/>
                <a:sym typeface="+mn-ea"/>
              </a:rPr>
              <a:t> </a:t>
            </a:r>
            <a:r>
              <a:rPr lang="en-US" altLang="zh-CN" sz="2400" b="1" dirty="0" smtClean="0">
                <a:solidFill>
                  <a:schemeClr val="bg1"/>
                </a:solidFill>
                <a:latin typeface="+mn-ea"/>
                <a:sym typeface="+mn-ea"/>
              </a:rPr>
              <a:t>Max[</a:t>
            </a:r>
            <a:r>
              <a:rPr lang="en-US" altLang="zh-CN" sz="2400" b="1" dirty="0" err="1" smtClean="0">
                <a:solidFill>
                  <a:schemeClr val="bg1"/>
                </a:solidFill>
                <a:latin typeface="+mn-ea"/>
                <a:sym typeface="+mn-ea"/>
              </a:rPr>
              <a:t>i,j</a:t>
            </a:r>
            <a:r>
              <a:rPr lang="en-US" altLang="zh-CN" sz="2400" b="1" dirty="0" smtClean="0">
                <a:solidFill>
                  <a:schemeClr val="bg1"/>
                </a:solidFill>
                <a:latin typeface="+mn-ea"/>
                <a:sym typeface="+mn-ea"/>
              </a:rPr>
              <a:t>]</a:t>
            </a:r>
            <a:r>
              <a:rPr lang="zh-CN" altLang="en-US" sz="2400" b="1" dirty="0" smtClean="0">
                <a:solidFill>
                  <a:schemeClr val="bg1"/>
                </a:solidFill>
                <a:latin typeface="+mn-ea"/>
                <a:sym typeface="+mn-ea"/>
              </a:rPr>
              <a:t>表示进程</a:t>
            </a:r>
            <a:r>
              <a:rPr lang="en-US" altLang="zh-CN" sz="2400" b="1" dirty="0" err="1" smtClean="0">
                <a:solidFill>
                  <a:schemeClr val="bg1"/>
                </a:solidFill>
                <a:latin typeface="+mn-ea"/>
                <a:sym typeface="+mn-ea"/>
              </a:rPr>
              <a:t>i</a:t>
            </a:r>
            <a:r>
              <a:rPr lang="zh-CN" altLang="en-US" sz="2400" b="1" dirty="0" smtClean="0">
                <a:solidFill>
                  <a:schemeClr val="bg1"/>
                </a:solidFill>
                <a:latin typeface="+mn-ea"/>
                <a:sym typeface="+mn-ea"/>
              </a:rPr>
              <a:t>所需要</a:t>
            </a:r>
            <a:r>
              <a:rPr lang="en-US" altLang="zh-CN" sz="2400" b="1" dirty="0" err="1" smtClean="0">
                <a:solidFill>
                  <a:schemeClr val="bg1"/>
                </a:solidFill>
                <a:latin typeface="+mn-ea"/>
                <a:sym typeface="+mn-ea"/>
              </a:rPr>
              <a:t>R</a:t>
            </a:r>
            <a:r>
              <a:rPr lang="en-US" altLang="zh-CN" sz="2400" b="1" baseline="-25000" dirty="0" err="1" smtClean="0">
                <a:solidFill>
                  <a:schemeClr val="bg1"/>
                </a:solidFill>
                <a:latin typeface="+mn-ea"/>
                <a:sym typeface="+mn-ea"/>
              </a:rPr>
              <a:t>j</a:t>
            </a:r>
            <a:r>
              <a:rPr lang="zh-CN" altLang="en-US" sz="2400" b="1" dirty="0" smtClean="0">
                <a:solidFill>
                  <a:schemeClr val="bg1"/>
                </a:solidFill>
                <a:latin typeface="+mn-ea"/>
                <a:sym typeface="+mn-ea"/>
              </a:rPr>
              <a:t>类资源的最大数目</a:t>
            </a:r>
            <a:endParaRPr lang="en-US" altLang="zh-CN" sz="2400" b="1" dirty="0" smtClean="0">
              <a:solidFill>
                <a:schemeClr val="bg1"/>
              </a:solidFill>
              <a:latin typeface="+mn-ea"/>
              <a:sym typeface="+mn-ea"/>
            </a:endParaRPr>
          </a:p>
        </p:txBody>
      </p:sp>
    </p:spTree>
    <p:extLst>
      <p:ext uri="{BB962C8B-B14F-4D97-AF65-F5344CB8AC3E}">
        <p14:creationId xmlns:p14="http://schemas.microsoft.com/office/powerpoint/2010/main" val="18052079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避免的典型算法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a:t>
            </a:r>
          </a:p>
        </p:txBody>
      </p:sp>
      <p:sp>
        <p:nvSpPr>
          <p:cNvPr id="2" name="矩形 1"/>
          <p:cNvSpPr/>
          <p:nvPr/>
        </p:nvSpPr>
        <p:spPr>
          <a:xfrm>
            <a:off x="539552" y="1008218"/>
            <a:ext cx="7560840" cy="3416320"/>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定义数据结构：</a:t>
            </a:r>
            <a:endParaRPr lang="en-US" altLang="zh-CN" sz="2400" b="1" dirty="0" smtClean="0">
              <a:solidFill>
                <a:schemeClr val="bg1"/>
              </a:solidFill>
              <a:latin typeface="+mn-ea"/>
              <a:sym typeface="+mn-ea"/>
            </a:endParaRPr>
          </a:p>
          <a:p>
            <a:pPr>
              <a:lnSpc>
                <a:spcPct val="150000"/>
              </a:lnSpc>
              <a:buClr>
                <a:schemeClr val="accent6">
                  <a:lumMod val="40000"/>
                  <a:lumOff val="60000"/>
                </a:schemeClr>
              </a:buClr>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zh-CN" altLang="en-US" sz="2400" b="1" dirty="0" smtClean="0">
                <a:solidFill>
                  <a:srgbClr val="FFFF00"/>
                </a:solidFill>
                <a:latin typeface="+mn-ea"/>
                <a:sym typeface="+mn-ea"/>
              </a:rPr>
              <a:t>分配矩阵</a:t>
            </a:r>
            <a:r>
              <a:rPr lang="en-US" altLang="zh-CN" sz="2400" b="1" dirty="0" smtClean="0">
                <a:solidFill>
                  <a:srgbClr val="FFFF00"/>
                </a:solidFill>
                <a:latin typeface="+mn-ea"/>
                <a:sym typeface="+mn-ea"/>
              </a:rPr>
              <a:t>Allocation[</a:t>
            </a:r>
            <a:r>
              <a:rPr lang="en-US" altLang="zh-CN" sz="2400" b="1" dirty="0" err="1" smtClean="0">
                <a:solidFill>
                  <a:srgbClr val="FFFF00"/>
                </a:solidFill>
                <a:latin typeface="+mn-ea"/>
                <a:sym typeface="+mn-ea"/>
              </a:rPr>
              <a:t>n,m</a:t>
            </a:r>
            <a:r>
              <a:rPr lang="en-US" altLang="zh-CN" sz="2400" b="1" dirty="0" smtClean="0">
                <a:solidFill>
                  <a:srgbClr val="FFFF00"/>
                </a:solidFill>
                <a:latin typeface="+mn-ea"/>
                <a:sym typeface="+mn-ea"/>
              </a:rPr>
              <a:t>]</a:t>
            </a:r>
            <a:r>
              <a:rPr lang="zh-CN" altLang="en-US" sz="2400" b="1" dirty="0" smtClean="0">
                <a:solidFill>
                  <a:schemeClr val="bg1"/>
                </a:solidFill>
                <a:latin typeface="+mn-ea"/>
                <a:sym typeface="+mn-ea"/>
              </a:rPr>
              <a:t>，定义了系统中每类资源的当前已分配给每一进程的资源数。</a:t>
            </a:r>
            <a:r>
              <a:rPr lang="en-US" altLang="zh-CN" sz="2400" b="1" dirty="0">
                <a:solidFill>
                  <a:schemeClr val="bg1"/>
                </a:solidFill>
                <a:latin typeface="+mn-ea"/>
                <a:sym typeface="+mn-ea"/>
              </a:rPr>
              <a:t> </a:t>
            </a:r>
            <a:r>
              <a:rPr lang="en-US" altLang="zh-CN" sz="2400" b="1" dirty="0" smtClean="0">
                <a:solidFill>
                  <a:schemeClr val="bg1"/>
                </a:solidFill>
                <a:latin typeface="+mn-ea"/>
                <a:sym typeface="+mn-ea"/>
              </a:rPr>
              <a:t>Allocation[</a:t>
            </a:r>
            <a:r>
              <a:rPr lang="en-US" altLang="zh-CN" sz="2400" b="1" dirty="0" err="1" smtClean="0">
                <a:solidFill>
                  <a:schemeClr val="bg1"/>
                </a:solidFill>
                <a:latin typeface="+mn-ea"/>
                <a:sym typeface="+mn-ea"/>
              </a:rPr>
              <a:t>i,j</a:t>
            </a:r>
            <a:r>
              <a:rPr lang="en-US" altLang="zh-CN" sz="2400" b="1" dirty="0" smtClean="0">
                <a:solidFill>
                  <a:schemeClr val="bg1"/>
                </a:solidFill>
                <a:latin typeface="+mn-ea"/>
                <a:sym typeface="+mn-ea"/>
              </a:rPr>
              <a:t>]</a:t>
            </a:r>
            <a:r>
              <a:rPr lang="zh-CN" altLang="en-US" sz="2400" b="1" dirty="0" smtClean="0">
                <a:solidFill>
                  <a:schemeClr val="bg1"/>
                </a:solidFill>
                <a:latin typeface="+mn-ea"/>
                <a:sym typeface="+mn-ea"/>
              </a:rPr>
              <a:t>表示进程</a:t>
            </a:r>
            <a:r>
              <a:rPr lang="en-US" altLang="zh-CN" sz="2400" b="1" dirty="0" err="1" smtClean="0">
                <a:solidFill>
                  <a:schemeClr val="bg1"/>
                </a:solidFill>
                <a:latin typeface="+mn-ea"/>
                <a:sym typeface="+mn-ea"/>
              </a:rPr>
              <a:t>i</a:t>
            </a:r>
            <a:r>
              <a:rPr lang="zh-CN" altLang="en-US" sz="2400" b="1" dirty="0" smtClean="0">
                <a:solidFill>
                  <a:schemeClr val="bg1"/>
                </a:solidFill>
                <a:latin typeface="+mn-ea"/>
                <a:sym typeface="+mn-ea"/>
              </a:rPr>
              <a:t>当前已分得</a:t>
            </a:r>
            <a:r>
              <a:rPr lang="en-US" altLang="zh-CN" sz="2400" b="1" dirty="0" err="1" smtClean="0">
                <a:solidFill>
                  <a:schemeClr val="bg1"/>
                </a:solidFill>
                <a:latin typeface="+mn-ea"/>
                <a:sym typeface="+mn-ea"/>
              </a:rPr>
              <a:t>R</a:t>
            </a:r>
            <a:r>
              <a:rPr lang="en-US" altLang="zh-CN" sz="2400" b="1" baseline="-25000" dirty="0" err="1" smtClean="0">
                <a:solidFill>
                  <a:schemeClr val="bg1"/>
                </a:solidFill>
                <a:latin typeface="+mn-ea"/>
                <a:sym typeface="+mn-ea"/>
              </a:rPr>
              <a:t>j</a:t>
            </a:r>
            <a:r>
              <a:rPr lang="zh-CN" altLang="en-US" sz="2400" b="1" dirty="0" smtClean="0">
                <a:solidFill>
                  <a:schemeClr val="bg1"/>
                </a:solidFill>
                <a:latin typeface="+mn-ea"/>
                <a:sym typeface="+mn-ea"/>
              </a:rPr>
              <a:t>类资源的数目。</a:t>
            </a:r>
            <a:endParaRPr lang="en-US" altLang="zh-CN" sz="2400" b="1" dirty="0" smtClean="0">
              <a:solidFill>
                <a:schemeClr val="bg1"/>
              </a:solidFill>
              <a:latin typeface="+mn-ea"/>
              <a:sym typeface="+mn-ea"/>
            </a:endParaRPr>
          </a:p>
          <a:p>
            <a:pPr>
              <a:lnSpc>
                <a:spcPct val="150000"/>
              </a:lnSpc>
              <a:buClr>
                <a:schemeClr val="accent6">
                  <a:lumMod val="40000"/>
                  <a:lumOff val="60000"/>
                </a:schemeClr>
              </a:buClr>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4</a:t>
            </a:r>
            <a:r>
              <a:rPr lang="zh-CN" altLang="en-US" sz="2400" b="1" dirty="0" smtClean="0">
                <a:solidFill>
                  <a:schemeClr val="bg1"/>
                </a:solidFill>
                <a:latin typeface="+mn-ea"/>
                <a:sym typeface="+mn-ea"/>
              </a:rPr>
              <a:t>）需求矩阵</a:t>
            </a:r>
            <a:r>
              <a:rPr lang="en-US" altLang="zh-CN" sz="2400" b="1" dirty="0" smtClean="0">
                <a:solidFill>
                  <a:srgbClr val="FFFF00"/>
                </a:solidFill>
                <a:latin typeface="+mn-ea"/>
                <a:sym typeface="+mn-ea"/>
              </a:rPr>
              <a:t>Need[</a:t>
            </a:r>
            <a:r>
              <a:rPr lang="en-US" altLang="zh-CN" sz="2400" b="1" dirty="0" err="1">
                <a:solidFill>
                  <a:srgbClr val="FFFF00"/>
                </a:solidFill>
                <a:latin typeface="+mn-ea"/>
                <a:sym typeface="+mn-ea"/>
              </a:rPr>
              <a:t>n,m</a:t>
            </a:r>
            <a:r>
              <a:rPr lang="en-US" altLang="zh-CN" sz="2400" b="1" dirty="0" smtClean="0">
                <a:solidFill>
                  <a:schemeClr val="bg1"/>
                </a:solidFill>
                <a:latin typeface="+mn-ea"/>
                <a:sym typeface="+mn-ea"/>
              </a:rPr>
              <a:t>]</a:t>
            </a:r>
            <a:r>
              <a:rPr lang="zh-CN" altLang="en-US" sz="2400" b="1" dirty="0" smtClean="0">
                <a:solidFill>
                  <a:schemeClr val="bg1"/>
                </a:solidFill>
                <a:latin typeface="+mn-ea"/>
                <a:sym typeface="+mn-ea"/>
              </a:rPr>
              <a:t>，定义了每个进程尚需的各类资源数。</a:t>
            </a:r>
            <a:r>
              <a:rPr lang="en-US" altLang="zh-CN" sz="2400" b="1" dirty="0">
                <a:solidFill>
                  <a:schemeClr val="bg1"/>
                </a:solidFill>
                <a:latin typeface="+mn-ea"/>
                <a:sym typeface="+mn-ea"/>
              </a:rPr>
              <a:t> </a:t>
            </a:r>
            <a:r>
              <a:rPr lang="en-US" altLang="zh-CN" sz="2400" b="1" dirty="0" smtClean="0">
                <a:solidFill>
                  <a:schemeClr val="bg1"/>
                </a:solidFill>
                <a:latin typeface="+mn-ea"/>
                <a:sym typeface="+mn-ea"/>
              </a:rPr>
              <a:t>Need[</a:t>
            </a:r>
            <a:r>
              <a:rPr lang="en-US" altLang="zh-CN" sz="2400" b="1" dirty="0" err="1" smtClean="0">
                <a:solidFill>
                  <a:schemeClr val="bg1"/>
                </a:solidFill>
                <a:latin typeface="+mn-ea"/>
                <a:sym typeface="+mn-ea"/>
              </a:rPr>
              <a:t>i,j</a:t>
            </a:r>
            <a:r>
              <a:rPr lang="en-US" altLang="zh-CN" sz="2400" b="1" dirty="0">
                <a:solidFill>
                  <a:schemeClr val="bg1"/>
                </a:solidFill>
                <a:latin typeface="+mn-ea"/>
                <a:sym typeface="+mn-ea"/>
              </a:rPr>
              <a:t>]</a:t>
            </a:r>
            <a:r>
              <a:rPr lang="zh-CN" altLang="en-US" sz="2400" b="1" dirty="0">
                <a:solidFill>
                  <a:schemeClr val="bg1"/>
                </a:solidFill>
                <a:latin typeface="+mn-ea"/>
                <a:sym typeface="+mn-ea"/>
              </a:rPr>
              <a:t>表示进程</a:t>
            </a:r>
            <a:r>
              <a:rPr lang="en-US" altLang="zh-CN" sz="2400" b="1" dirty="0" err="1" smtClean="0">
                <a:solidFill>
                  <a:schemeClr val="bg1"/>
                </a:solidFill>
                <a:latin typeface="+mn-ea"/>
                <a:sym typeface="+mn-ea"/>
              </a:rPr>
              <a:t>i</a:t>
            </a:r>
            <a:r>
              <a:rPr lang="zh-CN" altLang="en-US" sz="2400" b="1" dirty="0" smtClean="0">
                <a:solidFill>
                  <a:schemeClr val="bg1"/>
                </a:solidFill>
                <a:latin typeface="+mn-ea"/>
                <a:sym typeface="+mn-ea"/>
              </a:rPr>
              <a:t>还需要</a:t>
            </a:r>
            <a:r>
              <a:rPr lang="en-US" altLang="zh-CN" sz="2400" b="1" dirty="0" err="1" smtClean="0">
                <a:solidFill>
                  <a:schemeClr val="bg1"/>
                </a:solidFill>
                <a:latin typeface="+mn-ea"/>
                <a:sym typeface="+mn-ea"/>
              </a:rPr>
              <a:t>R</a:t>
            </a:r>
            <a:r>
              <a:rPr lang="en-US" altLang="zh-CN" sz="2400" b="1" baseline="-25000" dirty="0" err="1" smtClean="0">
                <a:solidFill>
                  <a:schemeClr val="bg1"/>
                </a:solidFill>
                <a:latin typeface="+mn-ea"/>
                <a:sym typeface="+mn-ea"/>
              </a:rPr>
              <a:t>j</a:t>
            </a:r>
            <a:r>
              <a:rPr lang="zh-CN" altLang="en-US" sz="2400" b="1" dirty="0">
                <a:solidFill>
                  <a:schemeClr val="bg1"/>
                </a:solidFill>
                <a:latin typeface="+mn-ea"/>
                <a:sym typeface="+mn-ea"/>
              </a:rPr>
              <a:t>类资源的数目。</a:t>
            </a:r>
            <a:endParaRPr lang="en-US" altLang="zh-CN" sz="2400" b="1" dirty="0">
              <a:solidFill>
                <a:schemeClr val="bg1"/>
              </a:solidFill>
              <a:latin typeface="+mn-ea"/>
              <a:sym typeface="+mn-ea"/>
            </a:endParaRPr>
          </a:p>
        </p:txBody>
      </p:sp>
    </p:spTree>
    <p:extLst>
      <p:ext uri="{BB962C8B-B14F-4D97-AF65-F5344CB8AC3E}">
        <p14:creationId xmlns:p14="http://schemas.microsoft.com/office/powerpoint/2010/main" val="5660412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避免的典型算法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a:t>
            </a:r>
          </a:p>
        </p:txBody>
      </p:sp>
      <p:sp>
        <p:nvSpPr>
          <p:cNvPr id="2" name="矩形 1"/>
          <p:cNvSpPr/>
          <p:nvPr/>
        </p:nvSpPr>
        <p:spPr>
          <a:xfrm>
            <a:off x="589647" y="928081"/>
            <a:ext cx="7200800" cy="3785652"/>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sym typeface="+mn-ea"/>
              </a:rPr>
              <a:t>算法：</a:t>
            </a:r>
            <a:endParaRPr lang="en-US" altLang="zh-CN" sz="2000" b="1" dirty="0" smtClean="0">
              <a:solidFill>
                <a:schemeClr val="bg1"/>
              </a:solidFill>
              <a:latin typeface="+mn-ea"/>
              <a:sym typeface="+mn-ea"/>
            </a:endParaRPr>
          </a:p>
          <a:p>
            <a:pPr>
              <a:lnSpc>
                <a:spcPct val="120000"/>
              </a:lnSpc>
              <a:buClr>
                <a:schemeClr val="accent6">
                  <a:lumMod val="40000"/>
                  <a:lumOff val="60000"/>
                </a:schemeClr>
              </a:buClr>
            </a:pPr>
            <a:r>
              <a:rPr lang="zh-CN" altLang="en-US" sz="2000" b="1" dirty="0" smtClean="0">
                <a:solidFill>
                  <a:schemeClr val="bg1"/>
                </a:solidFill>
                <a:latin typeface="+mn-ea"/>
                <a:sym typeface="+mn-ea"/>
              </a:rPr>
              <a:t>（</a:t>
            </a:r>
            <a:r>
              <a:rPr lang="en-US" altLang="zh-CN" sz="2000" b="1" dirty="0" smtClean="0">
                <a:solidFill>
                  <a:schemeClr val="bg1"/>
                </a:solidFill>
                <a:latin typeface="+mn-ea"/>
                <a:sym typeface="+mn-ea"/>
              </a:rPr>
              <a:t>1</a:t>
            </a:r>
            <a:r>
              <a:rPr lang="zh-CN" altLang="en-US" sz="2000" b="1" dirty="0" smtClean="0">
                <a:solidFill>
                  <a:schemeClr val="bg1"/>
                </a:solidFill>
                <a:latin typeface="+mn-ea"/>
                <a:sym typeface="+mn-ea"/>
              </a:rPr>
              <a:t>）</a:t>
            </a:r>
            <a:r>
              <a:rPr lang="zh-CN" altLang="en-US" sz="2000" b="1" dirty="0" smtClean="0">
                <a:solidFill>
                  <a:srgbClr val="FFFF00"/>
                </a:solidFill>
                <a:latin typeface="+mn-ea"/>
                <a:sym typeface="+mn-ea"/>
              </a:rPr>
              <a:t>若</a:t>
            </a:r>
            <a:r>
              <a:rPr lang="en-US" altLang="zh-CN" sz="2000" b="1" dirty="0" err="1" smtClean="0">
                <a:solidFill>
                  <a:srgbClr val="FFFF00"/>
                </a:solidFill>
                <a:latin typeface="+mn-ea"/>
                <a:sym typeface="+mn-ea"/>
              </a:rPr>
              <a:t>Request</a:t>
            </a:r>
            <a:r>
              <a:rPr lang="en-US" altLang="zh-CN" sz="2000" b="1" baseline="-25000" dirty="0" err="1" smtClean="0">
                <a:solidFill>
                  <a:srgbClr val="FFFF00"/>
                </a:solidFill>
                <a:latin typeface="+mn-ea"/>
                <a:sym typeface="+mn-ea"/>
              </a:rPr>
              <a:t>i</a:t>
            </a:r>
            <a:r>
              <a:rPr lang="en-US" altLang="zh-CN" sz="2000" b="1" dirty="0" smtClean="0">
                <a:solidFill>
                  <a:srgbClr val="FFFF00"/>
                </a:solidFill>
                <a:latin typeface="+mn-ea"/>
                <a:sym typeface="+mn-ea"/>
              </a:rPr>
              <a:t>[j]≤Need[j],</a:t>
            </a:r>
            <a:r>
              <a:rPr lang="en-US" altLang="zh-CN" sz="2000" b="1" dirty="0" err="1" smtClean="0">
                <a:solidFill>
                  <a:srgbClr val="FFFF00"/>
                </a:solidFill>
                <a:latin typeface="+mn-ea"/>
                <a:sym typeface="+mn-ea"/>
              </a:rPr>
              <a:t>goto</a:t>
            </a:r>
            <a:r>
              <a:rPr lang="en-US" altLang="zh-CN" sz="2000" b="1" dirty="0" smtClean="0">
                <a:solidFill>
                  <a:srgbClr val="FFFF00"/>
                </a:solidFill>
                <a:latin typeface="+mn-ea"/>
                <a:sym typeface="+mn-ea"/>
              </a:rPr>
              <a:t> </a:t>
            </a:r>
            <a:r>
              <a:rPr lang="zh-CN" altLang="en-US" sz="2000" b="1" dirty="0" smtClean="0">
                <a:solidFill>
                  <a:srgbClr val="FFFF00"/>
                </a:solidFill>
                <a:latin typeface="+mn-ea"/>
                <a:sym typeface="+mn-ea"/>
              </a:rPr>
              <a:t>（</a:t>
            </a:r>
            <a:r>
              <a:rPr lang="en-US" altLang="zh-CN" sz="2000" b="1" dirty="0" smtClean="0">
                <a:solidFill>
                  <a:srgbClr val="FFFF00"/>
                </a:solidFill>
                <a:latin typeface="+mn-ea"/>
                <a:sym typeface="+mn-ea"/>
              </a:rPr>
              <a:t>2</a:t>
            </a:r>
            <a:r>
              <a:rPr lang="zh-CN" altLang="en-US" sz="2000" b="1" dirty="0" smtClean="0">
                <a:solidFill>
                  <a:srgbClr val="FFFF00"/>
                </a:solidFill>
                <a:latin typeface="+mn-ea"/>
                <a:sym typeface="+mn-ea"/>
              </a:rPr>
              <a:t>）；否则出错</a:t>
            </a:r>
            <a:r>
              <a:rPr lang="zh-CN" altLang="en-US" sz="2000" b="1" dirty="0" smtClean="0">
                <a:solidFill>
                  <a:schemeClr val="bg1"/>
                </a:solidFill>
                <a:latin typeface="+mn-ea"/>
                <a:sym typeface="+mn-ea"/>
              </a:rPr>
              <a:t>。</a:t>
            </a:r>
            <a:endParaRPr lang="en-US" altLang="zh-CN" sz="2000" b="1" dirty="0" smtClean="0">
              <a:solidFill>
                <a:schemeClr val="bg1"/>
              </a:solidFill>
              <a:latin typeface="+mn-ea"/>
              <a:sym typeface="+mn-ea"/>
            </a:endParaRPr>
          </a:p>
          <a:p>
            <a:pPr>
              <a:lnSpc>
                <a:spcPct val="120000"/>
              </a:lnSpc>
              <a:buClr>
                <a:schemeClr val="accent6">
                  <a:lumMod val="40000"/>
                  <a:lumOff val="60000"/>
                </a:schemeClr>
              </a:buClr>
            </a:pPr>
            <a:r>
              <a:rPr lang="zh-CN" altLang="en-US" sz="2000" b="1" dirty="0" smtClean="0">
                <a:solidFill>
                  <a:schemeClr val="bg1"/>
                </a:solidFill>
                <a:latin typeface="+mn-ea"/>
                <a:sym typeface="+mn-ea"/>
              </a:rPr>
              <a:t>（</a:t>
            </a:r>
            <a:r>
              <a:rPr lang="en-US" altLang="zh-CN" sz="2000" b="1" dirty="0" smtClean="0">
                <a:solidFill>
                  <a:schemeClr val="bg1"/>
                </a:solidFill>
                <a:latin typeface="+mn-ea"/>
                <a:sym typeface="+mn-ea"/>
              </a:rPr>
              <a:t>2</a:t>
            </a:r>
            <a:r>
              <a:rPr lang="zh-CN" altLang="en-US" sz="2000" b="1" dirty="0" smtClean="0">
                <a:solidFill>
                  <a:schemeClr val="bg1"/>
                </a:solidFill>
                <a:latin typeface="+mn-ea"/>
                <a:sym typeface="+mn-ea"/>
              </a:rPr>
              <a:t>）</a:t>
            </a:r>
            <a:r>
              <a:rPr lang="zh-CN" altLang="en-US" sz="2000" b="1" dirty="0">
                <a:solidFill>
                  <a:srgbClr val="FFFF00"/>
                </a:solidFill>
                <a:latin typeface="+mn-ea"/>
                <a:sym typeface="+mn-ea"/>
              </a:rPr>
              <a:t>若</a:t>
            </a:r>
            <a:r>
              <a:rPr lang="en-US" altLang="zh-CN" sz="2000" b="1" dirty="0" err="1" smtClean="0">
                <a:solidFill>
                  <a:srgbClr val="FFFF00"/>
                </a:solidFill>
                <a:latin typeface="+mn-ea"/>
                <a:sym typeface="+mn-ea"/>
              </a:rPr>
              <a:t>Request</a:t>
            </a:r>
            <a:r>
              <a:rPr lang="en-US" altLang="zh-CN" sz="2000" b="1" baseline="-25000" dirty="0" err="1">
                <a:solidFill>
                  <a:srgbClr val="FFFF00"/>
                </a:solidFill>
                <a:latin typeface="+mn-ea"/>
                <a:sym typeface="+mn-ea"/>
              </a:rPr>
              <a:t>i</a:t>
            </a:r>
            <a:r>
              <a:rPr lang="en-US" altLang="zh-CN" sz="2000" b="1" baseline="-25000" dirty="0">
                <a:solidFill>
                  <a:srgbClr val="FFFF00"/>
                </a:solidFill>
                <a:latin typeface="+mn-ea"/>
                <a:sym typeface="+mn-ea"/>
              </a:rPr>
              <a:t> </a:t>
            </a:r>
            <a:r>
              <a:rPr lang="en-US" altLang="zh-CN" sz="2000" b="1" dirty="0" smtClean="0">
                <a:solidFill>
                  <a:srgbClr val="FFFF00"/>
                </a:solidFill>
                <a:latin typeface="+mn-ea"/>
                <a:sym typeface="+mn-ea"/>
              </a:rPr>
              <a:t>[</a:t>
            </a:r>
            <a:r>
              <a:rPr lang="en-US" altLang="zh-CN" sz="2000" b="1" dirty="0">
                <a:solidFill>
                  <a:srgbClr val="FFFF00"/>
                </a:solidFill>
                <a:latin typeface="+mn-ea"/>
                <a:sym typeface="+mn-ea"/>
              </a:rPr>
              <a:t>j]</a:t>
            </a:r>
            <a:r>
              <a:rPr lang="en-US" altLang="zh-CN" sz="2000" b="1" dirty="0" smtClean="0">
                <a:solidFill>
                  <a:srgbClr val="FFFF00"/>
                </a:solidFill>
                <a:latin typeface="+mn-ea"/>
                <a:sym typeface="+mn-ea"/>
              </a:rPr>
              <a:t>≤Available[j</a:t>
            </a:r>
            <a:r>
              <a:rPr lang="en-US" altLang="zh-CN" sz="2000" b="1" dirty="0">
                <a:solidFill>
                  <a:srgbClr val="FFFF00"/>
                </a:solidFill>
                <a:latin typeface="+mn-ea"/>
                <a:sym typeface="+mn-ea"/>
              </a:rPr>
              <a:t>],</a:t>
            </a:r>
            <a:r>
              <a:rPr lang="en-US" altLang="zh-CN" sz="2000" b="1" dirty="0" err="1">
                <a:solidFill>
                  <a:srgbClr val="FFFF00"/>
                </a:solidFill>
                <a:latin typeface="+mn-ea"/>
                <a:sym typeface="+mn-ea"/>
              </a:rPr>
              <a:t>goto</a:t>
            </a:r>
            <a:r>
              <a:rPr lang="en-US" altLang="zh-CN" sz="2000" b="1" dirty="0">
                <a:solidFill>
                  <a:srgbClr val="FFFF00"/>
                </a:solidFill>
                <a:latin typeface="+mn-ea"/>
                <a:sym typeface="+mn-ea"/>
              </a:rPr>
              <a:t> </a:t>
            </a:r>
            <a:r>
              <a:rPr lang="zh-CN" altLang="en-US" sz="2000" b="1" dirty="0" smtClean="0">
                <a:solidFill>
                  <a:srgbClr val="FFFF00"/>
                </a:solidFill>
                <a:latin typeface="+mn-ea"/>
                <a:sym typeface="+mn-ea"/>
              </a:rPr>
              <a:t>（</a:t>
            </a:r>
            <a:r>
              <a:rPr lang="en-US" altLang="zh-CN" sz="2000" b="1" dirty="0" smtClean="0">
                <a:solidFill>
                  <a:srgbClr val="FFFF00"/>
                </a:solidFill>
                <a:latin typeface="+mn-ea"/>
                <a:sym typeface="+mn-ea"/>
              </a:rPr>
              <a:t>3</a:t>
            </a:r>
            <a:r>
              <a:rPr lang="zh-CN" altLang="en-US" sz="2000" b="1" dirty="0" smtClean="0">
                <a:solidFill>
                  <a:srgbClr val="FFFF00"/>
                </a:solidFill>
                <a:latin typeface="+mn-ea"/>
                <a:sym typeface="+mn-ea"/>
              </a:rPr>
              <a:t>）</a:t>
            </a:r>
            <a:r>
              <a:rPr lang="zh-CN" altLang="en-US" sz="2000" b="1" dirty="0">
                <a:solidFill>
                  <a:srgbClr val="FFFF00"/>
                </a:solidFill>
                <a:latin typeface="+mn-ea"/>
                <a:sym typeface="+mn-ea"/>
              </a:rPr>
              <a:t>；</a:t>
            </a:r>
            <a:r>
              <a:rPr lang="zh-CN" altLang="en-US" sz="2000" b="1" dirty="0" smtClean="0">
                <a:solidFill>
                  <a:srgbClr val="FFFF00"/>
                </a:solidFill>
                <a:latin typeface="+mn-ea"/>
                <a:sym typeface="+mn-ea"/>
              </a:rPr>
              <a:t>否则尚无资源</a:t>
            </a:r>
            <a:r>
              <a:rPr lang="en-US" altLang="zh-CN" sz="2000" b="1" dirty="0" smtClean="0">
                <a:solidFill>
                  <a:srgbClr val="FFFF00"/>
                </a:solidFill>
                <a:latin typeface="+mn-ea"/>
                <a:sym typeface="+mn-ea"/>
              </a:rPr>
              <a:t>P</a:t>
            </a:r>
            <a:r>
              <a:rPr lang="en-US" altLang="zh-CN" sz="2000" b="1" baseline="-25000" dirty="0">
                <a:solidFill>
                  <a:srgbClr val="FFFF00"/>
                </a:solidFill>
                <a:latin typeface="+mn-ea"/>
                <a:sym typeface="+mn-ea"/>
              </a:rPr>
              <a:t>i</a:t>
            </a:r>
            <a:r>
              <a:rPr lang="zh-CN" altLang="en-US" sz="2000" b="1" dirty="0" smtClean="0">
                <a:solidFill>
                  <a:srgbClr val="FFFF00"/>
                </a:solidFill>
                <a:latin typeface="+mn-ea"/>
                <a:sym typeface="+mn-ea"/>
              </a:rPr>
              <a:t>需等待</a:t>
            </a:r>
            <a:r>
              <a:rPr lang="zh-CN" altLang="en-US" sz="2000" b="1" dirty="0" smtClean="0">
                <a:solidFill>
                  <a:schemeClr val="bg1"/>
                </a:solidFill>
                <a:latin typeface="+mn-ea"/>
                <a:sym typeface="+mn-ea"/>
              </a:rPr>
              <a:t>。</a:t>
            </a:r>
            <a:endParaRPr lang="en-US" altLang="zh-CN" sz="2000" b="1" dirty="0" smtClean="0">
              <a:solidFill>
                <a:schemeClr val="bg1"/>
              </a:solidFill>
              <a:latin typeface="+mn-ea"/>
              <a:sym typeface="+mn-ea"/>
            </a:endParaRPr>
          </a:p>
          <a:p>
            <a:pPr>
              <a:lnSpc>
                <a:spcPct val="120000"/>
              </a:lnSpc>
              <a:buClr>
                <a:schemeClr val="accent6">
                  <a:lumMod val="40000"/>
                  <a:lumOff val="60000"/>
                </a:schemeClr>
              </a:buClr>
            </a:pPr>
            <a:r>
              <a:rPr lang="zh-CN" altLang="en-US" sz="2000" b="1" dirty="0" smtClean="0">
                <a:solidFill>
                  <a:schemeClr val="bg1"/>
                </a:solidFill>
                <a:latin typeface="+mn-ea"/>
                <a:sym typeface="+mn-ea"/>
              </a:rPr>
              <a:t>（</a:t>
            </a:r>
            <a:r>
              <a:rPr lang="en-US" altLang="zh-CN" sz="2000" b="1" dirty="0" smtClean="0">
                <a:solidFill>
                  <a:schemeClr val="bg1"/>
                </a:solidFill>
                <a:latin typeface="+mn-ea"/>
                <a:sym typeface="+mn-ea"/>
              </a:rPr>
              <a:t>3</a:t>
            </a:r>
            <a:r>
              <a:rPr lang="zh-CN" altLang="en-US" sz="2000" b="1" dirty="0" smtClean="0">
                <a:solidFill>
                  <a:schemeClr val="bg1"/>
                </a:solidFill>
                <a:latin typeface="+mn-ea"/>
                <a:sym typeface="+mn-ea"/>
              </a:rPr>
              <a:t>）</a:t>
            </a:r>
            <a:r>
              <a:rPr lang="zh-CN" altLang="en-US" sz="2000" b="1" dirty="0" smtClean="0">
                <a:solidFill>
                  <a:srgbClr val="FFFF00"/>
                </a:solidFill>
                <a:latin typeface="+mn-ea"/>
                <a:sym typeface="+mn-ea"/>
              </a:rPr>
              <a:t>系统试探把资源分配给进程</a:t>
            </a:r>
            <a:r>
              <a:rPr lang="en-US" altLang="zh-CN" sz="2000" b="1" dirty="0" smtClean="0">
                <a:solidFill>
                  <a:srgbClr val="FFFF00"/>
                </a:solidFill>
                <a:latin typeface="+mn-ea"/>
                <a:sym typeface="+mn-ea"/>
              </a:rPr>
              <a:t>P</a:t>
            </a:r>
            <a:r>
              <a:rPr lang="en-US" altLang="zh-CN" sz="2000" b="1" baseline="-25000" dirty="0">
                <a:solidFill>
                  <a:srgbClr val="FFFF00"/>
                </a:solidFill>
                <a:latin typeface="+mn-ea"/>
                <a:sym typeface="+mn-ea"/>
              </a:rPr>
              <a:t>i</a:t>
            </a:r>
            <a:r>
              <a:rPr lang="zh-CN" altLang="en-US" sz="2000" b="1" dirty="0" smtClean="0">
                <a:solidFill>
                  <a:schemeClr val="bg1"/>
                </a:solidFill>
                <a:latin typeface="+mn-ea"/>
                <a:sym typeface="+mn-ea"/>
              </a:rPr>
              <a:t>，并且</a:t>
            </a:r>
            <a:endParaRPr lang="en-US" altLang="zh-CN" sz="2000" b="1" dirty="0" smtClean="0">
              <a:solidFill>
                <a:schemeClr val="bg1"/>
              </a:solidFill>
              <a:latin typeface="+mn-ea"/>
              <a:sym typeface="+mn-ea"/>
            </a:endParaRPr>
          </a:p>
          <a:p>
            <a:pPr>
              <a:lnSpc>
                <a:spcPct val="120000"/>
              </a:lnSpc>
              <a:buClr>
                <a:schemeClr val="accent6">
                  <a:lumMod val="40000"/>
                  <a:lumOff val="60000"/>
                </a:schemeClr>
              </a:buClr>
            </a:pPr>
            <a:r>
              <a:rPr lang="en-US" altLang="zh-CN" sz="2000" b="1" dirty="0">
                <a:solidFill>
                  <a:schemeClr val="bg1"/>
                </a:solidFill>
                <a:latin typeface="+mn-ea"/>
                <a:sym typeface="+mn-ea"/>
              </a:rPr>
              <a:t> </a:t>
            </a:r>
            <a:r>
              <a:rPr lang="en-US" altLang="zh-CN" sz="2000" b="1" dirty="0" smtClean="0">
                <a:solidFill>
                  <a:schemeClr val="bg1"/>
                </a:solidFill>
                <a:latin typeface="+mn-ea"/>
                <a:sym typeface="+mn-ea"/>
              </a:rPr>
              <a:t>    </a:t>
            </a:r>
            <a:r>
              <a:rPr lang="en-US" altLang="zh-CN" sz="2000" b="1" dirty="0">
                <a:solidFill>
                  <a:srgbClr val="FFFF00"/>
                </a:solidFill>
                <a:latin typeface="+mn-ea"/>
                <a:sym typeface="+mn-ea"/>
              </a:rPr>
              <a:t>Available[j</a:t>
            </a:r>
            <a:r>
              <a:rPr lang="en-US" altLang="zh-CN" sz="2000" b="1" dirty="0" smtClean="0">
                <a:solidFill>
                  <a:srgbClr val="FFFF00"/>
                </a:solidFill>
                <a:latin typeface="+mn-ea"/>
                <a:sym typeface="+mn-ea"/>
              </a:rPr>
              <a:t>]=</a:t>
            </a:r>
            <a:r>
              <a:rPr lang="en-US" altLang="zh-CN" sz="2000" b="1" dirty="0">
                <a:solidFill>
                  <a:srgbClr val="FFFF00"/>
                </a:solidFill>
                <a:latin typeface="+mn-ea"/>
                <a:sym typeface="+mn-ea"/>
              </a:rPr>
              <a:t>Available[j</a:t>
            </a:r>
            <a:r>
              <a:rPr lang="en-US" altLang="zh-CN" sz="2000" b="1" dirty="0" smtClean="0">
                <a:solidFill>
                  <a:srgbClr val="FFFF00"/>
                </a:solidFill>
                <a:latin typeface="+mn-ea"/>
                <a:sym typeface="+mn-ea"/>
              </a:rPr>
              <a:t>]-</a:t>
            </a:r>
            <a:r>
              <a:rPr lang="en-US" altLang="zh-CN" sz="2000" b="1" dirty="0">
                <a:solidFill>
                  <a:srgbClr val="FFFF00"/>
                </a:solidFill>
                <a:latin typeface="+mn-ea"/>
                <a:sym typeface="+mn-ea"/>
              </a:rPr>
              <a:t> </a:t>
            </a:r>
            <a:r>
              <a:rPr lang="en-US" altLang="zh-CN" sz="2000" b="1" dirty="0" err="1">
                <a:solidFill>
                  <a:srgbClr val="FFFF00"/>
                </a:solidFill>
                <a:latin typeface="+mn-ea"/>
                <a:sym typeface="+mn-ea"/>
              </a:rPr>
              <a:t>Request</a:t>
            </a:r>
            <a:r>
              <a:rPr lang="en-US" altLang="zh-CN" sz="2000" b="1" baseline="-25000" dirty="0" err="1">
                <a:solidFill>
                  <a:srgbClr val="FFFF00"/>
                </a:solidFill>
                <a:latin typeface="+mn-ea"/>
                <a:sym typeface="+mn-ea"/>
              </a:rPr>
              <a:t>i</a:t>
            </a:r>
            <a:r>
              <a:rPr lang="en-US" altLang="zh-CN" sz="2000" b="1" baseline="-25000" dirty="0">
                <a:solidFill>
                  <a:srgbClr val="FFFF00"/>
                </a:solidFill>
                <a:latin typeface="+mn-ea"/>
                <a:sym typeface="+mn-ea"/>
              </a:rPr>
              <a:t> </a:t>
            </a:r>
            <a:r>
              <a:rPr lang="en-US" altLang="zh-CN" sz="2000" b="1" dirty="0">
                <a:solidFill>
                  <a:srgbClr val="FFFF00"/>
                </a:solidFill>
                <a:latin typeface="+mn-ea"/>
                <a:sym typeface="+mn-ea"/>
              </a:rPr>
              <a:t>[j</a:t>
            </a:r>
            <a:r>
              <a:rPr lang="en-US" altLang="zh-CN" sz="2000" b="1" dirty="0" smtClean="0">
                <a:solidFill>
                  <a:srgbClr val="FFFF00"/>
                </a:solidFill>
                <a:latin typeface="+mn-ea"/>
                <a:sym typeface="+mn-ea"/>
              </a:rPr>
              <a:t>]</a:t>
            </a:r>
            <a:r>
              <a:rPr lang="zh-CN" altLang="en-US" sz="2000" b="1" dirty="0" smtClean="0">
                <a:solidFill>
                  <a:schemeClr val="bg1"/>
                </a:solidFill>
                <a:latin typeface="+mn-ea"/>
                <a:sym typeface="+mn-ea"/>
              </a:rPr>
              <a:t>；</a:t>
            </a:r>
            <a:endParaRPr lang="en-US" altLang="zh-CN" sz="2000" b="1" dirty="0" smtClean="0">
              <a:solidFill>
                <a:schemeClr val="bg1"/>
              </a:solidFill>
              <a:latin typeface="+mn-ea"/>
              <a:sym typeface="+mn-ea"/>
            </a:endParaRPr>
          </a:p>
          <a:p>
            <a:pPr>
              <a:lnSpc>
                <a:spcPct val="120000"/>
              </a:lnSpc>
              <a:buClr>
                <a:schemeClr val="accent6">
                  <a:lumMod val="40000"/>
                  <a:lumOff val="60000"/>
                </a:schemeClr>
              </a:buClr>
            </a:pPr>
            <a:r>
              <a:rPr lang="en-US" altLang="zh-CN" sz="2000" b="1" dirty="0">
                <a:solidFill>
                  <a:schemeClr val="bg1"/>
                </a:solidFill>
                <a:latin typeface="+mn-ea"/>
                <a:sym typeface="+mn-ea"/>
              </a:rPr>
              <a:t> </a:t>
            </a:r>
            <a:r>
              <a:rPr lang="en-US" altLang="zh-CN" sz="2000" b="1" dirty="0" smtClean="0">
                <a:solidFill>
                  <a:schemeClr val="bg1"/>
                </a:solidFill>
                <a:latin typeface="+mn-ea"/>
                <a:sym typeface="+mn-ea"/>
              </a:rPr>
              <a:t>    </a:t>
            </a:r>
            <a:r>
              <a:rPr lang="en-US" altLang="zh-CN" sz="2000" b="1" dirty="0" smtClean="0">
                <a:solidFill>
                  <a:srgbClr val="FFFF00"/>
                </a:solidFill>
                <a:latin typeface="+mn-ea"/>
                <a:sym typeface="+mn-ea"/>
              </a:rPr>
              <a:t>Allocation[</a:t>
            </a:r>
            <a:r>
              <a:rPr lang="en-US" altLang="zh-CN" sz="2000" b="1" dirty="0" err="1" smtClean="0">
                <a:solidFill>
                  <a:srgbClr val="FFFF00"/>
                </a:solidFill>
                <a:latin typeface="+mn-ea"/>
                <a:sym typeface="+mn-ea"/>
              </a:rPr>
              <a:t>i,j</a:t>
            </a:r>
            <a:r>
              <a:rPr lang="en-US" altLang="zh-CN" sz="2000" b="1" dirty="0" smtClean="0">
                <a:solidFill>
                  <a:srgbClr val="FFFF00"/>
                </a:solidFill>
                <a:latin typeface="+mn-ea"/>
                <a:sym typeface="+mn-ea"/>
              </a:rPr>
              <a:t>]=</a:t>
            </a:r>
            <a:r>
              <a:rPr lang="en-US" altLang="zh-CN" sz="2000" b="1" dirty="0">
                <a:solidFill>
                  <a:srgbClr val="FFFF00"/>
                </a:solidFill>
                <a:latin typeface="+mn-ea"/>
                <a:sym typeface="+mn-ea"/>
              </a:rPr>
              <a:t>Allocation[</a:t>
            </a:r>
            <a:r>
              <a:rPr lang="en-US" altLang="zh-CN" sz="2000" b="1" dirty="0" err="1">
                <a:solidFill>
                  <a:srgbClr val="FFFF00"/>
                </a:solidFill>
                <a:latin typeface="+mn-ea"/>
                <a:sym typeface="+mn-ea"/>
              </a:rPr>
              <a:t>i,j</a:t>
            </a:r>
            <a:r>
              <a:rPr lang="en-US" altLang="zh-CN" sz="2000" b="1" dirty="0" smtClean="0">
                <a:solidFill>
                  <a:srgbClr val="FFFF00"/>
                </a:solidFill>
                <a:latin typeface="+mn-ea"/>
                <a:sym typeface="+mn-ea"/>
              </a:rPr>
              <a:t>]+</a:t>
            </a:r>
            <a:r>
              <a:rPr lang="en-US" altLang="zh-CN" sz="2000" b="1" dirty="0">
                <a:solidFill>
                  <a:srgbClr val="FFFF00"/>
                </a:solidFill>
                <a:latin typeface="+mn-ea"/>
                <a:sym typeface="+mn-ea"/>
              </a:rPr>
              <a:t> </a:t>
            </a:r>
            <a:r>
              <a:rPr lang="en-US" altLang="zh-CN" sz="2000" b="1" dirty="0" err="1">
                <a:solidFill>
                  <a:srgbClr val="FFFF00"/>
                </a:solidFill>
                <a:latin typeface="+mn-ea"/>
                <a:sym typeface="+mn-ea"/>
              </a:rPr>
              <a:t>Request</a:t>
            </a:r>
            <a:r>
              <a:rPr lang="en-US" altLang="zh-CN" sz="2000" b="1" baseline="-25000" dirty="0" err="1">
                <a:solidFill>
                  <a:srgbClr val="FFFF00"/>
                </a:solidFill>
                <a:latin typeface="+mn-ea"/>
                <a:sym typeface="+mn-ea"/>
              </a:rPr>
              <a:t>i</a:t>
            </a:r>
            <a:r>
              <a:rPr lang="en-US" altLang="zh-CN" sz="2000" b="1" baseline="-25000" dirty="0">
                <a:solidFill>
                  <a:srgbClr val="FFFF00"/>
                </a:solidFill>
                <a:latin typeface="+mn-ea"/>
                <a:sym typeface="+mn-ea"/>
              </a:rPr>
              <a:t> </a:t>
            </a:r>
            <a:r>
              <a:rPr lang="en-US" altLang="zh-CN" sz="2000" b="1" dirty="0">
                <a:solidFill>
                  <a:srgbClr val="FFFF00"/>
                </a:solidFill>
                <a:latin typeface="+mn-ea"/>
                <a:sym typeface="+mn-ea"/>
              </a:rPr>
              <a:t>[j</a:t>
            </a:r>
            <a:r>
              <a:rPr lang="en-US" altLang="zh-CN" sz="2000" b="1" dirty="0" smtClean="0">
                <a:solidFill>
                  <a:srgbClr val="FFFF00"/>
                </a:solidFill>
                <a:latin typeface="+mn-ea"/>
                <a:sym typeface="+mn-ea"/>
              </a:rPr>
              <a:t>]</a:t>
            </a:r>
            <a:r>
              <a:rPr lang="zh-CN" altLang="en-US" sz="2000" b="1" dirty="0" smtClean="0">
                <a:solidFill>
                  <a:srgbClr val="FFFF00"/>
                </a:solidFill>
                <a:latin typeface="+mn-ea"/>
                <a:sym typeface="+mn-ea"/>
              </a:rPr>
              <a:t>；</a:t>
            </a:r>
            <a:endParaRPr lang="en-US" altLang="zh-CN" sz="2000" b="1" dirty="0" smtClean="0">
              <a:solidFill>
                <a:srgbClr val="FFFF00"/>
              </a:solidFill>
              <a:latin typeface="+mn-ea"/>
              <a:sym typeface="+mn-ea"/>
            </a:endParaRPr>
          </a:p>
          <a:p>
            <a:pPr>
              <a:lnSpc>
                <a:spcPct val="120000"/>
              </a:lnSpc>
              <a:buClr>
                <a:schemeClr val="accent6">
                  <a:lumMod val="40000"/>
                  <a:lumOff val="60000"/>
                </a:schemeClr>
              </a:buClr>
            </a:pPr>
            <a:r>
              <a:rPr lang="en-US" altLang="zh-CN" sz="2000" b="1" dirty="0" smtClean="0">
                <a:solidFill>
                  <a:srgbClr val="FFFF00"/>
                </a:solidFill>
                <a:latin typeface="+mn-ea"/>
                <a:sym typeface="+mn-ea"/>
              </a:rPr>
              <a:t>     Need[</a:t>
            </a:r>
            <a:r>
              <a:rPr lang="en-US" altLang="zh-CN" sz="2000" b="1" dirty="0" err="1" smtClean="0">
                <a:solidFill>
                  <a:srgbClr val="FFFF00"/>
                </a:solidFill>
                <a:latin typeface="+mn-ea"/>
                <a:sym typeface="+mn-ea"/>
              </a:rPr>
              <a:t>i,j</a:t>
            </a:r>
            <a:r>
              <a:rPr lang="en-US" altLang="zh-CN" sz="2000" b="1" dirty="0" smtClean="0">
                <a:solidFill>
                  <a:srgbClr val="FFFF00"/>
                </a:solidFill>
                <a:latin typeface="+mn-ea"/>
                <a:sym typeface="+mn-ea"/>
              </a:rPr>
              <a:t>]=</a:t>
            </a:r>
            <a:r>
              <a:rPr lang="en-US" altLang="zh-CN" sz="2000" b="1" dirty="0">
                <a:solidFill>
                  <a:srgbClr val="FFFF00"/>
                </a:solidFill>
                <a:latin typeface="+mn-ea"/>
                <a:sym typeface="+mn-ea"/>
              </a:rPr>
              <a:t>Need[</a:t>
            </a:r>
            <a:r>
              <a:rPr lang="en-US" altLang="zh-CN" sz="2000" b="1" dirty="0" err="1">
                <a:solidFill>
                  <a:srgbClr val="FFFF00"/>
                </a:solidFill>
                <a:latin typeface="+mn-ea"/>
                <a:sym typeface="+mn-ea"/>
              </a:rPr>
              <a:t>i,j</a:t>
            </a:r>
            <a:r>
              <a:rPr lang="en-US" altLang="zh-CN" sz="2000" b="1" dirty="0" smtClean="0">
                <a:solidFill>
                  <a:srgbClr val="FFFF00"/>
                </a:solidFill>
                <a:latin typeface="+mn-ea"/>
                <a:sym typeface="+mn-ea"/>
              </a:rPr>
              <a:t>]-</a:t>
            </a:r>
            <a:r>
              <a:rPr lang="en-US" altLang="zh-CN" sz="2000" b="1" dirty="0">
                <a:solidFill>
                  <a:srgbClr val="FFFF00"/>
                </a:solidFill>
                <a:latin typeface="+mn-ea"/>
                <a:sym typeface="+mn-ea"/>
              </a:rPr>
              <a:t> </a:t>
            </a:r>
            <a:r>
              <a:rPr lang="en-US" altLang="zh-CN" sz="2000" b="1" dirty="0" err="1">
                <a:solidFill>
                  <a:srgbClr val="FFFF00"/>
                </a:solidFill>
                <a:latin typeface="+mn-ea"/>
                <a:sym typeface="+mn-ea"/>
              </a:rPr>
              <a:t>Request</a:t>
            </a:r>
            <a:r>
              <a:rPr lang="en-US" altLang="zh-CN" sz="2000" b="1" baseline="-25000" dirty="0" err="1">
                <a:solidFill>
                  <a:srgbClr val="FFFF00"/>
                </a:solidFill>
                <a:latin typeface="+mn-ea"/>
                <a:sym typeface="+mn-ea"/>
              </a:rPr>
              <a:t>i</a:t>
            </a:r>
            <a:r>
              <a:rPr lang="en-US" altLang="zh-CN" sz="2000" b="1" baseline="-25000" dirty="0">
                <a:solidFill>
                  <a:srgbClr val="FFFF00"/>
                </a:solidFill>
                <a:latin typeface="+mn-ea"/>
                <a:sym typeface="+mn-ea"/>
              </a:rPr>
              <a:t> </a:t>
            </a:r>
            <a:r>
              <a:rPr lang="en-US" altLang="zh-CN" sz="2000" b="1" dirty="0">
                <a:solidFill>
                  <a:srgbClr val="FFFF00"/>
                </a:solidFill>
                <a:latin typeface="+mn-ea"/>
                <a:sym typeface="+mn-ea"/>
              </a:rPr>
              <a:t>[j</a:t>
            </a:r>
            <a:r>
              <a:rPr lang="en-US" altLang="zh-CN" sz="2000" b="1" dirty="0" smtClean="0">
                <a:solidFill>
                  <a:srgbClr val="FFFF00"/>
                </a:solidFill>
                <a:latin typeface="+mn-ea"/>
                <a:sym typeface="+mn-ea"/>
              </a:rPr>
              <a:t>]</a:t>
            </a:r>
            <a:r>
              <a:rPr lang="zh-CN" altLang="en-US" sz="2000" b="1" dirty="0" smtClean="0">
                <a:solidFill>
                  <a:srgbClr val="FFFF00"/>
                </a:solidFill>
                <a:latin typeface="+mn-ea"/>
                <a:sym typeface="+mn-ea"/>
              </a:rPr>
              <a:t>。</a:t>
            </a:r>
            <a:endParaRPr lang="en-US" altLang="zh-CN" sz="2000" b="1" dirty="0" smtClean="0">
              <a:solidFill>
                <a:srgbClr val="FFFF00"/>
              </a:solidFill>
              <a:latin typeface="+mn-ea"/>
              <a:sym typeface="+mn-ea"/>
            </a:endParaRPr>
          </a:p>
          <a:p>
            <a:pPr>
              <a:lnSpc>
                <a:spcPct val="120000"/>
              </a:lnSpc>
              <a:buClr>
                <a:schemeClr val="accent6">
                  <a:lumMod val="40000"/>
                  <a:lumOff val="60000"/>
                </a:schemeClr>
              </a:buClr>
            </a:pPr>
            <a:r>
              <a:rPr lang="zh-CN" altLang="en-US" sz="2000" b="1" dirty="0">
                <a:solidFill>
                  <a:schemeClr val="bg1"/>
                </a:solidFill>
                <a:latin typeface="+mn-ea"/>
                <a:sym typeface="+mn-ea"/>
              </a:rPr>
              <a:t>（</a:t>
            </a:r>
            <a:r>
              <a:rPr lang="en-US" altLang="zh-CN" sz="2000" b="1" dirty="0">
                <a:solidFill>
                  <a:schemeClr val="bg1"/>
                </a:solidFill>
                <a:latin typeface="+mn-ea"/>
                <a:sym typeface="+mn-ea"/>
              </a:rPr>
              <a:t>4</a:t>
            </a:r>
            <a:r>
              <a:rPr lang="zh-CN" altLang="en-US" sz="2000" b="1" dirty="0" smtClean="0">
                <a:solidFill>
                  <a:schemeClr val="bg1"/>
                </a:solidFill>
                <a:latin typeface="+mn-ea"/>
                <a:sym typeface="+mn-ea"/>
              </a:rPr>
              <a:t>）系统</a:t>
            </a:r>
            <a:r>
              <a:rPr lang="zh-CN" altLang="en-US" sz="2000" b="1" dirty="0" smtClean="0">
                <a:solidFill>
                  <a:srgbClr val="FFFF00"/>
                </a:solidFill>
                <a:latin typeface="+mn-ea"/>
                <a:sym typeface="+mn-ea"/>
              </a:rPr>
              <a:t>执行安全性算法</a:t>
            </a:r>
            <a:r>
              <a:rPr lang="zh-CN" altLang="en-US" sz="2000" b="1" dirty="0" smtClean="0">
                <a:solidFill>
                  <a:schemeClr val="bg1"/>
                </a:solidFill>
                <a:latin typeface="+mn-ea"/>
                <a:sym typeface="+mn-ea"/>
              </a:rPr>
              <a:t>用于判定试探分配后是否处于安全状态，所示则正式分配，若否则分配作废，恢复原资源状态</a:t>
            </a:r>
            <a:endParaRPr lang="en-US" altLang="zh-CN" sz="2000" b="1" dirty="0">
              <a:solidFill>
                <a:schemeClr val="bg1"/>
              </a:solidFill>
              <a:latin typeface="+mn-ea"/>
              <a:sym typeface="+mn-ea"/>
            </a:endParaRPr>
          </a:p>
        </p:txBody>
      </p:sp>
    </p:spTree>
    <p:extLst>
      <p:ext uri="{BB962C8B-B14F-4D97-AF65-F5344CB8AC3E}">
        <p14:creationId xmlns:p14="http://schemas.microsoft.com/office/powerpoint/2010/main" val="12386356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left)">
                                      <p:cBhvr>
                                        <p:cTn id="21" dur="500"/>
                                        <p:tgtEl>
                                          <p:spTgt spid="2">
                                            <p:txEl>
                                              <p:pRg st="4" end="4"/>
                                            </p:txEl>
                                          </p:spTgt>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wipe(left)">
                                      <p:cBhvr>
                                        <p:cTn id="29" dur="500"/>
                                        <p:tgtEl>
                                          <p:spTgt spid="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wipe(left)">
                                      <p:cBhvr>
                                        <p:cTn id="34"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安全性算法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928081"/>
            <a:ext cx="4320481" cy="4081117"/>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b="1" dirty="0" smtClean="0">
                <a:solidFill>
                  <a:schemeClr val="bg1"/>
                </a:solidFill>
                <a:latin typeface="+mn-ea"/>
                <a:sym typeface="+mn-ea"/>
              </a:rPr>
              <a:t>算法：</a:t>
            </a:r>
            <a:endParaRPr lang="en-US" altLang="zh-CN" b="1" dirty="0" smtClean="0">
              <a:solidFill>
                <a:schemeClr val="bg1"/>
              </a:solidFill>
              <a:latin typeface="+mn-ea"/>
              <a:sym typeface="+mn-ea"/>
            </a:endParaRPr>
          </a:p>
          <a:p>
            <a:pPr>
              <a:lnSpc>
                <a:spcPct val="120000"/>
              </a:lnSpc>
              <a:buClr>
                <a:schemeClr val="accent6">
                  <a:lumMod val="40000"/>
                  <a:lumOff val="60000"/>
                </a:schemeClr>
              </a:buClr>
            </a:pPr>
            <a:r>
              <a:rPr lang="zh-CN" altLang="en-US" b="1" dirty="0" smtClean="0">
                <a:solidFill>
                  <a:schemeClr val="bg1"/>
                </a:solidFill>
                <a:latin typeface="+mn-ea"/>
                <a:sym typeface="+mn-ea"/>
              </a:rPr>
              <a:t>（</a:t>
            </a:r>
            <a:r>
              <a:rPr lang="en-US" altLang="zh-CN" b="1" dirty="0" smtClean="0">
                <a:solidFill>
                  <a:schemeClr val="bg1"/>
                </a:solidFill>
                <a:latin typeface="+mn-ea"/>
                <a:sym typeface="+mn-ea"/>
              </a:rPr>
              <a:t>1</a:t>
            </a:r>
            <a:r>
              <a:rPr lang="zh-CN" altLang="en-US" b="1" dirty="0" smtClean="0">
                <a:solidFill>
                  <a:schemeClr val="bg1"/>
                </a:solidFill>
                <a:latin typeface="+mn-ea"/>
                <a:sym typeface="+mn-ea"/>
              </a:rPr>
              <a:t>）设置</a:t>
            </a:r>
            <a:r>
              <a:rPr lang="zh-CN" altLang="en-US" b="1" dirty="0" smtClean="0">
                <a:solidFill>
                  <a:srgbClr val="FFFF00"/>
                </a:solidFill>
                <a:latin typeface="+mn-ea"/>
                <a:sym typeface="+mn-ea"/>
              </a:rPr>
              <a:t>工作向量</a:t>
            </a:r>
            <a:r>
              <a:rPr lang="en-US" altLang="zh-CN" b="1" dirty="0" smtClean="0">
                <a:solidFill>
                  <a:srgbClr val="FFFF00"/>
                </a:solidFill>
                <a:latin typeface="+mn-ea"/>
                <a:sym typeface="+mn-ea"/>
              </a:rPr>
              <a:t>Work</a:t>
            </a:r>
            <a:r>
              <a:rPr lang="zh-CN" altLang="en-US" b="1" dirty="0" smtClean="0">
                <a:solidFill>
                  <a:schemeClr val="bg1"/>
                </a:solidFill>
                <a:latin typeface="+mn-ea"/>
                <a:sym typeface="+mn-ea"/>
              </a:rPr>
              <a:t>，表示系统可提供给进程继续运行所需的各类资源数目。</a:t>
            </a:r>
            <a:r>
              <a:rPr lang="zh-CN" altLang="en-US" b="1" dirty="0" smtClean="0">
                <a:solidFill>
                  <a:srgbClr val="FFFF00"/>
                </a:solidFill>
                <a:latin typeface="+mn-ea"/>
                <a:sym typeface="+mn-ea"/>
              </a:rPr>
              <a:t>初始值</a:t>
            </a:r>
            <a:r>
              <a:rPr lang="en-US" altLang="zh-CN" b="1" dirty="0" smtClean="0">
                <a:solidFill>
                  <a:srgbClr val="FFFF00"/>
                </a:solidFill>
                <a:latin typeface="+mn-ea"/>
                <a:sym typeface="+mn-ea"/>
              </a:rPr>
              <a:t>Work=Available</a:t>
            </a:r>
            <a:r>
              <a:rPr lang="zh-CN" altLang="en-US" b="1" dirty="0" smtClean="0">
                <a:solidFill>
                  <a:srgbClr val="FFFF00"/>
                </a:solidFill>
                <a:latin typeface="+mn-ea"/>
                <a:sym typeface="+mn-ea"/>
              </a:rPr>
              <a:t>；</a:t>
            </a:r>
            <a:r>
              <a:rPr lang="zh-CN" altLang="en-US" b="1" dirty="0" smtClean="0">
                <a:solidFill>
                  <a:schemeClr val="bg1"/>
                </a:solidFill>
                <a:latin typeface="+mn-ea"/>
                <a:sym typeface="+mn-ea"/>
              </a:rPr>
              <a:t>设置</a:t>
            </a:r>
            <a:r>
              <a:rPr lang="zh-CN" altLang="en-US" b="1" dirty="0" smtClean="0">
                <a:solidFill>
                  <a:srgbClr val="FFFF00"/>
                </a:solidFill>
                <a:latin typeface="+mn-ea"/>
                <a:sym typeface="+mn-ea"/>
              </a:rPr>
              <a:t>完成向量</a:t>
            </a:r>
            <a:r>
              <a:rPr lang="en-US" altLang="zh-CN" b="1" dirty="0" smtClean="0">
                <a:solidFill>
                  <a:srgbClr val="FFFF00"/>
                </a:solidFill>
                <a:latin typeface="+mn-ea"/>
                <a:sym typeface="+mn-ea"/>
              </a:rPr>
              <a:t>Finish</a:t>
            </a:r>
            <a:r>
              <a:rPr lang="zh-CN" altLang="en-US" b="1" dirty="0" smtClean="0">
                <a:solidFill>
                  <a:schemeClr val="bg1"/>
                </a:solidFill>
                <a:latin typeface="+mn-ea"/>
                <a:sym typeface="+mn-ea"/>
              </a:rPr>
              <a:t>，表示系统是否有足够的资源分配给进程，使之运行完成，</a:t>
            </a:r>
            <a:r>
              <a:rPr lang="zh-CN" altLang="en-US" b="1" dirty="0" smtClean="0">
                <a:solidFill>
                  <a:srgbClr val="FFFF00"/>
                </a:solidFill>
                <a:latin typeface="+mn-ea"/>
                <a:sym typeface="+mn-ea"/>
              </a:rPr>
              <a:t>初始值</a:t>
            </a:r>
            <a:r>
              <a:rPr lang="en-US" altLang="zh-CN" b="1" dirty="0" smtClean="0">
                <a:solidFill>
                  <a:srgbClr val="FFFF00"/>
                </a:solidFill>
                <a:latin typeface="+mn-ea"/>
                <a:sym typeface="+mn-ea"/>
              </a:rPr>
              <a:t>Finish[</a:t>
            </a:r>
            <a:r>
              <a:rPr lang="en-US" altLang="zh-CN" b="1" dirty="0" err="1" smtClean="0">
                <a:solidFill>
                  <a:srgbClr val="FFFF00"/>
                </a:solidFill>
                <a:latin typeface="+mn-ea"/>
                <a:sym typeface="+mn-ea"/>
              </a:rPr>
              <a:t>i</a:t>
            </a:r>
            <a:r>
              <a:rPr lang="en-US" altLang="zh-CN" b="1" dirty="0" smtClean="0">
                <a:solidFill>
                  <a:srgbClr val="FFFF00"/>
                </a:solidFill>
                <a:latin typeface="+mn-ea"/>
                <a:sym typeface="+mn-ea"/>
              </a:rPr>
              <a:t>]=F</a:t>
            </a:r>
            <a:r>
              <a:rPr lang="zh-CN" altLang="en-US" b="1" dirty="0" smtClean="0">
                <a:solidFill>
                  <a:srgbClr val="FFFF00"/>
                </a:solidFill>
                <a:latin typeface="+mn-ea"/>
                <a:sym typeface="+mn-ea"/>
              </a:rPr>
              <a:t>，</a:t>
            </a:r>
            <a:r>
              <a:rPr lang="zh-CN" altLang="en-US" b="1" dirty="0" smtClean="0">
                <a:solidFill>
                  <a:schemeClr val="bg1"/>
                </a:solidFill>
                <a:latin typeface="+mn-ea"/>
                <a:sym typeface="+mn-ea"/>
              </a:rPr>
              <a:t>当有</a:t>
            </a:r>
            <a:r>
              <a:rPr lang="zh-CN" altLang="en-US" b="1" dirty="0" smtClean="0">
                <a:solidFill>
                  <a:srgbClr val="FFFF00"/>
                </a:solidFill>
                <a:latin typeface="+mn-ea"/>
                <a:sym typeface="+mn-ea"/>
              </a:rPr>
              <a:t>足够资源</a:t>
            </a:r>
            <a:r>
              <a:rPr lang="zh-CN" altLang="en-US" b="1" dirty="0" smtClean="0">
                <a:solidFill>
                  <a:schemeClr val="bg1"/>
                </a:solidFill>
                <a:latin typeface="+mn-ea"/>
                <a:sym typeface="+mn-ea"/>
              </a:rPr>
              <a:t>可</a:t>
            </a:r>
            <a:r>
              <a:rPr lang="zh-CN" altLang="en-US" b="1" dirty="0" smtClean="0">
                <a:solidFill>
                  <a:srgbClr val="FFFF00"/>
                </a:solidFill>
                <a:latin typeface="+mn-ea"/>
                <a:sym typeface="+mn-ea"/>
              </a:rPr>
              <a:t>分配</a:t>
            </a:r>
            <a:r>
              <a:rPr lang="zh-CN" altLang="en-US" b="1" dirty="0" smtClean="0">
                <a:solidFill>
                  <a:schemeClr val="bg1"/>
                </a:solidFill>
                <a:latin typeface="+mn-ea"/>
                <a:sym typeface="+mn-ea"/>
              </a:rPr>
              <a:t>给进程时</a:t>
            </a:r>
            <a:r>
              <a:rPr lang="en-US" altLang="zh-CN" b="1" dirty="0">
                <a:solidFill>
                  <a:srgbClr val="FFFF00"/>
                </a:solidFill>
                <a:latin typeface="+mn-ea"/>
                <a:sym typeface="+mn-ea"/>
              </a:rPr>
              <a:t>Finish[</a:t>
            </a:r>
            <a:r>
              <a:rPr lang="en-US" altLang="zh-CN" b="1" dirty="0" err="1">
                <a:solidFill>
                  <a:srgbClr val="FFFF00"/>
                </a:solidFill>
                <a:latin typeface="+mn-ea"/>
                <a:sym typeface="+mn-ea"/>
              </a:rPr>
              <a:t>i</a:t>
            </a:r>
            <a:r>
              <a:rPr lang="en-US" altLang="zh-CN" b="1" dirty="0" smtClean="0">
                <a:solidFill>
                  <a:srgbClr val="FFFF00"/>
                </a:solidFill>
                <a:latin typeface="+mn-ea"/>
                <a:sym typeface="+mn-ea"/>
              </a:rPr>
              <a:t>]=T</a:t>
            </a:r>
            <a:r>
              <a:rPr lang="zh-CN" altLang="en-US" b="1" dirty="0" smtClean="0">
                <a:solidFill>
                  <a:schemeClr val="bg1"/>
                </a:solidFill>
                <a:latin typeface="+mn-ea"/>
                <a:sym typeface="+mn-ea"/>
              </a:rPr>
              <a:t>；</a:t>
            </a:r>
            <a:endParaRPr lang="en-US" altLang="zh-CN" b="1" dirty="0" smtClean="0">
              <a:solidFill>
                <a:schemeClr val="bg1"/>
              </a:solidFill>
              <a:latin typeface="+mn-ea"/>
              <a:sym typeface="+mn-ea"/>
            </a:endParaRPr>
          </a:p>
          <a:p>
            <a:pPr>
              <a:lnSpc>
                <a:spcPct val="120000"/>
              </a:lnSpc>
              <a:buClr>
                <a:schemeClr val="accent6">
                  <a:lumMod val="40000"/>
                  <a:lumOff val="60000"/>
                </a:schemeClr>
              </a:buClr>
            </a:pPr>
            <a:r>
              <a:rPr lang="zh-CN" altLang="en-US" b="1" dirty="0" smtClean="0">
                <a:solidFill>
                  <a:schemeClr val="bg1"/>
                </a:solidFill>
                <a:latin typeface="+mn-ea"/>
                <a:sym typeface="+mn-ea"/>
              </a:rPr>
              <a:t>（</a:t>
            </a:r>
            <a:r>
              <a:rPr lang="en-US" altLang="zh-CN" b="1" dirty="0" smtClean="0">
                <a:solidFill>
                  <a:schemeClr val="bg1"/>
                </a:solidFill>
                <a:latin typeface="+mn-ea"/>
                <a:sym typeface="+mn-ea"/>
              </a:rPr>
              <a:t>2</a:t>
            </a:r>
            <a:r>
              <a:rPr lang="zh-CN" altLang="en-US" b="1" dirty="0" smtClean="0">
                <a:solidFill>
                  <a:schemeClr val="bg1"/>
                </a:solidFill>
                <a:latin typeface="+mn-ea"/>
                <a:sym typeface="+mn-ea"/>
              </a:rPr>
              <a:t>）在进程集合中寻找一个可满足下述条件的进程：</a:t>
            </a:r>
            <a:r>
              <a:rPr lang="zh-CN" altLang="en-US" b="1" dirty="0">
                <a:solidFill>
                  <a:schemeClr val="bg1"/>
                </a:solidFill>
                <a:latin typeface="+mn-ea"/>
                <a:sym typeface="+mn-ea"/>
              </a:rPr>
              <a:t>①</a:t>
            </a:r>
            <a:r>
              <a:rPr lang="en-US" altLang="zh-CN" b="1" dirty="0">
                <a:solidFill>
                  <a:srgbClr val="FFFF00"/>
                </a:solidFill>
                <a:latin typeface="+mn-ea"/>
                <a:sym typeface="+mn-ea"/>
              </a:rPr>
              <a:t> Finish[</a:t>
            </a:r>
            <a:r>
              <a:rPr lang="en-US" altLang="zh-CN" b="1" dirty="0" err="1">
                <a:solidFill>
                  <a:srgbClr val="FFFF00"/>
                </a:solidFill>
                <a:latin typeface="+mn-ea"/>
                <a:sym typeface="+mn-ea"/>
              </a:rPr>
              <a:t>i</a:t>
            </a:r>
            <a:r>
              <a:rPr lang="en-US" altLang="zh-CN" b="1" dirty="0">
                <a:solidFill>
                  <a:srgbClr val="FFFF00"/>
                </a:solidFill>
                <a:latin typeface="+mn-ea"/>
                <a:sym typeface="+mn-ea"/>
              </a:rPr>
              <a:t>]=F </a:t>
            </a:r>
            <a:r>
              <a:rPr lang="en-US" altLang="zh-CN" b="1" dirty="0" smtClean="0">
                <a:solidFill>
                  <a:srgbClr val="FFFF00"/>
                </a:solidFill>
                <a:latin typeface="+mn-ea"/>
                <a:sym typeface="+mn-ea"/>
              </a:rPr>
              <a:t>       </a:t>
            </a:r>
            <a:r>
              <a:rPr lang="zh-CN" altLang="en-US" b="1" dirty="0" smtClean="0">
                <a:solidFill>
                  <a:schemeClr val="bg1"/>
                </a:solidFill>
                <a:latin typeface="+mn-ea"/>
                <a:sym typeface="+mn-ea"/>
              </a:rPr>
              <a:t>② </a:t>
            </a:r>
            <a:r>
              <a:rPr lang="en-US" altLang="zh-CN" b="1" dirty="0">
                <a:solidFill>
                  <a:srgbClr val="FFFF00"/>
                </a:solidFill>
                <a:latin typeface="+mn-ea"/>
                <a:sym typeface="+mn-ea"/>
              </a:rPr>
              <a:t>Need[</a:t>
            </a:r>
            <a:r>
              <a:rPr lang="en-US" altLang="zh-CN" b="1" dirty="0" err="1">
                <a:solidFill>
                  <a:srgbClr val="FFFF00"/>
                </a:solidFill>
                <a:latin typeface="+mn-ea"/>
                <a:sym typeface="+mn-ea"/>
              </a:rPr>
              <a:t>i,j</a:t>
            </a:r>
            <a:r>
              <a:rPr lang="en-US" altLang="zh-CN" b="1" dirty="0">
                <a:solidFill>
                  <a:srgbClr val="FFFF00"/>
                </a:solidFill>
                <a:latin typeface="+mn-ea"/>
                <a:sym typeface="+mn-ea"/>
              </a:rPr>
              <a:t>]≤Work[j]</a:t>
            </a:r>
          </a:p>
          <a:p>
            <a:pPr>
              <a:lnSpc>
                <a:spcPct val="120000"/>
              </a:lnSpc>
              <a:buClr>
                <a:schemeClr val="accent6">
                  <a:lumMod val="40000"/>
                  <a:lumOff val="60000"/>
                </a:schemeClr>
              </a:buClr>
            </a:pPr>
            <a:endParaRPr lang="en-US" altLang="zh-CN" b="1" dirty="0">
              <a:solidFill>
                <a:schemeClr val="bg1"/>
              </a:solidFill>
              <a:latin typeface="+mn-ea"/>
              <a:sym typeface="+mn-ea"/>
            </a:endParaRPr>
          </a:p>
        </p:txBody>
      </p:sp>
      <p:sp>
        <p:nvSpPr>
          <p:cNvPr id="3" name="矩形 2"/>
          <p:cNvSpPr/>
          <p:nvPr/>
        </p:nvSpPr>
        <p:spPr>
          <a:xfrm>
            <a:off x="4938064" y="1281469"/>
            <a:ext cx="2880320" cy="3416320"/>
          </a:xfrm>
          <a:prstGeom prst="rect">
            <a:avLst/>
          </a:prstGeom>
        </p:spPr>
        <p:txBody>
          <a:bodyPr wrap="square">
            <a:spAutoFit/>
          </a:bodyPr>
          <a:lstStyle/>
          <a:p>
            <a:pPr>
              <a:lnSpc>
                <a:spcPct val="120000"/>
              </a:lnSpc>
              <a:buClr>
                <a:schemeClr val="accent6">
                  <a:lumMod val="40000"/>
                  <a:lumOff val="60000"/>
                </a:schemeClr>
              </a:buClr>
            </a:pPr>
            <a:r>
              <a:rPr lang="zh-CN" altLang="en-US" b="1" dirty="0" smtClean="0">
                <a:solidFill>
                  <a:srgbClr val="FFFF00"/>
                </a:solidFill>
                <a:latin typeface="+mn-ea"/>
                <a:sym typeface="+mn-ea"/>
              </a:rPr>
              <a:t>（</a:t>
            </a:r>
            <a:r>
              <a:rPr lang="en-US" altLang="zh-CN" b="1" dirty="0">
                <a:solidFill>
                  <a:srgbClr val="FFFF00"/>
                </a:solidFill>
                <a:latin typeface="+mn-ea"/>
                <a:sym typeface="+mn-ea"/>
              </a:rPr>
              <a:t>3</a:t>
            </a:r>
            <a:r>
              <a:rPr lang="zh-CN" altLang="en-US" b="1" dirty="0">
                <a:solidFill>
                  <a:srgbClr val="FFFF00"/>
                </a:solidFill>
                <a:latin typeface="+mn-ea"/>
                <a:sym typeface="+mn-ea"/>
              </a:rPr>
              <a:t>）</a:t>
            </a:r>
            <a:r>
              <a:rPr lang="zh-CN" altLang="en-US" b="1" dirty="0">
                <a:solidFill>
                  <a:schemeClr val="bg1"/>
                </a:solidFill>
                <a:latin typeface="+mn-ea"/>
                <a:sym typeface="+mn-ea"/>
              </a:rPr>
              <a:t>当进程</a:t>
            </a:r>
            <a:r>
              <a:rPr lang="en-US" altLang="zh-CN" b="1" dirty="0">
                <a:solidFill>
                  <a:schemeClr val="bg1"/>
                </a:solidFill>
                <a:latin typeface="+mn-ea"/>
                <a:sym typeface="+mn-ea"/>
              </a:rPr>
              <a:t>P</a:t>
            </a:r>
            <a:r>
              <a:rPr lang="en-US" altLang="zh-CN" b="1" baseline="-25000" dirty="0">
                <a:solidFill>
                  <a:schemeClr val="bg1"/>
                </a:solidFill>
                <a:latin typeface="+mn-ea"/>
                <a:sym typeface="+mn-ea"/>
              </a:rPr>
              <a:t>i</a:t>
            </a:r>
            <a:r>
              <a:rPr lang="zh-CN" altLang="en-US" b="1" dirty="0">
                <a:solidFill>
                  <a:schemeClr val="bg1"/>
                </a:solidFill>
                <a:latin typeface="+mn-ea"/>
                <a:sym typeface="+mn-ea"/>
              </a:rPr>
              <a:t>获得资源后，可顺序执行直至完成并释放分配给它的资源，</a:t>
            </a:r>
            <a:r>
              <a:rPr lang="zh-CN" altLang="en-US" b="1" dirty="0" smtClean="0">
                <a:solidFill>
                  <a:schemeClr val="bg1"/>
                </a:solidFill>
                <a:latin typeface="+mn-ea"/>
                <a:sym typeface="+mn-ea"/>
              </a:rPr>
              <a:t>因此</a:t>
            </a:r>
            <a:endParaRPr lang="en-US" altLang="zh-CN" b="1" dirty="0" smtClean="0">
              <a:solidFill>
                <a:schemeClr val="bg1"/>
              </a:solidFill>
              <a:latin typeface="+mn-ea"/>
              <a:sym typeface="+mn-ea"/>
            </a:endParaRPr>
          </a:p>
          <a:p>
            <a:pPr>
              <a:lnSpc>
                <a:spcPct val="120000"/>
              </a:lnSpc>
              <a:buClr>
                <a:schemeClr val="accent6">
                  <a:lumMod val="40000"/>
                  <a:lumOff val="60000"/>
                </a:schemeClr>
              </a:buClr>
            </a:pPr>
            <a:r>
              <a:rPr lang="en-US" altLang="zh-CN" b="1" dirty="0" smtClean="0">
                <a:solidFill>
                  <a:srgbClr val="FFFF00"/>
                </a:solidFill>
                <a:latin typeface="+mn-ea"/>
                <a:sym typeface="+mn-ea"/>
              </a:rPr>
              <a:t>Work[j]=</a:t>
            </a:r>
          </a:p>
          <a:p>
            <a:pPr>
              <a:lnSpc>
                <a:spcPct val="120000"/>
              </a:lnSpc>
              <a:buClr>
                <a:schemeClr val="accent6">
                  <a:lumMod val="40000"/>
                  <a:lumOff val="60000"/>
                </a:schemeClr>
              </a:buClr>
            </a:pPr>
            <a:r>
              <a:rPr lang="en-US" altLang="zh-CN" b="1" smtClean="0">
                <a:solidFill>
                  <a:srgbClr val="FFFF00"/>
                </a:solidFill>
                <a:latin typeface="+mn-ea"/>
                <a:sym typeface="+mn-ea"/>
              </a:rPr>
              <a:t>Work[j</a:t>
            </a:r>
            <a:r>
              <a:rPr lang="en-US" altLang="zh-CN" b="1" dirty="0" smtClean="0">
                <a:solidFill>
                  <a:srgbClr val="FFFF00"/>
                </a:solidFill>
                <a:latin typeface="+mn-ea"/>
                <a:sym typeface="+mn-ea"/>
              </a:rPr>
              <a:t>]+Allocation[</a:t>
            </a:r>
            <a:r>
              <a:rPr lang="en-US" altLang="zh-CN" b="1" dirty="0" err="1" smtClean="0">
                <a:solidFill>
                  <a:srgbClr val="FFFF00"/>
                </a:solidFill>
                <a:latin typeface="+mn-ea"/>
                <a:sym typeface="+mn-ea"/>
              </a:rPr>
              <a:t>i,j</a:t>
            </a:r>
            <a:r>
              <a:rPr lang="en-US" altLang="zh-CN" b="1" dirty="0" smtClean="0">
                <a:solidFill>
                  <a:srgbClr val="FFFF00"/>
                </a:solidFill>
                <a:latin typeface="+mn-ea"/>
                <a:sym typeface="+mn-ea"/>
              </a:rPr>
              <a:t>];</a:t>
            </a:r>
          </a:p>
          <a:p>
            <a:pPr>
              <a:lnSpc>
                <a:spcPct val="120000"/>
              </a:lnSpc>
              <a:buClr>
                <a:schemeClr val="accent6">
                  <a:lumMod val="40000"/>
                  <a:lumOff val="60000"/>
                </a:schemeClr>
              </a:buClr>
            </a:pPr>
            <a:r>
              <a:rPr lang="en-US" altLang="zh-CN" b="1" dirty="0">
                <a:solidFill>
                  <a:srgbClr val="FFFF00"/>
                </a:solidFill>
                <a:latin typeface="+mn-ea"/>
                <a:sym typeface="+mn-ea"/>
              </a:rPr>
              <a:t>Finish[</a:t>
            </a:r>
            <a:r>
              <a:rPr lang="en-US" altLang="zh-CN" b="1" dirty="0" err="1">
                <a:solidFill>
                  <a:srgbClr val="FFFF00"/>
                </a:solidFill>
                <a:latin typeface="+mn-ea"/>
                <a:sym typeface="+mn-ea"/>
              </a:rPr>
              <a:t>i</a:t>
            </a:r>
            <a:r>
              <a:rPr lang="en-US" altLang="zh-CN" b="1" dirty="0" smtClean="0">
                <a:solidFill>
                  <a:srgbClr val="FFFF00"/>
                </a:solidFill>
                <a:latin typeface="+mn-ea"/>
                <a:sym typeface="+mn-ea"/>
              </a:rPr>
              <a:t>]=T</a:t>
            </a:r>
            <a:r>
              <a:rPr lang="zh-CN" altLang="en-US" b="1" dirty="0" smtClean="0">
                <a:solidFill>
                  <a:srgbClr val="FFFF00"/>
                </a:solidFill>
                <a:latin typeface="+mn-ea"/>
                <a:sym typeface="+mn-ea"/>
              </a:rPr>
              <a:t>；</a:t>
            </a:r>
            <a:endParaRPr lang="en-US" altLang="zh-CN" b="1" dirty="0" smtClean="0">
              <a:solidFill>
                <a:srgbClr val="FFFF00"/>
              </a:solidFill>
              <a:latin typeface="+mn-ea"/>
              <a:sym typeface="+mn-ea"/>
            </a:endParaRPr>
          </a:p>
          <a:p>
            <a:pPr>
              <a:lnSpc>
                <a:spcPct val="120000"/>
              </a:lnSpc>
              <a:buClr>
                <a:schemeClr val="accent6">
                  <a:lumMod val="40000"/>
                  <a:lumOff val="60000"/>
                </a:schemeClr>
              </a:buClr>
            </a:pPr>
            <a:r>
              <a:rPr lang="en-US" altLang="zh-CN" b="1" dirty="0" err="1" smtClean="0">
                <a:solidFill>
                  <a:schemeClr val="bg1"/>
                </a:solidFill>
                <a:latin typeface="+mn-ea"/>
                <a:sym typeface="+mn-ea"/>
              </a:rPr>
              <a:t>Goto</a:t>
            </a:r>
            <a:r>
              <a:rPr lang="en-US" altLang="zh-CN" b="1" dirty="0" smtClean="0">
                <a:solidFill>
                  <a:schemeClr val="bg1"/>
                </a:solidFill>
                <a:latin typeface="+mn-ea"/>
                <a:sym typeface="+mn-ea"/>
              </a:rPr>
              <a:t> </a:t>
            </a:r>
            <a:r>
              <a:rPr lang="zh-CN" altLang="en-US" b="1" dirty="0" smtClean="0">
                <a:solidFill>
                  <a:schemeClr val="bg1"/>
                </a:solidFill>
                <a:latin typeface="+mn-ea"/>
                <a:sym typeface="+mn-ea"/>
              </a:rPr>
              <a:t>（</a:t>
            </a:r>
            <a:r>
              <a:rPr lang="en-US" altLang="zh-CN" b="1" dirty="0" smtClean="0">
                <a:solidFill>
                  <a:schemeClr val="bg1"/>
                </a:solidFill>
                <a:latin typeface="+mn-ea"/>
                <a:sym typeface="+mn-ea"/>
              </a:rPr>
              <a:t>2</a:t>
            </a:r>
            <a:r>
              <a:rPr lang="zh-CN" altLang="en-US" b="1" dirty="0" smtClean="0">
                <a:solidFill>
                  <a:schemeClr val="bg1"/>
                </a:solidFill>
                <a:latin typeface="+mn-ea"/>
                <a:sym typeface="+mn-ea"/>
              </a:rPr>
              <a:t>）</a:t>
            </a:r>
            <a:endParaRPr lang="en-US" altLang="zh-CN" b="1" dirty="0" smtClean="0">
              <a:solidFill>
                <a:schemeClr val="bg1"/>
              </a:solidFill>
              <a:latin typeface="+mn-ea"/>
              <a:sym typeface="+mn-ea"/>
            </a:endParaRPr>
          </a:p>
          <a:p>
            <a:pPr>
              <a:lnSpc>
                <a:spcPct val="120000"/>
              </a:lnSpc>
              <a:buClr>
                <a:schemeClr val="accent6">
                  <a:lumMod val="40000"/>
                  <a:lumOff val="60000"/>
                </a:schemeClr>
              </a:buClr>
            </a:pPr>
            <a:r>
              <a:rPr lang="zh-CN" altLang="en-US" b="1" dirty="0" smtClean="0">
                <a:solidFill>
                  <a:schemeClr val="bg1"/>
                </a:solidFill>
                <a:latin typeface="+mn-ea"/>
                <a:sym typeface="+mn-ea"/>
              </a:rPr>
              <a:t>（</a:t>
            </a:r>
            <a:r>
              <a:rPr lang="en-US" altLang="zh-CN" b="1" dirty="0" smtClean="0">
                <a:solidFill>
                  <a:schemeClr val="bg1"/>
                </a:solidFill>
                <a:latin typeface="+mn-ea"/>
                <a:sym typeface="+mn-ea"/>
              </a:rPr>
              <a:t>4</a:t>
            </a:r>
            <a:r>
              <a:rPr lang="zh-CN" altLang="en-US" b="1" dirty="0" smtClean="0">
                <a:solidFill>
                  <a:schemeClr val="bg1"/>
                </a:solidFill>
                <a:latin typeface="+mn-ea"/>
                <a:sym typeface="+mn-ea"/>
              </a:rPr>
              <a:t>）若所有进程都满足</a:t>
            </a:r>
            <a:r>
              <a:rPr lang="en-US" altLang="zh-CN" b="1" dirty="0">
                <a:solidFill>
                  <a:srgbClr val="FFFF00"/>
                </a:solidFill>
                <a:latin typeface="+mn-ea"/>
                <a:sym typeface="+mn-ea"/>
              </a:rPr>
              <a:t>Finish[</a:t>
            </a:r>
            <a:r>
              <a:rPr lang="en-US" altLang="zh-CN" b="1" dirty="0" err="1">
                <a:solidFill>
                  <a:srgbClr val="FFFF00"/>
                </a:solidFill>
                <a:latin typeface="+mn-ea"/>
                <a:sym typeface="+mn-ea"/>
              </a:rPr>
              <a:t>i</a:t>
            </a:r>
            <a:r>
              <a:rPr lang="en-US" altLang="zh-CN" b="1" dirty="0">
                <a:solidFill>
                  <a:srgbClr val="FFFF00"/>
                </a:solidFill>
                <a:latin typeface="+mn-ea"/>
                <a:sym typeface="+mn-ea"/>
              </a:rPr>
              <a:t>]=</a:t>
            </a:r>
            <a:r>
              <a:rPr lang="en-US" altLang="zh-CN" b="1" dirty="0" smtClean="0">
                <a:solidFill>
                  <a:srgbClr val="FFFF00"/>
                </a:solidFill>
                <a:latin typeface="+mn-ea"/>
                <a:sym typeface="+mn-ea"/>
              </a:rPr>
              <a:t>T</a:t>
            </a:r>
            <a:r>
              <a:rPr lang="zh-CN" altLang="en-US" b="1" dirty="0" smtClean="0">
                <a:solidFill>
                  <a:schemeClr val="bg1"/>
                </a:solidFill>
                <a:latin typeface="+mn-ea"/>
                <a:sym typeface="+mn-ea"/>
              </a:rPr>
              <a:t>，则系统处于安全状态，否则不处于</a:t>
            </a:r>
            <a:endParaRPr lang="en-US" altLang="zh-CN" b="1" dirty="0">
              <a:solidFill>
                <a:schemeClr val="bg1"/>
              </a:solidFill>
              <a:latin typeface="+mn-ea"/>
              <a:sym typeface="+mn-ea"/>
            </a:endParaRPr>
          </a:p>
        </p:txBody>
      </p:sp>
      <p:cxnSp>
        <p:nvCxnSpPr>
          <p:cNvPr id="5" name="直接连接符 4"/>
          <p:cNvCxnSpPr/>
          <p:nvPr/>
        </p:nvCxnSpPr>
        <p:spPr>
          <a:xfrm>
            <a:off x="4860032" y="915566"/>
            <a:ext cx="72008" cy="3727696"/>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4427457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wipe(left)">
                                      <p:cBhvr>
                                        <p:cTn id="21" dur="500"/>
                                        <p:tgtEl>
                                          <p:spTgt spid="3">
                                            <p:txEl>
                                              <p:pRg st="1" end="1"/>
                                            </p:txEl>
                                          </p:spTgt>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wipe(left)">
                                      <p:cBhvr>
                                        <p:cTn id="29" dur="500"/>
                                        <p:tgtEl>
                                          <p:spTgt spid="3">
                                            <p:txEl>
                                              <p:pRg st="3" end="3"/>
                                            </p:txEl>
                                          </p:spTgt>
                                        </p:tgtEl>
                                      </p:cBhvr>
                                    </p:animEffect>
                                  </p:childTnLst>
                                </p:cTn>
                              </p:par>
                            </p:childTnLst>
                          </p:cTn>
                        </p:par>
                        <p:par>
                          <p:cTn id="30" fill="hold">
                            <p:stCondLst>
                              <p:cond delay="2000"/>
                            </p:stCondLst>
                            <p:childTnLst>
                              <p:par>
                                <p:cTn id="31" presetID="22" presetClass="entr" presetSubtype="8" fill="hold" nodeType="after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wipe(left)">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wipe(left)">
                                      <p:cBhvr>
                                        <p:cTn id="3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银行家算法举例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97658" y="1229306"/>
            <a:ext cx="7114701" cy="1421928"/>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假定系统中有</a:t>
            </a:r>
            <a:r>
              <a:rPr lang="en-US" altLang="zh-CN" sz="2400" b="1" dirty="0" smtClean="0">
                <a:solidFill>
                  <a:schemeClr val="bg1"/>
                </a:solidFill>
                <a:latin typeface="+mn-ea"/>
                <a:sym typeface="+mn-ea"/>
              </a:rPr>
              <a:t>5</a:t>
            </a:r>
            <a:r>
              <a:rPr lang="zh-CN" altLang="en-US" sz="2400" b="1" dirty="0" smtClean="0">
                <a:solidFill>
                  <a:schemeClr val="bg1"/>
                </a:solidFill>
                <a:latin typeface="+mn-ea"/>
                <a:sym typeface="+mn-ea"/>
              </a:rPr>
              <a:t>个进程</a:t>
            </a:r>
            <a:r>
              <a:rPr lang="en-US" altLang="zh-CN" sz="2400" b="1" dirty="0" smtClean="0">
                <a:solidFill>
                  <a:srgbClr val="FFFF00"/>
                </a:solidFill>
                <a:latin typeface="+mn-ea"/>
                <a:sym typeface="+mn-ea"/>
              </a:rPr>
              <a:t>{P</a:t>
            </a:r>
            <a:r>
              <a:rPr lang="en-US" altLang="zh-CN" sz="2400" b="1" baseline="-25000" dirty="0" smtClean="0">
                <a:solidFill>
                  <a:srgbClr val="FFFF00"/>
                </a:solidFill>
                <a:latin typeface="+mn-ea"/>
                <a:sym typeface="+mn-ea"/>
              </a:rPr>
              <a:t>0</a:t>
            </a:r>
            <a:r>
              <a:rPr lang="en-US" altLang="zh-CN" sz="2400" b="1" dirty="0" smtClean="0">
                <a:solidFill>
                  <a:srgbClr val="FFFF00"/>
                </a:solidFill>
                <a:latin typeface="+mn-ea"/>
                <a:sym typeface="+mn-ea"/>
              </a:rPr>
              <a:t>,P</a:t>
            </a:r>
            <a:r>
              <a:rPr lang="en-US" altLang="zh-CN" sz="2400" b="1" baseline="-25000" dirty="0" smtClean="0">
                <a:solidFill>
                  <a:srgbClr val="FFFF00"/>
                </a:solidFill>
                <a:latin typeface="+mn-ea"/>
                <a:sym typeface="+mn-ea"/>
              </a:rPr>
              <a:t>1</a:t>
            </a:r>
            <a:r>
              <a:rPr lang="en-US" altLang="zh-CN" sz="2400" b="1" dirty="0" smtClean="0">
                <a:solidFill>
                  <a:srgbClr val="FFFF00"/>
                </a:solidFill>
                <a:latin typeface="+mn-ea"/>
                <a:sym typeface="+mn-ea"/>
              </a:rPr>
              <a:t>,P</a:t>
            </a:r>
            <a:r>
              <a:rPr lang="en-US" altLang="zh-CN" sz="2400" b="1" baseline="-25000" dirty="0" smtClean="0">
                <a:solidFill>
                  <a:srgbClr val="FFFF00"/>
                </a:solidFill>
                <a:latin typeface="+mn-ea"/>
                <a:sym typeface="+mn-ea"/>
              </a:rPr>
              <a:t>2</a:t>
            </a:r>
            <a:r>
              <a:rPr lang="en-US" altLang="zh-CN" sz="2400" b="1" dirty="0" smtClean="0">
                <a:solidFill>
                  <a:srgbClr val="FFFF00"/>
                </a:solidFill>
                <a:latin typeface="+mn-ea"/>
                <a:sym typeface="+mn-ea"/>
              </a:rPr>
              <a:t>,P</a:t>
            </a:r>
            <a:r>
              <a:rPr lang="en-US" altLang="zh-CN" sz="2400" b="1" baseline="-25000" dirty="0" smtClean="0">
                <a:solidFill>
                  <a:srgbClr val="FFFF00"/>
                </a:solidFill>
                <a:latin typeface="+mn-ea"/>
                <a:sym typeface="+mn-ea"/>
              </a:rPr>
              <a:t>3</a:t>
            </a:r>
            <a:r>
              <a:rPr lang="en-US" altLang="zh-CN" sz="2400" b="1" dirty="0" smtClean="0">
                <a:solidFill>
                  <a:srgbClr val="FFFF00"/>
                </a:solidFill>
                <a:latin typeface="+mn-ea"/>
                <a:sym typeface="+mn-ea"/>
              </a:rPr>
              <a:t>,P</a:t>
            </a:r>
            <a:r>
              <a:rPr lang="en-US" altLang="zh-CN" sz="2400" b="1" baseline="-25000" dirty="0" smtClean="0">
                <a:solidFill>
                  <a:srgbClr val="FFFF00"/>
                </a:solidFill>
                <a:latin typeface="+mn-ea"/>
                <a:sym typeface="+mn-ea"/>
              </a:rPr>
              <a:t>4</a:t>
            </a:r>
            <a:r>
              <a:rPr lang="en-US" altLang="zh-CN" sz="2400" b="1" dirty="0" smtClean="0">
                <a:solidFill>
                  <a:srgbClr val="FFFF00"/>
                </a:solidFill>
                <a:latin typeface="+mn-ea"/>
                <a:sym typeface="+mn-ea"/>
              </a:rPr>
              <a:t>}</a:t>
            </a:r>
            <a:r>
              <a:rPr lang="zh-CN" altLang="en-US" sz="2400" b="1" dirty="0" smtClean="0">
                <a:solidFill>
                  <a:schemeClr val="bg1"/>
                </a:solidFill>
                <a:latin typeface="+mn-ea"/>
                <a:sym typeface="+mn-ea"/>
              </a:rPr>
              <a:t>和</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类资源</a:t>
            </a:r>
            <a:r>
              <a:rPr lang="en-US" altLang="zh-CN" sz="2400" b="1" dirty="0" smtClean="0">
                <a:solidFill>
                  <a:srgbClr val="FFFF00"/>
                </a:solidFill>
                <a:latin typeface="+mn-ea"/>
                <a:sym typeface="+mn-ea"/>
              </a:rPr>
              <a:t>{A,B,C}</a:t>
            </a:r>
            <a:r>
              <a:rPr lang="zh-CN" altLang="en-US" sz="2400" b="1" dirty="0" smtClean="0">
                <a:solidFill>
                  <a:schemeClr val="bg1"/>
                </a:solidFill>
                <a:latin typeface="+mn-ea"/>
                <a:sym typeface="+mn-ea"/>
              </a:rPr>
              <a:t>，各类资源的数量分别为</a:t>
            </a:r>
            <a:r>
              <a:rPr lang="en-US" altLang="zh-CN" sz="2400" b="1" dirty="0" smtClean="0">
                <a:solidFill>
                  <a:srgbClr val="FFFF00"/>
                </a:solidFill>
                <a:latin typeface="+mn-ea"/>
                <a:sym typeface="+mn-ea"/>
              </a:rPr>
              <a:t>10</a:t>
            </a:r>
            <a:r>
              <a:rPr lang="zh-CN" altLang="en-US" sz="2400" b="1" dirty="0" smtClean="0">
                <a:solidFill>
                  <a:srgbClr val="FFFF00"/>
                </a:solidFill>
                <a:latin typeface="+mn-ea"/>
                <a:sym typeface="+mn-ea"/>
              </a:rPr>
              <a:t>、</a:t>
            </a:r>
            <a:r>
              <a:rPr lang="en-US" altLang="zh-CN" sz="2400" b="1" dirty="0" smtClean="0">
                <a:solidFill>
                  <a:srgbClr val="FFFF00"/>
                </a:solidFill>
                <a:latin typeface="+mn-ea"/>
                <a:sym typeface="+mn-ea"/>
              </a:rPr>
              <a:t>5</a:t>
            </a:r>
            <a:r>
              <a:rPr lang="zh-CN" altLang="en-US" sz="2400" b="1" dirty="0" smtClean="0">
                <a:solidFill>
                  <a:srgbClr val="FFFF00"/>
                </a:solidFill>
                <a:latin typeface="+mn-ea"/>
                <a:sym typeface="+mn-ea"/>
              </a:rPr>
              <a:t>、</a:t>
            </a:r>
            <a:r>
              <a:rPr lang="en-US" altLang="zh-CN" sz="2400" b="1" dirty="0" smtClean="0">
                <a:solidFill>
                  <a:srgbClr val="FFFF00"/>
                </a:solidFill>
                <a:latin typeface="+mn-ea"/>
                <a:sym typeface="+mn-ea"/>
              </a:rPr>
              <a:t>7</a:t>
            </a:r>
            <a:r>
              <a:rPr lang="zh-CN" altLang="en-US" sz="2400" b="1" dirty="0" smtClean="0">
                <a:solidFill>
                  <a:schemeClr val="bg1"/>
                </a:solidFill>
                <a:latin typeface="+mn-ea"/>
                <a:sym typeface="+mn-ea"/>
              </a:rPr>
              <a:t>，在</a:t>
            </a:r>
            <a:r>
              <a:rPr lang="en-US" altLang="zh-CN" sz="2400" b="1" dirty="0" smtClean="0">
                <a:solidFill>
                  <a:schemeClr val="bg1"/>
                </a:solidFill>
                <a:latin typeface="+mn-ea"/>
                <a:sym typeface="+mn-ea"/>
              </a:rPr>
              <a:t>t</a:t>
            </a:r>
            <a:r>
              <a:rPr lang="en-US" altLang="zh-CN" sz="2400" b="1" baseline="-25000" dirty="0" smtClean="0">
                <a:solidFill>
                  <a:schemeClr val="bg1"/>
                </a:solidFill>
                <a:latin typeface="+mn-ea"/>
                <a:sym typeface="+mn-ea"/>
              </a:rPr>
              <a:t>0</a:t>
            </a:r>
            <a:r>
              <a:rPr lang="zh-CN" altLang="en-US" sz="2400" b="1" dirty="0" smtClean="0">
                <a:solidFill>
                  <a:schemeClr val="bg1"/>
                </a:solidFill>
                <a:latin typeface="+mn-ea"/>
                <a:sym typeface="+mn-ea"/>
              </a:rPr>
              <a:t>时刻的资源分配情况如下如所示</a:t>
            </a:r>
            <a:endParaRPr lang="en-US" altLang="zh-CN" sz="2400" b="1" dirty="0">
              <a:solidFill>
                <a:schemeClr val="bg1"/>
              </a:solidFill>
              <a:latin typeface="+mn-ea"/>
              <a:sym typeface="+mn-ea"/>
            </a:endParaRPr>
          </a:p>
        </p:txBody>
      </p:sp>
      <p:graphicFrame>
        <p:nvGraphicFramePr>
          <p:cNvPr id="4" name="表格 3"/>
          <p:cNvGraphicFramePr>
            <a:graphicFrameLocks noGrp="1"/>
          </p:cNvGraphicFramePr>
          <p:nvPr>
            <p:extLst>
              <p:ext uri="{D42A27DB-BD31-4B8C-83A1-F6EECF244321}">
                <p14:modId xmlns:p14="http://schemas.microsoft.com/office/powerpoint/2010/main" val="3163730789"/>
              </p:ext>
            </p:extLst>
          </p:nvPr>
        </p:nvGraphicFramePr>
        <p:xfrm>
          <a:off x="1207008" y="2427734"/>
          <a:ext cx="6096000" cy="25958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35776834"/>
                    </a:ext>
                  </a:extLst>
                </a:gridCol>
                <a:gridCol w="1219200">
                  <a:extLst>
                    <a:ext uri="{9D8B030D-6E8A-4147-A177-3AD203B41FA5}">
                      <a16:colId xmlns:a16="http://schemas.microsoft.com/office/drawing/2014/main" val="1218014428"/>
                    </a:ext>
                  </a:extLst>
                </a:gridCol>
                <a:gridCol w="1219200">
                  <a:extLst>
                    <a:ext uri="{9D8B030D-6E8A-4147-A177-3AD203B41FA5}">
                      <a16:colId xmlns:a16="http://schemas.microsoft.com/office/drawing/2014/main" val="1044352515"/>
                    </a:ext>
                  </a:extLst>
                </a:gridCol>
                <a:gridCol w="1219200">
                  <a:extLst>
                    <a:ext uri="{9D8B030D-6E8A-4147-A177-3AD203B41FA5}">
                      <a16:colId xmlns:a16="http://schemas.microsoft.com/office/drawing/2014/main" val="1451559041"/>
                    </a:ext>
                  </a:extLst>
                </a:gridCol>
                <a:gridCol w="1219200">
                  <a:extLst>
                    <a:ext uri="{9D8B030D-6E8A-4147-A177-3AD203B41FA5}">
                      <a16:colId xmlns:a16="http://schemas.microsoft.com/office/drawing/2014/main" val="2905824267"/>
                    </a:ext>
                  </a:extLst>
                </a:gridCol>
              </a:tblGrid>
              <a:tr h="370840">
                <a:tc rowSpan="2">
                  <a:txBody>
                    <a:bodyPr/>
                    <a:lstStyle/>
                    <a:p>
                      <a:r>
                        <a:rPr lang="en-US" altLang="zh-CN" dirty="0" smtClean="0"/>
                        <a:t>       </a:t>
                      </a:r>
                      <a:r>
                        <a:rPr lang="zh-CN" altLang="en-US" dirty="0" smtClean="0"/>
                        <a:t>资源</a:t>
                      </a:r>
                      <a:endParaRPr lang="en-US" altLang="zh-CN" dirty="0" smtClean="0"/>
                    </a:p>
                    <a:p>
                      <a:r>
                        <a:rPr lang="zh-CN" altLang="en-US" dirty="0" smtClean="0"/>
                        <a:t>进程</a:t>
                      </a:r>
                      <a:endParaRPr lang="zh-CN" altLang="en-US" dirty="0"/>
                    </a:p>
                  </a:txBody>
                  <a:tcPr/>
                </a:tc>
                <a:tc>
                  <a:txBody>
                    <a:bodyPr/>
                    <a:lstStyle/>
                    <a:p>
                      <a:pPr algn="ctr"/>
                      <a:r>
                        <a:rPr lang="en-US" altLang="zh-CN" dirty="0" smtClean="0"/>
                        <a:t>Max</a:t>
                      </a:r>
                      <a:endParaRPr lang="zh-CN" altLang="en-US" dirty="0"/>
                    </a:p>
                  </a:txBody>
                  <a:tcPr/>
                </a:tc>
                <a:tc>
                  <a:txBody>
                    <a:bodyPr/>
                    <a:lstStyle/>
                    <a:p>
                      <a:pPr algn="ctr"/>
                      <a:r>
                        <a:rPr lang="en-US" altLang="zh-CN" dirty="0" smtClean="0"/>
                        <a:t>Allocation</a:t>
                      </a:r>
                      <a:endParaRPr lang="zh-CN" altLang="en-US" dirty="0"/>
                    </a:p>
                  </a:txBody>
                  <a:tcPr/>
                </a:tc>
                <a:tc>
                  <a:txBody>
                    <a:bodyPr/>
                    <a:lstStyle/>
                    <a:p>
                      <a:pPr algn="ctr"/>
                      <a:r>
                        <a:rPr lang="en-US" altLang="zh-CN" dirty="0" smtClean="0"/>
                        <a:t>Need</a:t>
                      </a:r>
                      <a:endParaRPr lang="zh-CN" altLang="en-US" dirty="0"/>
                    </a:p>
                  </a:txBody>
                  <a:tcPr/>
                </a:tc>
                <a:tc>
                  <a:txBody>
                    <a:bodyPr/>
                    <a:lstStyle/>
                    <a:p>
                      <a:pPr algn="ctr"/>
                      <a:r>
                        <a:rPr lang="en-US" altLang="zh-CN" dirty="0" smtClean="0"/>
                        <a:t>Available</a:t>
                      </a:r>
                      <a:endParaRPr lang="zh-CN" altLang="en-US" dirty="0"/>
                    </a:p>
                  </a:txBody>
                  <a:tcPr/>
                </a:tc>
                <a:extLst>
                  <a:ext uri="{0D108BD9-81ED-4DB2-BD59-A6C34878D82A}">
                    <a16:rowId xmlns:a16="http://schemas.microsoft.com/office/drawing/2014/main" val="2044628433"/>
                  </a:ext>
                </a:extLst>
              </a:tr>
              <a:tr h="370840">
                <a:tc vMerge="1">
                  <a:txBody>
                    <a:bodyPr/>
                    <a:lstStyle/>
                    <a:p>
                      <a:endParaRPr lang="zh-CN" altLang="en-US" dirty="0"/>
                    </a:p>
                  </a:txBody>
                  <a:tcPr/>
                </a:tc>
                <a:tc>
                  <a:txBody>
                    <a:bodyPr/>
                    <a:lstStyle/>
                    <a:p>
                      <a:r>
                        <a:rPr lang="en-US" altLang="zh-CN" baseline="0" dirty="0" smtClean="0"/>
                        <a:t>  A    B     C</a:t>
                      </a:r>
                      <a:endParaRPr lang="zh-CN" altLang="en-US" dirty="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 A    B     C</a:t>
                      </a:r>
                      <a:endParaRPr lang="zh-CN" altLang="en-US" dirty="0" smtClean="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 A    B     C</a:t>
                      </a:r>
                      <a:endParaRPr lang="zh-CN" altLang="en-US" dirty="0" smtClean="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 A    B     C</a:t>
                      </a:r>
                      <a:endParaRPr lang="zh-CN" altLang="en-US" dirty="0" smtClean="0"/>
                    </a:p>
                  </a:txBody>
                  <a:tcPr>
                    <a:solidFill>
                      <a:schemeClr val="accent6">
                        <a:lumMod val="40000"/>
                        <a:lumOff val="60000"/>
                      </a:schemeClr>
                    </a:solidFill>
                  </a:tcPr>
                </a:tc>
                <a:extLst>
                  <a:ext uri="{0D108BD9-81ED-4DB2-BD59-A6C34878D82A}">
                    <a16:rowId xmlns:a16="http://schemas.microsoft.com/office/drawing/2014/main" val="34211872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0</a:t>
                      </a:r>
                      <a:endParaRPr lang="zh-CN" altLang="en-US" dirty="0" smtClean="0">
                        <a:solidFill>
                          <a:schemeClr val="tx1"/>
                        </a:solidFill>
                      </a:endParaRPr>
                    </a:p>
                  </a:txBody>
                  <a:tcPr/>
                </a:tc>
                <a:tc>
                  <a:txBody>
                    <a:bodyPr/>
                    <a:lstStyle/>
                    <a:p>
                      <a:r>
                        <a:rPr lang="en-US" altLang="zh-CN" baseline="0" dirty="0" smtClean="0"/>
                        <a:t>  7     5    3</a:t>
                      </a:r>
                      <a:endParaRPr lang="zh-CN" altLang="en-US" dirty="0"/>
                    </a:p>
                  </a:txBody>
                  <a:tcPr/>
                </a:tc>
                <a:tc>
                  <a:txBody>
                    <a:bodyPr/>
                    <a:lstStyle/>
                    <a:p>
                      <a:r>
                        <a:rPr lang="en-US" altLang="zh-CN" baseline="0" dirty="0" smtClean="0"/>
                        <a:t> 0     1     0</a:t>
                      </a:r>
                      <a:endParaRPr lang="zh-CN" altLang="en-US" dirty="0"/>
                    </a:p>
                  </a:txBody>
                  <a:tcPr/>
                </a:tc>
                <a:tc>
                  <a:txBody>
                    <a:bodyPr/>
                    <a:lstStyle/>
                    <a:p>
                      <a:r>
                        <a:rPr lang="en-US" altLang="zh-CN" dirty="0" smtClean="0"/>
                        <a:t> 7     4     3</a:t>
                      </a:r>
                      <a:endParaRPr lang="zh-CN" altLang="en-US" dirty="0"/>
                    </a:p>
                  </a:txBody>
                  <a:tcPr/>
                </a:tc>
                <a:tc rowSpan="5">
                  <a:txBody>
                    <a:bodyPr/>
                    <a:lstStyle/>
                    <a:p>
                      <a:endParaRPr lang="en-US" altLang="zh-CN" dirty="0" smtClean="0"/>
                    </a:p>
                    <a:p>
                      <a:endParaRPr lang="en-US" altLang="zh-CN" dirty="0" smtClean="0"/>
                    </a:p>
                    <a:p>
                      <a:r>
                        <a:rPr lang="en-US" altLang="zh-CN" dirty="0" smtClean="0"/>
                        <a:t>   3    3    2</a:t>
                      </a:r>
                      <a:endParaRPr lang="zh-CN" altLang="en-US" dirty="0"/>
                    </a:p>
                  </a:txBody>
                  <a:tcPr/>
                </a:tc>
                <a:extLst>
                  <a:ext uri="{0D108BD9-81ED-4DB2-BD59-A6C34878D82A}">
                    <a16:rowId xmlns:a16="http://schemas.microsoft.com/office/drawing/2014/main" val="40252345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1</a:t>
                      </a:r>
                      <a:endParaRPr lang="zh-CN" altLang="en-US" dirty="0" smtClean="0">
                        <a:solidFill>
                          <a:schemeClr val="tx1"/>
                        </a:solidFill>
                      </a:endParaRPr>
                    </a:p>
                  </a:txBody>
                  <a:tcPr/>
                </a:tc>
                <a:tc>
                  <a:txBody>
                    <a:bodyPr/>
                    <a:lstStyle/>
                    <a:p>
                      <a:r>
                        <a:rPr lang="en-US" altLang="zh-CN" dirty="0" smtClean="0"/>
                        <a:t>  3     2     2</a:t>
                      </a:r>
                      <a:endParaRPr lang="zh-CN" altLang="en-US" dirty="0"/>
                    </a:p>
                  </a:txBody>
                  <a:tcPr/>
                </a:tc>
                <a:tc>
                  <a:txBody>
                    <a:bodyPr/>
                    <a:lstStyle/>
                    <a:p>
                      <a:r>
                        <a:rPr lang="en-US" altLang="zh-CN" dirty="0" smtClean="0"/>
                        <a:t> 2     0     0</a:t>
                      </a:r>
                      <a:endParaRPr lang="zh-CN" altLang="en-US" dirty="0"/>
                    </a:p>
                  </a:txBody>
                  <a:tcPr/>
                </a:tc>
                <a:tc>
                  <a:txBody>
                    <a:bodyPr/>
                    <a:lstStyle/>
                    <a:p>
                      <a:r>
                        <a:rPr lang="en-US" altLang="zh-CN" baseline="0" dirty="0" smtClean="0"/>
                        <a:t>  1    2     2</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6058221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2</a:t>
                      </a:r>
                      <a:endParaRPr lang="zh-CN" altLang="en-US" dirty="0" smtClean="0">
                        <a:solidFill>
                          <a:schemeClr val="tx1"/>
                        </a:solidFill>
                      </a:endParaRPr>
                    </a:p>
                  </a:txBody>
                  <a:tcPr/>
                </a:tc>
                <a:tc>
                  <a:txBody>
                    <a:bodyPr/>
                    <a:lstStyle/>
                    <a:p>
                      <a:r>
                        <a:rPr lang="en-US" altLang="zh-CN" dirty="0" smtClean="0"/>
                        <a:t>  9     0     2</a:t>
                      </a:r>
                      <a:endParaRPr lang="zh-CN" altLang="en-US" dirty="0"/>
                    </a:p>
                  </a:txBody>
                  <a:tcPr/>
                </a:tc>
                <a:tc>
                  <a:txBody>
                    <a:bodyPr/>
                    <a:lstStyle/>
                    <a:p>
                      <a:r>
                        <a:rPr lang="en-US" altLang="zh-CN" dirty="0" smtClean="0"/>
                        <a:t> 3    </a:t>
                      </a:r>
                      <a:r>
                        <a:rPr lang="en-US" altLang="zh-CN" baseline="0" dirty="0" smtClean="0"/>
                        <a:t>  0     2</a:t>
                      </a:r>
                      <a:endParaRPr lang="zh-CN" altLang="en-US" dirty="0"/>
                    </a:p>
                  </a:txBody>
                  <a:tcPr/>
                </a:tc>
                <a:tc>
                  <a:txBody>
                    <a:bodyPr/>
                    <a:lstStyle/>
                    <a:p>
                      <a:r>
                        <a:rPr lang="en-US" altLang="zh-CN" dirty="0" smtClean="0"/>
                        <a:t>  6    0     0</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2502705478"/>
                  </a:ext>
                </a:extLst>
              </a:tr>
              <a:tr h="370840">
                <a:tc>
                  <a:txBody>
                    <a:bodyPr/>
                    <a:lstStyle/>
                    <a:p>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3</a:t>
                      </a:r>
                      <a:endParaRPr lang="zh-CN" altLang="en-US" dirty="0">
                        <a:solidFill>
                          <a:schemeClr val="tx1"/>
                        </a:solidFill>
                      </a:endParaRPr>
                    </a:p>
                  </a:txBody>
                  <a:tcPr/>
                </a:tc>
                <a:tc>
                  <a:txBody>
                    <a:bodyPr/>
                    <a:lstStyle/>
                    <a:p>
                      <a:r>
                        <a:rPr lang="en-US" altLang="zh-CN" dirty="0" smtClean="0"/>
                        <a:t>  2      2     2</a:t>
                      </a:r>
                      <a:endParaRPr lang="zh-CN" altLang="en-US" dirty="0"/>
                    </a:p>
                  </a:txBody>
                  <a:tcPr/>
                </a:tc>
                <a:tc>
                  <a:txBody>
                    <a:bodyPr/>
                    <a:lstStyle/>
                    <a:p>
                      <a:r>
                        <a:rPr lang="en-US" altLang="zh-CN" dirty="0" smtClean="0"/>
                        <a:t> 2      1      1</a:t>
                      </a:r>
                      <a:endParaRPr lang="zh-CN" altLang="en-US" dirty="0"/>
                    </a:p>
                  </a:txBody>
                  <a:tcPr/>
                </a:tc>
                <a:tc>
                  <a:txBody>
                    <a:bodyPr/>
                    <a:lstStyle/>
                    <a:p>
                      <a:r>
                        <a:rPr lang="en-US" altLang="zh-CN" dirty="0" smtClean="0"/>
                        <a:t>  0     1    1</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2183544128"/>
                  </a:ext>
                </a:extLst>
              </a:tr>
              <a:tr h="370840">
                <a:tc>
                  <a:txBody>
                    <a:bodyPr/>
                    <a:lstStyle/>
                    <a:p>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4</a:t>
                      </a:r>
                      <a:endParaRPr lang="zh-CN" altLang="en-US" dirty="0">
                        <a:solidFill>
                          <a:schemeClr val="tx1"/>
                        </a:solidFill>
                      </a:endParaRPr>
                    </a:p>
                  </a:txBody>
                  <a:tcPr/>
                </a:tc>
                <a:tc>
                  <a:txBody>
                    <a:bodyPr/>
                    <a:lstStyle/>
                    <a:p>
                      <a:r>
                        <a:rPr lang="en-US" altLang="zh-CN" dirty="0" smtClean="0"/>
                        <a:t>  4      3     3</a:t>
                      </a:r>
                      <a:endParaRPr lang="zh-CN" altLang="en-US" dirty="0"/>
                    </a:p>
                  </a:txBody>
                  <a:tcPr/>
                </a:tc>
                <a:tc>
                  <a:txBody>
                    <a:bodyPr/>
                    <a:lstStyle/>
                    <a:p>
                      <a:r>
                        <a:rPr lang="en-US" altLang="zh-CN" dirty="0" smtClean="0"/>
                        <a:t> 0      0      2</a:t>
                      </a:r>
                      <a:endParaRPr lang="zh-CN" altLang="en-US" dirty="0"/>
                    </a:p>
                  </a:txBody>
                  <a:tcPr/>
                </a:tc>
                <a:tc>
                  <a:txBody>
                    <a:bodyPr/>
                    <a:lstStyle/>
                    <a:p>
                      <a:r>
                        <a:rPr lang="en-US" altLang="zh-CN" dirty="0" smtClean="0"/>
                        <a:t>  4     3     1</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243303377"/>
                  </a:ext>
                </a:extLst>
              </a:tr>
            </a:tbl>
          </a:graphicData>
        </a:graphic>
      </p:graphicFrame>
      <p:cxnSp>
        <p:nvCxnSpPr>
          <p:cNvPr id="7" name="直接连接符 6"/>
          <p:cNvCxnSpPr/>
          <p:nvPr/>
        </p:nvCxnSpPr>
        <p:spPr>
          <a:xfrm>
            <a:off x="1187624" y="2427734"/>
            <a:ext cx="1152128" cy="72636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1676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银行家算法举例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419622"/>
            <a:ext cx="7114701" cy="1754326"/>
          </a:xfrm>
          <a:prstGeom prst="rect">
            <a:avLst/>
          </a:prstGeom>
        </p:spPr>
        <p:txBody>
          <a:bodyPr wrap="square">
            <a:spAutoFit/>
          </a:bodyPr>
          <a:lstStyle/>
          <a:p>
            <a:pPr indent="-342900">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假定</a:t>
            </a:r>
            <a:r>
              <a:rPr lang="en-US" altLang="zh-CN" sz="2400" b="1" dirty="0" smtClean="0">
                <a:solidFill>
                  <a:schemeClr val="bg1"/>
                </a:solidFill>
                <a:latin typeface="+mn-ea"/>
                <a:sym typeface="+mn-ea"/>
              </a:rPr>
              <a:t>P</a:t>
            </a:r>
            <a:r>
              <a:rPr lang="en-US" altLang="zh-CN" sz="2400" b="1" baseline="-25000" dirty="0" smtClean="0">
                <a:solidFill>
                  <a:schemeClr val="bg1"/>
                </a:solidFill>
                <a:latin typeface="+mn-ea"/>
                <a:sym typeface="+mn-ea"/>
              </a:rPr>
              <a:t>1</a:t>
            </a:r>
            <a:r>
              <a:rPr lang="zh-CN" altLang="en-US" sz="2400" b="1" dirty="0" smtClean="0">
                <a:solidFill>
                  <a:schemeClr val="bg1"/>
                </a:solidFill>
                <a:latin typeface="+mn-ea"/>
                <a:sym typeface="+mn-ea"/>
              </a:rPr>
              <a:t>进程、</a:t>
            </a:r>
            <a:r>
              <a:rPr lang="en-US" altLang="zh-CN" sz="2400" b="1" dirty="0" smtClean="0">
                <a:solidFill>
                  <a:schemeClr val="bg1"/>
                </a:solidFill>
                <a:latin typeface="+mn-ea"/>
                <a:sym typeface="+mn-ea"/>
              </a:rPr>
              <a:t>P</a:t>
            </a:r>
            <a:r>
              <a:rPr lang="en-US" altLang="zh-CN" sz="2400" b="1" baseline="-25000" dirty="0">
                <a:solidFill>
                  <a:schemeClr val="bg1"/>
                </a:solidFill>
                <a:latin typeface="+mn-ea"/>
                <a:sym typeface="+mn-ea"/>
              </a:rPr>
              <a:t>4</a:t>
            </a:r>
            <a:r>
              <a:rPr lang="zh-CN" altLang="en-US" sz="2400" b="1" dirty="0" smtClean="0">
                <a:solidFill>
                  <a:schemeClr val="bg1"/>
                </a:solidFill>
                <a:latin typeface="+mn-ea"/>
                <a:sym typeface="+mn-ea"/>
              </a:rPr>
              <a:t>进程和</a:t>
            </a:r>
            <a:r>
              <a:rPr lang="en-US" altLang="zh-CN" sz="2400" b="1" dirty="0" smtClean="0">
                <a:solidFill>
                  <a:schemeClr val="bg1"/>
                </a:solidFill>
                <a:latin typeface="+mn-ea"/>
                <a:sym typeface="+mn-ea"/>
              </a:rPr>
              <a:t>P</a:t>
            </a:r>
            <a:r>
              <a:rPr lang="en-US" altLang="zh-CN" sz="2400" b="1" baseline="-25000" dirty="0">
                <a:solidFill>
                  <a:schemeClr val="bg1"/>
                </a:solidFill>
                <a:latin typeface="+mn-ea"/>
                <a:sym typeface="+mn-ea"/>
              </a:rPr>
              <a:t>0</a:t>
            </a:r>
            <a:r>
              <a:rPr lang="zh-CN" altLang="en-US" sz="2400" b="1" dirty="0" smtClean="0">
                <a:solidFill>
                  <a:schemeClr val="bg1"/>
                </a:solidFill>
                <a:latin typeface="+mn-ea"/>
                <a:sym typeface="+mn-ea"/>
              </a:rPr>
              <a:t>进程需要请求资源，资源数分别为</a:t>
            </a:r>
            <a:r>
              <a:rPr lang="en-US" altLang="zh-CN" sz="2400" b="1" dirty="0" smtClean="0">
                <a:solidFill>
                  <a:schemeClr val="bg1"/>
                </a:solidFill>
                <a:latin typeface="+mn-ea"/>
                <a:sym typeface="+mn-ea"/>
              </a:rPr>
              <a:t>Request</a:t>
            </a:r>
            <a:r>
              <a:rPr lang="en-US" altLang="zh-CN" sz="2400" b="1" baseline="-25000" dirty="0" smtClean="0">
                <a:solidFill>
                  <a:schemeClr val="bg1"/>
                </a:solidFill>
                <a:latin typeface="+mn-ea"/>
                <a:sym typeface="+mn-ea"/>
              </a:rPr>
              <a:t>1</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1</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Request</a:t>
            </a:r>
            <a:r>
              <a:rPr lang="en-US" altLang="zh-CN" sz="2400" b="1" baseline="-25000" dirty="0" smtClean="0">
                <a:solidFill>
                  <a:schemeClr val="bg1"/>
                </a:solidFill>
                <a:latin typeface="+mn-ea"/>
                <a:sym typeface="+mn-ea"/>
              </a:rPr>
              <a:t>4</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a:t>
            </a:r>
            <a:r>
              <a:rPr lang="en-US" altLang="zh-CN" sz="2400" b="1" dirty="0">
                <a:solidFill>
                  <a:schemeClr val="bg1"/>
                </a:solidFill>
                <a:latin typeface="+mn-ea"/>
                <a:sym typeface="+mn-ea"/>
              </a:rPr>
              <a:t> </a:t>
            </a:r>
            <a:r>
              <a:rPr lang="en-US" altLang="zh-CN" sz="2400" b="1" dirty="0" smtClean="0">
                <a:solidFill>
                  <a:schemeClr val="bg1"/>
                </a:solidFill>
                <a:latin typeface="+mn-ea"/>
                <a:sym typeface="+mn-ea"/>
              </a:rPr>
              <a:t>Request</a:t>
            </a:r>
            <a:r>
              <a:rPr lang="en-US" altLang="zh-CN" sz="2400" b="1" baseline="-25000" dirty="0" smtClean="0">
                <a:solidFill>
                  <a:schemeClr val="bg1"/>
                </a:solidFill>
                <a:latin typeface="+mn-ea"/>
                <a:sym typeface="+mn-ea"/>
              </a:rPr>
              <a:t>0</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）。判断能否分配资源。</a:t>
            </a:r>
            <a:endParaRPr lang="en-US" altLang="zh-CN" sz="2400" b="1" dirty="0">
              <a:solidFill>
                <a:schemeClr val="bg1"/>
              </a:solidFill>
              <a:latin typeface="+mn-ea"/>
              <a:sym typeface="+mn-ea"/>
            </a:endParaRPr>
          </a:p>
        </p:txBody>
      </p:sp>
    </p:spTree>
    <p:extLst>
      <p:ext uri="{BB962C8B-B14F-4D97-AF65-F5344CB8AC3E}">
        <p14:creationId xmlns:p14="http://schemas.microsoft.com/office/powerpoint/2010/main" val="241634252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763714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银行家算法举例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第一步  安全算法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97658" y="1229306"/>
            <a:ext cx="7114701" cy="978729"/>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1</a:t>
            </a:r>
            <a:r>
              <a:rPr lang="zh-CN" altLang="en-US" sz="2400" b="1" dirty="0" smtClean="0">
                <a:solidFill>
                  <a:schemeClr val="bg1"/>
                </a:solidFill>
                <a:latin typeface="+mn-ea"/>
                <a:sym typeface="+mn-ea"/>
              </a:rPr>
              <a:t>）判断</a:t>
            </a:r>
            <a:r>
              <a:rPr lang="en-US" altLang="zh-CN" sz="2400" b="1" dirty="0" smtClean="0">
                <a:solidFill>
                  <a:schemeClr val="bg1"/>
                </a:solidFill>
                <a:latin typeface="+mn-ea"/>
                <a:sym typeface="+mn-ea"/>
              </a:rPr>
              <a:t>t</a:t>
            </a:r>
            <a:r>
              <a:rPr lang="en-US" altLang="zh-CN" sz="2400" b="1" baseline="-25000" dirty="0" smtClean="0">
                <a:solidFill>
                  <a:schemeClr val="bg1"/>
                </a:solidFill>
                <a:latin typeface="+mn-ea"/>
                <a:sym typeface="+mn-ea"/>
              </a:rPr>
              <a:t>0</a:t>
            </a:r>
            <a:r>
              <a:rPr lang="zh-CN" altLang="en-US" sz="2400" b="1" dirty="0" smtClean="0">
                <a:solidFill>
                  <a:schemeClr val="bg1"/>
                </a:solidFill>
                <a:latin typeface="+mn-ea"/>
                <a:sym typeface="+mn-ea"/>
              </a:rPr>
              <a:t>时刻系统是否在安全状态 </a:t>
            </a:r>
            <a:r>
              <a:rPr lang="en-US" altLang="zh-CN" sz="2400" b="1" dirty="0" smtClean="0">
                <a:solidFill>
                  <a:schemeClr val="bg1"/>
                </a:solidFill>
                <a:latin typeface="+mn-ea"/>
                <a:sym typeface="+mn-ea"/>
              </a:rPr>
              <a:t>work</a:t>
            </a:r>
            <a:r>
              <a:rPr lang="zh-CN" altLang="en-US" sz="2400" b="1" baseline="-25000" dirty="0" smtClean="0">
                <a:solidFill>
                  <a:schemeClr val="bg1"/>
                </a:solidFill>
                <a:latin typeface="+mn-ea"/>
                <a:sym typeface="+mn-ea"/>
              </a:rPr>
              <a:t>初</a:t>
            </a:r>
            <a:r>
              <a:rPr lang="en-US" altLang="zh-CN" sz="2400" b="1" dirty="0" smtClean="0">
                <a:solidFill>
                  <a:schemeClr val="bg1"/>
                </a:solidFill>
                <a:latin typeface="+mn-ea"/>
                <a:sym typeface="+mn-ea"/>
              </a:rPr>
              <a:t>=</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a:t>
            </a:r>
            <a:endParaRPr lang="en-US" altLang="zh-CN" sz="2400" b="1" dirty="0">
              <a:solidFill>
                <a:schemeClr val="bg1"/>
              </a:solidFill>
              <a:latin typeface="+mn-ea"/>
              <a:sym typeface="+mn-ea"/>
            </a:endParaRPr>
          </a:p>
        </p:txBody>
      </p:sp>
      <p:graphicFrame>
        <p:nvGraphicFramePr>
          <p:cNvPr id="4" name="表格 3"/>
          <p:cNvGraphicFramePr>
            <a:graphicFrameLocks noGrp="1"/>
          </p:cNvGraphicFramePr>
          <p:nvPr>
            <p:extLst>
              <p:ext uri="{D42A27DB-BD31-4B8C-83A1-F6EECF244321}">
                <p14:modId xmlns:p14="http://schemas.microsoft.com/office/powerpoint/2010/main" val="1971762448"/>
              </p:ext>
            </p:extLst>
          </p:nvPr>
        </p:nvGraphicFramePr>
        <p:xfrm>
          <a:off x="704512" y="2212598"/>
          <a:ext cx="7755920" cy="2663408"/>
        </p:xfrm>
        <a:graphic>
          <a:graphicData uri="http://schemas.openxmlformats.org/drawingml/2006/table">
            <a:tbl>
              <a:tblPr firstRow="1" bandRow="1">
                <a:tableStyleId>{5C22544A-7EE6-4342-B048-85BDC9FD1C3A}</a:tableStyleId>
              </a:tblPr>
              <a:tblGrid>
                <a:gridCol w="1082581">
                  <a:extLst>
                    <a:ext uri="{9D8B030D-6E8A-4147-A177-3AD203B41FA5}">
                      <a16:colId xmlns:a16="http://schemas.microsoft.com/office/drawing/2014/main" val="135776834"/>
                    </a:ext>
                  </a:extLst>
                </a:gridCol>
                <a:gridCol w="1272738">
                  <a:extLst>
                    <a:ext uri="{9D8B030D-6E8A-4147-A177-3AD203B41FA5}">
                      <a16:colId xmlns:a16="http://schemas.microsoft.com/office/drawing/2014/main" val="1218014428"/>
                    </a:ext>
                  </a:extLst>
                </a:gridCol>
                <a:gridCol w="1224136">
                  <a:extLst>
                    <a:ext uri="{9D8B030D-6E8A-4147-A177-3AD203B41FA5}">
                      <a16:colId xmlns:a16="http://schemas.microsoft.com/office/drawing/2014/main" val="1044352515"/>
                    </a:ext>
                  </a:extLst>
                </a:gridCol>
                <a:gridCol w="1296144">
                  <a:extLst>
                    <a:ext uri="{9D8B030D-6E8A-4147-A177-3AD203B41FA5}">
                      <a16:colId xmlns:a16="http://schemas.microsoft.com/office/drawing/2014/main" val="1451559041"/>
                    </a:ext>
                  </a:extLst>
                </a:gridCol>
                <a:gridCol w="1800200">
                  <a:extLst>
                    <a:ext uri="{9D8B030D-6E8A-4147-A177-3AD203B41FA5}">
                      <a16:colId xmlns:a16="http://schemas.microsoft.com/office/drawing/2014/main" val="2905824267"/>
                    </a:ext>
                  </a:extLst>
                </a:gridCol>
                <a:gridCol w="1080121">
                  <a:extLst>
                    <a:ext uri="{9D8B030D-6E8A-4147-A177-3AD203B41FA5}">
                      <a16:colId xmlns:a16="http://schemas.microsoft.com/office/drawing/2014/main" val="2923476396"/>
                    </a:ext>
                  </a:extLst>
                </a:gridCol>
              </a:tblGrid>
              <a:tr h="438368">
                <a:tc rowSpan="2">
                  <a:txBody>
                    <a:bodyPr/>
                    <a:lstStyle/>
                    <a:p>
                      <a:r>
                        <a:rPr lang="en-US" altLang="zh-CN" dirty="0" smtClean="0"/>
                        <a:t>       </a:t>
                      </a:r>
                      <a:r>
                        <a:rPr lang="zh-CN" altLang="en-US" dirty="0" smtClean="0"/>
                        <a:t>资源</a:t>
                      </a:r>
                      <a:endParaRPr lang="en-US" altLang="zh-CN" dirty="0" smtClean="0"/>
                    </a:p>
                    <a:p>
                      <a:r>
                        <a:rPr lang="zh-CN" altLang="en-US" dirty="0" smtClean="0"/>
                        <a:t>进程</a:t>
                      </a:r>
                      <a:endParaRPr lang="zh-CN" altLang="en-US" dirty="0"/>
                    </a:p>
                  </a:txBody>
                  <a:tcPr/>
                </a:tc>
                <a:tc>
                  <a:txBody>
                    <a:bodyPr/>
                    <a:lstStyle/>
                    <a:p>
                      <a:pPr algn="ctr"/>
                      <a:r>
                        <a:rPr lang="en-US" altLang="zh-CN" dirty="0" smtClean="0"/>
                        <a:t>Work</a:t>
                      </a:r>
                      <a:endParaRPr lang="zh-CN" altLang="en-US" dirty="0"/>
                    </a:p>
                  </a:txBody>
                  <a:tcPr/>
                </a:tc>
                <a:tc>
                  <a:txBody>
                    <a:bodyPr/>
                    <a:lstStyle/>
                    <a:p>
                      <a:pPr algn="ctr"/>
                      <a:r>
                        <a:rPr lang="en-US" altLang="zh-CN" dirty="0" smtClean="0"/>
                        <a:t>Allocation</a:t>
                      </a:r>
                      <a:endParaRPr lang="zh-CN" altLang="en-US" dirty="0"/>
                    </a:p>
                  </a:txBody>
                  <a:tcPr/>
                </a:tc>
                <a:tc>
                  <a:txBody>
                    <a:bodyPr/>
                    <a:lstStyle/>
                    <a:p>
                      <a:pPr algn="ctr"/>
                      <a:r>
                        <a:rPr lang="en-US" altLang="zh-CN" dirty="0" smtClean="0"/>
                        <a:t>Need</a:t>
                      </a:r>
                      <a:endParaRPr lang="zh-CN" altLang="en-US" dirty="0"/>
                    </a:p>
                  </a:txBody>
                  <a:tcPr/>
                </a:tc>
                <a:tc>
                  <a:txBody>
                    <a:bodyPr/>
                    <a:lstStyle/>
                    <a:p>
                      <a:pPr algn="ctr"/>
                      <a:r>
                        <a:rPr lang="en-US" altLang="zh-CN" dirty="0" err="1" smtClean="0"/>
                        <a:t>Work+Allocation</a:t>
                      </a:r>
                      <a:endParaRPr lang="zh-CN" altLang="en-US" dirty="0"/>
                    </a:p>
                  </a:txBody>
                  <a:tcPr/>
                </a:tc>
                <a:tc>
                  <a:txBody>
                    <a:bodyPr/>
                    <a:lstStyle/>
                    <a:p>
                      <a:pPr algn="ctr"/>
                      <a:r>
                        <a:rPr lang="en-US" altLang="zh-CN" dirty="0" smtClean="0"/>
                        <a:t>Finish</a:t>
                      </a:r>
                      <a:endParaRPr lang="zh-CN" altLang="en-US" dirty="0"/>
                    </a:p>
                  </a:txBody>
                  <a:tcPr/>
                </a:tc>
                <a:extLst>
                  <a:ext uri="{0D108BD9-81ED-4DB2-BD59-A6C34878D82A}">
                    <a16:rowId xmlns:a16="http://schemas.microsoft.com/office/drawing/2014/main" val="2044628433"/>
                  </a:ext>
                </a:extLst>
              </a:tr>
              <a:tr h="370840">
                <a:tc vMerge="1">
                  <a:txBody>
                    <a:bodyPr/>
                    <a:lstStyle/>
                    <a:p>
                      <a:endParaRPr lang="zh-CN" altLang="en-US" dirty="0"/>
                    </a:p>
                  </a:txBody>
                  <a:tcPr/>
                </a:tc>
                <a:tc>
                  <a:txBody>
                    <a:bodyPr/>
                    <a:lstStyle/>
                    <a:p>
                      <a:r>
                        <a:rPr lang="en-US" altLang="zh-CN" baseline="0" dirty="0" smtClean="0"/>
                        <a:t>  A    B     C</a:t>
                      </a:r>
                      <a:endParaRPr lang="zh-CN" altLang="en-US" dirty="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 A    B     C</a:t>
                      </a:r>
                      <a:endParaRPr lang="zh-CN" altLang="en-US" dirty="0" smtClean="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 A    B     C</a:t>
                      </a:r>
                      <a:endParaRPr lang="zh-CN" altLang="en-US" dirty="0" smtClean="0"/>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aseline="0" dirty="0" smtClean="0"/>
                        <a:t> A    B     C</a:t>
                      </a:r>
                      <a:endParaRPr lang="zh-CN" altLang="en-US" dirty="0" smtClean="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 A    B    C</a:t>
                      </a:r>
                      <a:endParaRPr lang="zh-CN" altLang="en-US" dirty="0" smtClean="0"/>
                    </a:p>
                  </a:txBody>
                  <a:tcPr>
                    <a:solidFill>
                      <a:schemeClr val="accent6">
                        <a:lumMod val="40000"/>
                        <a:lumOff val="60000"/>
                      </a:schemeClr>
                    </a:solidFill>
                  </a:tcPr>
                </a:tc>
                <a:extLst>
                  <a:ext uri="{0D108BD9-81ED-4DB2-BD59-A6C34878D82A}">
                    <a16:rowId xmlns:a16="http://schemas.microsoft.com/office/drawing/2014/main" val="34211872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1</a:t>
                      </a:r>
                      <a:endParaRPr lang="zh-CN" altLang="en-US" dirty="0" smtClean="0">
                        <a:solidFill>
                          <a:schemeClr val="tx1"/>
                        </a:solidFill>
                      </a:endParaRPr>
                    </a:p>
                  </a:txBody>
                  <a:tcPr/>
                </a:tc>
                <a:tc>
                  <a:txBody>
                    <a:bodyPr/>
                    <a:lstStyle/>
                    <a:p>
                      <a:r>
                        <a:rPr lang="en-US" altLang="zh-CN" baseline="0" dirty="0" smtClean="0"/>
                        <a:t>  3    3      2</a:t>
                      </a:r>
                      <a:endParaRPr lang="zh-CN" altLang="en-US" dirty="0"/>
                    </a:p>
                  </a:txBody>
                  <a:tcPr/>
                </a:tc>
                <a:tc>
                  <a:txBody>
                    <a:bodyPr/>
                    <a:lstStyle/>
                    <a:p>
                      <a:r>
                        <a:rPr lang="en-US" altLang="zh-CN" baseline="0" dirty="0" smtClean="0"/>
                        <a:t> 2     0     0</a:t>
                      </a:r>
                      <a:endParaRPr lang="zh-CN" altLang="en-US" dirty="0"/>
                    </a:p>
                  </a:txBody>
                  <a:tcPr/>
                </a:tc>
                <a:tc>
                  <a:txBody>
                    <a:bodyPr/>
                    <a:lstStyle/>
                    <a:p>
                      <a:r>
                        <a:rPr lang="en-US" altLang="zh-CN" dirty="0" smtClean="0"/>
                        <a:t> 1     2     2</a:t>
                      </a:r>
                      <a:endParaRPr lang="zh-CN" altLang="en-US" dirty="0"/>
                    </a:p>
                  </a:txBody>
                  <a:tcPr/>
                </a:tc>
                <a:tc>
                  <a:txBody>
                    <a:bodyPr/>
                    <a:lstStyle/>
                    <a:p>
                      <a:pPr algn="ctr"/>
                      <a:r>
                        <a:rPr lang="en-US" altLang="zh-CN" dirty="0" smtClean="0"/>
                        <a:t>  5     3     2</a:t>
                      </a:r>
                      <a:endParaRPr lang="zh-CN" altLang="en-US" dirty="0"/>
                    </a:p>
                  </a:txBody>
                  <a:tcPr/>
                </a:tc>
                <a:tc>
                  <a:txBody>
                    <a:bodyPr/>
                    <a:lstStyle/>
                    <a:p>
                      <a:pPr algn="ctr"/>
                      <a:r>
                        <a:rPr lang="en-US" altLang="zh-CN" dirty="0" smtClean="0"/>
                        <a:t>T</a:t>
                      </a:r>
                      <a:endParaRPr lang="zh-CN" altLang="en-US" dirty="0"/>
                    </a:p>
                  </a:txBody>
                  <a:tcPr/>
                </a:tc>
                <a:extLst>
                  <a:ext uri="{0D108BD9-81ED-4DB2-BD59-A6C34878D82A}">
                    <a16:rowId xmlns:a16="http://schemas.microsoft.com/office/drawing/2014/main" val="40252345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3</a:t>
                      </a:r>
                      <a:endParaRPr lang="zh-CN" altLang="en-US" dirty="0" smtClean="0">
                        <a:solidFill>
                          <a:schemeClr val="tx1"/>
                        </a:solidFill>
                      </a:endParaRPr>
                    </a:p>
                  </a:txBody>
                  <a:tcPr/>
                </a:tc>
                <a:tc>
                  <a:txBody>
                    <a:bodyPr/>
                    <a:lstStyle/>
                    <a:p>
                      <a:r>
                        <a:rPr lang="en-US" altLang="zh-CN" dirty="0" smtClean="0"/>
                        <a:t>  5     3     2</a:t>
                      </a:r>
                      <a:endParaRPr lang="zh-CN" altLang="en-US" dirty="0"/>
                    </a:p>
                  </a:txBody>
                  <a:tcPr/>
                </a:tc>
                <a:tc>
                  <a:txBody>
                    <a:bodyPr/>
                    <a:lstStyle/>
                    <a:p>
                      <a:r>
                        <a:rPr lang="en-US" altLang="zh-CN" dirty="0" smtClean="0"/>
                        <a:t> 2     1     1</a:t>
                      </a:r>
                      <a:endParaRPr lang="zh-CN" altLang="en-US" dirty="0"/>
                    </a:p>
                  </a:txBody>
                  <a:tcPr/>
                </a:tc>
                <a:tc>
                  <a:txBody>
                    <a:bodyPr/>
                    <a:lstStyle/>
                    <a:p>
                      <a:r>
                        <a:rPr lang="en-US" altLang="zh-CN" baseline="0" dirty="0" smtClean="0"/>
                        <a:t>  0    1     1</a:t>
                      </a:r>
                      <a:endParaRPr lang="zh-CN" altLang="en-US" dirty="0"/>
                    </a:p>
                  </a:txBody>
                  <a:tcPr/>
                </a:tc>
                <a:tc>
                  <a:txBody>
                    <a:bodyPr/>
                    <a:lstStyle/>
                    <a:p>
                      <a:pPr algn="ctr"/>
                      <a:r>
                        <a:rPr lang="en-US" altLang="zh-CN" dirty="0" smtClean="0"/>
                        <a:t>  7     4     3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t>T</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txBody>
                  <a:tcPr/>
                </a:tc>
                <a:extLst>
                  <a:ext uri="{0D108BD9-81ED-4DB2-BD59-A6C34878D82A}">
                    <a16:rowId xmlns:a16="http://schemas.microsoft.com/office/drawing/2014/main" val="6058221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4</a:t>
                      </a:r>
                      <a:endParaRPr lang="zh-CN" altLang="en-US" dirty="0" smtClean="0">
                        <a:solidFill>
                          <a:schemeClr val="tx1"/>
                        </a:solidFill>
                      </a:endParaRPr>
                    </a:p>
                  </a:txBody>
                  <a:tcPr/>
                </a:tc>
                <a:tc>
                  <a:txBody>
                    <a:bodyPr/>
                    <a:lstStyle/>
                    <a:p>
                      <a:r>
                        <a:rPr lang="en-US" altLang="zh-CN" dirty="0" smtClean="0"/>
                        <a:t>  7     4     3</a:t>
                      </a:r>
                      <a:endParaRPr lang="zh-CN" altLang="en-US" dirty="0"/>
                    </a:p>
                  </a:txBody>
                  <a:tcPr/>
                </a:tc>
                <a:tc>
                  <a:txBody>
                    <a:bodyPr/>
                    <a:lstStyle/>
                    <a:p>
                      <a:r>
                        <a:rPr lang="en-US" altLang="zh-CN" dirty="0" smtClean="0"/>
                        <a:t> 0    </a:t>
                      </a:r>
                      <a:r>
                        <a:rPr lang="en-US" altLang="zh-CN" baseline="0" dirty="0" smtClean="0"/>
                        <a:t>  0     2</a:t>
                      </a:r>
                      <a:endParaRPr lang="zh-CN" altLang="en-US" dirty="0"/>
                    </a:p>
                  </a:txBody>
                  <a:tcPr/>
                </a:tc>
                <a:tc>
                  <a:txBody>
                    <a:bodyPr/>
                    <a:lstStyle/>
                    <a:p>
                      <a:r>
                        <a:rPr lang="en-US" altLang="zh-CN" dirty="0" smtClean="0"/>
                        <a:t>  4    3     1</a:t>
                      </a:r>
                      <a:endParaRPr lang="zh-CN" altLang="en-US" dirty="0"/>
                    </a:p>
                  </a:txBody>
                  <a:tcPr/>
                </a:tc>
                <a:tc>
                  <a:txBody>
                    <a:bodyPr/>
                    <a:lstStyle/>
                    <a:p>
                      <a:pPr algn="ctr"/>
                      <a:r>
                        <a:rPr lang="en-US" altLang="zh-CN" dirty="0" smtClean="0"/>
                        <a:t>  7      4     5</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t>T</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txBody>
                  <a:tcPr/>
                </a:tc>
                <a:extLst>
                  <a:ext uri="{0D108BD9-81ED-4DB2-BD59-A6C34878D82A}">
                    <a16:rowId xmlns:a16="http://schemas.microsoft.com/office/drawing/2014/main" val="2502705478"/>
                  </a:ext>
                </a:extLst>
              </a:tr>
              <a:tr h="370840">
                <a:tc>
                  <a:txBody>
                    <a:bodyPr/>
                    <a:lstStyle/>
                    <a:p>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2</a:t>
                      </a:r>
                      <a:endParaRPr lang="zh-CN" altLang="en-US" dirty="0">
                        <a:solidFill>
                          <a:schemeClr val="tx1"/>
                        </a:solidFill>
                      </a:endParaRPr>
                    </a:p>
                  </a:txBody>
                  <a:tcPr/>
                </a:tc>
                <a:tc>
                  <a:txBody>
                    <a:bodyPr/>
                    <a:lstStyle/>
                    <a:p>
                      <a:r>
                        <a:rPr lang="en-US" altLang="zh-CN" dirty="0" smtClean="0"/>
                        <a:t>  7      4     5</a:t>
                      </a:r>
                      <a:endParaRPr lang="zh-CN" altLang="en-US" dirty="0"/>
                    </a:p>
                  </a:txBody>
                  <a:tcPr/>
                </a:tc>
                <a:tc>
                  <a:txBody>
                    <a:bodyPr/>
                    <a:lstStyle/>
                    <a:p>
                      <a:r>
                        <a:rPr lang="en-US" altLang="zh-CN" dirty="0" smtClean="0"/>
                        <a:t> 3      0      2</a:t>
                      </a:r>
                      <a:endParaRPr lang="zh-CN" altLang="en-US" dirty="0"/>
                    </a:p>
                  </a:txBody>
                  <a:tcPr/>
                </a:tc>
                <a:tc>
                  <a:txBody>
                    <a:bodyPr/>
                    <a:lstStyle/>
                    <a:p>
                      <a:r>
                        <a:rPr lang="en-US" altLang="zh-CN" dirty="0" smtClean="0"/>
                        <a:t>  6    0     0</a:t>
                      </a:r>
                      <a:endParaRPr lang="zh-CN" altLang="en-US" dirty="0"/>
                    </a:p>
                  </a:txBody>
                  <a:tcPr/>
                </a:tc>
                <a:tc>
                  <a:txBody>
                    <a:bodyPr/>
                    <a:lstStyle/>
                    <a:p>
                      <a:pPr algn="ctr"/>
                      <a:r>
                        <a:rPr lang="en-US" altLang="zh-CN" dirty="0" smtClean="0"/>
                        <a:t> 10     4     7</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t>T</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txBody>
                  <a:tcPr/>
                </a:tc>
                <a:extLst>
                  <a:ext uri="{0D108BD9-81ED-4DB2-BD59-A6C34878D82A}">
                    <a16:rowId xmlns:a16="http://schemas.microsoft.com/office/drawing/2014/main" val="2183544128"/>
                  </a:ext>
                </a:extLst>
              </a:tr>
              <a:tr h="370840">
                <a:tc>
                  <a:txBody>
                    <a:bodyPr/>
                    <a:lstStyle/>
                    <a:p>
                      <a:r>
                        <a:rPr lang="en-US" altLang="zh-CN" sz="1800" b="1" dirty="0" smtClean="0">
                          <a:solidFill>
                            <a:schemeClr val="tx1"/>
                          </a:solidFill>
                          <a:latin typeface="+mn-ea"/>
                          <a:sym typeface="+mn-ea"/>
                        </a:rPr>
                        <a:t>P</a:t>
                      </a:r>
                      <a:r>
                        <a:rPr lang="en-US" altLang="zh-CN" sz="1800" b="1" baseline="-25000" dirty="0" smtClean="0">
                          <a:solidFill>
                            <a:schemeClr val="tx1"/>
                          </a:solidFill>
                          <a:latin typeface="+mn-ea"/>
                          <a:sym typeface="+mn-ea"/>
                        </a:rPr>
                        <a:t>0</a:t>
                      </a:r>
                      <a:endParaRPr lang="zh-CN" altLang="en-US" dirty="0">
                        <a:solidFill>
                          <a:schemeClr val="tx1"/>
                        </a:solidFill>
                      </a:endParaRPr>
                    </a:p>
                  </a:txBody>
                  <a:tcPr/>
                </a:tc>
                <a:tc>
                  <a:txBody>
                    <a:bodyPr/>
                    <a:lstStyle/>
                    <a:p>
                      <a:r>
                        <a:rPr lang="en-US" altLang="zh-CN" dirty="0" smtClean="0"/>
                        <a:t> 10     4     7</a:t>
                      </a:r>
                      <a:endParaRPr lang="zh-CN" altLang="en-US" dirty="0"/>
                    </a:p>
                  </a:txBody>
                  <a:tcPr/>
                </a:tc>
                <a:tc>
                  <a:txBody>
                    <a:bodyPr/>
                    <a:lstStyle/>
                    <a:p>
                      <a:r>
                        <a:rPr lang="en-US" altLang="zh-CN" dirty="0" smtClean="0"/>
                        <a:t> 0      1      0</a:t>
                      </a:r>
                      <a:endParaRPr lang="zh-CN" altLang="en-US" dirty="0"/>
                    </a:p>
                  </a:txBody>
                  <a:tcPr/>
                </a:tc>
                <a:tc>
                  <a:txBody>
                    <a:bodyPr/>
                    <a:lstStyle/>
                    <a:p>
                      <a:r>
                        <a:rPr lang="en-US" altLang="zh-CN" dirty="0" smtClean="0"/>
                        <a:t>  7     4     3</a:t>
                      </a:r>
                      <a:endParaRPr lang="zh-CN" altLang="en-US" dirty="0"/>
                    </a:p>
                  </a:txBody>
                  <a:tcPr/>
                </a:tc>
                <a:tc>
                  <a:txBody>
                    <a:bodyPr/>
                    <a:lstStyle/>
                    <a:p>
                      <a:r>
                        <a:rPr lang="en-US" altLang="zh-CN" dirty="0" smtClean="0"/>
                        <a:t>       10     5    7</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T</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txBody>
                  <a:tcPr/>
                </a:tc>
                <a:extLst>
                  <a:ext uri="{0D108BD9-81ED-4DB2-BD59-A6C34878D82A}">
                    <a16:rowId xmlns:a16="http://schemas.microsoft.com/office/drawing/2014/main" val="243303377"/>
                  </a:ext>
                </a:extLst>
              </a:tr>
            </a:tbl>
          </a:graphicData>
        </a:graphic>
      </p:graphicFrame>
      <p:cxnSp>
        <p:nvCxnSpPr>
          <p:cNvPr id="7" name="直接连接符 6"/>
          <p:cNvCxnSpPr/>
          <p:nvPr/>
        </p:nvCxnSpPr>
        <p:spPr>
          <a:xfrm>
            <a:off x="698939" y="2212598"/>
            <a:ext cx="1104181" cy="79208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707904" y="2931790"/>
            <a:ext cx="1332416" cy="144655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altLang="zh-CN" sz="8800" b="1" dirty="0" smtClean="0">
                <a:ln/>
                <a:solidFill>
                  <a:schemeClr val="accent3"/>
                </a:solidFill>
              </a:rPr>
              <a:t>ok</a:t>
            </a:r>
            <a:endParaRPr lang="zh-CN" altLang="en-US" sz="8800" b="1" dirty="0">
              <a:ln/>
              <a:solidFill>
                <a:schemeClr val="accent3"/>
              </a:solidFill>
            </a:endParaRPr>
          </a:p>
        </p:txBody>
      </p:sp>
    </p:spTree>
    <p:extLst>
      <p:ext uri="{BB962C8B-B14F-4D97-AF65-F5344CB8AC3E}">
        <p14:creationId xmlns:p14="http://schemas.microsoft.com/office/powerpoint/2010/main" val="16039564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816096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银行家算法举例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第二</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步  银行家算法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97658" y="1229306"/>
            <a:ext cx="7114701" cy="978729"/>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P</a:t>
            </a:r>
            <a:r>
              <a:rPr lang="en-US" altLang="zh-CN" sz="2400" b="1" baseline="-25000" dirty="0" smtClean="0">
                <a:solidFill>
                  <a:schemeClr val="bg1"/>
                </a:solidFill>
                <a:latin typeface="+mn-ea"/>
                <a:sym typeface="+mn-ea"/>
              </a:rPr>
              <a:t>1</a:t>
            </a:r>
            <a:r>
              <a:rPr lang="zh-CN" altLang="en-US" sz="2400" b="1" dirty="0" smtClean="0">
                <a:solidFill>
                  <a:schemeClr val="bg1"/>
                </a:solidFill>
                <a:latin typeface="+mn-ea"/>
                <a:sym typeface="+mn-ea"/>
              </a:rPr>
              <a:t>请求资源</a:t>
            </a:r>
            <a:r>
              <a:rPr lang="en-US" altLang="zh-CN" sz="2400" b="1" dirty="0" smtClean="0">
                <a:solidFill>
                  <a:schemeClr val="bg1"/>
                </a:solidFill>
                <a:latin typeface="+mn-ea"/>
                <a:sym typeface="+mn-ea"/>
              </a:rPr>
              <a:t>Request</a:t>
            </a:r>
            <a:r>
              <a:rPr lang="en-US" altLang="zh-CN" sz="2400" b="1" baseline="-25000" dirty="0" smtClean="0">
                <a:solidFill>
                  <a:schemeClr val="bg1"/>
                </a:solidFill>
                <a:latin typeface="+mn-ea"/>
                <a:sym typeface="+mn-ea"/>
              </a:rPr>
              <a:t>1</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1</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）判断</a:t>
            </a:r>
            <a:r>
              <a:rPr lang="en-US" altLang="zh-CN" sz="2400" b="1" dirty="0" smtClean="0">
                <a:solidFill>
                  <a:schemeClr val="bg1"/>
                </a:solidFill>
                <a:latin typeface="+mn-ea"/>
                <a:sym typeface="+mn-ea"/>
              </a:rPr>
              <a:t>t</a:t>
            </a:r>
            <a:r>
              <a:rPr lang="en-US" altLang="zh-CN" sz="2400" b="1" baseline="-25000" dirty="0" smtClean="0">
                <a:solidFill>
                  <a:schemeClr val="bg1"/>
                </a:solidFill>
                <a:latin typeface="+mn-ea"/>
                <a:sym typeface="+mn-ea"/>
              </a:rPr>
              <a:t>0</a:t>
            </a:r>
            <a:r>
              <a:rPr lang="zh-CN" altLang="en-US" sz="2400" b="1" dirty="0" smtClean="0">
                <a:solidFill>
                  <a:schemeClr val="bg1"/>
                </a:solidFill>
                <a:latin typeface="+mn-ea"/>
                <a:sym typeface="+mn-ea"/>
              </a:rPr>
              <a:t>时刻系统是否在安全状态 </a:t>
            </a:r>
            <a:r>
              <a:rPr lang="en-US" altLang="zh-CN" sz="2400" b="1" dirty="0" smtClean="0">
                <a:solidFill>
                  <a:schemeClr val="bg1"/>
                </a:solidFill>
                <a:latin typeface="+mn-ea"/>
                <a:sym typeface="+mn-ea"/>
              </a:rPr>
              <a:t>work</a:t>
            </a:r>
            <a:r>
              <a:rPr lang="zh-CN" altLang="en-US" sz="2400" b="1" baseline="-25000" dirty="0" smtClean="0">
                <a:solidFill>
                  <a:schemeClr val="bg1"/>
                </a:solidFill>
                <a:latin typeface="+mn-ea"/>
                <a:sym typeface="+mn-ea"/>
              </a:rPr>
              <a:t>初</a:t>
            </a:r>
            <a:r>
              <a:rPr lang="en-US" altLang="zh-CN" sz="2400" b="1" dirty="0" smtClean="0">
                <a:solidFill>
                  <a:schemeClr val="bg1"/>
                </a:solidFill>
                <a:latin typeface="+mn-ea"/>
                <a:sym typeface="+mn-ea"/>
              </a:rPr>
              <a:t>=</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a:t>
            </a:r>
            <a:endParaRPr lang="en-US" altLang="zh-CN" sz="2400" b="1" dirty="0">
              <a:solidFill>
                <a:schemeClr val="bg1"/>
              </a:solidFill>
              <a:latin typeface="+mn-ea"/>
              <a:sym typeface="+mn-ea"/>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8254" y="0"/>
            <a:ext cx="4902398" cy="5143500"/>
          </a:xfrm>
          <a:prstGeom prst="rect">
            <a:avLst/>
          </a:prstGeom>
        </p:spPr>
      </p:pic>
      <p:graphicFrame>
        <p:nvGraphicFramePr>
          <p:cNvPr id="29" name="表格 28"/>
          <p:cNvGraphicFramePr>
            <a:graphicFrameLocks noGrp="1"/>
          </p:cNvGraphicFramePr>
          <p:nvPr>
            <p:extLst>
              <p:ext uri="{D42A27DB-BD31-4B8C-83A1-F6EECF244321}">
                <p14:modId xmlns:p14="http://schemas.microsoft.com/office/powerpoint/2010/main" val="3864534230"/>
              </p:ext>
            </p:extLst>
          </p:nvPr>
        </p:nvGraphicFramePr>
        <p:xfrm>
          <a:off x="159204" y="2499742"/>
          <a:ext cx="3869050" cy="1728195"/>
        </p:xfrm>
        <a:graphic>
          <a:graphicData uri="http://schemas.openxmlformats.org/drawingml/2006/table">
            <a:tbl>
              <a:tblPr firstRow="1" bandRow="1">
                <a:tableStyleId>{5C22544A-7EE6-4342-B048-85BDC9FD1C3A}</a:tableStyleId>
              </a:tblPr>
              <a:tblGrid>
                <a:gridCol w="773810">
                  <a:extLst>
                    <a:ext uri="{9D8B030D-6E8A-4147-A177-3AD203B41FA5}">
                      <a16:colId xmlns:a16="http://schemas.microsoft.com/office/drawing/2014/main" val="135776834"/>
                    </a:ext>
                  </a:extLst>
                </a:gridCol>
                <a:gridCol w="773810">
                  <a:extLst>
                    <a:ext uri="{9D8B030D-6E8A-4147-A177-3AD203B41FA5}">
                      <a16:colId xmlns:a16="http://schemas.microsoft.com/office/drawing/2014/main" val="1218014428"/>
                    </a:ext>
                  </a:extLst>
                </a:gridCol>
                <a:gridCol w="773810">
                  <a:extLst>
                    <a:ext uri="{9D8B030D-6E8A-4147-A177-3AD203B41FA5}">
                      <a16:colId xmlns:a16="http://schemas.microsoft.com/office/drawing/2014/main" val="1044352515"/>
                    </a:ext>
                  </a:extLst>
                </a:gridCol>
                <a:gridCol w="773810">
                  <a:extLst>
                    <a:ext uri="{9D8B030D-6E8A-4147-A177-3AD203B41FA5}">
                      <a16:colId xmlns:a16="http://schemas.microsoft.com/office/drawing/2014/main" val="1451559041"/>
                    </a:ext>
                  </a:extLst>
                </a:gridCol>
                <a:gridCol w="773810">
                  <a:extLst>
                    <a:ext uri="{9D8B030D-6E8A-4147-A177-3AD203B41FA5}">
                      <a16:colId xmlns:a16="http://schemas.microsoft.com/office/drawing/2014/main" val="2905824267"/>
                    </a:ext>
                  </a:extLst>
                </a:gridCol>
              </a:tblGrid>
              <a:tr h="246885">
                <a:tc rowSpan="2">
                  <a:txBody>
                    <a:bodyPr/>
                    <a:lstStyle/>
                    <a:p>
                      <a:r>
                        <a:rPr lang="en-US" altLang="zh-CN" sz="1000" dirty="0" smtClean="0"/>
                        <a:t>       </a:t>
                      </a:r>
                      <a:r>
                        <a:rPr lang="zh-CN" altLang="en-US" sz="1000" dirty="0" smtClean="0"/>
                        <a:t>资源</a:t>
                      </a:r>
                      <a:endParaRPr lang="en-US" altLang="zh-CN" sz="1000" dirty="0" smtClean="0"/>
                    </a:p>
                    <a:p>
                      <a:r>
                        <a:rPr lang="zh-CN" altLang="en-US" sz="1000" dirty="0" smtClean="0"/>
                        <a:t>进程</a:t>
                      </a:r>
                      <a:endParaRPr lang="zh-CN" altLang="en-US" sz="1000" dirty="0"/>
                    </a:p>
                  </a:txBody>
                  <a:tcPr/>
                </a:tc>
                <a:tc>
                  <a:txBody>
                    <a:bodyPr/>
                    <a:lstStyle/>
                    <a:p>
                      <a:pPr algn="ctr"/>
                      <a:r>
                        <a:rPr lang="en-US" altLang="zh-CN" sz="1000" dirty="0" smtClean="0"/>
                        <a:t>Max</a:t>
                      </a:r>
                      <a:endParaRPr lang="zh-CN" altLang="en-US" sz="1000" dirty="0"/>
                    </a:p>
                  </a:txBody>
                  <a:tcPr/>
                </a:tc>
                <a:tc>
                  <a:txBody>
                    <a:bodyPr/>
                    <a:lstStyle/>
                    <a:p>
                      <a:pPr algn="ctr"/>
                      <a:r>
                        <a:rPr lang="en-US" altLang="zh-CN" sz="1000" dirty="0" smtClean="0"/>
                        <a:t>Allocation</a:t>
                      </a:r>
                      <a:endParaRPr lang="zh-CN" altLang="en-US" sz="1000" dirty="0"/>
                    </a:p>
                  </a:txBody>
                  <a:tcPr/>
                </a:tc>
                <a:tc>
                  <a:txBody>
                    <a:bodyPr/>
                    <a:lstStyle/>
                    <a:p>
                      <a:pPr algn="ctr"/>
                      <a:r>
                        <a:rPr lang="en-US" altLang="zh-CN" sz="1000" dirty="0" smtClean="0"/>
                        <a:t>Need</a:t>
                      </a:r>
                      <a:endParaRPr lang="zh-CN" altLang="en-US" sz="1000" dirty="0"/>
                    </a:p>
                  </a:txBody>
                  <a:tcPr/>
                </a:tc>
                <a:tc>
                  <a:txBody>
                    <a:bodyPr/>
                    <a:lstStyle/>
                    <a:p>
                      <a:pPr algn="ctr"/>
                      <a:r>
                        <a:rPr lang="en-US" altLang="zh-CN" sz="1000" dirty="0" smtClean="0"/>
                        <a:t>Available</a:t>
                      </a:r>
                      <a:endParaRPr lang="zh-CN" altLang="en-US" sz="1000" dirty="0"/>
                    </a:p>
                  </a:txBody>
                  <a:tcPr/>
                </a:tc>
                <a:extLst>
                  <a:ext uri="{0D108BD9-81ED-4DB2-BD59-A6C34878D82A}">
                    <a16:rowId xmlns:a16="http://schemas.microsoft.com/office/drawing/2014/main" val="2044628433"/>
                  </a:ext>
                </a:extLst>
              </a:tr>
              <a:tr h="246885">
                <a:tc vMerge="1">
                  <a:txBody>
                    <a:bodyPr/>
                    <a:lstStyle/>
                    <a:p>
                      <a:endParaRPr lang="zh-CN" altLang="en-US" dirty="0"/>
                    </a:p>
                  </a:txBody>
                  <a:tcPr/>
                </a:tc>
                <a:tc>
                  <a:txBody>
                    <a:bodyPr/>
                    <a:lstStyle/>
                    <a:p>
                      <a:r>
                        <a:rPr lang="en-US" altLang="zh-CN" sz="1000" baseline="0" dirty="0" smtClean="0"/>
                        <a:t>  A    B     C</a:t>
                      </a:r>
                      <a:endParaRPr lang="zh-CN" altLang="en-US" sz="1000" dirty="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aseline="0" dirty="0" smtClean="0"/>
                        <a:t> A    B     C</a:t>
                      </a:r>
                      <a:endParaRPr lang="zh-CN" altLang="en-US" sz="1000" dirty="0" smtClean="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aseline="0" dirty="0" smtClean="0"/>
                        <a:t> A    B     C</a:t>
                      </a:r>
                      <a:endParaRPr lang="zh-CN" altLang="en-US" sz="1000" dirty="0" smtClean="0"/>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aseline="0" dirty="0" smtClean="0"/>
                        <a:t> A    B     C</a:t>
                      </a:r>
                      <a:endParaRPr lang="zh-CN" altLang="en-US" sz="1000" dirty="0" smtClean="0"/>
                    </a:p>
                  </a:txBody>
                  <a:tcPr>
                    <a:solidFill>
                      <a:schemeClr val="accent6">
                        <a:lumMod val="40000"/>
                        <a:lumOff val="60000"/>
                      </a:schemeClr>
                    </a:solidFill>
                  </a:tcPr>
                </a:tc>
                <a:extLst>
                  <a:ext uri="{0D108BD9-81ED-4DB2-BD59-A6C34878D82A}">
                    <a16:rowId xmlns:a16="http://schemas.microsoft.com/office/drawing/2014/main" val="3421187216"/>
                  </a:ext>
                </a:extLst>
              </a:tr>
              <a:tr h="246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smtClean="0">
                          <a:solidFill>
                            <a:schemeClr val="tx1"/>
                          </a:solidFill>
                          <a:latin typeface="+mn-ea"/>
                          <a:sym typeface="+mn-ea"/>
                        </a:rPr>
                        <a:t>P</a:t>
                      </a:r>
                      <a:r>
                        <a:rPr lang="en-US" altLang="zh-CN" sz="1000" b="1" baseline="-25000" dirty="0" smtClean="0">
                          <a:solidFill>
                            <a:schemeClr val="tx1"/>
                          </a:solidFill>
                          <a:latin typeface="+mn-ea"/>
                          <a:sym typeface="+mn-ea"/>
                        </a:rPr>
                        <a:t>0</a:t>
                      </a:r>
                      <a:endParaRPr lang="zh-CN" altLang="en-US" sz="1000" dirty="0" smtClean="0">
                        <a:solidFill>
                          <a:schemeClr val="tx1"/>
                        </a:solidFill>
                      </a:endParaRPr>
                    </a:p>
                  </a:txBody>
                  <a:tcPr/>
                </a:tc>
                <a:tc>
                  <a:txBody>
                    <a:bodyPr/>
                    <a:lstStyle/>
                    <a:p>
                      <a:r>
                        <a:rPr lang="en-US" altLang="zh-CN" sz="1000" baseline="0" dirty="0" smtClean="0"/>
                        <a:t>  7     5    3</a:t>
                      </a:r>
                      <a:endParaRPr lang="zh-CN" altLang="en-US" sz="1000" dirty="0"/>
                    </a:p>
                  </a:txBody>
                  <a:tcPr/>
                </a:tc>
                <a:tc>
                  <a:txBody>
                    <a:bodyPr/>
                    <a:lstStyle/>
                    <a:p>
                      <a:r>
                        <a:rPr lang="en-US" altLang="zh-CN" sz="1000" baseline="0" dirty="0" smtClean="0"/>
                        <a:t> 0     1     0</a:t>
                      </a:r>
                      <a:endParaRPr lang="zh-CN" altLang="en-US" sz="1000" dirty="0"/>
                    </a:p>
                  </a:txBody>
                  <a:tcPr/>
                </a:tc>
                <a:tc>
                  <a:txBody>
                    <a:bodyPr/>
                    <a:lstStyle/>
                    <a:p>
                      <a:r>
                        <a:rPr lang="en-US" altLang="zh-CN" sz="1000" dirty="0" smtClean="0"/>
                        <a:t> 7     4     3</a:t>
                      </a:r>
                      <a:endParaRPr lang="zh-CN" altLang="en-US" sz="1000" dirty="0"/>
                    </a:p>
                  </a:txBody>
                  <a:tcPr/>
                </a:tc>
                <a:tc rowSpan="5">
                  <a:txBody>
                    <a:bodyPr/>
                    <a:lstStyle/>
                    <a:p>
                      <a:endParaRPr lang="en-US" altLang="zh-CN" sz="1000" dirty="0" smtClean="0"/>
                    </a:p>
                    <a:p>
                      <a:endParaRPr lang="en-US" altLang="zh-CN" sz="1000" dirty="0" smtClean="0"/>
                    </a:p>
                    <a:p>
                      <a:r>
                        <a:rPr lang="en-US" altLang="zh-CN" sz="1000" dirty="0" smtClean="0"/>
                        <a:t>   3    3    2</a:t>
                      </a:r>
                      <a:endParaRPr lang="zh-CN" altLang="en-US" sz="1000" dirty="0"/>
                    </a:p>
                  </a:txBody>
                  <a:tcPr/>
                </a:tc>
                <a:extLst>
                  <a:ext uri="{0D108BD9-81ED-4DB2-BD59-A6C34878D82A}">
                    <a16:rowId xmlns:a16="http://schemas.microsoft.com/office/drawing/2014/main" val="4025234598"/>
                  </a:ext>
                </a:extLst>
              </a:tr>
              <a:tr h="246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smtClean="0">
                          <a:solidFill>
                            <a:schemeClr val="tx1"/>
                          </a:solidFill>
                          <a:latin typeface="+mn-ea"/>
                          <a:sym typeface="+mn-ea"/>
                        </a:rPr>
                        <a:t>P</a:t>
                      </a:r>
                      <a:r>
                        <a:rPr lang="en-US" altLang="zh-CN" sz="1000" b="1" baseline="-25000" dirty="0" smtClean="0">
                          <a:solidFill>
                            <a:schemeClr val="tx1"/>
                          </a:solidFill>
                          <a:latin typeface="+mn-ea"/>
                          <a:sym typeface="+mn-ea"/>
                        </a:rPr>
                        <a:t>1</a:t>
                      </a:r>
                      <a:endParaRPr lang="zh-CN" altLang="en-US" sz="1000" dirty="0" smtClean="0">
                        <a:solidFill>
                          <a:schemeClr val="tx1"/>
                        </a:solidFill>
                      </a:endParaRPr>
                    </a:p>
                  </a:txBody>
                  <a:tcPr/>
                </a:tc>
                <a:tc>
                  <a:txBody>
                    <a:bodyPr/>
                    <a:lstStyle/>
                    <a:p>
                      <a:r>
                        <a:rPr lang="en-US" altLang="zh-CN" sz="1000" dirty="0" smtClean="0"/>
                        <a:t>  3     2     2</a:t>
                      </a:r>
                      <a:endParaRPr lang="zh-CN" altLang="en-US" sz="1000" dirty="0"/>
                    </a:p>
                  </a:txBody>
                  <a:tcPr/>
                </a:tc>
                <a:tc>
                  <a:txBody>
                    <a:bodyPr/>
                    <a:lstStyle/>
                    <a:p>
                      <a:r>
                        <a:rPr lang="en-US" altLang="zh-CN" sz="1000" dirty="0" smtClean="0"/>
                        <a:t> 2     0     0</a:t>
                      </a:r>
                      <a:endParaRPr lang="zh-CN" altLang="en-US" sz="1000" dirty="0"/>
                    </a:p>
                  </a:txBody>
                  <a:tcPr/>
                </a:tc>
                <a:tc>
                  <a:txBody>
                    <a:bodyPr/>
                    <a:lstStyle/>
                    <a:p>
                      <a:r>
                        <a:rPr lang="en-US" altLang="zh-CN" sz="1000" baseline="0" dirty="0" smtClean="0"/>
                        <a:t>  1    2     2</a:t>
                      </a:r>
                      <a:endParaRPr lang="zh-CN" altLang="en-US" sz="1000" dirty="0"/>
                    </a:p>
                  </a:txBody>
                  <a:tcPr/>
                </a:tc>
                <a:tc vMerge="1">
                  <a:txBody>
                    <a:bodyPr/>
                    <a:lstStyle/>
                    <a:p>
                      <a:endParaRPr lang="zh-CN" altLang="en-US" dirty="0"/>
                    </a:p>
                  </a:txBody>
                  <a:tcPr/>
                </a:tc>
                <a:extLst>
                  <a:ext uri="{0D108BD9-81ED-4DB2-BD59-A6C34878D82A}">
                    <a16:rowId xmlns:a16="http://schemas.microsoft.com/office/drawing/2014/main" val="605822148"/>
                  </a:ext>
                </a:extLst>
              </a:tr>
              <a:tr h="246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smtClean="0">
                          <a:solidFill>
                            <a:schemeClr val="tx1"/>
                          </a:solidFill>
                          <a:latin typeface="+mn-ea"/>
                          <a:sym typeface="+mn-ea"/>
                        </a:rPr>
                        <a:t>P</a:t>
                      </a:r>
                      <a:r>
                        <a:rPr lang="en-US" altLang="zh-CN" sz="1000" b="1" baseline="-25000" dirty="0" smtClean="0">
                          <a:solidFill>
                            <a:schemeClr val="tx1"/>
                          </a:solidFill>
                          <a:latin typeface="+mn-ea"/>
                          <a:sym typeface="+mn-ea"/>
                        </a:rPr>
                        <a:t>2</a:t>
                      </a:r>
                      <a:endParaRPr lang="zh-CN" altLang="en-US" sz="1000" dirty="0" smtClean="0">
                        <a:solidFill>
                          <a:schemeClr val="tx1"/>
                        </a:solidFill>
                      </a:endParaRPr>
                    </a:p>
                  </a:txBody>
                  <a:tcPr/>
                </a:tc>
                <a:tc>
                  <a:txBody>
                    <a:bodyPr/>
                    <a:lstStyle/>
                    <a:p>
                      <a:r>
                        <a:rPr lang="en-US" altLang="zh-CN" sz="1000" dirty="0" smtClean="0"/>
                        <a:t>  9     0     2</a:t>
                      </a:r>
                      <a:endParaRPr lang="zh-CN" altLang="en-US" sz="1000" dirty="0"/>
                    </a:p>
                  </a:txBody>
                  <a:tcPr/>
                </a:tc>
                <a:tc>
                  <a:txBody>
                    <a:bodyPr/>
                    <a:lstStyle/>
                    <a:p>
                      <a:r>
                        <a:rPr lang="en-US" altLang="zh-CN" sz="1000" dirty="0" smtClean="0"/>
                        <a:t> 3    </a:t>
                      </a:r>
                      <a:r>
                        <a:rPr lang="en-US" altLang="zh-CN" sz="1000" baseline="0" dirty="0" smtClean="0"/>
                        <a:t>  0     2</a:t>
                      </a:r>
                      <a:endParaRPr lang="zh-CN" altLang="en-US" sz="1000" dirty="0"/>
                    </a:p>
                  </a:txBody>
                  <a:tcPr/>
                </a:tc>
                <a:tc>
                  <a:txBody>
                    <a:bodyPr/>
                    <a:lstStyle/>
                    <a:p>
                      <a:r>
                        <a:rPr lang="en-US" altLang="zh-CN" sz="1000" dirty="0" smtClean="0"/>
                        <a:t>  6    0     0</a:t>
                      </a:r>
                      <a:endParaRPr lang="zh-CN" altLang="en-US" sz="1000" dirty="0"/>
                    </a:p>
                  </a:txBody>
                  <a:tcPr/>
                </a:tc>
                <a:tc vMerge="1">
                  <a:txBody>
                    <a:bodyPr/>
                    <a:lstStyle/>
                    <a:p>
                      <a:endParaRPr lang="zh-CN" altLang="en-US" dirty="0"/>
                    </a:p>
                  </a:txBody>
                  <a:tcPr/>
                </a:tc>
                <a:extLst>
                  <a:ext uri="{0D108BD9-81ED-4DB2-BD59-A6C34878D82A}">
                    <a16:rowId xmlns:a16="http://schemas.microsoft.com/office/drawing/2014/main" val="2502705478"/>
                  </a:ext>
                </a:extLst>
              </a:tr>
              <a:tr h="246885">
                <a:tc>
                  <a:txBody>
                    <a:bodyPr/>
                    <a:lstStyle/>
                    <a:p>
                      <a:r>
                        <a:rPr lang="en-US" altLang="zh-CN" sz="1000" b="1" dirty="0" smtClean="0">
                          <a:solidFill>
                            <a:schemeClr val="tx1"/>
                          </a:solidFill>
                          <a:latin typeface="+mn-ea"/>
                          <a:sym typeface="+mn-ea"/>
                        </a:rPr>
                        <a:t>P</a:t>
                      </a:r>
                      <a:r>
                        <a:rPr lang="en-US" altLang="zh-CN" sz="1000" b="1" baseline="-25000" dirty="0" smtClean="0">
                          <a:solidFill>
                            <a:schemeClr val="tx1"/>
                          </a:solidFill>
                          <a:latin typeface="+mn-ea"/>
                          <a:sym typeface="+mn-ea"/>
                        </a:rPr>
                        <a:t>3</a:t>
                      </a:r>
                      <a:endParaRPr lang="zh-CN" altLang="en-US" sz="1000" dirty="0">
                        <a:solidFill>
                          <a:schemeClr val="tx1"/>
                        </a:solidFill>
                      </a:endParaRPr>
                    </a:p>
                  </a:txBody>
                  <a:tcPr/>
                </a:tc>
                <a:tc>
                  <a:txBody>
                    <a:bodyPr/>
                    <a:lstStyle/>
                    <a:p>
                      <a:r>
                        <a:rPr lang="en-US" altLang="zh-CN" sz="1000" dirty="0" smtClean="0"/>
                        <a:t>  2      2     2</a:t>
                      </a:r>
                      <a:endParaRPr lang="zh-CN" altLang="en-US" sz="1000" dirty="0"/>
                    </a:p>
                  </a:txBody>
                  <a:tcPr/>
                </a:tc>
                <a:tc>
                  <a:txBody>
                    <a:bodyPr/>
                    <a:lstStyle/>
                    <a:p>
                      <a:r>
                        <a:rPr lang="en-US" altLang="zh-CN" sz="1000" dirty="0" smtClean="0"/>
                        <a:t> 2      1      1</a:t>
                      </a:r>
                      <a:endParaRPr lang="zh-CN" altLang="en-US" sz="1000" dirty="0"/>
                    </a:p>
                  </a:txBody>
                  <a:tcPr/>
                </a:tc>
                <a:tc>
                  <a:txBody>
                    <a:bodyPr/>
                    <a:lstStyle/>
                    <a:p>
                      <a:r>
                        <a:rPr lang="en-US" altLang="zh-CN" sz="1000" dirty="0" smtClean="0"/>
                        <a:t>  0     1    1</a:t>
                      </a:r>
                      <a:endParaRPr lang="zh-CN" altLang="en-US" sz="1000" dirty="0"/>
                    </a:p>
                  </a:txBody>
                  <a:tcPr/>
                </a:tc>
                <a:tc vMerge="1">
                  <a:txBody>
                    <a:bodyPr/>
                    <a:lstStyle/>
                    <a:p>
                      <a:endParaRPr lang="zh-CN" altLang="en-US" dirty="0"/>
                    </a:p>
                  </a:txBody>
                  <a:tcPr/>
                </a:tc>
                <a:extLst>
                  <a:ext uri="{0D108BD9-81ED-4DB2-BD59-A6C34878D82A}">
                    <a16:rowId xmlns:a16="http://schemas.microsoft.com/office/drawing/2014/main" val="2183544128"/>
                  </a:ext>
                </a:extLst>
              </a:tr>
              <a:tr h="246885">
                <a:tc>
                  <a:txBody>
                    <a:bodyPr/>
                    <a:lstStyle/>
                    <a:p>
                      <a:r>
                        <a:rPr lang="en-US" altLang="zh-CN" sz="1000" b="1" dirty="0" smtClean="0">
                          <a:solidFill>
                            <a:schemeClr val="tx1"/>
                          </a:solidFill>
                          <a:latin typeface="+mn-ea"/>
                          <a:sym typeface="+mn-ea"/>
                        </a:rPr>
                        <a:t>P</a:t>
                      </a:r>
                      <a:r>
                        <a:rPr lang="en-US" altLang="zh-CN" sz="1000" b="1" baseline="-25000" dirty="0" smtClean="0">
                          <a:solidFill>
                            <a:schemeClr val="tx1"/>
                          </a:solidFill>
                          <a:latin typeface="+mn-ea"/>
                          <a:sym typeface="+mn-ea"/>
                        </a:rPr>
                        <a:t>4</a:t>
                      </a:r>
                      <a:endParaRPr lang="zh-CN" altLang="en-US" sz="1000" dirty="0">
                        <a:solidFill>
                          <a:schemeClr val="tx1"/>
                        </a:solidFill>
                      </a:endParaRPr>
                    </a:p>
                  </a:txBody>
                  <a:tcPr/>
                </a:tc>
                <a:tc>
                  <a:txBody>
                    <a:bodyPr/>
                    <a:lstStyle/>
                    <a:p>
                      <a:r>
                        <a:rPr lang="en-US" altLang="zh-CN" sz="1000" dirty="0" smtClean="0"/>
                        <a:t>  4      3     3</a:t>
                      </a:r>
                      <a:endParaRPr lang="zh-CN" altLang="en-US" sz="1000" dirty="0"/>
                    </a:p>
                  </a:txBody>
                  <a:tcPr/>
                </a:tc>
                <a:tc>
                  <a:txBody>
                    <a:bodyPr/>
                    <a:lstStyle/>
                    <a:p>
                      <a:r>
                        <a:rPr lang="en-US" altLang="zh-CN" sz="1000" dirty="0" smtClean="0"/>
                        <a:t> 0      0      2</a:t>
                      </a:r>
                      <a:endParaRPr lang="zh-CN" altLang="en-US" sz="1000" dirty="0"/>
                    </a:p>
                  </a:txBody>
                  <a:tcPr/>
                </a:tc>
                <a:tc>
                  <a:txBody>
                    <a:bodyPr/>
                    <a:lstStyle/>
                    <a:p>
                      <a:r>
                        <a:rPr lang="en-US" altLang="zh-CN" sz="1000" dirty="0" smtClean="0"/>
                        <a:t>  4     3     1</a:t>
                      </a:r>
                      <a:endParaRPr lang="zh-CN" altLang="en-US" sz="1000" dirty="0"/>
                    </a:p>
                  </a:txBody>
                  <a:tcPr/>
                </a:tc>
                <a:tc vMerge="1">
                  <a:txBody>
                    <a:bodyPr/>
                    <a:lstStyle/>
                    <a:p>
                      <a:endParaRPr lang="zh-CN" altLang="en-US" dirty="0"/>
                    </a:p>
                  </a:txBody>
                  <a:tcPr/>
                </a:tc>
                <a:extLst>
                  <a:ext uri="{0D108BD9-81ED-4DB2-BD59-A6C34878D82A}">
                    <a16:rowId xmlns:a16="http://schemas.microsoft.com/office/drawing/2014/main" val="243303377"/>
                  </a:ext>
                </a:extLst>
              </a:tr>
            </a:tbl>
          </a:graphicData>
        </a:graphic>
      </p:graphicFrame>
    </p:spTree>
    <p:extLst>
      <p:ext uri="{BB962C8B-B14F-4D97-AF65-F5344CB8AC3E}">
        <p14:creationId xmlns:p14="http://schemas.microsoft.com/office/powerpoint/2010/main" val="35402454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816096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银行家算法举例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第三步  银行家算法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97658" y="1229306"/>
            <a:ext cx="7114701" cy="535531"/>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P</a:t>
            </a:r>
            <a:r>
              <a:rPr lang="en-US" altLang="zh-CN" sz="2400" b="1" baseline="-25000" dirty="0" smtClean="0">
                <a:solidFill>
                  <a:schemeClr val="bg1"/>
                </a:solidFill>
                <a:latin typeface="+mn-ea"/>
                <a:sym typeface="+mn-ea"/>
              </a:rPr>
              <a:t>4</a:t>
            </a:r>
            <a:r>
              <a:rPr lang="zh-CN" altLang="en-US" sz="2400" b="1" dirty="0" smtClean="0">
                <a:solidFill>
                  <a:schemeClr val="bg1"/>
                </a:solidFill>
                <a:latin typeface="+mn-ea"/>
                <a:sym typeface="+mn-ea"/>
              </a:rPr>
              <a:t>请求资源</a:t>
            </a:r>
            <a:r>
              <a:rPr lang="en-US" altLang="zh-CN" sz="2400" b="1" dirty="0" smtClean="0">
                <a:solidFill>
                  <a:schemeClr val="bg1"/>
                </a:solidFill>
                <a:latin typeface="+mn-ea"/>
                <a:sym typeface="+mn-ea"/>
              </a:rPr>
              <a:t>Request</a:t>
            </a:r>
            <a:r>
              <a:rPr lang="en-US" altLang="zh-CN" sz="2400" b="1" baseline="-25000" dirty="0" smtClean="0">
                <a:solidFill>
                  <a:schemeClr val="bg1"/>
                </a:solidFill>
                <a:latin typeface="+mn-ea"/>
                <a:sym typeface="+mn-ea"/>
              </a:rPr>
              <a:t>4</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3</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a:t>
            </a:r>
            <a:endParaRPr lang="en-US" altLang="zh-CN" sz="2400" b="1" dirty="0">
              <a:solidFill>
                <a:schemeClr val="bg1"/>
              </a:solidFill>
              <a:latin typeface="+mn-ea"/>
              <a:sym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3162014" y="588938"/>
            <a:ext cx="2185988" cy="5143500"/>
          </a:xfrm>
          <a:prstGeom prst="rect">
            <a:avLst/>
          </a:prstGeom>
        </p:spPr>
      </p:pic>
    </p:spTree>
    <p:extLst>
      <p:ext uri="{BB962C8B-B14F-4D97-AF65-F5344CB8AC3E}">
        <p14:creationId xmlns:p14="http://schemas.microsoft.com/office/powerpoint/2010/main" val="73394016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816096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银行家算法举例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第四步  银行家算法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97658" y="1229306"/>
            <a:ext cx="7114701" cy="535531"/>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4</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P</a:t>
            </a:r>
            <a:r>
              <a:rPr lang="en-US" altLang="zh-CN" sz="2400" b="1" baseline="-25000" dirty="0" smtClean="0">
                <a:solidFill>
                  <a:schemeClr val="bg1"/>
                </a:solidFill>
                <a:latin typeface="+mn-ea"/>
                <a:sym typeface="+mn-ea"/>
              </a:rPr>
              <a:t>0</a:t>
            </a:r>
            <a:r>
              <a:rPr lang="zh-CN" altLang="en-US" sz="2400" b="1" dirty="0" smtClean="0">
                <a:solidFill>
                  <a:schemeClr val="bg1"/>
                </a:solidFill>
                <a:latin typeface="+mn-ea"/>
                <a:sym typeface="+mn-ea"/>
              </a:rPr>
              <a:t>请求资源</a:t>
            </a:r>
            <a:r>
              <a:rPr lang="en-US" altLang="zh-CN" sz="2400" b="1" dirty="0" smtClean="0">
                <a:solidFill>
                  <a:schemeClr val="bg1"/>
                </a:solidFill>
                <a:latin typeface="+mn-ea"/>
                <a:sym typeface="+mn-ea"/>
              </a:rPr>
              <a:t>Request</a:t>
            </a:r>
            <a:r>
              <a:rPr lang="en-US" altLang="zh-CN" sz="2400" b="1" baseline="-25000" dirty="0" smtClean="0">
                <a:solidFill>
                  <a:schemeClr val="bg1"/>
                </a:solidFill>
                <a:latin typeface="+mn-ea"/>
                <a:sym typeface="+mn-ea"/>
              </a:rPr>
              <a:t>0</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2</a:t>
            </a:r>
            <a:r>
              <a:rPr lang="zh-CN" altLang="en-US" sz="2400" b="1" dirty="0" smtClean="0">
                <a:solidFill>
                  <a:schemeClr val="bg1"/>
                </a:solidFill>
                <a:latin typeface="+mn-ea"/>
                <a:sym typeface="+mn-ea"/>
              </a:rPr>
              <a:t>，</a:t>
            </a:r>
            <a:r>
              <a:rPr lang="en-US" altLang="zh-CN" sz="2400" b="1" dirty="0" smtClean="0">
                <a:solidFill>
                  <a:schemeClr val="bg1"/>
                </a:solidFill>
                <a:latin typeface="+mn-ea"/>
                <a:sym typeface="+mn-ea"/>
              </a:rPr>
              <a:t>0</a:t>
            </a:r>
            <a:r>
              <a:rPr lang="zh-CN" altLang="en-US" sz="2400" b="1" dirty="0" smtClean="0">
                <a:solidFill>
                  <a:schemeClr val="bg1"/>
                </a:solidFill>
                <a:latin typeface="+mn-ea"/>
                <a:sym typeface="+mn-ea"/>
              </a:rPr>
              <a:t>）</a:t>
            </a:r>
            <a:endParaRPr lang="en-US" altLang="zh-CN" sz="2400" b="1" dirty="0">
              <a:solidFill>
                <a:schemeClr val="bg1"/>
              </a:solidFill>
              <a:latin typeface="+mn-ea"/>
              <a:sym typeface="+mn-ea"/>
            </a:endParaRPr>
          </a:p>
        </p:txBody>
      </p:sp>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t="5201" b="10800"/>
          <a:stretch/>
        </p:blipFill>
        <p:spPr>
          <a:xfrm>
            <a:off x="1462373" y="230575"/>
            <a:ext cx="5585270" cy="4614651"/>
          </a:xfrm>
          <a:prstGeom prst="rect">
            <a:avLst/>
          </a:prstGeom>
        </p:spPr>
      </p:pic>
    </p:spTree>
    <p:extLst>
      <p:ext uri="{BB962C8B-B14F-4D97-AF65-F5344CB8AC3E}">
        <p14:creationId xmlns:p14="http://schemas.microsoft.com/office/powerpoint/2010/main" val="14370810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816096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4——</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银行家算法模拟实现</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008218"/>
            <a:ext cx="7114701" cy="3637919"/>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rgbClr val="FFFF00"/>
                </a:solidFill>
                <a:latin typeface="+mn-ea"/>
                <a:sym typeface="+mn-ea"/>
              </a:rPr>
              <a:t>实验目的</a:t>
            </a:r>
            <a:endParaRPr lang="en-US" altLang="zh-CN" sz="2400" b="1" dirty="0">
              <a:solidFill>
                <a:srgbClr val="FFFF00"/>
              </a:solidFill>
              <a:latin typeface="+mn-ea"/>
              <a:sym typeface="+mn-ea"/>
            </a:endParaRPr>
          </a:p>
          <a:p>
            <a:pPr>
              <a:lnSpc>
                <a:spcPct val="120000"/>
              </a:lnSpc>
              <a:buClr>
                <a:schemeClr val="accent6">
                  <a:lumMod val="40000"/>
                  <a:lumOff val="60000"/>
                </a:schemeClr>
              </a:buClr>
            </a:pPr>
            <a:r>
              <a:rPr lang="zh-CN" altLang="en-US" sz="2400" b="1" dirty="0" smtClean="0">
                <a:solidFill>
                  <a:schemeClr val="bg1"/>
                </a:solidFill>
                <a:latin typeface="+mn-ea"/>
                <a:sym typeface="+mn-ea"/>
              </a:rPr>
              <a:t>   通过</a:t>
            </a:r>
            <a:r>
              <a:rPr lang="zh-CN" altLang="en-US" sz="2400" b="1" dirty="0">
                <a:solidFill>
                  <a:schemeClr val="bg1"/>
                </a:solidFill>
                <a:latin typeface="+mn-ea"/>
                <a:sym typeface="+mn-ea"/>
              </a:rPr>
              <a:t>银行家算法的模拟实现，深入理解死锁避免的方法。</a:t>
            </a:r>
          </a:p>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rgbClr val="FFFF00"/>
                </a:solidFill>
                <a:latin typeface="+mn-ea"/>
                <a:sym typeface="+mn-ea"/>
              </a:rPr>
              <a:t>实验内容</a:t>
            </a:r>
            <a:endParaRPr lang="en-US" altLang="zh-CN" sz="2400" b="1" dirty="0">
              <a:solidFill>
                <a:srgbClr val="FFFF00"/>
              </a:solidFill>
              <a:latin typeface="+mn-ea"/>
              <a:sym typeface="+mn-ea"/>
            </a:endParaRPr>
          </a:p>
          <a:p>
            <a:pPr>
              <a:lnSpc>
                <a:spcPct val="120000"/>
              </a:lnSpc>
              <a:buClr>
                <a:schemeClr val="accent6">
                  <a:lumMod val="40000"/>
                  <a:lumOff val="60000"/>
                </a:schemeClr>
              </a:buClr>
            </a:pPr>
            <a:r>
              <a:rPr lang="en-US" altLang="zh-CN" sz="2400" b="1" dirty="0" smtClean="0">
                <a:solidFill>
                  <a:schemeClr val="bg1"/>
                </a:solidFill>
                <a:latin typeface="+mn-ea"/>
                <a:sym typeface="+mn-ea"/>
              </a:rPr>
              <a:t>  1</a:t>
            </a:r>
            <a:r>
              <a:rPr lang="zh-CN" altLang="en-US" sz="2400" b="1" dirty="0">
                <a:solidFill>
                  <a:schemeClr val="bg1"/>
                </a:solidFill>
                <a:latin typeface="+mn-ea"/>
                <a:sym typeface="+mn-ea"/>
              </a:rPr>
              <a:t>、输入当前进程的资源情况，并输出；</a:t>
            </a:r>
          </a:p>
          <a:p>
            <a:pPr>
              <a:lnSpc>
                <a:spcPct val="120000"/>
              </a:lnSpc>
              <a:buClr>
                <a:schemeClr val="accent6">
                  <a:lumMod val="40000"/>
                  <a:lumOff val="60000"/>
                </a:schemeClr>
              </a:buClr>
            </a:pPr>
            <a:r>
              <a:rPr lang="en-US" altLang="zh-CN" sz="2400" b="1" dirty="0" smtClean="0">
                <a:solidFill>
                  <a:schemeClr val="bg1"/>
                </a:solidFill>
                <a:latin typeface="+mn-ea"/>
                <a:sym typeface="+mn-ea"/>
              </a:rPr>
              <a:t>  2</a:t>
            </a:r>
            <a:r>
              <a:rPr lang="zh-CN" altLang="en-US" sz="2400" b="1" dirty="0">
                <a:solidFill>
                  <a:schemeClr val="bg1"/>
                </a:solidFill>
                <a:latin typeface="+mn-ea"/>
                <a:sym typeface="+mn-ea"/>
              </a:rPr>
              <a:t>、输入某进程的资源请求，并进行试探性分配，寻找安全序列，如存在，则输出该序列，否则，该分配为不安全的；</a:t>
            </a:r>
            <a:endParaRPr lang="en-US" altLang="zh-CN" sz="2400" b="1" dirty="0">
              <a:solidFill>
                <a:schemeClr val="bg1"/>
              </a:solidFill>
              <a:latin typeface="+mn-ea"/>
              <a:sym typeface="+mn-ea"/>
            </a:endParaRPr>
          </a:p>
        </p:txBody>
      </p:sp>
    </p:spTree>
    <p:extLst>
      <p:ext uri="{BB962C8B-B14F-4D97-AF65-F5344CB8AC3E}">
        <p14:creationId xmlns:p14="http://schemas.microsoft.com/office/powerpoint/2010/main" val="35447410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71475" y="159385"/>
            <a:ext cx="8160965" cy="567055"/>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4——</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银行家算法模拟实现</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29306"/>
            <a:ext cx="7114701" cy="3194721"/>
          </a:xfrm>
          <a:prstGeom prst="rect">
            <a:avLst/>
          </a:prstGeom>
        </p:spPr>
        <p:txBody>
          <a:bodyPr wrap="square">
            <a:spAutoFit/>
          </a:bodyPr>
          <a:lstStyle/>
          <a:p>
            <a:pPr indent="-342900">
              <a:lnSpc>
                <a:spcPct val="120000"/>
              </a:lnSpc>
              <a:buClr>
                <a:schemeClr val="accent6">
                  <a:lumMod val="40000"/>
                  <a:lumOff val="60000"/>
                </a:schemeClr>
              </a:buClr>
              <a:buFont typeface="Wingdings" panose="05000000000000000000" pitchFamily="2" charset="2"/>
              <a:buChar char="Ø"/>
            </a:pPr>
            <a:r>
              <a:rPr lang="zh-CN" altLang="en-US" sz="2400" b="1" dirty="0" smtClean="0">
                <a:solidFill>
                  <a:srgbClr val="FFFF00"/>
                </a:solidFill>
                <a:latin typeface="+mn-ea"/>
                <a:sym typeface="+mn-ea"/>
              </a:rPr>
              <a:t>实验要求</a:t>
            </a:r>
            <a:endParaRPr lang="en-US" altLang="zh-CN" sz="2400" b="1" dirty="0">
              <a:solidFill>
                <a:srgbClr val="FFFF00"/>
              </a:solidFill>
              <a:latin typeface="+mn-ea"/>
              <a:sym typeface="+mn-ea"/>
            </a:endParaRPr>
          </a:p>
          <a:p>
            <a:pPr>
              <a:lnSpc>
                <a:spcPct val="120000"/>
              </a:lnSpc>
              <a:buClr>
                <a:schemeClr val="accent6">
                  <a:lumMod val="40000"/>
                  <a:lumOff val="60000"/>
                </a:schemeClr>
              </a:buClr>
            </a:pPr>
            <a:r>
              <a:rPr lang="en-US" altLang="zh-CN" sz="2400" b="1" dirty="0" smtClean="0">
                <a:solidFill>
                  <a:schemeClr val="bg1"/>
                </a:solidFill>
                <a:latin typeface="+mn-ea"/>
                <a:sym typeface="+mn-ea"/>
              </a:rPr>
              <a:t>  1</a:t>
            </a:r>
            <a:r>
              <a:rPr lang="zh-CN" altLang="en-US" sz="2400" b="1" dirty="0">
                <a:solidFill>
                  <a:schemeClr val="bg1"/>
                </a:solidFill>
                <a:latin typeface="+mn-ea"/>
                <a:sym typeface="+mn-ea"/>
              </a:rPr>
              <a:t>、上机前认真阅读银行家算法思路，理解资源的试探性分配和安全序列的获得；</a:t>
            </a:r>
          </a:p>
          <a:p>
            <a:pPr>
              <a:lnSpc>
                <a:spcPct val="120000"/>
              </a:lnSpc>
              <a:buClr>
                <a:schemeClr val="accent6">
                  <a:lumMod val="40000"/>
                  <a:lumOff val="60000"/>
                </a:schemeClr>
              </a:buClr>
            </a:pPr>
            <a:r>
              <a:rPr lang="en-US" altLang="zh-CN" sz="2400" b="1" dirty="0" smtClean="0">
                <a:solidFill>
                  <a:schemeClr val="bg1"/>
                </a:solidFill>
                <a:latin typeface="+mn-ea"/>
                <a:sym typeface="+mn-ea"/>
              </a:rPr>
              <a:t>  2</a:t>
            </a:r>
            <a:r>
              <a:rPr lang="zh-CN" altLang="en-US" sz="2400" b="1" dirty="0">
                <a:solidFill>
                  <a:schemeClr val="bg1"/>
                </a:solidFill>
                <a:latin typeface="+mn-ea"/>
                <a:sym typeface="+mn-ea"/>
              </a:rPr>
              <a:t>、上机时认真的进行测试，输入不同的资源分配请求，写出实验结果；</a:t>
            </a:r>
          </a:p>
          <a:p>
            <a:pPr>
              <a:lnSpc>
                <a:spcPct val="120000"/>
              </a:lnSpc>
              <a:buClr>
                <a:schemeClr val="accent6">
                  <a:lumMod val="40000"/>
                  <a:lumOff val="60000"/>
                </a:schemeClr>
              </a:buClr>
            </a:pPr>
            <a:r>
              <a:rPr lang="en-US" altLang="zh-CN" sz="2400" b="1" dirty="0" smtClean="0">
                <a:solidFill>
                  <a:schemeClr val="bg1"/>
                </a:solidFill>
                <a:latin typeface="+mn-ea"/>
                <a:sym typeface="+mn-ea"/>
              </a:rPr>
              <a:t>  3</a:t>
            </a:r>
            <a:r>
              <a:rPr lang="zh-CN" altLang="en-US" sz="2400" b="1" dirty="0">
                <a:solidFill>
                  <a:schemeClr val="bg1"/>
                </a:solidFill>
                <a:latin typeface="+mn-ea"/>
                <a:sym typeface="+mn-ea"/>
              </a:rPr>
              <a:t>、认真撰写实验报告，并交任课教师</a:t>
            </a:r>
            <a:r>
              <a:rPr lang="zh-CN" altLang="en-US" sz="2400" b="1" dirty="0" smtClean="0">
                <a:solidFill>
                  <a:schemeClr val="bg1"/>
                </a:solidFill>
                <a:latin typeface="+mn-ea"/>
                <a:sym typeface="+mn-ea"/>
              </a:rPr>
              <a:t>。</a:t>
            </a:r>
            <a:endParaRPr lang="en-US" altLang="zh-CN" sz="2400" b="1" dirty="0" smtClean="0">
              <a:solidFill>
                <a:schemeClr val="bg1"/>
              </a:solidFill>
              <a:latin typeface="+mn-ea"/>
              <a:sym typeface="+mn-ea"/>
            </a:endParaRPr>
          </a:p>
          <a:p>
            <a:pPr indent="-342900">
              <a:lnSpc>
                <a:spcPct val="120000"/>
              </a:lnSpc>
              <a:buClr>
                <a:schemeClr val="accent6">
                  <a:lumMod val="40000"/>
                  <a:lumOff val="60000"/>
                </a:schemeClr>
              </a:buClr>
              <a:buFont typeface="Wingdings" panose="05000000000000000000" pitchFamily="2" charset="2"/>
              <a:buChar char="Ø"/>
            </a:pPr>
            <a:r>
              <a:rPr lang="zh-CN" altLang="en-US" sz="2400" b="1" dirty="0">
                <a:solidFill>
                  <a:srgbClr val="FFFF00"/>
                </a:solidFill>
                <a:latin typeface="+mn-ea"/>
                <a:sym typeface="+mn-ea"/>
              </a:rPr>
              <a:t>实验指导书</a:t>
            </a:r>
            <a:r>
              <a:rPr lang="zh-CN" altLang="en-US" sz="2400" b="1" dirty="0">
                <a:solidFill>
                  <a:srgbClr val="FFFF00"/>
                </a:solidFill>
                <a:latin typeface="+mn-ea"/>
                <a:sym typeface="+mn-ea"/>
                <a:hlinkClick r:id="rId3" action="ppaction://hlinkfile"/>
              </a:rPr>
              <a:t>链接</a:t>
            </a:r>
            <a:endParaRPr lang="zh-CN" altLang="en-US" sz="2400" b="1" dirty="0">
              <a:solidFill>
                <a:srgbClr val="FFFF00"/>
              </a:solidFill>
              <a:latin typeface="+mn-ea"/>
              <a:sym typeface="+mn-ea"/>
            </a:endParaRPr>
          </a:p>
        </p:txBody>
      </p:sp>
    </p:spTree>
    <p:extLst>
      <p:ext uri="{BB962C8B-B14F-4D97-AF65-F5344CB8AC3E}">
        <p14:creationId xmlns:p14="http://schemas.microsoft.com/office/powerpoint/2010/main" val="17250087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死锁的检测和恢复</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1314" y="1242465"/>
            <a:ext cx="6941291" cy="3813288"/>
          </a:xfrm>
          <a:prstGeom prst="rect">
            <a:avLst/>
          </a:prstGeom>
        </p:spPr>
        <p:txBody>
          <a:bodyPr wrap="square">
            <a:spAutoFit/>
          </a:bodyPr>
          <a:lstStyle/>
          <a:p>
            <a:pPr>
              <a:lnSpc>
                <a:spcPct val="140000"/>
              </a:lnSpc>
              <a:buClr>
                <a:schemeClr val="accent6">
                  <a:lumMod val="40000"/>
                  <a:lumOff val="60000"/>
                </a:schemeClr>
              </a:buClr>
              <a:buFont typeface="Wingdings" panose="05000000000000000000" pitchFamily="2" charset="2"/>
              <a:buChar char="Ø"/>
            </a:pPr>
            <a:r>
              <a:rPr lang="zh-CN" altLang="en-US" sz="2200" b="1" dirty="0">
                <a:solidFill>
                  <a:schemeClr val="bg1"/>
                </a:solidFill>
                <a:latin typeface="+mn-ea"/>
              </a:rPr>
              <a:t>当进程进行资源请求时死锁检测算法</a:t>
            </a:r>
            <a:r>
              <a:rPr lang="zh-CN" altLang="en-US" sz="2200" b="1" dirty="0">
                <a:solidFill>
                  <a:srgbClr val="FFFF00"/>
                </a:solidFill>
                <a:latin typeface="+mn-ea"/>
              </a:rPr>
              <a:t>检查并发进程组是否构成资源的请求和保持环路</a:t>
            </a:r>
            <a:r>
              <a:rPr lang="zh-CN" altLang="en-US" sz="2200" b="1" dirty="0">
                <a:solidFill>
                  <a:schemeClr val="bg1"/>
                </a:solidFill>
                <a:latin typeface="+mn-ea"/>
              </a:rPr>
              <a:t>。</a:t>
            </a:r>
            <a:r>
              <a:rPr lang="zh-CN" altLang="en-US" sz="2200" b="1" dirty="0">
                <a:solidFill>
                  <a:schemeClr val="accent6">
                    <a:lumMod val="40000"/>
                    <a:lumOff val="60000"/>
                  </a:schemeClr>
                </a:solidFill>
                <a:latin typeface="+mn-ea"/>
              </a:rPr>
              <a:t>有限状态转移图</a:t>
            </a:r>
            <a:r>
              <a:rPr lang="zh-CN" altLang="en-US" sz="2200" b="1" dirty="0">
                <a:solidFill>
                  <a:schemeClr val="bg1"/>
                </a:solidFill>
                <a:latin typeface="+mn-ea"/>
              </a:rPr>
              <a:t>和</a:t>
            </a:r>
            <a:r>
              <a:rPr lang="en-US" altLang="zh-CN" sz="2200" b="1" dirty="0" err="1">
                <a:solidFill>
                  <a:schemeClr val="accent6">
                    <a:lumMod val="40000"/>
                    <a:lumOff val="60000"/>
                  </a:schemeClr>
                </a:solidFill>
                <a:latin typeface="+mn-ea"/>
              </a:rPr>
              <a:t>petriNet</a:t>
            </a:r>
            <a:r>
              <a:rPr lang="zh-CN" altLang="en-US" sz="2200" b="1" dirty="0">
                <a:solidFill>
                  <a:schemeClr val="bg1"/>
                </a:solidFill>
                <a:latin typeface="+mn-ea"/>
              </a:rPr>
              <a:t>等技术都可用来</a:t>
            </a:r>
            <a:r>
              <a:rPr lang="zh-CN" altLang="en-US" sz="2200" b="1" dirty="0">
                <a:solidFill>
                  <a:schemeClr val="accent6">
                    <a:lumMod val="40000"/>
                    <a:lumOff val="60000"/>
                  </a:schemeClr>
                </a:solidFill>
                <a:latin typeface="+mn-ea"/>
              </a:rPr>
              <a:t>有效地判断死锁</a:t>
            </a:r>
            <a:r>
              <a:rPr lang="zh-CN" altLang="en-US" sz="2200" b="1" dirty="0">
                <a:solidFill>
                  <a:schemeClr val="bg1"/>
                </a:solidFill>
                <a:latin typeface="+mn-ea"/>
              </a:rPr>
              <a:t>发生</a:t>
            </a:r>
            <a:r>
              <a:rPr lang="zh-CN" altLang="en-US" sz="2200" b="1" dirty="0" smtClean="0">
                <a:solidFill>
                  <a:schemeClr val="bg1"/>
                </a:solidFill>
                <a:latin typeface="+mn-ea"/>
              </a:rPr>
              <a:t>。</a:t>
            </a:r>
            <a:endParaRPr lang="en-US" altLang="zh-CN" sz="2200" b="1" dirty="0" smtClean="0">
              <a:solidFill>
                <a:schemeClr val="bg1"/>
              </a:solidFill>
              <a:latin typeface="+mn-ea"/>
            </a:endParaRPr>
          </a:p>
          <a:p>
            <a:pPr>
              <a:lnSpc>
                <a:spcPct val="140000"/>
              </a:lnSpc>
              <a:buClr>
                <a:schemeClr val="accent6">
                  <a:lumMod val="40000"/>
                  <a:lumOff val="60000"/>
                </a:schemeClr>
              </a:buClr>
              <a:buFont typeface="Wingdings" panose="05000000000000000000" pitchFamily="2" charset="2"/>
              <a:buChar char="Ø"/>
            </a:pPr>
            <a:r>
              <a:rPr lang="zh-CN" altLang="en-US" sz="2200" b="1" dirty="0" smtClean="0">
                <a:solidFill>
                  <a:schemeClr val="bg1"/>
                </a:solidFill>
                <a:latin typeface="+mn-ea"/>
              </a:rPr>
              <a:t>死锁</a:t>
            </a:r>
            <a:r>
              <a:rPr lang="zh-CN" altLang="en-US" sz="2200" b="1" dirty="0">
                <a:solidFill>
                  <a:schemeClr val="bg1"/>
                </a:solidFill>
                <a:latin typeface="+mn-ea"/>
              </a:rPr>
              <a:t>的恢复办法较多。最简单的办法是</a:t>
            </a:r>
            <a:r>
              <a:rPr lang="zh-CN" altLang="en-US" sz="2200" b="1" dirty="0">
                <a:solidFill>
                  <a:srgbClr val="FFFF00"/>
                </a:solidFill>
                <a:latin typeface="+mn-ea"/>
              </a:rPr>
              <a:t>终止各锁住进程</a:t>
            </a:r>
            <a:r>
              <a:rPr lang="zh-CN" altLang="en-US" sz="2200" b="1" dirty="0">
                <a:solidFill>
                  <a:schemeClr val="bg1"/>
                </a:solidFill>
                <a:latin typeface="+mn-ea"/>
              </a:rPr>
              <a:t>，或</a:t>
            </a:r>
            <a:r>
              <a:rPr lang="zh-CN" altLang="en-US" sz="2200" b="1" dirty="0">
                <a:solidFill>
                  <a:srgbClr val="FFFF00"/>
                </a:solidFill>
                <a:latin typeface="+mn-ea"/>
              </a:rPr>
              <a:t>按一定的顺序中止进程序列</a:t>
            </a:r>
            <a:r>
              <a:rPr lang="zh-CN" altLang="en-US" sz="2200" b="1" dirty="0">
                <a:solidFill>
                  <a:schemeClr val="bg1"/>
                </a:solidFill>
                <a:latin typeface="+mn-ea"/>
              </a:rPr>
              <a:t>，直至已释放到有足够的资源来完成剩下的进程时为止。另外，也可以从被锁住进程强迫剥夺资源以解除死锁。</a:t>
            </a:r>
          </a:p>
          <a:p>
            <a:pPr indent="-342900">
              <a:lnSpc>
                <a:spcPct val="140000"/>
              </a:lnSpc>
              <a:buClr>
                <a:schemeClr val="accent6">
                  <a:lumMod val="40000"/>
                  <a:lumOff val="60000"/>
                </a:schemeClr>
              </a:buClr>
              <a:buFont typeface="Wingdings" panose="05000000000000000000" pitchFamily="2" charset="2"/>
              <a:buChar char="Ø"/>
            </a:pPr>
            <a:endParaRPr lang="en-US" altLang="zh-CN" sz="22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43648" y="571711"/>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进程的概念及描述</a:t>
              </a:r>
              <a:endParaRPr lang="en-US" altLang="zh-CN"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809" y="193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进程状态及其转换、进程的控制</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977198"/>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进程通信</a:t>
              </a:r>
              <a:endParaRPr lang="en-US" altLang="zh-CN" b="1" dirty="0">
                <a:solidFill>
                  <a:srgbClr val="000000"/>
                </a:solidFill>
              </a:endParaRPr>
            </a:p>
          </p:txBody>
        </p:sp>
        <p:sp>
          <p:nvSpPr>
            <p:cNvPr id="26" name="Text Box 60"/>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4</a:t>
              </a:r>
              <a:endParaRPr lang="en-US" altLang="zh-CN" sz="2400" dirty="0">
                <a:solidFill>
                  <a:schemeClr val="bg1"/>
                </a:solidFill>
                <a:ea typeface="宋体" panose="02010600030101010101" pitchFamily="2" charset="-122"/>
              </a:endParaRPr>
            </a:p>
          </p:txBody>
        </p:sp>
      </p:grpSp>
      <p:grpSp>
        <p:nvGrpSpPr>
          <p:cNvPr id="27" name="Group 61"/>
          <p:cNvGrpSpPr/>
          <p:nvPr/>
        </p:nvGrpSpPr>
        <p:grpSpPr bwMode="auto">
          <a:xfrm>
            <a:off x="2245548" y="2183789"/>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死锁问题               </a:t>
              </a:r>
              <a:endParaRPr lang="en-US" altLang="zh-CN" b="1" dirty="0">
                <a:solidFill>
                  <a:srgbClr val="000000"/>
                </a:solidFill>
              </a:endParaRPr>
            </a:p>
          </p:txBody>
        </p:sp>
        <p:sp>
          <p:nvSpPr>
            <p:cNvPr id="31" name="Text Box 65"/>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3</a:t>
              </a:r>
              <a:endParaRPr lang="en-US" altLang="zh-CN" sz="2400" dirty="0">
                <a:solidFill>
                  <a:schemeClr val="bg1"/>
                </a:solidFill>
                <a:ea typeface="宋体" panose="02010600030101010101" pitchFamily="2" charset="-122"/>
              </a:endParaRPr>
            </a:p>
          </p:txBody>
        </p:sp>
      </p:grpSp>
      <p:grpSp>
        <p:nvGrpSpPr>
          <p:cNvPr id="32" name="Group 51"/>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线程的概念、分类与执行</a:t>
              </a:r>
              <a:endParaRPr lang="en-US" altLang="zh-CN"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gtEl>
                                      </p:cBhvr>
                                      <p:by x="150000" y="150000"/>
                                    </p:animScale>
                                  </p:childTnLst>
                                </p:cTn>
                              </p:par>
                              <p:par>
                                <p:cTn id="7" presetID="64" presetClass="path" presetSubtype="0" accel="50000" decel="50000" fill="hold" nodeType="withEffect">
                                  <p:stCondLst>
                                    <p:cond delay="0"/>
                                  </p:stCondLst>
                                  <p:childTnLst>
                                    <p:animMotion origin="layout" path="M -3.61111E-6 -3.7037E-7 L -0.00642 -0.15926 " pathEditMode="relative" rAng="0" ptsTypes="AA">
                                      <p:cBhvr>
                                        <p:cTn id="8" dur="2000" fill="hold"/>
                                        <p:tgtEl>
                                          <p:spTgt spid="22"/>
                                        </p:tgtEl>
                                        <p:attrNameLst>
                                          <p:attrName>ppt_x</p:attrName>
                                          <p:attrName>ppt_y</p:attrName>
                                        </p:attrNameLst>
                                      </p:cBhvr>
                                      <p:rCtr x="-330" y="-7963"/>
                                    </p:animMotion>
                                  </p:childTnLst>
                                </p:cTn>
                              </p:par>
                              <p:par>
                                <p:cTn id="9" presetID="10" presetClass="exit" presetSubtype="0" fill="hold" nodeType="withEffect">
                                  <p:stCondLst>
                                    <p:cond delay="0"/>
                                  </p:stCondLst>
                                  <p:childTnLst>
                                    <p:animEffect transition="out" filter="fade">
                                      <p:cBhvr>
                                        <p:cTn id="10" dur="2000"/>
                                        <p:tgtEl>
                                          <p:spTgt spid="27"/>
                                        </p:tgtEl>
                                      </p:cBhvr>
                                    </p:animEffect>
                                    <p:set>
                                      <p:cBhvr>
                                        <p:cTn id="11" dur="1" fill="hold">
                                          <p:stCondLst>
                                            <p:cond delay="1999"/>
                                          </p:stCondLst>
                                        </p:cTn>
                                        <p:tgtEl>
                                          <p:spTgt spid="27"/>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32"/>
                                        </p:tgtEl>
                                      </p:cBhvr>
                                    </p:animEffect>
                                    <p:set>
                                      <p:cBhvr>
                                        <p:cTn id="14" dur="1" fill="hold">
                                          <p:stCondLst>
                                            <p:cond delay="1999"/>
                                          </p:stCondLst>
                                        </p:cTn>
                                        <p:tgtEl>
                                          <p:spTgt spid="32"/>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1"/>
                                        </p:tgtEl>
                                      </p:cBhvr>
                                    </p:animEffect>
                                    <p:set>
                                      <p:cBhvr>
                                        <p:cTn id="17" dur="1" fill="hold">
                                          <p:stCondLst>
                                            <p:cond delay="19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6"/>
                                        </p:tgtEl>
                                      </p:cBhvr>
                                    </p:animEffect>
                                    <p:set>
                                      <p:cBhvr>
                                        <p:cTn id="20"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进程通信</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1314" y="1242465"/>
            <a:ext cx="6941291" cy="3416320"/>
          </a:xfrm>
          <a:prstGeom prst="rect">
            <a:avLst/>
          </a:prstGeom>
        </p:spPr>
        <p:txBody>
          <a:bodyPr wrap="square">
            <a:spAutoFit/>
          </a:bodyPr>
          <a:lstStyle/>
          <a:p>
            <a:pPr>
              <a:lnSpc>
                <a:spcPct val="150000"/>
              </a:lnSpc>
              <a:buClr>
                <a:schemeClr val="accent6">
                  <a:lumMod val="40000"/>
                  <a:lumOff val="60000"/>
                </a:schemeClr>
              </a:buClr>
              <a:buFont typeface="Wingdings" panose="05000000000000000000" pitchFamily="2" charset="2"/>
              <a:buChar char="Ø"/>
            </a:pPr>
            <a:r>
              <a:rPr lang="zh-CN" altLang="en-US" sz="2400" b="1" dirty="0">
                <a:solidFill>
                  <a:srgbClr val="FFFF00"/>
                </a:solidFill>
                <a:latin typeface="+mn-ea"/>
              </a:rPr>
              <a:t>通信</a:t>
            </a:r>
            <a:r>
              <a:rPr lang="zh-CN" altLang="en-US" sz="2400" b="1" dirty="0">
                <a:solidFill>
                  <a:schemeClr val="bg1"/>
                </a:solidFill>
                <a:latin typeface="+mn-ea"/>
              </a:rPr>
              <a:t>（</a:t>
            </a:r>
            <a:r>
              <a:rPr lang="en-US" altLang="zh-CN" sz="2400" b="1" dirty="0">
                <a:solidFill>
                  <a:schemeClr val="bg1"/>
                </a:solidFill>
                <a:latin typeface="+mn-ea"/>
              </a:rPr>
              <a:t>communication</a:t>
            </a:r>
            <a:r>
              <a:rPr lang="zh-CN" altLang="en-US" sz="2400" b="1" dirty="0">
                <a:solidFill>
                  <a:schemeClr val="bg1"/>
                </a:solidFill>
                <a:latin typeface="+mn-ea"/>
              </a:rPr>
              <a:t>）意味着在</a:t>
            </a:r>
            <a:r>
              <a:rPr lang="zh-CN" altLang="en-US" sz="2400" b="1" dirty="0">
                <a:solidFill>
                  <a:srgbClr val="FFFF00"/>
                </a:solidFill>
                <a:latin typeface="+mn-ea"/>
              </a:rPr>
              <a:t>进程间传送数据</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一般来说，进程间的通信根据通信内容可以划分为二种：即</a:t>
            </a:r>
            <a:r>
              <a:rPr lang="zh-CN" altLang="en-US" sz="2400" b="1" dirty="0">
                <a:solidFill>
                  <a:srgbClr val="FFFF00"/>
                </a:solidFill>
                <a:latin typeface="+mn-ea"/>
              </a:rPr>
              <a:t>控制信息的传送</a:t>
            </a:r>
            <a:r>
              <a:rPr lang="zh-CN" altLang="en-US" sz="2400" b="1" dirty="0">
                <a:solidFill>
                  <a:schemeClr val="bg1"/>
                </a:solidFill>
                <a:latin typeface="+mn-ea"/>
              </a:rPr>
              <a:t>与</a:t>
            </a:r>
            <a:r>
              <a:rPr lang="zh-CN" altLang="en-US" sz="2400" b="1" dirty="0">
                <a:solidFill>
                  <a:schemeClr val="accent6">
                    <a:lumMod val="40000"/>
                    <a:lumOff val="60000"/>
                  </a:schemeClr>
                </a:solidFill>
                <a:latin typeface="+mn-ea"/>
              </a:rPr>
              <a:t>大批量数据传送</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有时</a:t>
            </a:r>
            <a:r>
              <a:rPr lang="zh-CN" altLang="en-US" sz="2400" b="1" dirty="0">
                <a:solidFill>
                  <a:schemeClr val="bg1"/>
                </a:solidFill>
                <a:latin typeface="+mn-ea"/>
              </a:rPr>
              <a:t>，也把进程间控制信息的交换称为</a:t>
            </a:r>
            <a:r>
              <a:rPr lang="zh-CN" altLang="en-US" sz="2400" b="1" dirty="0">
                <a:solidFill>
                  <a:srgbClr val="FFFF00"/>
                </a:solidFill>
                <a:latin typeface="+mn-ea"/>
              </a:rPr>
              <a:t>低级通信</a:t>
            </a:r>
            <a:r>
              <a:rPr lang="zh-CN" altLang="en-US" sz="2400" b="1" dirty="0">
                <a:solidFill>
                  <a:schemeClr val="bg1"/>
                </a:solidFill>
                <a:latin typeface="+mn-ea"/>
              </a:rPr>
              <a:t>，而把进程间大批量数据的交换称为</a:t>
            </a:r>
            <a:r>
              <a:rPr lang="zh-CN" altLang="en-US" sz="2400" b="1" dirty="0">
                <a:solidFill>
                  <a:schemeClr val="accent6">
                    <a:lumMod val="40000"/>
                    <a:lumOff val="60000"/>
                  </a:schemeClr>
                </a:solidFill>
                <a:latin typeface="+mn-ea"/>
              </a:rPr>
              <a:t>高级通信</a:t>
            </a:r>
            <a:r>
              <a:rPr lang="zh-CN" altLang="en-US" sz="2400" b="1" dirty="0">
                <a:solidFill>
                  <a:schemeClr val="bg1"/>
                </a:solidFill>
                <a:latin typeface="+mn-ea"/>
              </a:rPr>
              <a:t>。</a:t>
            </a:r>
            <a:endParaRPr lang="en-US" altLang="zh-CN" sz="2400" b="1" dirty="0">
              <a:solidFill>
                <a:schemeClr val="bg1"/>
              </a:solidFill>
              <a:latin typeface="+mn-ea"/>
            </a:endParaRPr>
          </a:p>
        </p:txBody>
      </p:sp>
      <p:sp>
        <p:nvSpPr>
          <p:cNvPr id="3" name="线形标注 1 2"/>
          <p:cNvSpPr/>
          <p:nvPr/>
        </p:nvSpPr>
        <p:spPr>
          <a:xfrm>
            <a:off x="3995936" y="1100127"/>
            <a:ext cx="3816424" cy="1727643"/>
          </a:xfrm>
          <a:prstGeom prst="borderCallout1">
            <a:avLst/>
          </a:prstGeom>
          <a:ln w="38100"/>
        </p:spPr>
        <p:style>
          <a:lnRef idx="1">
            <a:schemeClr val="accent6"/>
          </a:lnRef>
          <a:fillRef idx="2">
            <a:schemeClr val="accent6"/>
          </a:fillRef>
          <a:effectRef idx="1">
            <a:schemeClr val="accent6"/>
          </a:effectRef>
          <a:fontRef idx="minor">
            <a:schemeClr val="dk1"/>
          </a:fontRef>
        </p:style>
        <p:txBody>
          <a:bodyPr rtlCol="0" anchor="ctr"/>
          <a:lstStyle/>
          <a:p>
            <a:pPr indent="-285750">
              <a:lnSpc>
                <a:spcPct val="140000"/>
              </a:lnSpc>
              <a:buClr>
                <a:srgbClr val="C00000"/>
              </a:buClr>
              <a:buFont typeface="Wingdings" panose="05000000000000000000" pitchFamily="2" charset="2"/>
              <a:buChar char="Ø"/>
            </a:pPr>
            <a:r>
              <a:rPr lang="zh-CN" altLang="en-US" sz="2000" b="1" dirty="0">
                <a:solidFill>
                  <a:schemeClr val="tx1"/>
                </a:solidFill>
                <a:latin typeface="+mn-ea"/>
              </a:rPr>
              <a:t>进程的互斥和同步为低级进程通信。在进程互斥中，进程通过修改</a:t>
            </a:r>
            <a:r>
              <a:rPr lang="zh-CN" altLang="en-US" sz="2000" b="1" dirty="0">
                <a:solidFill>
                  <a:srgbClr val="FF0000"/>
                </a:solidFill>
                <a:latin typeface="+mn-ea"/>
              </a:rPr>
              <a:t>信号量</a:t>
            </a:r>
            <a:r>
              <a:rPr lang="zh-CN" altLang="en-US" sz="2000" b="1" dirty="0">
                <a:solidFill>
                  <a:schemeClr val="tx1"/>
                </a:solidFill>
                <a:latin typeface="+mn-ea"/>
              </a:rPr>
              <a:t>，向其它进程表明临界资源是否可用。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left)">
                                      <p:cBhvr>
                                        <p:cTn id="2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3" name="图示 2"/>
          <p:cNvGraphicFramePr/>
          <p:nvPr/>
        </p:nvGraphicFramePr>
        <p:xfrm>
          <a:off x="971600" y="856222"/>
          <a:ext cx="6432376" cy="4230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主从式</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941291" cy="2862322"/>
          </a:xfrm>
          <a:prstGeom prst="rect">
            <a:avLst/>
          </a:prstGeom>
        </p:spPr>
        <p:txBody>
          <a:bodyPr wrap="square">
            <a:spAutoFit/>
          </a:bodyPr>
          <a:lstStyle/>
          <a:p>
            <a:pPr>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主进程</a:t>
            </a:r>
            <a:r>
              <a:rPr lang="zh-CN" altLang="en-US" sz="2400" b="1" dirty="0">
                <a:solidFill>
                  <a:schemeClr val="bg1"/>
                </a:solidFill>
                <a:latin typeface="+mn-ea"/>
              </a:rPr>
              <a:t>可自由地使用从进程的资源或数据；</a:t>
            </a:r>
          </a:p>
          <a:p>
            <a:pPr>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从</a:t>
            </a:r>
            <a:r>
              <a:rPr lang="zh-CN" altLang="en-US" sz="2400" b="1" dirty="0">
                <a:solidFill>
                  <a:schemeClr val="bg1"/>
                </a:solidFill>
                <a:latin typeface="+mn-ea"/>
              </a:rPr>
              <a:t>进程的动作受主进程的控制；</a:t>
            </a:r>
          </a:p>
          <a:p>
            <a:pPr>
              <a:lnSpc>
                <a:spcPct val="150000"/>
              </a:lnSpc>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主</a:t>
            </a:r>
            <a:r>
              <a:rPr lang="zh-CN" altLang="en-US" sz="2400" b="1" dirty="0">
                <a:solidFill>
                  <a:schemeClr val="bg1"/>
                </a:solidFill>
                <a:latin typeface="+mn-ea"/>
              </a:rPr>
              <a:t>进程和从进程的关系是固定的。</a:t>
            </a:r>
          </a:p>
          <a:p>
            <a:pPr>
              <a:lnSpc>
                <a:spcPct val="150000"/>
              </a:lnSpc>
              <a:buClr>
                <a:schemeClr val="accent4">
                  <a:lumMod val="40000"/>
                  <a:lumOff val="60000"/>
                </a:schemeClr>
              </a:buClr>
              <a:buFont typeface="Wingdings" panose="05000000000000000000" pitchFamily="2" charset="2"/>
              <a:buChar char="u"/>
            </a:pPr>
            <a:r>
              <a:rPr lang="zh-CN" altLang="en-US" sz="2400" b="1" dirty="0" smtClean="0">
                <a:solidFill>
                  <a:schemeClr val="bg1"/>
                </a:solidFill>
                <a:latin typeface="+mn-ea"/>
              </a:rPr>
              <a:t>主从</a:t>
            </a:r>
            <a:r>
              <a:rPr lang="zh-CN" altLang="en-US" sz="2400" b="1" dirty="0">
                <a:solidFill>
                  <a:schemeClr val="bg1"/>
                </a:solidFill>
                <a:latin typeface="+mn-ea"/>
              </a:rPr>
              <a:t>式通信系统的典型例子是终端控制进程和终端进程。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会话式</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1314" y="1290916"/>
            <a:ext cx="6941291" cy="3291670"/>
          </a:xfrm>
          <a:prstGeom prst="rect">
            <a:avLst/>
          </a:prstGeom>
        </p:spPr>
        <p:txBody>
          <a:bodyPr wrap="square">
            <a:spAutoFit/>
          </a:bodyPr>
          <a:lstStyle/>
          <a:p>
            <a:pPr>
              <a:lnSpc>
                <a:spcPct val="135000"/>
              </a:lnSpc>
              <a:buClr>
                <a:schemeClr val="accent6">
                  <a:lumMod val="40000"/>
                  <a:lumOff val="60000"/>
                </a:schemeClr>
              </a:buClr>
              <a:buFont typeface="Wingdings" panose="05000000000000000000" pitchFamily="2" charset="2"/>
              <a:buChar char="Ø"/>
            </a:pPr>
            <a:r>
              <a:rPr lang="zh-CN" altLang="en-US" sz="2200" b="1" dirty="0">
                <a:solidFill>
                  <a:schemeClr val="bg1"/>
                </a:solidFill>
                <a:latin typeface="+mn-ea"/>
              </a:rPr>
              <a:t>通信进程双方可分别称为</a:t>
            </a:r>
            <a:r>
              <a:rPr lang="zh-CN" altLang="en-US" sz="2200" b="1" dirty="0">
                <a:solidFill>
                  <a:srgbClr val="FFFF00"/>
                </a:solidFill>
                <a:latin typeface="+mn-ea"/>
              </a:rPr>
              <a:t>使用进程</a:t>
            </a:r>
            <a:r>
              <a:rPr lang="zh-CN" altLang="en-US" sz="2200" b="1" dirty="0">
                <a:solidFill>
                  <a:schemeClr val="bg1"/>
                </a:solidFill>
                <a:latin typeface="+mn-ea"/>
              </a:rPr>
              <a:t>和</a:t>
            </a:r>
            <a:r>
              <a:rPr lang="zh-CN" altLang="en-US" sz="2200" b="1" dirty="0">
                <a:solidFill>
                  <a:srgbClr val="FFFF00"/>
                </a:solidFill>
                <a:latin typeface="+mn-ea"/>
              </a:rPr>
              <a:t>服务进程</a:t>
            </a:r>
            <a:r>
              <a:rPr lang="zh-CN" altLang="en-US" sz="2200" b="1" dirty="0">
                <a:solidFill>
                  <a:schemeClr val="bg1"/>
                </a:solidFill>
                <a:latin typeface="+mn-ea"/>
              </a:rPr>
              <a:t>。其中，</a:t>
            </a:r>
            <a:r>
              <a:rPr lang="zh-CN" altLang="en-US" sz="2200" b="1" dirty="0">
                <a:solidFill>
                  <a:srgbClr val="FFFF00"/>
                </a:solidFill>
                <a:latin typeface="+mn-ea"/>
              </a:rPr>
              <a:t>使用进程调用服务进程提供的服务</a:t>
            </a:r>
            <a:r>
              <a:rPr lang="zh-CN" altLang="en-US" sz="2200" b="1" dirty="0">
                <a:solidFill>
                  <a:schemeClr val="bg1"/>
                </a:solidFill>
                <a:latin typeface="+mn-ea"/>
              </a:rPr>
              <a:t>。它们具有如下特点：</a:t>
            </a:r>
          </a:p>
          <a:p>
            <a:pPr marL="177800">
              <a:lnSpc>
                <a:spcPct val="135000"/>
              </a:lnSpc>
              <a:buClr>
                <a:schemeClr val="accent5">
                  <a:lumMod val="40000"/>
                  <a:lumOff val="60000"/>
                </a:schemeClr>
              </a:buClr>
              <a:buFont typeface="Wingdings" panose="05000000000000000000" pitchFamily="2" charset="2"/>
              <a:buChar char="l"/>
            </a:pPr>
            <a:r>
              <a:rPr lang="zh-CN" altLang="en-US" sz="2200" b="1" dirty="0" smtClean="0">
                <a:solidFill>
                  <a:schemeClr val="bg1"/>
                </a:solidFill>
                <a:latin typeface="+mn-ea"/>
              </a:rPr>
              <a:t>使用</a:t>
            </a:r>
            <a:r>
              <a:rPr lang="zh-CN" altLang="en-US" sz="2200" b="1" dirty="0">
                <a:solidFill>
                  <a:schemeClr val="bg1"/>
                </a:solidFill>
                <a:latin typeface="+mn-ea"/>
              </a:rPr>
              <a:t>进程在使用服务进程所提供的服务之前，必须得到服务进程的许可；</a:t>
            </a:r>
          </a:p>
          <a:p>
            <a:pPr marL="177800">
              <a:lnSpc>
                <a:spcPct val="135000"/>
              </a:lnSpc>
              <a:buClr>
                <a:schemeClr val="accent5">
                  <a:lumMod val="40000"/>
                  <a:lumOff val="60000"/>
                </a:schemeClr>
              </a:buClr>
              <a:buFont typeface="Wingdings" panose="05000000000000000000" pitchFamily="2" charset="2"/>
              <a:buChar char="l"/>
            </a:pPr>
            <a:r>
              <a:rPr lang="zh-CN" altLang="en-US" sz="2200" b="1" dirty="0" smtClean="0">
                <a:solidFill>
                  <a:schemeClr val="bg1"/>
                </a:solidFill>
                <a:latin typeface="+mn-ea"/>
              </a:rPr>
              <a:t>服务</a:t>
            </a:r>
            <a:r>
              <a:rPr lang="zh-CN" altLang="en-US" sz="2200" b="1" dirty="0">
                <a:solidFill>
                  <a:schemeClr val="bg1"/>
                </a:solidFill>
                <a:latin typeface="+mn-ea"/>
              </a:rPr>
              <a:t>进程根据使用进程的要求提供服务，但对所提供服务的控制由服务进程自身完成。</a:t>
            </a:r>
          </a:p>
          <a:p>
            <a:pPr marL="177800">
              <a:lnSpc>
                <a:spcPct val="135000"/>
              </a:lnSpc>
              <a:buClr>
                <a:schemeClr val="accent5">
                  <a:lumMod val="40000"/>
                  <a:lumOff val="60000"/>
                </a:schemeClr>
              </a:buClr>
              <a:buFont typeface="Wingdings" panose="05000000000000000000" pitchFamily="2" charset="2"/>
              <a:buChar char="l"/>
            </a:pPr>
            <a:r>
              <a:rPr lang="zh-CN" altLang="en-US" sz="2200" b="1" dirty="0" smtClean="0">
                <a:solidFill>
                  <a:schemeClr val="bg1"/>
                </a:solidFill>
                <a:latin typeface="+mn-ea"/>
              </a:rPr>
              <a:t>使用</a:t>
            </a:r>
            <a:r>
              <a:rPr lang="zh-CN" altLang="en-US" sz="2200" b="1" dirty="0">
                <a:solidFill>
                  <a:schemeClr val="bg1"/>
                </a:solidFill>
                <a:latin typeface="+mn-ea"/>
              </a:rPr>
              <a:t>进程和服务进程在</a:t>
            </a:r>
            <a:r>
              <a:rPr lang="zh-CN" altLang="en-US" sz="2200" b="1" dirty="0">
                <a:solidFill>
                  <a:srgbClr val="8FCF49"/>
                </a:solidFill>
                <a:latin typeface="+mn-ea"/>
              </a:rPr>
              <a:t>通信时</a:t>
            </a:r>
            <a:r>
              <a:rPr lang="zh-CN" altLang="en-US" sz="2200" b="1" dirty="0">
                <a:solidFill>
                  <a:schemeClr val="bg1"/>
                </a:solidFill>
                <a:latin typeface="+mn-ea"/>
              </a:rPr>
              <a:t>有</a:t>
            </a:r>
            <a:r>
              <a:rPr lang="zh-CN" altLang="en-US" sz="2200" b="1" dirty="0">
                <a:solidFill>
                  <a:srgbClr val="8FCF49"/>
                </a:solidFill>
                <a:latin typeface="+mn-ea"/>
              </a:rPr>
              <a:t>固定连接关系</a:t>
            </a:r>
            <a:r>
              <a:rPr lang="zh-CN" altLang="en-US" sz="2200" b="1" dirty="0">
                <a:solidFill>
                  <a:schemeClr val="bg1"/>
                </a:solidFill>
                <a:latin typeface="+mn-ea"/>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6485965"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会话式</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1314" y="1290916"/>
            <a:ext cx="6941291" cy="3139321"/>
          </a:xfrm>
          <a:prstGeom prst="rect">
            <a:avLst/>
          </a:prstGeom>
        </p:spPr>
        <p:txBody>
          <a:bodyPr wrap="square">
            <a:spAutoFit/>
          </a:bodyPr>
          <a:lstStyle/>
          <a:p>
            <a:pPr>
              <a:lnSpc>
                <a:spcPct val="150000"/>
              </a:lnSpc>
              <a:buClr>
                <a:schemeClr val="accent6">
                  <a:lumMod val="40000"/>
                  <a:lumOff val="60000"/>
                </a:schemeClr>
              </a:buClr>
              <a:buFont typeface="Wingdings" panose="05000000000000000000" pitchFamily="2" charset="2"/>
              <a:buChar char="Ø"/>
            </a:pPr>
            <a:r>
              <a:rPr lang="zh-CN" altLang="en-US" sz="2200" b="1" dirty="0">
                <a:solidFill>
                  <a:srgbClr val="FFFF00"/>
                </a:solidFill>
                <a:latin typeface="+mn-ea"/>
              </a:rPr>
              <a:t>用户进程</a:t>
            </a:r>
            <a:r>
              <a:rPr lang="zh-CN" altLang="en-US" sz="2200" b="1" dirty="0">
                <a:solidFill>
                  <a:schemeClr val="bg1"/>
                </a:solidFill>
                <a:latin typeface="+mn-ea"/>
              </a:rPr>
              <a:t>与</a:t>
            </a:r>
            <a:r>
              <a:rPr lang="zh-CN" altLang="en-US" sz="2200" b="1" dirty="0">
                <a:solidFill>
                  <a:srgbClr val="FFFF00"/>
                </a:solidFill>
                <a:latin typeface="+mn-ea"/>
              </a:rPr>
              <a:t>磁盘管理进程</a:t>
            </a:r>
            <a:r>
              <a:rPr lang="zh-CN" altLang="en-US" sz="2200" b="1" dirty="0">
                <a:solidFill>
                  <a:schemeClr val="bg1"/>
                </a:solidFill>
                <a:latin typeface="+mn-ea"/>
              </a:rPr>
              <a:t>之间的</a:t>
            </a:r>
            <a:r>
              <a:rPr lang="zh-CN" altLang="en-US" sz="2200" b="1" dirty="0">
                <a:solidFill>
                  <a:srgbClr val="FFFF00"/>
                </a:solidFill>
                <a:latin typeface="+mn-ea"/>
              </a:rPr>
              <a:t>通信</a:t>
            </a:r>
            <a:r>
              <a:rPr lang="zh-CN" altLang="en-US" sz="2200" b="1" dirty="0">
                <a:solidFill>
                  <a:schemeClr val="bg1"/>
                </a:solidFill>
                <a:latin typeface="+mn-ea"/>
              </a:rPr>
              <a:t>是</a:t>
            </a:r>
            <a:r>
              <a:rPr lang="zh-CN" altLang="en-US" sz="2200" b="1" dirty="0">
                <a:solidFill>
                  <a:srgbClr val="FFFF00"/>
                </a:solidFill>
                <a:latin typeface="+mn-ea"/>
              </a:rPr>
              <a:t>会话系统</a:t>
            </a:r>
            <a:r>
              <a:rPr lang="zh-CN" altLang="en-US" sz="2200" b="1" dirty="0">
                <a:solidFill>
                  <a:schemeClr val="bg1"/>
                </a:solidFill>
                <a:latin typeface="+mn-ea"/>
              </a:rPr>
              <a:t>的一个例子</a:t>
            </a:r>
            <a:r>
              <a:rPr lang="zh-CN" altLang="en-US" sz="2200" b="1" dirty="0" smtClean="0">
                <a:solidFill>
                  <a:schemeClr val="bg1"/>
                </a:solidFill>
                <a:latin typeface="+mn-ea"/>
              </a:rPr>
              <a:t>。各</a:t>
            </a:r>
            <a:r>
              <a:rPr lang="zh-CN" altLang="en-US" sz="2200" b="1" dirty="0">
                <a:solidFill>
                  <a:schemeClr val="bg1"/>
                </a:solidFill>
                <a:latin typeface="+mn-ea"/>
              </a:rPr>
              <a:t>用户进程向磁盘管理进程提出使用要求并得到许可之后，才可以使用相应的存储区</a:t>
            </a:r>
            <a:r>
              <a:rPr lang="zh-CN" altLang="en-US" sz="2200" b="1" dirty="0" smtClean="0">
                <a:solidFill>
                  <a:schemeClr val="bg1"/>
                </a:solidFill>
                <a:latin typeface="+mn-ea"/>
              </a:rPr>
              <a:t>。</a:t>
            </a:r>
            <a:endParaRPr lang="en-US" altLang="zh-CN" sz="2200" b="1" dirty="0" smtClean="0">
              <a:solidFill>
                <a:schemeClr val="bg1"/>
              </a:solidFill>
              <a:latin typeface="+mn-ea"/>
            </a:endParaRPr>
          </a:p>
          <a:p>
            <a:pPr>
              <a:lnSpc>
                <a:spcPct val="150000"/>
              </a:lnSpc>
              <a:buClr>
                <a:schemeClr val="accent6">
                  <a:lumMod val="40000"/>
                  <a:lumOff val="60000"/>
                </a:schemeClr>
              </a:buClr>
              <a:buFont typeface="Wingdings" panose="05000000000000000000" pitchFamily="2" charset="2"/>
              <a:buChar char="Ø"/>
            </a:pPr>
            <a:r>
              <a:rPr lang="zh-CN" altLang="en-US" sz="2200" b="1" dirty="0" smtClean="0">
                <a:solidFill>
                  <a:schemeClr val="bg1"/>
                </a:solidFill>
                <a:latin typeface="+mn-ea"/>
              </a:rPr>
              <a:t>由</a:t>
            </a:r>
            <a:r>
              <a:rPr lang="zh-CN" altLang="en-US" sz="2200" b="1" dirty="0">
                <a:solidFill>
                  <a:srgbClr val="FFFF00"/>
                </a:solidFill>
                <a:latin typeface="+mn-ea"/>
              </a:rPr>
              <a:t>磁盘管理进程</a:t>
            </a:r>
            <a:r>
              <a:rPr lang="zh-CN" altLang="en-US" sz="2200" b="1" dirty="0">
                <a:solidFill>
                  <a:schemeClr val="bg1"/>
                </a:solidFill>
                <a:latin typeface="+mn-ea"/>
              </a:rPr>
              <a:t>自身完成对磁盘存储区的</a:t>
            </a:r>
            <a:r>
              <a:rPr lang="zh-CN" altLang="en-US" sz="2200" b="1" dirty="0">
                <a:solidFill>
                  <a:srgbClr val="FFFF00"/>
                </a:solidFill>
                <a:latin typeface="+mn-ea"/>
              </a:rPr>
              <a:t>管理</a:t>
            </a:r>
            <a:r>
              <a:rPr lang="zh-CN" altLang="en-US" sz="2200" b="1" dirty="0">
                <a:solidFill>
                  <a:schemeClr val="bg1"/>
                </a:solidFill>
                <a:latin typeface="+mn-ea"/>
              </a:rPr>
              <a:t>和</a:t>
            </a:r>
            <a:r>
              <a:rPr lang="zh-CN" altLang="en-US" sz="2200" b="1" dirty="0">
                <a:solidFill>
                  <a:srgbClr val="FFFF00"/>
                </a:solidFill>
                <a:latin typeface="+mn-ea"/>
              </a:rPr>
              <a:t>控制</a:t>
            </a:r>
            <a:r>
              <a:rPr lang="zh-CN" altLang="en-US" sz="2200" b="1" dirty="0" smtClean="0">
                <a:solidFill>
                  <a:schemeClr val="bg1"/>
                </a:solidFill>
                <a:latin typeface="+mn-ea"/>
              </a:rPr>
              <a:t>。</a:t>
            </a:r>
            <a:endParaRPr lang="en-US" altLang="zh-CN" sz="2200" b="1" dirty="0" smtClean="0">
              <a:solidFill>
                <a:schemeClr val="bg1"/>
              </a:solidFill>
              <a:latin typeface="+mn-ea"/>
            </a:endParaRPr>
          </a:p>
          <a:p>
            <a:pPr>
              <a:lnSpc>
                <a:spcPct val="150000"/>
              </a:lnSpc>
              <a:buClr>
                <a:schemeClr val="accent6">
                  <a:lumMod val="40000"/>
                  <a:lumOff val="60000"/>
                </a:schemeClr>
              </a:buClr>
              <a:buFont typeface="Wingdings" panose="05000000000000000000" pitchFamily="2" charset="2"/>
              <a:buChar char="Ø"/>
            </a:pPr>
            <a:r>
              <a:rPr lang="zh-CN" altLang="en-US" sz="2200" b="1" dirty="0" smtClean="0">
                <a:solidFill>
                  <a:schemeClr val="bg1"/>
                </a:solidFill>
                <a:latin typeface="+mn-ea"/>
              </a:rPr>
              <a:t>另外</a:t>
            </a:r>
            <a:r>
              <a:rPr lang="zh-CN" altLang="en-US" sz="2200" b="1" dirty="0">
                <a:solidFill>
                  <a:schemeClr val="bg1"/>
                </a:solidFill>
                <a:latin typeface="+mn-ea"/>
              </a:rPr>
              <a:t>，用户进程与磁盘管理进程之间，只有在用户进程要求使用磁盘存储区时才有通信关系。</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1314" y="1290916"/>
            <a:ext cx="6941291" cy="2308324"/>
          </a:xfrm>
          <a:prstGeom prst="rect">
            <a:avLst/>
          </a:prstGeom>
        </p:spPr>
        <p:txBody>
          <a:bodyPr wrap="square">
            <a:spAutoFit/>
          </a:bodyPr>
          <a:lstStyle/>
          <a:p>
            <a:pPr>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无论接收进程是否已准备好接收消息，发送进程都将把所要发送的消息送入</a:t>
            </a:r>
            <a:r>
              <a:rPr lang="zh-CN" altLang="en-US" sz="2400" b="1" dirty="0">
                <a:solidFill>
                  <a:srgbClr val="FFFF00"/>
                </a:solidFill>
                <a:latin typeface="+mn-ea"/>
              </a:rPr>
              <a:t>缓冲区</a:t>
            </a:r>
            <a:r>
              <a:rPr lang="zh-CN" altLang="en-US" sz="2400" b="1" dirty="0">
                <a:solidFill>
                  <a:schemeClr val="bg1"/>
                </a:solidFill>
                <a:latin typeface="+mn-ea"/>
              </a:rPr>
              <a:t>或</a:t>
            </a:r>
            <a:r>
              <a:rPr lang="zh-CN" altLang="en-US" sz="2400" b="1" dirty="0" smtClean="0">
                <a:solidFill>
                  <a:srgbClr val="FFFF00"/>
                </a:solidFill>
                <a:latin typeface="+mn-ea"/>
              </a:rPr>
              <a:t>邮箱</a:t>
            </a:r>
            <a:r>
              <a:rPr lang="zh-CN" altLang="en-US" sz="2400" b="1" dirty="0" smtClean="0">
                <a:solidFill>
                  <a:schemeClr val="bg1"/>
                </a:solidFill>
                <a:latin typeface="+mn-ea"/>
              </a:rPr>
              <a:t>。与该消息相关的两个互相通信的进程地位是</a:t>
            </a:r>
            <a:r>
              <a:rPr lang="zh-CN" altLang="en-US" sz="2400" b="1" dirty="0" smtClean="0">
                <a:solidFill>
                  <a:srgbClr val="FFFF00"/>
                </a:solidFill>
                <a:latin typeface="+mn-ea"/>
              </a:rPr>
              <a:t>平等</a:t>
            </a:r>
            <a:r>
              <a:rPr lang="zh-CN" altLang="en-US" sz="2400" b="1" dirty="0" smtClean="0">
                <a:solidFill>
                  <a:schemeClr val="bg1"/>
                </a:solidFill>
                <a:latin typeface="+mn-ea"/>
              </a:rPr>
              <a:t>的。</a:t>
            </a:r>
            <a:endParaRPr lang="en-US" altLang="zh-CN" sz="2400" b="1" dirty="0" smtClean="0">
              <a:solidFill>
                <a:schemeClr val="bg1"/>
              </a:solidFill>
              <a:latin typeface="+mn-ea"/>
            </a:endParaRPr>
          </a:p>
          <a:p>
            <a:pPr>
              <a:lnSpc>
                <a:spcPct val="150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消息的一般形式为４个部分组成</a:t>
            </a:r>
          </a:p>
        </p:txBody>
      </p:sp>
      <p:pic>
        <p:nvPicPr>
          <p:cNvPr id="29"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42" y="3593758"/>
            <a:ext cx="7315200"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49235" y="85299"/>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1314" y="1024137"/>
            <a:ext cx="6941291" cy="3582519"/>
          </a:xfrm>
          <a:prstGeom prst="rect">
            <a:avLst/>
          </a:prstGeom>
        </p:spPr>
        <p:txBody>
          <a:bodyPr wrap="square">
            <a:spAutoFit/>
          </a:bodyPr>
          <a:lstStyle/>
          <a:p>
            <a:pPr>
              <a:lnSpc>
                <a:spcPct val="135000"/>
              </a:lnSpc>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消息或邮箱机制的特点是：</a:t>
            </a:r>
          </a:p>
          <a:p>
            <a:pPr marL="177800">
              <a:lnSpc>
                <a:spcPct val="135000"/>
              </a:lnSpc>
              <a:buClr>
                <a:srgbClr val="33CC33"/>
              </a:buClr>
              <a:buFont typeface="Wingdings" panose="05000000000000000000" pitchFamily="2" charset="2"/>
              <a:buChar char="l"/>
            </a:pPr>
            <a:r>
              <a:rPr lang="zh-CN" altLang="en-US" sz="2400" b="1" dirty="0" smtClean="0">
                <a:solidFill>
                  <a:schemeClr val="bg1"/>
                </a:solidFill>
                <a:latin typeface="+mn-ea"/>
              </a:rPr>
              <a:t>只要</a:t>
            </a:r>
            <a:r>
              <a:rPr lang="zh-CN" altLang="en-US" sz="2400" b="1" dirty="0">
                <a:solidFill>
                  <a:schemeClr val="bg1"/>
                </a:solidFill>
                <a:latin typeface="+mn-ea"/>
              </a:rPr>
              <a:t>存在</a:t>
            </a:r>
            <a:r>
              <a:rPr lang="zh-CN" altLang="en-US" sz="2400" b="1" dirty="0">
                <a:solidFill>
                  <a:srgbClr val="FFFF00"/>
                </a:solidFill>
                <a:latin typeface="+mn-ea"/>
              </a:rPr>
              <a:t>空缓冲区或邮箱</a:t>
            </a:r>
            <a:r>
              <a:rPr lang="zh-CN" altLang="en-US" sz="2400" b="1" dirty="0">
                <a:solidFill>
                  <a:schemeClr val="bg1"/>
                </a:solidFill>
                <a:latin typeface="+mn-ea"/>
              </a:rPr>
              <a:t>，发送进程就可以发送消息。</a:t>
            </a:r>
          </a:p>
          <a:p>
            <a:pPr marL="177800">
              <a:lnSpc>
                <a:spcPct val="135000"/>
              </a:lnSpc>
              <a:buClr>
                <a:srgbClr val="33CC33"/>
              </a:buClr>
              <a:buFont typeface="Wingdings" panose="05000000000000000000" pitchFamily="2" charset="2"/>
              <a:buChar char="l"/>
            </a:pPr>
            <a:r>
              <a:rPr lang="zh-CN" altLang="en-US" sz="2400" b="1" dirty="0" smtClean="0">
                <a:solidFill>
                  <a:schemeClr val="bg1"/>
                </a:solidFill>
                <a:latin typeface="+mn-ea"/>
              </a:rPr>
              <a:t>与</a:t>
            </a:r>
            <a:r>
              <a:rPr lang="zh-CN" altLang="en-US" sz="2400" b="1" dirty="0">
                <a:solidFill>
                  <a:schemeClr val="bg1"/>
                </a:solidFill>
                <a:latin typeface="+mn-ea"/>
              </a:rPr>
              <a:t>会话系统不同，发送进程和接收进程之间</a:t>
            </a:r>
            <a:r>
              <a:rPr lang="zh-CN" altLang="en-US" sz="2400" b="1" dirty="0">
                <a:solidFill>
                  <a:srgbClr val="FFFF00"/>
                </a:solidFill>
                <a:latin typeface="+mn-ea"/>
              </a:rPr>
              <a:t>无直接连接关系</a:t>
            </a:r>
            <a:r>
              <a:rPr lang="zh-CN" altLang="en-US" sz="2400" b="1" dirty="0">
                <a:solidFill>
                  <a:schemeClr val="bg1"/>
                </a:solidFill>
                <a:latin typeface="+mn-ea"/>
              </a:rPr>
              <a:t>，接收进程可能在收到某个发送进程发来的消息之后，又转去接收另一个发送进程发来的消息。</a:t>
            </a:r>
          </a:p>
        </p:txBody>
      </p:sp>
      <p:pic>
        <p:nvPicPr>
          <p:cNvPr id="30" name="Picture 4"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0159" y="1923678"/>
            <a:ext cx="5943600"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消息缓冲机制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563638"/>
            <a:ext cx="6999037" cy="277576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rgbClr val="FFFF00"/>
                </a:solidFill>
                <a:latin typeface="+mn-ea"/>
              </a:rPr>
              <a:t>发送进程</a:t>
            </a:r>
            <a:r>
              <a:rPr lang="zh-CN" altLang="en-US" sz="2400" b="1" dirty="0">
                <a:solidFill>
                  <a:schemeClr val="bg1"/>
                </a:solidFill>
                <a:latin typeface="+mn-ea"/>
              </a:rPr>
              <a:t>在发送消息前，先</a:t>
            </a:r>
            <a:r>
              <a:rPr lang="zh-CN" altLang="en-US" sz="2400" b="1" dirty="0">
                <a:solidFill>
                  <a:srgbClr val="FFFF00"/>
                </a:solidFill>
                <a:latin typeface="+mn-ea"/>
              </a:rPr>
              <a:t>在自己的内存空间</a:t>
            </a:r>
            <a:r>
              <a:rPr lang="zh-CN" altLang="en-US" sz="2400" b="1" dirty="0">
                <a:solidFill>
                  <a:schemeClr val="bg1"/>
                </a:solidFill>
                <a:latin typeface="+mn-ea"/>
              </a:rPr>
              <a:t>设置一个</a:t>
            </a:r>
            <a:r>
              <a:rPr lang="zh-CN" altLang="en-US" sz="2400" b="1" dirty="0">
                <a:solidFill>
                  <a:srgbClr val="FFFF00"/>
                </a:solidFill>
                <a:latin typeface="+mn-ea"/>
              </a:rPr>
              <a:t>发送区</a:t>
            </a:r>
            <a:r>
              <a:rPr lang="zh-CN" altLang="en-US" sz="2400" b="1" dirty="0">
                <a:solidFill>
                  <a:schemeClr val="bg1"/>
                </a:solidFill>
                <a:latin typeface="+mn-ea"/>
              </a:rPr>
              <a:t>，把欲发送的消息填入其中，然后再用发送过程将其发送出去。</a:t>
            </a:r>
            <a:r>
              <a:rPr lang="zh-CN" altLang="en-US" sz="2400" b="1" dirty="0">
                <a:solidFill>
                  <a:srgbClr val="FFFF00"/>
                </a:solidFill>
                <a:latin typeface="+mn-ea"/>
              </a:rPr>
              <a:t>接收进程</a:t>
            </a:r>
            <a:r>
              <a:rPr lang="zh-CN" altLang="en-US" sz="2400" b="1" dirty="0">
                <a:solidFill>
                  <a:schemeClr val="bg1"/>
                </a:solidFill>
                <a:latin typeface="+mn-ea"/>
              </a:rPr>
              <a:t>则在接收消息之前，</a:t>
            </a:r>
            <a:r>
              <a:rPr lang="zh-CN" altLang="en-US" sz="2400" b="1" dirty="0">
                <a:solidFill>
                  <a:srgbClr val="FFFF00"/>
                </a:solidFill>
                <a:latin typeface="+mn-ea"/>
              </a:rPr>
              <a:t>在自己的内存空间</a:t>
            </a:r>
            <a:r>
              <a:rPr lang="zh-CN" altLang="en-US" sz="2400" b="1" dirty="0">
                <a:solidFill>
                  <a:schemeClr val="bg1"/>
                </a:solidFill>
                <a:latin typeface="+mn-ea"/>
              </a:rPr>
              <a:t>内设置相应的</a:t>
            </a:r>
            <a:r>
              <a:rPr lang="zh-CN" altLang="en-US" sz="2400" b="1" dirty="0">
                <a:solidFill>
                  <a:srgbClr val="FFFF00"/>
                </a:solidFill>
                <a:latin typeface="+mn-ea"/>
              </a:rPr>
              <a:t>接收区</a:t>
            </a:r>
            <a:r>
              <a:rPr lang="zh-CN" altLang="en-US" sz="2400" b="1" dirty="0">
                <a:solidFill>
                  <a:schemeClr val="bg1"/>
                </a:solidFill>
                <a:latin typeface="+mn-ea"/>
              </a:rPr>
              <a:t>，然后用接收过程接收消息。</a:t>
            </a:r>
          </a:p>
        </p:txBody>
      </p:sp>
      <p:sp>
        <p:nvSpPr>
          <p:cNvPr id="3" name="椭圆形标注 2"/>
          <p:cNvSpPr/>
          <p:nvPr/>
        </p:nvSpPr>
        <p:spPr>
          <a:xfrm>
            <a:off x="4139952" y="175433"/>
            <a:ext cx="1224136" cy="1488334"/>
          </a:xfrm>
          <a:prstGeom prst="wedgeEllipseCallout">
            <a:avLst>
              <a:gd name="adj1" fmla="val -87439"/>
              <a:gd name="adj2" fmla="val 128546"/>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sz="2400" b="1" dirty="0" smtClean="0">
                <a:solidFill>
                  <a:schemeClr val="tx1"/>
                </a:solidFill>
              </a:rPr>
              <a:t>消息队列</a:t>
            </a:r>
            <a:endParaRPr lang="zh-CN" altLang="en-US"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消息缓冲机制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915566"/>
            <a:ext cx="7272808" cy="4247317"/>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a:solidFill>
                  <a:schemeClr val="bg1"/>
                </a:solidFill>
                <a:latin typeface="+mn-ea"/>
              </a:rPr>
              <a:t>两通信进程必须满足如下条件：</a:t>
            </a:r>
          </a:p>
          <a:p>
            <a:pPr>
              <a:lnSpc>
                <a:spcPct val="150000"/>
              </a:lnSpc>
              <a:spcBef>
                <a:spcPct val="0"/>
              </a:spcBef>
              <a:buClr>
                <a:schemeClr val="accent6">
                  <a:lumMod val="40000"/>
                  <a:lumOff val="60000"/>
                </a:schemeClr>
              </a:buClr>
            </a:pPr>
            <a:r>
              <a:rPr lang="zh-CN" altLang="en-US" sz="2000" b="1" dirty="0" smtClean="0">
                <a:solidFill>
                  <a:schemeClr val="bg1"/>
                </a:solidFill>
                <a:latin typeface="+mn-ea"/>
              </a:rPr>
              <a:t>  ①在</a:t>
            </a:r>
            <a:r>
              <a:rPr lang="zh-CN" altLang="en-US" sz="2000" b="1" dirty="0">
                <a:solidFill>
                  <a:srgbClr val="FFFF00"/>
                </a:solidFill>
                <a:latin typeface="+mn-ea"/>
              </a:rPr>
              <a:t>发送进程</a:t>
            </a:r>
            <a:r>
              <a:rPr lang="zh-CN" altLang="en-US" sz="2000" b="1" dirty="0">
                <a:solidFill>
                  <a:schemeClr val="bg1"/>
                </a:solidFill>
                <a:latin typeface="+mn-ea"/>
              </a:rPr>
              <a:t>把消息</a:t>
            </a:r>
            <a:r>
              <a:rPr lang="zh-CN" altLang="en-US" sz="2000" b="1" dirty="0">
                <a:solidFill>
                  <a:srgbClr val="FFFF00"/>
                </a:solidFill>
                <a:latin typeface="+mn-ea"/>
              </a:rPr>
              <a:t>写入</a:t>
            </a:r>
            <a:r>
              <a:rPr lang="zh-CN" altLang="en-US" sz="2000" b="1" dirty="0">
                <a:solidFill>
                  <a:schemeClr val="bg1"/>
                </a:solidFill>
                <a:latin typeface="+mn-ea"/>
              </a:rPr>
              <a:t>缓冲区和把缓冲区挂入消息队列时，应</a:t>
            </a:r>
            <a:r>
              <a:rPr lang="zh-CN" altLang="en-US" sz="2000" b="1" dirty="0">
                <a:solidFill>
                  <a:srgbClr val="FFFF00"/>
                </a:solidFill>
                <a:latin typeface="+mn-ea"/>
              </a:rPr>
              <a:t>禁止其他进程</a:t>
            </a:r>
            <a:r>
              <a:rPr lang="zh-CN" altLang="en-US" sz="2000" b="1" dirty="0">
                <a:solidFill>
                  <a:schemeClr val="bg1"/>
                </a:solidFill>
                <a:latin typeface="+mn-ea"/>
              </a:rPr>
              <a:t>对该缓冲区消息队列的访问。否则，将引起消息队列的混乱。同理，当</a:t>
            </a:r>
            <a:r>
              <a:rPr lang="zh-CN" altLang="en-US" sz="2000" b="1" dirty="0">
                <a:solidFill>
                  <a:srgbClr val="FFFF00"/>
                </a:solidFill>
                <a:latin typeface="+mn-ea"/>
              </a:rPr>
              <a:t>接收进程</a:t>
            </a:r>
            <a:r>
              <a:rPr lang="zh-CN" altLang="en-US" sz="2000" b="1" dirty="0">
                <a:solidFill>
                  <a:schemeClr val="bg1"/>
                </a:solidFill>
                <a:latin typeface="+mn-ea"/>
              </a:rPr>
              <a:t>正从消息队列中</a:t>
            </a:r>
            <a:r>
              <a:rPr lang="zh-CN" altLang="en-US" sz="2000" b="1" dirty="0">
                <a:solidFill>
                  <a:srgbClr val="FFFF00"/>
                </a:solidFill>
                <a:latin typeface="+mn-ea"/>
              </a:rPr>
              <a:t>取消息</a:t>
            </a:r>
            <a:r>
              <a:rPr lang="zh-CN" altLang="en-US" sz="2000" b="1" dirty="0">
                <a:solidFill>
                  <a:schemeClr val="bg1"/>
                </a:solidFill>
                <a:latin typeface="+mn-ea"/>
              </a:rPr>
              <a:t>缓冲时，也应</a:t>
            </a:r>
            <a:r>
              <a:rPr lang="zh-CN" altLang="en-US" sz="2000" b="1" dirty="0">
                <a:solidFill>
                  <a:srgbClr val="FFFF00"/>
                </a:solidFill>
                <a:latin typeface="+mn-ea"/>
              </a:rPr>
              <a:t>禁止其他进程</a:t>
            </a:r>
            <a:r>
              <a:rPr lang="zh-CN" altLang="en-US" sz="2000" b="1" dirty="0">
                <a:solidFill>
                  <a:schemeClr val="bg1"/>
                </a:solidFill>
                <a:latin typeface="+mn-ea"/>
              </a:rPr>
              <a:t>对该队列的访问</a:t>
            </a:r>
            <a:r>
              <a:rPr lang="zh-CN" altLang="en-US" sz="2000" b="1" dirty="0" smtClean="0">
                <a:solidFill>
                  <a:schemeClr val="bg1"/>
                </a:solidFill>
                <a:latin typeface="+mn-ea"/>
              </a:rPr>
              <a:t>。</a:t>
            </a:r>
            <a:endParaRPr lang="en-US" altLang="zh-CN" sz="2000" b="1" dirty="0" smtClean="0">
              <a:solidFill>
                <a:schemeClr val="bg1"/>
              </a:solidFill>
              <a:latin typeface="+mn-ea"/>
            </a:endParaRPr>
          </a:p>
          <a:p>
            <a:pPr>
              <a:lnSpc>
                <a:spcPct val="150000"/>
              </a:lnSpc>
              <a:spcBef>
                <a:spcPct val="0"/>
              </a:spcBef>
              <a:buClr>
                <a:schemeClr val="accent6">
                  <a:lumMod val="40000"/>
                  <a:lumOff val="60000"/>
                </a:schemeClr>
              </a:buClr>
            </a:pPr>
            <a:r>
              <a:rPr lang="zh-CN" altLang="en-US" sz="2000" b="1" dirty="0" smtClean="0">
                <a:solidFill>
                  <a:schemeClr val="bg1"/>
                </a:solidFill>
                <a:latin typeface="+mn-ea"/>
                <a:sym typeface="Wingdings 2" panose="05020102010507070707" pitchFamily="18" charset="2"/>
              </a:rPr>
              <a:t>  </a:t>
            </a:r>
            <a:r>
              <a:rPr lang="en-US" altLang="zh-CN" sz="2000" b="1" dirty="0" smtClean="0">
                <a:solidFill>
                  <a:schemeClr val="bg1"/>
                </a:solidFill>
                <a:latin typeface="+mn-ea"/>
              </a:rPr>
              <a:t>②</a:t>
            </a:r>
            <a:r>
              <a:rPr lang="zh-CN" altLang="en-US" sz="2000" b="1" dirty="0" smtClean="0">
                <a:solidFill>
                  <a:schemeClr val="bg1"/>
                </a:solidFill>
                <a:latin typeface="+mn-ea"/>
              </a:rPr>
              <a:t>当</a:t>
            </a:r>
            <a:r>
              <a:rPr lang="zh-CN" altLang="en-US" sz="2000" b="1" dirty="0">
                <a:solidFill>
                  <a:schemeClr val="bg1"/>
                </a:solidFill>
                <a:latin typeface="+mn-ea"/>
              </a:rPr>
              <a:t>缓冲区中</a:t>
            </a:r>
            <a:r>
              <a:rPr lang="zh-CN" altLang="en-US" sz="2000" b="1" dirty="0">
                <a:solidFill>
                  <a:srgbClr val="FFFF00"/>
                </a:solidFill>
                <a:latin typeface="+mn-ea"/>
              </a:rPr>
              <a:t>无消息</a:t>
            </a:r>
            <a:r>
              <a:rPr lang="zh-CN" altLang="en-US" sz="2000" b="1" dirty="0">
                <a:solidFill>
                  <a:schemeClr val="bg1"/>
                </a:solidFill>
                <a:latin typeface="+mn-ea"/>
              </a:rPr>
              <a:t>存在时，</a:t>
            </a:r>
            <a:r>
              <a:rPr lang="zh-CN" altLang="en-US" sz="2000" b="1" dirty="0">
                <a:solidFill>
                  <a:srgbClr val="FFFF00"/>
                </a:solidFill>
                <a:latin typeface="+mn-ea"/>
              </a:rPr>
              <a:t>接收进程不能接收</a:t>
            </a:r>
            <a:r>
              <a:rPr lang="zh-CN" altLang="en-US" sz="2000" b="1" dirty="0">
                <a:solidFill>
                  <a:schemeClr val="bg1"/>
                </a:solidFill>
                <a:latin typeface="+mn-ea"/>
              </a:rPr>
              <a:t>到任何消息。</a:t>
            </a:r>
          </a:p>
          <a:p>
            <a:pPr>
              <a:lnSpc>
                <a:spcPct val="150000"/>
              </a:lnSpc>
              <a:spcBef>
                <a:spcPct val="0"/>
              </a:spcBef>
              <a:buClr>
                <a:schemeClr val="accent6">
                  <a:lumMod val="40000"/>
                  <a:lumOff val="60000"/>
                </a:schemeClr>
              </a:buClr>
            </a:pPr>
            <a:r>
              <a:rPr lang="zh-CN" altLang="en-US" sz="2000" b="1" dirty="0" smtClean="0">
                <a:solidFill>
                  <a:schemeClr val="bg1"/>
                </a:solidFill>
                <a:latin typeface="+mn-ea"/>
              </a:rPr>
              <a:t>  ③至于</a:t>
            </a:r>
            <a:r>
              <a:rPr lang="zh-CN" altLang="en-US" sz="2000" b="1" dirty="0">
                <a:solidFill>
                  <a:srgbClr val="FFFF00"/>
                </a:solidFill>
                <a:latin typeface="+mn-ea"/>
              </a:rPr>
              <a:t>发送进程是否</a:t>
            </a:r>
            <a:r>
              <a:rPr lang="zh-CN" altLang="en-US" sz="2000" b="1" dirty="0">
                <a:solidFill>
                  <a:schemeClr val="bg1"/>
                </a:solidFill>
                <a:latin typeface="+mn-ea"/>
              </a:rPr>
              <a:t>可以</a:t>
            </a:r>
            <a:r>
              <a:rPr lang="zh-CN" altLang="en-US" sz="2000" b="1" dirty="0">
                <a:solidFill>
                  <a:srgbClr val="FFFF00"/>
                </a:solidFill>
                <a:latin typeface="+mn-ea"/>
              </a:rPr>
              <a:t>发送</a:t>
            </a:r>
            <a:r>
              <a:rPr lang="zh-CN" altLang="en-US" sz="2000" b="1" dirty="0">
                <a:solidFill>
                  <a:schemeClr val="bg1"/>
                </a:solidFill>
                <a:latin typeface="+mn-ea"/>
              </a:rPr>
              <a:t>消息，则由发送进程</a:t>
            </a:r>
            <a:r>
              <a:rPr lang="zh-CN" altLang="en-US" sz="2000" b="1" dirty="0">
                <a:solidFill>
                  <a:srgbClr val="FFFF00"/>
                </a:solidFill>
                <a:latin typeface="+mn-ea"/>
              </a:rPr>
              <a:t>是否申请到缓冲区</a:t>
            </a:r>
            <a:r>
              <a:rPr lang="zh-CN" altLang="en-US" sz="2000" b="1" dirty="0">
                <a:solidFill>
                  <a:schemeClr val="bg1"/>
                </a:solidFill>
                <a:latin typeface="+mn-ea"/>
              </a:rPr>
              <a:t>决定。</a:t>
            </a:r>
          </a:p>
          <a:p>
            <a:pPr>
              <a:lnSpc>
                <a:spcPct val="150000"/>
              </a:lnSpc>
              <a:spcBef>
                <a:spcPct val="0"/>
              </a:spcBef>
              <a:buClr>
                <a:schemeClr val="accent6">
                  <a:lumMod val="40000"/>
                  <a:lumOff val="60000"/>
                </a:schemeClr>
              </a:buClr>
            </a:pPr>
            <a:r>
              <a:rPr lang="en-US" altLang="zh-CN" sz="2000" b="1" dirty="0" smtClean="0">
                <a:solidFill>
                  <a:schemeClr val="bg1"/>
                </a:solidFill>
                <a:latin typeface="+mn-ea"/>
              </a:rPr>
              <a:t> </a:t>
            </a:r>
            <a:endParaRPr lang="zh-CN" altLang="en-US" sz="20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消息缓冲机制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243155"/>
            <a:ext cx="7272808" cy="286232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a:solidFill>
                  <a:schemeClr val="bg1"/>
                </a:solidFill>
                <a:latin typeface="+mn-ea"/>
              </a:rPr>
              <a:t>设公用信号量</a:t>
            </a:r>
            <a:r>
              <a:rPr lang="en-US" altLang="zh-CN" sz="2000" b="1" dirty="0" err="1">
                <a:solidFill>
                  <a:schemeClr val="bg1"/>
                </a:solidFill>
                <a:latin typeface="+mn-ea"/>
              </a:rPr>
              <a:t>mutex</a:t>
            </a:r>
            <a:r>
              <a:rPr lang="en-US" altLang="zh-CN" sz="2000" b="1" dirty="0">
                <a:solidFill>
                  <a:schemeClr val="bg1"/>
                </a:solidFill>
                <a:latin typeface="+mn-ea"/>
              </a:rPr>
              <a:t> </a:t>
            </a:r>
            <a:r>
              <a:rPr lang="zh-CN" altLang="en-US" sz="2000" b="1" dirty="0">
                <a:solidFill>
                  <a:schemeClr val="bg1"/>
                </a:solidFill>
                <a:latin typeface="+mn-ea"/>
              </a:rPr>
              <a:t>为控制对缓冲区访问的</a:t>
            </a:r>
            <a:r>
              <a:rPr lang="zh-CN" altLang="en-US" sz="2000" b="1" dirty="0">
                <a:solidFill>
                  <a:srgbClr val="FFFF00"/>
                </a:solidFill>
                <a:latin typeface="+mn-ea"/>
              </a:rPr>
              <a:t>互斥</a:t>
            </a:r>
            <a:r>
              <a:rPr lang="zh-CN" altLang="en-US" sz="2000" b="1" dirty="0">
                <a:solidFill>
                  <a:schemeClr val="bg1"/>
                </a:solidFill>
                <a:latin typeface="+mn-ea"/>
              </a:rPr>
              <a:t>信号量，其初值为</a:t>
            </a:r>
            <a:r>
              <a:rPr lang="en-US" altLang="zh-CN" sz="2000" b="1" dirty="0">
                <a:solidFill>
                  <a:schemeClr val="bg1"/>
                </a:solidFill>
                <a:latin typeface="+mn-ea"/>
              </a:rPr>
              <a:t>1 </a:t>
            </a:r>
            <a:r>
              <a:rPr lang="zh-CN" altLang="en-US" sz="2000" b="1" dirty="0">
                <a:solidFill>
                  <a:schemeClr val="bg1"/>
                </a:solidFill>
                <a:latin typeface="+mn-ea"/>
              </a:rPr>
              <a:t>。设</a:t>
            </a:r>
            <a:r>
              <a:rPr lang="en-US" altLang="zh-CN" sz="2000" b="1" dirty="0">
                <a:solidFill>
                  <a:schemeClr val="bg1"/>
                </a:solidFill>
                <a:latin typeface="+mn-ea"/>
              </a:rPr>
              <a:t>SM</a:t>
            </a:r>
            <a:r>
              <a:rPr lang="zh-CN" altLang="en-US" sz="2000" b="1" dirty="0">
                <a:solidFill>
                  <a:schemeClr val="bg1"/>
                </a:solidFill>
                <a:latin typeface="+mn-ea"/>
              </a:rPr>
              <a:t>为接收进程的</a:t>
            </a:r>
            <a:r>
              <a:rPr lang="zh-CN" altLang="en-US" sz="2000" b="1" dirty="0">
                <a:solidFill>
                  <a:srgbClr val="FFFF00"/>
                </a:solidFill>
                <a:latin typeface="+mn-ea"/>
              </a:rPr>
              <a:t>私用</a:t>
            </a:r>
            <a:r>
              <a:rPr lang="zh-CN" altLang="en-US" sz="2000" b="1" dirty="0">
                <a:solidFill>
                  <a:schemeClr val="bg1"/>
                </a:solidFill>
                <a:latin typeface="+mn-ea"/>
              </a:rPr>
              <a:t>信号量，表示等待接收的消息个数，其初值为</a:t>
            </a:r>
            <a:r>
              <a:rPr lang="en-US" altLang="zh-CN" sz="2000" b="1" dirty="0">
                <a:solidFill>
                  <a:schemeClr val="bg1"/>
                </a:solidFill>
                <a:latin typeface="+mn-ea"/>
              </a:rPr>
              <a:t>0 </a:t>
            </a:r>
            <a:r>
              <a:rPr lang="zh-CN" altLang="en-US" sz="2000" b="1" dirty="0">
                <a:solidFill>
                  <a:schemeClr val="bg1"/>
                </a:solidFill>
                <a:latin typeface="+mn-ea"/>
              </a:rPr>
              <a:t>。设发送进程调用过程</a:t>
            </a:r>
            <a:r>
              <a:rPr lang="en-US" altLang="zh-CN" sz="2000" b="1" dirty="0">
                <a:solidFill>
                  <a:schemeClr val="bg1"/>
                </a:solidFill>
                <a:latin typeface="+mn-ea"/>
              </a:rPr>
              <a:t>send(m)</a:t>
            </a:r>
            <a:r>
              <a:rPr lang="zh-CN" altLang="en-US" sz="2000" b="1" dirty="0">
                <a:solidFill>
                  <a:schemeClr val="bg1"/>
                </a:solidFill>
                <a:latin typeface="+mn-ea"/>
              </a:rPr>
              <a:t>将消息</a:t>
            </a:r>
            <a:r>
              <a:rPr lang="en-US" altLang="zh-CN" sz="2000" b="1" dirty="0">
                <a:solidFill>
                  <a:schemeClr val="bg1"/>
                </a:solidFill>
                <a:latin typeface="+mn-ea"/>
              </a:rPr>
              <a:t>m </a:t>
            </a:r>
            <a:r>
              <a:rPr lang="zh-CN" altLang="en-US" sz="2000" b="1" dirty="0">
                <a:solidFill>
                  <a:schemeClr val="bg1"/>
                </a:solidFill>
                <a:latin typeface="+mn-ea"/>
              </a:rPr>
              <a:t>送往缓冲区，接收进程调用过程</a:t>
            </a:r>
            <a:r>
              <a:rPr lang="en-US" altLang="zh-CN" sz="2000" b="1" dirty="0">
                <a:solidFill>
                  <a:schemeClr val="bg1"/>
                </a:solidFill>
                <a:latin typeface="+mn-ea"/>
              </a:rPr>
              <a:t>Receive(m)</a:t>
            </a:r>
            <a:r>
              <a:rPr lang="zh-CN" altLang="en-US" sz="2000" b="1" dirty="0">
                <a:solidFill>
                  <a:schemeClr val="bg1"/>
                </a:solidFill>
                <a:latin typeface="+mn-ea"/>
              </a:rPr>
              <a:t>将消息</a:t>
            </a:r>
            <a:r>
              <a:rPr lang="en-US" altLang="zh-CN" sz="2000" b="1" dirty="0">
                <a:solidFill>
                  <a:schemeClr val="bg1"/>
                </a:solidFill>
                <a:latin typeface="+mn-ea"/>
              </a:rPr>
              <a:t>m</a:t>
            </a:r>
            <a:r>
              <a:rPr lang="zh-CN" altLang="en-US" sz="2000" b="1" dirty="0">
                <a:solidFill>
                  <a:schemeClr val="bg1"/>
                </a:solidFill>
                <a:latin typeface="+mn-ea"/>
              </a:rPr>
              <a:t>从缓冲区读往自己的数据区，则</a:t>
            </a:r>
            <a:r>
              <a:rPr lang="en-US" altLang="zh-CN" sz="2000" b="1" dirty="0">
                <a:solidFill>
                  <a:schemeClr val="bg1"/>
                </a:solidFill>
                <a:latin typeface="+mn-ea"/>
              </a:rPr>
              <a:t>Send(m)</a:t>
            </a:r>
            <a:r>
              <a:rPr lang="zh-CN" altLang="en-US" sz="2000" b="1" dirty="0">
                <a:solidFill>
                  <a:schemeClr val="bg1"/>
                </a:solidFill>
                <a:latin typeface="+mn-ea"/>
              </a:rPr>
              <a:t>和</a:t>
            </a:r>
            <a:r>
              <a:rPr lang="en-US" altLang="zh-CN" sz="2000" b="1" dirty="0">
                <a:solidFill>
                  <a:schemeClr val="bg1"/>
                </a:solidFill>
                <a:latin typeface="+mn-ea"/>
              </a:rPr>
              <a:t>Receive(n)</a:t>
            </a:r>
            <a:r>
              <a:rPr lang="zh-CN" altLang="en-US" sz="2000" b="1" dirty="0">
                <a:solidFill>
                  <a:schemeClr val="bg1"/>
                </a:solidFill>
                <a:latin typeface="+mn-ea"/>
              </a:rPr>
              <a:t>可分别描述为：</a:t>
            </a:r>
          </a:p>
          <a:p>
            <a:pPr>
              <a:lnSpc>
                <a:spcPct val="150000"/>
              </a:lnSpc>
              <a:spcBef>
                <a:spcPct val="0"/>
              </a:spcBef>
              <a:buClr>
                <a:schemeClr val="accent6">
                  <a:lumMod val="40000"/>
                  <a:lumOff val="60000"/>
                </a:schemeClr>
              </a:buClr>
            </a:pPr>
            <a:endParaRPr lang="zh-CN" altLang="en-US" sz="2000" b="1" dirty="0">
              <a:solidFill>
                <a:schemeClr val="bg1"/>
              </a:solidFill>
              <a:latin typeface="+mn-ea"/>
            </a:endParaRPr>
          </a:p>
        </p:txBody>
      </p:sp>
      <p:sp>
        <p:nvSpPr>
          <p:cNvPr id="29" name="矩形 28"/>
          <p:cNvSpPr/>
          <p:nvPr/>
        </p:nvSpPr>
        <p:spPr>
          <a:xfrm>
            <a:off x="701120" y="1635646"/>
            <a:ext cx="3558822" cy="3119343"/>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Send(m):</a:t>
            </a: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begin</a:t>
            </a:r>
            <a:endParaRPr lang="en-US" altLang="zh-CN" b="1" dirty="0">
              <a:latin typeface="Times New Roman" panose="02020603050405020304" pitchFamily="18" charset="0"/>
              <a:cs typeface="Times New Roman" panose="02020603050405020304" pitchFamily="18" charset="0"/>
            </a:endParaRPr>
          </a:p>
          <a:p>
            <a:pPr>
              <a:lnSpc>
                <a:spcPct val="90000"/>
              </a:lnSpc>
              <a:spcBef>
                <a:spcPct val="10000"/>
              </a:spcBef>
            </a:pPr>
            <a:r>
              <a:rPr lang="zh-CN" altLang="en-US" b="1" dirty="0" smtClean="0">
                <a:latin typeface="Times New Roman" panose="02020603050405020304" pitchFamily="18" charset="0"/>
                <a:cs typeface="Times New Roman" panose="02020603050405020304" pitchFamily="18" charset="0"/>
              </a:rPr>
              <a:t>       向</a:t>
            </a:r>
            <a:r>
              <a:rPr lang="zh-CN" altLang="en-US" b="1" dirty="0">
                <a:latin typeface="Times New Roman" panose="02020603050405020304" pitchFamily="18" charset="0"/>
                <a:cs typeface="Times New Roman" panose="02020603050405020304" pitchFamily="18" charset="0"/>
              </a:rPr>
              <a:t>系统申请一个消息缓冲区</a:t>
            </a:r>
          </a:p>
          <a:p>
            <a:pPr>
              <a:lnSpc>
                <a:spcPct val="90000"/>
              </a:lnSpc>
              <a:spcBef>
                <a:spcPct val="10000"/>
              </a:spcBef>
            </a:pPr>
            <a:r>
              <a:rPr lang="zh-CN" altLang="en-US" b="1" dirty="0" smtClean="0">
                <a:latin typeface="Times New Roman" panose="02020603050405020304" pitchFamily="18" charset="0"/>
                <a:cs typeface="Times New Roman" panose="02020603050405020304" pitchFamily="18" charset="0"/>
              </a:rPr>
              <a:t>       Ｐ</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将</a:t>
            </a:r>
            <a:r>
              <a:rPr lang="zh-CN" altLang="en-US" b="1" dirty="0">
                <a:latin typeface="Times New Roman" panose="02020603050405020304" pitchFamily="18" charset="0"/>
                <a:cs typeface="Times New Roman" panose="02020603050405020304" pitchFamily="18" charset="0"/>
              </a:rPr>
              <a:t>发送区消息</a:t>
            </a:r>
            <a:r>
              <a:rPr lang="en-US" altLang="zh-CN" b="1" dirty="0">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送入新申请</a:t>
            </a:r>
            <a:r>
              <a:rPr lang="zh-CN" altLang="en-US" b="1" dirty="0" smtClean="0">
                <a:latin typeface="Times New Roman" panose="02020603050405020304" pitchFamily="18" charset="0"/>
                <a:cs typeface="Times New Roman" panose="02020603050405020304" pitchFamily="18" charset="0"/>
              </a:rPr>
              <a:t>的 </a:t>
            </a:r>
            <a:r>
              <a:rPr lang="en-US" altLang="zh-CN" b="1" dirty="0">
                <a:latin typeface="Times New Roman" panose="02020603050405020304" pitchFamily="18" charset="0"/>
                <a:cs typeface="Times New Roman" panose="02020603050405020304" pitchFamily="18" charset="0"/>
              </a:rPr>
              <a:t> </a:t>
            </a:r>
            <a:endParaRPr lang="en-US" altLang="zh-CN" b="1" dirty="0" smtClean="0">
              <a:latin typeface="Times New Roman" panose="02020603050405020304" pitchFamily="18" charset="0"/>
              <a:cs typeface="Times New Roman" panose="02020603050405020304" pitchFamily="18" charset="0"/>
            </a:endParaRP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消息缓冲区</a:t>
            </a:r>
            <a:endParaRPr lang="zh-CN" altLang="en-US" b="1" dirty="0">
              <a:latin typeface="Times New Roman" panose="02020603050405020304" pitchFamily="18" charset="0"/>
              <a:cs typeface="Times New Roman" panose="02020603050405020304" pitchFamily="18" charset="0"/>
            </a:endParaRP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把</a:t>
            </a:r>
            <a:r>
              <a:rPr lang="zh-CN" altLang="en-US" b="1" dirty="0">
                <a:latin typeface="Times New Roman" panose="02020603050405020304" pitchFamily="18" charset="0"/>
                <a:cs typeface="Times New Roman" panose="02020603050405020304" pitchFamily="18" charset="0"/>
              </a:rPr>
              <a:t>消息缓冲区挂入接收</a:t>
            </a:r>
            <a:r>
              <a:rPr lang="zh-CN" altLang="en-US" b="1" dirty="0" smtClean="0">
                <a:latin typeface="Times New Roman" panose="02020603050405020304" pitchFamily="18" charset="0"/>
                <a:cs typeface="Times New Roman" panose="02020603050405020304" pitchFamily="18" charset="0"/>
              </a:rPr>
              <a:t>进程</a:t>
            </a:r>
            <a:endParaRPr lang="en-US" altLang="zh-CN" b="1" dirty="0" smtClean="0">
              <a:latin typeface="Times New Roman" panose="02020603050405020304" pitchFamily="18" charset="0"/>
              <a:cs typeface="Times New Roman" panose="02020603050405020304" pitchFamily="18" charset="0"/>
            </a:endParaRP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的</a:t>
            </a:r>
            <a:r>
              <a:rPr lang="zh-CN" altLang="en-US" b="1" dirty="0">
                <a:latin typeface="Times New Roman" panose="02020603050405020304" pitchFamily="18" charset="0"/>
                <a:cs typeface="Times New Roman" panose="02020603050405020304" pitchFamily="18" charset="0"/>
              </a:rPr>
              <a:t>消息队列</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SM</a:t>
            </a:r>
            <a:r>
              <a:rPr lang="zh-CN" altLang="en-US" b="1" dirty="0">
                <a:latin typeface="Times New Roman" panose="02020603050405020304" pitchFamily="18" charset="0"/>
                <a:cs typeface="Times New Roman" panose="02020603050405020304" pitchFamily="18" charset="0"/>
              </a:rPr>
              <a:t>）</a:t>
            </a:r>
          </a:p>
          <a:p>
            <a:pPr>
              <a:lnSpc>
                <a:spcPct val="90000"/>
              </a:lnSpc>
              <a:spcBef>
                <a:spcPct val="10000"/>
              </a:spcBef>
            </a:pPr>
            <a:r>
              <a:rPr lang="en-US" altLang="zh-CN" b="1" dirty="0" smtClean="0">
                <a:latin typeface="Times New Roman" panose="02020603050405020304" pitchFamily="18" charset="0"/>
                <a:cs typeface="Times New Roman" panose="02020603050405020304" pitchFamily="18" charset="0"/>
              </a:rPr>
              <a:t>end</a:t>
            </a:r>
            <a:endParaRPr lang="en-US" altLang="zh-CN" b="1" dirty="0">
              <a:latin typeface="Times New Roman" panose="02020603050405020304" pitchFamily="18" charset="0"/>
              <a:cs typeface="Times New Roman" panose="02020603050405020304" pitchFamily="18" charset="0"/>
            </a:endParaRPr>
          </a:p>
        </p:txBody>
      </p:sp>
      <p:sp>
        <p:nvSpPr>
          <p:cNvPr id="30" name="矩形 29"/>
          <p:cNvSpPr/>
          <p:nvPr/>
        </p:nvSpPr>
        <p:spPr>
          <a:xfrm>
            <a:off x="5004048" y="1653168"/>
            <a:ext cx="3930010" cy="3162108"/>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Receive(n):</a:t>
            </a: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begin</a:t>
            </a:r>
            <a:endParaRPr lang="en-US" altLang="zh-CN" b="1" dirty="0">
              <a:latin typeface="Times New Roman" panose="02020603050405020304" pitchFamily="18" charset="0"/>
              <a:cs typeface="Times New Roman" panose="02020603050405020304" pitchFamily="18" charset="0"/>
            </a:endParaRP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Ｐ</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SM</a:t>
            </a:r>
            <a:r>
              <a:rPr lang="zh-CN" altLang="en-US" b="1" dirty="0">
                <a:latin typeface="Times New Roman" panose="02020603050405020304" pitchFamily="18" charset="0"/>
                <a:cs typeface="Times New Roman" panose="02020603050405020304" pitchFamily="18" charset="0"/>
              </a:rPr>
              <a:t>）</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Ｐ</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摘下</a:t>
            </a:r>
            <a:r>
              <a:rPr lang="zh-CN" altLang="en-US" b="1" dirty="0">
                <a:latin typeface="Times New Roman" panose="02020603050405020304" pitchFamily="18" charset="0"/>
                <a:cs typeface="Times New Roman" panose="02020603050405020304" pitchFamily="18" charset="0"/>
              </a:rPr>
              <a:t>消息队列中的消息</a:t>
            </a:r>
            <a:r>
              <a:rPr lang="en-US" altLang="zh-CN" b="1" dirty="0">
                <a:latin typeface="Times New Roman" panose="02020603050405020304" pitchFamily="18" charset="0"/>
                <a:cs typeface="Times New Roman" panose="02020603050405020304" pitchFamily="18" charset="0"/>
              </a:rPr>
              <a:t>n </a:t>
            </a: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将消息</a:t>
            </a:r>
            <a:r>
              <a:rPr lang="en-US" altLang="zh-CN" b="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从缓冲区复制到接收区</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释放</a:t>
            </a:r>
            <a:r>
              <a:rPr lang="zh-CN" altLang="en-US" b="1" dirty="0">
                <a:latin typeface="Times New Roman" panose="02020603050405020304" pitchFamily="18" charset="0"/>
                <a:cs typeface="Times New Roman" panose="02020603050405020304" pitchFamily="18" charset="0"/>
              </a:rPr>
              <a:t>缓冲区</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mutex</a:t>
            </a:r>
            <a:r>
              <a:rPr lang="zh-CN" altLang="en-US" b="1" dirty="0">
                <a:latin typeface="Times New Roman" panose="02020603050405020304" pitchFamily="18" charset="0"/>
                <a:cs typeface="Times New Roman" panose="02020603050405020304" pitchFamily="18" charset="0"/>
              </a:rPr>
              <a:t>）</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end</a:t>
            </a:r>
            <a:endParaRPr lang="en-US" altLang="zh-CN" b="1" dirty="0">
              <a:latin typeface="Times New Roman" panose="02020603050405020304" pitchFamily="18" charset="0"/>
              <a:cs typeface="Times New Roman" panose="02020603050405020304" pitchFamily="18" charset="0"/>
            </a:endParaRPr>
          </a:p>
        </p:txBody>
      </p:sp>
      <p:grpSp>
        <p:nvGrpSpPr>
          <p:cNvPr id="4" name="组合 3"/>
          <p:cNvGrpSpPr/>
          <p:nvPr/>
        </p:nvGrpSpPr>
        <p:grpSpPr>
          <a:xfrm>
            <a:off x="1043608" y="2139702"/>
            <a:ext cx="6120680" cy="1800200"/>
            <a:chOff x="1043608" y="2139702"/>
            <a:chExt cx="6120680" cy="1800200"/>
          </a:xfrm>
        </p:grpSpPr>
        <p:sp>
          <p:nvSpPr>
            <p:cNvPr id="3" name="椭圆 2"/>
            <p:cNvSpPr/>
            <p:nvPr/>
          </p:nvSpPr>
          <p:spPr>
            <a:xfrm>
              <a:off x="1043608" y="2139702"/>
              <a:ext cx="3099546" cy="432048"/>
            </a:xfrm>
            <a:prstGeom prst="ellipse">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5419280" y="3579862"/>
              <a:ext cx="1745008" cy="360040"/>
            </a:xfrm>
            <a:prstGeom prst="ellipse">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标注 4"/>
          <p:cNvSpPr/>
          <p:nvPr/>
        </p:nvSpPr>
        <p:spPr>
          <a:xfrm>
            <a:off x="4067943" y="411510"/>
            <a:ext cx="2808313" cy="1018393"/>
          </a:xfrm>
          <a:prstGeom prst="wedgeRectCallout">
            <a:avLst>
              <a:gd name="adj1" fmla="val -58260"/>
              <a:gd name="adj2" fmla="val 117773"/>
            </a:avLst>
          </a:prstGeom>
        </p:spPr>
        <p:style>
          <a:lnRef idx="3">
            <a:schemeClr val="lt1"/>
          </a:lnRef>
          <a:fillRef idx="1">
            <a:schemeClr val="accent6"/>
          </a:fillRef>
          <a:effectRef idx="1">
            <a:schemeClr val="accent6"/>
          </a:effectRef>
          <a:fontRef idx="minor">
            <a:schemeClr val="lt1"/>
          </a:fontRef>
        </p:style>
        <p:txBody>
          <a:bodyPr rtlCol="0" anchor="ctr"/>
          <a:lstStyle/>
          <a:p>
            <a:pPr>
              <a:lnSpc>
                <a:spcPct val="150000"/>
              </a:lnSpc>
              <a:spcBef>
                <a:spcPct val="0"/>
              </a:spcBef>
              <a:buClr>
                <a:schemeClr val="accent6">
                  <a:lumMod val="40000"/>
                  <a:lumOff val="60000"/>
                </a:schemeClr>
              </a:buClr>
            </a:pPr>
            <a:r>
              <a:rPr lang="zh-CN" altLang="en-US" b="1" dirty="0">
                <a:solidFill>
                  <a:schemeClr val="bg1"/>
                </a:solidFill>
                <a:latin typeface="+mn-ea"/>
              </a:rPr>
              <a:t>为什么不在</a:t>
            </a:r>
            <a:r>
              <a:rPr lang="en-US" altLang="zh-CN" b="1" dirty="0">
                <a:solidFill>
                  <a:schemeClr val="bg1"/>
                </a:solidFill>
                <a:latin typeface="+mn-ea"/>
              </a:rPr>
              <a:t>Send</a:t>
            </a:r>
            <a:r>
              <a:rPr lang="zh-CN" altLang="en-US" b="1" dirty="0">
                <a:solidFill>
                  <a:schemeClr val="bg1"/>
                </a:solidFill>
                <a:latin typeface="+mn-ea"/>
              </a:rPr>
              <a:t>过程用Ｐ操作</a:t>
            </a:r>
            <a:r>
              <a:rPr lang="zh-CN" altLang="en-US" b="1" dirty="0" smtClean="0">
                <a:solidFill>
                  <a:schemeClr val="bg1"/>
                </a:solidFill>
                <a:latin typeface="+mn-ea"/>
              </a:rPr>
              <a:t>判断信号量</a:t>
            </a:r>
            <a:r>
              <a:rPr lang="en-US" altLang="zh-CN" b="1" dirty="0" smtClean="0">
                <a:solidFill>
                  <a:schemeClr val="bg1"/>
                </a:solidFill>
                <a:latin typeface="+mn-ea"/>
              </a:rPr>
              <a:t>SM</a:t>
            </a:r>
            <a:r>
              <a:rPr lang="zh-CN" altLang="en-US" b="1" dirty="0" smtClean="0">
                <a:solidFill>
                  <a:schemeClr val="bg1"/>
                </a:solidFill>
                <a:latin typeface="+mn-ea"/>
              </a:rPr>
              <a:t>？</a:t>
            </a:r>
            <a:endParaRPr lang="en-US" altLang="zh-CN"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anim calcmode="lin" valueType="num">
                                      <p:cBhvr>
                                        <p:cTn id="20" dur="1000" fill="hold"/>
                                        <p:tgtEl>
                                          <p:spTgt spid="30"/>
                                        </p:tgtEl>
                                        <p:attrNameLst>
                                          <p:attrName>ppt_x</p:attrName>
                                        </p:attrNameLst>
                                      </p:cBhvr>
                                      <p:tavLst>
                                        <p:tav tm="0">
                                          <p:val>
                                            <p:strVal val="#ppt_x"/>
                                          </p:val>
                                        </p:tav>
                                        <p:tav tm="100000">
                                          <p:val>
                                            <p:strVal val="#ppt_x"/>
                                          </p:val>
                                        </p:tav>
                                      </p:tavLst>
                                    </p:anim>
                                    <p:anim calcmode="lin" valueType="num">
                                      <p:cBhvr>
                                        <p:cTn id="2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5"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消息缓冲机制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91630"/>
            <a:ext cx="6912768" cy="2308324"/>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尽管</a:t>
            </a:r>
            <a:r>
              <a:rPr lang="zh-CN" altLang="en-US" sz="2400" b="1" dirty="0">
                <a:solidFill>
                  <a:schemeClr val="bg1"/>
                </a:solidFill>
                <a:latin typeface="+mn-ea"/>
              </a:rPr>
              <a:t>系统中可利用的缓冲区总数是已知的，但由于消息队列是按接收进程排列，因而，在同一时间内，系统中存在着多个消息队列；且这些队列的长度是不固定的。</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邮箱通信</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44876"/>
            <a:ext cx="6912768" cy="286232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邮箱通信就是由</a:t>
            </a:r>
            <a:r>
              <a:rPr lang="zh-CN" altLang="en-US" sz="2400" b="1" dirty="0">
                <a:solidFill>
                  <a:srgbClr val="FFFF00"/>
                </a:solidFill>
                <a:latin typeface="+mn-ea"/>
              </a:rPr>
              <a:t>发送进程</a:t>
            </a:r>
            <a:r>
              <a:rPr lang="zh-CN" altLang="en-US" sz="2400" b="1" dirty="0">
                <a:solidFill>
                  <a:schemeClr val="bg1"/>
                </a:solidFill>
                <a:latin typeface="+mn-ea"/>
              </a:rPr>
              <a:t>申请建立一与</a:t>
            </a:r>
            <a:r>
              <a:rPr lang="zh-CN" altLang="en-US" sz="2400" b="1" dirty="0">
                <a:solidFill>
                  <a:srgbClr val="FFFF00"/>
                </a:solidFill>
                <a:latin typeface="+mn-ea"/>
              </a:rPr>
              <a:t>接收进程链接的邮箱</a:t>
            </a:r>
            <a:r>
              <a:rPr lang="zh-CN" altLang="en-US" sz="2400" b="1" dirty="0">
                <a:solidFill>
                  <a:schemeClr val="bg1"/>
                </a:solidFill>
                <a:latin typeface="+mn-ea"/>
              </a:rPr>
              <a:t>。发送进程把消息送往邮箱，接收进程从邮箱中取出消息，从而完成进程间</a:t>
            </a:r>
            <a:r>
              <a:rPr lang="zh-CN" altLang="en-US" sz="2400" b="1" dirty="0" smtClean="0">
                <a:solidFill>
                  <a:schemeClr val="bg1"/>
                </a:solidFill>
                <a:latin typeface="+mn-ea"/>
              </a:rPr>
              <a:t>信息交换</a:t>
            </a: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设置</a:t>
            </a:r>
            <a:r>
              <a:rPr lang="zh-CN" altLang="en-US" sz="2400" b="1" dirty="0">
                <a:solidFill>
                  <a:schemeClr val="bg1"/>
                </a:solidFill>
                <a:latin typeface="+mn-ea"/>
              </a:rPr>
              <a:t>邮箱的最大好处就是发送进程和接收进程之间</a:t>
            </a:r>
            <a:r>
              <a:rPr lang="zh-CN" altLang="en-US" sz="2400" b="1" dirty="0">
                <a:solidFill>
                  <a:srgbClr val="FFFF00"/>
                </a:solidFill>
                <a:latin typeface="+mn-ea"/>
              </a:rPr>
              <a:t>没有处理时间上的限制</a:t>
            </a:r>
            <a:r>
              <a:rPr lang="zh-CN" altLang="en-US" sz="2400" b="1" dirty="0">
                <a:solidFill>
                  <a:schemeClr val="bg1"/>
                </a:solidFill>
                <a:latin typeface="+mn-ea"/>
              </a:rPr>
              <a:t>。</a:t>
            </a:r>
          </a:p>
        </p:txBody>
      </p:sp>
      <p:sp>
        <p:nvSpPr>
          <p:cNvPr id="29" name="矩形标注 28"/>
          <p:cNvSpPr/>
          <p:nvPr/>
        </p:nvSpPr>
        <p:spPr>
          <a:xfrm>
            <a:off x="2621571" y="357569"/>
            <a:ext cx="1950430" cy="1018393"/>
          </a:xfrm>
          <a:prstGeom prst="wedgeRectCallout">
            <a:avLst>
              <a:gd name="adj1" fmla="val -58260"/>
              <a:gd name="adj2" fmla="val 117773"/>
            </a:avLst>
          </a:prstGeom>
        </p:spPr>
        <p:style>
          <a:lnRef idx="3">
            <a:schemeClr val="lt1"/>
          </a:lnRef>
          <a:fillRef idx="1">
            <a:schemeClr val="accent6"/>
          </a:fillRef>
          <a:effectRef idx="1">
            <a:schemeClr val="accent6"/>
          </a:effectRef>
          <a:fontRef idx="minor">
            <a:schemeClr val="lt1"/>
          </a:fontRef>
        </p:style>
        <p:txBody>
          <a:bodyPr rtlCol="0" anchor="ctr"/>
          <a:lstStyle/>
          <a:p>
            <a:pPr>
              <a:lnSpc>
                <a:spcPct val="150000"/>
              </a:lnSpc>
              <a:spcBef>
                <a:spcPct val="0"/>
              </a:spcBef>
              <a:buClr>
                <a:schemeClr val="accent6">
                  <a:lumMod val="40000"/>
                  <a:lumOff val="60000"/>
                </a:schemeClr>
              </a:buClr>
            </a:pPr>
            <a:r>
              <a:rPr lang="zh-CN" altLang="en-US" b="1" dirty="0" smtClean="0">
                <a:solidFill>
                  <a:schemeClr val="bg1"/>
                </a:solidFill>
                <a:latin typeface="+mn-ea"/>
              </a:rPr>
              <a:t>被发送进程和接收进程专享</a:t>
            </a:r>
            <a:endParaRPr lang="en-US" altLang="zh-CN"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down)">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邮箱通信</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68634"/>
            <a:ext cx="6912768" cy="341632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rgbClr val="FFFF00"/>
                </a:solidFill>
                <a:latin typeface="+mn-ea"/>
              </a:rPr>
              <a:t>一个邮箱</a:t>
            </a:r>
            <a:r>
              <a:rPr lang="zh-CN" altLang="en-US" sz="2400" b="1" dirty="0">
                <a:solidFill>
                  <a:schemeClr val="bg1"/>
                </a:solidFill>
                <a:latin typeface="+mn-ea"/>
              </a:rPr>
              <a:t>可考虑成</a:t>
            </a:r>
            <a:r>
              <a:rPr lang="zh-CN" altLang="en-US" sz="2400" b="1" dirty="0">
                <a:solidFill>
                  <a:srgbClr val="FFFF00"/>
                </a:solidFill>
                <a:latin typeface="+mn-ea"/>
              </a:rPr>
              <a:t>发送进程与接收进程之间的大小固定的私有数据结构</a:t>
            </a:r>
            <a:r>
              <a:rPr lang="zh-CN" altLang="en-US" sz="2400" b="1" dirty="0">
                <a:solidFill>
                  <a:schemeClr val="bg1"/>
                </a:solidFill>
                <a:latin typeface="+mn-ea"/>
              </a:rPr>
              <a:t>，它不像缓冲区那样被系统内所有进程共享</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邮箱</a:t>
            </a:r>
            <a:r>
              <a:rPr lang="zh-CN" altLang="en-US" sz="2400" b="1" dirty="0">
                <a:solidFill>
                  <a:schemeClr val="bg1"/>
                </a:solidFill>
                <a:latin typeface="+mn-ea"/>
              </a:rPr>
              <a:t>由</a:t>
            </a:r>
            <a:r>
              <a:rPr lang="zh-CN" altLang="en-US" sz="2400" b="1" dirty="0">
                <a:solidFill>
                  <a:srgbClr val="FFFF00"/>
                </a:solidFill>
                <a:latin typeface="+mn-ea"/>
              </a:rPr>
              <a:t>邮箱头</a:t>
            </a:r>
            <a:r>
              <a:rPr lang="zh-CN" altLang="en-US" sz="2400" b="1" dirty="0">
                <a:solidFill>
                  <a:schemeClr val="bg1"/>
                </a:solidFill>
                <a:latin typeface="+mn-ea"/>
              </a:rPr>
              <a:t>和</a:t>
            </a:r>
            <a:r>
              <a:rPr lang="zh-CN" altLang="en-US" sz="2400" b="1" dirty="0">
                <a:solidFill>
                  <a:srgbClr val="FFFF00"/>
                </a:solidFill>
                <a:latin typeface="+mn-ea"/>
              </a:rPr>
              <a:t>邮箱体</a:t>
            </a:r>
            <a:r>
              <a:rPr lang="zh-CN" altLang="en-US" sz="2400" b="1" dirty="0">
                <a:solidFill>
                  <a:schemeClr val="bg1"/>
                </a:solidFill>
                <a:latin typeface="+mn-ea"/>
              </a:rPr>
              <a:t>组成。其中邮箱头描述</a:t>
            </a:r>
            <a:r>
              <a:rPr lang="zh-CN" altLang="en-US" sz="2400" b="1" dirty="0">
                <a:solidFill>
                  <a:schemeClr val="accent6">
                    <a:lumMod val="60000"/>
                    <a:lumOff val="40000"/>
                  </a:schemeClr>
                </a:solidFill>
                <a:latin typeface="+mn-ea"/>
              </a:rPr>
              <a:t>邮箱名称</a:t>
            </a:r>
            <a:r>
              <a:rPr lang="zh-CN" altLang="en-US" sz="2400" b="1" dirty="0">
                <a:solidFill>
                  <a:schemeClr val="bg1"/>
                </a:solidFill>
                <a:latin typeface="+mn-ea"/>
              </a:rPr>
              <a:t>、</a:t>
            </a:r>
            <a:r>
              <a:rPr lang="zh-CN" altLang="en-US" sz="2400" b="1" dirty="0">
                <a:solidFill>
                  <a:schemeClr val="accent6">
                    <a:lumMod val="60000"/>
                    <a:lumOff val="40000"/>
                  </a:schemeClr>
                </a:solidFill>
                <a:latin typeface="+mn-ea"/>
              </a:rPr>
              <a:t>邮箱大小</a:t>
            </a:r>
            <a:r>
              <a:rPr lang="zh-CN" altLang="en-US" sz="2400" b="1" dirty="0">
                <a:solidFill>
                  <a:schemeClr val="bg1"/>
                </a:solidFill>
                <a:latin typeface="+mn-ea"/>
              </a:rPr>
              <a:t>、</a:t>
            </a:r>
            <a:r>
              <a:rPr lang="zh-CN" altLang="en-US" sz="2400" b="1" dirty="0">
                <a:solidFill>
                  <a:schemeClr val="accent6">
                    <a:lumMod val="60000"/>
                    <a:lumOff val="40000"/>
                  </a:schemeClr>
                </a:solidFill>
                <a:latin typeface="+mn-ea"/>
              </a:rPr>
              <a:t>邮箱方向</a:t>
            </a:r>
            <a:r>
              <a:rPr lang="zh-CN" altLang="en-US" sz="2400" b="1" dirty="0">
                <a:solidFill>
                  <a:schemeClr val="bg1"/>
                </a:solidFill>
                <a:latin typeface="+mn-ea"/>
              </a:rPr>
              <a:t>以及</a:t>
            </a:r>
            <a:r>
              <a:rPr lang="zh-CN" altLang="en-US" sz="2400" b="1" dirty="0">
                <a:solidFill>
                  <a:schemeClr val="accent6">
                    <a:lumMod val="60000"/>
                    <a:lumOff val="40000"/>
                  </a:schemeClr>
                </a:solidFill>
                <a:latin typeface="+mn-ea"/>
              </a:rPr>
              <a:t>拥有该邮箱的进程名</a:t>
            </a:r>
            <a:r>
              <a:rPr lang="zh-CN" altLang="en-US" sz="2400" b="1" dirty="0">
                <a:solidFill>
                  <a:schemeClr val="bg1"/>
                </a:solidFill>
                <a:latin typeface="+mn-ea"/>
              </a:rPr>
              <a:t>等。邮箱体主要用来存放</a:t>
            </a:r>
            <a:r>
              <a:rPr lang="zh-CN" altLang="en-US" sz="2400" b="1" dirty="0" smtClean="0">
                <a:solidFill>
                  <a:schemeClr val="bg1"/>
                </a:solidFill>
                <a:latin typeface="+mn-ea"/>
              </a:rPr>
              <a:t>消息。</a:t>
            </a:r>
            <a:endParaRPr lang="zh-CN" altLang="en-US" sz="2400" b="1" dirty="0">
              <a:solidFill>
                <a:schemeClr val="bg1"/>
              </a:solidFill>
              <a:latin typeface="+mn-ea"/>
            </a:endParaRPr>
          </a:p>
        </p:txBody>
      </p:sp>
      <p:pic>
        <p:nvPicPr>
          <p:cNvPr id="29" name="Picture 4"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502629"/>
            <a:ext cx="7426841" cy="143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邮箱通信</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68634"/>
            <a:ext cx="6912768" cy="3416320"/>
          </a:xfrm>
          <a:prstGeom prst="rect">
            <a:avLst/>
          </a:prstGeom>
        </p:spPr>
        <p:txBody>
          <a:bodyPr wrap="square">
            <a:spAutoFit/>
          </a:bodyPr>
          <a:lstStyle/>
          <a:p>
            <a:pPr indent="-342900">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对于</a:t>
            </a:r>
            <a:r>
              <a:rPr lang="zh-CN" altLang="en-US" sz="2400" b="1" dirty="0">
                <a:solidFill>
                  <a:srgbClr val="FFFF00"/>
                </a:solidFill>
                <a:latin typeface="+mn-ea"/>
              </a:rPr>
              <a:t>只有一发送进程</a:t>
            </a:r>
            <a:r>
              <a:rPr lang="zh-CN" altLang="en-US" sz="2400" b="1" dirty="0">
                <a:solidFill>
                  <a:schemeClr val="bg1"/>
                </a:solidFill>
                <a:latin typeface="+mn-ea"/>
              </a:rPr>
              <a:t>和</a:t>
            </a:r>
            <a:r>
              <a:rPr lang="zh-CN" altLang="en-US" sz="2400" b="1" dirty="0">
                <a:solidFill>
                  <a:srgbClr val="FFFF00"/>
                </a:solidFill>
                <a:latin typeface="+mn-ea"/>
              </a:rPr>
              <a:t>一接收进程</a:t>
            </a:r>
            <a:r>
              <a:rPr lang="zh-CN" altLang="en-US" sz="2400" b="1" dirty="0">
                <a:solidFill>
                  <a:schemeClr val="bg1"/>
                </a:solidFill>
                <a:latin typeface="+mn-ea"/>
              </a:rPr>
              <a:t>使用的邮箱，则进程间通信应满足如下条件：</a:t>
            </a:r>
          </a:p>
          <a:p>
            <a:pPr>
              <a:lnSpc>
                <a:spcPct val="150000"/>
              </a:lnSpc>
              <a:spcBef>
                <a:spcPct val="0"/>
              </a:spcBef>
              <a:buClr>
                <a:schemeClr val="accent6">
                  <a:lumMod val="40000"/>
                  <a:lumOff val="60000"/>
                </a:schemeClr>
              </a:buClr>
            </a:pPr>
            <a:r>
              <a:rPr lang="zh-CN" altLang="en-US" sz="2400" b="1" dirty="0" smtClean="0">
                <a:solidFill>
                  <a:schemeClr val="bg1"/>
                </a:solidFill>
                <a:latin typeface="+mn-ea"/>
              </a:rPr>
              <a:t>  ① </a:t>
            </a:r>
            <a:r>
              <a:rPr lang="zh-CN" altLang="en-US" sz="2400" b="1" dirty="0">
                <a:solidFill>
                  <a:schemeClr val="bg1"/>
                </a:solidFill>
                <a:latin typeface="+mn-ea"/>
              </a:rPr>
              <a:t>发送进程发送消息时，邮箱中至少要有一个空格能存放该消息。</a:t>
            </a:r>
          </a:p>
          <a:p>
            <a:pPr>
              <a:lnSpc>
                <a:spcPct val="150000"/>
              </a:lnSpc>
              <a:spcBef>
                <a:spcPct val="0"/>
              </a:spcBef>
              <a:buClr>
                <a:schemeClr val="accent6">
                  <a:lumMod val="40000"/>
                  <a:lumOff val="60000"/>
                </a:schemeClr>
              </a:buClr>
            </a:pPr>
            <a:r>
              <a:rPr lang="zh-CN" altLang="en-US" sz="2400" b="1" dirty="0" smtClean="0">
                <a:solidFill>
                  <a:schemeClr val="bg1"/>
                </a:solidFill>
                <a:latin typeface="+mn-ea"/>
              </a:rPr>
              <a:t>  ② 接收</a:t>
            </a:r>
            <a:r>
              <a:rPr lang="zh-CN" altLang="en-US" sz="2400" b="1" dirty="0">
                <a:solidFill>
                  <a:schemeClr val="bg1"/>
                </a:solidFill>
                <a:latin typeface="+mn-ea"/>
              </a:rPr>
              <a:t>进程接收消息时，邮箱中至少要有一个消息存在。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邮箱通信</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61838"/>
            <a:ext cx="7056784" cy="341632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设</a:t>
            </a:r>
            <a:r>
              <a:rPr lang="zh-CN" altLang="en-US" sz="2400" b="1" dirty="0">
                <a:solidFill>
                  <a:srgbClr val="FFFF00"/>
                </a:solidFill>
                <a:latin typeface="+mn-ea"/>
              </a:rPr>
              <a:t>发送</a:t>
            </a:r>
            <a:r>
              <a:rPr lang="zh-CN" altLang="en-US" sz="2400" b="1" dirty="0">
                <a:solidFill>
                  <a:schemeClr val="bg1"/>
                </a:solidFill>
                <a:latin typeface="+mn-ea"/>
              </a:rPr>
              <a:t>进程调用过程 </a:t>
            </a:r>
            <a:r>
              <a:rPr lang="en-US" altLang="zh-CN" sz="2400" b="1" dirty="0">
                <a:solidFill>
                  <a:srgbClr val="FFFF00"/>
                </a:solidFill>
                <a:latin typeface="+mn-ea"/>
              </a:rPr>
              <a:t>deposit(m)</a:t>
            </a:r>
            <a:r>
              <a:rPr lang="zh-CN" altLang="en-US" sz="2400" b="1" dirty="0">
                <a:solidFill>
                  <a:schemeClr val="bg1"/>
                </a:solidFill>
                <a:latin typeface="+mn-ea"/>
              </a:rPr>
              <a:t>将消息发送到邮箱，</a:t>
            </a:r>
            <a:r>
              <a:rPr lang="zh-CN" altLang="en-US" sz="2400" b="1" dirty="0">
                <a:solidFill>
                  <a:srgbClr val="FFFF00"/>
                </a:solidFill>
                <a:latin typeface="+mn-ea"/>
              </a:rPr>
              <a:t>接收</a:t>
            </a:r>
            <a:r>
              <a:rPr lang="zh-CN" altLang="en-US" sz="2400" b="1" dirty="0">
                <a:solidFill>
                  <a:schemeClr val="bg1"/>
                </a:solidFill>
                <a:latin typeface="+mn-ea"/>
              </a:rPr>
              <a:t>进程调用过程</a:t>
            </a:r>
            <a:r>
              <a:rPr lang="en-US" altLang="zh-CN" sz="2400" b="1" dirty="0">
                <a:solidFill>
                  <a:srgbClr val="FFFF00"/>
                </a:solidFill>
                <a:latin typeface="+mn-ea"/>
              </a:rPr>
              <a:t>remove(m)</a:t>
            </a:r>
            <a:r>
              <a:rPr lang="zh-CN" altLang="en-US" sz="2400" b="1" dirty="0">
                <a:solidFill>
                  <a:schemeClr val="bg1"/>
                </a:solidFill>
                <a:latin typeface="+mn-ea"/>
              </a:rPr>
              <a:t>将消息</a:t>
            </a:r>
            <a:r>
              <a:rPr lang="en-US" altLang="zh-CN" sz="2400" b="1" dirty="0">
                <a:solidFill>
                  <a:schemeClr val="bg1"/>
                </a:solidFill>
                <a:latin typeface="+mn-ea"/>
              </a:rPr>
              <a:t>m </a:t>
            </a:r>
            <a:r>
              <a:rPr lang="zh-CN" altLang="en-US" sz="2400" b="1" dirty="0">
                <a:solidFill>
                  <a:schemeClr val="bg1"/>
                </a:solidFill>
                <a:latin typeface="+mn-ea"/>
              </a:rPr>
              <a:t>从邮箱中取出。另外，为了记录邮箱中空格个数和消息个数，信号量</a:t>
            </a:r>
            <a:r>
              <a:rPr lang="en-US" altLang="zh-CN" sz="2400" b="1" dirty="0" err="1">
                <a:solidFill>
                  <a:srgbClr val="FFFF00"/>
                </a:solidFill>
                <a:latin typeface="+mn-ea"/>
              </a:rPr>
              <a:t>fromnum</a:t>
            </a:r>
            <a:r>
              <a:rPr lang="en-US" altLang="zh-CN" sz="2400" b="1" dirty="0">
                <a:solidFill>
                  <a:schemeClr val="bg1"/>
                </a:solidFill>
                <a:latin typeface="+mn-ea"/>
              </a:rPr>
              <a:t> </a:t>
            </a:r>
            <a:r>
              <a:rPr lang="zh-CN" altLang="en-US" sz="2400" b="1" dirty="0">
                <a:solidFill>
                  <a:schemeClr val="bg1"/>
                </a:solidFill>
                <a:latin typeface="+mn-ea"/>
              </a:rPr>
              <a:t>为</a:t>
            </a:r>
            <a:r>
              <a:rPr lang="zh-CN" altLang="en-US" sz="2400" b="1" dirty="0">
                <a:solidFill>
                  <a:srgbClr val="FFFF00"/>
                </a:solidFill>
                <a:latin typeface="+mn-ea"/>
              </a:rPr>
              <a:t>发送进程的私用信号量</a:t>
            </a:r>
            <a:r>
              <a:rPr lang="zh-CN" altLang="en-US" sz="2400" b="1" dirty="0">
                <a:solidFill>
                  <a:schemeClr val="bg1"/>
                </a:solidFill>
                <a:latin typeface="+mn-ea"/>
              </a:rPr>
              <a:t>，信号量</a:t>
            </a:r>
            <a:r>
              <a:rPr lang="en-US" altLang="zh-CN" sz="2400" b="1" dirty="0" err="1">
                <a:solidFill>
                  <a:srgbClr val="FFFF00"/>
                </a:solidFill>
                <a:latin typeface="+mn-ea"/>
              </a:rPr>
              <a:t>mesnum</a:t>
            </a:r>
            <a:r>
              <a:rPr lang="zh-CN" altLang="en-US" sz="2400" b="1" dirty="0">
                <a:solidFill>
                  <a:schemeClr val="bg1"/>
                </a:solidFill>
                <a:latin typeface="+mn-ea"/>
              </a:rPr>
              <a:t>为</a:t>
            </a:r>
            <a:r>
              <a:rPr lang="zh-CN" altLang="en-US" sz="2400" b="1" dirty="0">
                <a:solidFill>
                  <a:srgbClr val="FFFF00"/>
                </a:solidFill>
                <a:latin typeface="+mn-ea"/>
              </a:rPr>
              <a:t>接收进程的私用信号量</a:t>
            </a:r>
            <a:r>
              <a:rPr lang="zh-CN" altLang="en-US" sz="2400" b="1" dirty="0">
                <a:solidFill>
                  <a:schemeClr val="bg1"/>
                </a:solidFill>
                <a:latin typeface="+mn-ea"/>
              </a:rPr>
              <a:t>。</a:t>
            </a:r>
            <a:r>
              <a:rPr lang="en-US" altLang="zh-CN" sz="2400" b="1" dirty="0" err="1">
                <a:solidFill>
                  <a:schemeClr val="bg1"/>
                </a:solidFill>
                <a:latin typeface="+mn-ea"/>
              </a:rPr>
              <a:t>fromnum</a:t>
            </a:r>
            <a:r>
              <a:rPr lang="en-US" altLang="zh-CN" sz="2400" b="1" dirty="0">
                <a:solidFill>
                  <a:schemeClr val="bg1"/>
                </a:solidFill>
                <a:latin typeface="+mn-ea"/>
              </a:rPr>
              <a:t> </a:t>
            </a:r>
            <a:r>
              <a:rPr lang="zh-CN" altLang="en-US" sz="2400" b="1" dirty="0">
                <a:solidFill>
                  <a:schemeClr val="bg1"/>
                </a:solidFill>
                <a:latin typeface="+mn-ea"/>
              </a:rPr>
              <a:t>的初值为信箱的空格数 </a:t>
            </a:r>
            <a:r>
              <a:rPr lang="en-US" altLang="zh-CN" sz="2400" b="1" dirty="0">
                <a:solidFill>
                  <a:schemeClr val="bg1"/>
                </a:solidFill>
                <a:latin typeface="+mn-ea"/>
              </a:rPr>
              <a:t>n</a:t>
            </a:r>
            <a:r>
              <a:rPr lang="zh-CN" altLang="en-US" sz="2400" b="1" dirty="0">
                <a:solidFill>
                  <a:schemeClr val="bg1"/>
                </a:solidFill>
                <a:latin typeface="+mn-ea"/>
              </a:rPr>
              <a:t>，</a:t>
            </a:r>
            <a:r>
              <a:rPr lang="en-US" altLang="zh-CN" sz="2400" b="1" dirty="0" err="1">
                <a:solidFill>
                  <a:schemeClr val="bg1"/>
                </a:solidFill>
                <a:latin typeface="+mn-ea"/>
              </a:rPr>
              <a:t>mesnum</a:t>
            </a:r>
            <a:r>
              <a:rPr lang="en-US" altLang="zh-CN" sz="2400" b="1" dirty="0">
                <a:solidFill>
                  <a:schemeClr val="bg1"/>
                </a:solidFill>
                <a:latin typeface="+mn-ea"/>
              </a:rPr>
              <a:t> </a:t>
            </a:r>
            <a:r>
              <a:rPr lang="zh-CN" altLang="en-US" sz="2400" b="1" dirty="0">
                <a:solidFill>
                  <a:schemeClr val="bg1"/>
                </a:solidFill>
                <a:latin typeface="+mn-ea"/>
              </a:rPr>
              <a:t>的初值为 </a:t>
            </a:r>
            <a:r>
              <a:rPr lang="en-US" altLang="zh-CN" sz="2400" b="1" dirty="0">
                <a:solidFill>
                  <a:schemeClr val="bg1"/>
                </a:solidFill>
                <a:latin typeface="+mn-ea"/>
              </a:rPr>
              <a:t>0</a:t>
            </a:r>
            <a:r>
              <a:rPr lang="zh-CN" altLang="en-US" sz="2400" b="1" dirty="0">
                <a:solidFill>
                  <a:schemeClr val="bg1"/>
                </a:solidFill>
                <a:latin typeface="+mn-ea"/>
              </a:rPr>
              <a:t>。</a:t>
            </a:r>
          </a:p>
        </p:txBody>
      </p:sp>
      <p:sp>
        <p:nvSpPr>
          <p:cNvPr id="29" name="矩形 28"/>
          <p:cNvSpPr/>
          <p:nvPr/>
        </p:nvSpPr>
        <p:spPr>
          <a:xfrm>
            <a:off x="827584" y="1921773"/>
            <a:ext cx="3456384" cy="2615288"/>
          </a:xfrm>
          <a:prstGeom prst="rect">
            <a:avLst/>
          </a:prstGeom>
          <a:solidFill>
            <a:schemeClr val="tx2">
              <a:lumMod val="50000"/>
            </a:schemeClr>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deposit(m):</a:t>
            </a: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begin </a:t>
            </a:r>
            <a:r>
              <a:rPr lang="en-US" altLang="zh-CN" b="1" dirty="0">
                <a:latin typeface="Times New Roman" panose="02020603050405020304" pitchFamily="18" charset="0"/>
                <a:cs typeface="Times New Roman" panose="02020603050405020304" pitchFamily="18" charset="0"/>
              </a:rPr>
              <a:t>local </a:t>
            </a:r>
            <a:r>
              <a:rPr lang="en-US" altLang="zh-CN" b="1" dirty="0" smtClean="0">
                <a:latin typeface="Times New Roman" panose="02020603050405020304" pitchFamily="18" charset="0"/>
                <a:cs typeface="Times New Roman" panose="02020603050405020304" pitchFamily="18" charset="0"/>
              </a:rPr>
              <a:t>x</a:t>
            </a:r>
          </a:p>
          <a:p>
            <a:pPr>
              <a:lnSpc>
                <a:spcPct val="90000"/>
              </a:lnSpc>
              <a:spcBef>
                <a:spcPct val="1000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Ｐ</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fromnum</a:t>
            </a:r>
            <a:r>
              <a:rPr lang="zh-CN" altLang="en-US" b="1" dirty="0">
                <a:latin typeface="Times New Roman" panose="02020603050405020304" pitchFamily="18" charset="0"/>
                <a:cs typeface="Times New Roman" panose="02020603050405020304" pitchFamily="18" charset="0"/>
              </a:rPr>
              <a:t>）</a:t>
            </a:r>
          </a:p>
          <a:p>
            <a:pPr>
              <a:lnSpc>
                <a:spcPct val="90000"/>
              </a:lnSpc>
              <a:spcBef>
                <a:spcPct val="1000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选择</a:t>
            </a:r>
            <a:r>
              <a:rPr lang="zh-CN" altLang="en-US" b="1" dirty="0">
                <a:latin typeface="Times New Roman" panose="02020603050405020304" pitchFamily="18" charset="0"/>
                <a:cs typeface="Times New Roman" panose="02020603050405020304" pitchFamily="18" charset="0"/>
              </a:rPr>
              <a:t>空格</a:t>
            </a:r>
            <a:r>
              <a:rPr lang="en-US" altLang="zh-CN" b="1" dirty="0">
                <a:latin typeface="Times New Roman" panose="02020603050405020304" pitchFamily="18" charset="0"/>
                <a:cs typeface="Times New Roman" panose="02020603050405020304" pitchFamily="18" charset="0"/>
              </a:rPr>
              <a:t>x</a:t>
            </a:r>
          </a:p>
          <a:p>
            <a:pPr>
              <a:lnSpc>
                <a:spcPct val="90000"/>
              </a:lnSpc>
              <a:spcBef>
                <a:spcPct val="10000"/>
              </a:spcBef>
            </a:pPr>
            <a:r>
              <a:rPr lang="zh-CN" altLang="en-US" b="1" dirty="0" smtClean="0">
                <a:latin typeface="Times New Roman" panose="02020603050405020304" pitchFamily="18" charset="0"/>
                <a:cs typeface="Times New Roman" panose="02020603050405020304" pitchFamily="18" charset="0"/>
              </a:rPr>
              <a:t>             将</a:t>
            </a:r>
            <a:r>
              <a:rPr lang="zh-CN" altLang="en-US" b="1" dirty="0">
                <a:latin typeface="Times New Roman" panose="02020603050405020304" pitchFamily="18" charset="0"/>
                <a:cs typeface="Times New Roman" panose="02020603050405020304" pitchFamily="18" charset="0"/>
              </a:rPr>
              <a:t>消息</a:t>
            </a:r>
            <a:r>
              <a:rPr lang="en-US" altLang="zh-CN" b="1" dirty="0">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放入空格</a:t>
            </a:r>
            <a:r>
              <a:rPr lang="en-US" altLang="zh-CN" b="1" dirty="0">
                <a:latin typeface="Times New Roman" panose="02020603050405020304" pitchFamily="18" charset="0"/>
                <a:cs typeface="Times New Roman" panose="02020603050405020304" pitchFamily="18" charset="0"/>
              </a:rPr>
              <a:t>x</a:t>
            </a:r>
            <a:r>
              <a:rPr lang="zh-CN" altLang="en-US" b="1" dirty="0">
                <a:latin typeface="Times New Roman" panose="02020603050405020304" pitchFamily="18" charset="0"/>
                <a:cs typeface="Times New Roman" panose="02020603050405020304" pitchFamily="18" charset="0"/>
              </a:rPr>
              <a:t>中</a:t>
            </a:r>
          </a:p>
          <a:p>
            <a:pPr>
              <a:lnSpc>
                <a:spcPct val="90000"/>
              </a:lnSpc>
              <a:spcBef>
                <a:spcPct val="10000"/>
              </a:spcBef>
            </a:pPr>
            <a:r>
              <a:rPr lang="zh-CN" altLang="en-US" b="1" dirty="0" smtClean="0">
                <a:latin typeface="Times New Roman" panose="02020603050405020304" pitchFamily="18" charset="0"/>
                <a:cs typeface="Times New Roman" panose="02020603050405020304" pitchFamily="18" charset="0"/>
              </a:rPr>
              <a:t>             置</a:t>
            </a:r>
            <a:r>
              <a:rPr lang="zh-CN" altLang="en-US" b="1" dirty="0">
                <a:latin typeface="Times New Roman" panose="02020603050405020304" pitchFamily="18" charset="0"/>
                <a:cs typeface="Times New Roman" panose="02020603050405020304" pitchFamily="18" charset="0"/>
              </a:rPr>
              <a:t>格</a:t>
            </a:r>
            <a:r>
              <a:rPr lang="en-US" altLang="zh-CN" b="1" dirty="0">
                <a:latin typeface="Times New Roman" panose="02020603050405020304" pitchFamily="18" charset="0"/>
                <a:cs typeface="Times New Roman" panose="02020603050405020304" pitchFamily="18" charset="0"/>
              </a:rPr>
              <a:t>x</a:t>
            </a:r>
            <a:r>
              <a:rPr lang="zh-CN" altLang="en-US" b="1" dirty="0">
                <a:latin typeface="Times New Roman" panose="02020603050405020304" pitchFamily="18" charset="0"/>
                <a:cs typeface="Times New Roman" panose="02020603050405020304" pitchFamily="18" charset="0"/>
              </a:rPr>
              <a:t>的标志为满</a:t>
            </a:r>
          </a:p>
          <a:p>
            <a:pPr>
              <a:lnSpc>
                <a:spcPct val="90000"/>
              </a:lnSpc>
              <a:spcBef>
                <a:spcPct val="10000"/>
              </a:spcBef>
            </a:pP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mesnum</a:t>
            </a:r>
            <a:r>
              <a:rPr lang="zh-CN" altLang="en-US" b="1" dirty="0">
                <a:latin typeface="Times New Roman" panose="02020603050405020304" pitchFamily="18" charset="0"/>
                <a:cs typeface="Times New Roman" panose="02020603050405020304" pitchFamily="18" charset="0"/>
              </a:rPr>
              <a:t>）</a:t>
            </a:r>
          </a:p>
          <a:p>
            <a:pPr>
              <a:spcBef>
                <a:spcPct val="0"/>
              </a:spcBef>
            </a:pPr>
            <a:r>
              <a:rPr lang="zh-CN" altLang="en-US" dirty="0" smtClean="0"/>
              <a:t>  </a:t>
            </a:r>
            <a:r>
              <a:rPr lang="en-US" altLang="zh-CN" b="1" dirty="0" smtClean="0">
                <a:latin typeface="Times New Roman" panose="02020603050405020304" pitchFamily="18" charset="0"/>
                <a:cs typeface="Times New Roman" panose="02020603050405020304" pitchFamily="18" charset="0"/>
              </a:rPr>
              <a:t>end</a:t>
            </a:r>
            <a:endParaRPr lang="en-US" altLang="zh-CN" b="1" dirty="0">
              <a:latin typeface="Times New Roman" panose="02020603050405020304" pitchFamily="18" charset="0"/>
              <a:cs typeface="Times New Roman" panose="02020603050405020304" pitchFamily="18" charset="0"/>
            </a:endParaRPr>
          </a:p>
        </p:txBody>
      </p:sp>
      <p:sp>
        <p:nvSpPr>
          <p:cNvPr id="30" name="矩形 29"/>
          <p:cNvSpPr/>
          <p:nvPr/>
        </p:nvSpPr>
        <p:spPr>
          <a:xfrm>
            <a:off x="4716016" y="1921773"/>
            <a:ext cx="3816424" cy="2658054"/>
          </a:xfrm>
          <a:prstGeom prst="rect">
            <a:avLst/>
          </a:prstGeom>
          <a:solidFill>
            <a:srgbClr val="008000"/>
          </a:solidFill>
          <a:ln>
            <a:solidFill>
              <a:schemeClr val="accent3">
                <a:lumMod val="60000"/>
                <a:lumOff val="4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0"/>
              </a:spcBef>
            </a:pPr>
            <a:r>
              <a:rPr lang="en-US" altLang="zh-CN" b="1" dirty="0">
                <a:latin typeface="Times New Roman" panose="02020603050405020304" pitchFamily="18" charset="0"/>
                <a:cs typeface="Times New Roman" panose="02020603050405020304" pitchFamily="18" charset="0"/>
              </a:rPr>
              <a:t>remove(m):</a:t>
            </a:r>
          </a:p>
          <a:p>
            <a:pPr>
              <a:spcBef>
                <a:spcPct val="0"/>
              </a:spcBef>
            </a:pPr>
            <a:r>
              <a:rPr lang="en-US" altLang="zh-CN" b="1" dirty="0" smtClean="0">
                <a:latin typeface="Times New Roman" panose="02020603050405020304" pitchFamily="18" charset="0"/>
                <a:cs typeface="Times New Roman" panose="02020603050405020304" pitchFamily="18" charset="0"/>
              </a:rPr>
              <a:t>      begin </a:t>
            </a:r>
            <a:r>
              <a:rPr lang="en-US" altLang="zh-CN" b="1" dirty="0">
                <a:latin typeface="Times New Roman" panose="02020603050405020304" pitchFamily="18" charset="0"/>
                <a:cs typeface="Times New Roman" panose="02020603050405020304" pitchFamily="18" charset="0"/>
              </a:rPr>
              <a:t>local x</a:t>
            </a: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Ｐ</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mesnum</a:t>
            </a:r>
            <a:r>
              <a:rPr lang="zh-CN" altLang="en-US" b="1" dirty="0">
                <a:latin typeface="Times New Roman" panose="02020603050405020304" pitchFamily="18" charset="0"/>
                <a:cs typeface="Times New Roman" panose="02020603050405020304" pitchFamily="18" charset="0"/>
              </a:rPr>
              <a:t>）</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选择</a:t>
            </a:r>
            <a:r>
              <a:rPr lang="zh-CN" altLang="en-US" b="1" dirty="0">
                <a:latin typeface="Times New Roman" panose="02020603050405020304" pitchFamily="18" charset="0"/>
                <a:cs typeface="Times New Roman" panose="02020603050405020304" pitchFamily="18" charset="0"/>
              </a:rPr>
              <a:t>满格</a:t>
            </a:r>
            <a:r>
              <a:rPr lang="en-US" altLang="zh-CN" b="1" dirty="0">
                <a:latin typeface="Times New Roman" panose="02020603050405020304" pitchFamily="18" charset="0"/>
                <a:cs typeface="Times New Roman" panose="02020603050405020304" pitchFamily="18" charset="0"/>
              </a:rPr>
              <a:t>x</a:t>
            </a:r>
          </a:p>
          <a:p>
            <a:pPr>
              <a:spcBef>
                <a:spcPct val="0"/>
              </a:spcBef>
            </a:pPr>
            <a:r>
              <a:rPr lang="en-US" altLang="zh-CN" b="1" dirty="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把</a:t>
            </a:r>
            <a:r>
              <a:rPr lang="zh-CN" altLang="en-US" b="1" dirty="0">
                <a:latin typeface="Times New Roman" panose="02020603050405020304" pitchFamily="18" charset="0"/>
                <a:cs typeface="Times New Roman" panose="02020603050405020304" pitchFamily="18" charset="0"/>
              </a:rPr>
              <a:t>满格</a:t>
            </a:r>
            <a:r>
              <a:rPr lang="en-US" altLang="zh-CN" b="1" dirty="0">
                <a:latin typeface="Times New Roman" panose="02020603050405020304" pitchFamily="18" charset="0"/>
                <a:cs typeface="Times New Roman" panose="02020603050405020304" pitchFamily="18" charset="0"/>
              </a:rPr>
              <a:t>x</a:t>
            </a:r>
            <a:r>
              <a:rPr lang="zh-CN" altLang="en-US" b="1" dirty="0">
                <a:latin typeface="Times New Roman" panose="02020603050405020304" pitchFamily="18" charset="0"/>
                <a:cs typeface="Times New Roman" panose="02020603050405020304" pitchFamily="18" charset="0"/>
              </a:rPr>
              <a:t>中的消息取出放</a:t>
            </a:r>
            <a:r>
              <a:rPr lang="en-US" altLang="zh-CN" b="1" dirty="0">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中</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置</a:t>
            </a:r>
            <a:r>
              <a:rPr lang="zh-CN" altLang="en-US" b="1" dirty="0">
                <a:latin typeface="Times New Roman" panose="02020603050405020304" pitchFamily="18" charset="0"/>
                <a:cs typeface="Times New Roman" panose="02020603050405020304" pitchFamily="18" charset="0"/>
              </a:rPr>
              <a:t>格</a:t>
            </a:r>
            <a:r>
              <a:rPr lang="en-US" altLang="zh-CN" b="1" dirty="0">
                <a:latin typeface="Times New Roman" panose="02020603050405020304" pitchFamily="18" charset="0"/>
                <a:cs typeface="Times New Roman" panose="02020603050405020304" pitchFamily="18" charset="0"/>
              </a:rPr>
              <a:t>x</a:t>
            </a:r>
            <a:r>
              <a:rPr lang="zh-CN" altLang="en-US" b="1" dirty="0">
                <a:latin typeface="Times New Roman" panose="02020603050405020304" pitchFamily="18" charset="0"/>
                <a:cs typeface="Times New Roman" panose="02020603050405020304" pitchFamily="18" charset="0"/>
              </a:rPr>
              <a:t>标志为空</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Ｖ</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fromnum</a:t>
            </a:r>
            <a:r>
              <a:rPr lang="zh-CN" altLang="en-US" b="1" dirty="0">
                <a:latin typeface="Times New Roman" panose="02020603050405020304" pitchFamily="18" charset="0"/>
                <a:cs typeface="Times New Roman" panose="02020603050405020304" pitchFamily="18" charset="0"/>
              </a:rPr>
              <a:t>）</a:t>
            </a:r>
          </a:p>
          <a:p>
            <a:pPr>
              <a:spcBef>
                <a:spcPct val="0"/>
              </a:spcBef>
            </a:pPr>
            <a:r>
              <a:rPr lang="zh-CN" altLang="en-US" b="1" dirty="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end</a:t>
            </a:r>
            <a:endParaRPr lang="en-US" altLang="zh-CN"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anim calcmode="lin" valueType="num">
                                      <p:cBhvr>
                                        <p:cTn id="20" dur="1000" fill="hold"/>
                                        <p:tgtEl>
                                          <p:spTgt spid="30"/>
                                        </p:tgtEl>
                                        <p:attrNameLst>
                                          <p:attrName>ppt_x</p:attrName>
                                        </p:attrNameLst>
                                      </p:cBhvr>
                                      <p:tavLst>
                                        <p:tav tm="0">
                                          <p:val>
                                            <p:strVal val="#ppt_x"/>
                                          </p:val>
                                        </p:tav>
                                        <p:tav tm="100000">
                                          <p:val>
                                            <p:strVal val="#ppt_x"/>
                                          </p:val>
                                        </p:tav>
                                      </p:tavLst>
                                    </p:anim>
                                    <p:anim calcmode="lin" valueType="num">
                                      <p:cBhvr>
                                        <p:cTn id="2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消息或邮箱机制的实现</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邮箱通信</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563638"/>
            <a:ext cx="7056784" cy="1200329"/>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思考：</a:t>
            </a:r>
            <a:r>
              <a:rPr lang="zh-CN" altLang="en-US" sz="2400" b="1" dirty="0">
                <a:solidFill>
                  <a:schemeClr val="bg1"/>
                </a:solidFill>
                <a:latin typeface="+mn-ea"/>
              </a:rPr>
              <a:t>多个发送进程和多个接收进程共享邮箱的</a:t>
            </a:r>
            <a:r>
              <a:rPr lang="zh-CN" altLang="en-US" sz="2400" b="1" dirty="0" smtClean="0">
                <a:solidFill>
                  <a:schemeClr val="bg1"/>
                </a:solidFill>
                <a:latin typeface="+mn-ea"/>
              </a:rPr>
              <a:t>情况？</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共享存储区</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1314" y="1563638"/>
            <a:ext cx="6941291" cy="224510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共享存储区方式不要求数据移动，相互</a:t>
            </a:r>
            <a:r>
              <a:rPr lang="zh-CN" altLang="en-US" sz="2400" b="1" dirty="0">
                <a:solidFill>
                  <a:schemeClr val="bg1"/>
                </a:solidFill>
                <a:latin typeface="+mn-ea"/>
              </a:rPr>
              <a:t>通信的进程</a:t>
            </a:r>
            <a:r>
              <a:rPr lang="zh-CN" altLang="en-US" sz="2400" b="1" dirty="0">
                <a:solidFill>
                  <a:srgbClr val="FFFF00"/>
                </a:solidFill>
                <a:latin typeface="+mn-ea"/>
              </a:rPr>
              <a:t>共享</a:t>
            </a:r>
            <a:r>
              <a:rPr lang="zh-CN" altLang="en-US" sz="2400" b="1" dirty="0">
                <a:solidFill>
                  <a:schemeClr val="bg1"/>
                </a:solidFill>
                <a:latin typeface="+mn-ea"/>
              </a:rPr>
              <a:t>某些</a:t>
            </a:r>
            <a:r>
              <a:rPr lang="zh-CN" altLang="en-US" sz="2400" b="1" dirty="0">
                <a:solidFill>
                  <a:srgbClr val="FFFF00"/>
                </a:solidFill>
                <a:latin typeface="+mn-ea"/>
              </a:rPr>
              <a:t>数据结构</a:t>
            </a:r>
            <a:r>
              <a:rPr lang="zh-CN" altLang="en-US" sz="2400" b="1" dirty="0">
                <a:solidFill>
                  <a:schemeClr val="bg1"/>
                </a:solidFill>
                <a:latin typeface="+mn-ea"/>
              </a:rPr>
              <a:t>或共享</a:t>
            </a:r>
            <a:r>
              <a:rPr lang="zh-CN" altLang="en-US" sz="2400" b="1" dirty="0">
                <a:solidFill>
                  <a:srgbClr val="FFFF00"/>
                </a:solidFill>
                <a:latin typeface="+mn-ea"/>
              </a:rPr>
              <a:t>存储区</a:t>
            </a:r>
            <a:r>
              <a:rPr lang="zh-CN" altLang="en-US" sz="2400" b="1" dirty="0">
                <a:solidFill>
                  <a:schemeClr val="bg1"/>
                </a:solidFill>
                <a:latin typeface="+mn-ea"/>
              </a:rPr>
              <a:t>，进程之间能够通过它们进行通信</a:t>
            </a:r>
            <a:r>
              <a:rPr lang="zh-CN" altLang="en-US" sz="2400" b="1" dirty="0" smtClean="0">
                <a:solidFill>
                  <a:schemeClr val="bg1"/>
                </a:solidFill>
                <a:latin typeface="+mn-ea"/>
              </a:rPr>
              <a:t>。这个共享数据区是每个互相通信进程的一个</a:t>
            </a:r>
            <a:r>
              <a:rPr lang="zh-CN" altLang="en-US" sz="2400" b="1" dirty="0" smtClean="0">
                <a:solidFill>
                  <a:srgbClr val="FFFF00"/>
                </a:solidFill>
                <a:latin typeface="+mn-ea"/>
              </a:rPr>
              <a:t>组成部分</a:t>
            </a:r>
            <a:r>
              <a:rPr lang="zh-CN" altLang="en-US" sz="2400" b="1" dirty="0" smtClean="0">
                <a:solidFill>
                  <a:schemeClr val="bg1"/>
                </a:solidFill>
                <a:latin typeface="+mn-ea"/>
              </a:rPr>
              <a:t>。</a:t>
            </a:r>
            <a:endParaRPr lang="en-US" altLang="zh-CN"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sp>
        <p:nvSpPr>
          <p:cNvPr id="2" name="矩形 1"/>
          <p:cNvSpPr/>
          <p:nvPr/>
        </p:nvSpPr>
        <p:spPr>
          <a:xfrm>
            <a:off x="741314" y="1281469"/>
            <a:ext cx="6941291" cy="3329758"/>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发送进程和接收进程是利用管道进行通信的，故又称为管道通信。首创于</a:t>
            </a:r>
            <a:r>
              <a:rPr lang="en-US" altLang="zh-CN" sz="2400" b="1" dirty="0">
                <a:solidFill>
                  <a:srgbClr val="FFFF00"/>
                </a:solidFill>
                <a:latin typeface="+mn-ea"/>
              </a:rPr>
              <a:t>Unix</a:t>
            </a:r>
            <a:r>
              <a:rPr lang="zh-CN" altLang="en-US" sz="2400" b="1" dirty="0">
                <a:solidFill>
                  <a:srgbClr val="FFFF00"/>
                </a:solidFill>
                <a:latin typeface="+mn-ea"/>
              </a:rPr>
              <a:t>系统</a:t>
            </a:r>
            <a:r>
              <a:rPr lang="zh-CN" altLang="en-US" sz="2400" b="1" dirty="0">
                <a:solidFill>
                  <a:schemeClr val="bg1"/>
                </a:solidFill>
                <a:latin typeface="+mn-ea"/>
              </a:rPr>
              <a:t>，能传送大量的数据</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rgbClr val="FFFF00"/>
                </a:solidFill>
                <a:latin typeface="+mn-ea"/>
              </a:rPr>
              <a:t>管道</a:t>
            </a:r>
            <a:r>
              <a:rPr lang="zh-CN" altLang="en-US" sz="2400" b="1" dirty="0">
                <a:solidFill>
                  <a:schemeClr val="bg1"/>
                </a:solidFill>
                <a:latin typeface="+mn-ea"/>
              </a:rPr>
              <a:t>是指用于连接一个读进程和一个写进程以实现它们之间通信的</a:t>
            </a:r>
            <a:r>
              <a:rPr lang="zh-CN" altLang="en-US" sz="2400" b="1" dirty="0">
                <a:solidFill>
                  <a:srgbClr val="FFFF00"/>
                </a:solidFill>
                <a:latin typeface="+mn-ea"/>
              </a:rPr>
              <a:t>共享文件</a:t>
            </a:r>
            <a:r>
              <a:rPr lang="zh-CN" altLang="en-US" sz="2400" b="1" dirty="0">
                <a:solidFill>
                  <a:schemeClr val="bg1"/>
                </a:solidFill>
                <a:latin typeface="+mn-ea"/>
              </a:rPr>
              <a:t>，又称为</a:t>
            </a:r>
            <a:r>
              <a:rPr lang="en-US" altLang="zh-CN" sz="2400" b="1" dirty="0">
                <a:solidFill>
                  <a:srgbClr val="FFFF00"/>
                </a:solidFill>
                <a:latin typeface="+mn-ea"/>
              </a:rPr>
              <a:t>pipe</a:t>
            </a:r>
            <a:r>
              <a:rPr lang="zh-CN" altLang="en-US" sz="2400" b="1" dirty="0">
                <a:solidFill>
                  <a:srgbClr val="FFFF00"/>
                </a:solidFill>
                <a:latin typeface="+mn-ea"/>
              </a:rPr>
              <a:t>文件</a:t>
            </a:r>
            <a:r>
              <a:rPr lang="zh-CN" altLang="en-US" sz="2400" b="1" dirty="0">
                <a:solidFill>
                  <a:schemeClr val="bg1"/>
                </a:solidFill>
                <a:latin typeface="+mn-ea"/>
              </a:rPr>
              <a:t>。</a:t>
            </a:r>
          </a:p>
          <a:p>
            <a:pPr indent="-342900">
              <a:lnSpc>
                <a:spcPct val="150000"/>
              </a:lnSpc>
              <a:spcBef>
                <a:spcPct val="0"/>
              </a:spcBef>
              <a:buClr>
                <a:schemeClr val="accent6">
                  <a:lumMod val="40000"/>
                  <a:lumOff val="60000"/>
                </a:schemeClr>
              </a:buClr>
              <a:buFont typeface="Wingdings" panose="05000000000000000000" pitchFamily="2" charset="2"/>
              <a:buChar char="Ø"/>
            </a:pP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sp>
        <p:nvSpPr>
          <p:cNvPr id="2" name="矩形 1"/>
          <p:cNvSpPr/>
          <p:nvPr/>
        </p:nvSpPr>
        <p:spPr>
          <a:xfrm>
            <a:off x="741314" y="1344876"/>
            <a:ext cx="6941291" cy="224510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向管道</a:t>
            </a:r>
            <a:r>
              <a:rPr lang="en-US" altLang="zh-CN" sz="2400" b="1" dirty="0">
                <a:solidFill>
                  <a:schemeClr val="bg1"/>
                </a:solidFill>
                <a:latin typeface="+mn-ea"/>
              </a:rPr>
              <a:t>(</a:t>
            </a:r>
            <a:r>
              <a:rPr lang="zh-CN" altLang="en-US" sz="2400" b="1" dirty="0">
                <a:solidFill>
                  <a:schemeClr val="bg1"/>
                </a:solidFill>
                <a:latin typeface="+mn-ea"/>
              </a:rPr>
              <a:t>共享文件</a:t>
            </a:r>
            <a:r>
              <a:rPr lang="en-US" altLang="zh-CN" sz="2400" b="1" dirty="0">
                <a:solidFill>
                  <a:schemeClr val="bg1"/>
                </a:solidFill>
                <a:latin typeface="+mn-ea"/>
              </a:rPr>
              <a:t>)</a:t>
            </a:r>
            <a:r>
              <a:rPr lang="zh-CN" altLang="en-US" sz="2400" b="1" dirty="0">
                <a:solidFill>
                  <a:schemeClr val="bg1"/>
                </a:solidFill>
                <a:latin typeface="+mn-ea"/>
              </a:rPr>
              <a:t>提供输入的发送进程</a:t>
            </a:r>
            <a:r>
              <a:rPr lang="en-US" altLang="zh-CN" sz="2400" b="1" dirty="0">
                <a:solidFill>
                  <a:schemeClr val="bg1"/>
                </a:solidFill>
                <a:latin typeface="+mn-ea"/>
              </a:rPr>
              <a:t>(</a:t>
            </a:r>
            <a:r>
              <a:rPr lang="zh-CN" altLang="en-US" sz="2400" b="1" dirty="0">
                <a:solidFill>
                  <a:schemeClr val="bg1"/>
                </a:solidFill>
                <a:latin typeface="+mn-ea"/>
              </a:rPr>
              <a:t>即写进程</a:t>
            </a:r>
            <a:r>
              <a:rPr lang="en-US" altLang="zh-CN" sz="2400" b="1" dirty="0">
                <a:solidFill>
                  <a:schemeClr val="bg1"/>
                </a:solidFill>
                <a:latin typeface="+mn-ea"/>
              </a:rPr>
              <a:t>)</a:t>
            </a:r>
            <a:r>
              <a:rPr lang="zh-CN" altLang="en-US" sz="2400" b="1" dirty="0">
                <a:solidFill>
                  <a:schemeClr val="bg1"/>
                </a:solidFill>
                <a:latin typeface="+mn-ea"/>
              </a:rPr>
              <a:t>，以</a:t>
            </a:r>
            <a:r>
              <a:rPr lang="zh-CN" altLang="en-US" sz="2400" b="1" dirty="0">
                <a:solidFill>
                  <a:srgbClr val="FFFF00"/>
                </a:solidFill>
                <a:latin typeface="+mn-ea"/>
              </a:rPr>
              <a:t>字符流形式</a:t>
            </a:r>
            <a:r>
              <a:rPr lang="zh-CN" altLang="en-US" sz="2400" b="1" dirty="0">
                <a:solidFill>
                  <a:schemeClr val="bg1"/>
                </a:solidFill>
                <a:latin typeface="+mn-ea"/>
              </a:rPr>
              <a:t>将大量的数据送入</a:t>
            </a:r>
            <a:r>
              <a:rPr lang="zh-CN" altLang="en-US" sz="2400" b="1" dirty="0" smtClean="0">
                <a:solidFill>
                  <a:schemeClr val="bg1"/>
                </a:solidFill>
                <a:latin typeface="+mn-ea"/>
              </a:rPr>
              <a:t>管道</a:t>
            </a:r>
            <a:r>
              <a:rPr lang="zh-CN" altLang="en-US" sz="2400" b="1" dirty="0">
                <a:solidFill>
                  <a:schemeClr val="bg1"/>
                </a:solidFill>
                <a:latin typeface="+mn-ea"/>
              </a:rPr>
              <a:t>；</a:t>
            </a:r>
            <a:r>
              <a:rPr lang="zh-CN" altLang="en-US" sz="2400" b="1" dirty="0" smtClean="0">
                <a:solidFill>
                  <a:schemeClr val="bg1"/>
                </a:solidFill>
                <a:latin typeface="+mn-ea"/>
              </a:rPr>
              <a:t>而</a:t>
            </a:r>
            <a:r>
              <a:rPr lang="zh-CN" altLang="en-US" sz="2400" b="1" dirty="0">
                <a:solidFill>
                  <a:schemeClr val="bg1"/>
                </a:solidFill>
                <a:latin typeface="+mn-ea"/>
              </a:rPr>
              <a:t>接受管道输出的接收进程</a:t>
            </a:r>
            <a:r>
              <a:rPr lang="en-US" altLang="zh-CN" sz="2400" b="1" dirty="0">
                <a:solidFill>
                  <a:schemeClr val="bg1"/>
                </a:solidFill>
                <a:latin typeface="+mn-ea"/>
              </a:rPr>
              <a:t>(</a:t>
            </a:r>
            <a:r>
              <a:rPr lang="zh-CN" altLang="en-US" sz="2400" b="1" dirty="0">
                <a:solidFill>
                  <a:schemeClr val="bg1"/>
                </a:solidFill>
                <a:latin typeface="+mn-ea"/>
              </a:rPr>
              <a:t>即读进程</a:t>
            </a:r>
            <a:r>
              <a:rPr lang="en-US" altLang="zh-CN" sz="2400" b="1" dirty="0">
                <a:solidFill>
                  <a:schemeClr val="bg1"/>
                </a:solidFill>
                <a:latin typeface="+mn-ea"/>
              </a:rPr>
              <a:t>)</a:t>
            </a:r>
            <a:r>
              <a:rPr lang="zh-CN" altLang="en-US" sz="2400" b="1" dirty="0">
                <a:solidFill>
                  <a:schemeClr val="bg1"/>
                </a:solidFill>
                <a:latin typeface="+mn-ea"/>
              </a:rPr>
              <a:t>，可从管道中接收数据。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sp>
        <p:nvSpPr>
          <p:cNvPr id="2" name="矩形 1"/>
          <p:cNvSpPr/>
          <p:nvPr/>
        </p:nvSpPr>
        <p:spPr>
          <a:xfrm>
            <a:off x="765474" y="1344876"/>
            <a:ext cx="6941291" cy="2862322"/>
          </a:xfrm>
          <a:prstGeom prst="rect">
            <a:avLst/>
          </a:prstGeom>
        </p:spPr>
        <p:txBody>
          <a:bodyPr wrap="square">
            <a:spAutoFit/>
          </a:bodyPr>
          <a:lstStyle/>
          <a:p>
            <a:pPr indent="-285750">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a:solidFill>
                  <a:schemeClr val="bg1"/>
                </a:solidFill>
                <a:latin typeface="+mn-ea"/>
              </a:rPr>
              <a:t>管道(</a:t>
            </a:r>
            <a:r>
              <a:rPr lang="en-US" altLang="zh-CN" sz="2000" b="1" dirty="0">
                <a:solidFill>
                  <a:schemeClr val="bg1"/>
                </a:solidFill>
                <a:latin typeface="+mn-ea"/>
              </a:rPr>
              <a:t>pipe)：</a:t>
            </a:r>
            <a:r>
              <a:rPr lang="zh-CN" altLang="en-US" sz="2000" b="1" dirty="0">
                <a:solidFill>
                  <a:schemeClr val="bg1"/>
                </a:solidFill>
                <a:latin typeface="+mn-ea"/>
              </a:rPr>
              <a:t>是一种</a:t>
            </a:r>
            <a:r>
              <a:rPr lang="zh-CN" altLang="en-US" sz="2000" b="1" dirty="0">
                <a:solidFill>
                  <a:srgbClr val="FFFF00"/>
                </a:solidFill>
                <a:latin typeface="+mn-ea"/>
              </a:rPr>
              <a:t>共享文件模式</a:t>
            </a:r>
            <a:r>
              <a:rPr lang="zh-CN" altLang="en-US" sz="2000" b="1" dirty="0">
                <a:solidFill>
                  <a:schemeClr val="bg1"/>
                </a:solidFill>
                <a:latin typeface="+mn-ea"/>
              </a:rPr>
              <a:t>，基于文件系统，连接于两个进程之间，以</a:t>
            </a:r>
            <a:r>
              <a:rPr lang="zh-CN" altLang="en-US" sz="2000" b="1" dirty="0">
                <a:solidFill>
                  <a:srgbClr val="FFFF00"/>
                </a:solidFill>
                <a:latin typeface="+mn-ea"/>
              </a:rPr>
              <a:t>先进先出</a:t>
            </a:r>
            <a:r>
              <a:rPr lang="zh-CN" altLang="en-US" sz="2000" b="1" dirty="0">
                <a:solidFill>
                  <a:schemeClr val="bg1"/>
                </a:solidFill>
                <a:latin typeface="+mn-ea"/>
              </a:rPr>
              <a:t>的方式实现消息的</a:t>
            </a:r>
            <a:r>
              <a:rPr lang="zh-CN" altLang="en-US" sz="2000" b="1" dirty="0">
                <a:solidFill>
                  <a:srgbClr val="FFFF00"/>
                </a:solidFill>
                <a:latin typeface="+mn-ea"/>
              </a:rPr>
              <a:t>单向</a:t>
            </a:r>
            <a:r>
              <a:rPr lang="zh-CN" altLang="en-US" sz="2000" b="1" dirty="0">
                <a:solidFill>
                  <a:schemeClr val="bg1"/>
                </a:solidFill>
                <a:latin typeface="+mn-ea"/>
              </a:rPr>
              <a:t>传送。</a:t>
            </a:r>
          </a:p>
          <a:p>
            <a:pPr marL="0" lvl="1">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a:solidFill>
                  <a:schemeClr val="bg1"/>
                </a:solidFill>
                <a:latin typeface="+mn-ea"/>
              </a:rPr>
              <a:t>在</a:t>
            </a:r>
            <a:r>
              <a:rPr lang="en-US" altLang="zh-CN" sz="2000" b="1" dirty="0">
                <a:solidFill>
                  <a:schemeClr val="bg1"/>
                </a:solidFill>
                <a:latin typeface="+mn-ea"/>
              </a:rPr>
              <a:t>UNIX</a:t>
            </a:r>
            <a:r>
              <a:rPr lang="zh-CN" altLang="en-US" sz="2000" b="1" dirty="0">
                <a:solidFill>
                  <a:schemeClr val="bg1"/>
                </a:solidFill>
                <a:latin typeface="+mn-ea"/>
              </a:rPr>
              <a:t>系统中，</a:t>
            </a:r>
            <a:r>
              <a:rPr lang="zh-CN" altLang="en-US" sz="2000" b="1" dirty="0">
                <a:solidFill>
                  <a:srgbClr val="FFFF00"/>
                </a:solidFill>
                <a:latin typeface="+mn-ea"/>
              </a:rPr>
              <a:t>管道的创建</a:t>
            </a:r>
            <a:r>
              <a:rPr lang="zh-CN" altLang="en-US" sz="2000" b="1" dirty="0">
                <a:solidFill>
                  <a:schemeClr val="bg1"/>
                </a:solidFill>
                <a:latin typeface="+mn-ea"/>
              </a:rPr>
              <a:t>用函数</a:t>
            </a:r>
            <a:r>
              <a:rPr lang="en-US" altLang="zh-CN" sz="2000" b="1" dirty="0">
                <a:solidFill>
                  <a:schemeClr val="accent6">
                    <a:lumMod val="40000"/>
                    <a:lumOff val="60000"/>
                  </a:schemeClr>
                </a:solidFill>
                <a:latin typeface="+mn-ea"/>
              </a:rPr>
              <a:t>pipe()</a:t>
            </a:r>
            <a:r>
              <a:rPr lang="zh-CN" altLang="en-US" sz="2000" b="1" dirty="0">
                <a:solidFill>
                  <a:schemeClr val="bg1"/>
                </a:solidFill>
                <a:latin typeface="+mn-ea"/>
              </a:rPr>
              <a:t>实现。该函数返回用于读、写操作的文件描述符</a:t>
            </a:r>
            <a:r>
              <a:rPr lang="en-US" altLang="zh-CN" sz="2000" b="1" dirty="0" err="1">
                <a:solidFill>
                  <a:schemeClr val="bg1"/>
                </a:solidFill>
                <a:latin typeface="+mn-ea"/>
              </a:rPr>
              <a:t>fd</a:t>
            </a:r>
            <a:r>
              <a:rPr lang="en-US" altLang="zh-CN" sz="2000" b="1" dirty="0">
                <a:solidFill>
                  <a:schemeClr val="bg1"/>
                </a:solidFill>
                <a:latin typeface="+mn-ea"/>
              </a:rPr>
              <a:t>[0],</a:t>
            </a:r>
            <a:r>
              <a:rPr lang="en-US" altLang="zh-CN" sz="2000" b="1" dirty="0" err="1">
                <a:solidFill>
                  <a:schemeClr val="bg1"/>
                </a:solidFill>
                <a:latin typeface="+mn-ea"/>
              </a:rPr>
              <a:t>fd</a:t>
            </a:r>
            <a:r>
              <a:rPr lang="en-US" altLang="zh-CN" sz="2000" b="1" dirty="0">
                <a:solidFill>
                  <a:schemeClr val="bg1"/>
                </a:solidFill>
                <a:latin typeface="+mn-ea"/>
              </a:rPr>
              <a:t>[1]。</a:t>
            </a:r>
            <a:r>
              <a:rPr lang="zh-CN" altLang="en-US" sz="2000" b="1" dirty="0">
                <a:solidFill>
                  <a:schemeClr val="bg1"/>
                </a:solidFill>
                <a:latin typeface="+mn-ea"/>
              </a:rPr>
              <a:t>读管道时调用</a:t>
            </a:r>
            <a:r>
              <a:rPr lang="en-US" altLang="zh-CN" sz="2000" b="1" dirty="0">
                <a:solidFill>
                  <a:srgbClr val="FFFF00"/>
                </a:solidFill>
                <a:latin typeface="+mn-ea"/>
              </a:rPr>
              <a:t>read()</a:t>
            </a:r>
            <a:r>
              <a:rPr lang="zh-CN" altLang="en-US" sz="2000" b="1" dirty="0">
                <a:solidFill>
                  <a:schemeClr val="bg1"/>
                </a:solidFill>
                <a:latin typeface="+mn-ea"/>
              </a:rPr>
              <a:t>函数，利用参数</a:t>
            </a:r>
            <a:r>
              <a:rPr lang="en-US" altLang="zh-CN" sz="2000" b="1" dirty="0" err="1">
                <a:solidFill>
                  <a:schemeClr val="bg1"/>
                </a:solidFill>
                <a:latin typeface="+mn-ea"/>
              </a:rPr>
              <a:t>fd</a:t>
            </a:r>
            <a:r>
              <a:rPr lang="en-US" altLang="zh-CN" sz="2000" b="1" dirty="0">
                <a:solidFill>
                  <a:schemeClr val="bg1"/>
                </a:solidFill>
                <a:latin typeface="+mn-ea"/>
              </a:rPr>
              <a:t>[0]</a:t>
            </a:r>
            <a:r>
              <a:rPr lang="zh-CN" altLang="en-US" sz="2000" b="1" dirty="0">
                <a:solidFill>
                  <a:schemeClr val="bg1"/>
                </a:solidFill>
                <a:latin typeface="+mn-ea"/>
              </a:rPr>
              <a:t>从管道中读取字节。写管道时调用</a:t>
            </a:r>
            <a:r>
              <a:rPr lang="en-US" altLang="zh-CN" sz="2000" b="1" dirty="0">
                <a:solidFill>
                  <a:srgbClr val="FFFF00"/>
                </a:solidFill>
                <a:latin typeface="+mn-ea"/>
              </a:rPr>
              <a:t>write()</a:t>
            </a:r>
            <a:r>
              <a:rPr lang="zh-CN" altLang="en-US" sz="2000" b="1" dirty="0">
                <a:solidFill>
                  <a:schemeClr val="bg1"/>
                </a:solidFill>
                <a:latin typeface="+mn-ea"/>
              </a:rPr>
              <a:t>函数，利用参数</a:t>
            </a:r>
            <a:r>
              <a:rPr lang="en-US" altLang="zh-CN" sz="2000" b="1" dirty="0" err="1">
                <a:solidFill>
                  <a:schemeClr val="bg1"/>
                </a:solidFill>
                <a:latin typeface="+mn-ea"/>
              </a:rPr>
              <a:t>fd</a:t>
            </a:r>
            <a:r>
              <a:rPr lang="en-US" altLang="zh-CN" sz="2000" b="1" dirty="0">
                <a:solidFill>
                  <a:schemeClr val="bg1"/>
                </a:solidFill>
                <a:latin typeface="+mn-ea"/>
              </a:rPr>
              <a:t>[1]</a:t>
            </a:r>
            <a:r>
              <a:rPr lang="zh-CN" altLang="en-US" sz="2000" b="1" dirty="0">
                <a:solidFill>
                  <a:schemeClr val="bg1"/>
                </a:solidFill>
                <a:latin typeface="+mn-ea"/>
              </a:rPr>
              <a:t>向管道写信息</a:t>
            </a:r>
            <a:r>
              <a:rPr lang="zh-CN" altLang="en-US" sz="2000" b="1" dirty="0" smtClean="0">
                <a:solidFill>
                  <a:schemeClr val="bg1"/>
                </a:solidFill>
                <a:latin typeface="+mn-ea"/>
              </a:rPr>
              <a:t>。</a:t>
            </a:r>
            <a:endParaRPr lang="en-US" altLang="zh-CN" sz="2000" b="1" dirty="0" smtClean="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grpSp>
        <p:nvGrpSpPr>
          <p:cNvPr id="10" name="组合 9"/>
          <p:cNvGrpSpPr/>
          <p:nvPr/>
        </p:nvGrpSpPr>
        <p:grpSpPr>
          <a:xfrm>
            <a:off x="3275856" y="1995686"/>
            <a:ext cx="1656184" cy="1008112"/>
            <a:chOff x="3275856" y="1995686"/>
            <a:chExt cx="1656184" cy="1008112"/>
          </a:xfrm>
        </p:grpSpPr>
        <p:sp>
          <p:nvSpPr>
            <p:cNvPr id="3" name="矩形 2"/>
            <p:cNvSpPr/>
            <p:nvPr/>
          </p:nvSpPr>
          <p:spPr>
            <a:xfrm>
              <a:off x="3275856" y="2427734"/>
              <a:ext cx="1656184" cy="576064"/>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 name="文本框 3"/>
            <p:cNvSpPr txBox="1"/>
            <p:nvPr/>
          </p:nvSpPr>
          <p:spPr>
            <a:xfrm>
              <a:off x="3491880" y="1995686"/>
              <a:ext cx="1224136" cy="369332"/>
            </a:xfrm>
            <a:prstGeom prst="rect">
              <a:avLst/>
            </a:prstGeom>
            <a:noFill/>
          </p:spPr>
          <p:txBody>
            <a:bodyPr wrap="square" rtlCol="0">
              <a:spAutoFit/>
            </a:bodyPr>
            <a:lstStyle/>
            <a:p>
              <a:r>
                <a:rPr lang="en-US" altLang="zh-CN" dirty="0" smtClean="0">
                  <a:solidFill>
                    <a:schemeClr val="bg1"/>
                  </a:solidFill>
                </a:rPr>
                <a:t>pipe[</a:t>
              </a:r>
              <a:r>
                <a:rPr lang="en-US" altLang="zh-CN" dirty="0" err="1" smtClean="0">
                  <a:solidFill>
                    <a:schemeClr val="bg1"/>
                  </a:solidFill>
                </a:rPr>
                <a:t>fd</a:t>
              </a:r>
              <a:r>
                <a:rPr lang="en-US" altLang="zh-CN" dirty="0" smtClean="0">
                  <a:solidFill>
                    <a:schemeClr val="bg1"/>
                  </a:solidFill>
                </a:rPr>
                <a:t>]</a:t>
              </a:r>
              <a:endParaRPr lang="zh-CN" altLang="en-US" dirty="0">
                <a:solidFill>
                  <a:schemeClr val="bg1"/>
                </a:solidFill>
              </a:endParaRPr>
            </a:p>
          </p:txBody>
        </p:sp>
      </p:grpSp>
      <p:grpSp>
        <p:nvGrpSpPr>
          <p:cNvPr id="11" name="组合 10"/>
          <p:cNvGrpSpPr/>
          <p:nvPr/>
        </p:nvGrpSpPr>
        <p:grpSpPr>
          <a:xfrm>
            <a:off x="827584" y="2253714"/>
            <a:ext cx="2448272" cy="923717"/>
            <a:chOff x="827584" y="2253714"/>
            <a:chExt cx="2448272" cy="923717"/>
          </a:xfrm>
        </p:grpSpPr>
        <p:grpSp>
          <p:nvGrpSpPr>
            <p:cNvPr id="8" name="组合 7"/>
            <p:cNvGrpSpPr/>
            <p:nvPr/>
          </p:nvGrpSpPr>
          <p:grpSpPr>
            <a:xfrm>
              <a:off x="827584" y="2254101"/>
              <a:ext cx="2448272" cy="923330"/>
              <a:chOff x="827584" y="2254101"/>
              <a:chExt cx="2448272" cy="923330"/>
            </a:xfrm>
          </p:grpSpPr>
          <p:sp>
            <p:nvSpPr>
              <p:cNvPr id="29" name="文本框 28"/>
              <p:cNvSpPr txBox="1"/>
              <p:nvPr/>
            </p:nvSpPr>
            <p:spPr>
              <a:xfrm>
                <a:off x="827584" y="2254101"/>
                <a:ext cx="360040" cy="923330"/>
              </a:xfrm>
              <a:prstGeom prst="rect">
                <a:avLst/>
              </a:prstGeom>
              <a:noFill/>
            </p:spPr>
            <p:txBody>
              <a:bodyPr wrap="square" rtlCol="0">
                <a:spAutoFit/>
              </a:bodyPr>
              <a:lstStyle/>
              <a:p>
                <a:r>
                  <a:rPr lang="zh-CN" altLang="en-US" dirty="0" smtClean="0">
                    <a:solidFill>
                      <a:schemeClr val="bg1"/>
                    </a:solidFill>
                  </a:rPr>
                  <a:t>写入端</a:t>
                </a:r>
                <a:endParaRPr lang="zh-CN" altLang="en-US" dirty="0">
                  <a:solidFill>
                    <a:schemeClr val="bg1"/>
                  </a:solidFill>
                </a:endParaRPr>
              </a:p>
            </p:txBody>
          </p:sp>
          <p:cxnSp>
            <p:nvCxnSpPr>
              <p:cNvPr id="6" name="直接箭头连接符 5"/>
              <p:cNvCxnSpPr>
                <a:stCxn id="29" idx="3"/>
                <a:endCxn id="3" idx="1"/>
              </p:cNvCxnSpPr>
              <p:nvPr/>
            </p:nvCxnSpPr>
            <p:spPr>
              <a:xfrm>
                <a:off x="1187624" y="2715766"/>
                <a:ext cx="2088232"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grpSp>
        <p:sp>
          <p:nvSpPr>
            <p:cNvPr id="30" name="文本框 29"/>
            <p:cNvSpPr txBox="1"/>
            <p:nvPr/>
          </p:nvSpPr>
          <p:spPr>
            <a:xfrm>
              <a:off x="1259632" y="2253714"/>
              <a:ext cx="1224136" cy="369332"/>
            </a:xfrm>
            <a:prstGeom prst="rect">
              <a:avLst/>
            </a:prstGeom>
            <a:noFill/>
          </p:spPr>
          <p:txBody>
            <a:bodyPr wrap="square" rtlCol="0">
              <a:spAutoFit/>
            </a:bodyPr>
            <a:lstStyle/>
            <a:p>
              <a:r>
                <a:rPr lang="en-US" altLang="zh-CN" dirty="0" err="1" smtClean="0">
                  <a:solidFill>
                    <a:schemeClr val="bg1"/>
                  </a:solidFill>
                </a:rPr>
                <a:t>fd</a:t>
              </a:r>
              <a:r>
                <a:rPr lang="en-US" altLang="zh-CN" dirty="0" smtClean="0">
                  <a:solidFill>
                    <a:schemeClr val="bg1"/>
                  </a:solidFill>
                </a:rPr>
                <a:t>[1]</a:t>
              </a:r>
              <a:endParaRPr lang="zh-CN" altLang="en-US" dirty="0">
                <a:solidFill>
                  <a:schemeClr val="bg1"/>
                </a:solidFill>
              </a:endParaRPr>
            </a:p>
          </p:txBody>
        </p:sp>
      </p:grpSp>
      <p:sp>
        <p:nvSpPr>
          <p:cNvPr id="31" name="文本框 30"/>
          <p:cNvSpPr txBox="1"/>
          <p:nvPr/>
        </p:nvSpPr>
        <p:spPr>
          <a:xfrm>
            <a:off x="1259632" y="2865298"/>
            <a:ext cx="2160240" cy="369332"/>
          </a:xfrm>
          <a:prstGeom prst="rect">
            <a:avLst/>
          </a:prstGeom>
          <a:noFill/>
        </p:spPr>
        <p:txBody>
          <a:bodyPr wrap="square" rtlCol="0">
            <a:spAutoFit/>
          </a:bodyPr>
          <a:lstStyle/>
          <a:p>
            <a:r>
              <a:rPr lang="en-US" altLang="zh-CN" dirty="0" smtClean="0">
                <a:solidFill>
                  <a:schemeClr val="bg1"/>
                </a:solidFill>
              </a:rPr>
              <a:t>write(</a:t>
            </a:r>
            <a:r>
              <a:rPr lang="en-US" altLang="zh-CN" dirty="0" err="1" smtClean="0">
                <a:solidFill>
                  <a:schemeClr val="bg1"/>
                </a:solidFill>
              </a:rPr>
              <a:t>fd</a:t>
            </a:r>
            <a:r>
              <a:rPr lang="en-US" altLang="zh-CN" dirty="0" smtClean="0">
                <a:solidFill>
                  <a:schemeClr val="bg1"/>
                </a:solidFill>
              </a:rPr>
              <a:t>[1],</a:t>
            </a:r>
            <a:r>
              <a:rPr lang="en-US" altLang="zh-CN" dirty="0" err="1" smtClean="0">
                <a:solidFill>
                  <a:schemeClr val="bg1"/>
                </a:solidFill>
              </a:rPr>
              <a:t>buf,size</a:t>
            </a:r>
            <a:r>
              <a:rPr lang="en-US" altLang="zh-CN" dirty="0" smtClean="0">
                <a:solidFill>
                  <a:schemeClr val="bg1"/>
                </a:solidFill>
              </a:rPr>
              <a:t>)</a:t>
            </a:r>
            <a:endParaRPr lang="zh-CN" altLang="en-US" dirty="0">
              <a:solidFill>
                <a:schemeClr val="bg1"/>
              </a:solidFill>
            </a:endParaRPr>
          </a:p>
        </p:txBody>
      </p:sp>
      <p:grpSp>
        <p:nvGrpSpPr>
          <p:cNvPr id="12" name="组合 11"/>
          <p:cNvGrpSpPr/>
          <p:nvPr/>
        </p:nvGrpSpPr>
        <p:grpSpPr>
          <a:xfrm>
            <a:off x="4932040" y="2237442"/>
            <a:ext cx="2448272" cy="923330"/>
            <a:chOff x="4932040" y="2237442"/>
            <a:chExt cx="2448272" cy="923330"/>
          </a:xfrm>
        </p:grpSpPr>
        <p:grpSp>
          <p:nvGrpSpPr>
            <p:cNvPr id="9" name="组合 8"/>
            <p:cNvGrpSpPr/>
            <p:nvPr/>
          </p:nvGrpSpPr>
          <p:grpSpPr>
            <a:xfrm>
              <a:off x="4932040" y="2237442"/>
              <a:ext cx="2448272" cy="923330"/>
              <a:chOff x="4932040" y="2237442"/>
              <a:chExt cx="2448272" cy="923330"/>
            </a:xfrm>
          </p:grpSpPr>
          <p:cxnSp>
            <p:nvCxnSpPr>
              <p:cNvPr id="32" name="直接箭头连接符 31"/>
              <p:cNvCxnSpPr/>
              <p:nvPr/>
            </p:nvCxnSpPr>
            <p:spPr>
              <a:xfrm>
                <a:off x="4932040" y="2715766"/>
                <a:ext cx="2088232"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33" name="文本框 32"/>
              <p:cNvSpPr txBox="1"/>
              <p:nvPr/>
            </p:nvSpPr>
            <p:spPr>
              <a:xfrm>
                <a:off x="7020272" y="2237442"/>
                <a:ext cx="360040" cy="923330"/>
              </a:xfrm>
              <a:prstGeom prst="rect">
                <a:avLst/>
              </a:prstGeom>
              <a:noFill/>
            </p:spPr>
            <p:txBody>
              <a:bodyPr wrap="square" rtlCol="0">
                <a:spAutoFit/>
              </a:bodyPr>
              <a:lstStyle/>
              <a:p>
                <a:r>
                  <a:rPr lang="zh-CN" altLang="en-US" dirty="0" smtClean="0">
                    <a:solidFill>
                      <a:schemeClr val="bg1"/>
                    </a:solidFill>
                  </a:rPr>
                  <a:t>读出端</a:t>
                </a:r>
                <a:endParaRPr lang="zh-CN" altLang="en-US" dirty="0">
                  <a:solidFill>
                    <a:schemeClr val="bg1"/>
                  </a:solidFill>
                </a:endParaRPr>
              </a:p>
            </p:txBody>
          </p:sp>
        </p:grpSp>
        <p:sp>
          <p:nvSpPr>
            <p:cNvPr id="34" name="文本框 33"/>
            <p:cNvSpPr txBox="1"/>
            <p:nvPr/>
          </p:nvSpPr>
          <p:spPr>
            <a:xfrm>
              <a:off x="6336196" y="2258646"/>
              <a:ext cx="648072" cy="369332"/>
            </a:xfrm>
            <a:prstGeom prst="rect">
              <a:avLst/>
            </a:prstGeom>
            <a:noFill/>
          </p:spPr>
          <p:txBody>
            <a:bodyPr wrap="square" rtlCol="0">
              <a:spAutoFit/>
            </a:bodyPr>
            <a:lstStyle/>
            <a:p>
              <a:r>
                <a:rPr lang="en-US" altLang="zh-CN" dirty="0" err="1" smtClean="0">
                  <a:solidFill>
                    <a:schemeClr val="bg1"/>
                  </a:solidFill>
                </a:rPr>
                <a:t>fd</a:t>
              </a:r>
              <a:r>
                <a:rPr lang="en-US" altLang="zh-CN" dirty="0" smtClean="0">
                  <a:solidFill>
                    <a:schemeClr val="bg1"/>
                  </a:solidFill>
                </a:rPr>
                <a:t>[0]</a:t>
              </a:r>
              <a:endParaRPr lang="zh-CN" altLang="en-US" dirty="0">
                <a:solidFill>
                  <a:schemeClr val="bg1"/>
                </a:solidFill>
              </a:endParaRPr>
            </a:p>
          </p:txBody>
        </p:sp>
      </p:grpSp>
      <p:sp>
        <p:nvSpPr>
          <p:cNvPr id="36" name="文本框 35"/>
          <p:cNvSpPr txBox="1"/>
          <p:nvPr/>
        </p:nvSpPr>
        <p:spPr>
          <a:xfrm>
            <a:off x="5040052" y="2808099"/>
            <a:ext cx="2160240" cy="369332"/>
          </a:xfrm>
          <a:prstGeom prst="rect">
            <a:avLst/>
          </a:prstGeom>
          <a:noFill/>
        </p:spPr>
        <p:txBody>
          <a:bodyPr wrap="square" rtlCol="0">
            <a:spAutoFit/>
          </a:bodyPr>
          <a:lstStyle/>
          <a:p>
            <a:r>
              <a:rPr lang="en-US" altLang="zh-CN" dirty="0" smtClean="0">
                <a:solidFill>
                  <a:schemeClr val="bg1"/>
                </a:solidFill>
              </a:rPr>
              <a:t>read(</a:t>
            </a:r>
            <a:r>
              <a:rPr lang="en-US" altLang="zh-CN" dirty="0" err="1" smtClean="0">
                <a:solidFill>
                  <a:schemeClr val="bg1"/>
                </a:solidFill>
              </a:rPr>
              <a:t>fd</a:t>
            </a:r>
            <a:r>
              <a:rPr lang="en-US" altLang="zh-CN" dirty="0" smtClean="0">
                <a:solidFill>
                  <a:schemeClr val="bg1"/>
                </a:solidFill>
              </a:rPr>
              <a:t>[0],</a:t>
            </a:r>
            <a:r>
              <a:rPr lang="en-US" altLang="zh-CN" dirty="0" err="1" smtClean="0">
                <a:solidFill>
                  <a:schemeClr val="bg1"/>
                </a:solidFill>
              </a:rPr>
              <a:t>buf,size</a:t>
            </a:r>
            <a:r>
              <a:rPr lang="en-US" altLang="zh-CN" dirty="0" smtClean="0">
                <a:solidFill>
                  <a:schemeClr val="bg1"/>
                </a:solidFill>
              </a:rPr>
              <a:t>)</a:t>
            </a:r>
            <a:endParaRPr lang="zh-CN" alt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6"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sp>
        <p:nvSpPr>
          <p:cNvPr id="2" name="矩形 1"/>
          <p:cNvSpPr/>
          <p:nvPr/>
        </p:nvSpPr>
        <p:spPr>
          <a:xfrm>
            <a:off x="741314" y="1176668"/>
            <a:ext cx="6941291" cy="835806"/>
          </a:xfrm>
          <a:prstGeom prst="rect">
            <a:avLst/>
          </a:prstGeom>
        </p:spPr>
        <p:txBody>
          <a:bodyPr wrap="square">
            <a:spAutoFit/>
          </a:bodyPr>
          <a:lstStyle/>
          <a:p>
            <a:pPr indent="-285750">
              <a:lnSpc>
                <a:spcPct val="13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rPr>
              <a:t>例</a:t>
            </a:r>
            <a:r>
              <a:rPr lang="en-US" altLang="zh-CN" sz="2000" b="1" dirty="0" smtClean="0">
                <a:solidFill>
                  <a:schemeClr val="bg1"/>
                </a:solidFill>
                <a:latin typeface="+mn-ea"/>
              </a:rPr>
              <a:t>1</a:t>
            </a:r>
            <a:r>
              <a:rPr lang="zh-CN" altLang="en-US" sz="2000" b="1" dirty="0" smtClean="0">
                <a:solidFill>
                  <a:schemeClr val="bg1"/>
                </a:solidFill>
                <a:latin typeface="+mn-ea"/>
              </a:rPr>
              <a:t>： 建立一个管道，同时父进程生成一个子进程，子进程向管道中写入一个字符串，父进程从管道中读出该字符串</a:t>
            </a:r>
            <a:endParaRPr lang="en-US" altLang="zh-CN" sz="2000" b="1" dirty="0" smtClean="0">
              <a:solidFill>
                <a:schemeClr val="bg1"/>
              </a:solidFill>
              <a:latin typeface="+mn-ea"/>
            </a:endParaRPr>
          </a:p>
        </p:txBody>
      </p:sp>
      <p:sp>
        <p:nvSpPr>
          <p:cNvPr id="29" name="矩形 28"/>
          <p:cNvSpPr/>
          <p:nvPr/>
        </p:nvSpPr>
        <p:spPr>
          <a:xfrm>
            <a:off x="741313" y="1946538"/>
            <a:ext cx="3038599" cy="2585323"/>
          </a:xfrm>
          <a:prstGeom prst="rect">
            <a:avLst/>
          </a:prstGeom>
          <a:ln>
            <a:solidFill>
              <a:srgbClr val="FFFF00"/>
            </a:solidFill>
          </a:ln>
        </p:spPr>
        <p:txBody>
          <a:bodyPr wrap="square">
            <a:spAutoFit/>
          </a:bodyPr>
          <a:lstStyle/>
          <a:p>
            <a:pPr>
              <a:lnSpc>
                <a:spcPct val="150000"/>
              </a:lnSpc>
              <a:spcBef>
                <a:spcPct val="0"/>
              </a:spcBef>
              <a:buClr>
                <a:schemeClr val="accent6">
                  <a:lumMod val="40000"/>
                  <a:lumOff val="60000"/>
                </a:schemeClr>
              </a:buClr>
            </a:pPr>
            <a:r>
              <a:rPr lang="en-US" altLang="zh-CN" b="1" dirty="0" smtClean="0">
                <a:solidFill>
                  <a:schemeClr val="bg1"/>
                </a:solidFill>
                <a:latin typeface="+mn-ea"/>
              </a:rPr>
              <a:t>#include&lt;</a:t>
            </a:r>
            <a:r>
              <a:rPr lang="en-US" altLang="zh-CN" b="1" dirty="0" err="1" smtClean="0">
                <a:solidFill>
                  <a:schemeClr val="bg1"/>
                </a:solidFill>
                <a:latin typeface="+mn-ea"/>
              </a:rPr>
              <a:t>stdio.h</a:t>
            </a:r>
            <a:r>
              <a:rPr lang="en-US" altLang="zh-CN" b="1" dirty="0" smtClean="0">
                <a:solidFill>
                  <a:schemeClr val="bg1"/>
                </a:solidFill>
                <a:latin typeface="+mn-ea"/>
              </a:rPr>
              <a:t>&gt;</a:t>
            </a:r>
          </a:p>
          <a:p>
            <a:pPr>
              <a:lnSpc>
                <a:spcPct val="150000"/>
              </a:lnSpc>
              <a:spcBef>
                <a:spcPct val="0"/>
              </a:spcBef>
              <a:buClr>
                <a:schemeClr val="accent6">
                  <a:lumMod val="40000"/>
                  <a:lumOff val="60000"/>
                </a:schemeClr>
              </a:buClr>
            </a:pPr>
            <a:r>
              <a:rPr lang="en-US" altLang="zh-CN" b="1" dirty="0" smtClean="0">
                <a:solidFill>
                  <a:schemeClr val="bg1"/>
                </a:solidFill>
                <a:latin typeface="+mn-ea"/>
              </a:rPr>
              <a:t>main( )</a:t>
            </a:r>
          </a:p>
          <a:p>
            <a:pPr>
              <a:lnSpc>
                <a:spcPct val="150000"/>
              </a:lnSpc>
              <a:spcBef>
                <a:spcPct val="0"/>
              </a:spcBef>
              <a:buClr>
                <a:schemeClr val="accent6">
                  <a:lumMod val="40000"/>
                  <a:lumOff val="60000"/>
                </a:schemeClr>
              </a:buClr>
            </a:pPr>
            <a:r>
              <a:rPr lang="en-US" altLang="zh-CN" b="1" dirty="0" smtClean="0">
                <a:solidFill>
                  <a:schemeClr val="bg1"/>
                </a:solidFill>
                <a:latin typeface="+mn-ea"/>
              </a:rPr>
              <a:t>{  </a:t>
            </a:r>
            <a:r>
              <a:rPr lang="en-US" altLang="zh-CN" b="1" dirty="0" err="1" smtClean="0">
                <a:solidFill>
                  <a:schemeClr val="bg1"/>
                </a:solidFill>
                <a:latin typeface="+mn-ea"/>
              </a:rPr>
              <a:t>int</a:t>
            </a:r>
            <a:r>
              <a:rPr lang="en-US" altLang="zh-CN" b="1" dirty="0" smtClean="0">
                <a:solidFill>
                  <a:schemeClr val="bg1"/>
                </a:solidFill>
                <a:latin typeface="+mn-ea"/>
              </a:rPr>
              <a:t> </a:t>
            </a:r>
            <a:r>
              <a:rPr lang="en-US" altLang="zh-CN" b="1" dirty="0" err="1" smtClean="0">
                <a:solidFill>
                  <a:schemeClr val="bg1"/>
                </a:solidFill>
                <a:latin typeface="+mn-ea"/>
              </a:rPr>
              <a:t>x,fd</a:t>
            </a:r>
            <a:r>
              <a:rPr lang="en-US" altLang="zh-CN" b="1" dirty="0" smtClean="0">
                <a:solidFill>
                  <a:schemeClr val="bg1"/>
                </a:solidFill>
                <a:latin typeface="+mn-ea"/>
              </a:rPr>
              <a:t>[2];</a:t>
            </a:r>
          </a:p>
          <a:p>
            <a:pPr>
              <a:lnSpc>
                <a:spcPct val="150000"/>
              </a:lnSpc>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char </a:t>
            </a:r>
            <a:r>
              <a:rPr lang="en-US" altLang="zh-CN" b="1" dirty="0" err="1" smtClean="0">
                <a:solidFill>
                  <a:schemeClr val="bg1"/>
                </a:solidFill>
                <a:latin typeface="+mn-ea"/>
              </a:rPr>
              <a:t>buf</a:t>
            </a:r>
            <a:r>
              <a:rPr lang="en-US" altLang="zh-CN" b="1" dirty="0" smtClean="0">
                <a:solidFill>
                  <a:schemeClr val="bg1"/>
                </a:solidFill>
                <a:latin typeface="+mn-ea"/>
              </a:rPr>
              <a:t>[20],s[30];</a:t>
            </a:r>
          </a:p>
          <a:p>
            <a:pPr>
              <a:lnSpc>
                <a:spcPct val="150000"/>
              </a:lnSpc>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pipe(</a:t>
            </a:r>
            <a:r>
              <a:rPr lang="en-US" altLang="zh-CN" b="1" dirty="0" err="1" smtClean="0">
                <a:solidFill>
                  <a:schemeClr val="bg1"/>
                </a:solidFill>
                <a:latin typeface="+mn-ea"/>
              </a:rPr>
              <a:t>fd</a:t>
            </a:r>
            <a:r>
              <a:rPr lang="en-US" altLang="zh-CN" b="1" dirty="0" smtClean="0">
                <a:solidFill>
                  <a:schemeClr val="bg1"/>
                </a:solidFill>
                <a:latin typeface="+mn-ea"/>
              </a:rPr>
              <a:t>);</a:t>
            </a:r>
          </a:p>
          <a:p>
            <a:pPr>
              <a:lnSpc>
                <a:spcPct val="150000"/>
              </a:lnSpc>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while((x=fork())==-1);</a:t>
            </a:r>
          </a:p>
        </p:txBody>
      </p:sp>
      <p:sp>
        <p:nvSpPr>
          <p:cNvPr id="30" name="矩形 29"/>
          <p:cNvSpPr/>
          <p:nvPr/>
        </p:nvSpPr>
        <p:spPr>
          <a:xfrm>
            <a:off x="3880812" y="1946538"/>
            <a:ext cx="3801793" cy="2585323"/>
          </a:xfrm>
          <a:prstGeom prst="rect">
            <a:avLst/>
          </a:prstGeom>
          <a:ln>
            <a:solidFill>
              <a:srgbClr val="FFFF00"/>
            </a:solidFill>
          </a:ln>
        </p:spPr>
        <p:txBody>
          <a:bodyPr wrap="square">
            <a:spAutoFit/>
          </a:bodyPr>
          <a:lstStyle/>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if (x=0)</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 </a:t>
            </a:r>
            <a:r>
              <a:rPr lang="en-US" altLang="zh-CN" b="1" dirty="0" err="1" smtClean="0">
                <a:solidFill>
                  <a:schemeClr val="bg1"/>
                </a:solidFill>
                <a:latin typeface="+mn-ea"/>
              </a:rPr>
              <a:t>sprintf</a:t>
            </a:r>
            <a:r>
              <a:rPr lang="en-US" altLang="zh-CN" b="1" dirty="0" smtClean="0">
                <a:solidFill>
                  <a:schemeClr val="bg1"/>
                </a:solidFill>
                <a:latin typeface="+mn-ea"/>
              </a:rPr>
              <a:t>(</a:t>
            </a:r>
            <a:r>
              <a:rPr lang="en-US" altLang="zh-CN" b="1" dirty="0" err="1" smtClean="0">
                <a:solidFill>
                  <a:schemeClr val="bg1"/>
                </a:solidFill>
                <a:latin typeface="+mn-ea"/>
              </a:rPr>
              <a:t>buf</a:t>
            </a:r>
            <a:r>
              <a:rPr lang="en-US" altLang="zh-CN" b="1" dirty="0" smtClean="0">
                <a:solidFill>
                  <a:schemeClr val="bg1"/>
                </a:solidFill>
                <a:latin typeface="+mn-ea"/>
              </a:rPr>
              <a:t>,</a:t>
            </a:r>
            <a:r>
              <a:rPr lang="en-US" altLang="zh-CN" b="1" dirty="0">
                <a:solidFill>
                  <a:schemeClr val="bg1"/>
                </a:solidFill>
                <a:latin typeface="+mn-ea"/>
              </a:rPr>
              <a:t> </a:t>
            </a:r>
            <a:r>
              <a:rPr lang="en-US" altLang="zh-CN" b="1" dirty="0" smtClean="0">
                <a:solidFill>
                  <a:schemeClr val="bg1"/>
                </a:solidFill>
                <a:latin typeface="+mn-ea"/>
              </a:rPr>
              <a:t>“EXAMPLE\n”);</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write(</a:t>
            </a:r>
            <a:r>
              <a:rPr lang="en-US" altLang="zh-CN" b="1" dirty="0" err="1" smtClean="0">
                <a:solidFill>
                  <a:schemeClr val="bg1"/>
                </a:solidFill>
                <a:latin typeface="+mn-ea"/>
              </a:rPr>
              <a:t>fd</a:t>
            </a:r>
            <a:r>
              <a:rPr lang="en-US" altLang="zh-CN" b="1" dirty="0" smtClean="0">
                <a:solidFill>
                  <a:schemeClr val="bg1"/>
                </a:solidFill>
                <a:latin typeface="+mn-ea"/>
              </a:rPr>
              <a:t>[1],buf,30);</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exit(0);   }</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else</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 wait(0);</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read(</a:t>
            </a:r>
            <a:r>
              <a:rPr lang="en-US" altLang="zh-CN" b="1" dirty="0" err="1" smtClean="0">
                <a:solidFill>
                  <a:schemeClr val="bg1"/>
                </a:solidFill>
                <a:latin typeface="+mn-ea"/>
              </a:rPr>
              <a:t>fd</a:t>
            </a:r>
            <a:r>
              <a:rPr lang="en-US" altLang="zh-CN" b="1" dirty="0" smtClean="0">
                <a:solidFill>
                  <a:schemeClr val="bg1"/>
                </a:solidFill>
                <a:latin typeface="+mn-ea"/>
              </a:rPr>
              <a:t>[0],s,30);</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     </a:t>
            </a:r>
            <a:r>
              <a:rPr lang="en-US" altLang="zh-CN" b="1" dirty="0" err="1" smtClean="0">
                <a:solidFill>
                  <a:schemeClr val="bg1"/>
                </a:solidFill>
                <a:latin typeface="+mn-ea"/>
              </a:rPr>
              <a:t>printf</a:t>
            </a:r>
            <a:r>
              <a:rPr lang="en-US" altLang="zh-CN" b="1" dirty="0" smtClean="0">
                <a:solidFill>
                  <a:schemeClr val="bg1"/>
                </a:solidFill>
                <a:latin typeface="+mn-ea"/>
              </a:rPr>
              <a:t>(“%</a:t>
            </a:r>
            <a:r>
              <a:rPr lang="en-US" altLang="zh-CN" b="1" dirty="0" err="1" smtClean="0">
                <a:solidFill>
                  <a:schemeClr val="bg1"/>
                </a:solidFill>
                <a:latin typeface="+mn-ea"/>
              </a:rPr>
              <a:t>s”,s</a:t>
            </a:r>
            <a:r>
              <a:rPr lang="en-US" altLang="zh-CN" b="1" dirty="0" smtClean="0">
                <a:solidFill>
                  <a:schemeClr val="bg1"/>
                </a:solidFill>
                <a:latin typeface="+mn-ea"/>
              </a:rPr>
              <a:t>); }</a:t>
            </a:r>
          </a:p>
          <a:p>
            <a:pPr>
              <a:spcBef>
                <a:spcPct val="0"/>
              </a:spcBef>
              <a:buClr>
                <a:schemeClr val="accent6">
                  <a:lumMod val="40000"/>
                  <a:lumOff val="60000"/>
                </a:schemeClr>
              </a:buClr>
            </a:pPr>
            <a:r>
              <a:rPr lang="en-US" altLang="zh-CN" b="1" dirty="0">
                <a:solidFill>
                  <a:schemeClr val="bg1"/>
                </a:solidFill>
                <a:latin typeface="+mn-ea"/>
              </a:rPr>
              <a:t> </a:t>
            </a:r>
            <a:r>
              <a:rPr lang="en-US" altLang="zh-CN" b="1" dirty="0" smtClean="0">
                <a:solidFill>
                  <a:schemeClr val="bg1"/>
                </a:solidFill>
                <a:latin typeface="+mn-ea"/>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sp>
        <p:nvSpPr>
          <p:cNvPr id="2" name="矩形 1"/>
          <p:cNvSpPr/>
          <p:nvPr/>
        </p:nvSpPr>
        <p:spPr>
          <a:xfrm>
            <a:off x="683568" y="1281469"/>
            <a:ext cx="7215061" cy="1477328"/>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rPr>
              <a:t>例</a:t>
            </a:r>
            <a:r>
              <a:rPr lang="en-US" altLang="zh-CN" sz="2000" b="1" dirty="0" smtClean="0">
                <a:solidFill>
                  <a:schemeClr val="bg1"/>
                </a:solidFill>
                <a:latin typeface="+mn-ea"/>
              </a:rPr>
              <a:t>2</a:t>
            </a:r>
            <a:r>
              <a:rPr lang="zh-CN" altLang="en-US" sz="2000" b="1" dirty="0" smtClean="0">
                <a:solidFill>
                  <a:schemeClr val="bg1"/>
                </a:solidFill>
                <a:latin typeface="+mn-ea"/>
              </a:rPr>
              <a:t>：建立一个管道。同时</a:t>
            </a:r>
            <a:r>
              <a:rPr lang="zh-CN" altLang="en-US" sz="2000" b="1" dirty="0">
                <a:solidFill>
                  <a:schemeClr val="bg1"/>
                </a:solidFill>
                <a:latin typeface="+mn-ea"/>
              </a:rPr>
              <a:t>父</a:t>
            </a:r>
            <a:r>
              <a:rPr lang="zh-CN" altLang="en-US" sz="2000" b="1" dirty="0" smtClean="0">
                <a:solidFill>
                  <a:schemeClr val="bg1"/>
                </a:solidFill>
                <a:latin typeface="+mn-ea"/>
              </a:rPr>
              <a:t>进程生成子进程</a:t>
            </a:r>
            <a:r>
              <a:rPr lang="en-US" altLang="zh-CN" sz="2000" b="1" dirty="0" smtClean="0">
                <a:solidFill>
                  <a:schemeClr val="bg1"/>
                </a:solidFill>
                <a:latin typeface="+mn-ea"/>
              </a:rPr>
              <a:t>P1</a:t>
            </a:r>
            <a:r>
              <a:rPr lang="zh-CN" altLang="en-US" sz="2000" b="1" dirty="0" smtClean="0">
                <a:solidFill>
                  <a:schemeClr val="bg1"/>
                </a:solidFill>
                <a:latin typeface="+mn-ea"/>
              </a:rPr>
              <a:t>和</a:t>
            </a:r>
            <a:r>
              <a:rPr lang="en-US" altLang="zh-CN" sz="2000" b="1" dirty="0" smtClean="0">
                <a:solidFill>
                  <a:schemeClr val="bg1"/>
                </a:solidFill>
                <a:latin typeface="+mn-ea"/>
              </a:rPr>
              <a:t>P2</a:t>
            </a:r>
            <a:r>
              <a:rPr lang="zh-CN" altLang="en-US" sz="2000" b="1" dirty="0" smtClean="0">
                <a:solidFill>
                  <a:schemeClr val="bg1"/>
                </a:solidFill>
                <a:latin typeface="+mn-ea"/>
              </a:rPr>
              <a:t>，这两个子进程分别向</a:t>
            </a:r>
            <a:r>
              <a:rPr lang="zh-CN" altLang="en-US" sz="2000" b="1" dirty="0">
                <a:solidFill>
                  <a:schemeClr val="bg1"/>
                </a:solidFill>
                <a:latin typeface="+mn-ea"/>
              </a:rPr>
              <a:t>管道中</a:t>
            </a:r>
            <a:r>
              <a:rPr lang="zh-CN" altLang="en-US" sz="2000" b="1" dirty="0" smtClean="0">
                <a:solidFill>
                  <a:schemeClr val="bg1"/>
                </a:solidFill>
                <a:latin typeface="+mn-ea"/>
              </a:rPr>
              <a:t>写入各自的字符串</a:t>
            </a:r>
            <a:r>
              <a:rPr lang="zh-CN" altLang="en-US" sz="2000" b="1" dirty="0">
                <a:solidFill>
                  <a:schemeClr val="bg1"/>
                </a:solidFill>
                <a:latin typeface="+mn-ea"/>
              </a:rPr>
              <a:t>，父进程从管道中</a:t>
            </a:r>
            <a:r>
              <a:rPr lang="zh-CN" altLang="en-US" sz="2000" b="1" dirty="0" smtClean="0">
                <a:solidFill>
                  <a:schemeClr val="bg1"/>
                </a:solidFill>
                <a:latin typeface="+mn-ea"/>
              </a:rPr>
              <a:t>读出它们。</a:t>
            </a:r>
            <a:endParaRPr lang="zh-CN" altLang="en-US" sz="2000" b="1" dirty="0">
              <a:solidFill>
                <a:schemeClr val="bg1"/>
              </a:solidFill>
              <a:latin typeface="+mn-ea"/>
            </a:endParaRPr>
          </a:p>
        </p:txBody>
      </p:sp>
      <p:grpSp>
        <p:nvGrpSpPr>
          <p:cNvPr id="29" name="组合 28"/>
          <p:cNvGrpSpPr/>
          <p:nvPr/>
        </p:nvGrpSpPr>
        <p:grpSpPr>
          <a:xfrm>
            <a:off x="3772782" y="2643758"/>
            <a:ext cx="1656184" cy="1008112"/>
            <a:chOff x="3275856" y="1995686"/>
            <a:chExt cx="1656184" cy="1008112"/>
          </a:xfrm>
        </p:grpSpPr>
        <p:sp>
          <p:nvSpPr>
            <p:cNvPr id="30" name="矩形 29"/>
            <p:cNvSpPr/>
            <p:nvPr/>
          </p:nvSpPr>
          <p:spPr>
            <a:xfrm>
              <a:off x="3275856" y="2427734"/>
              <a:ext cx="1656184" cy="576064"/>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1" name="文本框 30"/>
            <p:cNvSpPr txBox="1"/>
            <p:nvPr/>
          </p:nvSpPr>
          <p:spPr>
            <a:xfrm>
              <a:off x="3491880" y="1995686"/>
              <a:ext cx="1224136" cy="369332"/>
            </a:xfrm>
            <a:prstGeom prst="rect">
              <a:avLst/>
            </a:prstGeom>
            <a:noFill/>
          </p:spPr>
          <p:txBody>
            <a:bodyPr wrap="square" rtlCol="0">
              <a:spAutoFit/>
            </a:bodyPr>
            <a:lstStyle/>
            <a:p>
              <a:r>
                <a:rPr lang="en-US" altLang="zh-CN" dirty="0" smtClean="0">
                  <a:solidFill>
                    <a:schemeClr val="bg1"/>
                  </a:solidFill>
                </a:rPr>
                <a:t>pipe[</a:t>
              </a:r>
              <a:r>
                <a:rPr lang="en-US" altLang="zh-CN" dirty="0" err="1" smtClean="0">
                  <a:solidFill>
                    <a:schemeClr val="bg1"/>
                  </a:solidFill>
                </a:rPr>
                <a:t>fd</a:t>
              </a:r>
              <a:r>
                <a:rPr lang="en-US" altLang="zh-CN" dirty="0" smtClean="0">
                  <a:solidFill>
                    <a:schemeClr val="bg1"/>
                  </a:solidFill>
                </a:rPr>
                <a:t>]</a:t>
              </a:r>
              <a:endParaRPr lang="zh-CN" altLang="en-US" dirty="0">
                <a:solidFill>
                  <a:schemeClr val="bg1"/>
                </a:solidFill>
              </a:endParaRPr>
            </a:p>
          </p:txBody>
        </p:sp>
      </p:grpSp>
      <p:grpSp>
        <p:nvGrpSpPr>
          <p:cNvPr id="38" name="组合 37"/>
          <p:cNvGrpSpPr/>
          <p:nvPr/>
        </p:nvGrpSpPr>
        <p:grpSpPr>
          <a:xfrm>
            <a:off x="5428966" y="2875267"/>
            <a:ext cx="1519298" cy="923330"/>
            <a:chOff x="4932040" y="2227195"/>
            <a:chExt cx="1519298" cy="923330"/>
          </a:xfrm>
        </p:grpSpPr>
        <p:grpSp>
          <p:nvGrpSpPr>
            <p:cNvPr id="39" name="组合 38"/>
            <p:cNvGrpSpPr/>
            <p:nvPr/>
          </p:nvGrpSpPr>
          <p:grpSpPr>
            <a:xfrm>
              <a:off x="4932040" y="2227195"/>
              <a:ext cx="1519298" cy="923330"/>
              <a:chOff x="4932040" y="2227195"/>
              <a:chExt cx="1519298" cy="923330"/>
            </a:xfrm>
          </p:grpSpPr>
          <p:cxnSp>
            <p:nvCxnSpPr>
              <p:cNvPr id="41" name="直接箭头连接符 40"/>
              <p:cNvCxnSpPr/>
              <p:nvPr/>
            </p:nvCxnSpPr>
            <p:spPr>
              <a:xfrm>
                <a:off x="4932040" y="2715766"/>
                <a:ext cx="1152128"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2" name="文本框 41"/>
              <p:cNvSpPr txBox="1"/>
              <p:nvPr/>
            </p:nvSpPr>
            <p:spPr>
              <a:xfrm>
                <a:off x="6091298" y="2227195"/>
                <a:ext cx="360040" cy="923330"/>
              </a:xfrm>
              <a:prstGeom prst="rect">
                <a:avLst/>
              </a:prstGeom>
              <a:noFill/>
            </p:spPr>
            <p:txBody>
              <a:bodyPr wrap="square" rtlCol="0">
                <a:spAutoFit/>
              </a:bodyPr>
              <a:lstStyle/>
              <a:p>
                <a:r>
                  <a:rPr lang="zh-CN" altLang="en-US" dirty="0" smtClean="0">
                    <a:solidFill>
                      <a:schemeClr val="bg1"/>
                    </a:solidFill>
                  </a:rPr>
                  <a:t>父进程</a:t>
                </a:r>
                <a:endParaRPr lang="zh-CN" altLang="en-US" dirty="0">
                  <a:solidFill>
                    <a:schemeClr val="bg1"/>
                  </a:solidFill>
                </a:endParaRPr>
              </a:p>
            </p:txBody>
          </p:sp>
        </p:grpSp>
        <p:sp>
          <p:nvSpPr>
            <p:cNvPr id="40" name="文本框 39"/>
            <p:cNvSpPr txBox="1"/>
            <p:nvPr/>
          </p:nvSpPr>
          <p:spPr>
            <a:xfrm>
              <a:off x="5231472" y="2319528"/>
              <a:ext cx="648072" cy="369332"/>
            </a:xfrm>
            <a:prstGeom prst="rect">
              <a:avLst/>
            </a:prstGeom>
            <a:noFill/>
          </p:spPr>
          <p:txBody>
            <a:bodyPr wrap="square" rtlCol="0">
              <a:spAutoFit/>
            </a:bodyPr>
            <a:lstStyle/>
            <a:p>
              <a:r>
                <a:rPr lang="en-US" altLang="zh-CN" dirty="0" err="1" smtClean="0">
                  <a:solidFill>
                    <a:schemeClr val="bg1"/>
                  </a:solidFill>
                </a:rPr>
                <a:t>fd</a:t>
              </a:r>
              <a:r>
                <a:rPr lang="en-US" altLang="zh-CN" dirty="0" smtClean="0">
                  <a:solidFill>
                    <a:schemeClr val="bg1"/>
                  </a:solidFill>
                </a:rPr>
                <a:t>[0]</a:t>
              </a:r>
              <a:endParaRPr lang="zh-CN" altLang="en-US" dirty="0">
                <a:solidFill>
                  <a:schemeClr val="bg1"/>
                </a:solidFill>
              </a:endParaRPr>
            </a:p>
          </p:txBody>
        </p:sp>
      </p:grpSp>
      <p:grpSp>
        <p:nvGrpSpPr>
          <p:cNvPr id="10" name="组合 9"/>
          <p:cNvGrpSpPr/>
          <p:nvPr/>
        </p:nvGrpSpPr>
        <p:grpSpPr>
          <a:xfrm>
            <a:off x="1430660" y="2721783"/>
            <a:ext cx="2340430" cy="1284109"/>
            <a:chOff x="1079442" y="2737847"/>
            <a:chExt cx="2340430" cy="1284109"/>
          </a:xfrm>
        </p:grpSpPr>
        <p:grpSp>
          <p:nvGrpSpPr>
            <p:cNvPr id="32" name="组合 31"/>
            <p:cNvGrpSpPr/>
            <p:nvPr/>
          </p:nvGrpSpPr>
          <p:grpSpPr>
            <a:xfrm>
              <a:off x="1079442" y="2737847"/>
              <a:ext cx="2340430" cy="1284109"/>
              <a:chOff x="1045710" y="2754506"/>
              <a:chExt cx="2340430" cy="1284109"/>
            </a:xfrm>
          </p:grpSpPr>
          <p:grpSp>
            <p:nvGrpSpPr>
              <p:cNvPr id="33" name="组合 32"/>
              <p:cNvGrpSpPr/>
              <p:nvPr/>
            </p:nvGrpSpPr>
            <p:grpSpPr>
              <a:xfrm>
                <a:off x="1045710" y="2754506"/>
                <a:ext cx="2336901" cy="1284109"/>
                <a:chOff x="1045710" y="2754506"/>
                <a:chExt cx="2336901" cy="1284109"/>
              </a:xfrm>
            </p:grpSpPr>
            <p:sp>
              <p:nvSpPr>
                <p:cNvPr id="35" name="文本框 34"/>
                <p:cNvSpPr txBox="1"/>
                <p:nvPr/>
              </p:nvSpPr>
              <p:spPr>
                <a:xfrm>
                  <a:off x="1096293" y="2754506"/>
                  <a:ext cx="425258" cy="369332"/>
                </a:xfrm>
                <a:prstGeom prst="rect">
                  <a:avLst/>
                </a:prstGeom>
                <a:noFill/>
              </p:spPr>
              <p:txBody>
                <a:bodyPr wrap="square" rtlCol="0">
                  <a:spAutoFit/>
                </a:bodyPr>
                <a:lstStyle/>
                <a:p>
                  <a:r>
                    <a:rPr lang="en-US" altLang="zh-CN" dirty="0" smtClean="0">
                      <a:solidFill>
                        <a:schemeClr val="bg1"/>
                      </a:solidFill>
                    </a:rPr>
                    <a:t>P1</a:t>
                  </a:r>
                  <a:endParaRPr lang="zh-CN" altLang="en-US" dirty="0">
                    <a:solidFill>
                      <a:schemeClr val="bg1"/>
                    </a:solidFill>
                  </a:endParaRPr>
                </a:p>
              </p:txBody>
            </p:sp>
            <p:cxnSp>
              <p:nvCxnSpPr>
                <p:cNvPr id="36" name="直接箭头连接符 35"/>
                <p:cNvCxnSpPr/>
                <p:nvPr/>
              </p:nvCxnSpPr>
              <p:spPr>
                <a:xfrm>
                  <a:off x="1942451" y="3385215"/>
                  <a:ext cx="1440160" cy="1840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7" name="文本框 46"/>
                <p:cNvSpPr txBox="1"/>
                <p:nvPr/>
              </p:nvSpPr>
              <p:spPr>
                <a:xfrm>
                  <a:off x="1045710" y="3669283"/>
                  <a:ext cx="425258" cy="369332"/>
                </a:xfrm>
                <a:prstGeom prst="rect">
                  <a:avLst/>
                </a:prstGeom>
                <a:noFill/>
              </p:spPr>
              <p:txBody>
                <a:bodyPr wrap="square" rtlCol="0">
                  <a:spAutoFit/>
                </a:bodyPr>
                <a:lstStyle/>
                <a:p>
                  <a:r>
                    <a:rPr lang="en-US" altLang="zh-CN" dirty="0" smtClean="0">
                      <a:solidFill>
                        <a:schemeClr val="bg1"/>
                      </a:solidFill>
                    </a:rPr>
                    <a:t>P2</a:t>
                  </a:r>
                  <a:endParaRPr lang="zh-CN" altLang="en-US" dirty="0">
                    <a:solidFill>
                      <a:schemeClr val="bg1"/>
                    </a:solidFill>
                  </a:endParaRPr>
                </a:p>
              </p:txBody>
            </p:sp>
          </p:grpSp>
          <p:sp>
            <p:nvSpPr>
              <p:cNvPr id="34" name="文本框 33"/>
              <p:cNvSpPr txBox="1"/>
              <p:nvPr/>
            </p:nvSpPr>
            <p:spPr>
              <a:xfrm>
                <a:off x="2162004" y="2992765"/>
                <a:ext cx="1224136" cy="369332"/>
              </a:xfrm>
              <a:prstGeom prst="rect">
                <a:avLst/>
              </a:prstGeom>
              <a:noFill/>
            </p:spPr>
            <p:txBody>
              <a:bodyPr wrap="square" rtlCol="0">
                <a:spAutoFit/>
              </a:bodyPr>
              <a:lstStyle/>
              <a:p>
                <a:r>
                  <a:rPr lang="en-US" altLang="zh-CN" dirty="0" err="1" smtClean="0">
                    <a:solidFill>
                      <a:schemeClr val="bg1"/>
                    </a:solidFill>
                  </a:rPr>
                  <a:t>fd</a:t>
                </a:r>
                <a:r>
                  <a:rPr lang="en-US" altLang="zh-CN" dirty="0" smtClean="0">
                    <a:solidFill>
                      <a:schemeClr val="bg1"/>
                    </a:solidFill>
                  </a:rPr>
                  <a:t>[1]</a:t>
                </a:r>
                <a:endParaRPr lang="zh-CN" altLang="en-US" dirty="0">
                  <a:solidFill>
                    <a:schemeClr val="bg1"/>
                  </a:solidFill>
                </a:endParaRPr>
              </a:p>
            </p:txBody>
          </p:sp>
        </p:grpSp>
        <p:cxnSp>
          <p:nvCxnSpPr>
            <p:cNvPr id="7" name="直接连接符 6"/>
            <p:cNvCxnSpPr/>
            <p:nvPr/>
          </p:nvCxnSpPr>
          <p:spPr>
            <a:xfrm>
              <a:off x="1555284" y="2862554"/>
              <a:ext cx="432048"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9" name="直接连接符 8"/>
            <p:cNvCxnSpPr/>
            <p:nvPr/>
          </p:nvCxnSpPr>
          <p:spPr>
            <a:xfrm>
              <a:off x="1979712" y="2875267"/>
              <a:ext cx="0" cy="992627"/>
            </a:xfrm>
            <a:prstGeom prst="line">
              <a:avLst/>
            </a:prstGeom>
          </p:spPr>
          <p:style>
            <a:lnRef idx="2">
              <a:schemeClr val="accent6"/>
            </a:lnRef>
            <a:fillRef idx="0">
              <a:schemeClr val="accent6"/>
            </a:fillRef>
            <a:effectRef idx="1">
              <a:schemeClr val="accent6"/>
            </a:effectRef>
            <a:fontRef idx="minor">
              <a:schemeClr val="tx1"/>
            </a:fontRef>
          </p:style>
        </p:cxnSp>
        <p:cxnSp>
          <p:nvCxnSpPr>
            <p:cNvPr id="46" name="直接连接符 45"/>
            <p:cNvCxnSpPr/>
            <p:nvPr/>
          </p:nvCxnSpPr>
          <p:spPr>
            <a:xfrm>
              <a:off x="1566372" y="3867894"/>
              <a:ext cx="432048" cy="0"/>
            </a:xfrm>
            <a:prstGeom prst="line">
              <a:avLst/>
            </a:prstGeom>
          </p:spPr>
          <p:style>
            <a:lnRef idx="2">
              <a:schemeClr val="accent6"/>
            </a:lnRef>
            <a:fillRef idx="0">
              <a:schemeClr val="accent6"/>
            </a:fillRef>
            <a:effectRef idx="1">
              <a:schemeClr val="accent6"/>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sp>
        <p:nvSpPr>
          <p:cNvPr id="2" name="矩形 1"/>
          <p:cNvSpPr/>
          <p:nvPr/>
        </p:nvSpPr>
        <p:spPr>
          <a:xfrm>
            <a:off x="611560" y="939400"/>
            <a:ext cx="7215061" cy="378565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a:solidFill>
                  <a:schemeClr val="bg1"/>
                </a:solidFill>
                <a:latin typeface="+mn-ea"/>
              </a:rPr>
              <a:t>为了协调双方的通信，需具备如下三能力</a:t>
            </a:r>
            <a:r>
              <a:rPr lang="en-US" altLang="zh-CN" sz="2000" b="1" dirty="0">
                <a:solidFill>
                  <a:schemeClr val="bg1"/>
                </a:solidFill>
                <a:latin typeface="+mn-ea"/>
              </a:rPr>
              <a:t>:</a:t>
            </a:r>
          </a:p>
          <a:p>
            <a:pPr>
              <a:lnSpc>
                <a:spcPct val="150000"/>
              </a:lnSpc>
              <a:spcBef>
                <a:spcPct val="0"/>
              </a:spcBef>
              <a:buClr>
                <a:schemeClr val="accent6">
                  <a:lumMod val="40000"/>
                  <a:lumOff val="60000"/>
                </a:schemeClr>
              </a:buClr>
            </a:pPr>
            <a:r>
              <a:rPr lang="en-US" altLang="zh-CN" sz="2000" b="1" dirty="0">
                <a:solidFill>
                  <a:schemeClr val="bg1"/>
                </a:solidFill>
                <a:latin typeface="+mn-ea"/>
              </a:rPr>
              <a:t> </a:t>
            </a:r>
            <a:r>
              <a:rPr lang="en-US" altLang="zh-CN" sz="2000" b="1" dirty="0" smtClean="0">
                <a:solidFill>
                  <a:schemeClr val="bg1"/>
                </a:solidFill>
                <a:latin typeface="+mn-ea"/>
              </a:rPr>
              <a:t> (</a:t>
            </a:r>
            <a:r>
              <a:rPr lang="en-US" altLang="zh-CN" sz="2000" b="1" dirty="0">
                <a:solidFill>
                  <a:schemeClr val="bg1"/>
                </a:solidFill>
                <a:latin typeface="+mn-ea"/>
              </a:rPr>
              <a:t>1)</a:t>
            </a:r>
            <a:r>
              <a:rPr lang="zh-CN" altLang="en-US" sz="2000" b="1" dirty="0">
                <a:solidFill>
                  <a:srgbClr val="FFFF00"/>
                </a:solidFill>
                <a:latin typeface="+mn-ea"/>
              </a:rPr>
              <a:t>互斥</a:t>
            </a:r>
            <a:r>
              <a:rPr lang="zh-CN" altLang="en-US" sz="2000" b="1" dirty="0">
                <a:solidFill>
                  <a:schemeClr val="bg1"/>
                </a:solidFill>
                <a:latin typeface="+mn-ea"/>
              </a:rPr>
              <a:t>。当一个进程正在对</a:t>
            </a:r>
            <a:r>
              <a:rPr lang="en-US" altLang="zh-CN" sz="2000" b="1" dirty="0">
                <a:solidFill>
                  <a:schemeClr val="bg1"/>
                </a:solidFill>
                <a:latin typeface="+mn-ea"/>
              </a:rPr>
              <a:t>pipe</a:t>
            </a:r>
            <a:r>
              <a:rPr lang="zh-CN" altLang="en-US" sz="2000" b="1" dirty="0" smtClean="0">
                <a:solidFill>
                  <a:schemeClr val="bg1"/>
                </a:solidFill>
                <a:latin typeface="+mn-ea"/>
              </a:rPr>
              <a:t>进行写</a:t>
            </a:r>
            <a:r>
              <a:rPr lang="zh-CN" altLang="en-US" sz="2000" b="1" dirty="0">
                <a:solidFill>
                  <a:schemeClr val="bg1"/>
                </a:solidFill>
                <a:latin typeface="+mn-ea"/>
              </a:rPr>
              <a:t>操作时，另一进程必须等待</a:t>
            </a:r>
            <a:r>
              <a:rPr lang="en-US" altLang="zh-CN" sz="2000" b="1" dirty="0" smtClean="0">
                <a:solidFill>
                  <a:schemeClr val="bg1"/>
                </a:solidFill>
                <a:latin typeface="+mn-ea"/>
              </a:rPr>
              <a:t>;</a:t>
            </a:r>
          </a:p>
          <a:p>
            <a:pPr>
              <a:lnSpc>
                <a:spcPct val="150000"/>
              </a:lnSpc>
              <a:spcBef>
                <a:spcPct val="0"/>
              </a:spcBef>
              <a:buClr>
                <a:schemeClr val="accent6">
                  <a:lumMod val="40000"/>
                  <a:lumOff val="60000"/>
                </a:schemeClr>
              </a:buClr>
            </a:pPr>
            <a:r>
              <a:rPr lang="en-US" altLang="zh-CN" sz="2000" b="1" dirty="0" smtClean="0">
                <a:solidFill>
                  <a:schemeClr val="bg1"/>
                </a:solidFill>
                <a:latin typeface="+mn-ea"/>
              </a:rPr>
              <a:t>  (</a:t>
            </a:r>
            <a:r>
              <a:rPr lang="en-US" altLang="zh-CN" sz="2000" b="1" dirty="0">
                <a:solidFill>
                  <a:schemeClr val="bg1"/>
                </a:solidFill>
                <a:latin typeface="+mn-ea"/>
              </a:rPr>
              <a:t>2)</a:t>
            </a:r>
            <a:r>
              <a:rPr lang="zh-CN" altLang="en-US" sz="2000" b="1" dirty="0">
                <a:solidFill>
                  <a:srgbClr val="FFFF00"/>
                </a:solidFill>
                <a:latin typeface="+mn-ea"/>
              </a:rPr>
              <a:t>同步</a:t>
            </a:r>
            <a:r>
              <a:rPr lang="zh-CN" altLang="en-US" sz="2000" b="1" dirty="0">
                <a:solidFill>
                  <a:schemeClr val="bg1"/>
                </a:solidFill>
                <a:latin typeface="+mn-ea"/>
              </a:rPr>
              <a:t>。当写</a:t>
            </a:r>
            <a:r>
              <a:rPr lang="en-US" altLang="zh-CN" sz="2000" b="1" dirty="0">
                <a:solidFill>
                  <a:schemeClr val="bg1"/>
                </a:solidFill>
                <a:latin typeface="+mn-ea"/>
              </a:rPr>
              <a:t>(</a:t>
            </a:r>
            <a:r>
              <a:rPr lang="zh-CN" altLang="en-US" sz="2000" b="1" dirty="0">
                <a:solidFill>
                  <a:schemeClr val="bg1"/>
                </a:solidFill>
                <a:latin typeface="+mn-ea"/>
              </a:rPr>
              <a:t>输入</a:t>
            </a:r>
            <a:r>
              <a:rPr lang="en-US" altLang="zh-CN" sz="2000" b="1" dirty="0">
                <a:solidFill>
                  <a:schemeClr val="bg1"/>
                </a:solidFill>
                <a:latin typeface="+mn-ea"/>
              </a:rPr>
              <a:t>)</a:t>
            </a:r>
            <a:r>
              <a:rPr lang="zh-CN" altLang="en-US" sz="2000" b="1" dirty="0">
                <a:solidFill>
                  <a:schemeClr val="bg1"/>
                </a:solidFill>
                <a:latin typeface="+mn-ea"/>
              </a:rPr>
              <a:t>进程把一定数量数据写入</a:t>
            </a:r>
            <a:r>
              <a:rPr lang="en-US" altLang="zh-CN" sz="2000" b="1" dirty="0">
                <a:solidFill>
                  <a:schemeClr val="bg1"/>
                </a:solidFill>
                <a:latin typeface="+mn-ea"/>
              </a:rPr>
              <a:t>pipe</a:t>
            </a:r>
            <a:r>
              <a:rPr lang="zh-CN" altLang="en-US" sz="2000" b="1" dirty="0">
                <a:solidFill>
                  <a:schemeClr val="bg1"/>
                </a:solidFill>
                <a:latin typeface="+mn-ea"/>
              </a:rPr>
              <a:t>后，便去睡眠等待，直到读</a:t>
            </a:r>
            <a:r>
              <a:rPr lang="en-US" altLang="zh-CN" sz="2000" b="1" dirty="0">
                <a:solidFill>
                  <a:schemeClr val="bg1"/>
                </a:solidFill>
                <a:latin typeface="+mn-ea"/>
              </a:rPr>
              <a:t>(</a:t>
            </a:r>
            <a:r>
              <a:rPr lang="zh-CN" altLang="en-US" sz="2000" b="1" dirty="0">
                <a:solidFill>
                  <a:schemeClr val="bg1"/>
                </a:solidFill>
                <a:latin typeface="+mn-ea"/>
              </a:rPr>
              <a:t>输出</a:t>
            </a:r>
            <a:r>
              <a:rPr lang="en-US" altLang="zh-CN" sz="2000" b="1" dirty="0">
                <a:solidFill>
                  <a:schemeClr val="bg1"/>
                </a:solidFill>
                <a:latin typeface="+mn-ea"/>
              </a:rPr>
              <a:t>)</a:t>
            </a:r>
            <a:r>
              <a:rPr lang="zh-CN" altLang="en-US" sz="2000" b="1" dirty="0">
                <a:solidFill>
                  <a:schemeClr val="bg1"/>
                </a:solidFill>
                <a:latin typeface="+mn-ea"/>
              </a:rPr>
              <a:t>进程取走数据后，再把它唤醒。当读进程读一空</a:t>
            </a:r>
            <a:r>
              <a:rPr lang="en-US" altLang="zh-CN" sz="2000" b="1" dirty="0">
                <a:solidFill>
                  <a:schemeClr val="bg1"/>
                </a:solidFill>
                <a:latin typeface="+mn-ea"/>
              </a:rPr>
              <a:t>pipe</a:t>
            </a:r>
            <a:r>
              <a:rPr lang="zh-CN" altLang="en-US" sz="2000" b="1" dirty="0">
                <a:solidFill>
                  <a:schemeClr val="bg1"/>
                </a:solidFill>
                <a:latin typeface="+mn-ea"/>
              </a:rPr>
              <a:t>时，也应睡眠等待，直至写进程将数据写入管道后，才将它唤醒</a:t>
            </a:r>
            <a:r>
              <a:rPr lang="zh-CN" altLang="en-US" sz="2000" b="1" dirty="0" smtClean="0">
                <a:solidFill>
                  <a:schemeClr val="bg1"/>
                </a:solidFill>
                <a:latin typeface="+mn-ea"/>
              </a:rPr>
              <a:t>。 </a:t>
            </a:r>
            <a:endParaRPr lang="en-US" altLang="zh-CN" sz="2000" b="1" dirty="0" smtClean="0">
              <a:solidFill>
                <a:schemeClr val="bg1"/>
              </a:solidFill>
              <a:latin typeface="+mn-ea"/>
            </a:endParaRPr>
          </a:p>
          <a:p>
            <a:pPr>
              <a:lnSpc>
                <a:spcPct val="150000"/>
              </a:lnSpc>
              <a:spcBef>
                <a:spcPct val="0"/>
              </a:spcBef>
              <a:buClr>
                <a:schemeClr val="accent6">
                  <a:lumMod val="40000"/>
                  <a:lumOff val="60000"/>
                </a:schemeClr>
              </a:buClr>
            </a:pPr>
            <a:r>
              <a:rPr lang="en-US" altLang="zh-CN" sz="2000" b="1" dirty="0" smtClean="0">
                <a:solidFill>
                  <a:schemeClr val="bg1"/>
                </a:solidFill>
                <a:latin typeface="+mn-ea"/>
              </a:rPr>
              <a:t>(3)</a:t>
            </a:r>
            <a:r>
              <a:rPr lang="zh-CN" altLang="en-US" sz="2000" b="1" dirty="0" smtClean="0">
                <a:solidFill>
                  <a:srgbClr val="FFFF00"/>
                </a:solidFill>
                <a:latin typeface="+mn-ea"/>
              </a:rPr>
              <a:t>确定</a:t>
            </a:r>
            <a:r>
              <a:rPr lang="zh-CN" altLang="en-US" sz="2000" b="1" dirty="0">
                <a:solidFill>
                  <a:srgbClr val="FFFF00"/>
                </a:solidFill>
                <a:latin typeface="+mn-ea"/>
              </a:rPr>
              <a:t>对方是否存在</a:t>
            </a:r>
            <a:r>
              <a:rPr lang="zh-CN" altLang="en-US" sz="2000" b="1" dirty="0">
                <a:solidFill>
                  <a:schemeClr val="bg1"/>
                </a:solidFill>
                <a:latin typeface="+mn-ea"/>
              </a:rPr>
              <a:t>。只有确定对方已存在时，方能进行通信。</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7" y="142858"/>
            <a:ext cx="732544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进程的通信方式的实例</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管道通信</a:t>
            </a:r>
          </a:p>
        </p:txBody>
      </p:sp>
      <p:sp>
        <p:nvSpPr>
          <p:cNvPr id="2" name="矩形 1"/>
          <p:cNvSpPr/>
          <p:nvPr/>
        </p:nvSpPr>
        <p:spPr>
          <a:xfrm>
            <a:off x="774850" y="1635646"/>
            <a:ext cx="6941291" cy="1754326"/>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思考：如果想实现信息的双向传递怎么办？</a:t>
            </a: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定义</a:t>
            </a:r>
            <a:r>
              <a:rPr lang="zh-CN" altLang="en-US" sz="2400" b="1" dirty="0">
                <a:solidFill>
                  <a:schemeClr val="bg1"/>
                </a:solidFill>
                <a:latin typeface="+mn-ea"/>
              </a:rPr>
              <a:t>两个管道</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43648" y="571711"/>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进程的概念及描述</a:t>
              </a:r>
              <a:endParaRPr lang="en-US" altLang="zh-CN"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进程状态及其转换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进程控制、互斥、同步与通信</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3</a:t>
              </a:r>
            </a:p>
          </p:txBody>
        </p:sp>
      </p:grpSp>
      <p:grpSp>
        <p:nvGrpSpPr>
          <p:cNvPr id="27" name="Group 61"/>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死锁问题               </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4</a:t>
              </a:r>
            </a:p>
          </p:txBody>
        </p:sp>
      </p:grpSp>
      <p:grpSp>
        <p:nvGrpSpPr>
          <p:cNvPr id="32" name="Group 51"/>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线程的概念、分类与执行</a:t>
              </a:r>
              <a:endParaRPr lang="en-US" altLang="zh-CN"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2"/>
                                        </p:tgtEl>
                                      </p:cBhvr>
                                      <p:by x="150000" y="150000"/>
                                    </p:animScale>
                                  </p:childTnLst>
                                </p:cTn>
                              </p:par>
                              <p:par>
                                <p:cTn id="7" presetID="64" presetClass="path" presetSubtype="0" accel="50000" decel="50000" fill="hold" nodeType="withEffect">
                                  <p:stCondLst>
                                    <p:cond delay="0"/>
                                  </p:stCondLst>
                                  <p:childTnLst>
                                    <p:animMotion origin="layout" path="M 1.11111E-6 -1.23457E-6 L 0.00017 -0.32099 " pathEditMode="relative" rAng="0" ptsTypes="AA">
                                      <p:cBhvr>
                                        <p:cTn id="8" dur="2000" fill="hold"/>
                                        <p:tgtEl>
                                          <p:spTgt spid="32"/>
                                        </p:tgtEl>
                                        <p:attrNameLst>
                                          <p:attrName>ppt_x</p:attrName>
                                          <p:attrName>ppt_y</p:attrName>
                                        </p:attrNameLst>
                                      </p:cBhvr>
                                      <p:rCtr x="0" y="-16049"/>
                                    </p:animMotion>
                                  </p:childTnLst>
                                </p:cTn>
                              </p:par>
                              <p:par>
                                <p:cTn id="9" presetID="10" presetClass="exit" presetSubtype="0" fill="hold" nodeType="withEffect">
                                  <p:stCondLst>
                                    <p:cond delay="0"/>
                                  </p:stCondLst>
                                  <p:childTnLst>
                                    <p:animEffect transition="out" filter="fade">
                                      <p:cBhvr>
                                        <p:cTn id="10" dur="2000"/>
                                        <p:tgtEl>
                                          <p:spTgt spid="27"/>
                                        </p:tgtEl>
                                      </p:cBhvr>
                                    </p:animEffect>
                                    <p:set>
                                      <p:cBhvr>
                                        <p:cTn id="11" dur="1" fill="hold">
                                          <p:stCondLst>
                                            <p:cond delay="1999"/>
                                          </p:stCondLst>
                                        </p:cTn>
                                        <p:tgtEl>
                                          <p:spTgt spid="27"/>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11"/>
                                        </p:tgtEl>
                                      </p:cBhvr>
                                    </p:animEffect>
                                    <p:set>
                                      <p:cBhvr>
                                        <p:cTn id="14" dur="1" fill="hold">
                                          <p:stCondLst>
                                            <p:cond delay="1999"/>
                                          </p:stCondLst>
                                        </p:cTn>
                                        <p:tgtEl>
                                          <p:spTgt spid="11"/>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6"/>
                                        </p:tgtEl>
                                      </p:cBhvr>
                                    </p:animEffect>
                                    <p:set>
                                      <p:cBhvr>
                                        <p:cTn id="17" dur="1" fill="hold">
                                          <p:stCondLst>
                                            <p:cond delay="1999"/>
                                          </p:stCondLst>
                                        </p:cTn>
                                        <p:tgtEl>
                                          <p:spTgt spid="16"/>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22"/>
                                        </p:tgtEl>
                                      </p:cBhvr>
                                    </p:animEffect>
                                    <p:set>
                                      <p:cBhvr>
                                        <p:cTn id="20" dur="1" fill="hold">
                                          <p:stCondLst>
                                            <p:cond delay="19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563638"/>
            <a:ext cx="7056784" cy="2308324"/>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创建一个进程要花费较大的系统开销和占用较多的资源。例如，至少要消费一个</a:t>
            </a:r>
            <a:r>
              <a:rPr lang="en-US" altLang="zh-CN" sz="2400" b="1" dirty="0" smtClean="0">
                <a:solidFill>
                  <a:schemeClr val="bg1"/>
                </a:solidFill>
                <a:latin typeface="+mn-ea"/>
              </a:rPr>
              <a:t>PCB</a:t>
            </a:r>
            <a:r>
              <a:rPr lang="zh-CN" altLang="en-US" sz="2400" b="1" dirty="0" smtClean="0">
                <a:solidFill>
                  <a:schemeClr val="bg1"/>
                </a:solidFill>
                <a:latin typeface="+mn-ea"/>
              </a:rPr>
              <a:t>结构。如果一个进程要创建的子进程过多，则使用的</a:t>
            </a:r>
            <a:r>
              <a:rPr lang="en-US" altLang="zh-CN" sz="2400" b="1" dirty="0" smtClean="0">
                <a:solidFill>
                  <a:schemeClr val="bg1"/>
                </a:solidFill>
                <a:latin typeface="+mn-ea"/>
              </a:rPr>
              <a:t>PCB</a:t>
            </a:r>
            <a:r>
              <a:rPr lang="zh-CN" altLang="en-US" sz="2400" b="1" dirty="0" smtClean="0">
                <a:solidFill>
                  <a:schemeClr val="bg1"/>
                </a:solidFill>
                <a:latin typeface="+mn-ea"/>
              </a:rPr>
              <a:t>结构和其他系统资源就越多。  </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544567" y="142858"/>
            <a:ext cx="8188935" cy="46887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254076"/>
            <a:ext cx="7056784" cy="3323987"/>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rPr>
              <a:t>例如：一个</a:t>
            </a:r>
            <a:r>
              <a:rPr lang="en-US" altLang="zh-CN" sz="2000" b="1" dirty="0" smtClean="0">
                <a:solidFill>
                  <a:schemeClr val="bg1"/>
                </a:solidFill>
                <a:latin typeface="+mn-ea"/>
              </a:rPr>
              <a:t>Web</a:t>
            </a:r>
            <a:r>
              <a:rPr lang="zh-CN" altLang="en-US" sz="2000" b="1" dirty="0" smtClean="0">
                <a:solidFill>
                  <a:schemeClr val="bg1"/>
                </a:solidFill>
                <a:latin typeface="+mn-ea"/>
              </a:rPr>
              <a:t>服务器可以同时接收来自不同用户的网页访问请求。对于这种具有不确定用户和随机访问的</a:t>
            </a:r>
            <a:r>
              <a:rPr lang="en-US" altLang="zh-CN" sz="2000" b="1" dirty="0" smtClean="0">
                <a:solidFill>
                  <a:schemeClr val="bg1"/>
                </a:solidFill>
                <a:latin typeface="+mn-ea"/>
              </a:rPr>
              <a:t>Web</a:t>
            </a:r>
            <a:r>
              <a:rPr lang="zh-CN" altLang="en-US" sz="2000" b="1" dirty="0" smtClean="0">
                <a:solidFill>
                  <a:schemeClr val="bg1"/>
                </a:solidFill>
                <a:latin typeface="+mn-ea"/>
              </a:rPr>
              <a:t>服务器而言，用进程来管理用户访问请求的方法会较大地</a:t>
            </a:r>
            <a:r>
              <a:rPr lang="zh-CN" altLang="en-US" sz="2000" b="1" dirty="0" smtClean="0">
                <a:solidFill>
                  <a:srgbClr val="FFFF00"/>
                </a:solidFill>
                <a:latin typeface="+mn-ea"/>
              </a:rPr>
              <a:t>限制开发访问服务器的用户数</a:t>
            </a:r>
            <a:r>
              <a:rPr lang="zh-CN" altLang="en-US" sz="2000" b="1" dirty="0" smtClean="0">
                <a:solidFill>
                  <a:schemeClr val="bg1"/>
                </a:solidFill>
                <a:latin typeface="+mn-ea"/>
              </a:rPr>
              <a:t>。</a:t>
            </a:r>
            <a:endParaRPr lang="en-US" altLang="zh-CN" sz="20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rPr>
              <a:t>另一方面，当不同的用户请求访问</a:t>
            </a:r>
            <a:r>
              <a:rPr lang="en-US" altLang="zh-CN" sz="2000" b="1" dirty="0" smtClean="0">
                <a:solidFill>
                  <a:schemeClr val="bg1"/>
                </a:solidFill>
                <a:latin typeface="+mn-ea"/>
              </a:rPr>
              <a:t>Web</a:t>
            </a:r>
            <a:r>
              <a:rPr lang="zh-CN" altLang="en-US" sz="2000" b="1" dirty="0" smtClean="0">
                <a:solidFill>
                  <a:schemeClr val="bg1"/>
                </a:solidFill>
                <a:latin typeface="+mn-ea"/>
              </a:rPr>
              <a:t>服务器时，不同的用户子进程将被用来完成访问请求处理。这些不同的用户进程的执行涉及</a:t>
            </a:r>
            <a:r>
              <a:rPr lang="zh-CN" altLang="en-US" sz="2000" b="1" dirty="0" smtClean="0">
                <a:solidFill>
                  <a:srgbClr val="FFFF00"/>
                </a:solidFill>
                <a:latin typeface="+mn-ea"/>
              </a:rPr>
              <a:t>进程上下文的切换</a:t>
            </a:r>
            <a:r>
              <a:rPr lang="zh-CN" altLang="en-US" sz="2000" b="1" dirty="0" smtClean="0">
                <a:solidFill>
                  <a:schemeClr val="bg1"/>
                </a:solidFill>
                <a:latin typeface="+mn-ea"/>
              </a:rPr>
              <a:t>，这是一个复杂的过程。</a:t>
            </a:r>
            <a:endParaRPr lang="zh-CN" altLang="en-US" sz="20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491630"/>
            <a:ext cx="6696744" cy="193899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rPr>
              <a:t>进程的创建和切换过程越多，系统的开销就越大，从而服务器可以处理和支持的用户访问请求就会越少。</a:t>
            </a:r>
            <a:endParaRPr lang="en-US" altLang="zh-CN" sz="20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rPr>
              <a:t>如何减少进程创建和切换所带来的系统开销，是服务器操作系统的关键问题之一。</a:t>
            </a:r>
            <a:endParaRPr lang="en-US" altLang="zh-CN" sz="2000" b="1" dirty="0" smtClean="0">
              <a:solidFill>
                <a:schemeClr val="bg1"/>
              </a:solidFill>
              <a:latin typeface="+mn-ea"/>
            </a:endParaRPr>
          </a:p>
        </p:txBody>
      </p:sp>
      <p:pic>
        <p:nvPicPr>
          <p:cNvPr id="29" name="图片 28"/>
          <p:cNvPicPr>
            <a:picLocks noChangeAspect="1"/>
          </p:cNvPicPr>
          <p:nvPr/>
        </p:nvPicPr>
        <p:blipFill>
          <a:blip r:embed="rId3"/>
          <a:stretch>
            <a:fillRect/>
          </a:stretch>
        </p:blipFill>
        <p:spPr>
          <a:xfrm>
            <a:off x="357156" y="907506"/>
            <a:ext cx="7966801" cy="39863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84776" cy="263149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200" b="1" dirty="0" smtClean="0">
                <a:solidFill>
                  <a:schemeClr val="bg1"/>
                </a:solidFill>
                <a:latin typeface="+mn-ea"/>
              </a:rPr>
              <a:t>线程是进程的一部分，被称为</a:t>
            </a:r>
            <a:r>
              <a:rPr lang="zh-CN" altLang="en-US" sz="2200" b="1" dirty="0" smtClean="0">
                <a:solidFill>
                  <a:srgbClr val="FFFF00"/>
                </a:solidFill>
                <a:latin typeface="+mn-ea"/>
              </a:rPr>
              <a:t>轻权进程</a:t>
            </a:r>
            <a:r>
              <a:rPr lang="zh-CN" altLang="en-US" sz="2200" b="1" dirty="0" smtClean="0">
                <a:solidFill>
                  <a:schemeClr val="bg1"/>
                </a:solidFill>
                <a:latin typeface="+mn-ea"/>
              </a:rPr>
              <a:t>或</a:t>
            </a:r>
            <a:r>
              <a:rPr lang="zh-CN" altLang="en-US" sz="2200" b="1" dirty="0" smtClean="0">
                <a:solidFill>
                  <a:srgbClr val="FFFF00"/>
                </a:solidFill>
                <a:latin typeface="+mn-ea"/>
              </a:rPr>
              <a:t>轻量级进程</a:t>
            </a:r>
            <a:r>
              <a:rPr lang="zh-CN" altLang="en-US" sz="2200" b="1" dirty="0" smtClean="0">
                <a:solidFill>
                  <a:schemeClr val="bg1"/>
                </a:solidFill>
                <a:latin typeface="+mn-ea"/>
              </a:rPr>
              <a:t>。</a:t>
            </a:r>
            <a:endParaRPr lang="en-US" altLang="zh-CN" sz="22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200" b="1" dirty="0">
                <a:solidFill>
                  <a:schemeClr val="bg1"/>
                </a:solidFill>
                <a:latin typeface="+mn-ea"/>
              </a:rPr>
              <a:t>一</a:t>
            </a:r>
            <a:r>
              <a:rPr lang="zh-CN" altLang="en-US" sz="2200" b="1" dirty="0" smtClean="0">
                <a:solidFill>
                  <a:schemeClr val="bg1"/>
                </a:solidFill>
                <a:latin typeface="+mn-ea"/>
              </a:rPr>
              <a:t>个没有线程的进程可以被看作是</a:t>
            </a:r>
            <a:r>
              <a:rPr lang="zh-CN" altLang="en-US" sz="2200" b="1" dirty="0" smtClean="0">
                <a:solidFill>
                  <a:srgbClr val="FFFF00"/>
                </a:solidFill>
                <a:latin typeface="+mn-ea"/>
              </a:rPr>
              <a:t>单线程</a:t>
            </a:r>
            <a:r>
              <a:rPr lang="zh-CN" altLang="en-US" sz="2200" b="1" dirty="0" smtClean="0">
                <a:solidFill>
                  <a:schemeClr val="bg1"/>
                </a:solidFill>
                <a:latin typeface="+mn-ea"/>
              </a:rPr>
              <a:t>的，即进程的执行过程是线状的，尽管中间会发生中断或暂停，但该进程所拥有的资源只为该线状执行过程服务，一但出现上下文切换，这些资源都是要被保护起来。</a:t>
            </a:r>
            <a:endParaRPr lang="zh-CN" altLang="en-US" sz="22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3" name="表格 2"/>
          <p:cNvGraphicFramePr>
            <a:graphicFrameLocks noGrp="1"/>
          </p:cNvGraphicFramePr>
          <p:nvPr/>
        </p:nvGraphicFramePr>
        <p:xfrm>
          <a:off x="827584" y="1635646"/>
          <a:ext cx="2376264" cy="2276728"/>
        </p:xfrm>
        <a:graphic>
          <a:graphicData uri="http://schemas.openxmlformats.org/drawingml/2006/table">
            <a:tbl>
              <a:tblPr firstRow="1" bandRow="1">
                <a:tableStyleId>{21E4AEA4-8DFA-4A89-87EB-49C32662AFE0}</a:tableStyleId>
              </a:tblPr>
              <a:tblGrid>
                <a:gridCol w="1188132">
                  <a:extLst>
                    <a:ext uri="{9D8B030D-6E8A-4147-A177-3AD203B41FA5}">
                      <a16:colId xmlns:a16="http://schemas.microsoft.com/office/drawing/2014/main" val="20000"/>
                    </a:ext>
                  </a:extLst>
                </a:gridCol>
                <a:gridCol w="1188132">
                  <a:extLst>
                    <a:ext uri="{9D8B030D-6E8A-4147-A177-3AD203B41FA5}">
                      <a16:colId xmlns:a16="http://schemas.microsoft.com/office/drawing/2014/main" val="20001"/>
                    </a:ext>
                  </a:extLst>
                </a:gridCol>
              </a:tblGrid>
              <a:tr h="1088008">
                <a:tc>
                  <a:txBody>
                    <a:bodyPr/>
                    <a:lstStyle/>
                    <a:p>
                      <a:r>
                        <a:rPr lang="en-US" altLang="zh-CN" sz="2400" dirty="0" smtClean="0"/>
                        <a:t>PCB</a:t>
                      </a:r>
                      <a:endParaRPr lang="zh-CN" altLang="en-US" sz="2400" dirty="0"/>
                    </a:p>
                  </a:txBody>
                  <a:tcPr/>
                </a:tc>
                <a:tc>
                  <a:txBody>
                    <a:bodyPr/>
                    <a:lstStyle/>
                    <a:p>
                      <a:r>
                        <a:rPr lang="zh-CN" altLang="en-US" sz="2400" dirty="0" smtClean="0"/>
                        <a:t>文件等</a:t>
                      </a:r>
                      <a:endParaRPr lang="en-US" altLang="zh-CN" sz="2400" dirty="0" smtClean="0"/>
                    </a:p>
                    <a:p>
                      <a:r>
                        <a:rPr lang="zh-CN" altLang="en-US" sz="2400" dirty="0" smtClean="0"/>
                        <a:t>寄存器</a:t>
                      </a:r>
                      <a:endParaRPr lang="en-US" altLang="zh-CN" sz="2400" dirty="0" smtClean="0"/>
                    </a:p>
                    <a:p>
                      <a:r>
                        <a:rPr lang="zh-CN" altLang="en-US" sz="2400" dirty="0" smtClean="0"/>
                        <a:t>堆栈</a:t>
                      </a:r>
                      <a:endParaRPr lang="zh-CN" altLang="en-US" sz="2400" dirty="0"/>
                    </a:p>
                  </a:txBody>
                  <a:tcPr/>
                </a:tc>
                <a:extLst>
                  <a:ext uri="{0D108BD9-81ED-4DB2-BD59-A6C34878D82A}">
                    <a16:rowId xmlns:a16="http://schemas.microsoft.com/office/drawing/2014/main" val="10000"/>
                  </a:ext>
                </a:extLst>
              </a:tr>
              <a:tr h="1088008">
                <a:tc gridSpan="2">
                  <a:txBody>
                    <a:bodyPr/>
                    <a:lstStyle/>
                    <a:p>
                      <a:r>
                        <a:rPr lang="en-US" altLang="zh-CN" sz="2400" b="1" dirty="0" smtClean="0"/>
                        <a:t>…(</a:t>
                      </a:r>
                      <a:r>
                        <a:rPr lang="zh-CN" altLang="en-US" sz="2400" b="1" dirty="0" smtClean="0"/>
                        <a:t>执行过程</a:t>
                      </a:r>
                      <a:r>
                        <a:rPr lang="en-US" altLang="zh-CN" sz="2400" b="1" dirty="0" smtClean="0"/>
                        <a:t>)</a:t>
                      </a:r>
                      <a:endParaRPr lang="zh-CN" altLang="en-US" sz="2400" b="1" dirty="0"/>
                    </a:p>
                  </a:txBody>
                  <a:tcPr/>
                </a:tc>
                <a:tc hMerge="1">
                  <a:txBody>
                    <a:bodyPr/>
                    <a:lstStyle/>
                    <a:p>
                      <a:endParaRPr lang="zh-CN"/>
                    </a:p>
                  </a:txBody>
                  <a:tcPr/>
                </a:tc>
                <a:extLst>
                  <a:ext uri="{0D108BD9-81ED-4DB2-BD59-A6C34878D82A}">
                    <a16:rowId xmlns:a16="http://schemas.microsoft.com/office/drawing/2014/main" val="10001"/>
                  </a:ext>
                </a:extLst>
              </a:tr>
            </a:tbl>
          </a:graphicData>
        </a:graphic>
      </p:graphicFrame>
      <p:graphicFrame>
        <p:nvGraphicFramePr>
          <p:cNvPr id="4" name="表格 3"/>
          <p:cNvGraphicFramePr>
            <a:graphicFrameLocks noGrp="1"/>
          </p:cNvGraphicFramePr>
          <p:nvPr/>
        </p:nvGraphicFramePr>
        <p:xfrm>
          <a:off x="3635896" y="1062443"/>
          <a:ext cx="5280248" cy="3344006"/>
        </p:xfrm>
        <a:graphic>
          <a:graphicData uri="http://schemas.openxmlformats.org/drawingml/2006/table">
            <a:tbl>
              <a:tblPr firstRow="1" bandRow="1">
                <a:tableStyleId>{93296810-A885-4BE3-A3E7-6D5BEEA58F35}</a:tableStyleId>
              </a:tblPr>
              <a:tblGrid>
                <a:gridCol w="1440160">
                  <a:extLst>
                    <a:ext uri="{9D8B030D-6E8A-4147-A177-3AD203B41FA5}">
                      <a16:colId xmlns:a16="http://schemas.microsoft.com/office/drawing/2014/main" val="20000"/>
                    </a:ext>
                  </a:extLst>
                </a:gridCol>
                <a:gridCol w="499554">
                  <a:extLst>
                    <a:ext uri="{9D8B030D-6E8A-4147-A177-3AD203B41FA5}">
                      <a16:colId xmlns:a16="http://schemas.microsoft.com/office/drawing/2014/main" val="20001"/>
                    </a:ext>
                  </a:extLst>
                </a:gridCol>
                <a:gridCol w="700410">
                  <a:extLst>
                    <a:ext uri="{9D8B030D-6E8A-4147-A177-3AD203B41FA5}">
                      <a16:colId xmlns:a16="http://schemas.microsoft.com/office/drawing/2014/main" val="20002"/>
                    </a:ext>
                  </a:extLst>
                </a:gridCol>
                <a:gridCol w="1320062">
                  <a:extLst>
                    <a:ext uri="{9D8B030D-6E8A-4147-A177-3AD203B41FA5}">
                      <a16:colId xmlns:a16="http://schemas.microsoft.com/office/drawing/2014/main" val="20003"/>
                    </a:ext>
                  </a:extLst>
                </a:gridCol>
                <a:gridCol w="1320062">
                  <a:extLst>
                    <a:ext uri="{9D8B030D-6E8A-4147-A177-3AD203B41FA5}">
                      <a16:colId xmlns:a16="http://schemas.microsoft.com/office/drawing/2014/main" val="20004"/>
                    </a:ext>
                  </a:extLst>
                </a:gridCol>
              </a:tblGrid>
              <a:tr h="1070211">
                <a:tc gridSpan="2">
                  <a:txBody>
                    <a:bodyPr/>
                    <a:lstStyle/>
                    <a:p>
                      <a:pPr algn="ctr"/>
                      <a:r>
                        <a:rPr lang="en-US" altLang="zh-CN" sz="2400" dirty="0" smtClean="0"/>
                        <a:t>PCB</a:t>
                      </a:r>
                      <a:endParaRPr lang="zh-CN" altLang="en-US" sz="2400" b="1" dirty="0"/>
                    </a:p>
                  </a:txBody>
                  <a:tcPr/>
                </a:tc>
                <a:tc hMerge="1">
                  <a:txBody>
                    <a:bodyPr/>
                    <a:lstStyle/>
                    <a:p>
                      <a:endParaRPr lang="zh-CN"/>
                    </a:p>
                  </a:txBody>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dirty="0" smtClean="0"/>
                        <a:t>文件、映射表等</a:t>
                      </a:r>
                    </a:p>
                    <a:p>
                      <a:pPr algn="ctr"/>
                      <a:endParaRPr lang="zh-CN" altLang="en-US" sz="2400" b="1" dirty="0"/>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085075">
                <a:tc>
                  <a:txBody>
                    <a:bodyPr/>
                    <a:lstStyle/>
                    <a:p>
                      <a:r>
                        <a:rPr lang="zh-CN" altLang="en-US" sz="2400" b="1" dirty="0" smtClean="0"/>
                        <a:t>寄存器</a:t>
                      </a:r>
                      <a:endParaRPr lang="en-US" altLang="zh-CN" sz="2400" b="1" dirty="0" smtClean="0"/>
                    </a:p>
                    <a:p>
                      <a:r>
                        <a:rPr lang="zh-CN" altLang="en-US" sz="2400" b="1" dirty="0" smtClean="0"/>
                        <a:t>堆栈</a:t>
                      </a:r>
                      <a:endParaRPr lang="zh-CN" altLang="en-US" sz="2400" b="1" dirty="0"/>
                    </a:p>
                  </a:txBody>
                  <a:tcPr/>
                </a:tc>
                <a:tc gridSpan="2">
                  <a:txBody>
                    <a:bodyPr/>
                    <a:lstStyle/>
                    <a:p>
                      <a:r>
                        <a:rPr lang="zh-CN" altLang="en-US" sz="2400" b="1" dirty="0" smtClean="0"/>
                        <a:t>寄存器</a:t>
                      </a:r>
                      <a:endParaRPr lang="en-US" altLang="zh-CN" sz="2400" b="1" dirty="0" smtClean="0"/>
                    </a:p>
                    <a:p>
                      <a:r>
                        <a:rPr lang="zh-CN" altLang="en-US" sz="2400" b="1" dirty="0" smtClean="0"/>
                        <a:t>堆栈</a:t>
                      </a:r>
                    </a:p>
                    <a:p>
                      <a:endParaRPr lang="zh-CN" altLang="en-US" sz="2400" b="1" dirty="0"/>
                    </a:p>
                  </a:txBody>
                  <a:tcPr/>
                </a:tc>
                <a:tc hMerge="1">
                  <a:txBody>
                    <a:bodyPr/>
                    <a:lstStyle/>
                    <a:p>
                      <a:endParaRPr lang="zh-CN"/>
                    </a:p>
                  </a:txBody>
                  <a:tcPr/>
                </a:tc>
                <a:tc>
                  <a:txBody>
                    <a:bodyPr/>
                    <a:lstStyle/>
                    <a:p>
                      <a:r>
                        <a:rPr lang="zh-CN" altLang="en-US" sz="2400" b="1" dirty="0" smtClean="0"/>
                        <a:t>寄存器</a:t>
                      </a:r>
                      <a:endParaRPr lang="en-US" altLang="zh-CN" sz="2400" b="1" dirty="0" smtClean="0"/>
                    </a:p>
                    <a:p>
                      <a:r>
                        <a:rPr lang="zh-CN" altLang="en-US" sz="2400" b="1" dirty="0" smtClean="0"/>
                        <a:t>堆栈</a:t>
                      </a:r>
                    </a:p>
                    <a:p>
                      <a:endParaRPr lang="zh-CN" altLang="en-US" sz="2400" b="1" dirty="0"/>
                    </a:p>
                  </a:txBody>
                  <a:tcPr/>
                </a:tc>
                <a:tc>
                  <a:txBody>
                    <a:bodyPr/>
                    <a:lstStyle/>
                    <a:p>
                      <a:r>
                        <a:rPr lang="zh-CN" altLang="en-US" sz="2400" b="1" dirty="0" smtClean="0"/>
                        <a:t>寄存器</a:t>
                      </a:r>
                      <a:endParaRPr lang="en-US" altLang="zh-CN" sz="2400" b="1" dirty="0" smtClean="0"/>
                    </a:p>
                    <a:p>
                      <a:r>
                        <a:rPr lang="zh-CN" altLang="en-US" sz="2400" b="1" dirty="0" smtClean="0"/>
                        <a:t>堆栈</a:t>
                      </a:r>
                    </a:p>
                    <a:p>
                      <a:endParaRPr lang="zh-CN" altLang="en-US" sz="2400" b="1" dirty="0"/>
                    </a:p>
                  </a:txBody>
                  <a:tcPr/>
                </a:tc>
                <a:extLst>
                  <a:ext uri="{0D108BD9-81ED-4DB2-BD59-A6C34878D82A}">
                    <a16:rowId xmlns:a16="http://schemas.microsoft.com/office/drawing/2014/main" val="10001"/>
                  </a:ext>
                </a:extLst>
              </a:tr>
              <a:tr h="1085075">
                <a:tc>
                  <a:txBody>
                    <a:bodyPr/>
                    <a:lstStyle/>
                    <a:p>
                      <a:r>
                        <a:rPr lang="zh-CN" altLang="en-US" sz="2400" b="1" dirty="0" smtClean="0"/>
                        <a:t>线程</a:t>
                      </a:r>
                      <a:r>
                        <a:rPr lang="en-US" altLang="zh-CN" sz="2400" b="1" dirty="0" smtClean="0"/>
                        <a:t>1</a:t>
                      </a:r>
                      <a:endParaRPr lang="zh-CN" altLang="en-US" sz="2400" b="1" dirty="0"/>
                    </a:p>
                  </a:txBody>
                  <a:tcPr/>
                </a:tc>
                <a:tc gridSpan="2">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b="1" dirty="0" smtClean="0"/>
                        <a:t>线程</a:t>
                      </a:r>
                      <a:r>
                        <a:rPr lang="en-US" altLang="zh-CN" sz="2400" b="1" dirty="0" smtClean="0"/>
                        <a:t>1</a:t>
                      </a:r>
                      <a:endParaRPr lang="zh-CN" altLang="en-US" sz="2400" b="1" dirty="0" smtClean="0"/>
                    </a:p>
                    <a:p>
                      <a:endParaRPr lang="zh-CN" altLang="en-US" sz="2400" b="1" dirty="0"/>
                    </a:p>
                  </a:txBody>
                  <a:tcPr/>
                </a:tc>
                <a:tc hMerge="1">
                  <a:txBody>
                    <a:bodyPr/>
                    <a:lstStyle/>
                    <a:p>
                      <a:endParaRPr lang="zh-CN"/>
                    </a:p>
                  </a:txBody>
                  <a:tcPr/>
                </a:tc>
                <a:tc>
                  <a:txBody>
                    <a:bodyPr/>
                    <a:lstStyle/>
                    <a:p>
                      <a:r>
                        <a:rPr lang="en-US" altLang="zh-CN" sz="2400" b="1" dirty="0" smtClean="0"/>
                        <a:t>…</a:t>
                      </a:r>
                      <a:endParaRPr lang="zh-CN" altLang="en-US" sz="24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b="1" dirty="0" smtClean="0"/>
                        <a:t>线程</a:t>
                      </a:r>
                      <a:r>
                        <a:rPr lang="en-US" altLang="zh-CN" sz="2400" b="1" dirty="0" smtClean="0"/>
                        <a:t>n</a:t>
                      </a:r>
                      <a:endParaRPr lang="zh-CN" altLang="en-US" sz="2400" b="1" dirty="0" smtClean="0"/>
                    </a:p>
                    <a:p>
                      <a:endParaRPr lang="zh-CN" altLang="en-US" sz="2400" b="1" dirty="0"/>
                    </a:p>
                  </a:txBody>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568583" y="709794"/>
            <a:ext cx="8233415" cy="44255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725526" y="939400"/>
            <a:ext cx="7582557" cy="35359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4" name="图片 3"/>
          <p:cNvPicPr>
            <a:picLocks noChangeAspect="1"/>
          </p:cNvPicPr>
          <p:nvPr/>
        </p:nvPicPr>
        <p:blipFill rotWithShape="1">
          <a:blip r:embed="rId3"/>
          <a:srcRect t="30481"/>
          <a:stretch>
            <a:fillRect/>
          </a:stretch>
        </p:blipFill>
        <p:spPr>
          <a:xfrm>
            <a:off x="899592" y="1995686"/>
            <a:ext cx="6835732" cy="18065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567741" y="715898"/>
            <a:ext cx="8313957" cy="1089084"/>
            <a:chOff x="567741" y="715898"/>
            <a:chExt cx="8313957" cy="1089084"/>
          </a:xfrm>
        </p:grpSpPr>
        <p:sp>
          <p:nvSpPr>
            <p:cNvPr id="5" name="任意多边形 4"/>
            <p:cNvSpPr/>
            <p:nvPr/>
          </p:nvSpPr>
          <p:spPr>
            <a:xfrm>
              <a:off x="1009478" y="715898"/>
              <a:ext cx="7872220" cy="1089084"/>
            </a:xfrm>
            <a:custGeom>
              <a:avLst/>
              <a:gdLst>
                <a:gd name="connsiteX0" fmla="*/ 0 w 7872220"/>
                <a:gd name="connsiteY0" fmla="*/ 0 h 1089082"/>
                <a:gd name="connsiteX1" fmla="*/ 7327679 w 7872220"/>
                <a:gd name="connsiteY1" fmla="*/ 0 h 1089082"/>
                <a:gd name="connsiteX2" fmla="*/ 7872220 w 7872220"/>
                <a:gd name="connsiteY2" fmla="*/ 544541 h 1089082"/>
                <a:gd name="connsiteX3" fmla="*/ 7327679 w 7872220"/>
                <a:gd name="connsiteY3" fmla="*/ 1089082 h 1089082"/>
                <a:gd name="connsiteX4" fmla="*/ 0 w 7872220"/>
                <a:gd name="connsiteY4" fmla="*/ 1089082 h 1089082"/>
                <a:gd name="connsiteX5" fmla="*/ 0 w 7872220"/>
                <a:gd name="connsiteY5" fmla="*/ 0 h 108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72220" h="1089082">
                  <a:moveTo>
                    <a:pt x="7872220" y="1089081"/>
                  </a:moveTo>
                  <a:lnTo>
                    <a:pt x="544541" y="1089081"/>
                  </a:lnTo>
                  <a:lnTo>
                    <a:pt x="0" y="544541"/>
                  </a:lnTo>
                  <a:lnTo>
                    <a:pt x="544541" y="1"/>
                  </a:lnTo>
                  <a:lnTo>
                    <a:pt x="7872220" y="1"/>
                  </a:lnTo>
                  <a:lnTo>
                    <a:pt x="7872220" y="108908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614722" tIns="76201" rIns="142240" bIns="76201" numCol="1" spcCol="1270" anchor="ctr" anchorCtr="0">
              <a:noAutofit/>
            </a:bodyPr>
            <a:lstStyle/>
            <a:p>
              <a:pPr lvl="0" algn="l" defTabSz="889000">
                <a:lnSpc>
                  <a:spcPct val="90000"/>
                </a:lnSpc>
                <a:spcBef>
                  <a:spcPct val="0"/>
                </a:spcBef>
                <a:spcAft>
                  <a:spcPct val="35000"/>
                </a:spcAft>
              </a:pPr>
              <a:r>
                <a:rPr lang="zh-CN" altLang="en-US" sz="2000" b="1" kern="1200" dirty="0" smtClean="0"/>
                <a:t>进程是资源分配的基本单位。所有与该进程有关的资源，例如打印机，输入缓冲队列等，都被记录在进程控制块</a:t>
              </a:r>
              <a:r>
                <a:rPr lang="en-US" altLang="zh-CN" sz="2000" b="1" kern="1200" dirty="0" smtClean="0"/>
                <a:t>PCB</a:t>
              </a:r>
              <a:r>
                <a:rPr lang="zh-CN" altLang="en-US" sz="2000" b="1" kern="1200" dirty="0" smtClean="0"/>
                <a:t>中。以表示该进程拥有这些资源或正在使用它们。</a:t>
              </a:r>
              <a:endParaRPr lang="zh-CN" altLang="en-US" sz="2000" b="1" kern="1200" dirty="0"/>
            </a:p>
          </p:txBody>
        </p:sp>
        <p:sp>
          <p:nvSpPr>
            <p:cNvPr id="6" name="椭圆 5"/>
            <p:cNvSpPr/>
            <p:nvPr/>
          </p:nvSpPr>
          <p:spPr>
            <a:xfrm>
              <a:off x="567741" y="794480"/>
              <a:ext cx="973977" cy="973977"/>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5">
                <a:tint val="50000"/>
                <a:hueOff val="0"/>
                <a:satOff val="0"/>
                <a:lumOff val="0"/>
                <a:alphaOff val="0"/>
              </a:schemeClr>
            </a:fillRef>
            <a:effectRef idx="2">
              <a:schemeClr val="accent5">
                <a:tint val="50000"/>
                <a:hueOff val="0"/>
                <a:satOff val="0"/>
                <a:lumOff val="0"/>
                <a:alphaOff val="0"/>
              </a:schemeClr>
            </a:effectRef>
            <a:fontRef idx="minor">
              <a:schemeClr val="lt1">
                <a:hueOff val="0"/>
                <a:satOff val="0"/>
                <a:lumOff val="0"/>
                <a:alphaOff val="0"/>
              </a:schemeClr>
            </a:fontRef>
          </p:style>
        </p:sp>
        <p:sp>
          <p:nvSpPr>
            <p:cNvPr id="13" name="文本框 12"/>
            <p:cNvSpPr txBox="1"/>
            <p:nvPr/>
          </p:nvSpPr>
          <p:spPr>
            <a:xfrm>
              <a:off x="589254" y="950812"/>
              <a:ext cx="858150" cy="584775"/>
            </a:xfrm>
            <a:prstGeom prst="rect">
              <a:avLst/>
            </a:prstGeom>
            <a:noFill/>
          </p:spPr>
          <p:txBody>
            <a:bodyPr wrap="square" rtlCol="0">
              <a:spAutoFit/>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1408188" y="1971074"/>
            <a:ext cx="5301002" cy="820635"/>
            <a:chOff x="1408188" y="1971074"/>
            <a:chExt cx="5301002" cy="820635"/>
          </a:xfrm>
        </p:grpSpPr>
        <p:sp>
          <p:nvSpPr>
            <p:cNvPr id="7" name="任意多边形 6"/>
            <p:cNvSpPr/>
            <p:nvPr/>
          </p:nvSpPr>
          <p:spPr>
            <a:xfrm>
              <a:off x="1835696" y="1971074"/>
              <a:ext cx="4873494" cy="727814"/>
            </a:xfrm>
            <a:custGeom>
              <a:avLst/>
              <a:gdLst>
                <a:gd name="connsiteX0" fmla="*/ 0 w 8041852"/>
                <a:gd name="connsiteY0" fmla="*/ 0 h 507373"/>
                <a:gd name="connsiteX1" fmla="*/ 7788166 w 8041852"/>
                <a:gd name="connsiteY1" fmla="*/ 0 h 507373"/>
                <a:gd name="connsiteX2" fmla="*/ 8041852 w 8041852"/>
                <a:gd name="connsiteY2" fmla="*/ 253687 h 507373"/>
                <a:gd name="connsiteX3" fmla="*/ 7788166 w 8041852"/>
                <a:gd name="connsiteY3" fmla="*/ 507373 h 507373"/>
                <a:gd name="connsiteX4" fmla="*/ 0 w 8041852"/>
                <a:gd name="connsiteY4" fmla="*/ 507373 h 507373"/>
                <a:gd name="connsiteX5" fmla="*/ 0 w 8041852"/>
                <a:gd name="connsiteY5" fmla="*/ 0 h 50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1852" h="507373">
                  <a:moveTo>
                    <a:pt x="8041852" y="507372"/>
                  </a:moveTo>
                  <a:lnTo>
                    <a:pt x="253686" y="507372"/>
                  </a:lnTo>
                  <a:lnTo>
                    <a:pt x="0" y="253686"/>
                  </a:lnTo>
                  <a:lnTo>
                    <a:pt x="253686" y="1"/>
                  </a:lnTo>
                  <a:lnTo>
                    <a:pt x="8041852" y="1"/>
                  </a:lnTo>
                  <a:lnTo>
                    <a:pt x="8041852" y="50737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txBody>
            <a:bodyPr spcFirstLastPara="0" vert="horz" wrap="square" lIns="469295" tIns="76201" rIns="142240" bIns="76201" numCol="1" spcCol="1270" anchor="ctr" anchorCtr="0">
              <a:noAutofit/>
            </a:bodyPr>
            <a:lstStyle/>
            <a:p>
              <a:pPr lvl="0" defTabSz="889000">
                <a:lnSpc>
                  <a:spcPct val="90000"/>
                </a:lnSpc>
                <a:spcBef>
                  <a:spcPct val="0"/>
                </a:spcBef>
                <a:spcAft>
                  <a:spcPct val="35000"/>
                </a:spcAft>
              </a:pPr>
              <a:r>
                <a:rPr lang="zh-CN" altLang="en-US" sz="2000" b="1" kern="1200" dirty="0" smtClean="0"/>
                <a:t>进程是抢占处理机的调度单位，它拥有一个完整的虚拟地址空间</a:t>
              </a:r>
              <a:endParaRPr lang="zh-CN" altLang="en-US" sz="2000" b="1" kern="1200" dirty="0"/>
            </a:p>
          </p:txBody>
        </p:sp>
        <p:sp>
          <p:nvSpPr>
            <p:cNvPr id="8" name="椭圆 7"/>
            <p:cNvSpPr/>
            <p:nvPr/>
          </p:nvSpPr>
          <p:spPr>
            <a:xfrm>
              <a:off x="1447404" y="2015125"/>
              <a:ext cx="776584" cy="776584"/>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5">
                <a:tint val="50000"/>
                <a:hueOff val="-3560789"/>
                <a:satOff val="15872"/>
                <a:lumOff val="1402"/>
                <a:alphaOff val="0"/>
              </a:schemeClr>
            </a:fillRef>
            <a:effectRef idx="2">
              <a:schemeClr val="accent5">
                <a:tint val="50000"/>
                <a:hueOff val="-3560789"/>
                <a:satOff val="15872"/>
                <a:lumOff val="1402"/>
                <a:alphaOff val="0"/>
              </a:schemeClr>
            </a:effectRef>
            <a:fontRef idx="minor">
              <a:schemeClr val="lt1">
                <a:hueOff val="0"/>
                <a:satOff val="0"/>
                <a:lumOff val="0"/>
                <a:alphaOff val="0"/>
              </a:schemeClr>
            </a:fontRef>
          </p:style>
        </p:sp>
        <p:sp>
          <p:nvSpPr>
            <p:cNvPr id="30" name="文本框 29"/>
            <p:cNvSpPr txBox="1"/>
            <p:nvPr/>
          </p:nvSpPr>
          <p:spPr>
            <a:xfrm>
              <a:off x="1408188" y="2083432"/>
              <a:ext cx="858150" cy="584775"/>
            </a:xfrm>
            <a:prstGeom prst="rect">
              <a:avLst/>
            </a:prstGeom>
            <a:noFill/>
          </p:spPr>
          <p:txBody>
            <a:bodyPr wrap="square" rtlCol="0">
              <a:spAutoFit/>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4" name="组合 33"/>
          <p:cNvGrpSpPr/>
          <p:nvPr/>
        </p:nvGrpSpPr>
        <p:grpSpPr>
          <a:xfrm>
            <a:off x="1477937" y="2917926"/>
            <a:ext cx="6478452" cy="776584"/>
            <a:chOff x="1477937" y="2917926"/>
            <a:chExt cx="6478452" cy="776584"/>
          </a:xfrm>
        </p:grpSpPr>
        <p:sp>
          <p:nvSpPr>
            <p:cNvPr id="9" name="任意多边形 8"/>
            <p:cNvSpPr/>
            <p:nvPr/>
          </p:nvSpPr>
          <p:spPr>
            <a:xfrm>
              <a:off x="2051720" y="2974214"/>
              <a:ext cx="5904669" cy="609087"/>
            </a:xfrm>
            <a:custGeom>
              <a:avLst/>
              <a:gdLst>
                <a:gd name="connsiteX0" fmla="*/ 0 w 7383179"/>
                <a:gd name="connsiteY0" fmla="*/ 0 h 574649"/>
                <a:gd name="connsiteX1" fmla="*/ 7095855 w 7383179"/>
                <a:gd name="connsiteY1" fmla="*/ 0 h 574649"/>
                <a:gd name="connsiteX2" fmla="*/ 7383179 w 7383179"/>
                <a:gd name="connsiteY2" fmla="*/ 287325 h 574649"/>
                <a:gd name="connsiteX3" fmla="*/ 7095855 w 7383179"/>
                <a:gd name="connsiteY3" fmla="*/ 574649 h 574649"/>
                <a:gd name="connsiteX4" fmla="*/ 0 w 7383179"/>
                <a:gd name="connsiteY4" fmla="*/ 574649 h 574649"/>
                <a:gd name="connsiteX5" fmla="*/ 0 w 7383179"/>
                <a:gd name="connsiteY5" fmla="*/ 0 h 57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83179" h="574649">
                  <a:moveTo>
                    <a:pt x="7383179" y="574648"/>
                  </a:moveTo>
                  <a:lnTo>
                    <a:pt x="287324" y="574648"/>
                  </a:lnTo>
                  <a:lnTo>
                    <a:pt x="0" y="287324"/>
                  </a:lnTo>
                  <a:lnTo>
                    <a:pt x="287324" y="1"/>
                  </a:lnTo>
                  <a:lnTo>
                    <a:pt x="7383179" y="1"/>
                  </a:lnTo>
                  <a:lnTo>
                    <a:pt x="7383179" y="574648"/>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txBody>
            <a:bodyPr spcFirstLastPara="0" vert="horz" wrap="square" lIns="486114" tIns="76201" rIns="142240" bIns="76200" numCol="1" spcCol="1270" anchor="ctr" anchorCtr="0">
              <a:noAutofit/>
            </a:bodyPr>
            <a:lstStyle/>
            <a:p>
              <a:pPr lvl="0" algn="l" defTabSz="889000">
                <a:lnSpc>
                  <a:spcPct val="90000"/>
                </a:lnSpc>
                <a:spcBef>
                  <a:spcPct val="0"/>
                </a:spcBef>
                <a:spcAft>
                  <a:spcPct val="35000"/>
                </a:spcAft>
              </a:pPr>
              <a:r>
                <a:rPr lang="zh-CN" altLang="en-US" sz="2000" b="1" kern="1200" dirty="0" smtClean="0">
                  <a:solidFill>
                    <a:schemeClr val="tx1"/>
                  </a:solidFill>
                </a:rPr>
                <a:t>线程与资源分配无关，它属于某一个进程，并与进程内的其他线程一起共享进程的资源</a:t>
              </a:r>
              <a:endParaRPr lang="zh-CN" altLang="en-US" sz="2000" b="1" kern="1200" dirty="0">
                <a:solidFill>
                  <a:schemeClr val="tx1"/>
                </a:solidFill>
              </a:endParaRPr>
            </a:p>
          </p:txBody>
        </p:sp>
        <p:sp>
          <p:nvSpPr>
            <p:cNvPr id="10" name="椭圆 9"/>
            <p:cNvSpPr/>
            <p:nvPr/>
          </p:nvSpPr>
          <p:spPr>
            <a:xfrm>
              <a:off x="1518720" y="2917926"/>
              <a:ext cx="776584" cy="776584"/>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5">
                <a:tint val="50000"/>
                <a:hueOff val="-7121577"/>
                <a:satOff val="31745"/>
                <a:lumOff val="2805"/>
                <a:alphaOff val="0"/>
              </a:schemeClr>
            </a:fillRef>
            <a:effectRef idx="2">
              <a:schemeClr val="accent5">
                <a:tint val="50000"/>
                <a:hueOff val="-7121577"/>
                <a:satOff val="31745"/>
                <a:lumOff val="2805"/>
                <a:alphaOff val="0"/>
              </a:schemeClr>
            </a:effectRef>
            <a:fontRef idx="minor">
              <a:schemeClr val="lt1">
                <a:hueOff val="0"/>
                <a:satOff val="0"/>
                <a:lumOff val="0"/>
                <a:alphaOff val="0"/>
              </a:schemeClr>
            </a:fontRef>
          </p:style>
        </p:sp>
        <p:sp>
          <p:nvSpPr>
            <p:cNvPr id="31" name="文本框 30"/>
            <p:cNvSpPr txBox="1"/>
            <p:nvPr/>
          </p:nvSpPr>
          <p:spPr>
            <a:xfrm>
              <a:off x="1477937" y="2950357"/>
              <a:ext cx="858150" cy="584775"/>
            </a:xfrm>
            <a:prstGeom prst="rect">
              <a:avLst/>
            </a:prstGeom>
            <a:noFill/>
          </p:spPr>
          <p:txBody>
            <a:bodyPr wrap="square" rtlCol="0">
              <a:spAutoFit/>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5" name="组合 34"/>
          <p:cNvGrpSpPr/>
          <p:nvPr/>
        </p:nvGrpSpPr>
        <p:grpSpPr>
          <a:xfrm>
            <a:off x="683568" y="3740603"/>
            <a:ext cx="7621726" cy="1044514"/>
            <a:chOff x="683568" y="3740603"/>
            <a:chExt cx="7621726" cy="1044514"/>
          </a:xfrm>
        </p:grpSpPr>
        <p:sp>
          <p:nvSpPr>
            <p:cNvPr id="11" name="任意多边形 10"/>
            <p:cNvSpPr/>
            <p:nvPr/>
          </p:nvSpPr>
          <p:spPr>
            <a:xfrm>
              <a:off x="1331640" y="3881857"/>
              <a:ext cx="6973654" cy="759941"/>
            </a:xfrm>
            <a:custGeom>
              <a:avLst/>
              <a:gdLst>
                <a:gd name="connsiteX0" fmla="*/ 0 w 7621725"/>
                <a:gd name="connsiteY0" fmla="*/ 0 h 776584"/>
                <a:gd name="connsiteX1" fmla="*/ 7233433 w 7621725"/>
                <a:gd name="connsiteY1" fmla="*/ 0 h 776584"/>
                <a:gd name="connsiteX2" fmla="*/ 7621725 w 7621725"/>
                <a:gd name="connsiteY2" fmla="*/ 388292 h 776584"/>
                <a:gd name="connsiteX3" fmla="*/ 7233433 w 7621725"/>
                <a:gd name="connsiteY3" fmla="*/ 776584 h 776584"/>
                <a:gd name="connsiteX4" fmla="*/ 0 w 7621725"/>
                <a:gd name="connsiteY4" fmla="*/ 776584 h 776584"/>
                <a:gd name="connsiteX5" fmla="*/ 0 w 7621725"/>
                <a:gd name="connsiteY5" fmla="*/ 0 h 77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1725" h="776584">
                  <a:moveTo>
                    <a:pt x="7621725" y="776583"/>
                  </a:moveTo>
                  <a:lnTo>
                    <a:pt x="388292" y="776583"/>
                  </a:lnTo>
                  <a:lnTo>
                    <a:pt x="0" y="388292"/>
                  </a:lnTo>
                  <a:lnTo>
                    <a:pt x="388292" y="1"/>
                  </a:lnTo>
                  <a:lnTo>
                    <a:pt x="7621725" y="1"/>
                  </a:lnTo>
                  <a:lnTo>
                    <a:pt x="7621725" y="776583"/>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536598" tIns="76201" rIns="142240" bIns="76200" numCol="1" spcCol="1270" anchor="ctr" anchorCtr="0">
              <a:noAutofit/>
            </a:bodyPr>
            <a:lstStyle/>
            <a:p>
              <a:pPr lvl="0" algn="l" defTabSz="889000">
                <a:lnSpc>
                  <a:spcPct val="90000"/>
                </a:lnSpc>
                <a:spcBef>
                  <a:spcPct val="0"/>
                </a:spcBef>
                <a:spcAft>
                  <a:spcPct val="35000"/>
                </a:spcAft>
              </a:pPr>
              <a:r>
                <a:rPr lang="zh-CN" altLang="en-US" sz="2000" b="1" kern="1200" dirty="0" smtClean="0"/>
                <a:t>当进程发生调度时，不同的进程拥有不同的虚拟地址空间，而同一进程内的不同线程共享同一地址空间。</a:t>
              </a:r>
              <a:endParaRPr lang="zh-CN" altLang="en-US" sz="2000" b="1" kern="1200" dirty="0"/>
            </a:p>
          </p:txBody>
        </p:sp>
        <p:sp>
          <p:nvSpPr>
            <p:cNvPr id="12" name="椭圆 11"/>
            <p:cNvSpPr/>
            <p:nvPr/>
          </p:nvSpPr>
          <p:spPr>
            <a:xfrm>
              <a:off x="683568" y="3740603"/>
              <a:ext cx="1044514" cy="1044514"/>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5">
                <a:tint val="50000"/>
                <a:hueOff val="-10682366"/>
                <a:satOff val="47617"/>
                <a:lumOff val="4207"/>
                <a:alphaOff val="0"/>
              </a:schemeClr>
            </a:fillRef>
            <a:effectRef idx="2">
              <a:schemeClr val="accent5">
                <a:tint val="50000"/>
                <a:hueOff val="-10682366"/>
                <a:satOff val="47617"/>
                <a:lumOff val="4207"/>
                <a:alphaOff val="0"/>
              </a:schemeClr>
            </a:effectRef>
            <a:fontRef idx="minor">
              <a:schemeClr val="lt1">
                <a:hueOff val="0"/>
                <a:satOff val="0"/>
                <a:lumOff val="0"/>
                <a:alphaOff val="0"/>
              </a:schemeClr>
            </a:fontRef>
          </p:style>
        </p:sp>
        <p:sp>
          <p:nvSpPr>
            <p:cNvPr id="32" name="文本框 31"/>
            <p:cNvSpPr txBox="1"/>
            <p:nvPr/>
          </p:nvSpPr>
          <p:spPr>
            <a:xfrm>
              <a:off x="776750" y="3899981"/>
              <a:ext cx="858150" cy="584775"/>
            </a:xfrm>
            <a:prstGeom prst="rect">
              <a:avLst/>
            </a:prstGeom>
            <a:noFill/>
          </p:spPr>
          <p:txBody>
            <a:bodyPr wrap="square" rtlCol="0">
              <a:spAutoFit/>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4</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线程的适用范围</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3" y="1405178"/>
            <a:ext cx="6984777" cy="2308324"/>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并不是在所有的计算机系统中线程都是适用的</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事实上</a:t>
            </a:r>
            <a:r>
              <a:rPr lang="zh-CN" altLang="en-US" sz="2400" b="1" dirty="0">
                <a:solidFill>
                  <a:schemeClr val="bg1"/>
                </a:solidFill>
                <a:latin typeface="+mn-ea"/>
              </a:rPr>
              <a:t>在那些很少做进程调度和切换的</a:t>
            </a:r>
            <a:r>
              <a:rPr lang="zh-CN" altLang="en-US" sz="2400" b="1" dirty="0">
                <a:solidFill>
                  <a:srgbClr val="FFFF00"/>
                </a:solidFill>
                <a:latin typeface="+mn-ea"/>
              </a:rPr>
              <a:t>实时系统</a:t>
            </a:r>
            <a:r>
              <a:rPr lang="zh-CN" altLang="en-US" sz="2400" b="1" dirty="0">
                <a:solidFill>
                  <a:schemeClr val="bg1"/>
                </a:solidFill>
                <a:latin typeface="+mn-ea"/>
              </a:rPr>
              <a:t>、</a:t>
            </a:r>
            <a:r>
              <a:rPr lang="zh-CN" altLang="en-US" sz="2400" b="1" dirty="0">
                <a:solidFill>
                  <a:srgbClr val="FFFF00"/>
                </a:solidFill>
                <a:latin typeface="+mn-ea"/>
              </a:rPr>
              <a:t>个人数字助理系统</a:t>
            </a:r>
            <a:r>
              <a:rPr lang="zh-CN" altLang="en-US" sz="2400" b="1" dirty="0">
                <a:solidFill>
                  <a:schemeClr val="bg1"/>
                </a:solidFill>
                <a:latin typeface="+mn-ea"/>
              </a:rPr>
              <a:t>中，由于任务的单一性，设置线程相反会占用更多的内存空间和寄存器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线程的适用范围</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73735"/>
            <a:ext cx="6984777" cy="3416320"/>
          </a:xfrm>
          <a:prstGeom prst="rect">
            <a:avLst/>
          </a:prstGeom>
        </p:spPr>
        <p:txBody>
          <a:bodyPr wrap="square">
            <a:spAutoFit/>
          </a:bodyPr>
          <a:lstStyle/>
          <a:p>
            <a:pPr indent="88900">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使用线程的最大好处是</a:t>
            </a:r>
            <a:r>
              <a:rPr lang="zh-CN" altLang="en-US" sz="2400" b="1" dirty="0">
                <a:solidFill>
                  <a:srgbClr val="FFFF00"/>
                </a:solidFill>
                <a:latin typeface="+mn-ea"/>
              </a:rPr>
              <a:t>在有多个任务需要处理机处理时，减少处理机的切换时间</a:t>
            </a:r>
            <a:r>
              <a:rPr lang="zh-CN" altLang="en-US" sz="2400" b="1" dirty="0">
                <a:solidFill>
                  <a:schemeClr val="bg1"/>
                </a:solidFill>
                <a:latin typeface="+mn-ea"/>
              </a:rPr>
              <a:t>；而且，线程的创建和结束所需要的系统开销也比进程的创建和结束要小得多</a:t>
            </a:r>
            <a:r>
              <a:rPr lang="zh-CN" altLang="en-US" sz="2400" b="1" dirty="0" smtClean="0">
                <a:solidFill>
                  <a:schemeClr val="bg1"/>
                </a:solidFill>
                <a:latin typeface="+mn-ea"/>
              </a:rPr>
              <a:t>。</a:t>
            </a:r>
            <a:endParaRPr lang="en-US" altLang="zh-CN" sz="2400" b="1" dirty="0" smtClean="0">
              <a:solidFill>
                <a:schemeClr val="bg1"/>
              </a:solidFill>
              <a:latin typeface="+mn-ea"/>
            </a:endParaRPr>
          </a:p>
          <a:p>
            <a:pPr indent="88900">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由此</a:t>
            </a:r>
            <a:r>
              <a:rPr lang="zh-CN" altLang="en-US" sz="2400" b="1" dirty="0">
                <a:solidFill>
                  <a:schemeClr val="bg1"/>
                </a:solidFill>
                <a:latin typeface="+mn-ea"/>
              </a:rPr>
              <a:t>，可以推出</a:t>
            </a:r>
            <a:r>
              <a:rPr lang="zh-CN" altLang="en-US" sz="2400" b="1" dirty="0">
                <a:solidFill>
                  <a:srgbClr val="FFFF00"/>
                </a:solidFill>
                <a:latin typeface="+mn-ea"/>
              </a:rPr>
              <a:t>最适合使用线程的系统是</a:t>
            </a:r>
            <a:r>
              <a:rPr lang="zh-CN" altLang="en-US" sz="2400" b="1" dirty="0" smtClean="0">
                <a:solidFill>
                  <a:srgbClr val="FFFF00"/>
                </a:solidFill>
                <a:latin typeface="+mn-ea"/>
              </a:rPr>
              <a:t>多处理机系统、网络系统或分布式系统</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46331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线程的典型应用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357158" y="1344876"/>
            <a:ext cx="3796980" cy="3462463"/>
            <a:chOff x="987631" y="956826"/>
            <a:chExt cx="2175160" cy="2960385"/>
          </a:xfrm>
        </p:grpSpPr>
        <p:sp>
          <p:nvSpPr>
            <p:cNvPr id="5" name="任意多边形 4"/>
            <p:cNvSpPr/>
            <p:nvPr/>
          </p:nvSpPr>
          <p:spPr>
            <a:xfrm>
              <a:off x="987631" y="956826"/>
              <a:ext cx="2013047" cy="2190674"/>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indent="-285750" defTabSz="577850">
                <a:lnSpc>
                  <a:spcPct val="90000"/>
                </a:lnSpc>
                <a:spcBef>
                  <a:spcPct val="0"/>
                </a:spcBef>
                <a:spcAft>
                  <a:spcPct val="15000"/>
                </a:spcAft>
                <a:buChar char="•"/>
              </a:pPr>
              <a:r>
                <a:rPr lang="zh-CN" altLang="en-US" sz="2000" b="1" dirty="0"/>
                <a:t>在局域网的文件服务器中，对文件的访问要求可被服务器进程派生出的线程进行处理。由于服务器同时可能接受许多个文件访问要求，则系统可以同时生成多个线程来进行处理。如果计算机系统是多处理机的，这些线程还可以安排到不同的处理机上执行</a:t>
              </a:r>
            </a:p>
          </p:txBody>
        </p:sp>
        <p:sp>
          <p:nvSpPr>
            <p:cNvPr id="6" name="任意多边形 5"/>
            <p:cNvSpPr/>
            <p:nvPr/>
          </p:nvSpPr>
          <p:spPr>
            <a:xfrm>
              <a:off x="987631" y="3147499"/>
              <a:ext cx="2013047"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dirty="0"/>
                <a:t>服务器中的文件管理或通信控制</a:t>
              </a:r>
            </a:p>
          </p:txBody>
        </p:sp>
        <p:sp>
          <p:nvSpPr>
            <p:cNvPr id="7" name="椭圆 6"/>
            <p:cNvSpPr/>
            <p:nvPr/>
          </p:nvSpPr>
          <p:spPr>
            <a:xfrm>
              <a:off x="2672251" y="3280899"/>
              <a:ext cx="490540" cy="636312"/>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0" name="组合 29"/>
          <p:cNvGrpSpPr/>
          <p:nvPr/>
        </p:nvGrpSpPr>
        <p:grpSpPr>
          <a:xfrm>
            <a:off x="4046900" y="225017"/>
            <a:ext cx="2981299" cy="3452565"/>
            <a:chOff x="3306020" y="1043842"/>
            <a:chExt cx="2495236" cy="2813316"/>
          </a:xfrm>
        </p:grpSpPr>
        <p:sp>
          <p:nvSpPr>
            <p:cNvPr id="8" name="任意多边形 7"/>
            <p:cNvSpPr/>
            <p:nvPr/>
          </p:nvSpPr>
          <p:spPr>
            <a:xfrm>
              <a:off x="3306020" y="1043842"/>
              <a:ext cx="2296701" cy="2103656"/>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defTabSz="577850">
                <a:lnSpc>
                  <a:spcPct val="90000"/>
                </a:lnSpc>
                <a:spcBef>
                  <a:spcPct val="0"/>
                </a:spcBef>
                <a:spcAft>
                  <a:spcPct val="15000"/>
                </a:spcAft>
                <a:buChar char="•"/>
              </a:pPr>
              <a:r>
                <a:rPr lang="zh-CN" altLang="en-US" sz="2000" b="1" dirty="0"/>
                <a:t>许多用户都有过前后台处理经验，即把一个计算量较大的程序或实时性要求不高的程序安排在处理机空闲时执行。对于同一个进程中的上述程序来说，线程可被用来减少处理机切换时间和提高执行速度。</a:t>
              </a:r>
            </a:p>
          </p:txBody>
        </p:sp>
        <p:sp>
          <p:nvSpPr>
            <p:cNvPr id="9" name="任意多边形 8"/>
            <p:cNvSpPr/>
            <p:nvPr/>
          </p:nvSpPr>
          <p:spPr>
            <a:xfrm>
              <a:off x="3306020" y="3147499"/>
              <a:ext cx="2296701"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前后台处理</a:t>
              </a:r>
            </a:p>
          </p:txBody>
        </p:sp>
        <p:sp>
          <p:nvSpPr>
            <p:cNvPr id="10" name="椭圆 9"/>
            <p:cNvSpPr/>
            <p:nvPr/>
          </p:nvSpPr>
          <p:spPr>
            <a:xfrm>
              <a:off x="5107261" y="3163163"/>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1" name="组合 30"/>
          <p:cNvGrpSpPr/>
          <p:nvPr/>
        </p:nvGrpSpPr>
        <p:grpSpPr>
          <a:xfrm>
            <a:off x="7114765" y="1515844"/>
            <a:ext cx="1877516" cy="3462463"/>
            <a:chOff x="5624410" y="945285"/>
            <a:chExt cx="1581641" cy="2942220"/>
          </a:xfrm>
        </p:grpSpPr>
        <p:sp>
          <p:nvSpPr>
            <p:cNvPr id="11" name="任意多边形 10"/>
            <p:cNvSpPr/>
            <p:nvPr/>
          </p:nvSpPr>
          <p:spPr>
            <a:xfrm>
              <a:off x="5636385" y="945285"/>
              <a:ext cx="1421614" cy="2231433"/>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defTabSz="577850">
                <a:lnSpc>
                  <a:spcPct val="90000"/>
                </a:lnSpc>
                <a:spcBef>
                  <a:spcPct val="0"/>
                </a:spcBef>
                <a:spcAft>
                  <a:spcPct val="15000"/>
                </a:spcAft>
                <a:buChar char="•"/>
              </a:pPr>
              <a:r>
                <a:rPr lang="zh-CN" altLang="en-US" sz="2000" b="1" dirty="0"/>
                <a:t>程序中的两部分如果在执行上没有顺序规定，则这两部分程序可用线程执行</a:t>
              </a:r>
            </a:p>
          </p:txBody>
        </p:sp>
        <p:sp>
          <p:nvSpPr>
            <p:cNvPr id="12" name="任意多边形 11"/>
            <p:cNvSpPr/>
            <p:nvPr/>
          </p:nvSpPr>
          <p:spPr>
            <a:xfrm>
              <a:off x="5624410" y="3147499"/>
              <a:ext cx="1433589"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异步处理</a:t>
              </a:r>
            </a:p>
          </p:txBody>
        </p:sp>
        <p:sp>
          <p:nvSpPr>
            <p:cNvPr id="13" name="椭圆 12"/>
            <p:cNvSpPr/>
            <p:nvPr/>
          </p:nvSpPr>
          <p:spPr>
            <a:xfrm>
              <a:off x="6512056" y="3193510"/>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线程的几种典型应用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84777" cy="2308324"/>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线程方式还可用于</a:t>
            </a:r>
            <a:r>
              <a:rPr lang="zh-CN" altLang="en-US" sz="2400" b="1" dirty="0">
                <a:solidFill>
                  <a:srgbClr val="FFFF00"/>
                </a:solidFill>
                <a:latin typeface="+mn-ea"/>
              </a:rPr>
              <a:t>数据的批处理</a:t>
            </a:r>
            <a:r>
              <a:rPr lang="zh-CN" altLang="en-US" sz="2400" b="1" dirty="0">
                <a:solidFill>
                  <a:schemeClr val="bg1"/>
                </a:solidFill>
                <a:latin typeface="+mn-ea"/>
              </a:rPr>
              <a:t>以及</a:t>
            </a:r>
            <a:r>
              <a:rPr lang="zh-CN" altLang="en-US" sz="2400" b="1" dirty="0">
                <a:solidFill>
                  <a:srgbClr val="FFFF00"/>
                </a:solidFill>
                <a:latin typeface="+mn-ea"/>
              </a:rPr>
              <a:t>网络系统中的信息发送与接收</a:t>
            </a:r>
            <a:r>
              <a:rPr lang="zh-CN" altLang="en-US" sz="2400" b="1" dirty="0">
                <a:solidFill>
                  <a:schemeClr val="bg1"/>
                </a:solidFill>
                <a:latin typeface="+mn-ea"/>
              </a:rPr>
              <a:t>和其他相关</a:t>
            </a:r>
            <a:r>
              <a:rPr lang="zh-CN" altLang="en-US" sz="2400" b="1" dirty="0" smtClean="0">
                <a:solidFill>
                  <a:schemeClr val="bg1"/>
                </a:solidFill>
                <a:latin typeface="+mn-ea"/>
              </a:rPr>
              <a:t>处理。</a:t>
            </a:r>
            <a:endParaRPr lang="en-US" altLang="zh-CN" sz="2400" b="1" dirty="0" smtClean="0">
              <a:solidFill>
                <a:schemeClr val="bg1"/>
              </a:solidFill>
              <a:latin typeface="+mn-ea"/>
            </a:endParaRPr>
          </a:p>
          <a:p>
            <a:pPr indent="-342900">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一个用户主机通过网络向</a:t>
            </a:r>
            <a:r>
              <a:rPr lang="en-US" altLang="zh-CN" sz="2400" b="1" dirty="0">
                <a:solidFill>
                  <a:schemeClr val="bg1"/>
                </a:solidFill>
                <a:latin typeface="+mn-ea"/>
              </a:rPr>
              <a:t>2</a:t>
            </a:r>
            <a:r>
              <a:rPr lang="zh-CN" altLang="en-US" sz="2400" b="1" dirty="0">
                <a:solidFill>
                  <a:schemeClr val="bg1"/>
                </a:solidFill>
                <a:latin typeface="+mn-ea"/>
              </a:rPr>
              <a:t>台远程服务器进行远程调用（ＲＰＣ）以获得相应结果的执行情况</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29"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897" y="764949"/>
            <a:ext cx="3968075" cy="353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4" descr="图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027" y="1251255"/>
            <a:ext cx="472440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anim calcmode="lin" valueType="num">
                                      <p:cBhvr>
                                        <p:cTn id="18" dur="1000" fill="hold"/>
                                        <p:tgtEl>
                                          <p:spTgt spid="29"/>
                                        </p:tgtEl>
                                        <p:attrNameLst>
                                          <p:attrName>ppt_x</p:attrName>
                                        </p:attrNameLst>
                                      </p:cBhvr>
                                      <p:tavLst>
                                        <p:tav tm="0">
                                          <p:val>
                                            <p:strVal val="#ppt_x"/>
                                          </p:val>
                                        </p:tav>
                                        <p:tav tm="100000">
                                          <p:val>
                                            <p:strVal val="#ppt_x"/>
                                          </p:val>
                                        </p:tav>
                                      </p:tavLst>
                                    </p:anim>
                                    <p:anim calcmode="lin" valueType="num">
                                      <p:cBhvr>
                                        <p:cTn id="1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1000"/>
                                        <p:tgtEl>
                                          <p:spTgt spid="31"/>
                                        </p:tgtEl>
                                      </p:cBhvr>
                                    </p:animEffect>
                                    <p:anim calcmode="lin" valueType="num">
                                      <p:cBhvr>
                                        <p:cTn id="25" dur="1000" fill="hold"/>
                                        <p:tgtEl>
                                          <p:spTgt spid="31"/>
                                        </p:tgtEl>
                                        <p:attrNameLst>
                                          <p:attrName>ppt_x</p:attrName>
                                        </p:attrNameLst>
                                      </p:cBhvr>
                                      <p:tavLst>
                                        <p:tav tm="0">
                                          <p:val>
                                            <p:strVal val="#ppt_x"/>
                                          </p:val>
                                        </p:tav>
                                        <p:tav tm="100000">
                                          <p:val>
                                            <p:strVal val="#ppt_x"/>
                                          </p:val>
                                        </p:tav>
                                      </p:tavLst>
                                    </p:anim>
                                    <p:anim calcmode="lin" valueType="num">
                                      <p:cBhvr>
                                        <p:cTn id="2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线程的分类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73735"/>
            <a:ext cx="6984777" cy="3329758"/>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线程的两个基本类型是：</a:t>
            </a:r>
            <a:r>
              <a:rPr lang="zh-CN" altLang="en-US" sz="2400" b="1" dirty="0">
                <a:solidFill>
                  <a:srgbClr val="FFFF00"/>
                </a:solidFill>
                <a:latin typeface="+mn-ea"/>
              </a:rPr>
              <a:t>用户级线程</a:t>
            </a:r>
            <a:r>
              <a:rPr lang="zh-CN" altLang="en-US" sz="2400" b="1" dirty="0">
                <a:solidFill>
                  <a:schemeClr val="bg1"/>
                </a:solidFill>
                <a:latin typeface="+mn-ea"/>
              </a:rPr>
              <a:t>和</a:t>
            </a:r>
            <a:r>
              <a:rPr lang="zh-CN" altLang="en-US" sz="2400" b="1" dirty="0">
                <a:solidFill>
                  <a:srgbClr val="FFFF00"/>
                </a:solidFill>
                <a:latin typeface="+mn-ea"/>
              </a:rPr>
              <a:t>系统级线程</a:t>
            </a:r>
            <a:r>
              <a:rPr lang="en-US" altLang="zh-CN" sz="2400" b="1" dirty="0">
                <a:solidFill>
                  <a:srgbClr val="FFFF00"/>
                </a:solidFill>
                <a:latin typeface="+mn-ea"/>
              </a:rPr>
              <a:t>(</a:t>
            </a:r>
            <a:r>
              <a:rPr lang="zh-CN" altLang="en-US" sz="2400" b="1" dirty="0">
                <a:solidFill>
                  <a:srgbClr val="FFFF00"/>
                </a:solidFill>
                <a:latin typeface="+mn-ea"/>
              </a:rPr>
              <a:t>核心级线型</a:t>
            </a:r>
            <a:r>
              <a:rPr lang="en-US" altLang="zh-CN" sz="2400" b="1" dirty="0">
                <a:solidFill>
                  <a:srgbClr val="FFFF00"/>
                </a:solidFill>
                <a:latin typeface="+mn-ea"/>
              </a:rPr>
              <a:t>)</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在</a:t>
            </a:r>
            <a:r>
              <a:rPr lang="zh-CN" altLang="en-US" sz="2400" b="1" dirty="0">
                <a:solidFill>
                  <a:schemeClr val="bg1"/>
                </a:solidFill>
                <a:latin typeface="+mn-ea"/>
              </a:rPr>
              <a:t>同一个操作系统中，有的使用纯用户级线程，有的使用纯核心级线程，例如</a:t>
            </a:r>
            <a:r>
              <a:rPr lang="en-US" altLang="zh-CN" sz="2400" b="1" dirty="0">
                <a:solidFill>
                  <a:schemeClr val="bg1"/>
                </a:solidFill>
                <a:latin typeface="+mn-ea"/>
              </a:rPr>
              <a:t>Windows NT</a:t>
            </a:r>
            <a:r>
              <a:rPr lang="zh-CN" altLang="en-US" sz="2400" b="1" dirty="0">
                <a:solidFill>
                  <a:schemeClr val="bg1"/>
                </a:solidFill>
                <a:latin typeface="+mn-ea"/>
              </a:rPr>
              <a:t>和</a:t>
            </a:r>
            <a:r>
              <a:rPr lang="en-US" altLang="zh-CN" sz="2400" b="1" dirty="0">
                <a:solidFill>
                  <a:schemeClr val="bg1"/>
                </a:solidFill>
                <a:latin typeface="+mn-ea"/>
              </a:rPr>
              <a:t>Os/2</a:t>
            </a:r>
            <a:r>
              <a:rPr lang="zh-CN" altLang="en-US" sz="2400" b="1" dirty="0">
                <a:solidFill>
                  <a:schemeClr val="bg1"/>
                </a:solidFill>
                <a:latin typeface="+mn-ea"/>
              </a:rPr>
              <a:t>；有的则混合使用用户及线程和核心级线程，例如</a:t>
            </a:r>
            <a:r>
              <a:rPr lang="en-US" altLang="zh-CN" sz="2400" b="1" dirty="0">
                <a:solidFill>
                  <a:schemeClr val="bg1"/>
                </a:solidFill>
                <a:latin typeface="+mn-ea"/>
              </a:rPr>
              <a:t>Solaris </a:t>
            </a:r>
            <a:r>
              <a:rPr lang="zh-CN" altLang="en-US" sz="2400" b="1" dirty="0">
                <a:solidFill>
                  <a:schemeClr val="bg1"/>
                </a:solidFill>
                <a:latin typeface="+mn-ea"/>
              </a:rPr>
              <a:t>。</a:t>
            </a:r>
          </a:p>
        </p:txBody>
      </p:sp>
      <p:sp>
        <p:nvSpPr>
          <p:cNvPr id="3" name="线形标注 2 2"/>
          <p:cNvSpPr/>
          <p:nvPr/>
        </p:nvSpPr>
        <p:spPr>
          <a:xfrm>
            <a:off x="6156176" y="2499742"/>
            <a:ext cx="2808311" cy="1181437"/>
          </a:xfrm>
          <a:prstGeom prst="borderCallout2">
            <a:avLst>
              <a:gd name="adj1" fmla="val 18750"/>
              <a:gd name="adj2" fmla="val -8333"/>
              <a:gd name="adj3" fmla="val 18750"/>
              <a:gd name="adj4" fmla="val -16667"/>
              <a:gd name="adj5" fmla="val -64003"/>
              <a:gd name="adj6" fmla="val -25198"/>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nSpc>
                <a:spcPct val="120000"/>
              </a:lnSpc>
            </a:pPr>
            <a:r>
              <a:rPr lang="zh-CN" altLang="en-US" sz="2000" b="1" dirty="0"/>
              <a:t>管理过程全部由用户程序完成，操作系统内核只对进程进行管理</a:t>
            </a:r>
          </a:p>
        </p:txBody>
      </p:sp>
      <p:sp>
        <p:nvSpPr>
          <p:cNvPr id="29" name="线形标注 2 28"/>
          <p:cNvSpPr/>
          <p:nvPr/>
        </p:nvSpPr>
        <p:spPr>
          <a:xfrm>
            <a:off x="2051720" y="2942383"/>
            <a:ext cx="3456384" cy="1910210"/>
          </a:xfrm>
          <a:prstGeom prst="borderCallout2">
            <a:avLst>
              <a:gd name="adj1" fmla="val 18750"/>
              <a:gd name="adj2" fmla="val -8333"/>
              <a:gd name="adj3" fmla="val 18750"/>
              <a:gd name="adj4" fmla="val -16667"/>
              <a:gd name="adj5" fmla="val -35982"/>
              <a:gd name="adj6" fmla="val -28424"/>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nSpc>
                <a:spcPct val="120000"/>
              </a:lnSpc>
            </a:pPr>
            <a:r>
              <a:rPr lang="zh-CN" altLang="en-US" sz="2000" b="1" dirty="0"/>
              <a:t>操作系统内核进行管理。操作系统内核给应用程序提供相应的系统调用和应用程序接口</a:t>
            </a:r>
            <a:r>
              <a:rPr lang="en-US" altLang="zh-CN" sz="2000" b="1" dirty="0"/>
              <a:t>API</a:t>
            </a:r>
            <a:r>
              <a:rPr lang="zh-CN" altLang="en-US" sz="2000" b="1" dirty="0"/>
              <a:t>，以使用户程序可以创建、执行、撤消线程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29"/>
                                        </p:tgtEl>
                                      </p:cBhvr>
                                    </p:animEffect>
                                    <p:set>
                                      <p:cBhvr>
                                        <p:cTn id="27" dur="1" fill="hold">
                                          <p:stCondLst>
                                            <p:cond delay="499"/>
                                          </p:stCondLst>
                                        </p:cTn>
                                        <p:tgtEl>
                                          <p:spTgt spid="2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wipe(left)">
                                      <p:cBhvr>
                                        <p:cTn id="3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9" grpId="0" animBg="1"/>
      <p:bldP spid="29" grpId="1" animBg="1"/>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554087" y="736481"/>
            <a:ext cx="8261042" cy="43189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827584" y="699823"/>
            <a:ext cx="8065014" cy="43355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83568" y="709793"/>
            <a:ext cx="5760640" cy="4251205"/>
            <a:chOff x="683568" y="709793"/>
            <a:chExt cx="5760640" cy="4251205"/>
          </a:xfrm>
        </p:grpSpPr>
        <p:grpSp>
          <p:nvGrpSpPr>
            <p:cNvPr id="5" name="组合 4"/>
            <p:cNvGrpSpPr/>
            <p:nvPr/>
          </p:nvGrpSpPr>
          <p:grpSpPr>
            <a:xfrm>
              <a:off x="683568" y="709793"/>
              <a:ext cx="5760640" cy="4251205"/>
              <a:chOff x="683568" y="709793"/>
              <a:chExt cx="5760640" cy="4251205"/>
            </a:xfrm>
          </p:grpSpPr>
          <p:pic>
            <p:nvPicPr>
              <p:cNvPr id="2" name="图片 1"/>
              <p:cNvPicPr>
                <a:picLocks noChangeAspect="1"/>
              </p:cNvPicPr>
              <p:nvPr/>
            </p:nvPicPr>
            <p:blipFill rotWithShape="1">
              <a:blip r:embed="rId3"/>
              <a:srcRect l="14999" t="11584" r="31004" b="17573"/>
              <a:stretch>
                <a:fillRect/>
              </a:stretch>
            </p:blipFill>
            <p:spPr>
              <a:xfrm>
                <a:off x="683568" y="709793"/>
                <a:ext cx="5760640" cy="4251205"/>
              </a:xfrm>
              <a:prstGeom prst="rect">
                <a:avLst/>
              </a:prstGeom>
            </p:spPr>
          </p:pic>
          <p:pic>
            <p:nvPicPr>
              <p:cNvPr id="4" name="图片 3"/>
              <p:cNvPicPr>
                <a:picLocks noChangeAspect="1"/>
              </p:cNvPicPr>
              <p:nvPr/>
            </p:nvPicPr>
            <p:blipFill>
              <a:blip r:embed="rId4"/>
              <a:stretch>
                <a:fillRect/>
              </a:stretch>
            </p:blipFill>
            <p:spPr>
              <a:xfrm>
                <a:off x="4139952" y="4155926"/>
                <a:ext cx="1425063" cy="457240"/>
              </a:xfrm>
              <a:prstGeom prst="rect">
                <a:avLst/>
              </a:prstGeom>
            </p:spPr>
          </p:pic>
        </p:grpSp>
        <p:pic>
          <p:nvPicPr>
            <p:cNvPr id="3" name="图片 2"/>
            <p:cNvPicPr>
              <a:picLocks noChangeAspect="1"/>
            </p:cNvPicPr>
            <p:nvPr/>
          </p:nvPicPr>
          <p:blipFill>
            <a:blip r:embed="rId5"/>
            <a:stretch>
              <a:fillRect/>
            </a:stretch>
          </p:blipFill>
          <p:spPr>
            <a:xfrm>
              <a:off x="2833760" y="3432977"/>
              <a:ext cx="1927343" cy="1443981"/>
            </a:xfrm>
            <a:prstGeom prst="rect">
              <a:avLst/>
            </a:prstGeom>
          </p:spPr>
        </p:pic>
      </p:gr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6" name="图片 5"/>
          <p:cNvPicPr>
            <a:picLocks noChangeAspect="1"/>
          </p:cNvPicPr>
          <p:nvPr/>
        </p:nvPicPr>
        <p:blipFill>
          <a:blip r:embed="rId6"/>
          <a:stretch>
            <a:fillRect/>
          </a:stretch>
        </p:blipFill>
        <p:spPr>
          <a:xfrm>
            <a:off x="6618654" y="1814983"/>
            <a:ext cx="2415749" cy="2027096"/>
          </a:xfrm>
          <a:prstGeom prst="rect">
            <a:avLst/>
          </a:prstGeom>
        </p:spPr>
      </p:pic>
      <p:pic>
        <p:nvPicPr>
          <p:cNvPr id="7" name="图片 6"/>
          <p:cNvPicPr>
            <a:picLocks noChangeAspect="1"/>
          </p:cNvPicPr>
          <p:nvPr/>
        </p:nvPicPr>
        <p:blipFill>
          <a:blip r:embed="rId7"/>
          <a:stretch>
            <a:fillRect/>
          </a:stretch>
        </p:blipFill>
        <p:spPr>
          <a:xfrm>
            <a:off x="3123925" y="4258912"/>
            <a:ext cx="1364098" cy="3962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rotWithShape="1">
          <a:blip r:embed="rId3"/>
          <a:srcRect l="15628" t="24387" r="12978" b="5649"/>
          <a:stretch>
            <a:fillRect/>
          </a:stretch>
        </p:blipFill>
        <p:spPr>
          <a:xfrm>
            <a:off x="827584" y="986037"/>
            <a:ext cx="6708408" cy="36979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4" name="组合 3"/>
          <p:cNvGrpSpPr/>
          <p:nvPr/>
        </p:nvGrpSpPr>
        <p:grpSpPr>
          <a:xfrm>
            <a:off x="251520" y="709794"/>
            <a:ext cx="8861960" cy="4066075"/>
            <a:chOff x="251520" y="709794"/>
            <a:chExt cx="8861960" cy="4066075"/>
          </a:xfrm>
        </p:grpSpPr>
        <p:pic>
          <p:nvPicPr>
            <p:cNvPr id="2" name="图片 1"/>
            <p:cNvPicPr>
              <a:picLocks noChangeAspect="1"/>
            </p:cNvPicPr>
            <p:nvPr/>
          </p:nvPicPr>
          <p:blipFill rotWithShape="1">
            <a:blip r:embed="rId3"/>
            <a:srcRect r="33254"/>
            <a:stretch>
              <a:fillRect/>
            </a:stretch>
          </p:blipFill>
          <p:spPr>
            <a:xfrm>
              <a:off x="251520" y="709794"/>
              <a:ext cx="5832648" cy="4066075"/>
            </a:xfrm>
            <a:prstGeom prst="rect">
              <a:avLst/>
            </a:prstGeom>
          </p:spPr>
        </p:pic>
        <p:pic>
          <p:nvPicPr>
            <p:cNvPr id="29" name="图片 28"/>
            <p:cNvPicPr>
              <a:picLocks noChangeAspect="1"/>
            </p:cNvPicPr>
            <p:nvPr/>
          </p:nvPicPr>
          <p:blipFill rotWithShape="1">
            <a:blip r:embed="rId3"/>
            <a:srcRect l="65923" t="12396" r="292" b="64581"/>
            <a:stretch>
              <a:fillRect/>
            </a:stretch>
          </p:blipFill>
          <p:spPr>
            <a:xfrm>
              <a:off x="6161152" y="2139702"/>
              <a:ext cx="2952328" cy="936105"/>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491630"/>
            <a:ext cx="6696744" cy="222176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线程只由</a:t>
            </a:r>
            <a:r>
              <a:rPr lang="zh-CN" altLang="en-US" sz="2400" b="1" dirty="0">
                <a:solidFill>
                  <a:srgbClr val="FFFF00"/>
                </a:solidFill>
                <a:latin typeface="+mn-ea"/>
              </a:rPr>
              <a:t>相关堆栈（系统栈或用户栈）寄存器</a:t>
            </a:r>
            <a:r>
              <a:rPr lang="zh-CN" altLang="en-US" sz="2400" b="1" dirty="0">
                <a:solidFill>
                  <a:schemeClr val="bg1"/>
                </a:solidFill>
                <a:latin typeface="+mn-ea"/>
              </a:rPr>
              <a:t>和</a:t>
            </a:r>
            <a:r>
              <a:rPr lang="zh-CN" altLang="en-US" sz="2400" b="1" dirty="0">
                <a:solidFill>
                  <a:srgbClr val="FFFF00"/>
                </a:solidFill>
                <a:latin typeface="+mn-ea"/>
              </a:rPr>
              <a:t>线程控制表</a:t>
            </a:r>
            <a:r>
              <a:rPr lang="en-US" altLang="zh-CN" sz="2400" b="1" dirty="0" smtClean="0">
                <a:solidFill>
                  <a:srgbClr val="FFFF00"/>
                </a:solidFill>
                <a:latin typeface="+mn-ea"/>
              </a:rPr>
              <a:t>TCB</a:t>
            </a:r>
            <a:r>
              <a:rPr lang="zh-CN" altLang="en-US" sz="2400" b="1" dirty="0" smtClean="0">
                <a:solidFill>
                  <a:srgbClr val="FFFF00"/>
                </a:solidFill>
                <a:latin typeface="+mn-ea"/>
              </a:rPr>
              <a:t>（保存的状态信息比</a:t>
            </a:r>
            <a:r>
              <a:rPr lang="en-US" altLang="zh-CN" sz="2400" b="1" dirty="0" smtClean="0">
                <a:solidFill>
                  <a:srgbClr val="FFFF00"/>
                </a:solidFill>
                <a:latin typeface="+mn-ea"/>
              </a:rPr>
              <a:t>PCB</a:t>
            </a:r>
            <a:r>
              <a:rPr lang="zh-CN" altLang="en-US" sz="2400" b="1" dirty="0" smtClean="0">
                <a:solidFill>
                  <a:srgbClr val="FFFF00"/>
                </a:solidFill>
                <a:latin typeface="+mn-ea"/>
              </a:rPr>
              <a:t>少的多）</a:t>
            </a:r>
            <a:r>
              <a:rPr lang="zh-CN" altLang="en-US" sz="2400" b="1" dirty="0" smtClean="0">
                <a:solidFill>
                  <a:schemeClr val="bg1"/>
                </a:solidFill>
                <a:latin typeface="+mn-ea"/>
              </a:rPr>
              <a:t>组成</a:t>
            </a:r>
            <a:r>
              <a:rPr lang="zh-CN" altLang="en-US" sz="2400" b="1" dirty="0">
                <a:solidFill>
                  <a:schemeClr val="bg1"/>
                </a:solidFill>
                <a:latin typeface="+mn-ea"/>
              </a:rPr>
              <a:t>。寄存器可被用来存储线程内的局部变量，但不能存储其他线程的相关变量。</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996536" cy="3323987"/>
          </a:xfrm>
          <a:prstGeom prst="rect">
            <a:avLst/>
          </a:prstGeom>
        </p:spPr>
        <p:txBody>
          <a:bodyPr wrap="square">
            <a:spAutoFit/>
          </a:bodyPr>
          <a:lstStyle/>
          <a:p>
            <a:pPr algn="just">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a:solidFill>
                  <a:schemeClr val="bg1"/>
                </a:solidFill>
                <a:latin typeface="+mn-ea"/>
              </a:rPr>
              <a:t>发生进程切换与发生线程切换时相比较，</a:t>
            </a:r>
            <a:r>
              <a:rPr lang="zh-CN" altLang="en-US" sz="2000" b="1" dirty="0">
                <a:solidFill>
                  <a:srgbClr val="FFFF00"/>
                </a:solidFill>
                <a:latin typeface="+mn-ea"/>
              </a:rPr>
              <a:t>进程切换</a:t>
            </a:r>
            <a:r>
              <a:rPr lang="zh-CN" altLang="en-US" sz="2000" b="1" dirty="0">
                <a:solidFill>
                  <a:schemeClr val="bg1"/>
                </a:solidFill>
                <a:latin typeface="+mn-ea"/>
              </a:rPr>
              <a:t>时将涉及到</a:t>
            </a:r>
            <a:r>
              <a:rPr lang="zh-CN" altLang="en-US" sz="2000" b="1" dirty="0">
                <a:solidFill>
                  <a:srgbClr val="FFFF00"/>
                </a:solidFill>
                <a:latin typeface="+mn-ea"/>
              </a:rPr>
              <a:t>有关资源指针的保存</a:t>
            </a:r>
            <a:r>
              <a:rPr lang="zh-CN" altLang="en-US" sz="2000" b="1" dirty="0">
                <a:solidFill>
                  <a:schemeClr val="bg1"/>
                </a:solidFill>
                <a:latin typeface="+mn-ea"/>
              </a:rPr>
              <a:t>以及</a:t>
            </a:r>
            <a:r>
              <a:rPr lang="zh-CN" altLang="en-US" sz="2000" b="1" dirty="0">
                <a:solidFill>
                  <a:srgbClr val="FFFF00"/>
                </a:solidFill>
                <a:latin typeface="+mn-ea"/>
              </a:rPr>
              <a:t>地址空间的变化</a:t>
            </a:r>
            <a:r>
              <a:rPr lang="zh-CN" altLang="en-US" sz="2000" b="1" dirty="0">
                <a:solidFill>
                  <a:schemeClr val="bg1"/>
                </a:solidFill>
                <a:latin typeface="+mn-ea"/>
              </a:rPr>
              <a:t>等</a:t>
            </a:r>
            <a:r>
              <a:rPr lang="zh-CN" altLang="en-US" sz="2000" b="1" dirty="0" smtClean="0">
                <a:solidFill>
                  <a:schemeClr val="bg1"/>
                </a:solidFill>
                <a:latin typeface="+mn-ea"/>
              </a:rPr>
              <a:t>问题。线程</a:t>
            </a:r>
            <a:r>
              <a:rPr lang="zh-CN" altLang="en-US" sz="2000" b="1" dirty="0">
                <a:solidFill>
                  <a:schemeClr val="bg1"/>
                </a:solidFill>
                <a:latin typeface="+mn-ea"/>
              </a:rPr>
              <a:t>切换时，由于同一进程内的线程共享资源和地址空间，将不涉及资源信息的保存和地址变化问题，从而减少了操作系统的开销时间</a:t>
            </a:r>
            <a:r>
              <a:rPr lang="zh-CN" altLang="en-US" sz="2000" b="1" dirty="0" smtClean="0">
                <a:solidFill>
                  <a:schemeClr val="bg1"/>
                </a:solidFill>
                <a:latin typeface="+mn-ea"/>
              </a:rPr>
              <a:t>。</a:t>
            </a:r>
            <a:endParaRPr lang="en-US" altLang="zh-CN" sz="2000" b="1" dirty="0" smtClean="0">
              <a:solidFill>
                <a:schemeClr val="bg1"/>
              </a:solidFill>
              <a:latin typeface="+mn-ea"/>
            </a:endParaRPr>
          </a:p>
          <a:p>
            <a:pPr algn="just">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rgbClr val="FFFF00"/>
                </a:solidFill>
                <a:latin typeface="+mn-ea"/>
              </a:rPr>
              <a:t>进程</a:t>
            </a:r>
            <a:r>
              <a:rPr lang="zh-CN" altLang="en-US" sz="2000" b="1" dirty="0">
                <a:solidFill>
                  <a:srgbClr val="FFFF00"/>
                </a:solidFill>
                <a:latin typeface="+mn-ea"/>
              </a:rPr>
              <a:t>的调度与切换</a:t>
            </a:r>
            <a:r>
              <a:rPr lang="zh-CN" altLang="en-US" sz="2000" b="1" dirty="0">
                <a:solidFill>
                  <a:schemeClr val="bg1"/>
                </a:solidFill>
                <a:latin typeface="+mn-ea"/>
              </a:rPr>
              <a:t>都是由</a:t>
            </a:r>
            <a:r>
              <a:rPr lang="zh-CN" altLang="en-US" sz="2000" b="1" dirty="0">
                <a:solidFill>
                  <a:srgbClr val="FFFF00"/>
                </a:solidFill>
                <a:latin typeface="+mn-ea"/>
              </a:rPr>
              <a:t>操作系统内核</a:t>
            </a:r>
            <a:r>
              <a:rPr lang="zh-CN" altLang="en-US" sz="2000" b="1" dirty="0">
                <a:solidFill>
                  <a:schemeClr val="bg1"/>
                </a:solidFill>
                <a:latin typeface="+mn-ea"/>
              </a:rPr>
              <a:t>完成，而</a:t>
            </a:r>
            <a:r>
              <a:rPr lang="zh-CN" altLang="en-US" sz="2000" b="1" dirty="0">
                <a:solidFill>
                  <a:srgbClr val="FFFF00"/>
                </a:solidFill>
                <a:latin typeface="+mn-ea"/>
              </a:rPr>
              <a:t>线程</a:t>
            </a:r>
            <a:r>
              <a:rPr lang="zh-CN" altLang="en-US" sz="2000" b="1" dirty="0">
                <a:solidFill>
                  <a:schemeClr val="bg1"/>
                </a:solidFill>
                <a:latin typeface="+mn-ea"/>
              </a:rPr>
              <a:t>则既可由</a:t>
            </a:r>
            <a:r>
              <a:rPr lang="zh-CN" altLang="en-US" sz="2000" b="1" dirty="0">
                <a:solidFill>
                  <a:srgbClr val="FFFF00"/>
                </a:solidFill>
                <a:latin typeface="+mn-ea"/>
              </a:rPr>
              <a:t>操作系统内</a:t>
            </a:r>
            <a:r>
              <a:rPr lang="zh-CN" altLang="en-US" sz="2000" b="1" dirty="0">
                <a:solidFill>
                  <a:schemeClr val="bg1"/>
                </a:solidFill>
                <a:latin typeface="+mn-ea"/>
              </a:rPr>
              <a:t>核完成，也可</a:t>
            </a:r>
            <a:r>
              <a:rPr lang="zh-CN" altLang="en-US" sz="2000" b="1" dirty="0">
                <a:solidFill>
                  <a:srgbClr val="FFFF00"/>
                </a:solidFill>
                <a:latin typeface="+mn-ea"/>
              </a:rPr>
              <a:t>由用户</a:t>
            </a:r>
            <a:r>
              <a:rPr lang="zh-CN" altLang="en-US" sz="2000" b="1" dirty="0" smtClean="0">
                <a:solidFill>
                  <a:srgbClr val="FFFF00"/>
                </a:solidFill>
                <a:latin typeface="+mn-ea"/>
              </a:rPr>
              <a:t>程</a:t>
            </a:r>
            <a:r>
              <a:rPr lang="zh-CN" altLang="en-US" sz="2000" b="1" dirty="0" smtClean="0">
                <a:solidFill>
                  <a:schemeClr val="bg1"/>
                </a:solidFill>
                <a:latin typeface="+mn-ea"/>
              </a:rPr>
              <a:t>序</a:t>
            </a:r>
            <a:r>
              <a:rPr lang="en-US" altLang="zh-CN" sz="2000" b="1" dirty="0" smtClean="0">
                <a:solidFill>
                  <a:schemeClr val="bg1"/>
                </a:solidFill>
                <a:latin typeface="+mn-ea"/>
              </a:rPr>
              <a:t>(</a:t>
            </a:r>
            <a:r>
              <a:rPr lang="zh-CN" altLang="en-US" sz="2000" b="1" dirty="0" smtClean="0">
                <a:solidFill>
                  <a:schemeClr val="bg1"/>
                </a:solidFill>
                <a:latin typeface="+mn-ea"/>
              </a:rPr>
              <a:t>用户</a:t>
            </a:r>
            <a:r>
              <a:rPr lang="zh-CN" altLang="en-US" sz="2000" b="1" dirty="0">
                <a:solidFill>
                  <a:schemeClr val="bg1"/>
                </a:solidFill>
                <a:latin typeface="+mn-ea"/>
              </a:rPr>
              <a:t>级</a:t>
            </a:r>
            <a:r>
              <a:rPr lang="zh-CN" altLang="en-US" sz="2000" b="1" dirty="0" smtClean="0">
                <a:solidFill>
                  <a:schemeClr val="bg1"/>
                </a:solidFill>
                <a:latin typeface="+mn-ea"/>
              </a:rPr>
              <a:t>线程）进行</a:t>
            </a:r>
            <a:r>
              <a:rPr lang="zh-CN" altLang="en-US" sz="2000" b="1" dirty="0">
                <a:solidFill>
                  <a:schemeClr val="bg1"/>
                </a:solidFill>
                <a:latin typeface="+mn-ea"/>
              </a:rPr>
              <a:t>。</a:t>
            </a:r>
          </a:p>
        </p:txBody>
      </p:sp>
      <p:pic>
        <p:nvPicPr>
          <p:cNvPr id="29"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297" y="661733"/>
            <a:ext cx="6125713" cy="423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circle(in)">
                                      <p:cBhvr>
                                        <p:cTn id="1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用户级线程创建与进程创建的不同</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73735"/>
            <a:ext cx="6984777" cy="286232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rgbClr val="FFFF00"/>
                </a:solidFill>
                <a:latin typeface="+mn-ea"/>
              </a:rPr>
              <a:t>用户级线程的调度算法</a:t>
            </a:r>
            <a:r>
              <a:rPr lang="zh-CN" altLang="en-US" sz="2400" b="1" dirty="0">
                <a:solidFill>
                  <a:schemeClr val="bg1"/>
                </a:solidFill>
                <a:latin typeface="+mn-ea"/>
              </a:rPr>
              <a:t>和</a:t>
            </a:r>
            <a:r>
              <a:rPr lang="zh-CN" altLang="en-US" sz="2400" b="1" dirty="0">
                <a:solidFill>
                  <a:srgbClr val="FFFF00"/>
                </a:solidFill>
                <a:latin typeface="+mn-ea"/>
              </a:rPr>
              <a:t>调度过程</a:t>
            </a:r>
            <a:r>
              <a:rPr lang="zh-CN" altLang="en-US" sz="2400" b="1" dirty="0">
                <a:solidFill>
                  <a:schemeClr val="bg1"/>
                </a:solidFill>
                <a:latin typeface="+mn-ea"/>
              </a:rPr>
              <a:t>全部由</a:t>
            </a:r>
            <a:r>
              <a:rPr lang="zh-CN" altLang="en-US" sz="2400" b="1" dirty="0">
                <a:solidFill>
                  <a:srgbClr val="FFFF00"/>
                </a:solidFill>
                <a:latin typeface="+mn-ea"/>
              </a:rPr>
              <a:t>用户自行选择和确定</a:t>
            </a:r>
            <a:r>
              <a:rPr lang="zh-CN" altLang="en-US" sz="2400" b="1" dirty="0">
                <a:solidFill>
                  <a:schemeClr val="bg1"/>
                </a:solidFill>
                <a:latin typeface="+mn-ea"/>
              </a:rPr>
              <a:t>，与操作系统内核无关。在用户级线程系统中，操作系统内核的调度单位仍是进程。如果进程的调度区间为</a:t>
            </a:r>
            <a:r>
              <a:rPr lang="en-US" altLang="zh-CN" sz="2400" b="1" dirty="0">
                <a:solidFill>
                  <a:schemeClr val="bg1"/>
                </a:solidFill>
                <a:latin typeface="+mn-ea"/>
              </a:rPr>
              <a:t>T</a:t>
            </a:r>
            <a:r>
              <a:rPr lang="zh-CN" altLang="en-US" sz="2400" b="1" dirty="0">
                <a:solidFill>
                  <a:schemeClr val="bg1"/>
                </a:solidFill>
                <a:latin typeface="+mn-ea"/>
              </a:rPr>
              <a:t>，则在</a:t>
            </a:r>
            <a:r>
              <a:rPr lang="en-US" altLang="zh-CN" sz="2400" b="1" dirty="0">
                <a:solidFill>
                  <a:schemeClr val="bg1"/>
                </a:solidFill>
                <a:latin typeface="+mn-ea"/>
              </a:rPr>
              <a:t>T</a:t>
            </a:r>
            <a:r>
              <a:rPr lang="zh-CN" altLang="en-US" sz="2400" b="1" dirty="0">
                <a:solidFill>
                  <a:schemeClr val="bg1"/>
                </a:solidFill>
                <a:latin typeface="+mn-ea"/>
              </a:rPr>
              <a:t>区间内，用户可以根据自己的需要设置不同线程调度算法。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创建与进程创建的不同</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73735"/>
            <a:ext cx="6984777" cy="341632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rgbClr val="FFFF00"/>
                </a:solidFill>
                <a:latin typeface="+mn-ea"/>
              </a:rPr>
              <a:t>用户级线程</a:t>
            </a:r>
            <a:r>
              <a:rPr lang="zh-CN" altLang="en-US" sz="2400" b="1" dirty="0">
                <a:solidFill>
                  <a:schemeClr val="bg1"/>
                </a:solidFill>
                <a:latin typeface="+mn-ea"/>
              </a:rPr>
              <a:t>的调度算法只进行线程上下文切换而不进行处理机切换，且其线程上下文切换是在内核不参与的情况下进行的。也就是说，</a:t>
            </a:r>
            <a:r>
              <a:rPr lang="zh-CN" altLang="en-US" sz="2400" b="1" dirty="0">
                <a:solidFill>
                  <a:srgbClr val="FFFF00"/>
                </a:solidFill>
                <a:latin typeface="+mn-ea"/>
              </a:rPr>
              <a:t>线程上下文切换只是在用户栈、用户寄存器等之间进行切换</a:t>
            </a:r>
            <a:r>
              <a:rPr lang="zh-CN" altLang="en-US" sz="2400" b="1" dirty="0">
                <a:solidFill>
                  <a:schemeClr val="bg1"/>
                </a:solidFill>
                <a:latin typeface="+mn-ea"/>
              </a:rPr>
              <a:t>，不涉及处理机的状态。新线程通过程序调用指针的变化使得程序计数器变化而得以执行。</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1045588" y="345375"/>
            <a:ext cx="7484759" cy="46667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用户级线程</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创建与进程创建的不同</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73735"/>
            <a:ext cx="6984777" cy="341632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因为用户级线程的上下文切换与内核无关，所以可能出现如下情况：即当一个进程由于</a:t>
            </a:r>
            <a:r>
              <a:rPr lang="en-US" altLang="zh-CN" sz="2400" b="1" dirty="0">
                <a:solidFill>
                  <a:schemeClr val="bg1"/>
                </a:solidFill>
                <a:latin typeface="+mn-ea"/>
              </a:rPr>
              <a:t>I/O</a:t>
            </a:r>
            <a:r>
              <a:rPr lang="zh-CN" altLang="en-US" sz="2400" b="1" dirty="0">
                <a:solidFill>
                  <a:schemeClr val="bg1"/>
                </a:solidFill>
                <a:latin typeface="+mn-ea"/>
              </a:rPr>
              <a:t>中断或时间片用完等原因造成该进程退出处理机，而属于该进程的执行中线程仍处于执行状态。也就是说，尽管相关</a:t>
            </a:r>
            <a:r>
              <a:rPr lang="zh-CN" altLang="en-US" sz="2400" b="1" dirty="0">
                <a:solidFill>
                  <a:srgbClr val="FFFF00"/>
                </a:solidFill>
                <a:latin typeface="+mn-ea"/>
              </a:rPr>
              <a:t>进程的的状态是阻塞的或等待</a:t>
            </a:r>
            <a:r>
              <a:rPr lang="zh-CN" altLang="en-US" sz="2400" b="1" dirty="0">
                <a:solidFill>
                  <a:schemeClr val="bg1"/>
                </a:solidFill>
                <a:latin typeface="+mn-ea"/>
              </a:rPr>
              <a:t>的，但</a:t>
            </a:r>
            <a:r>
              <a:rPr lang="zh-CN" altLang="en-US" sz="2400" b="1" dirty="0">
                <a:solidFill>
                  <a:srgbClr val="FFFF00"/>
                </a:solidFill>
                <a:latin typeface="+mn-ea"/>
              </a:rPr>
              <a:t>所属线程状态却是执行的</a:t>
            </a:r>
            <a:r>
              <a:rPr lang="zh-CN" altLang="en-US" sz="2400" b="1" dirty="0">
                <a:solidFill>
                  <a:schemeClr val="bg1"/>
                </a:solidFill>
                <a:latin typeface="+mn-ea"/>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73735"/>
            <a:ext cx="6984777" cy="2862322"/>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内核级</a:t>
            </a:r>
            <a:r>
              <a:rPr lang="zh-CN" altLang="en-US" sz="2400" b="1" dirty="0">
                <a:solidFill>
                  <a:schemeClr val="bg1"/>
                </a:solidFill>
                <a:latin typeface="+mn-ea"/>
              </a:rPr>
              <a:t>线程既可以被调度到一个处理机上并发执行，也可以被调度到不同的处理机上并行执行。</a:t>
            </a:r>
            <a:r>
              <a:rPr lang="zh-CN" altLang="en-US" sz="2400" b="1" dirty="0">
                <a:solidFill>
                  <a:srgbClr val="FFFF00"/>
                </a:solidFill>
                <a:latin typeface="+mn-ea"/>
              </a:rPr>
              <a:t>操作系统内核既负责进程的调度，也负责进程内不同线程的调度工作</a:t>
            </a:r>
            <a:r>
              <a:rPr lang="zh-CN" altLang="en-US" sz="2400" b="1" dirty="0">
                <a:solidFill>
                  <a:schemeClr val="bg1"/>
                </a:solidFill>
                <a:latin typeface="+mn-ea"/>
              </a:rPr>
              <a:t>。因此，核心级线程不会出现进程处于阻塞或等待状态，而线程处于执行状态的情况。</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899592" y="786291"/>
            <a:ext cx="7618640" cy="43049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rotWithShape="1">
          <a:blip r:embed="rId3"/>
          <a:srcRect r="41371"/>
          <a:stretch>
            <a:fillRect/>
          </a:stretch>
        </p:blipFill>
        <p:spPr>
          <a:xfrm>
            <a:off x="611561" y="819174"/>
            <a:ext cx="4392488" cy="4032655"/>
          </a:xfrm>
          <a:prstGeom prst="rect">
            <a:avLst/>
          </a:prstGeom>
        </p:spPr>
      </p:pic>
      <p:pic>
        <p:nvPicPr>
          <p:cNvPr id="5" name="图片 4"/>
          <p:cNvPicPr>
            <a:picLocks noChangeAspect="1"/>
          </p:cNvPicPr>
          <p:nvPr/>
        </p:nvPicPr>
        <p:blipFill>
          <a:blip r:embed="rId4"/>
          <a:stretch>
            <a:fillRect/>
          </a:stretch>
        </p:blipFill>
        <p:spPr>
          <a:xfrm>
            <a:off x="5785094" y="276852"/>
            <a:ext cx="2027266" cy="2136047"/>
          </a:xfrm>
          <a:prstGeom prst="rect">
            <a:avLst/>
          </a:prstGeom>
        </p:spPr>
      </p:pic>
      <p:grpSp>
        <p:nvGrpSpPr>
          <p:cNvPr id="7" name="组合 6"/>
          <p:cNvGrpSpPr/>
          <p:nvPr/>
        </p:nvGrpSpPr>
        <p:grpSpPr>
          <a:xfrm>
            <a:off x="5819726" y="2859782"/>
            <a:ext cx="2027266" cy="1721933"/>
            <a:chOff x="5878056" y="2931193"/>
            <a:chExt cx="1623201" cy="1539373"/>
          </a:xfrm>
        </p:grpSpPr>
        <p:pic>
          <p:nvPicPr>
            <p:cNvPr id="4" name="图片 3"/>
            <p:cNvPicPr>
              <a:picLocks noChangeAspect="1"/>
            </p:cNvPicPr>
            <p:nvPr/>
          </p:nvPicPr>
          <p:blipFill>
            <a:blip r:embed="rId5"/>
            <a:stretch>
              <a:fillRect/>
            </a:stretch>
          </p:blipFill>
          <p:spPr>
            <a:xfrm>
              <a:off x="5878056" y="2931193"/>
              <a:ext cx="1623201" cy="1539373"/>
            </a:xfrm>
            <a:prstGeom prst="rect">
              <a:avLst/>
            </a:prstGeom>
          </p:spPr>
        </p:pic>
        <p:sp>
          <p:nvSpPr>
            <p:cNvPr id="6" name="文本框 5"/>
            <p:cNvSpPr txBox="1"/>
            <p:nvPr/>
          </p:nvSpPr>
          <p:spPr>
            <a:xfrm>
              <a:off x="5954143" y="3049205"/>
              <a:ext cx="1224136" cy="307777"/>
            </a:xfrm>
            <a:prstGeom prst="rect">
              <a:avLst/>
            </a:prstGeom>
            <a:solidFill>
              <a:schemeClr val="bg1"/>
            </a:solidFill>
          </p:spPr>
          <p:txBody>
            <a:bodyPr wrap="square" rtlCol="0">
              <a:spAutoFit/>
            </a:bodyPr>
            <a:lstStyle/>
            <a:p>
              <a:pPr algn="ctr"/>
              <a:r>
                <a:rPr lang="zh-CN" altLang="en-US" sz="1400" b="1" dirty="0" smtClean="0"/>
                <a:t>多核</a:t>
              </a:r>
              <a:endParaRPr lang="zh-CN" altLang="en-US" sz="1400" b="1" dirty="0"/>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533499" y="600838"/>
            <a:ext cx="8105384" cy="43338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446026" y="1139648"/>
            <a:ext cx="8246825" cy="32817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357156" y="200444"/>
            <a:ext cx="8396420" cy="47905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359096" y="742975"/>
            <a:ext cx="8417087" cy="4049036"/>
          </a:xfrm>
          <a:prstGeom prst="rect">
            <a:avLst/>
          </a:prstGeom>
        </p:spPr>
      </p:pic>
      <p:pic>
        <p:nvPicPr>
          <p:cNvPr id="2" name="图片 1"/>
          <p:cNvPicPr>
            <a:picLocks noChangeAspect="1"/>
          </p:cNvPicPr>
          <p:nvPr/>
        </p:nvPicPr>
        <p:blipFill rotWithShape="1">
          <a:blip r:embed="rId4"/>
          <a:srcRect l="29525" t="71000" r="52756" b="18600"/>
          <a:stretch>
            <a:fillRect/>
          </a:stretch>
        </p:blipFill>
        <p:spPr>
          <a:xfrm>
            <a:off x="5292080" y="3435846"/>
            <a:ext cx="1872208" cy="6181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787487" y="443375"/>
            <a:ext cx="7635198" cy="46700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73735"/>
            <a:ext cx="6984777" cy="1113766"/>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内核级线程的上下文切换时间要大于用户级线程的上下文切换时间。</a:t>
            </a:r>
            <a:endParaRPr lang="zh-CN" altLang="en-US" sz="2400" b="1" dirty="0">
              <a:solidFill>
                <a:schemeClr val="bg1"/>
              </a:solidFill>
              <a:latin typeface="+mn-ea"/>
            </a:endParaRPr>
          </a:p>
        </p:txBody>
      </p:sp>
      <p:pic>
        <p:nvPicPr>
          <p:cNvPr id="4" name="图片 3"/>
          <p:cNvPicPr>
            <a:picLocks noChangeAspect="1"/>
          </p:cNvPicPr>
          <p:nvPr/>
        </p:nvPicPr>
        <p:blipFill>
          <a:blip r:embed="rId3"/>
          <a:stretch>
            <a:fillRect/>
          </a:stretch>
        </p:blipFill>
        <p:spPr>
          <a:xfrm>
            <a:off x="1795846" y="2403722"/>
            <a:ext cx="5569599" cy="21122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out)">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用户级和内核级线程的对比</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1115616" y="633620"/>
            <a:ext cx="6336704" cy="44152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55106"/>
            <a:ext cx="6984777" cy="2308324"/>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与系统级线程相比，用户级线程的另一个</a:t>
            </a:r>
            <a:r>
              <a:rPr lang="zh-CN" altLang="en-US" sz="2400" b="1" dirty="0">
                <a:solidFill>
                  <a:srgbClr val="FFFF00"/>
                </a:solidFill>
                <a:latin typeface="+mn-ea"/>
              </a:rPr>
              <a:t>优点</a:t>
            </a:r>
            <a:r>
              <a:rPr lang="zh-CN" altLang="en-US" sz="2400" b="1" dirty="0">
                <a:solidFill>
                  <a:schemeClr val="bg1"/>
                </a:solidFill>
                <a:latin typeface="+mn-ea"/>
              </a:rPr>
              <a:t>是实现</a:t>
            </a:r>
            <a:r>
              <a:rPr lang="zh-CN" altLang="en-US" sz="2400" b="1" dirty="0">
                <a:solidFill>
                  <a:srgbClr val="FFFF00"/>
                </a:solidFill>
                <a:latin typeface="+mn-ea"/>
              </a:rPr>
              <a:t>用户级线程不需要操作系统内核的特殊支持</a:t>
            </a:r>
            <a:r>
              <a:rPr lang="zh-CN" altLang="en-US" sz="2400" b="1" dirty="0">
                <a:solidFill>
                  <a:schemeClr val="bg1"/>
                </a:solidFill>
                <a:latin typeface="+mn-ea"/>
              </a:rPr>
              <a:t>，只要有一个能提供线程创建、调度、执行、撤消，以及通信等功能的</a:t>
            </a:r>
            <a:r>
              <a:rPr lang="zh-CN" altLang="en-US" sz="2400" b="1" dirty="0">
                <a:solidFill>
                  <a:srgbClr val="FFFF00"/>
                </a:solidFill>
                <a:latin typeface="+mn-ea"/>
              </a:rPr>
              <a:t>线程库</a:t>
            </a:r>
            <a:r>
              <a:rPr lang="zh-CN" altLang="en-US" sz="2400" b="1" dirty="0">
                <a:solidFill>
                  <a:schemeClr val="bg1"/>
                </a:solidFill>
                <a:latin typeface="+mn-ea"/>
              </a:rPr>
              <a:t>就行了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线程的执行特性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68634"/>
            <a:ext cx="6984777" cy="341632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线程有</a:t>
            </a:r>
            <a:r>
              <a:rPr lang="en-US" altLang="zh-CN" sz="2400" b="1" dirty="0">
                <a:solidFill>
                  <a:srgbClr val="FFFF00"/>
                </a:solidFill>
                <a:latin typeface="+mn-ea"/>
              </a:rPr>
              <a:t>3</a:t>
            </a:r>
            <a:r>
              <a:rPr lang="zh-CN" altLang="en-US" sz="2400" b="1" dirty="0">
                <a:solidFill>
                  <a:srgbClr val="FFFF00"/>
                </a:solidFill>
                <a:latin typeface="+mn-ea"/>
              </a:rPr>
              <a:t>个基本状态</a:t>
            </a:r>
            <a:r>
              <a:rPr lang="zh-CN" altLang="en-US" sz="2400" b="1" dirty="0">
                <a:solidFill>
                  <a:schemeClr val="bg1"/>
                </a:solidFill>
                <a:latin typeface="+mn-ea"/>
              </a:rPr>
              <a:t>，即</a:t>
            </a:r>
            <a:r>
              <a:rPr lang="zh-CN" altLang="en-US" sz="2400" b="1" dirty="0">
                <a:solidFill>
                  <a:srgbClr val="FFFF00"/>
                </a:solidFill>
                <a:latin typeface="+mn-ea"/>
              </a:rPr>
              <a:t>执行</a:t>
            </a:r>
            <a:r>
              <a:rPr lang="zh-CN" altLang="en-US" sz="2400" b="1" dirty="0">
                <a:solidFill>
                  <a:schemeClr val="bg1"/>
                </a:solidFill>
                <a:latin typeface="+mn-ea"/>
              </a:rPr>
              <a:t>、</a:t>
            </a:r>
            <a:r>
              <a:rPr lang="zh-CN" altLang="en-US" sz="2400" b="1" dirty="0">
                <a:solidFill>
                  <a:srgbClr val="FFFF00"/>
                </a:solidFill>
                <a:latin typeface="+mn-ea"/>
              </a:rPr>
              <a:t>就绪</a:t>
            </a:r>
            <a:r>
              <a:rPr lang="zh-CN" altLang="en-US" sz="2400" b="1" dirty="0">
                <a:solidFill>
                  <a:schemeClr val="bg1"/>
                </a:solidFill>
                <a:latin typeface="+mn-ea"/>
              </a:rPr>
              <a:t>和</a:t>
            </a:r>
            <a:r>
              <a:rPr lang="zh-CN" altLang="en-US" sz="2400" b="1" dirty="0">
                <a:solidFill>
                  <a:srgbClr val="FFFF00"/>
                </a:solidFill>
                <a:latin typeface="+mn-ea"/>
              </a:rPr>
              <a:t>阻塞</a:t>
            </a:r>
            <a:r>
              <a:rPr lang="zh-CN" altLang="en-US" sz="2400" b="1" dirty="0">
                <a:solidFill>
                  <a:schemeClr val="bg1"/>
                </a:solidFill>
                <a:latin typeface="+mn-ea"/>
              </a:rPr>
              <a:t>。但是线程没有进程中的挂起状态。也就是说，线程是一个只与内存和寄存器相关的概念，它的内容不会因交换而进入外存</a:t>
            </a:r>
            <a:r>
              <a:rPr lang="zh-CN" altLang="en-US" sz="2400" b="1" dirty="0" smtClean="0">
                <a:solidFill>
                  <a:schemeClr val="bg1"/>
                </a:solidFill>
                <a:latin typeface="+mn-ea"/>
              </a:rPr>
              <a:t>。</a:t>
            </a:r>
            <a:endParaRPr lang="en-US" altLang="zh-CN" sz="2400" b="1" dirty="0" smtClean="0">
              <a:solidFill>
                <a:schemeClr val="bg1"/>
              </a:solidFill>
              <a:latin typeface="+mn-ea"/>
            </a:endParaRPr>
          </a:p>
          <a:p>
            <a:pPr indent="-342900">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针对线程的</a:t>
            </a:r>
            <a:r>
              <a:rPr lang="en-US" altLang="zh-CN" sz="2400" b="1" dirty="0">
                <a:solidFill>
                  <a:srgbClr val="FFFF00"/>
                </a:solidFill>
                <a:latin typeface="+mn-ea"/>
              </a:rPr>
              <a:t>3</a:t>
            </a:r>
            <a:r>
              <a:rPr lang="zh-CN" altLang="en-US" sz="2400" b="1" dirty="0">
                <a:solidFill>
                  <a:srgbClr val="FFFF00"/>
                </a:solidFill>
                <a:latin typeface="+mn-ea"/>
              </a:rPr>
              <a:t>种基本状态</a:t>
            </a:r>
            <a:r>
              <a:rPr lang="zh-CN" altLang="en-US" sz="2400" b="1" dirty="0">
                <a:solidFill>
                  <a:schemeClr val="bg1"/>
                </a:solidFill>
                <a:latin typeface="+mn-ea"/>
              </a:rPr>
              <a:t>，存在</a:t>
            </a:r>
            <a:r>
              <a:rPr lang="en-US" altLang="zh-CN" sz="2400" b="1" dirty="0">
                <a:solidFill>
                  <a:srgbClr val="FFFF00"/>
                </a:solidFill>
                <a:latin typeface="+mn-ea"/>
              </a:rPr>
              <a:t>5</a:t>
            </a:r>
            <a:r>
              <a:rPr lang="zh-CN" altLang="en-US" sz="2400" b="1" dirty="0">
                <a:solidFill>
                  <a:srgbClr val="FFFF00"/>
                </a:solidFill>
                <a:latin typeface="+mn-ea"/>
              </a:rPr>
              <a:t>种基本操作</a:t>
            </a:r>
            <a:r>
              <a:rPr lang="zh-CN" altLang="en-US" sz="2400" b="1" dirty="0">
                <a:solidFill>
                  <a:schemeClr val="bg1"/>
                </a:solidFill>
                <a:latin typeface="+mn-ea"/>
              </a:rPr>
              <a:t>来转换线程的状态。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线程的执行特性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089815"/>
            <a:ext cx="6553200" cy="314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线形标注 2 29"/>
          <p:cNvSpPr/>
          <p:nvPr/>
        </p:nvSpPr>
        <p:spPr>
          <a:xfrm>
            <a:off x="2519106" y="172841"/>
            <a:ext cx="6157349" cy="1869659"/>
          </a:xfrm>
          <a:prstGeom prst="borderCallout2">
            <a:avLst>
              <a:gd name="adj1" fmla="val 21582"/>
              <a:gd name="adj2" fmla="val -2172"/>
              <a:gd name="adj3" fmla="val 19694"/>
              <a:gd name="adj4" fmla="val -11172"/>
              <a:gd name="adj5" fmla="val 112051"/>
              <a:gd name="adj6" fmla="val -15349"/>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nSpc>
                <a:spcPct val="120000"/>
              </a:lnSpc>
            </a:pPr>
            <a:r>
              <a:rPr lang="zh-CN" altLang="en-US" sz="2000" b="1" dirty="0"/>
              <a:t>线程在</a:t>
            </a:r>
            <a:r>
              <a:rPr lang="zh-CN" altLang="en-US" sz="2000" b="1" dirty="0">
                <a:solidFill>
                  <a:srgbClr val="FF0000"/>
                </a:solidFill>
              </a:rPr>
              <a:t>进程内派生</a:t>
            </a:r>
            <a:r>
              <a:rPr lang="zh-CN" altLang="en-US" sz="2000" b="1" dirty="0"/>
              <a:t>出来，它即可由进程派生，也可由</a:t>
            </a:r>
            <a:r>
              <a:rPr lang="zh-CN" altLang="en-US" sz="2000" b="1" dirty="0">
                <a:solidFill>
                  <a:srgbClr val="FF0000"/>
                </a:solidFill>
              </a:rPr>
              <a:t>线程派生</a:t>
            </a:r>
            <a:r>
              <a:rPr lang="zh-CN" altLang="en-US" sz="2000" b="1" dirty="0"/>
              <a:t>。用户一般用系统调用（或相应的库函数）派生自己的线程。一个新派生出来的线程具有相应的数据结构指针和变量，这些</a:t>
            </a:r>
            <a:r>
              <a:rPr lang="zh-CN" altLang="en-US" sz="2000" b="1" dirty="0">
                <a:solidFill>
                  <a:srgbClr val="FF0000"/>
                </a:solidFill>
              </a:rPr>
              <a:t>指针和变量作为寄存器上下文放在</a:t>
            </a:r>
            <a:r>
              <a:rPr lang="zh-CN" altLang="en-US" sz="2000" b="1" dirty="0"/>
              <a:t>相应的寄存器和堆栈中</a:t>
            </a:r>
          </a:p>
        </p:txBody>
      </p:sp>
      <p:sp>
        <p:nvSpPr>
          <p:cNvPr id="31" name="线形标注 2 30"/>
          <p:cNvSpPr/>
          <p:nvPr/>
        </p:nvSpPr>
        <p:spPr>
          <a:xfrm>
            <a:off x="171744" y="257725"/>
            <a:ext cx="3474308" cy="1869659"/>
          </a:xfrm>
          <a:prstGeom prst="borderCallout2">
            <a:avLst>
              <a:gd name="adj1" fmla="val 22775"/>
              <a:gd name="adj2" fmla="val 102971"/>
              <a:gd name="adj3" fmla="val 22676"/>
              <a:gd name="adj4" fmla="val 112490"/>
              <a:gd name="adj5" fmla="val 160959"/>
              <a:gd name="adj6" fmla="val 135896"/>
            </a:avLst>
          </a:prstGeom>
          <a:ln w="28575"/>
        </p:spPr>
        <p:style>
          <a:lnRef idx="1">
            <a:schemeClr val="accent4"/>
          </a:lnRef>
          <a:fillRef idx="2">
            <a:schemeClr val="accent4"/>
          </a:fillRef>
          <a:effectRef idx="1">
            <a:schemeClr val="accent4"/>
          </a:effectRef>
          <a:fontRef idx="minor">
            <a:schemeClr val="dk1"/>
          </a:fontRef>
        </p:style>
        <p:txBody>
          <a:bodyPr rtlCol="0" anchor="ctr"/>
          <a:lstStyle/>
          <a:p>
            <a:pPr>
              <a:lnSpc>
                <a:spcPct val="120000"/>
              </a:lnSpc>
            </a:pPr>
            <a:r>
              <a:rPr lang="zh-CN" altLang="en-US" sz="2000" b="1" dirty="0" smtClean="0"/>
              <a:t>如果一个线程在执行过程中需要等待某个事件发生，则被阻塞。阻塞时，寄存器上下文、程序计数器以及堆栈指针都会得到保证。</a:t>
            </a:r>
            <a:endParaRPr lang="zh-CN" altLang="en-US" sz="2000" b="1" dirty="0"/>
          </a:p>
        </p:txBody>
      </p:sp>
      <p:sp>
        <p:nvSpPr>
          <p:cNvPr id="32" name="线形标注 2 31"/>
          <p:cNvSpPr/>
          <p:nvPr/>
        </p:nvSpPr>
        <p:spPr>
          <a:xfrm>
            <a:off x="3686745" y="1401130"/>
            <a:ext cx="3248896" cy="1171505"/>
          </a:xfrm>
          <a:prstGeom prst="borderCallout2">
            <a:avLst>
              <a:gd name="adj1" fmla="val 21582"/>
              <a:gd name="adj2" fmla="val -3909"/>
              <a:gd name="adj3" fmla="val 21483"/>
              <a:gd name="adj4" fmla="val -13648"/>
              <a:gd name="adj5" fmla="val 165730"/>
              <a:gd name="adj6" fmla="val -30362"/>
            </a:avLst>
          </a:prstGeom>
          <a:ln w="38100"/>
        </p:spPr>
        <p:style>
          <a:lnRef idx="1">
            <a:schemeClr val="accent2"/>
          </a:lnRef>
          <a:fillRef idx="2">
            <a:schemeClr val="accent2"/>
          </a:fillRef>
          <a:effectRef idx="1">
            <a:schemeClr val="accent2"/>
          </a:effectRef>
          <a:fontRef idx="minor">
            <a:schemeClr val="dk1"/>
          </a:fontRef>
        </p:style>
        <p:txBody>
          <a:bodyPr rtlCol="0" anchor="ctr"/>
          <a:lstStyle/>
          <a:p>
            <a:pPr>
              <a:lnSpc>
                <a:spcPct val="120000"/>
              </a:lnSpc>
            </a:pPr>
            <a:r>
              <a:rPr lang="zh-CN" altLang="en-US" sz="2000" b="1" dirty="0"/>
              <a:t>如果阻塞线程的事件发生，则该线程被激活并进入就绪队列</a:t>
            </a:r>
          </a:p>
        </p:txBody>
      </p:sp>
      <p:sp>
        <p:nvSpPr>
          <p:cNvPr id="33" name="线形标注 2 32"/>
          <p:cNvSpPr/>
          <p:nvPr/>
        </p:nvSpPr>
        <p:spPr>
          <a:xfrm>
            <a:off x="5148064" y="627540"/>
            <a:ext cx="3235774" cy="855844"/>
          </a:xfrm>
          <a:prstGeom prst="borderCallout2">
            <a:avLst>
              <a:gd name="adj1" fmla="val 21582"/>
              <a:gd name="adj2" fmla="val -3909"/>
              <a:gd name="adj3" fmla="val 21483"/>
              <a:gd name="adj4" fmla="val -13648"/>
              <a:gd name="adj5" fmla="val 75302"/>
              <a:gd name="adj6" fmla="val -42375"/>
            </a:avLst>
          </a:prstGeom>
          <a:ln w="28575"/>
        </p:spPr>
        <p:style>
          <a:lnRef idx="1">
            <a:schemeClr val="accent1"/>
          </a:lnRef>
          <a:fillRef idx="2">
            <a:schemeClr val="accent1"/>
          </a:fillRef>
          <a:effectRef idx="1">
            <a:schemeClr val="accent1"/>
          </a:effectRef>
          <a:fontRef idx="minor">
            <a:schemeClr val="dk1"/>
          </a:fontRef>
        </p:style>
        <p:txBody>
          <a:bodyPr rtlCol="0" anchor="ctr"/>
          <a:lstStyle/>
          <a:p>
            <a:pPr>
              <a:lnSpc>
                <a:spcPct val="120000"/>
              </a:lnSpc>
            </a:pPr>
            <a:r>
              <a:rPr lang="zh-CN" altLang="en-US" sz="2000" b="1" dirty="0"/>
              <a:t>选择一个就绪线程进入执行状态。</a:t>
            </a:r>
          </a:p>
        </p:txBody>
      </p:sp>
      <p:sp>
        <p:nvSpPr>
          <p:cNvPr id="34" name="线形标注 2 33"/>
          <p:cNvSpPr/>
          <p:nvPr/>
        </p:nvSpPr>
        <p:spPr>
          <a:xfrm>
            <a:off x="5612320" y="3263971"/>
            <a:ext cx="3248896" cy="1171505"/>
          </a:xfrm>
          <a:prstGeom prst="borderCallout2">
            <a:avLst>
              <a:gd name="adj1" fmla="val 21582"/>
              <a:gd name="adj2" fmla="val -3909"/>
              <a:gd name="adj3" fmla="val 21483"/>
              <a:gd name="adj4" fmla="val -13648"/>
              <a:gd name="adj5" fmla="val -63671"/>
              <a:gd name="adj6" fmla="val -2904"/>
            </a:avLst>
          </a:prstGeom>
          <a:ln w="38100"/>
        </p:spPr>
        <p:style>
          <a:lnRef idx="1">
            <a:schemeClr val="accent2"/>
          </a:lnRef>
          <a:fillRef idx="2">
            <a:schemeClr val="accent2"/>
          </a:fillRef>
          <a:effectRef idx="1">
            <a:schemeClr val="accent2"/>
          </a:effectRef>
          <a:fontRef idx="minor">
            <a:schemeClr val="dk1"/>
          </a:fontRef>
        </p:style>
        <p:txBody>
          <a:bodyPr rtlCol="0" anchor="ctr"/>
          <a:lstStyle/>
          <a:p>
            <a:pPr>
              <a:lnSpc>
                <a:spcPct val="120000"/>
              </a:lnSpc>
            </a:pPr>
            <a:r>
              <a:rPr lang="zh-CN" altLang="en-US" sz="2000" b="1" dirty="0"/>
              <a:t>如果一个线程执行结束，它的寄存器上下文以及堆栈内容等将被释放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amond(out)">
                                      <p:cBhvr>
                                        <p:cTn id="7" dur="2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30"/>
                                        </p:tgtEl>
                                      </p:cBhvr>
                                    </p:animEffect>
                                    <p:set>
                                      <p:cBhvr>
                                        <p:cTn id="17" dur="1" fill="hold">
                                          <p:stCondLst>
                                            <p:cond delay="499"/>
                                          </p:stCondLst>
                                        </p:cTn>
                                        <p:tgtEl>
                                          <p:spTgt spid="3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33"/>
                                        </p:tgtEl>
                                      </p:cBhvr>
                                    </p:animEffect>
                                    <p:set>
                                      <p:cBhvr>
                                        <p:cTn id="27" dur="1" fill="hold">
                                          <p:stCondLst>
                                            <p:cond delay="499"/>
                                          </p:stCondLst>
                                        </p:cTn>
                                        <p:tgtEl>
                                          <p:spTgt spid="3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2"/>
                                        </p:tgtEl>
                                      </p:cBhvr>
                                    </p:animEffect>
                                    <p:set>
                                      <p:cBhvr>
                                        <p:cTn id="47" dur="1" fill="hold">
                                          <p:stCondLst>
                                            <p:cond delay="499"/>
                                          </p:stCondLst>
                                        </p:cTn>
                                        <p:tgtEl>
                                          <p:spTgt spid="3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left)">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34"/>
                                        </p:tgtEl>
                                      </p:cBhvr>
                                    </p:animEffect>
                                    <p:set>
                                      <p:cBhvr>
                                        <p:cTn id="57" dur="1" fill="hold">
                                          <p:stCondLst>
                                            <p:cond delay="49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线程的执行特性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563638"/>
            <a:ext cx="6984777" cy="1754326"/>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a:solidFill>
                  <a:schemeClr val="bg1"/>
                </a:solidFill>
                <a:latin typeface="+mn-ea"/>
              </a:rPr>
              <a:t>在某些情况下，某个线程被阻塞也可能导致该线程所属的进程被阻塞</a:t>
            </a:r>
            <a:r>
              <a:rPr lang="zh-CN" altLang="en-US" sz="2400" b="1" dirty="0" smtClean="0">
                <a:solidFill>
                  <a:schemeClr val="bg1"/>
                </a:solidFill>
                <a:latin typeface="+mn-ea"/>
              </a:rPr>
              <a:t>。</a:t>
            </a:r>
            <a:endParaRPr lang="en-US" altLang="zh-CN" sz="2400" b="1" dirty="0" smtClean="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rgbClr val="FFFF00"/>
                </a:solidFill>
                <a:latin typeface="+mn-ea"/>
              </a:rPr>
              <a:t>线程是否需要考虑同步、互斥</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线程的执行特性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88199"/>
            <a:ext cx="6984777" cy="3877985"/>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线程</a:t>
            </a:r>
            <a:r>
              <a:rPr lang="zh-CN" altLang="en-US" sz="2400" b="1" dirty="0">
                <a:solidFill>
                  <a:schemeClr val="bg1"/>
                </a:solidFill>
                <a:latin typeface="+mn-ea"/>
              </a:rPr>
              <a:t>的另一个</a:t>
            </a:r>
            <a:r>
              <a:rPr lang="zh-CN" altLang="en-US" sz="2400" b="1" dirty="0">
                <a:solidFill>
                  <a:srgbClr val="FFFF00"/>
                </a:solidFill>
                <a:latin typeface="+mn-ea"/>
              </a:rPr>
              <a:t>执行特性</a:t>
            </a:r>
            <a:r>
              <a:rPr lang="zh-CN" altLang="en-US" sz="2400" b="1" dirty="0">
                <a:solidFill>
                  <a:schemeClr val="bg1"/>
                </a:solidFill>
                <a:latin typeface="+mn-ea"/>
              </a:rPr>
              <a:t>是</a:t>
            </a:r>
            <a:r>
              <a:rPr lang="zh-CN" altLang="en-US" sz="2400" b="1" dirty="0" smtClean="0">
                <a:solidFill>
                  <a:srgbClr val="FFFF00"/>
                </a:solidFill>
                <a:latin typeface="+mn-ea"/>
              </a:rPr>
              <a:t>同步</a:t>
            </a:r>
            <a:r>
              <a:rPr lang="zh-CN" altLang="en-US" sz="2400" b="1" dirty="0">
                <a:solidFill>
                  <a:schemeClr val="bg1"/>
                </a:solidFill>
                <a:latin typeface="+mn-ea"/>
              </a:rPr>
              <a:t>：</a:t>
            </a:r>
            <a:r>
              <a:rPr lang="zh-CN" altLang="en-US" sz="2400" b="1" dirty="0" smtClean="0">
                <a:solidFill>
                  <a:schemeClr val="bg1"/>
                </a:solidFill>
                <a:latin typeface="+mn-ea"/>
              </a:rPr>
              <a:t>由于</a:t>
            </a:r>
            <a:r>
              <a:rPr lang="zh-CN" altLang="en-US" sz="2400" b="1" dirty="0">
                <a:solidFill>
                  <a:schemeClr val="bg1"/>
                </a:solidFill>
                <a:latin typeface="+mn-ea"/>
              </a:rPr>
              <a:t>同一进程中的所有线程</a:t>
            </a:r>
            <a:r>
              <a:rPr lang="zh-CN" altLang="en-US" sz="2400" b="1" dirty="0">
                <a:solidFill>
                  <a:srgbClr val="FF5050"/>
                </a:solidFill>
                <a:latin typeface="+mn-ea"/>
              </a:rPr>
              <a:t>共享该进程的所有资源和地址空间</a:t>
            </a:r>
            <a:r>
              <a:rPr lang="zh-CN" altLang="en-US" sz="2400" b="1" dirty="0">
                <a:solidFill>
                  <a:schemeClr val="bg1"/>
                </a:solidFill>
                <a:latin typeface="+mn-ea"/>
              </a:rPr>
              <a:t>，任何线程对资源的操作都会对其他相关线程带来影响。因此，系统必须为线程的的执行提供同步控制机制，以防止因线程的执行而破坏其他的数据结构和给其他线程带来不利的影响。</a:t>
            </a:r>
          </a:p>
          <a:p>
            <a:pPr>
              <a:lnSpc>
                <a:spcPct val="150000"/>
              </a:lnSpc>
              <a:spcBef>
                <a:spcPct val="0"/>
              </a:spcBef>
              <a:buClr>
                <a:schemeClr val="accent6">
                  <a:lumMod val="40000"/>
                  <a:lumOff val="60000"/>
                </a:schemeClr>
              </a:buClr>
              <a:buFont typeface="Wingdings" panose="05000000000000000000" pitchFamily="2" charset="2"/>
              <a:buChar char="Ø"/>
            </a:pPr>
            <a:endParaRPr lang="zh-CN" altLang="en-US" sz="20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内核级线程的实现（代码）</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88199"/>
            <a:ext cx="6984777" cy="3970318"/>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请同学们课下观看李治军老师的“</a:t>
            </a:r>
            <a:r>
              <a:rPr lang="en-US" altLang="zh-CN" sz="2400" b="1" dirty="0" smtClean="0">
                <a:solidFill>
                  <a:srgbClr val="FFFF00"/>
                </a:solidFill>
                <a:latin typeface="+mn-ea"/>
              </a:rPr>
              <a:t>L12 </a:t>
            </a:r>
            <a:r>
              <a:rPr lang="zh-CN" altLang="en-US" sz="2400" b="1" dirty="0" smtClean="0">
                <a:solidFill>
                  <a:srgbClr val="FFFF00"/>
                </a:solidFill>
                <a:latin typeface="+mn-ea"/>
              </a:rPr>
              <a:t>内核级线程实现</a:t>
            </a:r>
            <a:r>
              <a:rPr lang="zh-CN" altLang="en-US" sz="2400" b="1" dirty="0" smtClean="0">
                <a:solidFill>
                  <a:schemeClr val="bg1"/>
                </a:solidFill>
                <a:latin typeface="+mn-ea"/>
              </a:rPr>
              <a:t>”和“</a:t>
            </a:r>
            <a:r>
              <a:rPr lang="en-US" altLang="zh-CN" sz="2400" b="1" dirty="0" smtClean="0">
                <a:solidFill>
                  <a:srgbClr val="FFFF00"/>
                </a:solidFill>
                <a:latin typeface="+mn-ea"/>
              </a:rPr>
              <a:t>L13 </a:t>
            </a:r>
            <a:r>
              <a:rPr lang="zh-CN" altLang="en-US" sz="2400" b="1" dirty="0" smtClean="0">
                <a:solidFill>
                  <a:srgbClr val="FFFF00"/>
                </a:solidFill>
                <a:latin typeface="+mn-ea"/>
              </a:rPr>
              <a:t>操作系统的那棵树</a:t>
            </a:r>
            <a:r>
              <a:rPr lang="zh-CN" altLang="en-US" sz="2400" b="1" dirty="0" smtClean="0">
                <a:solidFill>
                  <a:schemeClr val="bg1"/>
                </a:solidFill>
                <a:latin typeface="+mn-ea"/>
              </a:rPr>
              <a:t>”讲解视频。</a:t>
            </a:r>
            <a:endParaRPr lang="en-US" altLang="zh-CN" sz="2400" b="1" dirty="0" smtClean="0">
              <a:solidFill>
                <a:schemeClr val="bg1"/>
              </a:solidFill>
              <a:latin typeface="+mn-ea"/>
            </a:endParaRPr>
          </a:p>
          <a:p>
            <a:pPr indent="-342900">
              <a:lnSpc>
                <a:spcPct val="150000"/>
              </a:lnSpc>
              <a:spcBef>
                <a:spcPct val="0"/>
              </a:spcBef>
              <a:buClr>
                <a:schemeClr val="accent6">
                  <a:lumMod val="40000"/>
                  <a:lumOff val="60000"/>
                </a:schemeClr>
              </a:buClr>
              <a:buFont typeface="Wingdings" panose="05000000000000000000" pitchFamily="2" charset="2"/>
              <a:buChar char="Ø"/>
            </a:pPr>
            <a:r>
              <a:rPr lang="en-US" altLang="zh-CN" sz="2400" b="1" dirty="0">
                <a:solidFill>
                  <a:schemeClr val="bg1"/>
                </a:solidFill>
                <a:latin typeface="+mn-ea"/>
              </a:rPr>
              <a:t>https://www.bilibili.com/video/BV19r4y1b7Aw?spm_id_from=333.788.videopod.episodes&amp;vd_source=3890c386258705c903d8eba25827411b&amp;p=12https://www.bilibili.com/video/BV1d4411v7u7?p=13</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内核级线程的实现（代码）</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88199"/>
            <a:ext cx="6984777" cy="2775760"/>
          </a:xfrm>
          <a:prstGeom prst="rect">
            <a:avLst/>
          </a:prstGeom>
        </p:spPr>
        <p:txBody>
          <a:bodyPr wrap="square">
            <a:spAutoFit/>
          </a:bodyPr>
          <a:lstStyle/>
          <a:p>
            <a:pPr indent="-342900">
              <a:lnSpc>
                <a:spcPct val="150000"/>
              </a:lnSpc>
              <a:spcBef>
                <a:spcPct val="0"/>
              </a:spcBef>
              <a:buClr>
                <a:schemeClr val="accent6">
                  <a:lumMod val="40000"/>
                  <a:lumOff val="60000"/>
                </a:schemeClr>
              </a:buClr>
              <a:buFont typeface="Wingdings" panose="05000000000000000000" pitchFamily="2" charset="2"/>
              <a:buChar char="Ø"/>
            </a:pPr>
            <a:r>
              <a:rPr lang="en-US" altLang="zh-CN" sz="2400" b="1" dirty="0" smtClean="0">
                <a:solidFill>
                  <a:schemeClr val="bg1"/>
                </a:solidFill>
                <a:latin typeface="+mn-ea"/>
              </a:rPr>
              <a:t>https</a:t>
            </a:r>
            <a:r>
              <a:rPr lang="en-US" altLang="zh-CN" sz="2400" b="1" dirty="0">
                <a:solidFill>
                  <a:schemeClr val="bg1"/>
                </a:solidFill>
                <a:latin typeface="+mn-ea"/>
              </a:rPr>
              <a:t>://www.bilibili.com/video/BV19r4y1b7Aw?spm_id_from=333.788.videopod.episodes&amp;vd_source=3890c386258705c903d8eba25827411b&amp;p=12https://www.bilibili.com/video/BV1d4411v7u7?p=13</a:t>
            </a:r>
            <a:endParaRPr lang="zh-CN" altLang="en-US" sz="2400" b="1" dirty="0">
              <a:solidFill>
                <a:schemeClr val="bg1"/>
              </a:solidFill>
              <a:latin typeface="+mn-ea"/>
            </a:endParaRPr>
          </a:p>
        </p:txBody>
      </p:sp>
    </p:spTree>
    <p:extLst>
      <p:ext uri="{BB962C8B-B14F-4D97-AF65-F5344CB8AC3E}">
        <p14:creationId xmlns:p14="http://schemas.microsoft.com/office/powerpoint/2010/main" val="2631247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内核级线程的实现（代码）</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88199"/>
            <a:ext cx="6984777" cy="1667764"/>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en-US" altLang="zh-CN" sz="2400" b="1" dirty="0">
                <a:solidFill>
                  <a:schemeClr val="bg1"/>
                </a:solidFill>
                <a:latin typeface="+mn-ea"/>
              </a:rPr>
              <a:t>https://www.bilibili.com/video/BV19r4y1b7Aw?spm_id_from=333.788.videopod.episodes&amp;vd_source=3890c386258705c903d8eba25827411b&amp;p=13</a:t>
            </a:r>
            <a:endParaRPr lang="zh-CN" altLang="en-US" sz="2400" b="1" dirty="0">
              <a:solidFill>
                <a:schemeClr val="bg1"/>
              </a:solidFill>
              <a:latin typeface="+mn-ea"/>
            </a:endParaRPr>
          </a:p>
        </p:txBody>
      </p:sp>
    </p:spTree>
    <p:extLst>
      <p:ext uri="{BB962C8B-B14F-4D97-AF65-F5344CB8AC3E}">
        <p14:creationId xmlns:p14="http://schemas.microsoft.com/office/powerpoint/2010/main" val="42250349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基于内核栈切换的进程切换</a:t>
            </a:r>
          </a:p>
        </p:txBody>
      </p:sp>
      <p:sp>
        <p:nvSpPr>
          <p:cNvPr id="2" name="矩形 1"/>
          <p:cNvSpPr/>
          <p:nvPr/>
        </p:nvSpPr>
        <p:spPr>
          <a:xfrm>
            <a:off x="827584" y="1288199"/>
            <a:ext cx="6984777" cy="3323987"/>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000" b="1" dirty="0" smtClean="0">
                <a:solidFill>
                  <a:schemeClr val="bg1"/>
                </a:solidFill>
                <a:latin typeface="+mn-ea"/>
              </a:rPr>
              <a:t>具体实验内容如下：（</a:t>
            </a:r>
            <a:r>
              <a:rPr lang="en-US" altLang="zh-CN" sz="2000" b="1" dirty="0" smtClean="0">
                <a:solidFill>
                  <a:schemeClr val="bg1"/>
                </a:solidFill>
                <a:latin typeface="+mn-ea"/>
              </a:rPr>
              <a:t>1</a:t>
            </a:r>
            <a:r>
              <a:rPr lang="zh-CN" altLang="en-US" sz="2000" b="1" dirty="0" smtClean="0">
                <a:solidFill>
                  <a:schemeClr val="bg1"/>
                </a:solidFill>
                <a:latin typeface="+mn-ea"/>
              </a:rPr>
              <a:t>）编写</a:t>
            </a:r>
            <a:r>
              <a:rPr lang="zh-CN" altLang="en-US" sz="2000" b="1" dirty="0">
                <a:solidFill>
                  <a:schemeClr val="bg1"/>
                </a:solidFill>
                <a:latin typeface="+mn-ea"/>
              </a:rPr>
              <a:t>汇编程序 </a:t>
            </a:r>
            <a:r>
              <a:rPr lang="en-US" altLang="zh-CN" sz="2000" b="1" dirty="0" err="1" smtClean="0">
                <a:solidFill>
                  <a:schemeClr val="bg1"/>
                </a:solidFill>
                <a:latin typeface="+mn-ea"/>
              </a:rPr>
              <a:t>switch_to</a:t>
            </a:r>
            <a:r>
              <a:rPr lang="zh-CN" altLang="en-US" sz="2000" b="1" dirty="0" smtClean="0">
                <a:solidFill>
                  <a:schemeClr val="bg1"/>
                </a:solidFill>
                <a:latin typeface="+mn-ea"/>
              </a:rPr>
              <a:t>；（</a:t>
            </a:r>
            <a:r>
              <a:rPr lang="en-US" altLang="zh-CN" sz="2000" b="1" dirty="0" smtClean="0">
                <a:solidFill>
                  <a:schemeClr val="bg1"/>
                </a:solidFill>
                <a:latin typeface="+mn-ea"/>
              </a:rPr>
              <a:t>2</a:t>
            </a:r>
            <a:r>
              <a:rPr lang="zh-CN" altLang="en-US" sz="2000" b="1" dirty="0" smtClean="0">
                <a:solidFill>
                  <a:schemeClr val="bg1"/>
                </a:solidFill>
                <a:latin typeface="+mn-ea"/>
              </a:rPr>
              <a:t>）完成</a:t>
            </a:r>
            <a:r>
              <a:rPr lang="zh-CN" altLang="en-US" sz="2000" b="1" dirty="0">
                <a:solidFill>
                  <a:schemeClr val="bg1"/>
                </a:solidFill>
                <a:latin typeface="+mn-ea"/>
              </a:rPr>
              <a:t>主体框架</a:t>
            </a:r>
            <a:r>
              <a:rPr lang="zh-CN" altLang="en-US" sz="2000" b="1" dirty="0" smtClean="0">
                <a:solidFill>
                  <a:schemeClr val="bg1"/>
                </a:solidFill>
                <a:latin typeface="+mn-ea"/>
              </a:rPr>
              <a:t>；（</a:t>
            </a:r>
            <a:r>
              <a:rPr lang="en-US" altLang="zh-CN" sz="2000" b="1" dirty="0" smtClean="0">
                <a:solidFill>
                  <a:schemeClr val="bg1"/>
                </a:solidFill>
                <a:latin typeface="+mn-ea"/>
              </a:rPr>
              <a:t>3</a:t>
            </a:r>
            <a:r>
              <a:rPr lang="zh-CN" altLang="en-US" sz="2000" b="1" dirty="0" smtClean="0">
                <a:solidFill>
                  <a:schemeClr val="bg1"/>
                </a:solidFill>
                <a:latin typeface="+mn-ea"/>
              </a:rPr>
              <a:t>）在</a:t>
            </a:r>
            <a:r>
              <a:rPr lang="zh-CN" altLang="en-US" sz="2000" b="1" dirty="0">
                <a:solidFill>
                  <a:schemeClr val="bg1"/>
                </a:solidFill>
                <a:latin typeface="+mn-ea"/>
              </a:rPr>
              <a:t>主体框架下依次完成 </a:t>
            </a:r>
            <a:r>
              <a:rPr lang="en-US" altLang="zh-CN" sz="2000" b="1" dirty="0">
                <a:solidFill>
                  <a:schemeClr val="bg1"/>
                </a:solidFill>
                <a:latin typeface="+mn-ea"/>
              </a:rPr>
              <a:t>PCB </a:t>
            </a:r>
            <a:r>
              <a:rPr lang="zh-CN" altLang="en-US" sz="2000" b="1" dirty="0">
                <a:solidFill>
                  <a:schemeClr val="bg1"/>
                </a:solidFill>
                <a:latin typeface="+mn-ea"/>
              </a:rPr>
              <a:t>切换、内核栈切换、</a:t>
            </a:r>
            <a:r>
              <a:rPr lang="en-US" altLang="zh-CN" sz="2000" b="1" dirty="0">
                <a:solidFill>
                  <a:schemeClr val="bg1"/>
                </a:solidFill>
                <a:latin typeface="+mn-ea"/>
              </a:rPr>
              <a:t>LDT </a:t>
            </a:r>
            <a:r>
              <a:rPr lang="zh-CN" altLang="en-US" sz="2000" b="1" dirty="0">
                <a:solidFill>
                  <a:schemeClr val="bg1"/>
                </a:solidFill>
                <a:latin typeface="+mn-ea"/>
              </a:rPr>
              <a:t>切换等</a:t>
            </a:r>
            <a:r>
              <a:rPr lang="zh-CN" altLang="en-US" sz="2000" b="1" dirty="0" smtClean="0">
                <a:solidFill>
                  <a:schemeClr val="bg1"/>
                </a:solidFill>
                <a:latin typeface="+mn-ea"/>
              </a:rPr>
              <a:t>；（</a:t>
            </a:r>
            <a:r>
              <a:rPr lang="en-US" altLang="zh-CN" sz="2000" b="1" dirty="0" smtClean="0">
                <a:solidFill>
                  <a:schemeClr val="bg1"/>
                </a:solidFill>
                <a:latin typeface="+mn-ea"/>
              </a:rPr>
              <a:t>4</a:t>
            </a:r>
            <a:r>
              <a:rPr lang="zh-CN" altLang="en-US" sz="2000" b="1" dirty="0" smtClean="0">
                <a:solidFill>
                  <a:schemeClr val="bg1"/>
                </a:solidFill>
                <a:latin typeface="+mn-ea"/>
              </a:rPr>
              <a:t>）修改 </a:t>
            </a:r>
            <a:r>
              <a:rPr lang="en-US" altLang="zh-CN" sz="2000" b="1" dirty="0">
                <a:solidFill>
                  <a:schemeClr val="bg1"/>
                </a:solidFill>
                <a:latin typeface="+mn-ea"/>
              </a:rPr>
              <a:t>fork()</a:t>
            </a:r>
            <a:r>
              <a:rPr lang="zh-CN" altLang="en-US" sz="2000" b="1" dirty="0">
                <a:solidFill>
                  <a:schemeClr val="bg1"/>
                </a:solidFill>
                <a:latin typeface="+mn-ea"/>
              </a:rPr>
              <a:t>，由于是基于内核栈的切换，所以进程需要创建出能完成内核栈切换的样子</a:t>
            </a:r>
            <a:r>
              <a:rPr lang="zh-CN" altLang="en-US" sz="2000" b="1" dirty="0" smtClean="0">
                <a:solidFill>
                  <a:schemeClr val="bg1"/>
                </a:solidFill>
                <a:latin typeface="+mn-ea"/>
              </a:rPr>
              <a:t>。（</a:t>
            </a:r>
            <a:r>
              <a:rPr lang="en-US" altLang="zh-CN" sz="2000" b="1" dirty="0" smtClean="0">
                <a:solidFill>
                  <a:schemeClr val="bg1"/>
                </a:solidFill>
                <a:latin typeface="+mn-ea"/>
              </a:rPr>
              <a:t>5</a:t>
            </a:r>
            <a:r>
              <a:rPr lang="zh-CN" altLang="en-US" sz="2000" b="1" dirty="0" smtClean="0">
                <a:solidFill>
                  <a:schemeClr val="bg1"/>
                </a:solidFill>
                <a:latin typeface="+mn-ea"/>
              </a:rPr>
              <a:t>）修改 </a:t>
            </a:r>
            <a:r>
              <a:rPr lang="en-US" altLang="zh-CN" sz="2000" b="1" dirty="0">
                <a:solidFill>
                  <a:schemeClr val="bg1"/>
                </a:solidFill>
                <a:latin typeface="+mn-ea"/>
              </a:rPr>
              <a:t>PCB</a:t>
            </a:r>
            <a:r>
              <a:rPr lang="zh-CN" altLang="en-US" sz="2000" b="1" dirty="0">
                <a:solidFill>
                  <a:schemeClr val="bg1"/>
                </a:solidFill>
                <a:latin typeface="+mn-ea"/>
              </a:rPr>
              <a:t>，即 </a:t>
            </a:r>
            <a:r>
              <a:rPr lang="en-US" altLang="zh-CN" sz="2000" b="1" dirty="0" err="1">
                <a:solidFill>
                  <a:schemeClr val="bg1"/>
                </a:solidFill>
                <a:latin typeface="+mn-ea"/>
              </a:rPr>
              <a:t>task_struct</a:t>
            </a:r>
            <a:r>
              <a:rPr lang="en-US" altLang="zh-CN" sz="2000" b="1" dirty="0">
                <a:solidFill>
                  <a:schemeClr val="bg1"/>
                </a:solidFill>
                <a:latin typeface="+mn-ea"/>
              </a:rPr>
              <a:t> </a:t>
            </a:r>
            <a:r>
              <a:rPr lang="zh-CN" altLang="en-US" sz="2000" b="1" dirty="0">
                <a:solidFill>
                  <a:schemeClr val="bg1"/>
                </a:solidFill>
                <a:latin typeface="+mn-ea"/>
              </a:rPr>
              <a:t>结构，增加相应的内容域，同时处理由于修改了 </a:t>
            </a:r>
            <a:r>
              <a:rPr lang="en-US" altLang="zh-CN" sz="2000" b="1" dirty="0" err="1">
                <a:solidFill>
                  <a:schemeClr val="bg1"/>
                </a:solidFill>
                <a:latin typeface="+mn-ea"/>
              </a:rPr>
              <a:t>task_struct</a:t>
            </a:r>
            <a:r>
              <a:rPr lang="en-US" altLang="zh-CN" sz="2000" b="1" dirty="0">
                <a:solidFill>
                  <a:schemeClr val="bg1"/>
                </a:solidFill>
                <a:latin typeface="+mn-ea"/>
              </a:rPr>
              <a:t> </a:t>
            </a:r>
            <a:r>
              <a:rPr lang="zh-CN" altLang="en-US" sz="2000" b="1" dirty="0">
                <a:solidFill>
                  <a:schemeClr val="bg1"/>
                </a:solidFill>
                <a:latin typeface="+mn-ea"/>
              </a:rPr>
              <a:t>所造成的影响</a:t>
            </a:r>
            <a:r>
              <a:rPr lang="zh-CN" altLang="en-US" sz="2000" b="1" dirty="0" smtClean="0">
                <a:solidFill>
                  <a:schemeClr val="bg1"/>
                </a:solidFill>
                <a:latin typeface="+mn-ea"/>
              </a:rPr>
              <a:t>。（</a:t>
            </a:r>
            <a:r>
              <a:rPr lang="en-US" altLang="zh-CN" sz="2000" b="1" dirty="0" smtClean="0">
                <a:solidFill>
                  <a:schemeClr val="bg1"/>
                </a:solidFill>
                <a:latin typeface="+mn-ea"/>
              </a:rPr>
              <a:t>6</a:t>
            </a:r>
            <a:r>
              <a:rPr lang="zh-CN" altLang="en-US" sz="2000" b="1" dirty="0" smtClean="0">
                <a:solidFill>
                  <a:schemeClr val="bg1"/>
                </a:solidFill>
                <a:latin typeface="+mn-ea"/>
              </a:rPr>
              <a:t>）用</a:t>
            </a:r>
            <a:r>
              <a:rPr lang="zh-CN" altLang="en-US" sz="2000" b="1" dirty="0">
                <a:solidFill>
                  <a:schemeClr val="bg1"/>
                </a:solidFill>
                <a:latin typeface="+mn-ea"/>
              </a:rPr>
              <a:t>修改后的 </a:t>
            </a:r>
            <a:r>
              <a:rPr lang="en-US" altLang="zh-CN" sz="2000" b="1" dirty="0">
                <a:solidFill>
                  <a:schemeClr val="bg1"/>
                </a:solidFill>
                <a:latin typeface="+mn-ea"/>
              </a:rPr>
              <a:t>Linux 0.11 </a:t>
            </a:r>
            <a:r>
              <a:rPr lang="zh-CN" altLang="en-US" sz="2000" b="1" dirty="0">
                <a:solidFill>
                  <a:schemeClr val="bg1"/>
                </a:solidFill>
                <a:latin typeface="+mn-ea"/>
              </a:rPr>
              <a:t>仍然可以启动、可以正常使用。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5--</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基于内核栈切换的进程切换</a:t>
            </a:r>
          </a:p>
        </p:txBody>
      </p:sp>
      <p:sp>
        <p:nvSpPr>
          <p:cNvPr id="2" name="矩形 1"/>
          <p:cNvSpPr/>
          <p:nvPr/>
        </p:nvSpPr>
        <p:spPr>
          <a:xfrm>
            <a:off x="827584" y="1288199"/>
            <a:ext cx="6984777" cy="1667764"/>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400" b="1" dirty="0" smtClean="0">
                <a:solidFill>
                  <a:schemeClr val="bg1"/>
                </a:solidFill>
                <a:latin typeface="+mn-ea"/>
              </a:rPr>
              <a:t>实验模拟环境：</a:t>
            </a:r>
            <a:r>
              <a:rPr lang="en-US" altLang="zh-CN" sz="2400" b="1" dirty="0" smtClean="0">
                <a:solidFill>
                  <a:schemeClr val="bg1"/>
                </a:solidFill>
                <a:latin typeface="+mn-ea"/>
              </a:rPr>
              <a:t>https</a:t>
            </a:r>
            <a:r>
              <a:rPr lang="en-US" altLang="zh-CN" sz="2400" b="1" dirty="0">
                <a:solidFill>
                  <a:schemeClr val="bg1"/>
                </a:solidFill>
                <a:latin typeface="+mn-ea"/>
              </a:rPr>
              <a:t>://www.lanqiao.cn/courses/115/learning/?</a:t>
            </a:r>
            <a:r>
              <a:rPr lang="en-US" altLang="zh-CN" sz="2400" b="1" dirty="0" smtClean="0">
                <a:solidFill>
                  <a:schemeClr val="bg1"/>
                </a:solidFill>
                <a:latin typeface="+mn-ea"/>
              </a:rPr>
              <a:t>id=571</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1" y="1635646"/>
            <a:ext cx="6480720" cy="1284006"/>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800" b="1" smtClean="0">
                <a:solidFill>
                  <a:schemeClr val="bg1"/>
                </a:solidFill>
                <a:latin typeface="+mn-ea"/>
              </a:rPr>
              <a:t>课后</a:t>
            </a:r>
            <a:r>
              <a:rPr lang="zh-CN" altLang="en-US" sz="2800" b="1" dirty="0" smtClean="0">
                <a:solidFill>
                  <a:schemeClr val="bg1"/>
                </a:solidFill>
                <a:latin typeface="+mn-ea"/>
              </a:rPr>
              <a:t>认真复习第三章，下周择期进行第三章章节测试</a:t>
            </a:r>
            <a:endParaRPr lang="en-US" altLang="zh-CN" sz="2800" b="1" dirty="0" smtClean="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cstate="print">
            <a:clrChange>
              <a:clrFrom>
                <a:srgbClr val="F5F5F2">
                  <a:alpha val="80000"/>
                </a:srgbClr>
              </a:clrFrom>
              <a:clrTo>
                <a:srgbClr val="F5F5F2">
                  <a:alpha val="0"/>
                </a:srgbClr>
              </a:clrTo>
            </a:clrChange>
            <a:extLst>
              <a:ext uri="{BEBA8EAE-BF5A-486C-A8C5-ECC9F3942E4B}">
                <a14:imgProps xmlns:a14="http://schemas.microsoft.com/office/drawing/2010/main">
                  <a14:imgLayer r:embed="rId3">
                    <a14:imgEffect>
                      <a14:artisticPastelsSmooth/>
                    </a14:imgEffect>
                  </a14:imgLayer>
                </a14:imgProps>
              </a:ext>
            </a:extLst>
          </a:blip>
          <a:srcRect/>
          <a:stretch>
            <a:fillRect/>
          </a:stretch>
        </p:blipFill>
        <p:spPr bwMode="auto">
          <a:xfrm rot="21163559">
            <a:off x="2670789" y="1565488"/>
            <a:ext cx="3498851" cy="901700"/>
          </a:xfrm>
          <a:prstGeom prst="rect">
            <a:avLst/>
          </a:prstGeom>
          <a:noFill/>
          <a:ln w="9525">
            <a:noFill/>
            <a:miter lim="800000"/>
            <a:headEnd/>
            <a:tailEnd/>
          </a:ln>
          <a:effectLst/>
        </p:spPr>
      </p:pic>
      <p:grpSp>
        <p:nvGrpSpPr>
          <p:cNvPr id="10" name="组合 27"/>
          <p:cNvGrpSpPr/>
          <p:nvPr/>
        </p:nvGrpSpPr>
        <p:grpSpPr>
          <a:xfrm>
            <a:off x="763792" y="475567"/>
            <a:ext cx="1704074" cy="840074"/>
            <a:chOff x="728490" y="483518"/>
            <a:chExt cx="1704075" cy="840074"/>
          </a:xfrm>
        </p:grpSpPr>
        <p:pic>
          <p:nvPicPr>
            <p:cNvPr id="11" name="图片 10" descr="贴贴子4张（空）.png"/>
            <p:cNvPicPr>
              <a:picLocks noChangeAspect="1"/>
            </p:cNvPicPr>
            <p:nvPr/>
          </p:nvPicPr>
          <p:blipFill>
            <a:blip r:embed="rId4" cstate="print"/>
            <a:srcRect t="33018" r="77449" b="52860"/>
            <a:stretch>
              <a:fillRect/>
            </a:stretch>
          </p:blipFill>
          <p:spPr>
            <a:xfrm>
              <a:off x="728490" y="483518"/>
              <a:ext cx="1512168" cy="615496"/>
            </a:xfrm>
            <a:prstGeom prst="rect">
              <a:avLst/>
            </a:prstGeom>
          </p:spPr>
        </p:pic>
        <p:sp>
          <p:nvSpPr>
            <p:cNvPr id="12" name="TextBox 11"/>
            <p:cNvSpPr txBox="1"/>
            <p:nvPr/>
          </p:nvSpPr>
          <p:spPr>
            <a:xfrm>
              <a:off x="1187623" y="731481"/>
              <a:ext cx="352179" cy="384721"/>
            </a:xfrm>
            <a:prstGeom prst="rect">
              <a:avLst/>
            </a:prstGeom>
            <a:noFill/>
          </p:spPr>
          <p:txBody>
            <a:bodyPr wrap="square" rtlCol="0">
              <a:spAutoFit/>
            </a:bodyPr>
            <a:lstStyle/>
            <a:p>
              <a:pPr defTabSz="913765"/>
              <a:r>
                <a:rPr lang="en-US" altLang="zh-CN" sz="1900" dirty="0" smtClean="0">
                  <a:solidFill>
                    <a:prstClr val="black"/>
                  </a:solidFill>
                  <a:latin typeface="微软雅黑" panose="020B0503020204020204" pitchFamily="34" charset="-122"/>
                  <a:ea typeface="微软雅黑" panose="020B0503020204020204" pitchFamily="34" charset="-122"/>
                </a:rPr>
                <a:t>O</a:t>
              </a:r>
              <a:endParaRPr lang="zh-CN" altLang="en-US" sz="1900" dirty="0">
                <a:solidFill>
                  <a:prstClr val="black"/>
                </a:solidFill>
                <a:latin typeface="微软雅黑" panose="020B0503020204020204" pitchFamily="34" charset="-122"/>
                <a:ea typeface="微软雅黑" panose="020B0503020204020204" pitchFamily="34" charset="-122"/>
              </a:endParaRPr>
            </a:p>
          </p:txBody>
        </p:sp>
        <p:pic>
          <p:nvPicPr>
            <p:cNvPr id="13" name="图片 12" descr="贴贴子4张（空）.png"/>
            <p:cNvPicPr/>
            <p:nvPr/>
          </p:nvPicPr>
          <p:blipFill>
            <a:blip r:embed="rId4" cstate="print"/>
            <a:srcRect l="6702" t="47905" r="86794" b="38897"/>
            <a:stretch>
              <a:fillRect/>
            </a:stretch>
          </p:blipFill>
          <p:spPr>
            <a:xfrm rot="-180000">
              <a:off x="2000565" y="731480"/>
              <a:ext cx="432000" cy="592112"/>
            </a:xfrm>
            <a:prstGeom prst="rect">
              <a:avLst/>
            </a:prstGeom>
          </p:spPr>
        </p:pic>
        <p:sp>
          <p:nvSpPr>
            <p:cNvPr id="14" name="TextBox 13"/>
            <p:cNvSpPr txBox="1"/>
            <p:nvPr/>
          </p:nvSpPr>
          <p:spPr>
            <a:xfrm rot="599039">
              <a:off x="1667523" y="747677"/>
              <a:ext cx="352179" cy="384721"/>
            </a:xfrm>
            <a:prstGeom prst="rect">
              <a:avLst/>
            </a:prstGeom>
            <a:noFill/>
          </p:spPr>
          <p:txBody>
            <a:bodyPr wrap="square" rtlCol="0">
              <a:spAutoFit/>
            </a:bodyPr>
            <a:lstStyle/>
            <a:p>
              <a:pPr defTabSz="913765"/>
              <a:r>
                <a:rPr lang="en-US" altLang="zh-CN" sz="1900" dirty="0" smtClean="0">
                  <a:solidFill>
                    <a:prstClr val="black"/>
                  </a:solidFill>
                  <a:latin typeface="微软雅黑" panose="020B0503020204020204" pitchFamily="34" charset="-122"/>
                  <a:ea typeface="微软雅黑" panose="020B0503020204020204" pitchFamily="34" charset="-122"/>
                </a:rPr>
                <a:t>S</a:t>
              </a:r>
              <a:endParaRPr lang="zh-CN" altLang="en-US" sz="1900" dirty="0">
                <a:solidFill>
                  <a:prstClr val="black"/>
                </a:solidFill>
                <a:latin typeface="微软雅黑" panose="020B0503020204020204" pitchFamily="34" charset="-122"/>
                <a:ea typeface="微软雅黑" panose="020B0503020204020204" pitchFamily="34" charset="-122"/>
              </a:endParaRPr>
            </a:p>
          </p:txBody>
        </p:sp>
        <p:sp>
          <p:nvSpPr>
            <p:cNvPr id="15" name="TextBox 14"/>
            <p:cNvSpPr txBox="1"/>
            <p:nvPr/>
          </p:nvSpPr>
          <p:spPr>
            <a:xfrm rot="20890714">
              <a:off x="2046654" y="743345"/>
              <a:ext cx="352179" cy="384721"/>
            </a:xfrm>
            <a:prstGeom prst="rect">
              <a:avLst/>
            </a:prstGeom>
            <a:noFill/>
          </p:spPr>
          <p:txBody>
            <a:bodyPr wrap="square" rtlCol="0">
              <a:spAutoFit/>
            </a:bodyPr>
            <a:lstStyle/>
            <a:p>
              <a:pPr defTabSz="913765"/>
              <a:r>
                <a:rPr lang="en-US" altLang="zh-CN" sz="1900" dirty="0">
                  <a:solidFill>
                    <a:prstClr val="black"/>
                  </a:solidFill>
                  <a:latin typeface="微软雅黑" panose="020B0503020204020204" pitchFamily="34" charset="-122"/>
                  <a:ea typeface="微软雅黑" panose="020B0503020204020204" pitchFamily="34" charset="-122"/>
                </a:rPr>
                <a:t>Y</a:t>
              </a:r>
              <a:endParaRPr lang="zh-CN" altLang="en-US" sz="1900" dirty="0">
                <a:solidFill>
                  <a:prstClr val="black"/>
                </a:solidFill>
                <a:latin typeface="微软雅黑" panose="020B0503020204020204" pitchFamily="34" charset="-122"/>
                <a:ea typeface="微软雅黑" panose="020B0503020204020204" pitchFamily="34" charset="-122"/>
              </a:endParaRPr>
            </a:p>
          </p:txBody>
        </p:sp>
      </p:grpSp>
      <p:sp>
        <p:nvSpPr>
          <p:cNvPr id="17" name="矩形 16"/>
          <p:cNvSpPr/>
          <p:nvPr/>
        </p:nvSpPr>
        <p:spPr>
          <a:xfrm rot="20036968">
            <a:off x="6164792" y="2110566"/>
            <a:ext cx="1432894" cy="338553"/>
          </a:xfrm>
          <a:prstGeom prst="rect">
            <a:avLst/>
          </a:prstGeom>
        </p:spPr>
        <p:txBody>
          <a:bodyPr wrap="none" lIns="91441" tIns="45721" rIns="91441" bIns="45721">
            <a:spAutoFit/>
          </a:bodyPr>
          <a:lstStyle/>
          <a:p>
            <a:pPr defTabSz="913765"/>
            <a:r>
              <a:rPr lang="en-US" altLang="zh-CN"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rPr>
              <a:t>THANK</a:t>
            </a:r>
            <a:r>
              <a:rPr lang="zh-CN" altLang="en-US"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rPr>
              <a:t> </a:t>
            </a:r>
            <a:r>
              <a:rPr lang="en-US" altLang="zh-CN"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rPr>
              <a:t>YOU!</a:t>
            </a:r>
            <a:endParaRPr lang="zh-CN" altLang="en-US"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6" name="Picture 2"/>
          <p:cNvPicPr>
            <a:picLocks noChangeAspect="1" noChangeArrowheads="1"/>
          </p:cNvPicPr>
          <p:nvPr/>
        </p:nvPicPr>
        <p:blipFill>
          <a:blip r:embed="rId5" cstate="print"/>
          <a:srcRect/>
          <a:stretch>
            <a:fillRect/>
          </a:stretch>
        </p:blipFill>
        <p:spPr bwMode="auto">
          <a:xfrm>
            <a:off x="2027867" y="598012"/>
            <a:ext cx="504056" cy="49205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3587</TotalTime>
  <Words>18055</Words>
  <Application>Microsoft Office PowerPoint</Application>
  <PresentationFormat>全屏显示(16:9)</PresentationFormat>
  <Paragraphs>1508</Paragraphs>
  <Slides>241</Slides>
  <Notes>128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241</vt:i4>
      </vt:variant>
    </vt:vector>
  </HeadingPairs>
  <TitlesOfParts>
    <vt:vector size="258" baseType="lpstr">
      <vt:lpstr>맑은 고딕</vt:lpstr>
      <vt:lpstr>Univers</vt:lpstr>
      <vt:lpstr>方正特粗光辉简体</vt:lpstr>
      <vt:lpstr>黑体</vt:lpstr>
      <vt:lpstr>隶书</vt:lpstr>
      <vt:lpstr>宋体</vt:lpstr>
      <vt:lpstr>微软雅黑</vt:lpstr>
      <vt:lpstr>Arial</vt:lpstr>
      <vt:lpstr>Calibri</vt:lpstr>
      <vt:lpstr>Segoe UI</vt:lpstr>
      <vt:lpstr>Times New Roman</vt:lpstr>
      <vt:lpstr>Wingdings</vt:lpstr>
      <vt:lpstr>Wingdings 2</vt:lpstr>
      <vt:lpstr>Wingdings 3</vt:lpstr>
      <vt:lpstr>Office 主题</vt:lpstr>
      <vt:lpstr>Photo Editor 照片</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qian gao</cp:lastModifiedBy>
  <cp:revision>1031</cp:revision>
  <dcterms:created xsi:type="dcterms:W3CDTF">2014-04-24T10:36:00Z</dcterms:created>
  <dcterms:modified xsi:type="dcterms:W3CDTF">2025-11-02T14:12:53Z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