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262" r:id="rId3"/>
    <p:sldId id="291" r:id="rId4"/>
    <p:sldId id="378" r:id="rId5"/>
    <p:sldId id="388" r:id="rId6"/>
    <p:sldId id="448" r:id="rId7"/>
    <p:sldId id="449" r:id="rId8"/>
    <p:sldId id="450" r:id="rId9"/>
    <p:sldId id="451" r:id="rId10"/>
    <p:sldId id="452" r:id="rId11"/>
    <p:sldId id="453" r:id="rId12"/>
    <p:sldId id="454" r:id="rId13"/>
    <p:sldId id="455" r:id="rId14"/>
    <p:sldId id="456" r:id="rId15"/>
    <p:sldId id="457" r:id="rId16"/>
    <p:sldId id="458" r:id="rId17"/>
    <p:sldId id="460" r:id="rId18"/>
    <p:sldId id="512" r:id="rId19"/>
    <p:sldId id="511" r:id="rId20"/>
    <p:sldId id="513" r:id="rId21"/>
    <p:sldId id="514" r:id="rId22"/>
    <p:sldId id="515" r:id="rId23"/>
    <p:sldId id="510" r:id="rId24"/>
    <p:sldId id="462" r:id="rId25"/>
    <p:sldId id="461" r:id="rId26"/>
    <p:sldId id="463" r:id="rId27"/>
    <p:sldId id="464" r:id="rId28"/>
    <p:sldId id="516" r:id="rId29"/>
    <p:sldId id="517" r:id="rId30"/>
    <p:sldId id="518" r:id="rId31"/>
    <p:sldId id="536" r:id="rId32"/>
    <p:sldId id="520" r:id="rId33"/>
    <p:sldId id="528" r:id="rId34"/>
    <p:sldId id="521" r:id="rId35"/>
    <p:sldId id="522" r:id="rId36"/>
    <p:sldId id="529" r:id="rId37"/>
    <p:sldId id="530" r:id="rId38"/>
    <p:sldId id="531" r:id="rId39"/>
    <p:sldId id="532" r:id="rId40"/>
    <p:sldId id="523" r:id="rId41"/>
    <p:sldId id="525" r:id="rId42"/>
    <p:sldId id="526" r:id="rId43"/>
    <p:sldId id="533" r:id="rId44"/>
    <p:sldId id="534" r:id="rId45"/>
    <p:sldId id="539" r:id="rId46"/>
    <p:sldId id="538" r:id="rId47"/>
    <p:sldId id="537" r:id="rId48"/>
    <p:sldId id="535" r:id="rId49"/>
    <p:sldId id="467" r:id="rId50"/>
    <p:sldId id="468" r:id="rId51"/>
    <p:sldId id="469" r:id="rId52"/>
    <p:sldId id="475" r:id="rId53"/>
    <p:sldId id="476" r:id="rId54"/>
    <p:sldId id="477" r:id="rId55"/>
    <p:sldId id="478" r:id="rId56"/>
    <p:sldId id="479" r:id="rId57"/>
    <p:sldId id="480" r:id="rId58"/>
    <p:sldId id="390" r:id="rId59"/>
    <p:sldId id="481" r:id="rId60"/>
    <p:sldId id="482" r:id="rId61"/>
    <p:sldId id="483" r:id="rId62"/>
    <p:sldId id="484" r:id="rId63"/>
    <p:sldId id="508" r:id="rId64"/>
    <p:sldId id="494" r:id="rId65"/>
    <p:sldId id="400" r:id="rId66"/>
    <p:sldId id="495" r:id="rId67"/>
    <p:sldId id="497" r:id="rId68"/>
    <p:sldId id="498" r:id="rId69"/>
    <p:sldId id="499" r:id="rId70"/>
    <p:sldId id="496" r:id="rId71"/>
    <p:sldId id="500" r:id="rId72"/>
    <p:sldId id="501" r:id="rId73"/>
    <p:sldId id="502" r:id="rId74"/>
    <p:sldId id="503" r:id="rId75"/>
    <p:sldId id="504" r:id="rId76"/>
    <p:sldId id="509" r:id="rId77"/>
    <p:sldId id="260" r:id="rId78"/>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F3300"/>
    <a:srgbClr val="006600"/>
    <a:srgbClr val="008000"/>
    <a:srgbClr val="33CC33"/>
    <a:srgbClr val="8FCF49"/>
    <a:srgbClr val="BCE292"/>
    <a:srgbClr val="0E2D07"/>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414" autoAdjust="0"/>
  </p:normalViewPr>
  <p:slideViewPr>
    <p:cSldViewPr>
      <p:cViewPr varScale="1">
        <p:scale>
          <a:sx n="137" d="100"/>
          <a:sy n="137" d="100"/>
        </p:scale>
        <p:origin x="1452" y="12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C97DC8-1791-410C-859F-1BB5199168B6}" type="doc">
      <dgm:prSet loTypeId="urn:microsoft.com/office/officeart/2005/8/layout/radial1" loCatId="relationship" qsTypeId="urn:microsoft.com/office/officeart/2005/8/quickstyle/3d1" qsCatId="3D" csTypeId="urn:microsoft.com/office/officeart/2005/8/colors/colorful1" csCatId="colorful" phldr="1"/>
      <dgm:spPr/>
      <dgm:t>
        <a:bodyPr/>
        <a:lstStyle/>
        <a:p>
          <a:endParaRPr lang="zh-CN" altLang="en-US"/>
        </a:p>
      </dgm:t>
    </dgm:pt>
    <dgm:pt modelId="{D48F0F64-0A38-4297-B4D7-6E98BDF70976}">
      <dgm:prSet phldrT="[文本]"/>
      <dgm:spPr/>
      <dgm:t>
        <a:bodyPr/>
        <a:lstStyle/>
        <a:p>
          <a:r>
            <a:rPr lang="zh-CN" altLang="en-US" b="1" dirty="0" smtClean="0"/>
            <a:t>输出输出方式</a:t>
          </a:r>
          <a:endParaRPr lang="zh-CN" altLang="en-US" b="1" dirty="0"/>
        </a:p>
      </dgm:t>
    </dgm:pt>
    <dgm:pt modelId="{6A03C138-6910-479D-98CA-B1A8827E980E}" type="parTrans" cxnId="{690375AE-E591-41E1-9807-22FF8A272935}">
      <dgm:prSet/>
      <dgm:spPr/>
      <dgm:t>
        <a:bodyPr/>
        <a:lstStyle/>
        <a:p>
          <a:endParaRPr lang="zh-CN" altLang="en-US"/>
        </a:p>
      </dgm:t>
    </dgm:pt>
    <dgm:pt modelId="{C99131F5-AAA5-4790-940A-494095246161}" type="sibTrans" cxnId="{690375AE-E591-41E1-9807-22FF8A272935}">
      <dgm:prSet/>
      <dgm:spPr/>
      <dgm:t>
        <a:bodyPr/>
        <a:lstStyle/>
        <a:p>
          <a:endParaRPr lang="zh-CN" altLang="en-US"/>
        </a:p>
      </dgm:t>
    </dgm:pt>
    <dgm:pt modelId="{3AF70802-C31E-4098-8A60-2DDA048DCD98}">
      <dgm:prSet phldrT="[文本]"/>
      <dgm:spPr/>
      <dgm:t>
        <a:bodyPr/>
        <a:lstStyle/>
        <a:p>
          <a:r>
            <a:rPr lang="zh-CN" altLang="en-US" b="1" dirty="0" smtClean="0"/>
            <a:t>脱机输入输出方式</a:t>
          </a:r>
          <a:endParaRPr lang="zh-CN" altLang="en-US" b="1" dirty="0"/>
        </a:p>
      </dgm:t>
    </dgm:pt>
    <dgm:pt modelId="{80841F95-531E-48F1-BB99-24B17C29858B}" type="parTrans" cxnId="{A7AE12D1-23AE-4AD9-A803-AEB050666D8D}">
      <dgm:prSet/>
      <dgm:spPr/>
      <dgm:t>
        <a:bodyPr/>
        <a:lstStyle/>
        <a:p>
          <a:endParaRPr lang="zh-CN" altLang="en-US"/>
        </a:p>
      </dgm:t>
    </dgm:pt>
    <dgm:pt modelId="{B6D546D0-47B2-4306-8189-42FD736F89E6}" type="sibTrans" cxnId="{A7AE12D1-23AE-4AD9-A803-AEB050666D8D}">
      <dgm:prSet/>
      <dgm:spPr/>
      <dgm:t>
        <a:bodyPr/>
        <a:lstStyle/>
        <a:p>
          <a:endParaRPr lang="zh-CN" altLang="en-US"/>
        </a:p>
      </dgm:t>
    </dgm:pt>
    <dgm:pt modelId="{40E0E1BB-9FAA-49F8-B4DE-B9FE911D8DB1}">
      <dgm:prSet phldrT="[文本]"/>
      <dgm:spPr/>
      <dgm:t>
        <a:bodyPr/>
        <a:lstStyle/>
        <a:p>
          <a:r>
            <a:rPr lang="zh-CN" altLang="en-US" b="1" dirty="0" smtClean="0"/>
            <a:t>直接耦合方式</a:t>
          </a:r>
          <a:endParaRPr lang="zh-CN" altLang="en-US" b="1" dirty="0"/>
        </a:p>
      </dgm:t>
    </dgm:pt>
    <dgm:pt modelId="{5029043E-09F3-491F-8BD9-A0FBEAF9E2ED}" type="parTrans" cxnId="{037EEABE-638A-4491-9AA0-CBEAAC3213B2}">
      <dgm:prSet/>
      <dgm:spPr/>
      <dgm:t>
        <a:bodyPr/>
        <a:lstStyle/>
        <a:p>
          <a:endParaRPr lang="zh-CN" altLang="en-US"/>
        </a:p>
      </dgm:t>
    </dgm:pt>
    <dgm:pt modelId="{60FBA313-244E-4095-93CF-7417CE2775FA}" type="sibTrans" cxnId="{037EEABE-638A-4491-9AA0-CBEAAC3213B2}">
      <dgm:prSet/>
      <dgm:spPr/>
      <dgm:t>
        <a:bodyPr/>
        <a:lstStyle/>
        <a:p>
          <a:endParaRPr lang="zh-CN" altLang="en-US"/>
        </a:p>
      </dgm:t>
    </dgm:pt>
    <dgm:pt modelId="{9846C11F-A0A1-44A7-BB47-8DD2057DD00C}">
      <dgm:prSet phldrT="[文本]"/>
      <dgm:spPr/>
      <dgm:t>
        <a:bodyPr/>
        <a:lstStyle/>
        <a:p>
          <a:r>
            <a:rPr lang="en-US" altLang="zh-CN" b="1" dirty="0" smtClean="0"/>
            <a:t>Spooling</a:t>
          </a:r>
          <a:r>
            <a:rPr lang="zh-CN" altLang="en-US" b="1" dirty="0" smtClean="0"/>
            <a:t>系统</a:t>
          </a:r>
          <a:endParaRPr lang="zh-CN" altLang="en-US" b="1" dirty="0"/>
        </a:p>
      </dgm:t>
    </dgm:pt>
    <dgm:pt modelId="{562EF5DC-DC92-468F-BC49-C2443D446BB8}" type="parTrans" cxnId="{DB7225E0-D48F-401D-AACF-F4DF321E8F40}">
      <dgm:prSet/>
      <dgm:spPr/>
      <dgm:t>
        <a:bodyPr/>
        <a:lstStyle/>
        <a:p>
          <a:endParaRPr lang="zh-CN" altLang="en-US"/>
        </a:p>
      </dgm:t>
    </dgm:pt>
    <dgm:pt modelId="{45FABD6E-43E8-4E3D-844F-32B5002CCCA1}" type="sibTrans" cxnId="{DB7225E0-D48F-401D-AACF-F4DF321E8F40}">
      <dgm:prSet/>
      <dgm:spPr/>
      <dgm:t>
        <a:bodyPr/>
        <a:lstStyle/>
        <a:p>
          <a:endParaRPr lang="zh-CN" altLang="en-US"/>
        </a:p>
      </dgm:t>
    </dgm:pt>
    <dgm:pt modelId="{614087CA-6C5D-4692-81BA-2EFACC6C0344}">
      <dgm:prSet phldrT="[文本]"/>
      <dgm:spPr/>
      <dgm:t>
        <a:bodyPr/>
        <a:lstStyle/>
        <a:p>
          <a:r>
            <a:rPr lang="zh-CN" altLang="en-US" b="1" dirty="0" smtClean="0"/>
            <a:t>联机输入输出方式</a:t>
          </a:r>
          <a:endParaRPr lang="zh-CN" altLang="en-US" b="1" dirty="0"/>
        </a:p>
      </dgm:t>
    </dgm:pt>
    <dgm:pt modelId="{073205C0-7E25-44FC-89F2-6A99368EF6A6}" type="parTrans" cxnId="{5DA82314-DFD3-489C-BF15-3779AFCA3FFA}">
      <dgm:prSet/>
      <dgm:spPr/>
      <dgm:t>
        <a:bodyPr/>
        <a:lstStyle/>
        <a:p>
          <a:endParaRPr lang="zh-CN" altLang="en-US"/>
        </a:p>
      </dgm:t>
    </dgm:pt>
    <dgm:pt modelId="{72150EC6-ED65-496D-9EFA-81FDBD7D8D65}" type="sibTrans" cxnId="{5DA82314-DFD3-489C-BF15-3779AFCA3FFA}">
      <dgm:prSet/>
      <dgm:spPr/>
      <dgm:t>
        <a:bodyPr/>
        <a:lstStyle/>
        <a:p>
          <a:endParaRPr lang="zh-CN" altLang="en-US"/>
        </a:p>
      </dgm:t>
    </dgm:pt>
    <dgm:pt modelId="{B5830C33-3316-4D11-B7ED-158A96E906B4}" type="pres">
      <dgm:prSet presAssocID="{41C97DC8-1791-410C-859F-1BB5199168B6}" presName="cycle" presStyleCnt="0">
        <dgm:presLayoutVars>
          <dgm:chMax val="1"/>
          <dgm:dir/>
          <dgm:animLvl val="ctr"/>
          <dgm:resizeHandles val="exact"/>
        </dgm:presLayoutVars>
      </dgm:prSet>
      <dgm:spPr/>
      <dgm:t>
        <a:bodyPr/>
        <a:lstStyle/>
        <a:p>
          <a:endParaRPr lang="zh-CN" altLang="en-US"/>
        </a:p>
      </dgm:t>
    </dgm:pt>
    <dgm:pt modelId="{4D4851B4-1D77-40D8-8CF6-9344035D608F}" type="pres">
      <dgm:prSet presAssocID="{D48F0F64-0A38-4297-B4D7-6E98BDF70976}" presName="centerShape" presStyleLbl="node0" presStyleIdx="0" presStyleCnt="1" custScaleX="65504" custScaleY="65504"/>
      <dgm:spPr/>
      <dgm:t>
        <a:bodyPr/>
        <a:lstStyle/>
        <a:p>
          <a:endParaRPr lang="zh-CN" altLang="en-US"/>
        </a:p>
      </dgm:t>
    </dgm:pt>
    <dgm:pt modelId="{D0F94BA1-22CE-4C79-9905-00D39DB39550}" type="pres">
      <dgm:prSet presAssocID="{80841F95-531E-48F1-BB99-24B17C29858B}" presName="Name9" presStyleLbl="parChTrans1D2" presStyleIdx="0" presStyleCnt="4"/>
      <dgm:spPr/>
      <dgm:t>
        <a:bodyPr/>
        <a:lstStyle/>
        <a:p>
          <a:endParaRPr lang="zh-CN" altLang="en-US"/>
        </a:p>
      </dgm:t>
    </dgm:pt>
    <dgm:pt modelId="{D3B761B2-D30C-4F66-A8EB-A8E3F9076624}" type="pres">
      <dgm:prSet presAssocID="{80841F95-531E-48F1-BB99-24B17C29858B}" presName="connTx" presStyleLbl="parChTrans1D2" presStyleIdx="0" presStyleCnt="4"/>
      <dgm:spPr/>
      <dgm:t>
        <a:bodyPr/>
        <a:lstStyle/>
        <a:p>
          <a:endParaRPr lang="zh-CN" altLang="en-US"/>
        </a:p>
      </dgm:t>
    </dgm:pt>
    <dgm:pt modelId="{77D1F0F1-1725-4E01-A0EF-F0F8DD9434B4}" type="pres">
      <dgm:prSet presAssocID="{3AF70802-C31E-4098-8A60-2DDA048DCD98}" presName="node" presStyleLbl="node1" presStyleIdx="0" presStyleCnt="4">
        <dgm:presLayoutVars>
          <dgm:bulletEnabled val="1"/>
        </dgm:presLayoutVars>
      </dgm:prSet>
      <dgm:spPr/>
      <dgm:t>
        <a:bodyPr/>
        <a:lstStyle/>
        <a:p>
          <a:endParaRPr lang="zh-CN" altLang="en-US"/>
        </a:p>
      </dgm:t>
    </dgm:pt>
    <dgm:pt modelId="{E0DFEABC-BC3D-4A43-A17C-E415318F6E71}" type="pres">
      <dgm:prSet presAssocID="{5029043E-09F3-491F-8BD9-A0FBEAF9E2ED}" presName="Name9" presStyleLbl="parChTrans1D2" presStyleIdx="1" presStyleCnt="4"/>
      <dgm:spPr/>
      <dgm:t>
        <a:bodyPr/>
        <a:lstStyle/>
        <a:p>
          <a:endParaRPr lang="zh-CN" altLang="en-US"/>
        </a:p>
      </dgm:t>
    </dgm:pt>
    <dgm:pt modelId="{37C04DE0-99C3-45EE-8C61-DE5EA502AB86}" type="pres">
      <dgm:prSet presAssocID="{5029043E-09F3-491F-8BD9-A0FBEAF9E2ED}" presName="connTx" presStyleLbl="parChTrans1D2" presStyleIdx="1" presStyleCnt="4"/>
      <dgm:spPr/>
      <dgm:t>
        <a:bodyPr/>
        <a:lstStyle/>
        <a:p>
          <a:endParaRPr lang="zh-CN" altLang="en-US"/>
        </a:p>
      </dgm:t>
    </dgm:pt>
    <dgm:pt modelId="{7B70E1F6-F2A8-430A-8D3C-DD1EBA64CDCF}" type="pres">
      <dgm:prSet presAssocID="{40E0E1BB-9FAA-49F8-B4DE-B9FE911D8DB1}" presName="node" presStyleLbl="node1" presStyleIdx="1" presStyleCnt="4">
        <dgm:presLayoutVars>
          <dgm:bulletEnabled val="1"/>
        </dgm:presLayoutVars>
      </dgm:prSet>
      <dgm:spPr/>
      <dgm:t>
        <a:bodyPr/>
        <a:lstStyle/>
        <a:p>
          <a:endParaRPr lang="zh-CN" altLang="en-US"/>
        </a:p>
      </dgm:t>
    </dgm:pt>
    <dgm:pt modelId="{3B173397-A5F8-45E7-9D98-C800269CF76A}" type="pres">
      <dgm:prSet presAssocID="{562EF5DC-DC92-468F-BC49-C2443D446BB8}" presName="Name9" presStyleLbl="parChTrans1D2" presStyleIdx="2" presStyleCnt="4"/>
      <dgm:spPr/>
      <dgm:t>
        <a:bodyPr/>
        <a:lstStyle/>
        <a:p>
          <a:endParaRPr lang="zh-CN" altLang="en-US"/>
        </a:p>
      </dgm:t>
    </dgm:pt>
    <dgm:pt modelId="{41EF01A0-7588-4E9E-84CD-54D35FF6A876}" type="pres">
      <dgm:prSet presAssocID="{562EF5DC-DC92-468F-BC49-C2443D446BB8}" presName="connTx" presStyleLbl="parChTrans1D2" presStyleIdx="2" presStyleCnt="4"/>
      <dgm:spPr/>
      <dgm:t>
        <a:bodyPr/>
        <a:lstStyle/>
        <a:p>
          <a:endParaRPr lang="zh-CN" altLang="en-US"/>
        </a:p>
      </dgm:t>
    </dgm:pt>
    <dgm:pt modelId="{C566E67D-D1F0-4067-8C7A-1ADD2A95E8DC}" type="pres">
      <dgm:prSet presAssocID="{9846C11F-A0A1-44A7-BB47-8DD2057DD00C}" presName="node" presStyleLbl="node1" presStyleIdx="2" presStyleCnt="4">
        <dgm:presLayoutVars>
          <dgm:bulletEnabled val="1"/>
        </dgm:presLayoutVars>
      </dgm:prSet>
      <dgm:spPr/>
      <dgm:t>
        <a:bodyPr/>
        <a:lstStyle/>
        <a:p>
          <a:endParaRPr lang="zh-CN" altLang="en-US"/>
        </a:p>
      </dgm:t>
    </dgm:pt>
    <dgm:pt modelId="{FCF7B786-69D0-4E33-8FE0-F1F42708B837}" type="pres">
      <dgm:prSet presAssocID="{073205C0-7E25-44FC-89F2-6A99368EF6A6}" presName="Name9" presStyleLbl="parChTrans1D2" presStyleIdx="3" presStyleCnt="4"/>
      <dgm:spPr/>
      <dgm:t>
        <a:bodyPr/>
        <a:lstStyle/>
        <a:p>
          <a:endParaRPr lang="zh-CN" altLang="en-US"/>
        </a:p>
      </dgm:t>
    </dgm:pt>
    <dgm:pt modelId="{32C33628-6243-46C7-A48F-177DB6F5C15C}" type="pres">
      <dgm:prSet presAssocID="{073205C0-7E25-44FC-89F2-6A99368EF6A6}" presName="connTx" presStyleLbl="parChTrans1D2" presStyleIdx="3" presStyleCnt="4"/>
      <dgm:spPr/>
      <dgm:t>
        <a:bodyPr/>
        <a:lstStyle/>
        <a:p>
          <a:endParaRPr lang="zh-CN" altLang="en-US"/>
        </a:p>
      </dgm:t>
    </dgm:pt>
    <dgm:pt modelId="{E74F3C33-FDCB-49DB-B5DF-8519460BE454}" type="pres">
      <dgm:prSet presAssocID="{614087CA-6C5D-4692-81BA-2EFACC6C0344}" presName="node" presStyleLbl="node1" presStyleIdx="3" presStyleCnt="4">
        <dgm:presLayoutVars>
          <dgm:bulletEnabled val="1"/>
        </dgm:presLayoutVars>
      </dgm:prSet>
      <dgm:spPr/>
      <dgm:t>
        <a:bodyPr/>
        <a:lstStyle/>
        <a:p>
          <a:endParaRPr lang="zh-CN" altLang="en-US"/>
        </a:p>
      </dgm:t>
    </dgm:pt>
  </dgm:ptLst>
  <dgm:cxnLst>
    <dgm:cxn modelId="{4FB8806D-8086-482C-BCE8-AB6D6D4B171D}" type="presOf" srcId="{D48F0F64-0A38-4297-B4D7-6E98BDF70976}" destId="{4D4851B4-1D77-40D8-8CF6-9344035D608F}" srcOrd="0" destOrd="0" presId="urn:microsoft.com/office/officeart/2005/8/layout/radial1"/>
    <dgm:cxn modelId="{A7AE12D1-23AE-4AD9-A803-AEB050666D8D}" srcId="{D48F0F64-0A38-4297-B4D7-6E98BDF70976}" destId="{3AF70802-C31E-4098-8A60-2DDA048DCD98}" srcOrd="0" destOrd="0" parTransId="{80841F95-531E-48F1-BB99-24B17C29858B}" sibTransId="{B6D546D0-47B2-4306-8189-42FD736F89E6}"/>
    <dgm:cxn modelId="{225DCEBD-00A5-4984-8C69-97C3D40E191C}" type="presOf" srcId="{073205C0-7E25-44FC-89F2-6A99368EF6A6}" destId="{32C33628-6243-46C7-A48F-177DB6F5C15C}" srcOrd="1" destOrd="0" presId="urn:microsoft.com/office/officeart/2005/8/layout/radial1"/>
    <dgm:cxn modelId="{A015FBF3-ECF4-4BB9-AEAF-891C83F04909}" type="presOf" srcId="{80841F95-531E-48F1-BB99-24B17C29858B}" destId="{D3B761B2-D30C-4F66-A8EB-A8E3F9076624}" srcOrd="1" destOrd="0" presId="urn:microsoft.com/office/officeart/2005/8/layout/radial1"/>
    <dgm:cxn modelId="{5DA82314-DFD3-489C-BF15-3779AFCA3FFA}" srcId="{D48F0F64-0A38-4297-B4D7-6E98BDF70976}" destId="{614087CA-6C5D-4692-81BA-2EFACC6C0344}" srcOrd="3" destOrd="0" parTransId="{073205C0-7E25-44FC-89F2-6A99368EF6A6}" sibTransId="{72150EC6-ED65-496D-9EFA-81FDBD7D8D65}"/>
    <dgm:cxn modelId="{DEF6233A-0F5F-4E4F-9554-163DDE840485}" type="presOf" srcId="{073205C0-7E25-44FC-89F2-6A99368EF6A6}" destId="{FCF7B786-69D0-4E33-8FE0-F1F42708B837}" srcOrd="0" destOrd="0" presId="urn:microsoft.com/office/officeart/2005/8/layout/radial1"/>
    <dgm:cxn modelId="{3976A7CA-879E-4A54-97D9-15A8B766C55F}" type="presOf" srcId="{9846C11F-A0A1-44A7-BB47-8DD2057DD00C}" destId="{C566E67D-D1F0-4067-8C7A-1ADD2A95E8DC}" srcOrd="0" destOrd="0" presId="urn:microsoft.com/office/officeart/2005/8/layout/radial1"/>
    <dgm:cxn modelId="{DB7225E0-D48F-401D-AACF-F4DF321E8F40}" srcId="{D48F0F64-0A38-4297-B4D7-6E98BDF70976}" destId="{9846C11F-A0A1-44A7-BB47-8DD2057DD00C}" srcOrd="2" destOrd="0" parTransId="{562EF5DC-DC92-468F-BC49-C2443D446BB8}" sibTransId="{45FABD6E-43E8-4E3D-844F-32B5002CCCA1}"/>
    <dgm:cxn modelId="{690375AE-E591-41E1-9807-22FF8A272935}" srcId="{41C97DC8-1791-410C-859F-1BB5199168B6}" destId="{D48F0F64-0A38-4297-B4D7-6E98BDF70976}" srcOrd="0" destOrd="0" parTransId="{6A03C138-6910-479D-98CA-B1A8827E980E}" sibTransId="{C99131F5-AAA5-4790-940A-494095246161}"/>
    <dgm:cxn modelId="{E5815E90-FAE8-43A9-A25C-4C2DDE75D7B7}" type="presOf" srcId="{562EF5DC-DC92-468F-BC49-C2443D446BB8}" destId="{41EF01A0-7588-4E9E-84CD-54D35FF6A876}" srcOrd="1" destOrd="0" presId="urn:microsoft.com/office/officeart/2005/8/layout/radial1"/>
    <dgm:cxn modelId="{133ACEDF-1AFD-40D9-9851-BB9F3BC0209A}" type="presOf" srcId="{5029043E-09F3-491F-8BD9-A0FBEAF9E2ED}" destId="{37C04DE0-99C3-45EE-8C61-DE5EA502AB86}" srcOrd="1" destOrd="0" presId="urn:microsoft.com/office/officeart/2005/8/layout/radial1"/>
    <dgm:cxn modelId="{293AF7E3-02B3-448A-AC25-75AD6AA557C0}" type="presOf" srcId="{3AF70802-C31E-4098-8A60-2DDA048DCD98}" destId="{77D1F0F1-1725-4E01-A0EF-F0F8DD9434B4}" srcOrd="0" destOrd="0" presId="urn:microsoft.com/office/officeart/2005/8/layout/radial1"/>
    <dgm:cxn modelId="{850A2A90-D293-4F4D-98D6-45E09DD8B0FC}" type="presOf" srcId="{80841F95-531E-48F1-BB99-24B17C29858B}" destId="{D0F94BA1-22CE-4C79-9905-00D39DB39550}" srcOrd="0" destOrd="0" presId="urn:microsoft.com/office/officeart/2005/8/layout/radial1"/>
    <dgm:cxn modelId="{DDD8092F-2FA5-4A0B-90AE-AA7CD12A1511}" type="presOf" srcId="{5029043E-09F3-491F-8BD9-A0FBEAF9E2ED}" destId="{E0DFEABC-BC3D-4A43-A17C-E415318F6E71}" srcOrd="0" destOrd="0" presId="urn:microsoft.com/office/officeart/2005/8/layout/radial1"/>
    <dgm:cxn modelId="{AA3F311F-9931-4D75-AABD-80A80CB96859}" type="presOf" srcId="{562EF5DC-DC92-468F-BC49-C2443D446BB8}" destId="{3B173397-A5F8-45E7-9D98-C800269CF76A}" srcOrd="0" destOrd="0" presId="urn:microsoft.com/office/officeart/2005/8/layout/radial1"/>
    <dgm:cxn modelId="{037EEABE-638A-4491-9AA0-CBEAAC3213B2}" srcId="{D48F0F64-0A38-4297-B4D7-6E98BDF70976}" destId="{40E0E1BB-9FAA-49F8-B4DE-B9FE911D8DB1}" srcOrd="1" destOrd="0" parTransId="{5029043E-09F3-491F-8BD9-A0FBEAF9E2ED}" sibTransId="{60FBA313-244E-4095-93CF-7417CE2775FA}"/>
    <dgm:cxn modelId="{306191BC-40B0-4402-A6B0-7933D8ADB808}" type="presOf" srcId="{40E0E1BB-9FAA-49F8-B4DE-B9FE911D8DB1}" destId="{7B70E1F6-F2A8-430A-8D3C-DD1EBA64CDCF}" srcOrd="0" destOrd="0" presId="urn:microsoft.com/office/officeart/2005/8/layout/radial1"/>
    <dgm:cxn modelId="{2C8E7A68-37FF-4758-B407-4B2FFDF3FC20}" type="presOf" srcId="{41C97DC8-1791-410C-859F-1BB5199168B6}" destId="{B5830C33-3316-4D11-B7ED-158A96E906B4}" srcOrd="0" destOrd="0" presId="urn:microsoft.com/office/officeart/2005/8/layout/radial1"/>
    <dgm:cxn modelId="{5DA57285-D5D5-4FEC-A917-880AD41B71E2}" type="presOf" srcId="{614087CA-6C5D-4692-81BA-2EFACC6C0344}" destId="{E74F3C33-FDCB-49DB-B5DF-8519460BE454}" srcOrd="0" destOrd="0" presId="urn:microsoft.com/office/officeart/2005/8/layout/radial1"/>
    <dgm:cxn modelId="{0D88C2F7-1840-472C-AB15-CFEF117EBCFE}" type="presParOf" srcId="{B5830C33-3316-4D11-B7ED-158A96E906B4}" destId="{4D4851B4-1D77-40D8-8CF6-9344035D608F}" srcOrd="0" destOrd="0" presId="urn:microsoft.com/office/officeart/2005/8/layout/radial1"/>
    <dgm:cxn modelId="{2825A968-DB60-4ADA-A9BC-CB5ED8583F9C}" type="presParOf" srcId="{B5830C33-3316-4D11-B7ED-158A96E906B4}" destId="{D0F94BA1-22CE-4C79-9905-00D39DB39550}" srcOrd="1" destOrd="0" presId="urn:microsoft.com/office/officeart/2005/8/layout/radial1"/>
    <dgm:cxn modelId="{40BE55B6-0C74-46AF-99C0-3E4D7D458F16}" type="presParOf" srcId="{D0F94BA1-22CE-4C79-9905-00D39DB39550}" destId="{D3B761B2-D30C-4F66-A8EB-A8E3F9076624}" srcOrd="0" destOrd="0" presId="urn:microsoft.com/office/officeart/2005/8/layout/radial1"/>
    <dgm:cxn modelId="{C572E6FA-1474-40CD-AE30-C44BD8505661}" type="presParOf" srcId="{B5830C33-3316-4D11-B7ED-158A96E906B4}" destId="{77D1F0F1-1725-4E01-A0EF-F0F8DD9434B4}" srcOrd="2" destOrd="0" presId="urn:microsoft.com/office/officeart/2005/8/layout/radial1"/>
    <dgm:cxn modelId="{5435EE60-5961-4266-AD22-29667D82AA81}" type="presParOf" srcId="{B5830C33-3316-4D11-B7ED-158A96E906B4}" destId="{E0DFEABC-BC3D-4A43-A17C-E415318F6E71}" srcOrd="3" destOrd="0" presId="urn:microsoft.com/office/officeart/2005/8/layout/radial1"/>
    <dgm:cxn modelId="{3CAF7868-CEAB-4F4D-9639-594C68DEFC73}" type="presParOf" srcId="{E0DFEABC-BC3D-4A43-A17C-E415318F6E71}" destId="{37C04DE0-99C3-45EE-8C61-DE5EA502AB86}" srcOrd="0" destOrd="0" presId="urn:microsoft.com/office/officeart/2005/8/layout/radial1"/>
    <dgm:cxn modelId="{ECD23126-0AF6-4F7F-B8A5-51CF5B9AA82C}" type="presParOf" srcId="{B5830C33-3316-4D11-B7ED-158A96E906B4}" destId="{7B70E1F6-F2A8-430A-8D3C-DD1EBA64CDCF}" srcOrd="4" destOrd="0" presId="urn:microsoft.com/office/officeart/2005/8/layout/radial1"/>
    <dgm:cxn modelId="{B1D8336D-A64D-4B4A-90CB-8FD40C6ADEFA}" type="presParOf" srcId="{B5830C33-3316-4D11-B7ED-158A96E906B4}" destId="{3B173397-A5F8-45E7-9D98-C800269CF76A}" srcOrd="5" destOrd="0" presId="urn:microsoft.com/office/officeart/2005/8/layout/radial1"/>
    <dgm:cxn modelId="{AB23258C-F23A-4096-9A9B-74160ACD60F1}" type="presParOf" srcId="{3B173397-A5F8-45E7-9D98-C800269CF76A}" destId="{41EF01A0-7588-4E9E-84CD-54D35FF6A876}" srcOrd="0" destOrd="0" presId="urn:microsoft.com/office/officeart/2005/8/layout/radial1"/>
    <dgm:cxn modelId="{991E8832-4249-416D-8F67-C7A8F5EFAD9A}" type="presParOf" srcId="{B5830C33-3316-4D11-B7ED-158A96E906B4}" destId="{C566E67D-D1F0-4067-8C7A-1ADD2A95E8DC}" srcOrd="6" destOrd="0" presId="urn:microsoft.com/office/officeart/2005/8/layout/radial1"/>
    <dgm:cxn modelId="{FDFDD284-4157-4961-8F6A-5148F72A6D0B}" type="presParOf" srcId="{B5830C33-3316-4D11-B7ED-158A96E906B4}" destId="{FCF7B786-69D0-4E33-8FE0-F1F42708B837}" srcOrd="7" destOrd="0" presId="urn:microsoft.com/office/officeart/2005/8/layout/radial1"/>
    <dgm:cxn modelId="{C6B183B5-77D8-4304-B68C-D6F3FA110948}" type="presParOf" srcId="{FCF7B786-69D0-4E33-8FE0-F1F42708B837}" destId="{32C33628-6243-46C7-A48F-177DB6F5C15C}" srcOrd="0" destOrd="0" presId="urn:microsoft.com/office/officeart/2005/8/layout/radial1"/>
    <dgm:cxn modelId="{81C1063C-5C2B-42FF-9C99-ACCAB609EF83}" type="presParOf" srcId="{B5830C33-3316-4D11-B7ED-158A96E906B4}" destId="{E74F3C33-FDCB-49DB-B5DF-8519460BE454}" srcOrd="8"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4851B4-1D77-40D8-8CF6-9344035D608F}">
      <dsp:nvSpPr>
        <dsp:cNvPr id="0" name=""/>
        <dsp:cNvSpPr/>
      </dsp:nvSpPr>
      <dsp:spPr>
        <a:xfrm>
          <a:off x="2831976" y="1730932"/>
          <a:ext cx="768422" cy="768422"/>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zh-CN" altLang="en-US" sz="1300" b="1" kern="1200" dirty="0" smtClean="0"/>
            <a:t>输出输出方式</a:t>
          </a:r>
          <a:endParaRPr lang="zh-CN" altLang="en-US" sz="1300" b="1" kern="1200" dirty="0"/>
        </a:p>
      </dsp:txBody>
      <dsp:txXfrm>
        <a:off x="2944509" y="1843465"/>
        <a:ext cx="543356" cy="543356"/>
      </dsp:txXfrm>
    </dsp:sp>
    <dsp:sp modelId="{D0F94BA1-22CE-4C79-9905-00D39DB39550}">
      <dsp:nvSpPr>
        <dsp:cNvPr id="0" name=""/>
        <dsp:cNvSpPr/>
      </dsp:nvSpPr>
      <dsp:spPr>
        <a:xfrm rot="16200000">
          <a:off x="2938943" y="1437274"/>
          <a:ext cx="554489" cy="32827"/>
        </a:xfrm>
        <a:custGeom>
          <a:avLst/>
          <a:gdLst/>
          <a:ahLst/>
          <a:cxnLst/>
          <a:rect l="0" t="0" r="0" b="0"/>
          <a:pathLst>
            <a:path>
              <a:moveTo>
                <a:pt x="0" y="16413"/>
              </a:moveTo>
              <a:lnTo>
                <a:pt x="554489" y="16413"/>
              </a:lnTo>
            </a:path>
          </a:pathLst>
        </a:custGeom>
        <a:noFill/>
        <a:ln w="25400"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202325" y="1439825"/>
        <a:ext cx="27724" cy="27724"/>
      </dsp:txXfrm>
    </dsp:sp>
    <dsp:sp modelId="{77D1F0F1-1725-4E01-A0EF-F0F8DD9434B4}">
      <dsp:nvSpPr>
        <dsp:cNvPr id="0" name=""/>
        <dsp:cNvSpPr/>
      </dsp:nvSpPr>
      <dsp:spPr>
        <a:xfrm>
          <a:off x="2629641" y="3351"/>
          <a:ext cx="1173092" cy="1173092"/>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zh-CN" altLang="en-US" sz="1700" b="1" kern="1200" dirty="0" smtClean="0"/>
            <a:t>脱机输入输出方式</a:t>
          </a:r>
          <a:endParaRPr lang="zh-CN" altLang="en-US" sz="1700" b="1" kern="1200" dirty="0"/>
        </a:p>
      </dsp:txBody>
      <dsp:txXfrm>
        <a:off x="2801436" y="175146"/>
        <a:ext cx="829502" cy="829502"/>
      </dsp:txXfrm>
    </dsp:sp>
    <dsp:sp modelId="{E0DFEABC-BC3D-4A43-A17C-E415318F6E71}">
      <dsp:nvSpPr>
        <dsp:cNvPr id="0" name=""/>
        <dsp:cNvSpPr/>
      </dsp:nvSpPr>
      <dsp:spPr>
        <a:xfrm>
          <a:off x="3600399" y="2098730"/>
          <a:ext cx="554489" cy="32827"/>
        </a:xfrm>
        <a:custGeom>
          <a:avLst/>
          <a:gdLst/>
          <a:ahLst/>
          <a:cxnLst/>
          <a:rect l="0" t="0" r="0" b="0"/>
          <a:pathLst>
            <a:path>
              <a:moveTo>
                <a:pt x="0" y="16413"/>
              </a:moveTo>
              <a:lnTo>
                <a:pt x="554489" y="16413"/>
              </a:lnTo>
            </a:path>
          </a:pathLst>
        </a:custGeom>
        <a:noFill/>
        <a:ln w="25400"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863781" y="2101281"/>
        <a:ext cx="27724" cy="27724"/>
      </dsp:txXfrm>
    </dsp:sp>
    <dsp:sp modelId="{7B70E1F6-F2A8-430A-8D3C-DD1EBA64CDCF}">
      <dsp:nvSpPr>
        <dsp:cNvPr id="0" name=""/>
        <dsp:cNvSpPr/>
      </dsp:nvSpPr>
      <dsp:spPr>
        <a:xfrm>
          <a:off x="4154888" y="1528597"/>
          <a:ext cx="1173092" cy="1173092"/>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zh-CN" altLang="en-US" sz="1700" b="1" kern="1200" dirty="0" smtClean="0"/>
            <a:t>直接耦合方式</a:t>
          </a:r>
          <a:endParaRPr lang="zh-CN" altLang="en-US" sz="1700" b="1" kern="1200" dirty="0"/>
        </a:p>
      </dsp:txBody>
      <dsp:txXfrm>
        <a:off x="4326683" y="1700392"/>
        <a:ext cx="829502" cy="829502"/>
      </dsp:txXfrm>
    </dsp:sp>
    <dsp:sp modelId="{3B173397-A5F8-45E7-9D98-C800269CF76A}">
      <dsp:nvSpPr>
        <dsp:cNvPr id="0" name=""/>
        <dsp:cNvSpPr/>
      </dsp:nvSpPr>
      <dsp:spPr>
        <a:xfrm rot="5400000">
          <a:off x="2938943" y="2760186"/>
          <a:ext cx="554489" cy="32827"/>
        </a:xfrm>
        <a:custGeom>
          <a:avLst/>
          <a:gdLst/>
          <a:ahLst/>
          <a:cxnLst/>
          <a:rect l="0" t="0" r="0" b="0"/>
          <a:pathLst>
            <a:path>
              <a:moveTo>
                <a:pt x="0" y="16413"/>
              </a:moveTo>
              <a:lnTo>
                <a:pt x="554489" y="16413"/>
              </a:lnTo>
            </a:path>
          </a:pathLst>
        </a:custGeom>
        <a:noFill/>
        <a:ln w="25400"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202325" y="2762737"/>
        <a:ext cx="27724" cy="27724"/>
      </dsp:txXfrm>
    </dsp:sp>
    <dsp:sp modelId="{C566E67D-D1F0-4067-8C7A-1ADD2A95E8DC}">
      <dsp:nvSpPr>
        <dsp:cNvPr id="0" name=""/>
        <dsp:cNvSpPr/>
      </dsp:nvSpPr>
      <dsp:spPr>
        <a:xfrm>
          <a:off x="2629641" y="3053844"/>
          <a:ext cx="1173092" cy="1173092"/>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altLang="zh-CN" sz="1700" b="1" kern="1200" dirty="0" smtClean="0"/>
            <a:t>Spooling</a:t>
          </a:r>
          <a:r>
            <a:rPr lang="zh-CN" altLang="en-US" sz="1700" b="1" kern="1200" dirty="0" smtClean="0"/>
            <a:t>系统</a:t>
          </a:r>
          <a:endParaRPr lang="zh-CN" altLang="en-US" sz="1700" b="1" kern="1200" dirty="0"/>
        </a:p>
      </dsp:txBody>
      <dsp:txXfrm>
        <a:off x="2801436" y="3225639"/>
        <a:ext cx="829502" cy="829502"/>
      </dsp:txXfrm>
    </dsp:sp>
    <dsp:sp modelId="{FCF7B786-69D0-4E33-8FE0-F1F42708B837}">
      <dsp:nvSpPr>
        <dsp:cNvPr id="0" name=""/>
        <dsp:cNvSpPr/>
      </dsp:nvSpPr>
      <dsp:spPr>
        <a:xfrm rot="10800000">
          <a:off x="2277487" y="2098730"/>
          <a:ext cx="554489" cy="32827"/>
        </a:xfrm>
        <a:custGeom>
          <a:avLst/>
          <a:gdLst/>
          <a:ahLst/>
          <a:cxnLst/>
          <a:rect l="0" t="0" r="0" b="0"/>
          <a:pathLst>
            <a:path>
              <a:moveTo>
                <a:pt x="0" y="16413"/>
              </a:moveTo>
              <a:lnTo>
                <a:pt x="554489" y="16413"/>
              </a:lnTo>
            </a:path>
          </a:pathLst>
        </a:custGeom>
        <a:noFill/>
        <a:ln w="25400"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rot="10800000">
        <a:off x="2540869" y="2101281"/>
        <a:ext cx="27724" cy="27724"/>
      </dsp:txXfrm>
    </dsp:sp>
    <dsp:sp modelId="{E74F3C33-FDCB-49DB-B5DF-8519460BE454}">
      <dsp:nvSpPr>
        <dsp:cNvPr id="0" name=""/>
        <dsp:cNvSpPr/>
      </dsp:nvSpPr>
      <dsp:spPr>
        <a:xfrm>
          <a:off x="1104395" y="1528597"/>
          <a:ext cx="1173092" cy="1173092"/>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zh-CN" altLang="en-US" sz="1700" b="1" kern="1200" dirty="0" smtClean="0"/>
            <a:t>联机输入输出方式</a:t>
          </a:r>
          <a:endParaRPr lang="zh-CN" altLang="en-US" sz="1700" b="1" kern="1200" dirty="0"/>
        </a:p>
      </dsp:txBody>
      <dsp:txXfrm>
        <a:off x="1276190" y="1700392"/>
        <a:ext cx="829502" cy="829502"/>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CE70C7-2C26-4505-8578-4D978357873D}" type="datetimeFigureOut">
              <a:rPr lang="zh-CN" altLang="en-US" smtClean="0"/>
              <a:pPr/>
              <a:t>2025/09/25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63B0A5-B27C-4FBD-B1E5-E777625DAE14}" type="slidenum">
              <a:rPr lang="zh-CN" altLang="en-US" smtClean="0"/>
              <a:pPr/>
              <a:t>‹#›</a:t>
            </a:fld>
            <a:endParaRPr lang="zh-CN" altLang="en-US"/>
          </a:p>
        </p:txBody>
      </p:sp>
    </p:spTree>
    <p:extLst>
      <p:ext uri="{BB962C8B-B14F-4D97-AF65-F5344CB8AC3E}">
        <p14:creationId xmlns:p14="http://schemas.microsoft.com/office/powerpoint/2010/main" val="8828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a:t>
            </a:fld>
            <a:endParaRPr lang="zh-CN" altLang="en-US"/>
          </a:p>
        </p:txBody>
      </p:sp>
    </p:spTree>
    <p:extLst>
      <p:ext uri="{BB962C8B-B14F-4D97-AF65-F5344CB8AC3E}">
        <p14:creationId xmlns:p14="http://schemas.microsoft.com/office/powerpoint/2010/main" val="3327055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a:t>
            </a:fld>
            <a:endParaRPr lang="zh-CN" altLang="en-US"/>
          </a:p>
        </p:txBody>
      </p:sp>
    </p:spTree>
    <p:extLst>
      <p:ext uri="{BB962C8B-B14F-4D97-AF65-F5344CB8AC3E}">
        <p14:creationId xmlns:p14="http://schemas.microsoft.com/office/powerpoint/2010/main" val="944575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3</a:t>
            </a:fld>
            <a:endParaRPr lang="zh-CN" altLang="en-US"/>
          </a:p>
        </p:txBody>
      </p:sp>
    </p:spTree>
    <p:extLst>
      <p:ext uri="{BB962C8B-B14F-4D97-AF65-F5344CB8AC3E}">
        <p14:creationId xmlns:p14="http://schemas.microsoft.com/office/powerpoint/2010/main" val="2307355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16</a:t>
            </a:fld>
            <a:endParaRPr lang="zh-CN" altLang="en-US"/>
          </a:p>
        </p:txBody>
      </p:sp>
    </p:spTree>
    <p:extLst>
      <p:ext uri="{BB962C8B-B14F-4D97-AF65-F5344CB8AC3E}">
        <p14:creationId xmlns:p14="http://schemas.microsoft.com/office/powerpoint/2010/main" val="1488770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Mem_map</a:t>
            </a:r>
            <a:r>
              <a:rPr lang="zh-CN" altLang="en-US" dirty="0" smtClean="0"/>
              <a:t>中存放目前还有多少容量的内容可供使用，哪些内存是空闲的可使用的，哪些是已经被使用过的</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17</a:t>
            </a:fld>
            <a:endParaRPr lang="zh-CN" altLang="en-US"/>
          </a:p>
        </p:txBody>
      </p:sp>
    </p:spTree>
    <p:extLst>
      <p:ext uri="{BB962C8B-B14F-4D97-AF65-F5344CB8AC3E}">
        <p14:creationId xmlns:p14="http://schemas.microsoft.com/office/powerpoint/2010/main" val="3733331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我们要学习：</a:t>
            </a:r>
            <a:r>
              <a:rPr lang="en-US" altLang="zh-CN" dirty="0" smtClean="0"/>
              <a:t>1</a:t>
            </a:r>
            <a:r>
              <a:rPr lang="zh-CN" altLang="en-US" dirty="0" smtClean="0"/>
              <a:t>、对于系统接口来说，前面的这个到底时什么？</a:t>
            </a:r>
            <a:r>
              <a:rPr lang="en-US" altLang="zh-CN" dirty="0" smtClean="0"/>
              <a:t>2</a:t>
            </a:r>
            <a:r>
              <a:rPr lang="zh-CN" altLang="en-US" dirty="0" smtClean="0"/>
              <a:t>、它背后的这个又是什么，到底是如何完成这件事的，今天我们先来学习，这前面是什么，后面我们在学习这后面是什么。</a:t>
            </a:r>
            <a:endParaRPr lang="en-US" altLang="zh-CN" dirty="0" smtClean="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18</a:t>
            </a:fld>
            <a:endParaRPr lang="zh-CN" altLang="en-US"/>
          </a:p>
        </p:txBody>
      </p:sp>
    </p:spTree>
    <p:extLst>
      <p:ext uri="{BB962C8B-B14F-4D97-AF65-F5344CB8AC3E}">
        <p14:creationId xmlns:p14="http://schemas.microsoft.com/office/powerpoint/2010/main" val="1403158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19</a:t>
            </a:fld>
            <a:endParaRPr lang="zh-CN" altLang="en-US"/>
          </a:p>
        </p:txBody>
      </p:sp>
    </p:spTree>
    <p:extLst>
      <p:ext uri="{BB962C8B-B14F-4D97-AF65-F5344CB8AC3E}">
        <p14:creationId xmlns:p14="http://schemas.microsoft.com/office/powerpoint/2010/main" val="1005387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20</a:t>
            </a:fld>
            <a:endParaRPr lang="zh-CN" altLang="en-US"/>
          </a:p>
        </p:txBody>
      </p:sp>
    </p:spTree>
    <p:extLst>
      <p:ext uri="{BB962C8B-B14F-4D97-AF65-F5344CB8AC3E}">
        <p14:creationId xmlns:p14="http://schemas.microsoft.com/office/powerpoint/2010/main" val="1781461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31</a:t>
            </a:fld>
            <a:endParaRPr lang="zh-CN" altLang="en-US"/>
          </a:p>
        </p:txBody>
      </p:sp>
    </p:spTree>
    <p:extLst>
      <p:ext uri="{BB962C8B-B14F-4D97-AF65-F5344CB8AC3E}">
        <p14:creationId xmlns:p14="http://schemas.microsoft.com/office/powerpoint/2010/main" val="1336856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两个段寄存器：</a:t>
            </a:r>
            <a:r>
              <a:rPr lang="en-US" altLang="zh-CN" dirty="0" smtClean="0"/>
              <a:t>DPL</a:t>
            </a:r>
            <a:r>
              <a:rPr lang="zh-CN" altLang="en-US" dirty="0" smtClean="0"/>
              <a:t>和</a:t>
            </a:r>
            <a:r>
              <a:rPr lang="en-US" altLang="zh-CN" dirty="0" smtClean="0"/>
              <a:t>CPL</a:t>
            </a:r>
            <a:r>
              <a:rPr lang="zh-CN" altLang="en-US" dirty="0" smtClean="0"/>
              <a:t>。其中</a:t>
            </a:r>
            <a:r>
              <a:rPr lang="en-US" altLang="zh-CN" dirty="0" smtClean="0"/>
              <a:t>DPL</a:t>
            </a:r>
            <a:r>
              <a:rPr lang="zh-CN" altLang="en-US" dirty="0" smtClean="0"/>
              <a:t>存放的是目标段的特权级。（注意，前面同学们课下看操作系统启动的视频的时候，再</a:t>
            </a:r>
            <a:r>
              <a:rPr lang="en-US" altLang="zh-CN" dirty="0" err="1" smtClean="0"/>
              <a:t>head.s</a:t>
            </a:r>
            <a:r>
              <a:rPr lang="zh-CN" altLang="en-US" dirty="0" smtClean="0"/>
              <a:t>那段程序中就有设计</a:t>
            </a:r>
            <a:r>
              <a:rPr lang="en-US" altLang="zh-CN" dirty="0" smtClean="0"/>
              <a:t>DPL</a:t>
            </a:r>
            <a:r>
              <a:rPr lang="zh-CN" altLang="en-US" dirty="0" smtClean="0"/>
              <a:t>的赋值。在</a:t>
            </a:r>
            <a:r>
              <a:rPr lang="en-US" altLang="zh-CN" dirty="0" err="1" smtClean="0"/>
              <a:t>head.s</a:t>
            </a:r>
            <a:r>
              <a:rPr lang="zh-CN" altLang="en-US" dirty="0" smtClean="0"/>
              <a:t>中有创建</a:t>
            </a:r>
            <a:r>
              <a:rPr lang="en-US" altLang="zh-CN" dirty="0" smtClean="0"/>
              <a:t>GDT</a:t>
            </a:r>
            <a:r>
              <a:rPr lang="zh-CN" altLang="en-US" dirty="0" smtClean="0"/>
              <a:t>表中就写有</a:t>
            </a:r>
            <a:r>
              <a:rPr lang="en-US" altLang="zh-CN" dirty="0" smtClean="0"/>
              <a:t>DPL</a:t>
            </a:r>
            <a:r>
              <a:rPr lang="zh-CN" altLang="en-US" dirty="0" smtClean="0"/>
              <a:t>的特权级）。</a:t>
            </a:r>
            <a:r>
              <a:rPr lang="en-US" altLang="zh-CN" dirty="0" smtClean="0"/>
              <a:t>CPL</a:t>
            </a:r>
            <a:r>
              <a:rPr lang="zh-CN" altLang="en-US" dirty="0" smtClean="0"/>
              <a:t>表示当前的特权级。</a:t>
            </a:r>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37</a:t>
            </a:fld>
            <a:endParaRPr lang="zh-CN" altLang="en-US"/>
          </a:p>
        </p:txBody>
      </p:sp>
    </p:spTree>
    <p:extLst>
      <p:ext uri="{BB962C8B-B14F-4D97-AF65-F5344CB8AC3E}">
        <p14:creationId xmlns:p14="http://schemas.microsoft.com/office/powerpoint/2010/main" val="2574271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38</a:t>
            </a:fld>
            <a:endParaRPr lang="zh-CN" altLang="en-US"/>
          </a:p>
        </p:txBody>
      </p:sp>
    </p:spTree>
    <p:extLst>
      <p:ext uri="{BB962C8B-B14F-4D97-AF65-F5344CB8AC3E}">
        <p14:creationId xmlns:p14="http://schemas.microsoft.com/office/powerpoint/2010/main" val="33076956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39</a:t>
            </a:fld>
            <a:endParaRPr lang="zh-CN" altLang="en-US"/>
          </a:p>
        </p:txBody>
      </p:sp>
    </p:spTree>
    <p:extLst>
      <p:ext uri="{BB962C8B-B14F-4D97-AF65-F5344CB8AC3E}">
        <p14:creationId xmlns:p14="http://schemas.microsoft.com/office/powerpoint/2010/main" val="1406735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43</a:t>
            </a:fld>
            <a:endParaRPr lang="zh-CN" altLang="en-US"/>
          </a:p>
        </p:txBody>
      </p:sp>
    </p:spTree>
    <p:extLst>
      <p:ext uri="{BB962C8B-B14F-4D97-AF65-F5344CB8AC3E}">
        <p14:creationId xmlns:p14="http://schemas.microsoft.com/office/powerpoint/2010/main" val="1295228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44</a:t>
            </a:fld>
            <a:endParaRPr lang="zh-CN" altLang="en-US"/>
          </a:p>
        </p:txBody>
      </p:sp>
    </p:spTree>
    <p:extLst>
      <p:ext uri="{BB962C8B-B14F-4D97-AF65-F5344CB8AC3E}">
        <p14:creationId xmlns:p14="http://schemas.microsoft.com/office/powerpoint/2010/main" val="938365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45</a:t>
            </a:fld>
            <a:endParaRPr lang="zh-CN" altLang="en-US"/>
          </a:p>
        </p:txBody>
      </p:sp>
    </p:spTree>
    <p:extLst>
      <p:ext uri="{BB962C8B-B14F-4D97-AF65-F5344CB8AC3E}">
        <p14:creationId xmlns:p14="http://schemas.microsoft.com/office/powerpoint/2010/main" val="3233747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46</a:t>
            </a:fld>
            <a:endParaRPr lang="zh-CN" altLang="en-US"/>
          </a:p>
        </p:txBody>
      </p:sp>
    </p:spTree>
    <p:extLst>
      <p:ext uri="{BB962C8B-B14F-4D97-AF65-F5344CB8AC3E}">
        <p14:creationId xmlns:p14="http://schemas.microsoft.com/office/powerpoint/2010/main" val="1511313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47</a:t>
            </a:fld>
            <a:endParaRPr lang="zh-CN" altLang="en-US"/>
          </a:p>
        </p:txBody>
      </p:sp>
    </p:spTree>
    <p:extLst>
      <p:ext uri="{BB962C8B-B14F-4D97-AF65-F5344CB8AC3E}">
        <p14:creationId xmlns:p14="http://schemas.microsoft.com/office/powerpoint/2010/main" val="4083976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48</a:t>
            </a:fld>
            <a:endParaRPr lang="zh-CN" altLang="en-US"/>
          </a:p>
        </p:txBody>
      </p:sp>
    </p:spTree>
    <p:extLst>
      <p:ext uri="{BB962C8B-B14F-4D97-AF65-F5344CB8AC3E}">
        <p14:creationId xmlns:p14="http://schemas.microsoft.com/office/powerpoint/2010/main" val="12523292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64</a:t>
            </a:fld>
            <a:endParaRPr lang="zh-CN" altLang="en-US"/>
          </a:p>
        </p:txBody>
      </p:sp>
    </p:spTree>
    <p:extLst>
      <p:ext uri="{BB962C8B-B14F-4D97-AF65-F5344CB8AC3E}">
        <p14:creationId xmlns:p14="http://schemas.microsoft.com/office/powerpoint/2010/main" val="4145503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72</a:t>
            </a:fld>
            <a:endParaRPr lang="zh-CN" altLang="en-US"/>
          </a:p>
        </p:txBody>
      </p:sp>
    </p:spTree>
    <p:extLst>
      <p:ext uri="{BB962C8B-B14F-4D97-AF65-F5344CB8AC3E}">
        <p14:creationId xmlns:p14="http://schemas.microsoft.com/office/powerpoint/2010/main" val="386097432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17" name="组合 16"/>
          <p:cNvGrpSpPr/>
          <p:nvPr userDrawn="1"/>
        </p:nvGrpSpPr>
        <p:grpSpPr>
          <a:xfrm>
            <a:off x="-11499" y="0"/>
            <a:ext cx="9174890" cy="5143500"/>
            <a:chOff x="-11499" y="0"/>
            <a:chExt cx="2891224" cy="1620838"/>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61" y="7637"/>
              <a:ext cx="2709804" cy="1443102"/>
            </a:xfrm>
            <a:prstGeom prst="rect">
              <a:avLst/>
            </a:prstGeom>
          </p:spPr>
        </p:pic>
        <p:pic>
          <p:nvPicPr>
            <p:cNvPr id="8" name="图片 7"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pic>
          <p:nvPicPr>
            <p:cNvPr id="9" name="图片 8" descr="桌子.png"/>
            <p:cNvPicPr>
              <a:picLocks noChangeAspect="1"/>
            </p:cNvPicPr>
            <p:nvPr userDrawn="1"/>
          </p:nvPicPr>
          <p:blipFill>
            <a:blip r:embed="rId4" cstate="print"/>
            <a:srcRect t="80530" r="40938"/>
            <a:stretch>
              <a:fillRect/>
            </a:stretch>
          </p:blipFill>
          <p:spPr>
            <a:xfrm>
              <a:off x="-11499" y="1353415"/>
              <a:ext cx="1247264" cy="267423"/>
            </a:xfrm>
            <a:prstGeom prst="rect">
              <a:avLst/>
            </a:prstGeom>
          </p:spPr>
        </p:pic>
        <p:pic>
          <p:nvPicPr>
            <p:cNvPr id="10" name="图片 9" descr="粉笔画.png"/>
            <p:cNvPicPr>
              <a:picLocks noChangeAspect="1"/>
            </p:cNvPicPr>
            <p:nvPr userDrawn="1"/>
          </p:nvPicPr>
          <p:blipFill>
            <a:blip r:embed="rId5" cstate="print"/>
            <a:srcRect l="49934" t="39179" b="17915"/>
            <a:stretch>
              <a:fillRect/>
            </a:stretch>
          </p:blipFill>
          <p:spPr>
            <a:xfrm>
              <a:off x="1632621" y="799729"/>
              <a:ext cx="1057298" cy="589321"/>
            </a:xfrm>
            <a:prstGeom prst="rect">
              <a:avLst/>
            </a:prstGeom>
          </p:spPr>
        </p:pic>
        <p:pic>
          <p:nvPicPr>
            <p:cNvPr id="11" name="图片 10" descr="书本.png"/>
            <p:cNvPicPr>
              <a:picLocks noChangeAspect="1"/>
            </p:cNvPicPr>
            <p:nvPr userDrawn="1"/>
          </p:nvPicPr>
          <p:blipFill>
            <a:blip r:embed="rId6" cstate="print"/>
            <a:stretch>
              <a:fillRect/>
            </a:stretch>
          </p:blipFill>
          <p:spPr>
            <a:xfrm>
              <a:off x="135905" y="1264247"/>
              <a:ext cx="331633" cy="283611"/>
            </a:xfrm>
            <a:prstGeom prst="rect">
              <a:avLst/>
            </a:prstGeom>
          </p:spPr>
        </p:pic>
        <p:pic>
          <p:nvPicPr>
            <p:cNvPr id="12" name="图片 11" descr="钟.PNG"/>
            <p:cNvPicPr>
              <a:picLocks noChangeAspect="1"/>
            </p:cNvPicPr>
            <p:nvPr userDrawn="1"/>
          </p:nvPicPr>
          <p:blipFill>
            <a:blip r:embed="rId7" cstate="print"/>
            <a:stretch>
              <a:fillRect/>
            </a:stretch>
          </p:blipFill>
          <p:spPr>
            <a:xfrm>
              <a:off x="586523" y="1346308"/>
              <a:ext cx="168944" cy="161364"/>
            </a:xfrm>
            <a:prstGeom prst="rect">
              <a:avLst/>
            </a:prstGeom>
          </p:spPr>
        </p:pic>
        <p:pic>
          <p:nvPicPr>
            <p:cNvPr id="13" name="图片 12" descr="铅笔筒.PNG"/>
            <p:cNvPicPr>
              <a:picLocks noChangeAspect="1"/>
            </p:cNvPicPr>
            <p:nvPr userDrawn="1"/>
          </p:nvPicPr>
          <p:blipFill>
            <a:blip r:embed="rId8" cstate="print"/>
            <a:stretch>
              <a:fillRect/>
            </a:stretch>
          </p:blipFill>
          <p:spPr>
            <a:xfrm>
              <a:off x="447336" y="1270428"/>
              <a:ext cx="223659" cy="242046"/>
            </a:xfrm>
            <a:prstGeom prst="rect">
              <a:avLst/>
            </a:prstGeom>
          </p:spPr>
        </p:pic>
        <p:pic>
          <p:nvPicPr>
            <p:cNvPr id="14" name="图片 13" descr="眼镜.PNG"/>
            <p:cNvPicPr>
              <a:picLocks noChangeAspect="1"/>
            </p:cNvPicPr>
            <p:nvPr userDrawn="1"/>
          </p:nvPicPr>
          <p:blipFill>
            <a:blip r:embed="rId9" cstate="print"/>
            <a:stretch>
              <a:fillRect/>
            </a:stretch>
          </p:blipFill>
          <p:spPr>
            <a:xfrm>
              <a:off x="818232" y="1467966"/>
              <a:ext cx="172083" cy="79411"/>
            </a:xfrm>
            <a:prstGeom prst="rect">
              <a:avLst/>
            </a:prstGeom>
          </p:spPr>
        </p:pic>
        <p:pic>
          <p:nvPicPr>
            <p:cNvPr id="15" name="图片 14" descr="贴贴子4张（空）.png"/>
            <p:cNvPicPr>
              <a:picLocks noChangeAspect="1"/>
            </p:cNvPicPr>
            <p:nvPr userDrawn="1"/>
          </p:nvPicPr>
          <p:blipFill>
            <a:blip r:embed="rId10" cstate="print"/>
            <a:srcRect t="33018" r="77449" b="52860"/>
            <a:stretch>
              <a:fillRect/>
            </a:stretch>
          </p:blipFill>
          <p:spPr>
            <a:xfrm>
              <a:off x="229424" y="152368"/>
              <a:ext cx="476228" cy="193957"/>
            </a:xfrm>
            <a:prstGeom prst="rect">
              <a:avLst/>
            </a:prstGeom>
          </p:spPr>
        </p:pic>
        <p:pic>
          <p:nvPicPr>
            <p:cNvPr id="16" name="图片 15" descr="贴贴子4张（空）.png"/>
            <p:cNvPicPr>
              <a:picLocks/>
            </p:cNvPicPr>
            <p:nvPr userDrawn="1"/>
          </p:nvPicPr>
          <p:blipFill>
            <a:blip r:embed="rId10" cstate="print"/>
            <a:srcRect l="6702" t="47905" r="86794" b="38897"/>
            <a:stretch>
              <a:fillRect/>
            </a:stretch>
          </p:blipFill>
          <p:spPr>
            <a:xfrm rot="21420000">
              <a:off x="630039" y="230507"/>
              <a:ext cx="136050" cy="186588"/>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9" name="组合 8"/>
          <p:cNvGrpSpPr/>
          <p:nvPr userDrawn="1"/>
        </p:nvGrpSpPr>
        <p:grpSpPr>
          <a:xfrm>
            <a:off x="13811" y="-236562"/>
            <a:ext cx="9238709" cy="5353378"/>
            <a:chOff x="-7497" y="-117332"/>
            <a:chExt cx="3007002" cy="1742410"/>
          </a:xfrm>
        </p:grpSpPr>
        <p:pic>
          <p:nvPicPr>
            <p:cNvPr id="7" name="图片 6"/>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7497" y="129677"/>
              <a:ext cx="2808011" cy="1495401"/>
            </a:xfrm>
            <a:prstGeom prst="rect">
              <a:avLst/>
            </a:prstGeom>
          </p:spPr>
        </p:pic>
        <p:pic>
          <p:nvPicPr>
            <p:cNvPr id="8" name="图片 7" descr="照片夹.png"/>
            <p:cNvPicPr>
              <a:picLocks noChangeAspect="1"/>
            </p:cNvPicPr>
            <p:nvPr userDrawn="1"/>
          </p:nvPicPr>
          <p:blipFill>
            <a:blip r:embed="rId3" cstate="print"/>
            <a:srcRect r="66645" b="79232"/>
            <a:stretch>
              <a:fillRect/>
            </a:stretch>
          </p:blipFill>
          <p:spPr>
            <a:xfrm flipH="1">
              <a:off x="1530573" y="-117332"/>
              <a:ext cx="1468932" cy="594851"/>
            </a:xfrm>
            <a:prstGeom prst="rect">
              <a:avLst/>
            </a:prstGeom>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11" name="组合 10"/>
          <p:cNvGrpSpPr/>
          <p:nvPr userDrawn="1"/>
        </p:nvGrpSpPr>
        <p:grpSpPr>
          <a:xfrm>
            <a:off x="59328" y="-7204"/>
            <a:ext cx="9100573" cy="5243250"/>
            <a:chOff x="43427" y="0"/>
            <a:chExt cx="2836298" cy="1634119"/>
          </a:xfrm>
        </p:grpSpPr>
        <p:pic>
          <p:nvPicPr>
            <p:cNvPr id="9" name="图片 8"/>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43427" y="152903"/>
              <a:ext cx="2781373" cy="1481216"/>
            </a:xfrm>
            <a:prstGeom prst="rect">
              <a:avLst/>
            </a:prstGeom>
          </p:spPr>
        </p:pic>
        <p:pic>
          <p:nvPicPr>
            <p:cNvPr id="10" name="图片 9"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grpSp>
        <p:nvGrpSpPr>
          <p:cNvPr id="12" name="组合 11"/>
          <p:cNvGrpSpPr/>
          <p:nvPr userDrawn="1"/>
        </p:nvGrpSpPr>
        <p:grpSpPr>
          <a:xfrm>
            <a:off x="-11499" y="0"/>
            <a:ext cx="9174890" cy="5143500"/>
            <a:chOff x="-11499" y="0"/>
            <a:chExt cx="2891224" cy="1620838"/>
          </a:xfrm>
        </p:grpSpPr>
        <p:pic>
          <p:nvPicPr>
            <p:cNvPr id="10" name="图片 9"/>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11499" y="0"/>
              <a:ext cx="2890797" cy="1620838"/>
            </a:xfrm>
            <a:prstGeom prst="rect">
              <a:avLst/>
            </a:prstGeom>
          </p:spPr>
        </p:pic>
        <p:pic>
          <p:nvPicPr>
            <p:cNvPr id="11" name="图片 10"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背景.jpg"/>
          <p:cNvPicPr>
            <a:picLocks noChangeAspect="1"/>
          </p:cNvPicPr>
          <p:nvPr/>
        </p:nvPicPr>
        <p:blipFill>
          <a:blip r:embed="rId6" cstate="print"/>
          <a:srcRect r="2304" b="7492"/>
          <a:stretch>
            <a:fillRect/>
          </a:stretch>
        </p:blipFill>
        <p:spPr>
          <a:xfrm>
            <a:off x="-11499" y="0"/>
            <a:ext cx="9174890" cy="5143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4.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slide" Target="slide70.xml"/></Relationships>
</file>

<file path=ppt/slides/_rels/slide73.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4.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5" name="TextBox 84"/>
          <p:cNvSpPr txBox="1"/>
          <p:nvPr/>
        </p:nvSpPr>
        <p:spPr>
          <a:xfrm>
            <a:off x="2843808" y="2714184"/>
            <a:ext cx="3960441" cy="385303"/>
          </a:xfrm>
          <a:prstGeom prst="rect">
            <a:avLst/>
          </a:prstGeom>
          <a:noFill/>
        </p:spPr>
        <p:txBody>
          <a:bodyPr wrap="square" lIns="91441" tIns="45721" rIns="91441" bIns="45721" rtlCol="0">
            <a:spAutoFit/>
          </a:bodyPr>
          <a:lstStyle/>
          <a:p>
            <a:pPr algn="r" defTabSz="914399"/>
            <a:r>
              <a:rPr lang="zh-CN" altLang="en-US" sz="1900" b="1" dirty="0" smtClean="0">
                <a:solidFill>
                  <a:prstClr val="white">
                    <a:lumMod val="75000"/>
                  </a:prstClr>
                </a:solidFill>
                <a:latin typeface="方正特粗光辉简体" panose="02000000000000000000" pitchFamily="2" charset="-122"/>
                <a:ea typeface="方正特粗光辉简体" panose="02000000000000000000" pitchFamily="2" charset="-122"/>
              </a:rPr>
              <a:t>高茜</a:t>
            </a:r>
            <a:endParaRPr lang="zh-CN" altLang="en-US" sz="1900" b="1" dirty="0">
              <a:solidFill>
                <a:prstClr val="white">
                  <a:lumMod val="75000"/>
                </a:prstClr>
              </a:solidFill>
              <a:latin typeface="方正特粗光辉简体" panose="02000000000000000000" pitchFamily="2" charset="-122"/>
              <a:ea typeface="方正特粗光辉简体" panose="02000000000000000000" pitchFamily="2" charset="-122"/>
            </a:endParaRP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1357290" y="1307333"/>
            <a:ext cx="6357982" cy="1200331"/>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ctr" defTabSz="914399"/>
            <a:r>
              <a:rPr lang="zh-CN" altLang="en-US" sz="7200" b="1" dirty="0" smtClean="0">
                <a:ln w="50800"/>
                <a:solidFill>
                  <a:schemeClr val="bg1">
                    <a:shade val="50000"/>
                  </a:schemeClr>
                </a:solidFill>
                <a:latin typeface="黑体" pitchFamily="49" charset="-122"/>
                <a:ea typeface="黑体" pitchFamily="49" charset="-122"/>
              </a:rPr>
              <a:t>操作系统</a:t>
            </a:r>
            <a:endParaRPr lang="zh-CN" altLang="en-US" sz="72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p:cTn id="7" dur="500" decel="50000" fill="hold">
                                          <p:stCondLst>
                                            <p:cond delay="0"/>
                                          </p:stCondLst>
                                        </p:cTn>
                                        <p:tgtEl>
                                          <p:spTgt spid="20">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0">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0">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20">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0">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0">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0">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0">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85">
                                            <p:txEl>
                                              <p:pRg st="0" end="0"/>
                                            </p:txEl>
                                          </p:spTgt>
                                        </p:tgtEl>
                                        <p:attrNameLst>
                                          <p:attrName>style.visibility</p:attrName>
                                        </p:attrNameLst>
                                      </p:cBhvr>
                                      <p:to>
                                        <p:strVal val="visible"/>
                                      </p:to>
                                    </p:set>
                                    <p:animEffect transition="in" filter="dissolve">
                                      <p:cBhvr>
                                        <p:cTn id="19" dur="500"/>
                                        <p:tgtEl>
                                          <p:spTgt spid="8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8" name="矩形 87"/>
          <p:cNvSpPr/>
          <p:nvPr/>
        </p:nvSpPr>
        <p:spPr>
          <a:xfrm>
            <a:off x="2531923" y="2214560"/>
            <a:ext cx="3874392" cy="646333"/>
          </a:xfrm>
          <a:prstGeom prst="rect">
            <a:avLst/>
          </a:prstGeom>
        </p:spPr>
        <p:txBody>
          <a:bodyPr wrap="square" lIns="91441" tIns="45721" rIns="91441" bIns="45721">
            <a:spAutoFit/>
          </a:bodyPr>
          <a:lstStyle/>
          <a:p>
            <a:pPr defTabSz="914399"/>
            <a:r>
              <a:rPr lang="zh-CN" altLang="en-US" sz="3600" b="1" dirty="0" smtClean="0">
                <a:solidFill>
                  <a:prstClr val="white">
                    <a:lumMod val="75000"/>
                  </a:prstClr>
                </a:solidFill>
                <a:latin typeface="方正特粗光辉简体" panose="02000000000000000000" pitchFamily="2" charset="-122"/>
                <a:ea typeface="方正特粗光辉简体" panose="02000000000000000000" pitchFamily="2" charset="-122"/>
              </a:rPr>
              <a:t>操作系统用户</a:t>
            </a:r>
            <a:r>
              <a:rPr lang="zh-CN" altLang="en-US" sz="3600" b="1" dirty="0">
                <a:solidFill>
                  <a:prstClr val="white">
                    <a:lumMod val="75000"/>
                  </a:prstClr>
                </a:solidFill>
                <a:latin typeface="方正特粗光辉简体" panose="02000000000000000000" pitchFamily="2" charset="-122"/>
                <a:ea typeface="方正特粗光辉简体" panose="02000000000000000000" pitchFamily="2" charset="-122"/>
              </a:rPr>
              <a:t>界面</a:t>
            </a: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229162" y="1307333"/>
            <a:ext cx="3960441"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en-US" altLang="zh-CN" sz="5400" b="1" dirty="0">
                <a:ln w="50800"/>
                <a:solidFill>
                  <a:schemeClr val="bg1">
                    <a:shade val="50000"/>
                  </a:schemeClr>
                </a:solidFill>
                <a:latin typeface="黑体" pitchFamily="49" charset="-122"/>
                <a:ea typeface="黑体" pitchFamily="49" charset="-122"/>
              </a:rPr>
              <a:t>Chapter</a:t>
            </a:r>
            <a:r>
              <a:rPr lang="en-US" altLang="zh-CN" sz="5400" b="1" dirty="0" smtClean="0">
                <a:ln w="50800"/>
                <a:solidFill>
                  <a:schemeClr val="bg1">
                    <a:shade val="50000"/>
                  </a:schemeClr>
                </a:solidFill>
                <a:latin typeface="黑体" pitchFamily="49" charset="-122"/>
                <a:ea typeface="黑体" pitchFamily="49" charset="-122"/>
              </a:rPr>
              <a:t> 2</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9"/>
            <a:ext cx="4724400" cy="833438"/>
            <a:chOff x="1296" y="1824"/>
            <a:chExt cx="2976" cy="525"/>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407"/>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简介及一般用户的输入输出界面</a:t>
              </a:r>
              <a:endParaRPr lang="en-US" altLang="zh-CN" b="1" dirty="0">
                <a:solidFill>
                  <a:srgbClr val="000000"/>
                </a:solidFill>
              </a:endParaRPr>
            </a:p>
            <a:p>
              <a:pPr algn="ctr" eaLnBrk="0" hangingPunct="0"/>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命令控制</a:t>
              </a:r>
              <a:r>
                <a:rPr lang="zh-CN" altLang="en-US" b="1" dirty="0" smtClean="0">
                  <a:solidFill>
                    <a:srgbClr val="000000"/>
                  </a:solidFill>
                </a:rPr>
                <a:t>界面、图形控制界面</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1"/>
            </a:xfrm>
            <a:prstGeom prst="rect">
              <a:avLst/>
            </a:prstGeom>
            <a:noFill/>
            <a:ln w="9525" algn="ctr">
              <a:noFill/>
              <a:miter lim="800000"/>
              <a:headEnd/>
              <a:tailEnd/>
            </a:ln>
            <a:effectLst/>
          </p:spPr>
          <p:txBody>
            <a:bodyPr>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smtClean="0">
                  <a:solidFill>
                    <a:srgbClr val="000000"/>
                  </a:solidFill>
                </a:rPr>
                <a:t>Windows</a:t>
              </a:r>
              <a:r>
                <a:rPr lang="zh-CN" altLang="en-US" b="1" dirty="0" smtClean="0">
                  <a:solidFill>
                    <a:srgbClr val="000000"/>
                  </a:solidFill>
                </a:rPr>
                <a:t>的命令</a:t>
              </a:r>
              <a:r>
                <a:rPr lang="zh-CN" altLang="en-US" b="1" dirty="0">
                  <a:solidFill>
                    <a:srgbClr val="000000"/>
                  </a:solidFill>
                </a:rPr>
                <a:t>控制界面</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eaLnBrk="0" hangingPunct="0"/>
              <a:r>
                <a:rPr lang="zh-CN" altLang="en-US" b="1" dirty="0" smtClean="0">
                  <a:solidFill>
                    <a:srgbClr val="000000"/>
                  </a:solidFill>
                </a:rPr>
                <a:t>               系统</a:t>
              </a:r>
              <a:r>
                <a:rPr lang="zh-CN" altLang="en-US" b="1" dirty="0">
                  <a:solidFill>
                    <a:srgbClr val="000000"/>
                  </a:solidFill>
                </a:rPr>
                <a:t>调用</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a:solidFill>
                    <a:srgbClr val="000000"/>
                  </a:solidFill>
                </a:rPr>
                <a:t>Windows</a:t>
              </a:r>
              <a:r>
                <a:rPr lang="zh-CN" altLang="en-US" b="1" dirty="0" smtClean="0">
                  <a:solidFill>
                    <a:srgbClr val="000000"/>
                  </a:solidFill>
                </a:rPr>
                <a:t>的</a:t>
              </a:r>
              <a:r>
                <a:rPr lang="zh-CN" altLang="en-US" b="1" dirty="0" smtClean="0">
                  <a:solidFill>
                    <a:srgbClr val="000000"/>
                  </a:solidFill>
                  <a:ea typeface="宋体" pitchFamily="2" charset="-122"/>
                </a:rPr>
                <a:t>系统调用</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0.7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1000" fill="hold"/>
                                        <p:tgtEl>
                                          <p:spTgt spid="16"/>
                                        </p:tgtEl>
                                        <p:attrNameLst>
                                          <p:attrName>ppt_w</p:attrName>
                                        </p:attrNameLst>
                                      </p:cBhvr>
                                      <p:tavLst>
                                        <p:tav tm="0">
                                          <p:val>
                                            <p:strVal val="#ppt_w*0.70"/>
                                          </p:val>
                                        </p:tav>
                                        <p:tav tm="100000">
                                          <p:val>
                                            <p:strVal val="#ppt_w"/>
                                          </p:val>
                                        </p:tav>
                                      </p:tavLst>
                                    </p:anim>
                                    <p:anim calcmode="lin" valueType="num">
                                      <p:cBhvr>
                                        <p:cTn id="15" dur="1000" fill="hold"/>
                                        <p:tgtEl>
                                          <p:spTgt spid="16"/>
                                        </p:tgtEl>
                                        <p:attrNameLst>
                                          <p:attrName>ppt_h</p:attrName>
                                        </p:attrNameLst>
                                      </p:cBhvr>
                                      <p:tavLst>
                                        <p:tav tm="0">
                                          <p:val>
                                            <p:strVal val="#ppt_h"/>
                                          </p:val>
                                        </p:tav>
                                        <p:tav tm="100000">
                                          <p:val>
                                            <p:strVal val="#ppt_h"/>
                                          </p:val>
                                        </p:tav>
                                      </p:tavLst>
                                    </p:anim>
                                    <p:animEffect transition="in" filter="fade">
                                      <p:cBhvr>
                                        <p:cTn id="16" dur="10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1000" fill="hold"/>
                                        <p:tgtEl>
                                          <p:spTgt spid="22"/>
                                        </p:tgtEl>
                                        <p:attrNameLst>
                                          <p:attrName>ppt_w</p:attrName>
                                        </p:attrNameLst>
                                      </p:cBhvr>
                                      <p:tavLst>
                                        <p:tav tm="0">
                                          <p:val>
                                            <p:strVal val="#ppt_w*0.70"/>
                                          </p:val>
                                        </p:tav>
                                        <p:tav tm="100000">
                                          <p:val>
                                            <p:strVal val="#ppt_w"/>
                                          </p:val>
                                        </p:tav>
                                      </p:tavLst>
                                    </p:anim>
                                    <p:anim calcmode="lin" valueType="num">
                                      <p:cBhvr>
                                        <p:cTn id="22" dur="1000" fill="hold"/>
                                        <p:tgtEl>
                                          <p:spTgt spid="22"/>
                                        </p:tgtEl>
                                        <p:attrNameLst>
                                          <p:attrName>ppt_h</p:attrName>
                                        </p:attrNameLst>
                                      </p:cBhvr>
                                      <p:tavLst>
                                        <p:tav tm="0">
                                          <p:val>
                                            <p:strVal val="#ppt_h"/>
                                          </p:val>
                                        </p:tav>
                                        <p:tav tm="100000">
                                          <p:val>
                                            <p:strVal val="#ppt_h"/>
                                          </p:val>
                                        </p:tav>
                                      </p:tavLst>
                                    </p:anim>
                                    <p:animEffect transition="in" filter="fade">
                                      <p:cBhvr>
                                        <p:cTn id="23" dur="10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1000" fill="hold"/>
                                        <p:tgtEl>
                                          <p:spTgt spid="27"/>
                                        </p:tgtEl>
                                        <p:attrNameLst>
                                          <p:attrName>ppt_w</p:attrName>
                                        </p:attrNameLst>
                                      </p:cBhvr>
                                      <p:tavLst>
                                        <p:tav tm="0">
                                          <p:val>
                                            <p:strVal val="#ppt_w*0.70"/>
                                          </p:val>
                                        </p:tav>
                                        <p:tav tm="100000">
                                          <p:val>
                                            <p:strVal val="#ppt_w"/>
                                          </p:val>
                                        </p:tav>
                                      </p:tavLst>
                                    </p:anim>
                                    <p:anim calcmode="lin" valueType="num">
                                      <p:cBhvr>
                                        <p:cTn id="29" dur="1000" fill="hold"/>
                                        <p:tgtEl>
                                          <p:spTgt spid="27"/>
                                        </p:tgtEl>
                                        <p:attrNameLst>
                                          <p:attrName>ppt_h</p:attrName>
                                        </p:attrNameLst>
                                      </p:cBhvr>
                                      <p:tavLst>
                                        <p:tav tm="0">
                                          <p:val>
                                            <p:strVal val="#ppt_h"/>
                                          </p:val>
                                        </p:tav>
                                        <p:tav tm="100000">
                                          <p:val>
                                            <p:strVal val="#ppt_h"/>
                                          </p:val>
                                        </p:tav>
                                      </p:tavLst>
                                    </p:anim>
                                    <p:animEffect transition="in" filter="fade">
                                      <p:cBhvr>
                                        <p:cTn id="30" dur="10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p:cTn id="35" dur="1000" fill="hold"/>
                                        <p:tgtEl>
                                          <p:spTgt spid="32"/>
                                        </p:tgtEl>
                                        <p:attrNameLst>
                                          <p:attrName>ppt_w</p:attrName>
                                        </p:attrNameLst>
                                      </p:cBhvr>
                                      <p:tavLst>
                                        <p:tav tm="0">
                                          <p:val>
                                            <p:strVal val="#ppt_w*0.70"/>
                                          </p:val>
                                        </p:tav>
                                        <p:tav tm="100000">
                                          <p:val>
                                            <p:strVal val="#ppt_w"/>
                                          </p:val>
                                        </p:tav>
                                      </p:tavLst>
                                    </p:anim>
                                    <p:anim calcmode="lin" valueType="num">
                                      <p:cBhvr>
                                        <p:cTn id="36" dur="1000" fill="hold"/>
                                        <p:tgtEl>
                                          <p:spTgt spid="32"/>
                                        </p:tgtEl>
                                        <p:attrNameLst>
                                          <p:attrName>ppt_h</p:attrName>
                                        </p:attrNameLst>
                                      </p:cBhvr>
                                      <p:tavLst>
                                        <p:tav tm="0">
                                          <p:val>
                                            <p:strVal val="#ppt_h"/>
                                          </p:val>
                                        </p:tav>
                                        <p:tav tm="100000">
                                          <p:val>
                                            <p:strVal val="#ppt_h"/>
                                          </p:val>
                                        </p:tav>
                                      </p:tavLst>
                                    </p:anim>
                                    <p:animEffect transition="in" filter="fade">
                                      <p:cBhvr>
                                        <p:cTn id="37" dur="10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mph" presetSubtype="0" fill="hold" nodeType="clickEffect">
                                  <p:stCondLst>
                                    <p:cond delay="0"/>
                                  </p:stCondLst>
                                  <p:childTnLst>
                                    <p:animScale>
                                      <p:cBhvr>
                                        <p:cTn id="41" dur="2000" fill="hold"/>
                                        <p:tgtEl>
                                          <p:spTgt spid="11"/>
                                        </p:tgtEl>
                                      </p:cBhvr>
                                      <p:by x="150000" y="150000"/>
                                    </p:animScale>
                                  </p:childTnLst>
                                </p:cTn>
                              </p:par>
                              <p:par>
                                <p:cTn id="42" presetID="42" presetClass="path" presetSubtype="0" accel="50000" decel="50000" fill="hold" nodeType="withEffect">
                                  <p:stCondLst>
                                    <p:cond delay="0"/>
                                  </p:stCondLst>
                                  <p:childTnLst>
                                    <p:animMotion origin="layout" path="M 3.05556E-6 -3.95062E-6 L -0.00643 0.25525 " pathEditMode="relative" rAng="0" ptsTypes="AA">
                                      <p:cBhvr>
                                        <p:cTn id="43" dur="2000" fill="hold"/>
                                        <p:tgtEl>
                                          <p:spTgt spid="11"/>
                                        </p:tgtEl>
                                        <p:attrNameLst>
                                          <p:attrName>ppt_x</p:attrName>
                                          <p:attrName>ppt_y</p:attrName>
                                        </p:attrNameLst>
                                      </p:cBhvr>
                                      <p:rCtr x="-330" y="12747"/>
                                    </p:animMotion>
                                  </p:childTnLst>
                                </p:cTn>
                              </p:par>
                              <p:par>
                                <p:cTn id="44" presetID="10" presetClass="exit" presetSubtype="0" fill="hold" nodeType="withEffect">
                                  <p:stCondLst>
                                    <p:cond delay="0"/>
                                  </p:stCondLst>
                                  <p:childTnLst>
                                    <p:animEffect transition="out" filter="fade">
                                      <p:cBhvr>
                                        <p:cTn id="45" dur="2000"/>
                                        <p:tgtEl>
                                          <p:spTgt spid="16"/>
                                        </p:tgtEl>
                                      </p:cBhvr>
                                    </p:animEffect>
                                    <p:set>
                                      <p:cBhvr>
                                        <p:cTn id="46" dur="1" fill="hold">
                                          <p:stCondLst>
                                            <p:cond delay="1999"/>
                                          </p:stCondLst>
                                        </p:cTn>
                                        <p:tgtEl>
                                          <p:spTgt spid="16"/>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2000"/>
                                        <p:tgtEl>
                                          <p:spTgt spid="22"/>
                                        </p:tgtEl>
                                      </p:cBhvr>
                                    </p:animEffect>
                                    <p:set>
                                      <p:cBhvr>
                                        <p:cTn id="49" dur="1" fill="hold">
                                          <p:stCondLst>
                                            <p:cond delay="1999"/>
                                          </p:stCondLst>
                                        </p:cTn>
                                        <p:tgtEl>
                                          <p:spTgt spid="22"/>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2000"/>
                                        <p:tgtEl>
                                          <p:spTgt spid="27"/>
                                        </p:tgtEl>
                                      </p:cBhvr>
                                    </p:animEffect>
                                    <p:set>
                                      <p:cBhvr>
                                        <p:cTn id="52" dur="1" fill="hold">
                                          <p:stCondLst>
                                            <p:cond delay="1999"/>
                                          </p:stCondLst>
                                        </p:cTn>
                                        <p:tgtEl>
                                          <p:spTgt spid="27"/>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2000"/>
                                        <p:tgtEl>
                                          <p:spTgt spid="32"/>
                                        </p:tgtEl>
                                      </p:cBhvr>
                                    </p:animEffect>
                                    <p:set>
                                      <p:cBhvr>
                                        <p:cTn id="55" dur="1" fill="hold">
                                          <p:stCondLst>
                                            <p:cond delay="19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642910" y="147426"/>
            <a:ext cx="68094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rPr>
              <a:t>计算机系统的用户</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mj-ea"/>
              <a:cs typeface="+mj-cs"/>
            </a:endParaRPr>
          </a:p>
        </p:txBody>
      </p:sp>
      <p:sp>
        <p:nvSpPr>
          <p:cNvPr id="4" name="任意多边形 3"/>
          <p:cNvSpPr/>
          <p:nvPr/>
        </p:nvSpPr>
        <p:spPr>
          <a:xfrm>
            <a:off x="2861604" y="999417"/>
            <a:ext cx="2385670" cy="1445614"/>
          </a:xfrm>
          <a:custGeom>
            <a:avLst/>
            <a:gdLst>
              <a:gd name="connsiteX0" fmla="*/ 0 w 2385670"/>
              <a:gd name="connsiteY0" fmla="*/ 722807 h 1445614"/>
              <a:gd name="connsiteX1" fmla="*/ 1192835 w 2385670"/>
              <a:gd name="connsiteY1" fmla="*/ 0 h 1445614"/>
              <a:gd name="connsiteX2" fmla="*/ 2385670 w 2385670"/>
              <a:gd name="connsiteY2" fmla="*/ 722807 h 1445614"/>
              <a:gd name="connsiteX3" fmla="*/ 1192835 w 2385670"/>
              <a:gd name="connsiteY3" fmla="*/ 1445614 h 1445614"/>
              <a:gd name="connsiteX4" fmla="*/ 0 w 2385670"/>
              <a:gd name="connsiteY4" fmla="*/ 722807 h 1445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5670" h="1445614">
                <a:moveTo>
                  <a:pt x="0" y="722807"/>
                </a:moveTo>
                <a:cubicBezTo>
                  <a:pt x="0" y="323612"/>
                  <a:pt x="534050" y="0"/>
                  <a:pt x="1192835" y="0"/>
                </a:cubicBezTo>
                <a:cubicBezTo>
                  <a:pt x="1851620" y="0"/>
                  <a:pt x="2385670" y="323612"/>
                  <a:pt x="2385670" y="722807"/>
                </a:cubicBezTo>
                <a:cubicBezTo>
                  <a:pt x="2385670" y="1122002"/>
                  <a:pt x="1851620" y="1445614"/>
                  <a:pt x="1192835" y="1445614"/>
                </a:cubicBezTo>
                <a:cubicBezTo>
                  <a:pt x="534050" y="1445614"/>
                  <a:pt x="0" y="1122002"/>
                  <a:pt x="0" y="722807"/>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372233" tIns="234565" rIns="372233" bIns="234565"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FFFF00"/>
                </a:solidFill>
              </a:rPr>
              <a:t>被服务者</a:t>
            </a:r>
            <a:r>
              <a:rPr lang="zh-CN" altLang="en-US" sz="1800" b="1" kern="1200" dirty="0" smtClean="0"/>
              <a:t>（使用和管理计算机应用程序</a:t>
            </a:r>
            <a:r>
              <a:rPr lang="zh-CN" altLang="en-US" sz="1800" b="1" kern="1200" smtClean="0"/>
              <a:t>的用户）</a:t>
            </a:r>
            <a:endParaRPr lang="zh-CN" altLang="en-US" sz="1800" b="1" kern="1200" dirty="0"/>
          </a:p>
        </p:txBody>
      </p:sp>
      <p:sp>
        <p:nvSpPr>
          <p:cNvPr id="5" name="任意多边形 4"/>
          <p:cNvSpPr/>
          <p:nvPr/>
        </p:nvSpPr>
        <p:spPr>
          <a:xfrm>
            <a:off x="3782183" y="2503406"/>
            <a:ext cx="789817" cy="644408"/>
          </a:xfrm>
          <a:custGeom>
            <a:avLst/>
            <a:gdLst>
              <a:gd name="connsiteX0" fmla="*/ 111443 w 840759"/>
              <a:gd name="connsiteY0" fmla="*/ 321506 h 840759"/>
              <a:gd name="connsiteX1" fmla="*/ 321506 w 840759"/>
              <a:gd name="connsiteY1" fmla="*/ 321506 h 840759"/>
              <a:gd name="connsiteX2" fmla="*/ 321506 w 840759"/>
              <a:gd name="connsiteY2" fmla="*/ 111443 h 840759"/>
              <a:gd name="connsiteX3" fmla="*/ 519253 w 840759"/>
              <a:gd name="connsiteY3" fmla="*/ 111443 h 840759"/>
              <a:gd name="connsiteX4" fmla="*/ 519253 w 840759"/>
              <a:gd name="connsiteY4" fmla="*/ 321506 h 840759"/>
              <a:gd name="connsiteX5" fmla="*/ 729316 w 840759"/>
              <a:gd name="connsiteY5" fmla="*/ 321506 h 840759"/>
              <a:gd name="connsiteX6" fmla="*/ 729316 w 840759"/>
              <a:gd name="connsiteY6" fmla="*/ 519253 h 840759"/>
              <a:gd name="connsiteX7" fmla="*/ 519253 w 840759"/>
              <a:gd name="connsiteY7" fmla="*/ 519253 h 840759"/>
              <a:gd name="connsiteX8" fmla="*/ 519253 w 840759"/>
              <a:gd name="connsiteY8" fmla="*/ 729316 h 840759"/>
              <a:gd name="connsiteX9" fmla="*/ 321506 w 840759"/>
              <a:gd name="connsiteY9" fmla="*/ 729316 h 840759"/>
              <a:gd name="connsiteX10" fmla="*/ 321506 w 840759"/>
              <a:gd name="connsiteY10" fmla="*/ 519253 h 840759"/>
              <a:gd name="connsiteX11" fmla="*/ 111443 w 840759"/>
              <a:gd name="connsiteY11" fmla="*/ 519253 h 840759"/>
              <a:gd name="connsiteX12" fmla="*/ 111443 w 840759"/>
              <a:gd name="connsiteY12" fmla="*/ 321506 h 84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0759" h="840759">
                <a:moveTo>
                  <a:pt x="111443" y="321506"/>
                </a:moveTo>
                <a:lnTo>
                  <a:pt x="321506" y="321506"/>
                </a:lnTo>
                <a:lnTo>
                  <a:pt x="321506" y="111443"/>
                </a:lnTo>
                <a:lnTo>
                  <a:pt x="519253" y="111443"/>
                </a:lnTo>
                <a:lnTo>
                  <a:pt x="519253" y="321506"/>
                </a:lnTo>
                <a:lnTo>
                  <a:pt x="729316" y="321506"/>
                </a:lnTo>
                <a:lnTo>
                  <a:pt x="729316" y="519253"/>
                </a:lnTo>
                <a:lnTo>
                  <a:pt x="519253" y="519253"/>
                </a:lnTo>
                <a:lnTo>
                  <a:pt x="519253" y="729316"/>
                </a:lnTo>
                <a:lnTo>
                  <a:pt x="321506" y="729316"/>
                </a:lnTo>
                <a:lnTo>
                  <a:pt x="321506" y="519253"/>
                </a:lnTo>
                <a:lnTo>
                  <a:pt x="111443" y="519253"/>
                </a:lnTo>
                <a:lnTo>
                  <a:pt x="111443" y="321506"/>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11443" tIns="321506" rIns="111443" bIns="321506" numCol="1" spcCol="1270" anchor="ctr" anchorCtr="0">
            <a:noAutofit/>
          </a:bodyPr>
          <a:lstStyle/>
          <a:p>
            <a:pPr lvl="0" algn="ctr" defTabSz="622300">
              <a:lnSpc>
                <a:spcPct val="90000"/>
              </a:lnSpc>
              <a:spcBef>
                <a:spcPct val="0"/>
              </a:spcBef>
              <a:spcAft>
                <a:spcPct val="35000"/>
              </a:spcAft>
            </a:pPr>
            <a:endParaRPr lang="zh-CN" altLang="en-US" sz="1400" kern="1200"/>
          </a:p>
        </p:txBody>
      </p:sp>
      <p:sp>
        <p:nvSpPr>
          <p:cNvPr id="6" name="任意多边形 5"/>
          <p:cNvSpPr/>
          <p:nvPr/>
        </p:nvSpPr>
        <p:spPr>
          <a:xfrm>
            <a:off x="2709983" y="3235562"/>
            <a:ext cx="2942137" cy="1685231"/>
          </a:xfrm>
          <a:custGeom>
            <a:avLst/>
            <a:gdLst>
              <a:gd name="connsiteX0" fmla="*/ 0 w 2942137"/>
              <a:gd name="connsiteY0" fmla="*/ 966577 h 1933153"/>
              <a:gd name="connsiteX1" fmla="*/ 1471069 w 2942137"/>
              <a:gd name="connsiteY1" fmla="*/ 0 h 1933153"/>
              <a:gd name="connsiteX2" fmla="*/ 2942138 w 2942137"/>
              <a:gd name="connsiteY2" fmla="*/ 966577 h 1933153"/>
              <a:gd name="connsiteX3" fmla="*/ 1471069 w 2942137"/>
              <a:gd name="connsiteY3" fmla="*/ 1933154 h 1933153"/>
              <a:gd name="connsiteX4" fmla="*/ 0 w 2942137"/>
              <a:gd name="connsiteY4" fmla="*/ 966577 h 1933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2137" h="1933153">
                <a:moveTo>
                  <a:pt x="0" y="966577"/>
                </a:moveTo>
                <a:cubicBezTo>
                  <a:pt x="0" y="432751"/>
                  <a:pt x="658620" y="0"/>
                  <a:pt x="1471069" y="0"/>
                </a:cubicBezTo>
                <a:cubicBezTo>
                  <a:pt x="2283518" y="0"/>
                  <a:pt x="2942138" y="432751"/>
                  <a:pt x="2942138" y="966577"/>
                </a:cubicBezTo>
                <a:cubicBezTo>
                  <a:pt x="2942138" y="1500403"/>
                  <a:pt x="2283518" y="1933154"/>
                  <a:pt x="1471069" y="1933154"/>
                </a:cubicBezTo>
                <a:cubicBezTo>
                  <a:pt x="658620" y="1933154"/>
                  <a:pt x="0" y="1500403"/>
                  <a:pt x="0" y="966577"/>
                </a:cubicBezTo>
                <a:close/>
              </a:path>
            </a:pathLst>
          </a:custGeom>
          <a:solidFill>
            <a:srgbClr val="006600"/>
          </a:solidFill>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452456" tIns="304694" rIns="452456" bIns="304694" numCol="1" spcCol="1270" anchor="ctr" anchorCtr="0">
            <a:noAutofit/>
          </a:bodyPr>
          <a:lstStyle/>
          <a:p>
            <a:pPr lvl="0" algn="ctr" defTabSz="755650">
              <a:lnSpc>
                <a:spcPct val="90000"/>
              </a:lnSpc>
              <a:spcBef>
                <a:spcPct val="0"/>
              </a:spcBef>
              <a:spcAft>
                <a:spcPct val="35000"/>
              </a:spcAft>
            </a:pPr>
            <a:r>
              <a:rPr lang="zh-CN" altLang="en-US" sz="1700" b="1" kern="1200" dirty="0" smtClean="0">
                <a:solidFill>
                  <a:srgbClr val="FFFF00"/>
                </a:solidFill>
              </a:rPr>
              <a:t>程序开发人员</a:t>
            </a:r>
            <a:r>
              <a:rPr lang="zh-CN" altLang="en-US" sz="1700" b="1" kern="1200" dirty="0" smtClean="0"/>
              <a:t>（使用操作系统所提供的编辑功能开发新的应用程序，完成用户所要求的服务）</a:t>
            </a:r>
            <a:endParaRPr lang="zh-CN" altLang="en-US" sz="1700" b="1" kern="1200" dirty="0"/>
          </a:p>
        </p:txBody>
      </p:sp>
      <p:sp>
        <p:nvSpPr>
          <p:cNvPr id="7" name="任意多边形 6"/>
          <p:cNvSpPr/>
          <p:nvPr/>
        </p:nvSpPr>
        <p:spPr>
          <a:xfrm rot="21574994">
            <a:off x="5417838" y="2534946"/>
            <a:ext cx="445848" cy="539245"/>
          </a:xfrm>
          <a:custGeom>
            <a:avLst/>
            <a:gdLst>
              <a:gd name="connsiteX0" fmla="*/ 0 w 445848"/>
              <a:gd name="connsiteY0" fmla="*/ 107849 h 539245"/>
              <a:gd name="connsiteX1" fmla="*/ 222924 w 445848"/>
              <a:gd name="connsiteY1" fmla="*/ 107849 h 539245"/>
              <a:gd name="connsiteX2" fmla="*/ 222924 w 445848"/>
              <a:gd name="connsiteY2" fmla="*/ 0 h 539245"/>
              <a:gd name="connsiteX3" fmla="*/ 445848 w 445848"/>
              <a:gd name="connsiteY3" fmla="*/ 269623 h 539245"/>
              <a:gd name="connsiteX4" fmla="*/ 222924 w 445848"/>
              <a:gd name="connsiteY4" fmla="*/ 539245 h 539245"/>
              <a:gd name="connsiteX5" fmla="*/ 222924 w 445848"/>
              <a:gd name="connsiteY5" fmla="*/ 431396 h 539245"/>
              <a:gd name="connsiteX6" fmla="*/ 0 w 445848"/>
              <a:gd name="connsiteY6" fmla="*/ 431396 h 539245"/>
              <a:gd name="connsiteX7" fmla="*/ 0 w 445848"/>
              <a:gd name="connsiteY7" fmla="*/ 107849 h 53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5848" h="539245">
                <a:moveTo>
                  <a:pt x="0" y="107849"/>
                </a:moveTo>
                <a:lnTo>
                  <a:pt x="222924" y="107849"/>
                </a:lnTo>
                <a:lnTo>
                  <a:pt x="222924" y="0"/>
                </a:lnTo>
                <a:lnTo>
                  <a:pt x="445848" y="269623"/>
                </a:lnTo>
                <a:lnTo>
                  <a:pt x="222924" y="539245"/>
                </a:lnTo>
                <a:lnTo>
                  <a:pt x="222924" y="431396"/>
                </a:lnTo>
                <a:lnTo>
                  <a:pt x="0" y="431396"/>
                </a:lnTo>
                <a:lnTo>
                  <a:pt x="0" y="107849"/>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0" tIns="107848" rIns="133753" bIns="107849" numCol="1" spcCol="1270" anchor="ctr" anchorCtr="0">
            <a:noAutofit/>
          </a:bodyPr>
          <a:lstStyle/>
          <a:p>
            <a:pPr lvl="0" algn="ctr" defTabSz="622300">
              <a:lnSpc>
                <a:spcPct val="90000"/>
              </a:lnSpc>
              <a:spcBef>
                <a:spcPct val="0"/>
              </a:spcBef>
              <a:spcAft>
                <a:spcPct val="35000"/>
              </a:spcAft>
            </a:pPr>
            <a:endParaRPr lang="zh-CN" altLang="en-US" sz="1400" kern="1200"/>
          </a:p>
        </p:txBody>
      </p:sp>
      <p:sp>
        <p:nvSpPr>
          <p:cNvPr id="8" name="任意多边形 7"/>
          <p:cNvSpPr/>
          <p:nvPr/>
        </p:nvSpPr>
        <p:spPr>
          <a:xfrm>
            <a:off x="6035463" y="2073692"/>
            <a:ext cx="1434162" cy="1434162"/>
          </a:xfrm>
          <a:custGeom>
            <a:avLst/>
            <a:gdLst>
              <a:gd name="connsiteX0" fmla="*/ 0 w 1434162"/>
              <a:gd name="connsiteY0" fmla="*/ 717081 h 1434162"/>
              <a:gd name="connsiteX1" fmla="*/ 717081 w 1434162"/>
              <a:gd name="connsiteY1" fmla="*/ 0 h 1434162"/>
              <a:gd name="connsiteX2" fmla="*/ 1434162 w 1434162"/>
              <a:gd name="connsiteY2" fmla="*/ 717081 h 1434162"/>
              <a:gd name="connsiteX3" fmla="*/ 717081 w 1434162"/>
              <a:gd name="connsiteY3" fmla="*/ 1434162 h 1434162"/>
              <a:gd name="connsiteX4" fmla="*/ 0 w 1434162"/>
              <a:gd name="connsiteY4" fmla="*/ 717081 h 1434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162" h="1434162">
                <a:moveTo>
                  <a:pt x="0" y="717081"/>
                </a:moveTo>
                <a:cubicBezTo>
                  <a:pt x="0" y="321048"/>
                  <a:pt x="321048" y="0"/>
                  <a:pt x="717081" y="0"/>
                </a:cubicBezTo>
                <a:cubicBezTo>
                  <a:pt x="1113114" y="0"/>
                  <a:pt x="1434162" y="321048"/>
                  <a:pt x="1434162" y="717081"/>
                </a:cubicBezTo>
                <a:cubicBezTo>
                  <a:pt x="1434162" y="1113114"/>
                  <a:pt x="1113114" y="1434162"/>
                  <a:pt x="717081" y="1434162"/>
                </a:cubicBezTo>
                <a:cubicBezTo>
                  <a:pt x="321048" y="1434162"/>
                  <a:pt x="0" y="1113114"/>
                  <a:pt x="0" y="717081"/>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36698" tIns="236698" rIns="236698" bIns="236698" numCol="1" spcCol="1270" anchor="ctr" anchorCtr="0">
            <a:noAutofit/>
          </a:bodyPr>
          <a:lstStyle/>
          <a:p>
            <a:pPr lvl="0" algn="ctr" defTabSz="933450">
              <a:lnSpc>
                <a:spcPct val="90000"/>
              </a:lnSpc>
              <a:spcBef>
                <a:spcPct val="0"/>
              </a:spcBef>
              <a:spcAft>
                <a:spcPct val="35000"/>
              </a:spcAft>
            </a:pPr>
            <a:r>
              <a:rPr lang="zh-CN" altLang="en-US" sz="2100" b="1" kern="1200" dirty="0" smtClean="0"/>
              <a:t>计算机系统的用户</a:t>
            </a:r>
            <a:endParaRPr lang="zh-CN" altLang="en-US" sz="2100" b="1" kern="1200" dirty="0"/>
          </a:p>
        </p:txBody>
      </p:sp>
      <p:sp>
        <p:nvSpPr>
          <p:cNvPr id="29" name="任意多边形 28"/>
          <p:cNvSpPr/>
          <p:nvPr/>
        </p:nvSpPr>
        <p:spPr>
          <a:xfrm>
            <a:off x="1318637" y="616731"/>
            <a:ext cx="1233540" cy="990561"/>
          </a:xfrm>
          <a:custGeom>
            <a:avLst/>
            <a:gdLst>
              <a:gd name="connsiteX0" fmla="*/ 0 w 2385670"/>
              <a:gd name="connsiteY0" fmla="*/ 722807 h 1445614"/>
              <a:gd name="connsiteX1" fmla="*/ 1192835 w 2385670"/>
              <a:gd name="connsiteY1" fmla="*/ 0 h 1445614"/>
              <a:gd name="connsiteX2" fmla="*/ 2385670 w 2385670"/>
              <a:gd name="connsiteY2" fmla="*/ 722807 h 1445614"/>
              <a:gd name="connsiteX3" fmla="*/ 1192835 w 2385670"/>
              <a:gd name="connsiteY3" fmla="*/ 1445614 h 1445614"/>
              <a:gd name="connsiteX4" fmla="*/ 0 w 2385670"/>
              <a:gd name="connsiteY4" fmla="*/ 722807 h 1445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5670" h="1445614">
                <a:moveTo>
                  <a:pt x="0" y="722807"/>
                </a:moveTo>
                <a:cubicBezTo>
                  <a:pt x="0" y="323612"/>
                  <a:pt x="534050" y="0"/>
                  <a:pt x="1192835" y="0"/>
                </a:cubicBezTo>
                <a:cubicBezTo>
                  <a:pt x="1851620" y="0"/>
                  <a:pt x="2385670" y="323612"/>
                  <a:pt x="2385670" y="722807"/>
                </a:cubicBezTo>
                <a:cubicBezTo>
                  <a:pt x="2385670" y="1122002"/>
                  <a:pt x="1851620" y="1445614"/>
                  <a:pt x="1192835" y="1445614"/>
                </a:cubicBezTo>
                <a:cubicBezTo>
                  <a:pt x="534050" y="1445614"/>
                  <a:pt x="0" y="1122002"/>
                  <a:pt x="0" y="722807"/>
                </a:cubicBezTo>
                <a:close/>
              </a:path>
            </a:pathLst>
          </a:custGeom>
          <a:solidFill>
            <a:schemeClr val="accent6">
              <a:lumMod val="50000"/>
            </a:schemeClr>
          </a:solidFill>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372233" tIns="234565" rIns="372233" bIns="234565"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FFFF00"/>
                </a:solidFill>
              </a:rPr>
              <a:t>普通用户</a:t>
            </a:r>
            <a:endParaRPr lang="zh-CN" altLang="en-US" sz="1800" b="1" kern="1200" dirty="0"/>
          </a:p>
        </p:txBody>
      </p:sp>
      <p:sp>
        <p:nvSpPr>
          <p:cNvPr id="30" name="任意多边形 29"/>
          <p:cNvSpPr/>
          <p:nvPr/>
        </p:nvSpPr>
        <p:spPr>
          <a:xfrm>
            <a:off x="1365211" y="2297166"/>
            <a:ext cx="1204871" cy="937598"/>
          </a:xfrm>
          <a:custGeom>
            <a:avLst/>
            <a:gdLst>
              <a:gd name="connsiteX0" fmla="*/ 0 w 2385670"/>
              <a:gd name="connsiteY0" fmla="*/ 722807 h 1445614"/>
              <a:gd name="connsiteX1" fmla="*/ 1192835 w 2385670"/>
              <a:gd name="connsiteY1" fmla="*/ 0 h 1445614"/>
              <a:gd name="connsiteX2" fmla="*/ 2385670 w 2385670"/>
              <a:gd name="connsiteY2" fmla="*/ 722807 h 1445614"/>
              <a:gd name="connsiteX3" fmla="*/ 1192835 w 2385670"/>
              <a:gd name="connsiteY3" fmla="*/ 1445614 h 1445614"/>
              <a:gd name="connsiteX4" fmla="*/ 0 w 2385670"/>
              <a:gd name="connsiteY4" fmla="*/ 722807 h 1445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5670" h="1445614">
                <a:moveTo>
                  <a:pt x="0" y="722807"/>
                </a:moveTo>
                <a:cubicBezTo>
                  <a:pt x="0" y="323612"/>
                  <a:pt x="534050" y="0"/>
                  <a:pt x="1192835" y="0"/>
                </a:cubicBezTo>
                <a:cubicBezTo>
                  <a:pt x="1851620" y="0"/>
                  <a:pt x="2385670" y="323612"/>
                  <a:pt x="2385670" y="722807"/>
                </a:cubicBezTo>
                <a:cubicBezTo>
                  <a:pt x="2385670" y="1122002"/>
                  <a:pt x="1851620" y="1445614"/>
                  <a:pt x="1192835" y="1445614"/>
                </a:cubicBezTo>
                <a:cubicBezTo>
                  <a:pt x="534050" y="1445614"/>
                  <a:pt x="0" y="1122002"/>
                  <a:pt x="0" y="722807"/>
                </a:cubicBezTo>
                <a:close/>
              </a:path>
            </a:pathLst>
          </a:custGeom>
          <a:solidFill>
            <a:schemeClr val="tx2">
              <a:lumMod val="75000"/>
            </a:schemeClr>
          </a:solidFill>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372233" tIns="234565" rIns="372233" bIns="234565"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FFFF00"/>
                </a:solidFill>
              </a:rPr>
              <a:t>管理员用户</a:t>
            </a:r>
            <a:endParaRPr lang="zh-CN" altLang="en-US" sz="1800" b="1" kern="1200" dirty="0"/>
          </a:p>
        </p:txBody>
      </p:sp>
      <p:sp>
        <p:nvSpPr>
          <p:cNvPr id="31" name="任意多边形 30"/>
          <p:cNvSpPr/>
          <p:nvPr/>
        </p:nvSpPr>
        <p:spPr>
          <a:xfrm>
            <a:off x="1591968" y="1652758"/>
            <a:ext cx="789817" cy="644408"/>
          </a:xfrm>
          <a:custGeom>
            <a:avLst/>
            <a:gdLst>
              <a:gd name="connsiteX0" fmla="*/ 111443 w 840759"/>
              <a:gd name="connsiteY0" fmla="*/ 321506 h 840759"/>
              <a:gd name="connsiteX1" fmla="*/ 321506 w 840759"/>
              <a:gd name="connsiteY1" fmla="*/ 321506 h 840759"/>
              <a:gd name="connsiteX2" fmla="*/ 321506 w 840759"/>
              <a:gd name="connsiteY2" fmla="*/ 111443 h 840759"/>
              <a:gd name="connsiteX3" fmla="*/ 519253 w 840759"/>
              <a:gd name="connsiteY3" fmla="*/ 111443 h 840759"/>
              <a:gd name="connsiteX4" fmla="*/ 519253 w 840759"/>
              <a:gd name="connsiteY4" fmla="*/ 321506 h 840759"/>
              <a:gd name="connsiteX5" fmla="*/ 729316 w 840759"/>
              <a:gd name="connsiteY5" fmla="*/ 321506 h 840759"/>
              <a:gd name="connsiteX6" fmla="*/ 729316 w 840759"/>
              <a:gd name="connsiteY6" fmla="*/ 519253 h 840759"/>
              <a:gd name="connsiteX7" fmla="*/ 519253 w 840759"/>
              <a:gd name="connsiteY7" fmla="*/ 519253 h 840759"/>
              <a:gd name="connsiteX8" fmla="*/ 519253 w 840759"/>
              <a:gd name="connsiteY8" fmla="*/ 729316 h 840759"/>
              <a:gd name="connsiteX9" fmla="*/ 321506 w 840759"/>
              <a:gd name="connsiteY9" fmla="*/ 729316 h 840759"/>
              <a:gd name="connsiteX10" fmla="*/ 321506 w 840759"/>
              <a:gd name="connsiteY10" fmla="*/ 519253 h 840759"/>
              <a:gd name="connsiteX11" fmla="*/ 111443 w 840759"/>
              <a:gd name="connsiteY11" fmla="*/ 519253 h 840759"/>
              <a:gd name="connsiteX12" fmla="*/ 111443 w 840759"/>
              <a:gd name="connsiteY12" fmla="*/ 321506 h 84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0759" h="840759">
                <a:moveTo>
                  <a:pt x="111443" y="321506"/>
                </a:moveTo>
                <a:lnTo>
                  <a:pt x="321506" y="321506"/>
                </a:lnTo>
                <a:lnTo>
                  <a:pt x="321506" y="111443"/>
                </a:lnTo>
                <a:lnTo>
                  <a:pt x="519253" y="111443"/>
                </a:lnTo>
                <a:lnTo>
                  <a:pt x="519253" y="321506"/>
                </a:lnTo>
                <a:lnTo>
                  <a:pt x="729316" y="321506"/>
                </a:lnTo>
                <a:lnTo>
                  <a:pt x="729316" y="519253"/>
                </a:lnTo>
                <a:lnTo>
                  <a:pt x="519253" y="519253"/>
                </a:lnTo>
                <a:lnTo>
                  <a:pt x="519253" y="729316"/>
                </a:lnTo>
                <a:lnTo>
                  <a:pt x="321506" y="729316"/>
                </a:lnTo>
                <a:lnTo>
                  <a:pt x="321506" y="519253"/>
                </a:lnTo>
                <a:lnTo>
                  <a:pt x="111443" y="519253"/>
                </a:lnTo>
                <a:lnTo>
                  <a:pt x="111443" y="321506"/>
                </a:lnTo>
                <a:close/>
              </a:path>
            </a:pathLst>
          </a:custGeom>
          <a:solidFill>
            <a:schemeClr val="bg1">
              <a:lumMod val="65000"/>
            </a:schemeClr>
          </a:solidFill>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11443" tIns="321506" rIns="111443" bIns="321506" numCol="1" spcCol="1270" anchor="ctr" anchorCtr="0">
            <a:noAutofit/>
          </a:bodyPr>
          <a:lstStyle/>
          <a:p>
            <a:pPr lvl="0" algn="ctr" defTabSz="622300">
              <a:lnSpc>
                <a:spcPct val="90000"/>
              </a:lnSpc>
              <a:spcBef>
                <a:spcPct val="0"/>
              </a:spcBef>
              <a:spcAft>
                <a:spcPct val="35000"/>
              </a:spcAft>
            </a:pPr>
            <a:endParaRPr lang="zh-CN" altLang="en-US" sz="1400" kern="1200"/>
          </a:p>
        </p:txBody>
      </p:sp>
    </p:spTree>
    <p:extLst>
      <p:ext uri="{BB962C8B-B14F-4D97-AF65-F5344CB8AC3E}">
        <p14:creationId xmlns:p14="http://schemas.microsoft.com/office/powerpoint/2010/main" val="15311452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heel(1)">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heel(1)">
                                      <p:cBhvr>
                                        <p:cTn id="22" dur="20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heel(1)">
                                      <p:cBhvr>
                                        <p:cTn id="27" dur="20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heel(1)">
                                      <p:cBhvr>
                                        <p:cTn id="32" dur="20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heel(1)">
                                      <p:cBhvr>
                                        <p:cTn id="37" dur="20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heel(1)">
                                      <p:cBhvr>
                                        <p:cTn id="4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29" grpId="0" animBg="1"/>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操作系统用户界面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840760" cy="3251852"/>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操作系统为普通用户和管理员提供的界面是由一组不同形式表示的操作命令组成。</a:t>
            </a:r>
            <a:endParaRPr lang="en-US" altLang="zh-CN" sz="2000" b="1" dirty="0" smtClean="0">
              <a:solidFill>
                <a:schemeClr val="bg1"/>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不同计算机操作系统为用户提供的用户操作命令和表现形式不同。</a:t>
            </a:r>
            <a:endParaRPr lang="en-US" altLang="zh-CN" sz="2000" b="1" dirty="0" smtClean="0">
              <a:solidFill>
                <a:schemeClr val="bg1"/>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不同</a:t>
            </a:r>
            <a:r>
              <a:rPr lang="zh-CN" altLang="en-US" sz="2000" b="1" dirty="0" smtClean="0">
                <a:solidFill>
                  <a:schemeClr val="bg1"/>
                </a:solidFill>
                <a:latin typeface="+mn-ea"/>
              </a:rPr>
              <a:t>时期的操作系统为用户提供的操作命令和表现形式也不同。</a:t>
            </a:r>
            <a:endParaRPr lang="en-US" altLang="zh-CN" sz="2000" b="1" dirty="0" smtClean="0">
              <a:solidFill>
                <a:schemeClr val="bg1"/>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操作系统为编程人员提供的界面是系统调用。</a:t>
            </a:r>
            <a:endParaRPr lang="zh-CN" altLang="en-US" sz="2000" b="1" dirty="0">
              <a:solidFill>
                <a:schemeClr val="bg1"/>
              </a:solidFill>
              <a:latin typeface="+mn-ea"/>
            </a:endParaRPr>
          </a:p>
        </p:txBody>
      </p:sp>
    </p:spTree>
    <p:extLst>
      <p:ext uri="{BB962C8B-B14F-4D97-AF65-F5344CB8AC3E}">
        <p14:creationId xmlns:p14="http://schemas.microsoft.com/office/powerpoint/2010/main" val="261412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作业的定义</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5" descr="E:\操作系统教材编写\张校长教材\新版\图2.1-改.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419622"/>
            <a:ext cx="77089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a:xfrm>
            <a:off x="533499" y="225017"/>
            <a:ext cx="5406653" cy="2528105"/>
            <a:chOff x="533499" y="225017"/>
            <a:chExt cx="5406653" cy="2528105"/>
          </a:xfrm>
        </p:grpSpPr>
        <p:sp>
          <p:nvSpPr>
            <p:cNvPr id="3" name="线形标注 1 2"/>
            <p:cNvSpPr/>
            <p:nvPr/>
          </p:nvSpPr>
          <p:spPr>
            <a:xfrm>
              <a:off x="1692233" y="225017"/>
              <a:ext cx="3216793" cy="1056452"/>
            </a:xfrm>
            <a:prstGeom prst="borderCallout1">
              <a:avLst>
                <a:gd name="adj1" fmla="val 32151"/>
                <a:gd name="adj2" fmla="val 103644"/>
                <a:gd name="adj3" fmla="val 103040"/>
                <a:gd name="adj4" fmla="val 124310"/>
              </a:avLst>
            </a:prstGeom>
            <a:ln w="28575"/>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b="1" dirty="0"/>
                <a:t>直到编辑为止的各步都可认为是可由人工独立完成</a:t>
              </a:r>
              <a:r>
                <a:rPr lang="zh-CN" altLang="en-US" b="1" dirty="0" smtClean="0"/>
                <a:t>的（尽管</a:t>
              </a:r>
              <a:r>
                <a:rPr lang="zh-CN" altLang="en-US" b="1" dirty="0"/>
                <a:t>也有许多支撑软件</a:t>
              </a:r>
              <a:r>
                <a:rPr lang="zh-CN" altLang="en-US" b="1" dirty="0" smtClean="0"/>
                <a:t>存在）</a:t>
              </a:r>
              <a:endParaRPr lang="zh-CN" altLang="en-US" b="1" dirty="0"/>
            </a:p>
          </p:txBody>
        </p:sp>
        <p:sp>
          <p:nvSpPr>
            <p:cNvPr id="4" name="矩形 3"/>
            <p:cNvSpPr/>
            <p:nvPr/>
          </p:nvSpPr>
          <p:spPr>
            <a:xfrm>
              <a:off x="533499" y="1491630"/>
              <a:ext cx="5406653" cy="12614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691116" y="326710"/>
            <a:ext cx="8273372" cy="3788090"/>
            <a:chOff x="691116" y="326710"/>
            <a:chExt cx="8273372" cy="3788090"/>
          </a:xfrm>
        </p:grpSpPr>
        <p:sp>
          <p:nvSpPr>
            <p:cNvPr id="6" name="任意多边形 5"/>
            <p:cNvSpPr/>
            <p:nvPr/>
          </p:nvSpPr>
          <p:spPr>
            <a:xfrm>
              <a:off x="691116" y="1392865"/>
              <a:ext cx="7467950" cy="2721935"/>
            </a:xfrm>
            <a:custGeom>
              <a:avLst/>
              <a:gdLst>
                <a:gd name="connsiteX0" fmla="*/ 5433237 w 7467950"/>
                <a:gd name="connsiteY0" fmla="*/ 170121 h 2721935"/>
                <a:gd name="connsiteX1" fmla="*/ 5411972 w 7467950"/>
                <a:gd name="connsiteY1" fmla="*/ 223284 h 2721935"/>
                <a:gd name="connsiteX2" fmla="*/ 5390707 w 7467950"/>
                <a:gd name="connsiteY2" fmla="*/ 265814 h 2721935"/>
                <a:gd name="connsiteX3" fmla="*/ 5369442 w 7467950"/>
                <a:gd name="connsiteY3" fmla="*/ 531628 h 2721935"/>
                <a:gd name="connsiteX4" fmla="*/ 5358810 w 7467950"/>
                <a:gd name="connsiteY4" fmla="*/ 1169582 h 2721935"/>
                <a:gd name="connsiteX5" fmla="*/ 5348177 w 7467950"/>
                <a:gd name="connsiteY5" fmla="*/ 1212112 h 2721935"/>
                <a:gd name="connsiteX6" fmla="*/ 5337544 w 7467950"/>
                <a:gd name="connsiteY6" fmla="*/ 1382233 h 2721935"/>
                <a:gd name="connsiteX7" fmla="*/ 5326912 w 7467950"/>
                <a:gd name="connsiteY7" fmla="*/ 1424763 h 2721935"/>
                <a:gd name="connsiteX8" fmla="*/ 5316279 w 7467950"/>
                <a:gd name="connsiteY8" fmla="*/ 1499191 h 2721935"/>
                <a:gd name="connsiteX9" fmla="*/ 5263117 w 7467950"/>
                <a:gd name="connsiteY9" fmla="*/ 1520456 h 2721935"/>
                <a:gd name="connsiteX10" fmla="*/ 4646428 w 7467950"/>
                <a:gd name="connsiteY10" fmla="*/ 1509823 h 2721935"/>
                <a:gd name="connsiteX11" fmla="*/ 4614531 w 7467950"/>
                <a:gd name="connsiteY11" fmla="*/ 1499191 h 2721935"/>
                <a:gd name="connsiteX12" fmla="*/ 4465675 w 7467950"/>
                <a:gd name="connsiteY12" fmla="*/ 1488558 h 2721935"/>
                <a:gd name="connsiteX13" fmla="*/ 2998382 w 7467950"/>
                <a:gd name="connsiteY13" fmla="*/ 1488558 h 2721935"/>
                <a:gd name="connsiteX14" fmla="*/ 2806996 w 7467950"/>
                <a:gd name="connsiteY14" fmla="*/ 1499191 h 2721935"/>
                <a:gd name="connsiteX15" fmla="*/ 2009554 w 7467950"/>
                <a:gd name="connsiteY15" fmla="*/ 1520456 h 2721935"/>
                <a:gd name="connsiteX16" fmla="*/ 1977656 w 7467950"/>
                <a:gd name="connsiteY16" fmla="*/ 1531088 h 2721935"/>
                <a:gd name="connsiteX17" fmla="*/ 1850065 w 7467950"/>
                <a:gd name="connsiteY17" fmla="*/ 1541721 h 2721935"/>
                <a:gd name="connsiteX18" fmla="*/ 1796903 w 7467950"/>
                <a:gd name="connsiteY18" fmla="*/ 1552354 h 2721935"/>
                <a:gd name="connsiteX19" fmla="*/ 1754372 w 7467950"/>
                <a:gd name="connsiteY19" fmla="*/ 1562986 h 2721935"/>
                <a:gd name="connsiteX20" fmla="*/ 1307805 w 7467950"/>
                <a:gd name="connsiteY20" fmla="*/ 1584251 h 2721935"/>
                <a:gd name="connsiteX21" fmla="*/ 797442 w 7467950"/>
                <a:gd name="connsiteY21" fmla="*/ 1573619 h 2721935"/>
                <a:gd name="connsiteX22" fmla="*/ 659219 w 7467950"/>
                <a:gd name="connsiteY22" fmla="*/ 1562986 h 2721935"/>
                <a:gd name="connsiteX23" fmla="*/ 606056 w 7467950"/>
                <a:gd name="connsiteY23" fmla="*/ 1541721 h 2721935"/>
                <a:gd name="connsiteX24" fmla="*/ 467833 w 7467950"/>
                <a:gd name="connsiteY24" fmla="*/ 1520456 h 2721935"/>
                <a:gd name="connsiteX25" fmla="*/ 202019 w 7467950"/>
                <a:gd name="connsiteY25" fmla="*/ 1531088 h 2721935"/>
                <a:gd name="connsiteX26" fmla="*/ 180754 w 7467950"/>
                <a:gd name="connsiteY26" fmla="*/ 1552354 h 2721935"/>
                <a:gd name="connsiteX27" fmla="*/ 148856 w 7467950"/>
                <a:gd name="connsiteY27" fmla="*/ 1573619 h 2721935"/>
                <a:gd name="connsiteX28" fmla="*/ 116958 w 7467950"/>
                <a:gd name="connsiteY28" fmla="*/ 1616149 h 2721935"/>
                <a:gd name="connsiteX29" fmla="*/ 74428 w 7467950"/>
                <a:gd name="connsiteY29" fmla="*/ 1690577 h 2721935"/>
                <a:gd name="connsiteX30" fmla="*/ 42531 w 7467950"/>
                <a:gd name="connsiteY30" fmla="*/ 1765005 h 2721935"/>
                <a:gd name="connsiteX31" fmla="*/ 21265 w 7467950"/>
                <a:gd name="connsiteY31" fmla="*/ 1807535 h 2721935"/>
                <a:gd name="connsiteX32" fmla="*/ 0 w 7467950"/>
                <a:gd name="connsiteY32" fmla="*/ 1871330 h 2721935"/>
                <a:gd name="connsiteX33" fmla="*/ 10633 w 7467950"/>
                <a:gd name="connsiteY33" fmla="*/ 2094614 h 2721935"/>
                <a:gd name="connsiteX34" fmla="*/ 31898 w 7467950"/>
                <a:gd name="connsiteY34" fmla="*/ 2126512 h 2721935"/>
                <a:gd name="connsiteX35" fmla="*/ 42531 w 7467950"/>
                <a:gd name="connsiteY35" fmla="*/ 2179675 h 2721935"/>
                <a:gd name="connsiteX36" fmla="*/ 95693 w 7467950"/>
                <a:gd name="connsiteY36" fmla="*/ 2254102 h 2721935"/>
                <a:gd name="connsiteX37" fmla="*/ 116958 w 7467950"/>
                <a:gd name="connsiteY37" fmla="*/ 2296633 h 2721935"/>
                <a:gd name="connsiteX38" fmla="*/ 170121 w 7467950"/>
                <a:gd name="connsiteY38" fmla="*/ 2360428 h 2721935"/>
                <a:gd name="connsiteX39" fmla="*/ 244549 w 7467950"/>
                <a:gd name="connsiteY39" fmla="*/ 2424223 h 2721935"/>
                <a:gd name="connsiteX40" fmla="*/ 287079 w 7467950"/>
                <a:gd name="connsiteY40" fmla="*/ 2445488 h 2721935"/>
                <a:gd name="connsiteX41" fmla="*/ 404037 w 7467950"/>
                <a:gd name="connsiteY41" fmla="*/ 2509284 h 2721935"/>
                <a:gd name="connsiteX42" fmla="*/ 478465 w 7467950"/>
                <a:gd name="connsiteY42" fmla="*/ 2519916 h 2721935"/>
                <a:gd name="connsiteX43" fmla="*/ 574158 w 7467950"/>
                <a:gd name="connsiteY43" fmla="*/ 2541182 h 2721935"/>
                <a:gd name="connsiteX44" fmla="*/ 648586 w 7467950"/>
                <a:gd name="connsiteY44" fmla="*/ 2551814 h 2721935"/>
                <a:gd name="connsiteX45" fmla="*/ 701749 w 7467950"/>
                <a:gd name="connsiteY45" fmla="*/ 2562447 h 2721935"/>
                <a:gd name="connsiteX46" fmla="*/ 956931 w 7467950"/>
                <a:gd name="connsiteY46" fmla="*/ 2594344 h 2721935"/>
                <a:gd name="connsiteX47" fmla="*/ 1127051 w 7467950"/>
                <a:gd name="connsiteY47" fmla="*/ 2604977 h 2721935"/>
                <a:gd name="connsiteX48" fmla="*/ 1318437 w 7467950"/>
                <a:gd name="connsiteY48" fmla="*/ 2636875 h 2721935"/>
                <a:gd name="connsiteX49" fmla="*/ 1488558 w 7467950"/>
                <a:gd name="connsiteY49" fmla="*/ 2647507 h 2721935"/>
                <a:gd name="connsiteX50" fmla="*/ 1796903 w 7467950"/>
                <a:gd name="connsiteY50" fmla="*/ 2668772 h 2721935"/>
                <a:gd name="connsiteX51" fmla="*/ 2041451 w 7467950"/>
                <a:gd name="connsiteY51" fmla="*/ 2700670 h 2721935"/>
                <a:gd name="connsiteX52" fmla="*/ 2339163 w 7467950"/>
                <a:gd name="connsiteY52" fmla="*/ 2711302 h 2721935"/>
                <a:gd name="connsiteX53" fmla="*/ 2583712 w 7467950"/>
                <a:gd name="connsiteY53" fmla="*/ 2721935 h 2721935"/>
                <a:gd name="connsiteX54" fmla="*/ 2870791 w 7467950"/>
                <a:gd name="connsiteY54" fmla="*/ 2711302 h 2721935"/>
                <a:gd name="connsiteX55" fmla="*/ 2934586 w 7467950"/>
                <a:gd name="connsiteY55" fmla="*/ 2690037 h 2721935"/>
                <a:gd name="connsiteX56" fmla="*/ 3221665 w 7467950"/>
                <a:gd name="connsiteY56" fmla="*/ 2604977 h 2721935"/>
                <a:gd name="connsiteX57" fmla="*/ 3625703 w 7467950"/>
                <a:gd name="connsiteY57" fmla="*/ 2488019 h 2721935"/>
                <a:gd name="connsiteX58" fmla="*/ 3806456 w 7467950"/>
                <a:gd name="connsiteY58" fmla="*/ 2445488 h 2721935"/>
                <a:gd name="connsiteX59" fmla="*/ 4082903 w 7467950"/>
                <a:gd name="connsiteY59" fmla="*/ 2434856 h 2721935"/>
                <a:gd name="connsiteX60" fmla="*/ 4295554 w 7467950"/>
                <a:gd name="connsiteY60" fmla="*/ 2413591 h 2721935"/>
                <a:gd name="connsiteX61" fmla="*/ 4380614 w 7467950"/>
                <a:gd name="connsiteY61" fmla="*/ 2402958 h 2721935"/>
                <a:gd name="connsiteX62" fmla="*/ 4699591 w 7467950"/>
                <a:gd name="connsiteY62" fmla="*/ 2392326 h 2721935"/>
                <a:gd name="connsiteX63" fmla="*/ 5337544 w 7467950"/>
                <a:gd name="connsiteY63" fmla="*/ 2402958 h 2721935"/>
                <a:gd name="connsiteX64" fmla="*/ 5475768 w 7467950"/>
                <a:gd name="connsiteY64" fmla="*/ 2456121 h 2721935"/>
                <a:gd name="connsiteX65" fmla="*/ 5613991 w 7467950"/>
                <a:gd name="connsiteY65" fmla="*/ 2488019 h 2721935"/>
                <a:gd name="connsiteX66" fmla="*/ 5762847 w 7467950"/>
                <a:gd name="connsiteY66" fmla="*/ 2551814 h 2721935"/>
                <a:gd name="connsiteX67" fmla="*/ 5858540 w 7467950"/>
                <a:gd name="connsiteY67" fmla="*/ 2573079 h 2721935"/>
                <a:gd name="connsiteX68" fmla="*/ 6251944 w 7467950"/>
                <a:gd name="connsiteY68" fmla="*/ 2562447 h 2721935"/>
                <a:gd name="connsiteX69" fmla="*/ 6804837 w 7467950"/>
                <a:gd name="connsiteY69" fmla="*/ 2551814 h 2721935"/>
                <a:gd name="connsiteX70" fmla="*/ 6889898 w 7467950"/>
                <a:gd name="connsiteY70" fmla="*/ 2530549 h 2721935"/>
                <a:gd name="connsiteX71" fmla="*/ 6921796 w 7467950"/>
                <a:gd name="connsiteY71" fmla="*/ 2519916 h 2721935"/>
                <a:gd name="connsiteX72" fmla="*/ 7134447 w 7467950"/>
                <a:gd name="connsiteY72" fmla="*/ 2509284 h 2721935"/>
                <a:gd name="connsiteX73" fmla="*/ 7166344 w 7467950"/>
                <a:gd name="connsiteY73" fmla="*/ 2488019 h 2721935"/>
                <a:gd name="connsiteX74" fmla="*/ 7208875 w 7467950"/>
                <a:gd name="connsiteY74" fmla="*/ 2477386 h 2721935"/>
                <a:gd name="connsiteX75" fmla="*/ 7240772 w 7467950"/>
                <a:gd name="connsiteY75" fmla="*/ 2466754 h 2721935"/>
                <a:gd name="connsiteX76" fmla="*/ 7283303 w 7467950"/>
                <a:gd name="connsiteY76" fmla="*/ 2445488 h 2721935"/>
                <a:gd name="connsiteX77" fmla="*/ 7389628 w 7467950"/>
                <a:gd name="connsiteY77" fmla="*/ 2413591 h 2721935"/>
                <a:gd name="connsiteX78" fmla="*/ 7421526 w 7467950"/>
                <a:gd name="connsiteY78" fmla="*/ 2402958 h 2721935"/>
                <a:gd name="connsiteX79" fmla="*/ 7453424 w 7467950"/>
                <a:gd name="connsiteY79" fmla="*/ 2296633 h 2721935"/>
                <a:gd name="connsiteX80" fmla="*/ 7453424 w 7467950"/>
                <a:gd name="connsiteY80" fmla="*/ 1658679 h 2721935"/>
                <a:gd name="connsiteX81" fmla="*/ 7432158 w 7467950"/>
                <a:gd name="connsiteY81" fmla="*/ 1265275 h 2721935"/>
                <a:gd name="connsiteX82" fmla="*/ 7421526 w 7467950"/>
                <a:gd name="connsiteY82" fmla="*/ 1180214 h 2721935"/>
                <a:gd name="connsiteX83" fmla="*/ 7400261 w 7467950"/>
                <a:gd name="connsiteY83" fmla="*/ 1127051 h 2721935"/>
                <a:gd name="connsiteX84" fmla="*/ 7357731 w 7467950"/>
                <a:gd name="connsiteY84" fmla="*/ 925033 h 2721935"/>
                <a:gd name="connsiteX85" fmla="*/ 7336465 w 7467950"/>
                <a:gd name="connsiteY85" fmla="*/ 882502 h 2721935"/>
                <a:gd name="connsiteX86" fmla="*/ 7325833 w 7467950"/>
                <a:gd name="connsiteY86" fmla="*/ 829340 h 2721935"/>
                <a:gd name="connsiteX87" fmla="*/ 7304568 w 7467950"/>
                <a:gd name="connsiteY87" fmla="*/ 691116 h 2721935"/>
                <a:gd name="connsiteX88" fmla="*/ 7293935 w 7467950"/>
                <a:gd name="connsiteY88" fmla="*/ 531628 h 2721935"/>
                <a:gd name="connsiteX89" fmla="*/ 7283303 w 7467950"/>
                <a:gd name="connsiteY89" fmla="*/ 478465 h 2721935"/>
                <a:gd name="connsiteX90" fmla="*/ 7251405 w 7467950"/>
                <a:gd name="connsiteY90" fmla="*/ 361507 h 2721935"/>
                <a:gd name="connsiteX91" fmla="*/ 7230140 w 7467950"/>
                <a:gd name="connsiteY91" fmla="*/ 308344 h 2721935"/>
                <a:gd name="connsiteX92" fmla="*/ 7219507 w 7467950"/>
                <a:gd name="connsiteY92" fmla="*/ 255182 h 2721935"/>
                <a:gd name="connsiteX93" fmla="*/ 7145079 w 7467950"/>
                <a:gd name="connsiteY93" fmla="*/ 170121 h 2721935"/>
                <a:gd name="connsiteX94" fmla="*/ 7060019 w 7467950"/>
                <a:gd name="connsiteY94" fmla="*/ 148856 h 2721935"/>
                <a:gd name="connsiteX95" fmla="*/ 6921796 w 7467950"/>
                <a:gd name="connsiteY95" fmla="*/ 127591 h 2721935"/>
                <a:gd name="connsiteX96" fmla="*/ 6645349 w 7467950"/>
                <a:gd name="connsiteY96" fmla="*/ 116958 h 2721935"/>
                <a:gd name="connsiteX97" fmla="*/ 6581554 w 7467950"/>
                <a:gd name="connsiteY97" fmla="*/ 106326 h 2721935"/>
                <a:gd name="connsiteX98" fmla="*/ 6507126 w 7467950"/>
                <a:gd name="connsiteY98" fmla="*/ 85061 h 2721935"/>
                <a:gd name="connsiteX99" fmla="*/ 6464596 w 7467950"/>
                <a:gd name="connsiteY99" fmla="*/ 74428 h 2721935"/>
                <a:gd name="connsiteX100" fmla="*/ 6315740 w 7467950"/>
                <a:gd name="connsiteY100" fmla="*/ 31898 h 2721935"/>
                <a:gd name="connsiteX101" fmla="*/ 6262577 w 7467950"/>
                <a:gd name="connsiteY101" fmla="*/ 21265 h 2721935"/>
                <a:gd name="connsiteX102" fmla="*/ 6198782 w 7467950"/>
                <a:gd name="connsiteY102" fmla="*/ 0 h 2721935"/>
                <a:gd name="connsiteX103" fmla="*/ 5922335 w 7467950"/>
                <a:gd name="connsiteY103" fmla="*/ 21265 h 2721935"/>
                <a:gd name="connsiteX104" fmla="*/ 5773479 w 7467950"/>
                <a:gd name="connsiteY104" fmla="*/ 42530 h 2721935"/>
                <a:gd name="connsiteX105" fmla="*/ 5699051 w 7467950"/>
                <a:gd name="connsiteY105" fmla="*/ 74428 h 2721935"/>
                <a:gd name="connsiteX106" fmla="*/ 5613991 w 7467950"/>
                <a:gd name="connsiteY106" fmla="*/ 95693 h 2721935"/>
                <a:gd name="connsiteX107" fmla="*/ 5539563 w 7467950"/>
                <a:gd name="connsiteY107" fmla="*/ 116958 h 2721935"/>
                <a:gd name="connsiteX108" fmla="*/ 5465135 w 7467950"/>
                <a:gd name="connsiteY108" fmla="*/ 170121 h 2721935"/>
                <a:gd name="connsiteX109" fmla="*/ 5433237 w 7467950"/>
                <a:gd name="connsiteY109" fmla="*/ 191386 h 2721935"/>
                <a:gd name="connsiteX110" fmla="*/ 5433237 w 7467950"/>
                <a:gd name="connsiteY110" fmla="*/ 170121 h 272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7467950" h="2721935">
                  <a:moveTo>
                    <a:pt x="5433237" y="170121"/>
                  </a:moveTo>
                  <a:cubicBezTo>
                    <a:pt x="5429693" y="175437"/>
                    <a:pt x="5419724" y="205843"/>
                    <a:pt x="5411972" y="223284"/>
                  </a:cubicBezTo>
                  <a:cubicBezTo>
                    <a:pt x="5405535" y="237768"/>
                    <a:pt x="5393815" y="250272"/>
                    <a:pt x="5390707" y="265814"/>
                  </a:cubicBezTo>
                  <a:cubicBezTo>
                    <a:pt x="5385663" y="291033"/>
                    <a:pt x="5370040" y="523254"/>
                    <a:pt x="5369442" y="531628"/>
                  </a:cubicBezTo>
                  <a:cubicBezTo>
                    <a:pt x="5365898" y="744279"/>
                    <a:pt x="5365453" y="957005"/>
                    <a:pt x="5358810" y="1169582"/>
                  </a:cubicBezTo>
                  <a:cubicBezTo>
                    <a:pt x="5358354" y="1184188"/>
                    <a:pt x="5349631" y="1197572"/>
                    <a:pt x="5348177" y="1212112"/>
                  </a:cubicBezTo>
                  <a:cubicBezTo>
                    <a:pt x="5342523" y="1268648"/>
                    <a:pt x="5343198" y="1325697"/>
                    <a:pt x="5337544" y="1382233"/>
                  </a:cubicBezTo>
                  <a:cubicBezTo>
                    <a:pt x="5336090" y="1396773"/>
                    <a:pt x="5329526" y="1410386"/>
                    <a:pt x="5326912" y="1424763"/>
                  </a:cubicBezTo>
                  <a:cubicBezTo>
                    <a:pt x="5322429" y="1449420"/>
                    <a:pt x="5330180" y="1478339"/>
                    <a:pt x="5316279" y="1499191"/>
                  </a:cubicBezTo>
                  <a:cubicBezTo>
                    <a:pt x="5305692" y="1515071"/>
                    <a:pt x="5280838" y="1513368"/>
                    <a:pt x="5263117" y="1520456"/>
                  </a:cubicBezTo>
                  <a:lnTo>
                    <a:pt x="4646428" y="1509823"/>
                  </a:lnTo>
                  <a:cubicBezTo>
                    <a:pt x="4635227" y="1509456"/>
                    <a:pt x="4625662" y="1500500"/>
                    <a:pt x="4614531" y="1499191"/>
                  </a:cubicBezTo>
                  <a:cubicBezTo>
                    <a:pt x="4565127" y="1493379"/>
                    <a:pt x="4515294" y="1492102"/>
                    <a:pt x="4465675" y="1488558"/>
                  </a:cubicBezTo>
                  <a:cubicBezTo>
                    <a:pt x="3951750" y="1385779"/>
                    <a:pt x="4392120" y="1470098"/>
                    <a:pt x="2998382" y="1488558"/>
                  </a:cubicBezTo>
                  <a:cubicBezTo>
                    <a:pt x="2934494" y="1489404"/>
                    <a:pt x="2870791" y="1495647"/>
                    <a:pt x="2806996" y="1499191"/>
                  </a:cubicBezTo>
                  <a:cubicBezTo>
                    <a:pt x="2484829" y="1545212"/>
                    <a:pt x="2845443" y="1496910"/>
                    <a:pt x="2009554" y="1520456"/>
                  </a:cubicBezTo>
                  <a:cubicBezTo>
                    <a:pt x="1998351" y="1520772"/>
                    <a:pt x="1988765" y="1529607"/>
                    <a:pt x="1977656" y="1531088"/>
                  </a:cubicBezTo>
                  <a:cubicBezTo>
                    <a:pt x="1935353" y="1536728"/>
                    <a:pt x="1892595" y="1538177"/>
                    <a:pt x="1850065" y="1541721"/>
                  </a:cubicBezTo>
                  <a:cubicBezTo>
                    <a:pt x="1832344" y="1545265"/>
                    <a:pt x="1814544" y="1548434"/>
                    <a:pt x="1796903" y="1552354"/>
                  </a:cubicBezTo>
                  <a:cubicBezTo>
                    <a:pt x="1782638" y="1555524"/>
                    <a:pt x="1768815" y="1560764"/>
                    <a:pt x="1754372" y="1562986"/>
                  </a:cubicBezTo>
                  <a:cubicBezTo>
                    <a:pt x="1615702" y="1584320"/>
                    <a:pt x="1423445" y="1580747"/>
                    <a:pt x="1307805" y="1584251"/>
                  </a:cubicBezTo>
                  <a:lnTo>
                    <a:pt x="797442" y="1573619"/>
                  </a:lnTo>
                  <a:cubicBezTo>
                    <a:pt x="751256" y="1572105"/>
                    <a:pt x="704801" y="1570583"/>
                    <a:pt x="659219" y="1562986"/>
                  </a:cubicBezTo>
                  <a:cubicBezTo>
                    <a:pt x="640393" y="1559848"/>
                    <a:pt x="624470" y="1546743"/>
                    <a:pt x="606056" y="1541721"/>
                  </a:cubicBezTo>
                  <a:cubicBezTo>
                    <a:pt x="589819" y="1537293"/>
                    <a:pt x="479581" y="1522134"/>
                    <a:pt x="467833" y="1520456"/>
                  </a:cubicBezTo>
                  <a:cubicBezTo>
                    <a:pt x="379228" y="1524000"/>
                    <a:pt x="290152" y="1521295"/>
                    <a:pt x="202019" y="1531088"/>
                  </a:cubicBezTo>
                  <a:cubicBezTo>
                    <a:pt x="192056" y="1532195"/>
                    <a:pt x="188582" y="1546092"/>
                    <a:pt x="180754" y="1552354"/>
                  </a:cubicBezTo>
                  <a:cubicBezTo>
                    <a:pt x="170775" y="1560337"/>
                    <a:pt x="157892" y="1564583"/>
                    <a:pt x="148856" y="1573619"/>
                  </a:cubicBezTo>
                  <a:cubicBezTo>
                    <a:pt x="136325" y="1586149"/>
                    <a:pt x="127591" y="1601972"/>
                    <a:pt x="116958" y="1616149"/>
                  </a:cubicBezTo>
                  <a:cubicBezTo>
                    <a:pt x="96070" y="1678816"/>
                    <a:pt x="120407" y="1617012"/>
                    <a:pt x="74428" y="1690577"/>
                  </a:cubicBezTo>
                  <a:cubicBezTo>
                    <a:pt x="42366" y="1741876"/>
                    <a:pt x="62266" y="1718958"/>
                    <a:pt x="42531" y="1765005"/>
                  </a:cubicBezTo>
                  <a:cubicBezTo>
                    <a:pt x="36287" y="1779574"/>
                    <a:pt x="27152" y="1792819"/>
                    <a:pt x="21265" y="1807535"/>
                  </a:cubicBezTo>
                  <a:cubicBezTo>
                    <a:pt x="12940" y="1828347"/>
                    <a:pt x="0" y="1871330"/>
                    <a:pt x="0" y="1871330"/>
                  </a:cubicBezTo>
                  <a:cubicBezTo>
                    <a:pt x="3544" y="1945758"/>
                    <a:pt x="1391" y="2020677"/>
                    <a:pt x="10633" y="2094614"/>
                  </a:cubicBezTo>
                  <a:cubicBezTo>
                    <a:pt x="12218" y="2107294"/>
                    <a:pt x="27411" y="2114547"/>
                    <a:pt x="31898" y="2126512"/>
                  </a:cubicBezTo>
                  <a:cubicBezTo>
                    <a:pt x="38244" y="2143433"/>
                    <a:pt x="36185" y="2162754"/>
                    <a:pt x="42531" y="2179675"/>
                  </a:cubicBezTo>
                  <a:cubicBezTo>
                    <a:pt x="46747" y="2190918"/>
                    <a:pt x="93403" y="2250438"/>
                    <a:pt x="95693" y="2254102"/>
                  </a:cubicBezTo>
                  <a:cubicBezTo>
                    <a:pt x="104094" y="2267543"/>
                    <a:pt x="107868" y="2283648"/>
                    <a:pt x="116958" y="2296633"/>
                  </a:cubicBezTo>
                  <a:cubicBezTo>
                    <a:pt x="132832" y="2319310"/>
                    <a:pt x="151731" y="2339739"/>
                    <a:pt x="170121" y="2360428"/>
                  </a:cubicBezTo>
                  <a:cubicBezTo>
                    <a:pt x="191869" y="2384895"/>
                    <a:pt x="216718" y="2406829"/>
                    <a:pt x="244549" y="2424223"/>
                  </a:cubicBezTo>
                  <a:cubicBezTo>
                    <a:pt x="257990" y="2432623"/>
                    <a:pt x="273224" y="2437791"/>
                    <a:pt x="287079" y="2445488"/>
                  </a:cubicBezTo>
                  <a:cubicBezTo>
                    <a:pt x="318326" y="2462848"/>
                    <a:pt x="370425" y="2498942"/>
                    <a:pt x="404037" y="2509284"/>
                  </a:cubicBezTo>
                  <a:cubicBezTo>
                    <a:pt x="427990" y="2516654"/>
                    <a:pt x="453833" y="2515297"/>
                    <a:pt x="478465" y="2519916"/>
                  </a:cubicBezTo>
                  <a:cubicBezTo>
                    <a:pt x="510581" y="2525938"/>
                    <a:pt x="542042" y="2535160"/>
                    <a:pt x="574158" y="2541182"/>
                  </a:cubicBezTo>
                  <a:cubicBezTo>
                    <a:pt x="598790" y="2545801"/>
                    <a:pt x="623866" y="2547694"/>
                    <a:pt x="648586" y="2551814"/>
                  </a:cubicBezTo>
                  <a:cubicBezTo>
                    <a:pt x="666412" y="2554785"/>
                    <a:pt x="683847" y="2559978"/>
                    <a:pt x="701749" y="2562447"/>
                  </a:cubicBezTo>
                  <a:cubicBezTo>
                    <a:pt x="786668" y="2574160"/>
                    <a:pt x="871634" y="2585814"/>
                    <a:pt x="956931" y="2594344"/>
                  </a:cubicBezTo>
                  <a:cubicBezTo>
                    <a:pt x="1013466" y="2599998"/>
                    <a:pt x="1070344" y="2601433"/>
                    <a:pt x="1127051" y="2604977"/>
                  </a:cubicBezTo>
                  <a:cubicBezTo>
                    <a:pt x="1190846" y="2615610"/>
                    <a:pt x="1254205" y="2629318"/>
                    <a:pt x="1318437" y="2636875"/>
                  </a:cubicBezTo>
                  <a:cubicBezTo>
                    <a:pt x="1374865" y="2643514"/>
                    <a:pt x="1431866" y="2643728"/>
                    <a:pt x="1488558" y="2647507"/>
                  </a:cubicBezTo>
                  <a:cubicBezTo>
                    <a:pt x="1591356" y="2654360"/>
                    <a:pt x="1694350" y="2658911"/>
                    <a:pt x="1796903" y="2668772"/>
                  </a:cubicBezTo>
                  <a:cubicBezTo>
                    <a:pt x="1878732" y="2676640"/>
                    <a:pt x="1959496" y="2694242"/>
                    <a:pt x="2041451" y="2700670"/>
                  </a:cubicBezTo>
                  <a:cubicBezTo>
                    <a:pt x="2140448" y="2708434"/>
                    <a:pt x="2239939" y="2707411"/>
                    <a:pt x="2339163" y="2711302"/>
                  </a:cubicBezTo>
                  <a:lnTo>
                    <a:pt x="2583712" y="2721935"/>
                  </a:lnTo>
                  <a:cubicBezTo>
                    <a:pt x="2679405" y="2718391"/>
                    <a:pt x="2775426" y="2719972"/>
                    <a:pt x="2870791" y="2711302"/>
                  </a:cubicBezTo>
                  <a:cubicBezTo>
                    <a:pt x="2893114" y="2709273"/>
                    <a:pt x="2912909" y="2695741"/>
                    <a:pt x="2934586" y="2690037"/>
                  </a:cubicBezTo>
                  <a:cubicBezTo>
                    <a:pt x="3366991" y="2576248"/>
                    <a:pt x="2757692" y="2752091"/>
                    <a:pt x="3221665" y="2604977"/>
                  </a:cubicBezTo>
                  <a:cubicBezTo>
                    <a:pt x="3268167" y="2590232"/>
                    <a:pt x="3525550" y="2513057"/>
                    <a:pt x="3625703" y="2488019"/>
                  </a:cubicBezTo>
                  <a:cubicBezTo>
                    <a:pt x="3685751" y="2473007"/>
                    <a:pt x="3744974" y="2452637"/>
                    <a:pt x="3806456" y="2445488"/>
                  </a:cubicBezTo>
                  <a:cubicBezTo>
                    <a:pt x="3898056" y="2434837"/>
                    <a:pt x="3990754" y="2438400"/>
                    <a:pt x="4082903" y="2434856"/>
                  </a:cubicBezTo>
                  <a:cubicBezTo>
                    <a:pt x="4153787" y="2427768"/>
                    <a:pt x="4224867" y="2422427"/>
                    <a:pt x="4295554" y="2413591"/>
                  </a:cubicBezTo>
                  <a:cubicBezTo>
                    <a:pt x="4323907" y="2410047"/>
                    <a:pt x="4352079" y="2404460"/>
                    <a:pt x="4380614" y="2402958"/>
                  </a:cubicBezTo>
                  <a:cubicBezTo>
                    <a:pt x="4486852" y="2397367"/>
                    <a:pt x="4593265" y="2395870"/>
                    <a:pt x="4699591" y="2392326"/>
                  </a:cubicBezTo>
                  <a:cubicBezTo>
                    <a:pt x="4912242" y="2395870"/>
                    <a:pt x="5125220" y="2390649"/>
                    <a:pt x="5337544" y="2402958"/>
                  </a:cubicBezTo>
                  <a:cubicBezTo>
                    <a:pt x="5430757" y="2408362"/>
                    <a:pt x="5411421" y="2434672"/>
                    <a:pt x="5475768" y="2456121"/>
                  </a:cubicBezTo>
                  <a:cubicBezTo>
                    <a:pt x="5514237" y="2468944"/>
                    <a:pt x="5571820" y="2479585"/>
                    <a:pt x="5613991" y="2488019"/>
                  </a:cubicBezTo>
                  <a:cubicBezTo>
                    <a:pt x="5681812" y="2528711"/>
                    <a:pt x="5670609" y="2527217"/>
                    <a:pt x="5762847" y="2551814"/>
                  </a:cubicBezTo>
                  <a:cubicBezTo>
                    <a:pt x="5950014" y="2601726"/>
                    <a:pt x="5747799" y="2536167"/>
                    <a:pt x="5858540" y="2573079"/>
                  </a:cubicBezTo>
                  <a:lnTo>
                    <a:pt x="6251944" y="2562447"/>
                  </a:lnTo>
                  <a:cubicBezTo>
                    <a:pt x="6436229" y="2558306"/>
                    <a:pt x="6620735" y="2561019"/>
                    <a:pt x="6804837" y="2551814"/>
                  </a:cubicBezTo>
                  <a:cubicBezTo>
                    <a:pt x="6834027" y="2550354"/>
                    <a:pt x="6862172" y="2539791"/>
                    <a:pt x="6889898" y="2530549"/>
                  </a:cubicBezTo>
                  <a:cubicBezTo>
                    <a:pt x="6900531" y="2527005"/>
                    <a:pt x="6910630" y="2520887"/>
                    <a:pt x="6921796" y="2519916"/>
                  </a:cubicBezTo>
                  <a:cubicBezTo>
                    <a:pt x="6992501" y="2513768"/>
                    <a:pt x="7063563" y="2512828"/>
                    <a:pt x="7134447" y="2509284"/>
                  </a:cubicBezTo>
                  <a:cubicBezTo>
                    <a:pt x="7145079" y="2502196"/>
                    <a:pt x="7154599" y="2493053"/>
                    <a:pt x="7166344" y="2488019"/>
                  </a:cubicBezTo>
                  <a:cubicBezTo>
                    <a:pt x="7179776" y="2482262"/>
                    <a:pt x="7194824" y="2481401"/>
                    <a:pt x="7208875" y="2477386"/>
                  </a:cubicBezTo>
                  <a:cubicBezTo>
                    <a:pt x="7219651" y="2474307"/>
                    <a:pt x="7230471" y="2471169"/>
                    <a:pt x="7240772" y="2466754"/>
                  </a:cubicBezTo>
                  <a:cubicBezTo>
                    <a:pt x="7255341" y="2460510"/>
                    <a:pt x="7268586" y="2451375"/>
                    <a:pt x="7283303" y="2445488"/>
                  </a:cubicBezTo>
                  <a:cubicBezTo>
                    <a:pt x="7346477" y="2420218"/>
                    <a:pt x="7334794" y="2429258"/>
                    <a:pt x="7389628" y="2413591"/>
                  </a:cubicBezTo>
                  <a:cubicBezTo>
                    <a:pt x="7400405" y="2410512"/>
                    <a:pt x="7410893" y="2406502"/>
                    <a:pt x="7421526" y="2402958"/>
                  </a:cubicBezTo>
                  <a:cubicBezTo>
                    <a:pt x="7447412" y="2325300"/>
                    <a:pt x="7437354" y="2360909"/>
                    <a:pt x="7453424" y="2296633"/>
                  </a:cubicBezTo>
                  <a:cubicBezTo>
                    <a:pt x="7469899" y="1522279"/>
                    <a:pt x="7475486" y="2026379"/>
                    <a:pt x="7453424" y="1658679"/>
                  </a:cubicBezTo>
                  <a:cubicBezTo>
                    <a:pt x="7445558" y="1527589"/>
                    <a:pt x="7440894" y="1396310"/>
                    <a:pt x="7432158" y="1265275"/>
                  </a:cubicBezTo>
                  <a:cubicBezTo>
                    <a:pt x="7430257" y="1236764"/>
                    <a:pt x="7427951" y="1208057"/>
                    <a:pt x="7421526" y="1180214"/>
                  </a:cubicBezTo>
                  <a:cubicBezTo>
                    <a:pt x="7417234" y="1161617"/>
                    <a:pt x="7406297" y="1145158"/>
                    <a:pt x="7400261" y="1127051"/>
                  </a:cubicBezTo>
                  <a:cubicBezTo>
                    <a:pt x="7380810" y="1068698"/>
                    <a:pt x="7376423" y="962416"/>
                    <a:pt x="7357731" y="925033"/>
                  </a:cubicBezTo>
                  <a:lnTo>
                    <a:pt x="7336465" y="882502"/>
                  </a:lnTo>
                  <a:cubicBezTo>
                    <a:pt x="7332921" y="864781"/>
                    <a:pt x="7328581" y="847201"/>
                    <a:pt x="7325833" y="829340"/>
                  </a:cubicBezTo>
                  <a:cubicBezTo>
                    <a:pt x="7300084" y="661972"/>
                    <a:pt x="7328946" y="813012"/>
                    <a:pt x="7304568" y="691116"/>
                  </a:cubicBezTo>
                  <a:cubicBezTo>
                    <a:pt x="7301024" y="637953"/>
                    <a:pt x="7299237" y="584644"/>
                    <a:pt x="7293935" y="531628"/>
                  </a:cubicBezTo>
                  <a:cubicBezTo>
                    <a:pt x="7292137" y="513646"/>
                    <a:pt x="7287223" y="496107"/>
                    <a:pt x="7283303" y="478465"/>
                  </a:cubicBezTo>
                  <a:cubicBezTo>
                    <a:pt x="7276817" y="449278"/>
                    <a:pt x="7258312" y="382229"/>
                    <a:pt x="7251405" y="361507"/>
                  </a:cubicBezTo>
                  <a:cubicBezTo>
                    <a:pt x="7245369" y="343400"/>
                    <a:pt x="7235624" y="326625"/>
                    <a:pt x="7230140" y="308344"/>
                  </a:cubicBezTo>
                  <a:cubicBezTo>
                    <a:pt x="7224947" y="291035"/>
                    <a:pt x="7225222" y="272326"/>
                    <a:pt x="7219507" y="255182"/>
                  </a:cubicBezTo>
                  <a:cubicBezTo>
                    <a:pt x="7206571" y="216374"/>
                    <a:pt x="7184163" y="188160"/>
                    <a:pt x="7145079" y="170121"/>
                  </a:cubicBezTo>
                  <a:cubicBezTo>
                    <a:pt x="7118543" y="157874"/>
                    <a:pt x="7088596" y="154980"/>
                    <a:pt x="7060019" y="148856"/>
                  </a:cubicBezTo>
                  <a:cubicBezTo>
                    <a:pt x="7043016" y="145212"/>
                    <a:pt x="6934435" y="128357"/>
                    <a:pt x="6921796" y="127591"/>
                  </a:cubicBezTo>
                  <a:cubicBezTo>
                    <a:pt x="6829748" y="122012"/>
                    <a:pt x="6737498" y="120502"/>
                    <a:pt x="6645349" y="116958"/>
                  </a:cubicBezTo>
                  <a:cubicBezTo>
                    <a:pt x="6624084" y="113414"/>
                    <a:pt x="6602560" y="111173"/>
                    <a:pt x="6581554" y="106326"/>
                  </a:cubicBezTo>
                  <a:cubicBezTo>
                    <a:pt x="6556413" y="100524"/>
                    <a:pt x="6532019" y="91850"/>
                    <a:pt x="6507126" y="85061"/>
                  </a:cubicBezTo>
                  <a:cubicBezTo>
                    <a:pt x="6493028" y="81216"/>
                    <a:pt x="6478593" y="78627"/>
                    <a:pt x="6464596" y="74428"/>
                  </a:cubicBezTo>
                  <a:cubicBezTo>
                    <a:pt x="6383526" y="50107"/>
                    <a:pt x="6408918" y="50534"/>
                    <a:pt x="6315740" y="31898"/>
                  </a:cubicBezTo>
                  <a:cubicBezTo>
                    <a:pt x="6298019" y="28354"/>
                    <a:pt x="6280012" y="26020"/>
                    <a:pt x="6262577" y="21265"/>
                  </a:cubicBezTo>
                  <a:cubicBezTo>
                    <a:pt x="6240952" y="15367"/>
                    <a:pt x="6198782" y="0"/>
                    <a:pt x="6198782" y="0"/>
                  </a:cubicBezTo>
                  <a:cubicBezTo>
                    <a:pt x="6065008" y="7869"/>
                    <a:pt x="6035996" y="6440"/>
                    <a:pt x="5922335" y="21265"/>
                  </a:cubicBezTo>
                  <a:cubicBezTo>
                    <a:pt x="5872634" y="27748"/>
                    <a:pt x="5773479" y="42530"/>
                    <a:pt x="5773479" y="42530"/>
                  </a:cubicBezTo>
                  <a:cubicBezTo>
                    <a:pt x="5738627" y="59956"/>
                    <a:pt x="5733468" y="65041"/>
                    <a:pt x="5699051" y="74428"/>
                  </a:cubicBezTo>
                  <a:cubicBezTo>
                    <a:pt x="5670855" y="82118"/>
                    <a:pt x="5641717" y="86451"/>
                    <a:pt x="5613991" y="95693"/>
                  </a:cubicBezTo>
                  <a:cubicBezTo>
                    <a:pt x="5568230" y="110947"/>
                    <a:pt x="5592966" y="103608"/>
                    <a:pt x="5539563" y="116958"/>
                  </a:cubicBezTo>
                  <a:cubicBezTo>
                    <a:pt x="5487607" y="168914"/>
                    <a:pt x="5530444" y="132802"/>
                    <a:pt x="5465135" y="170121"/>
                  </a:cubicBezTo>
                  <a:cubicBezTo>
                    <a:pt x="5454040" y="176461"/>
                    <a:pt x="5444667" y="185671"/>
                    <a:pt x="5433237" y="191386"/>
                  </a:cubicBezTo>
                  <a:cubicBezTo>
                    <a:pt x="5423213" y="196398"/>
                    <a:pt x="5436781" y="164805"/>
                    <a:pt x="5433237" y="170121"/>
                  </a:cubicBezTo>
                  <a:close/>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线形标注 2 6"/>
            <p:cNvSpPr/>
            <p:nvPr/>
          </p:nvSpPr>
          <p:spPr>
            <a:xfrm>
              <a:off x="6444208" y="326710"/>
              <a:ext cx="2520280" cy="1134061"/>
            </a:xfrm>
            <a:prstGeom prst="borderCallout2">
              <a:avLst>
                <a:gd name="adj1" fmla="val 16875"/>
                <a:gd name="adj2" fmla="val -1873"/>
                <a:gd name="adj3" fmla="val 21563"/>
                <a:gd name="adj4" fmla="val -7900"/>
                <a:gd name="adj5" fmla="val 107812"/>
                <a:gd name="adj6" fmla="val -12626"/>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t>从编辑输入开始的以下各步却是在用户的要求控制下由计算机完成</a:t>
              </a:r>
            </a:p>
          </p:txBody>
        </p:sp>
      </p:grpSp>
    </p:spTree>
    <p:extLst>
      <p:ext uri="{BB962C8B-B14F-4D97-AF65-F5344CB8AC3E}">
        <p14:creationId xmlns:p14="http://schemas.microsoft.com/office/powerpoint/2010/main" val="122436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in)">
                                      <p:cBhvr>
                                        <p:cTn id="7" dur="20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作业的定义</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912768"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在一次应用业务处理过程中，从输入开始到输出结束，用户要求计算机所做的有关该次业务处理的全部工作称为一个</a:t>
            </a:r>
            <a:r>
              <a:rPr lang="zh-CN" altLang="en-US" sz="2400" b="1" dirty="0">
                <a:solidFill>
                  <a:srgbClr val="FFFF00"/>
                </a:solidFill>
                <a:latin typeface="+mn-ea"/>
              </a:rPr>
              <a:t>作业</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作业</a:t>
            </a:r>
            <a:r>
              <a:rPr lang="zh-CN" altLang="en-US" sz="2400" b="1" dirty="0">
                <a:solidFill>
                  <a:schemeClr val="bg1"/>
                </a:solidFill>
                <a:latin typeface="+mn-ea"/>
              </a:rPr>
              <a:t>由不同的</a:t>
            </a:r>
            <a:r>
              <a:rPr lang="zh-CN" altLang="en-US" sz="2400" b="1" dirty="0">
                <a:solidFill>
                  <a:srgbClr val="FFFF00"/>
                </a:solidFill>
                <a:latin typeface="+mn-ea"/>
              </a:rPr>
              <a:t>顺序相连的作业步</a:t>
            </a:r>
            <a:r>
              <a:rPr lang="zh-CN" altLang="en-US" sz="2400" b="1" dirty="0">
                <a:solidFill>
                  <a:schemeClr val="bg1"/>
                </a:solidFill>
                <a:latin typeface="+mn-ea"/>
              </a:rPr>
              <a:t>组成。作业步是在一个作业的处理过程中，计算机所做的相对独立的工作。</a:t>
            </a:r>
          </a:p>
        </p:txBody>
      </p:sp>
    </p:spTree>
    <p:extLst>
      <p:ext uri="{BB962C8B-B14F-4D97-AF65-F5344CB8AC3E}">
        <p14:creationId xmlns:p14="http://schemas.microsoft.com/office/powerpoint/2010/main" val="494043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作业的定义</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76645"/>
            <a:ext cx="6912768"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从系统的角度看，</a:t>
            </a:r>
            <a:r>
              <a:rPr lang="zh-CN" altLang="en-US" sz="2200" b="1" dirty="0" smtClean="0">
                <a:solidFill>
                  <a:schemeClr val="bg1"/>
                </a:solidFill>
                <a:latin typeface="+mn-ea"/>
              </a:rPr>
              <a:t>作业是</a:t>
            </a:r>
            <a:r>
              <a:rPr lang="zh-CN" altLang="en-US" sz="2200" b="1" dirty="0">
                <a:solidFill>
                  <a:schemeClr val="bg1"/>
                </a:solidFill>
                <a:latin typeface="+mn-ea"/>
              </a:rPr>
              <a:t>一个比程序更广的概念。它由</a:t>
            </a:r>
            <a:r>
              <a:rPr lang="zh-CN" altLang="en-US" sz="2200" b="1" dirty="0">
                <a:solidFill>
                  <a:srgbClr val="FFFF00"/>
                </a:solidFill>
                <a:latin typeface="+mn-ea"/>
              </a:rPr>
              <a:t>程序</a:t>
            </a:r>
            <a:r>
              <a:rPr lang="zh-CN" altLang="en-US" sz="2200" b="1" dirty="0">
                <a:solidFill>
                  <a:schemeClr val="bg1"/>
                </a:solidFill>
                <a:latin typeface="+mn-ea"/>
              </a:rPr>
              <a:t>、</a:t>
            </a:r>
            <a:r>
              <a:rPr lang="zh-CN" altLang="en-US" sz="2200" b="1" dirty="0">
                <a:solidFill>
                  <a:srgbClr val="FFFF00"/>
                </a:solidFill>
                <a:latin typeface="+mn-ea"/>
              </a:rPr>
              <a:t>数据</a:t>
            </a:r>
            <a:r>
              <a:rPr lang="zh-CN" altLang="en-US" sz="2200" b="1" dirty="0">
                <a:solidFill>
                  <a:schemeClr val="bg1"/>
                </a:solidFill>
                <a:latin typeface="+mn-ea"/>
              </a:rPr>
              <a:t>和</a:t>
            </a:r>
            <a:r>
              <a:rPr lang="zh-CN" altLang="en-US" sz="2200" b="1" dirty="0">
                <a:solidFill>
                  <a:srgbClr val="FFFF00"/>
                </a:solidFill>
                <a:latin typeface="+mn-ea"/>
              </a:rPr>
              <a:t>作业说明书</a:t>
            </a:r>
            <a:r>
              <a:rPr lang="zh-CN" altLang="en-US" sz="2200" b="1" dirty="0">
                <a:solidFill>
                  <a:schemeClr val="bg1"/>
                </a:solidFill>
                <a:latin typeface="+mn-ea"/>
              </a:rPr>
              <a:t>组成。系统通过作业说明书控制文件形式的程序和数据，使之执行和操作</a:t>
            </a:r>
            <a:r>
              <a:rPr lang="zh-CN" altLang="en-US" sz="2200" b="1" dirty="0" smtClean="0">
                <a:solidFill>
                  <a:schemeClr val="bg1"/>
                </a:solidFill>
                <a:latin typeface="+mn-ea"/>
              </a:rPr>
              <a:t>。</a:t>
            </a:r>
            <a:endParaRPr lang="en-US" altLang="zh-CN" sz="22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在</a:t>
            </a:r>
            <a:r>
              <a:rPr lang="zh-CN" altLang="en-US" sz="2200" b="1" dirty="0">
                <a:solidFill>
                  <a:schemeClr val="bg1"/>
                </a:solidFill>
                <a:latin typeface="+mn-ea"/>
              </a:rPr>
              <a:t>批处理系统中，作业是抢占内存的基本单位。也就是说，批处理系统</a:t>
            </a:r>
            <a:r>
              <a:rPr lang="zh-CN" altLang="en-US" sz="2200" b="1" dirty="0">
                <a:solidFill>
                  <a:srgbClr val="FFFF00"/>
                </a:solidFill>
                <a:latin typeface="+mn-ea"/>
              </a:rPr>
              <a:t>以作业为单位</a:t>
            </a:r>
            <a:r>
              <a:rPr lang="zh-CN" altLang="en-US" sz="2200" b="1" dirty="0">
                <a:solidFill>
                  <a:schemeClr val="bg1"/>
                </a:solidFill>
                <a:latin typeface="+mn-ea"/>
              </a:rPr>
              <a:t>把程序和数据调入内存以便执行</a:t>
            </a:r>
          </a:p>
        </p:txBody>
      </p:sp>
    </p:spTree>
    <p:extLst>
      <p:ext uri="{BB962C8B-B14F-4D97-AF65-F5344CB8AC3E}">
        <p14:creationId xmlns:p14="http://schemas.microsoft.com/office/powerpoint/2010/main" val="1737602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作业组织</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76645"/>
            <a:ext cx="6912768" cy="3250121"/>
          </a:xfrm>
          <a:prstGeom prst="rect">
            <a:avLst/>
          </a:prstGeom>
        </p:spPr>
        <p:txBody>
          <a:bodyPr wrap="square">
            <a:spAutoFit/>
          </a:bodyPr>
          <a:lstStyle/>
          <a:p>
            <a:pPr marL="0" lvl="1" algn="just">
              <a:lnSpc>
                <a:spcPct val="114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一</a:t>
            </a:r>
            <a:r>
              <a:rPr lang="zh-CN" altLang="en-US" sz="2000" b="1" dirty="0">
                <a:solidFill>
                  <a:schemeClr val="bg1"/>
                </a:solidFill>
                <a:latin typeface="+mn-ea"/>
              </a:rPr>
              <a:t>个作业可以包含</a:t>
            </a:r>
            <a:r>
              <a:rPr lang="zh-CN" altLang="en-US" sz="2000" b="1" dirty="0">
                <a:solidFill>
                  <a:srgbClr val="FFFF00"/>
                </a:solidFill>
                <a:latin typeface="+mn-ea"/>
              </a:rPr>
              <a:t>多个程序</a:t>
            </a:r>
            <a:r>
              <a:rPr lang="zh-CN" altLang="en-US" sz="2000" b="1" dirty="0">
                <a:solidFill>
                  <a:schemeClr val="bg1"/>
                </a:solidFill>
                <a:latin typeface="+mn-ea"/>
              </a:rPr>
              <a:t>和</a:t>
            </a:r>
            <a:r>
              <a:rPr lang="zh-CN" altLang="en-US" sz="2000" b="1" dirty="0">
                <a:solidFill>
                  <a:srgbClr val="FFFF00"/>
                </a:solidFill>
                <a:latin typeface="+mn-ea"/>
              </a:rPr>
              <a:t>多个数据集</a:t>
            </a:r>
            <a:r>
              <a:rPr lang="zh-CN" altLang="en-US" sz="2000" b="1" dirty="0">
                <a:solidFill>
                  <a:schemeClr val="bg1"/>
                </a:solidFill>
                <a:latin typeface="+mn-ea"/>
              </a:rPr>
              <a:t>，但必须</a:t>
            </a:r>
            <a:r>
              <a:rPr lang="zh-CN" altLang="en-US" sz="2000" b="1" dirty="0">
                <a:solidFill>
                  <a:srgbClr val="FFFF00"/>
                </a:solidFill>
                <a:latin typeface="+mn-ea"/>
              </a:rPr>
              <a:t>至少包含一个程序</a:t>
            </a:r>
            <a:r>
              <a:rPr lang="zh-CN" altLang="en-US" sz="2000" b="1" dirty="0">
                <a:solidFill>
                  <a:schemeClr val="bg1"/>
                </a:solidFill>
                <a:latin typeface="+mn-ea"/>
              </a:rPr>
              <a:t>。否则将不成为作业。作业中包含的程序和数据完成用户所要求的业务处理工作</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14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作业</a:t>
            </a:r>
            <a:r>
              <a:rPr lang="zh-CN" altLang="en-US" sz="2000" b="1" dirty="0">
                <a:solidFill>
                  <a:schemeClr val="bg1"/>
                </a:solidFill>
                <a:latin typeface="+mn-ea"/>
              </a:rPr>
              <a:t>说明书则体现用户的控制意图。由作业说明书在系统中生成一个称为</a:t>
            </a:r>
            <a:r>
              <a:rPr lang="zh-CN" altLang="en-US" sz="2000" b="1" dirty="0">
                <a:solidFill>
                  <a:srgbClr val="FFFF00"/>
                </a:solidFill>
                <a:latin typeface="+mn-ea"/>
              </a:rPr>
              <a:t>作业控制块</a:t>
            </a:r>
            <a:r>
              <a:rPr lang="en-US" altLang="zh-CN" sz="2000" b="1" dirty="0">
                <a:solidFill>
                  <a:schemeClr val="bg1"/>
                </a:solidFill>
                <a:latin typeface="+mn-ea"/>
              </a:rPr>
              <a:t>(job control block</a:t>
            </a:r>
            <a:r>
              <a:rPr lang="zh-CN" altLang="en-US" sz="2000" b="1" dirty="0">
                <a:solidFill>
                  <a:schemeClr val="bg1"/>
                </a:solidFill>
                <a:latin typeface="+mn-ea"/>
              </a:rPr>
              <a:t>，</a:t>
            </a:r>
            <a:r>
              <a:rPr lang="en-US" altLang="zh-CN" sz="2000" b="1" dirty="0">
                <a:solidFill>
                  <a:srgbClr val="FFFF00"/>
                </a:solidFill>
                <a:latin typeface="+mn-ea"/>
              </a:rPr>
              <a:t>JCB</a:t>
            </a:r>
            <a:r>
              <a:rPr lang="en-US" altLang="zh-CN" sz="2000" b="1" dirty="0">
                <a:solidFill>
                  <a:schemeClr val="bg1"/>
                </a:solidFill>
                <a:latin typeface="+mn-ea"/>
              </a:rPr>
              <a:t>)</a:t>
            </a:r>
            <a:r>
              <a:rPr lang="zh-CN" altLang="en-US" sz="2000" b="1" dirty="0">
                <a:solidFill>
                  <a:schemeClr val="bg1"/>
                </a:solidFill>
                <a:latin typeface="+mn-ea"/>
              </a:rPr>
              <a:t>的表格。该表格登记该作业所要求的资源情况、预计执行时间和执行优先级等。从而，操作系统通过该表了解到作业要求，并分配资源和控制作业中程序和数据的编译、链接、装入和执行等。</a:t>
            </a:r>
          </a:p>
        </p:txBody>
      </p:sp>
      <p:pic>
        <p:nvPicPr>
          <p:cNvPr id="29" name="Picture 3" descr="图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82992"/>
            <a:ext cx="4728458" cy="5025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553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32"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circle(out)">
                                      <p:cBhvr>
                                        <p:cTn id="1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一般用户的输入输出方式</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aphicFrame>
        <p:nvGraphicFramePr>
          <p:cNvPr id="3" name="图示 2"/>
          <p:cNvGraphicFramePr/>
          <p:nvPr>
            <p:extLst>
              <p:ext uri="{D42A27DB-BD31-4B8C-83A1-F6EECF244321}">
                <p14:modId xmlns:p14="http://schemas.microsoft.com/office/powerpoint/2010/main" val="592822088"/>
              </p:ext>
            </p:extLst>
          </p:nvPr>
        </p:nvGraphicFramePr>
        <p:xfrm>
          <a:off x="1043608" y="591528"/>
          <a:ext cx="6432376" cy="4230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590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联机</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输入输出方式</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043608" y="1635646"/>
            <a:ext cx="6480720"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大多用在</a:t>
            </a:r>
            <a:r>
              <a:rPr lang="zh-CN" altLang="en-US" sz="2400" b="1" dirty="0">
                <a:solidFill>
                  <a:srgbClr val="FFFF00"/>
                </a:solidFill>
                <a:latin typeface="+mn-ea"/>
              </a:rPr>
              <a:t>交互式</a:t>
            </a:r>
            <a:r>
              <a:rPr lang="zh-CN" altLang="en-US" sz="2400" b="1" dirty="0">
                <a:solidFill>
                  <a:schemeClr val="bg1"/>
                </a:solidFill>
                <a:latin typeface="+mn-ea"/>
              </a:rPr>
              <a:t>系统中</a:t>
            </a:r>
            <a:r>
              <a:rPr lang="en-US" altLang="zh-CN" sz="2400" b="1" dirty="0">
                <a:solidFill>
                  <a:schemeClr val="bg1"/>
                </a:solidFill>
                <a:latin typeface="+mn-ea"/>
              </a:rPr>
              <a:t>,</a:t>
            </a:r>
            <a:r>
              <a:rPr lang="zh-CN" altLang="en-US" sz="2400" b="1" dirty="0">
                <a:solidFill>
                  <a:schemeClr val="bg1"/>
                </a:solidFill>
                <a:latin typeface="+mn-ea"/>
              </a:rPr>
              <a:t>用户和系统通过交互会话来输入作业。</a:t>
            </a:r>
            <a:r>
              <a:rPr lang="zh-CN" altLang="en-US" sz="2400" b="1" dirty="0">
                <a:solidFill>
                  <a:srgbClr val="FFFF00"/>
                </a:solidFill>
                <a:latin typeface="+mn-ea"/>
              </a:rPr>
              <a:t>外围设备直接和主机相连接</a:t>
            </a:r>
            <a:r>
              <a:rPr lang="zh-CN" altLang="en-US" sz="2400" b="1" dirty="0">
                <a:solidFill>
                  <a:schemeClr val="bg1"/>
                </a:solidFill>
                <a:latin typeface="+mn-ea"/>
              </a:rPr>
              <a:t>。一台主机可以连接一台或多台外围设备</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5878755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脱机输入输出方式</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33170"/>
            <a:ext cx="6912768"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又称为</a:t>
            </a:r>
            <a:r>
              <a:rPr lang="zh-CN" altLang="en-US" sz="2200" b="1" dirty="0">
                <a:solidFill>
                  <a:srgbClr val="FFFF00"/>
                </a:solidFill>
                <a:latin typeface="+mn-ea"/>
              </a:rPr>
              <a:t>预输入方式</a:t>
            </a:r>
            <a:r>
              <a:rPr lang="zh-CN" altLang="en-US" sz="2200" b="1" dirty="0">
                <a:solidFill>
                  <a:schemeClr val="bg1"/>
                </a:solidFill>
                <a:latin typeface="+mn-ea"/>
              </a:rPr>
              <a:t>。脱机输入方式利用低档个人计算机作为外围处理机进行输入处理。在</a:t>
            </a:r>
            <a:r>
              <a:rPr lang="zh-CN" altLang="en-US" sz="2200" b="1" dirty="0">
                <a:solidFill>
                  <a:srgbClr val="FFFF00"/>
                </a:solidFill>
                <a:latin typeface="+mn-ea"/>
              </a:rPr>
              <a:t>低档个人机上，用户通过联机方式把作业首先输入到后援存储器</a:t>
            </a:r>
            <a:r>
              <a:rPr lang="zh-CN" altLang="en-US" sz="2200" b="1" dirty="0">
                <a:solidFill>
                  <a:schemeClr val="bg1"/>
                </a:solidFill>
                <a:latin typeface="+mn-ea"/>
              </a:rPr>
              <a:t>，例如磁盘或磁带上；然后，用户把装有输入数据的后援存储器拿到主机的高速外围设备上和主机连接，从而在较短的时间内完成作业的输入工作。</a:t>
            </a:r>
          </a:p>
        </p:txBody>
      </p:sp>
    </p:spTree>
    <p:extLst>
      <p:ext uri="{BB962C8B-B14F-4D97-AF65-F5344CB8AC3E}">
        <p14:creationId xmlns:p14="http://schemas.microsoft.com/office/powerpoint/2010/main" val="148405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直接耦合方式</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33170"/>
            <a:ext cx="6912768" cy="3293209"/>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保留脱机输入方式的快速输入的优点</a:t>
            </a:r>
            <a:r>
              <a:rPr lang="en-US" altLang="zh-CN" sz="2000" b="1" dirty="0">
                <a:solidFill>
                  <a:schemeClr val="bg1"/>
                </a:solidFill>
                <a:latin typeface="+mn-ea"/>
              </a:rPr>
              <a:t>,</a:t>
            </a:r>
            <a:r>
              <a:rPr lang="zh-CN" altLang="en-US" sz="2000" b="1" dirty="0">
                <a:solidFill>
                  <a:schemeClr val="bg1"/>
                </a:solidFill>
                <a:latin typeface="+mn-ea"/>
              </a:rPr>
              <a:t>又没有脱机输入方式的人工干预的缺点和具有</a:t>
            </a:r>
            <a:r>
              <a:rPr lang="zh-CN" altLang="en-US" sz="2000" b="1" dirty="0">
                <a:solidFill>
                  <a:srgbClr val="FFFF00"/>
                </a:solidFill>
                <a:latin typeface="+mn-ea"/>
              </a:rPr>
              <a:t>较强灵活性</a:t>
            </a:r>
            <a:r>
              <a:rPr lang="zh-CN" altLang="en-US" sz="2000" b="1" dirty="0">
                <a:solidFill>
                  <a:schemeClr val="bg1"/>
                </a:solidFill>
                <a:latin typeface="+mn-ea"/>
              </a:rPr>
              <a:t>的输入方式是直接耦合方式</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直接</a:t>
            </a:r>
            <a:r>
              <a:rPr lang="zh-CN" altLang="en-US" sz="2000" b="1" dirty="0">
                <a:solidFill>
                  <a:schemeClr val="bg1"/>
                </a:solidFill>
                <a:latin typeface="+mn-ea"/>
              </a:rPr>
              <a:t>耦合方式把主机和外围低档机通过一个</a:t>
            </a:r>
            <a:r>
              <a:rPr lang="zh-CN" altLang="en-US" sz="2000" b="1" dirty="0">
                <a:solidFill>
                  <a:srgbClr val="FFFF00"/>
                </a:solidFill>
                <a:latin typeface="+mn-ea"/>
              </a:rPr>
              <a:t>公用的大容量外存</a:t>
            </a:r>
            <a:r>
              <a:rPr lang="zh-CN" altLang="en-US" sz="2000" b="1" dirty="0">
                <a:solidFill>
                  <a:schemeClr val="bg1"/>
                </a:solidFill>
                <a:latin typeface="+mn-ea"/>
              </a:rPr>
              <a:t>直接耦合起来，从而省去了在脱机输入中那种依靠人工干预来传递后援存储器的过程。在直接耦合方式中，慢速的输入输出过程仍由外围低档机自己管理，而对公用存储器中的大量数据的高速读写则由主机完成。</a:t>
            </a:r>
          </a:p>
        </p:txBody>
      </p:sp>
      <p:pic>
        <p:nvPicPr>
          <p:cNvPr id="29" name="Picture 3" descr="JXJ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686" y="1381955"/>
            <a:ext cx="8310563" cy="319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04119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41676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SPOOLING</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a:t>
            </a:r>
          </a:p>
        </p:txBody>
      </p:sp>
      <p:pic>
        <p:nvPicPr>
          <p:cNvPr id="30" name="Picture 4" descr="图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688" y="373462"/>
            <a:ext cx="6774415" cy="4569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09003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网络联机方式</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33170"/>
            <a:ext cx="6912768" cy="3139321"/>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网络联机方式</a:t>
            </a:r>
            <a:r>
              <a:rPr lang="zh-CN" altLang="en-US" sz="2200" b="1" dirty="0">
                <a:solidFill>
                  <a:schemeClr val="bg1"/>
                </a:solidFill>
                <a:latin typeface="+mn-ea"/>
              </a:rPr>
              <a:t>以上述几种输入方式为基础。当用户需要把在计算机网络中某一台主机上输入的信息传送到同一网中另一台主机上进行操作或执行时，就构成了网络输入方式。因为网络输入方式涉及到不同计算机间的通信问题，且该问题的讨论已超出了本书的范围，因此，本书中不准备进一步讨论。</a:t>
            </a:r>
          </a:p>
        </p:txBody>
      </p:sp>
    </p:spTree>
    <p:extLst>
      <p:ext uri="{BB962C8B-B14F-4D97-AF65-F5344CB8AC3E}">
        <p14:creationId xmlns:p14="http://schemas.microsoft.com/office/powerpoint/2010/main" val="11195281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9"/>
            <a:ext cx="4724400" cy="833438"/>
            <a:chOff x="1296" y="1824"/>
            <a:chExt cx="2976" cy="525"/>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407"/>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简介及一般用户的输入输出界面</a:t>
              </a:r>
              <a:endParaRPr lang="en-US" altLang="zh-CN" b="1" dirty="0">
                <a:solidFill>
                  <a:srgbClr val="000000"/>
                </a:solidFill>
              </a:endParaRPr>
            </a:p>
            <a:p>
              <a:pPr algn="ctr" eaLnBrk="0" hangingPunct="0"/>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命令控制</a:t>
              </a:r>
              <a:r>
                <a:rPr lang="zh-CN" altLang="en-US" b="1" dirty="0" smtClean="0">
                  <a:solidFill>
                    <a:srgbClr val="000000"/>
                  </a:solidFill>
                </a:rPr>
                <a:t>界面、图形控制界面</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1"/>
            </a:xfrm>
            <a:prstGeom prst="rect">
              <a:avLst/>
            </a:prstGeom>
            <a:noFill/>
            <a:ln w="9525" algn="ctr">
              <a:noFill/>
              <a:miter lim="800000"/>
              <a:headEnd/>
              <a:tailEnd/>
            </a:ln>
            <a:effectLst/>
          </p:spPr>
          <p:txBody>
            <a:bodyPr>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smtClean="0">
                  <a:solidFill>
                    <a:srgbClr val="000000"/>
                  </a:solidFill>
                </a:rPr>
                <a:t>Windows</a:t>
              </a:r>
              <a:r>
                <a:rPr lang="zh-CN" altLang="en-US" b="1" dirty="0" smtClean="0">
                  <a:solidFill>
                    <a:srgbClr val="000000"/>
                  </a:solidFill>
                </a:rPr>
                <a:t>的命令</a:t>
              </a:r>
              <a:r>
                <a:rPr lang="zh-CN" altLang="en-US" b="1" dirty="0">
                  <a:solidFill>
                    <a:srgbClr val="000000"/>
                  </a:solidFill>
                </a:rPr>
                <a:t>控制界面</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eaLnBrk="0" hangingPunct="0"/>
              <a:r>
                <a:rPr lang="zh-CN" altLang="en-US" b="1" dirty="0" smtClean="0">
                  <a:solidFill>
                    <a:srgbClr val="000000"/>
                  </a:solidFill>
                </a:rPr>
                <a:t>               系统</a:t>
              </a:r>
              <a:r>
                <a:rPr lang="zh-CN" altLang="en-US" b="1" dirty="0">
                  <a:solidFill>
                    <a:srgbClr val="000000"/>
                  </a:solidFill>
                </a:rPr>
                <a:t>调用</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a:solidFill>
                    <a:srgbClr val="000000"/>
                  </a:solidFill>
                </a:rPr>
                <a:t>Windows</a:t>
              </a:r>
              <a:r>
                <a:rPr lang="zh-CN" altLang="en-US" b="1" dirty="0" smtClean="0">
                  <a:solidFill>
                    <a:srgbClr val="000000"/>
                  </a:solidFill>
                </a:rPr>
                <a:t>的</a:t>
              </a:r>
              <a:r>
                <a:rPr lang="zh-CN" altLang="en-US" b="1" dirty="0" smtClean="0">
                  <a:solidFill>
                    <a:srgbClr val="000000"/>
                  </a:solidFill>
                  <a:ea typeface="宋体" pitchFamily="2" charset="-122"/>
                </a:rPr>
                <a:t>系统调用</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36865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6"/>
                                        </p:tgtEl>
                                      </p:cBhvr>
                                      <p:by x="150000" y="150000"/>
                                    </p:animScale>
                                  </p:childTnLst>
                                </p:cTn>
                              </p:par>
                              <p:par>
                                <p:cTn id="7" presetID="42" presetClass="path" presetSubtype="0" accel="50000" decel="50000" fill="hold" nodeType="withEffect">
                                  <p:stCondLst>
                                    <p:cond delay="0"/>
                                  </p:stCondLst>
                                  <p:childTnLst>
                                    <p:animMotion origin="layout" path="M -3.61111E-6 -3.7037E-6 L -0.00642 0.14321 " pathEditMode="relative" rAng="0" ptsTypes="AA">
                                      <p:cBhvr>
                                        <p:cTn id="8" dur="2000" fill="hold"/>
                                        <p:tgtEl>
                                          <p:spTgt spid="16"/>
                                        </p:tgtEl>
                                        <p:attrNameLst>
                                          <p:attrName>ppt_x</p:attrName>
                                          <p:attrName>ppt_y</p:attrName>
                                        </p:attrNameLst>
                                      </p:cBhvr>
                                      <p:rCtr x="-330" y="7160"/>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27"/>
                                        </p:tgtEl>
                                      </p:cBhvr>
                                    </p:animEffect>
                                    <p:set>
                                      <p:cBhvr>
                                        <p:cTn id="14" dur="1" fill="hold">
                                          <p:stCondLst>
                                            <p:cond delay="1999"/>
                                          </p:stCondLst>
                                        </p:cTn>
                                        <p:tgtEl>
                                          <p:spTgt spid="27"/>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32"/>
                                        </p:tgtEl>
                                      </p:cBhvr>
                                    </p:animEffect>
                                    <p:set>
                                      <p:cBhvr>
                                        <p:cTn id="17" dur="1" fill="hold">
                                          <p:stCondLst>
                                            <p:cond delay="1999"/>
                                          </p:stCondLst>
                                        </p:cTn>
                                        <p:tgtEl>
                                          <p:spTgt spid="32"/>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1"/>
                                        </p:tgtEl>
                                      </p:cBhvr>
                                    </p:animEffect>
                                    <p:set>
                                      <p:cBhvr>
                                        <p:cTn id="20" dur="1" fill="hold">
                                          <p:stCondLst>
                                            <p:cond delay="1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OS </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启动后</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aphicFrame>
        <p:nvGraphicFramePr>
          <p:cNvPr id="4" name="表格 3"/>
          <p:cNvGraphicFramePr>
            <a:graphicFrameLocks noGrp="1"/>
          </p:cNvGraphicFramePr>
          <p:nvPr>
            <p:extLst>
              <p:ext uri="{D42A27DB-BD31-4B8C-83A1-F6EECF244321}">
                <p14:modId xmlns:p14="http://schemas.microsoft.com/office/powerpoint/2010/main" val="632114231"/>
              </p:ext>
            </p:extLst>
          </p:nvPr>
        </p:nvGraphicFramePr>
        <p:xfrm>
          <a:off x="948586" y="1062443"/>
          <a:ext cx="2520280" cy="3483140"/>
        </p:xfrm>
        <a:graphic>
          <a:graphicData uri="http://schemas.openxmlformats.org/drawingml/2006/table">
            <a:tbl>
              <a:tblPr/>
              <a:tblGrid>
                <a:gridCol w="2520280">
                  <a:extLst>
                    <a:ext uri="{9D8B030D-6E8A-4147-A177-3AD203B41FA5}">
                      <a16:colId xmlns:a16="http://schemas.microsoft.com/office/drawing/2014/main" val="891427919"/>
                    </a:ext>
                  </a:extLst>
                </a:gridCol>
              </a:tblGrid>
              <a:tr h="1493734">
                <a:tc>
                  <a:txBody>
                    <a:bodyPr/>
                    <a:lstStyle/>
                    <a:p>
                      <a:endParaRPr lang="zh-CN" altLang="en-US" dirty="0"/>
                    </a:p>
                  </a:txBody>
                  <a:tcPr>
                    <a:lnL w="57150" cmpd="sng">
                      <a:solidFill>
                        <a:srgbClr val="FFFF00"/>
                      </a:solidFill>
                      <a:prstDash val="solid"/>
                    </a:lnL>
                    <a:lnR w="57150" cmpd="sng">
                      <a:solidFill>
                        <a:srgbClr val="FFFF00"/>
                      </a:solidFill>
                      <a:prstDash val="solid"/>
                    </a:lnR>
                    <a:lnT w="57150" cmpd="sng">
                      <a:solidFill>
                        <a:srgbClr val="FFFF00"/>
                      </a:solidFill>
                      <a:prstDash val="solid"/>
                    </a:lnT>
                    <a:lnB w="57150" cap="flat" cmpd="sng" algn="ctr">
                      <a:solidFill>
                        <a:srgbClr val="FFFF00"/>
                      </a:solidFill>
                      <a:prstDash val="solid"/>
                      <a:round/>
                      <a:headEnd type="none" w="med" len="med"/>
                      <a:tailEnd type="none" w="med" len="med"/>
                    </a:lnB>
                  </a:tcPr>
                </a:tc>
                <a:extLst>
                  <a:ext uri="{0D108BD9-81ED-4DB2-BD59-A6C34878D82A}">
                    <a16:rowId xmlns:a16="http://schemas.microsoft.com/office/drawing/2014/main" val="130917416"/>
                  </a:ext>
                </a:extLst>
              </a:tr>
              <a:tr h="1989406">
                <a:tc>
                  <a:txBody>
                    <a:bodyPr/>
                    <a:lstStyle/>
                    <a:p>
                      <a:endParaRPr lang="zh-CN" altLang="en-US" dirty="0"/>
                    </a:p>
                  </a:txBody>
                  <a:tcPr>
                    <a:lnL w="57150" cap="flat" cmpd="sng" algn="ctr">
                      <a:solidFill>
                        <a:srgbClr val="FFFF00"/>
                      </a:solidFill>
                      <a:prstDash val="solid"/>
                      <a:round/>
                      <a:headEnd type="none" w="med" len="med"/>
                      <a:tailEnd type="none" w="med" len="med"/>
                    </a:lnL>
                    <a:lnR w="57150" cap="flat" cmpd="sng" algn="ctr">
                      <a:solidFill>
                        <a:srgbClr val="FFFF00"/>
                      </a:solidFill>
                      <a:prstDash val="solid"/>
                      <a:round/>
                      <a:headEnd type="none" w="med" len="med"/>
                      <a:tailEnd type="none" w="med" len="med"/>
                    </a:lnR>
                    <a:lnT w="57150" cap="flat" cmpd="sng" algn="ctr">
                      <a:solidFill>
                        <a:srgbClr val="FFFF00"/>
                      </a:solidFill>
                      <a:prstDash val="solid"/>
                      <a:round/>
                      <a:headEnd type="none" w="med" len="med"/>
                      <a:tailEnd type="none" w="med" len="med"/>
                    </a:lnT>
                    <a:lnB w="57150" cmpd="sng">
                      <a:solidFill>
                        <a:srgbClr val="FFFF00"/>
                      </a:solidFill>
                      <a:prstDash val="solid"/>
                    </a:lnB>
                  </a:tcPr>
                </a:tc>
                <a:extLst>
                  <a:ext uri="{0D108BD9-81ED-4DB2-BD59-A6C34878D82A}">
                    <a16:rowId xmlns:a16="http://schemas.microsoft.com/office/drawing/2014/main" val="1475732255"/>
                  </a:ext>
                </a:extLst>
              </a:tr>
            </a:tbl>
          </a:graphicData>
        </a:graphic>
      </p:graphicFrame>
      <p:grpSp>
        <p:nvGrpSpPr>
          <p:cNvPr id="12" name="组合 11"/>
          <p:cNvGrpSpPr/>
          <p:nvPr/>
        </p:nvGrpSpPr>
        <p:grpSpPr>
          <a:xfrm>
            <a:off x="467544" y="3748216"/>
            <a:ext cx="2353250" cy="797367"/>
            <a:chOff x="2722806" y="3748216"/>
            <a:chExt cx="2353250" cy="797367"/>
          </a:xfrm>
        </p:grpSpPr>
        <p:sp>
          <p:nvSpPr>
            <p:cNvPr id="10" name="文本框 9"/>
            <p:cNvSpPr txBox="1"/>
            <p:nvPr/>
          </p:nvSpPr>
          <p:spPr>
            <a:xfrm>
              <a:off x="2722806" y="4083918"/>
              <a:ext cx="576064" cy="461665"/>
            </a:xfrm>
            <a:prstGeom prst="rect">
              <a:avLst/>
            </a:prstGeom>
            <a:noFill/>
          </p:spPr>
          <p:txBody>
            <a:bodyPr wrap="square" rtlCol="0">
              <a:spAutoFit/>
            </a:bodyPr>
            <a:lstStyle/>
            <a:p>
              <a:r>
                <a:rPr lang="en-US" altLang="zh-CN" sz="2400" b="1" dirty="0" smtClean="0">
                  <a:solidFill>
                    <a:schemeClr val="bg1"/>
                  </a:solidFill>
                  <a:latin typeface="Times New Roman" panose="02020603050405020304" pitchFamily="18" charset="0"/>
                  <a:cs typeface="Times New Roman" panose="02020603050405020304" pitchFamily="18" charset="0"/>
                </a:rPr>
                <a:t>0</a:t>
              </a:r>
              <a:endParaRPr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29" name="文本框 28"/>
            <p:cNvSpPr txBox="1"/>
            <p:nvPr/>
          </p:nvSpPr>
          <p:spPr>
            <a:xfrm>
              <a:off x="3810950" y="3748216"/>
              <a:ext cx="1265106" cy="461665"/>
            </a:xfrm>
            <a:prstGeom prst="rect">
              <a:avLst/>
            </a:prstGeom>
            <a:noFill/>
          </p:spPr>
          <p:txBody>
            <a:bodyPr wrap="square" rtlCol="0">
              <a:spAutoFit/>
            </a:bodyPr>
            <a:lstStyle/>
            <a:p>
              <a:r>
                <a:rPr lang="en-US" altLang="zh-CN" sz="2400" b="1" dirty="0" smtClean="0">
                  <a:solidFill>
                    <a:schemeClr val="bg1"/>
                  </a:solidFill>
                  <a:latin typeface="Times New Roman" panose="02020603050405020304" pitchFamily="18" charset="0"/>
                  <a:cs typeface="Times New Roman" panose="02020603050405020304" pitchFamily="18" charset="0"/>
                </a:rPr>
                <a:t>OS</a:t>
              </a:r>
              <a:r>
                <a:rPr lang="zh-CN" altLang="en-US" sz="2400" b="1" dirty="0" smtClean="0">
                  <a:solidFill>
                    <a:schemeClr val="bg1"/>
                  </a:solidFill>
                  <a:latin typeface="Times New Roman" panose="02020603050405020304" pitchFamily="18" charset="0"/>
                  <a:cs typeface="Times New Roman" panose="02020603050405020304" pitchFamily="18" charset="0"/>
                </a:rPr>
                <a:t>代码</a:t>
              </a:r>
              <a:endParaRPr lang="zh-CN" altLang="en-US" sz="2400" b="1" dirty="0">
                <a:solidFill>
                  <a:schemeClr val="bg1"/>
                </a:solidFill>
                <a:latin typeface="Times New Roman" panose="02020603050405020304" pitchFamily="18" charset="0"/>
                <a:cs typeface="Times New Roman" panose="02020603050405020304" pitchFamily="18" charset="0"/>
              </a:endParaRPr>
            </a:p>
          </p:txBody>
        </p:sp>
      </p:grpSp>
      <p:grpSp>
        <p:nvGrpSpPr>
          <p:cNvPr id="33" name="组合 32"/>
          <p:cNvGrpSpPr/>
          <p:nvPr/>
        </p:nvGrpSpPr>
        <p:grpSpPr>
          <a:xfrm>
            <a:off x="948586" y="2107764"/>
            <a:ext cx="2568699" cy="400110"/>
            <a:chOff x="3252267" y="2063234"/>
            <a:chExt cx="2568699" cy="400110"/>
          </a:xfrm>
        </p:grpSpPr>
        <p:cxnSp>
          <p:nvCxnSpPr>
            <p:cNvPr id="30" name="直接连接符 29"/>
            <p:cNvCxnSpPr/>
            <p:nvPr/>
          </p:nvCxnSpPr>
          <p:spPr>
            <a:xfrm>
              <a:off x="3252267" y="2067694"/>
              <a:ext cx="2520280" cy="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31" name="文本框 30"/>
            <p:cNvSpPr txBox="1"/>
            <p:nvPr/>
          </p:nvSpPr>
          <p:spPr>
            <a:xfrm>
              <a:off x="3300686" y="2063234"/>
              <a:ext cx="2520280" cy="400110"/>
            </a:xfrm>
            <a:prstGeom prst="rect">
              <a:avLst/>
            </a:prstGeom>
            <a:noFill/>
          </p:spPr>
          <p:txBody>
            <a:bodyPr wrap="square" rtlCol="0">
              <a:spAutoFit/>
            </a:bodyPr>
            <a:lstStyle/>
            <a:p>
              <a:r>
                <a:rPr lang="zh-CN" altLang="en-US" sz="2000" b="1" dirty="0">
                  <a:solidFill>
                    <a:schemeClr val="bg1"/>
                  </a:solidFill>
                  <a:latin typeface="Times New Roman" panose="02020603050405020304" pitchFamily="18" charset="0"/>
                  <a:cs typeface="Times New Roman" panose="02020603050405020304" pitchFamily="18" charset="0"/>
                </a:rPr>
                <a:t>全局描述符表</a:t>
              </a:r>
              <a:r>
                <a:rPr lang="en-US" altLang="zh-CN" sz="2000" b="1" dirty="0">
                  <a:solidFill>
                    <a:schemeClr val="bg1"/>
                  </a:solidFill>
                  <a:latin typeface="Times New Roman" panose="02020603050405020304" pitchFamily="18" charset="0"/>
                  <a:cs typeface="Times New Roman" panose="02020603050405020304" pitchFamily="18" charset="0"/>
                </a:rPr>
                <a:t>GDT</a:t>
              </a:r>
              <a:endParaRPr lang="zh-CN" altLang="en-US" sz="2000" b="1" dirty="0">
                <a:solidFill>
                  <a:schemeClr val="bg1"/>
                </a:solidFill>
                <a:latin typeface="Times New Roman" panose="02020603050405020304" pitchFamily="18" charset="0"/>
                <a:cs typeface="Times New Roman" panose="02020603050405020304" pitchFamily="18" charset="0"/>
              </a:endParaRPr>
            </a:p>
          </p:txBody>
        </p:sp>
      </p:grpSp>
      <p:grpSp>
        <p:nvGrpSpPr>
          <p:cNvPr id="35" name="组合 34"/>
          <p:cNvGrpSpPr/>
          <p:nvPr/>
        </p:nvGrpSpPr>
        <p:grpSpPr>
          <a:xfrm>
            <a:off x="948586" y="1707654"/>
            <a:ext cx="2592265" cy="400110"/>
            <a:chOff x="3177133" y="3007730"/>
            <a:chExt cx="2592265" cy="400110"/>
          </a:xfrm>
        </p:grpSpPr>
        <p:cxnSp>
          <p:nvCxnSpPr>
            <p:cNvPr id="36" name="直接连接符 35"/>
            <p:cNvCxnSpPr/>
            <p:nvPr/>
          </p:nvCxnSpPr>
          <p:spPr>
            <a:xfrm>
              <a:off x="3177133" y="3018732"/>
              <a:ext cx="2520280" cy="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37" name="文本框 36"/>
            <p:cNvSpPr txBox="1"/>
            <p:nvPr/>
          </p:nvSpPr>
          <p:spPr>
            <a:xfrm>
              <a:off x="3249118" y="3007730"/>
              <a:ext cx="2520280" cy="400110"/>
            </a:xfrm>
            <a:prstGeom prst="rect">
              <a:avLst/>
            </a:prstGeom>
            <a:noFill/>
          </p:spPr>
          <p:txBody>
            <a:bodyPr wrap="square" rtlCol="0">
              <a:spAutoFit/>
            </a:bodyPr>
            <a:lstStyle/>
            <a:p>
              <a:r>
                <a:rPr lang="zh-CN" altLang="en-US" sz="2000" b="1" dirty="0" smtClean="0">
                  <a:solidFill>
                    <a:schemeClr val="bg1"/>
                  </a:solidFill>
                  <a:latin typeface="Times New Roman" panose="02020603050405020304" pitchFamily="18" charset="0"/>
                  <a:cs typeface="Times New Roman" panose="02020603050405020304" pitchFamily="18" charset="0"/>
                </a:rPr>
                <a:t>局部描述符</a:t>
              </a:r>
              <a:r>
                <a:rPr lang="zh-CN" altLang="en-US" sz="2000" b="1" dirty="0">
                  <a:solidFill>
                    <a:schemeClr val="bg1"/>
                  </a:solidFill>
                  <a:latin typeface="Times New Roman" panose="02020603050405020304" pitchFamily="18" charset="0"/>
                  <a:cs typeface="Times New Roman" panose="02020603050405020304" pitchFamily="18" charset="0"/>
                </a:rPr>
                <a:t>表 </a:t>
              </a:r>
              <a:r>
                <a:rPr lang="en-US" altLang="zh-CN" sz="2000" b="1" dirty="0" smtClean="0">
                  <a:solidFill>
                    <a:schemeClr val="bg1"/>
                  </a:solidFill>
                  <a:latin typeface="Times New Roman" panose="02020603050405020304" pitchFamily="18" charset="0"/>
                  <a:cs typeface="Times New Roman" panose="02020603050405020304" pitchFamily="18" charset="0"/>
                </a:rPr>
                <a:t>IDT</a:t>
              </a:r>
              <a:endParaRPr lang="zh-CN" altLang="en-US" sz="2000" b="1" dirty="0">
                <a:solidFill>
                  <a:schemeClr val="bg1"/>
                </a:solidFill>
                <a:latin typeface="Times New Roman" panose="02020603050405020304" pitchFamily="18" charset="0"/>
                <a:cs typeface="Times New Roman" panose="02020603050405020304" pitchFamily="18" charset="0"/>
              </a:endParaRPr>
            </a:p>
          </p:txBody>
        </p:sp>
      </p:grpSp>
      <p:grpSp>
        <p:nvGrpSpPr>
          <p:cNvPr id="44" name="组合 43"/>
          <p:cNvGrpSpPr/>
          <p:nvPr/>
        </p:nvGrpSpPr>
        <p:grpSpPr>
          <a:xfrm>
            <a:off x="948586" y="2585779"/>
            <a:ext cx="2656274" cy="728704"/>
            <a:chOff x="3995935" y="2585779"/>
            <a:chExt cx="1800178" cy="1194875"/>
          </a:xfrm>
        </p:grpSpPr>
        <p:sp>
          <p:nvSpPr>
            <p:cNvPr id="34" name="文本框 33"/>
            <p:cNvSpPr txBox="1"/>
            <p:nvPr/>
          </p:nvSpPr>
          <p:spPr>
            <a:xfrm>
              <a:off x="3995935" y="2619915"/>
              <a:ext cx="1800178" cy="1160739"/>
            </a:xfrm>
            <a:prstGeom prst="rect">
              <a:avLst/>
            </a:prstGeom>
            <a:noFill/>
          </p:spPr>
          <p:txBody>
            <a:bodyPr wrap="square" rtlCol="0">
              <a:spAutoFit/>
            </a:bodyPr>
            <a:lstStyle/>
            <a:p>
              <a:r>
                <a:rPr lang="zh-CN" altLang="en-US" sz="2000" b="1" dirty="0">
                  <a:solidFill>
                    <a:schemeClr val="bg1"/>
                  </a:solidFill>
                  <a:latin typeface="Times New Roman" panose="02020603050405020304" pitchFamily="18" charset="0"/>
                  <a:cs typeface="Times New Roman" panose="02020603050405020304" pitchFamily="18" charset="0"/>
                </a:rPr>
                <a:t>管理内存的</a:t>
              </a:r>
              <a:r>
                <a:rPr lang="en-US" altLang="zh-CN" sz="2000" b="1" dirty="0" err="1" smtClean="0">
                  <a:solidFill>
                    <a:schemeClr val="bg1"/>
                  </a:solidFill>
                  <a:latin typeface="Times New Roman" panose="02020603050405020304" pitchFamily="18" charset="0"/>
                  <a:cs typeface="Times New Roman" panose="02020603050405020304" pitchFamily="18" charset="0"/>
                </a:rPr>
                <a:t>mem_map</a:t>
              </a:r>
              <a:r>
                <a:rPr lang="zh-CN" altLang="en-US" sz="2000" b="1" dirty="0" smtClean="0">
                  <a:solidFill>
                    <a:schemeClr val="bg1"/>
                  </a:solidFill>
                  <a:latin typeface="Times New Roman" panose="02020603050405020304" pitchFamily="18" charset="0"/>
                  <a:cs typeface="Times New Roman" panose="02020603050405020304" pitchFamily="18" charset="0"/>
                </a:rPr>
                <a:t>位图数据结构</a:t>
              </a:r>
              <a:endParaRPr lang="zh-CN" altLang="en-US" sz="2000" b="1" dirty="0">
                <a:solidFill>
                  <a:schemeClr val="bg1"/>
                </a:solidFill>
                <a:latin typeface="Times New Roman" panose="02020603050405020304" pitchFamily="18" charset="0"/>
                <a:cs typeface="Times New Roman" panose="02020603050405020304" pitchFamily="18" charset="0"/>
              </a:endParaRPr>
            </a:p>
          </p:txBody>
        </p:sp>
        <p:grpSp>
          <p:nvGrpSpPr>
            <p:cNvPr id="43" name="组合 42"/>
            <p:cNvGrpSpPr/>
            <p:nvPr/>
          </p:nvGrpSpPr>
          <p:grpSpPr>
            <a:xfrm>
              <a:off x="3995936" y="2585779"/>
              <a:ext cx="1728192" cy="1162437"/>
              <a:chOff x="3995936" y="2585779"/>
              <a:chExt cx="1728192" cy="1162437"/>
            </a:xfrm>
          </p:grpSpPr>
          <p:cxnSp>
            <p:nvCxnSpPr>
              <p:cNvPr id="40" name="直接连接符 39"/>
              <p:cNvCxnSpPr/>
              <p:nvPr/>
            </p:nvCxnSpPr>
            <p:spPr>
              <a:xfrm>
                <a:off x="3995936" y="2585779"/>
                <a:ext cx="0" cy="1162437"/>
              </a:xfrm>
              <a:prstGeom prst="line">
                <a:avLst/>
              </a:prstGeom>
              <a:ln w="38100"/>
            </p:spPr>
            <p:style>
              <a:lnRef idx="1">
                <a:schemeClr val="accent3"/>
              </a:lnRef>
              <a:fillRef idx="0">
                <a:schemeClr val="accent3"/>
              </a:fillRef>
              <a:effectRef idx="0">
                <a:schemeClr val="accent3"/>
              </a:effectRef>
              <a:fontRef idx="minor">
                <a:schemeClr val="tx1"/>
              </a:fontRef>
            </p:style>
          </p:cxnSp>
          <p:cxnSp>
            <p:nvCxnSpPr>
              <p:cNvPr id="42" name="直接连接符 41"/>
              <p:cNvCxnSpPr/>
              <p:nvPr/>
            </p:nvCxnSpPr>
            <p:spPr>
              <a:xfrm>
                <a:off x="3995936" y="3748216"/>
                <a:ext cx="1728192" cy="0"/>
              </a:xfrm>
              <a:prstGeom prst="line">
                <a:avLst/>
              </a:prstGeom>
              <a:ln w="38100"/>
            </p:spPr>
            <p:style>
              <a:lnRef idx="1">
                <a:schemeClr val="accent3"/>
              </a:lnRef>
              <a:fillRef idx="0">
                <a:schemeClr val="accent3"/>
              </a:fillRef>
              <a:effectRef idx="0">
                <a:schemeClr val="accent3"/>
              </a:effectRef>
              <a:fontRef idx="minor">
                <a:schemeClr val="tx1"/>
              </a:fontRef>
            </p:style>
          </p:cxnSp>
        </p:grpSp>
      </p:grpSp>
      <p:grpSp>
        <p:nvGrpSpPr>
          <p:cNvPr id="49" name="组合 48"/>
          <p:cNvGrpSpPr/>
          <p:nvPr/>
        </p:nvGrpSpPr>
        <p:grpSpPr>
          <a:xfrm>
            <a:off x="948586" y="1068537"/>
            <a:ext cx="2520280" cy="400110"/>
            <a:chOff x="3203848" y="1068537"/>
            <a:chExt cx="2520280" cy="400110"/>
          </a:xfrm>
        </p:grpSpPr>
        <p:cxnSp>
          <p:nvCxnSpPr>
            <p:cNvPr id="47" name="直接连接符 46"/>
            <p:cNvCxnSpPr/>
            <p:nvPr/>
          </p:nvCxnSpPr>
          <p:spPr>
            <a:xfrm>
              <a:off x="3203848" y="1419622"/>
              <a:ext cx="252028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3627546" y="1068537"/>
              <a:ext cx="1872208" cy="400110"/>
            </a:xfrm>
            <a:prstGeom prst="rect">
              <a:avLst/>
            </a:prstGeom>
            <a:noFill/>
          </p:spPr>
          <p:txBody>
            <a:bodyPr wrap="square" rtlCol="0">
              <a:spAutoFit/>
            </a:bodyPr>
            <a:lstStyle/>
            <a:p>
              <a:r>
                <a:rPr lang="zh-CN" altLang="en-US" sz="2000" b="1" dirty="0">
                  <a:solidFill>
                    <a:schemeClr val="bg1"/>
                  </a:solidFill>
                  <a:latin typeface="Times New Roman" panose="02020603050405020304" pitchFamily="18" charset="0"/>
                  <a:cs typeface="Times New Roman" panose="02020603050405020304" pitchFamily="18" charset="0"/>
                </a:rPr>
                <a:t>各种应用程序</a:t>
              </a:r>
            </a:p>
          </p:txBody>
        </p:sp>
      </p:grpSp>
      <p:grpSp>
        <p:nvGrpSpPr>
          <p:cNvPr id="53" name="组合 52"/>
          <p:cNvGrpSpPr/>
          <p:nvPr/>
        </p:nvGrpSpPr>
        <p:grpSpPr>
          <a:xfrm>
            <a:off x="3653852" y="1062443"/>
            <a:ext cx="1515231" cy="3483140"/>
            <a:chOff x="4973033" y="1062443"/>
            <a:chExt cx="1515231" cy="3483140"/>
          </a:xfrm>
        </p:grpSpPr>
        <p:sp>
          <p:nvSpPr>
            <p:cNvPr id="50" name="文本框 49"/>
            <p:cNvSpPr txBox="1"/>
            <p:nvPr/>
          </p:nvSpPr>
          <p:spPr>
            <a:xfrm>
              <a:off x="5119809" y="1650419"/>
              <a:ext cx="1368455" cy="1938992"/>
            </a:xfrm>
            <a:prstGeom prst="rect">
              <a:avLst/>
            </a:prstGeom>
            <a:noFill/>
          </p:spPr>
          <p:txBody>
            <a:bodyPr wrap="square" rtlCol="0">
              <a:spAutoFit/>
            </a:bodyPr>
            <a:lstStyle/>
            <a:p>
              <a:r>
                <a:rPr lang="zh-CN" altLang="en-US" sz="2000" b="1" dirty="0" smtClean="0">
                  <a:solidFill>
                    <a:schemeClr val="bg1"/>
                  </a:solidFill>
                  <a:latin typeface="Times New Roman" panose="02020603050405020304" pitchFamily="18" charset="0"/>
                  <a:cs typeface="Times New Roman" panose="02020603050405020304" pitchFamily="18" charset="0"/>
                </a:rPr>
                <a:t>应用程序是如何穿入</a:t>
              </a:r>
              <a:r>
                <a:rPr lang="zh-CN" altLang="en-US" sz="2000" b="1" dirty="0">
                  <a:solidFill>
                    <a:schemeClr val="bg1"/>
                  </a:solidFill>
                  <a:latin typeface="Times New Roman" panose="02020603050405020304" pitchFamily="18" charset="0"/>
                  <a:cs typeface="Times New Roman" panose="02020603050405020304" pitchFamily="18" charset="0"/>
                </a:rPr>
                <a:t>到</a:t>
              </a:r>
              <a:r>
                <a:rPr lang="en-US" altLang="zh-CN" sz="2000" b="1" dirty="0">
                  <a:solidFill>
                    <a:schemeClr val="bg1"/>
                  </a:solidFill>
                  <a:latin typeface="Times New Roman" panose="02020603050405020304" pitchFamily="18" charset="0"/>
                  <a:cs typeface="Times New Roman" panose="02020603050405020304" pitchFamily="18" charset="0"/>
                </a:rPr>
                <a:t>OS</a:t>
              </a:r>
              <a:r>
                <a:rPr lang="zh-CN" altLang="en-US" sz="2000" b="1" dirty="0">
                  <a:solidFill>
                    <a:schemeClr val="bg1"/>
                  </a:solidFill>
                  <a:latin typeface="Times New Roman" panose="02020603050405020304" pitchFamily="18" charset="0"/>
                  <a:cs typeface="Times New Roman" panose="02020603050405020304" pitchFamily="18" charset="0"/>
                </a:rPr>
                <a:t>代码部分来使</a:t>
              </a:r>
              <a:r>
                <a:rPr lang="zh-CN" altLang="en-US" sz="2000" b="1" dirty="0" smtClean="0">
                  <a:solidFill>
                    <a:schemeClr val="bg1"/>
                  </a:solidFill>
                  <a:latin typeface="Times New Roman" panose="02020603050405020304" pitchFamily="18" charset="0"/>
                  <a:cs typeface="Times New Roman" panose="02020603050405020304" pitchFamily="18" charset="0"/>
                </a:rPr>
                <a:t>用操作系统</a:t>
              </a:r>
              <a:r>
                <a:rPr lang="zh-CN" altLang="en-US" sz="2000" b="1" dirty="0">
                  <a:solidFill>
                    <a:schemeClr val="bg1"/>
                  </a:solidFill>
                  <a:latin typeface="Times New Roman" panose="02020603050405020304" pitchFamily="18" charset="0"/>
                  <a:cs typeface="Times New Roman" panose="02020603050405020304" pitchFamily="18" charset="0"/>
                </a:rPr>
                <a:t>呢？</a:t>
              </a:r>
            </a:p>
          </p:txBody>
        </p:sp>
        <p:cxnSp>
          <p:nvCxnSpPr>
            <p:cNvPr id="52" name="直接箭头连接符 51"/>
            <p:cNvCxnSpPr/>
            <p:nvPr/>
          </p:nvCxnSpPr>
          <p:spPr>
            <a:xfrm>
              <a:off x="4973033" y="1062443"/>
              <a:ext cx="0" cy="348314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矩形标注 1"/>
          <p:cNvSpPr/>
          <p:nvPr/>
        </p:nvSpPr>
        <p:spPr>
          <a:xfrm>
            <a:off x="5169083" y="1229306"/>
            <a:ext cx="2664296" cy="2952328"/>
          </a:xfrm>
          <a:prstGeom prst="wedgeRectCallout">
            <a:avLst>
              <a:gd name="adj1" fmla="val -115155"/>
              <a:gd name="adj2" fmla="val 16089"/>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altLang="zh-CN" b="1" dirty="0" smtClean="0"/>
              <a:t>1</a:t>
            </a:r>
            <a:r>
              <a:rPr lang="zh-CN" altLang="en-US" b="1" dirty="0" smtClean="0"/>
              <a:t>、存放目前</a:t>
            </a:r>
            <a:r>
              <a:rPr lang="zh-CN" altLang="en-US" b="1" dirty="0"/>
              <a:t>还有多少容量的内容可供使用，哪些内存是空闲的可使用的，哪些是已经被使用过的</a:t>
            </a:r>
          </a:p>
          <a:p>
            <a:r>
              <a:rPr lang="en-US" altLang="zh-CN" b="1" dirty="0" smtClean="0"/>
              <a:t>2</a:t>
            </a:r>
            <a:r>
              <a:rPr lang="zh-CN" altLang="en-US" b="1" dirty="0" smtClean="0"/>
              <a:t>、数组</a:t>
            </a:r>
            <a:r>
              <a:rPr lang="zh-CN" altLang="en-US" b="1" dirty="0"/>
              <a:t>中的每个项用来表示内存中一段固定大小的</a:t>
            </a:r>
            <a:r>
              <a:rPr lang="zh-CN" altLang="en-US" b="1" dirty="0" smtClean="0"/>
              <a:t>内存</a:t>
            </a:r>
            <a:endParaRPr lang="en-US" altLang="zh-CN" b="1" dirty="0" smtClean="0"/>
          </a:p>
          <a:p>
            <a:r>
              <a:rPr lang="en-US" altLang="zh-CN" b="1" dirty="0" smtClean="0"/>
              <a:t>3</a:t>
            </a:r>
            <a:r>
              <a:rPr lang="zh-CN" altLang="en-US" b="1" dirty="0" smtClean="0"/>
              <a:t>、初始化</a:t>
            </a:r>
            <a:r>
              <a:rPr lang="zh-CN" altLang="en-US" b="1" dirty="0"/>
              <a:t>时将所有数组项中的内容都设置为</a:t>
            </a:r>
            <a:r>
              <a:rPr lang="en-US" altLang="zh-CN" b="1" dirty="0"/>
              <a:t>0</a:t>
            </a:r>
            <a:endParaRPr lang="zh-CN" altLang="en-US" b="1" dirty="0"/>
          </a:p>
        </p:txBody>
      </p:sp>
    </p:spTree>
    <p:extLst>
      <p:ext uri="{BB962C8B-B14F-4D97-AF65-F5344CB8AC3E}">
        <p14:creationId xmlns:p14="http://schemas.microsoft.com/office/powerpoint/2010/main" val="340897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fade">
                                      <p:cBhvr>
                                        <p:cTn id="37" dur="500"/>
                                        <p:tgtEl>
                                          <p:spTgt spid="4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什么是操作系统接口</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986037"/>
            <a:ext cx="5256584" cy="1107996"/>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仍然从常识</a:t>
            </a:r>
            <a:r>
              <a:rPr lang="zh-CN" altLang="en-US" sz="2200" b="1" dirty="0" smtClean="0">
                <a:solidFill>
                  <a:schemeClr val="bg1"/>
                </a:solidFill>
                <a:latin typeface="+mn-ea"/>
              </a:rPr>
              <a:t>开始</a:t>
            </a:r>
            <a:r>
              <a:rPr lang="en-US" altLang="zh-CN" sz="2200" b="1" dirty="0" smtClean="0">
                <a:solidFill>
                  <a:schemeClr val="bg1"/>
                </a:solidFill>
                <a:latin typeface="+mn-ea"/>
              </a:rPr>
              <a:t>---</a:t>
            </a:r>
            <a:r>
              <a:rPr lang="zh-CN" altLang="en-US" sz="2200" b="1" dirty="0" smtClean="0">
                <a:solidFill>
                  <a:schemeClr val="bg1"/>
                </a:solidFill>
                <a:latin typeface="+mn-ea"/>
              </a:rPr>
              <a:t>日常生活</a:t>
            </a:r>
            <a:r>
              <a:rPr lang="zh-CN" altLang="en-US" sz="2200" b="1" dirty="0">
                <a:solidFill>
                  <a:schemeClr val="bg1"/>
                </a:solidFill>
                <a:latin typeface="+mn-ea"/>
              </a:rPr>
              <a:t>中有很多接口：电源插座；汽车油门</a:t>
            </a:r>
            <a:r>
              <a:rPr lang="en-US" altLang="zh-CN" sz="2200" b="1" dirty="0">
                <a:solidFill>
                  <a:schemeClr val="bg1"/>
                </a:solidFill>
                <a:latin typeface="+mn-ea"/>
              </a:rPr>
              <a:t>…</a:t>
            </a:r>
            <a:endParaRPr lang="zh-CN" altLang="en-US" sz="2200" b="1" dirty="0">
              <a:solidFill>
                <a:schemeClr val="bg1"/>
              </a:solidFill>
              <a:latin typeface="+mn-ea"/>
            </a:endParaRPr>
          </a:p>
        </p:txBody>
      </p:sp>
      <p:pic>
        <p:nvPicPr>
          <p:cNvPr id="3" name="图片 2"/>
          <p:cNvPicPr>
            <a:picLocks noChangeAspect="1"/>
          </p:cNvPicPr>
          <p:nvPr/>
        </p:nvPicPr>
        <p:blipFill>
          <a:blip r:embed="rId3"/>
          <a:stretch>
            <a:fillRect/>
          </a:stretch>
        </p:blipFill>
        <p:spPr>
          <a:xfrm>
            <a:off x="2051720" y="1995686"/>
            <a:ext cx="4861981" cy="1630821"/>
          </a:xfrm>
          <a:prstGeom prst="rect">
            <a:avLst/>
          </a:prstGeom>
        </p:spPr>
      </p:pic>
      <p:sp>
        <p:nvSpPr>
          <p:cNvPr id="41" name="矩形 40"/>
          <p:cNvSpPr/>
          <p:nvPr/>
        </p:nvSpPr>
        <p:spPr>
          <a:xfrm>
            <a:off x="827584" y="3595625"/>
            <a:ext cx="6552728" cy="1107996"/>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什么</a:t>
            </a:r>
            <a:r>
              <a:rPr lang="zh-CN" altLang="en-US" sz="2200" b="1" dirty="0">
                <a:solidFill>
                  <a:schemeClr val="bg1"/>
                </a:solidFill>
                <a:latin typeface="+mn-ea"/>
              </a:rPr>
              <a:t>是接口</a:t>
            </a:r>
            <a:r>
              <a:rPr lang="en-US" altLang="zh-CN" sz="2200" b="1" dirty="0">
                <a:solidFill>
                  <a:schemeClr val="bg1"/>
                </a:solidFill>
                <a:latin typeface="+mn-ea"/>
              </a:rPr>
              <a:t>?</a:t>
            </a:r>
          </a:p>
          <a:p>
            <a:pPr marL="0" lvl="1" algn="just">
              <a:lnSpc>
                <a:spcPct val="150000"/>
              </a:lnSpc>
              <a:buClr>
                <a:schemeClr val="accent6">
                  <a:lumMod val="60000"/>
                  <a:lumOff val="40000"/>
                </a:schemeClr>
              </a:buClr>
            </a:pPr>
            <a:r>
              <a:rPr lang="zh-CN" altLang="en-US" sz="2200" b="1" dirty="0" smtClean="0">
                <a:solidFill>
                  <a:schemeClr val="bg1"/>
                </a:solidFill>
                <a:latin typeface="+mn-ea"/>
              </a:rPr>
              <a:t>  连接</a:t>
            </a:r>
            <a:r>
              <a:rPr lang="zh-CN" altLang="en-US" sz="2200" b="1" dirty="0">
                <a:solidFill>
                  <a:schemeClr val="bg1"/>
                </a:solidFill>
                <a:latin typeface="+mn-ea"/>
              </a:rPr>
              <a:t>两个东西、信号转换、屏蔽细节</a:t>
            </a:r>
            <a:r>
              <a:rPr lang="en-US" altLang="zh-CN" sz="2200" b="1" dirty="0">
                <a:solidFill>
                  <a:schemeClr val="bg1"/>
                </a:solidFill>
                <a:latin typeface="+mn-ea"/>
              </a:rPr>
              <a:t>…</a:t>
            </a:r>
            <a:endParaRPr lang="zh-CN" altLang="en-US" sz="2200" b="1" dirty="0">
              <a:solidFill>
                <a:schemeClr val="bg1"/>
              </a:solidFill>
              <a:latin typeface="+mn-ea"/>
            </a:endParaRPr>
          </a:p>
        </p:txBody>
      </p:sp>
    </p:spTree>
    <p:extLst>
      <p:ext uri="{BB962C8B-B14F-4D97-AF65-F5344CB8AC3E}">
        <p14:creationId xmlns:p14="http://schemas.microsoft.com/office/powerpoint/2010/main" val="3123235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1">
                                            <p:txEl>
                                              <p:pRg st="0" end="0"/>
                                            </p:txEl>
                                          </p:spTgt>
                                        </p:tgtEl>
                                        <p:attrNameLst>
                                          <p:attrName>style.visibility</p:attrName>
                                        </p:attrNameLst>
                                      </p:cBhvr>
                                      <p:to>
                                        <p:strVal val="visible"/>
                                      </p:to>
                                    </p:set>
                                    <p:animEffect transition="in" filter="wipe(left)">
                                      <p:cBhvr>
                                        <p:cTn id="17" dur="500"/>
                                        <p:tgtEl>
                                          <p:spTgt spid="4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1">
                                            <p:txEl>
                                              <p:pRg st="1" end="1"/>
                                            </p:txEl>
                                          </p:spTgt>
                                        </p:tgtEl>
                                        <p:attrNameLst>
                                          <p:attrName>style.visibility</p:attrName>
                                        </p:attrNameLst>
                                      </p:cBhvr>
                                      <p:to>
                                        <p:strVal val="visible"/>
                                      </p:to>
                                    </p:set>
                                    <p:animEffect transition="in" filter="wipe(left)">
                                      <p:cBhvr>
                                        <p:cTn id="22" dur="500"/>
                                        <p:tgtEl>
                                          <p:spTgt spid="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什么是操作系统接口</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986037"/>
            <a:ext cx="5256584" cy="1615827"/>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连接上层用户和操作系统</a:t>
            </a:r>
            <a:r>
              <a:rPr lang="zh-CN" altLang="en-US" sz="2200" b="1" dirty="0" smtClean="0">
                <a:solidFill>
                  <a:schemeClr val="bg1"/>
                </a:solidFill>
                <a:latin typeface="+mn-ea"/>
              </a:rPr>
              <a:t>软件</a:t>
            </a:r>
            <a:endParaRPr lang="en-US" altLang="zh-CN" sz="22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问题：操作系统直接面对用户</a:t>
            </a:r>
            <a:r>
              <a:rPr lang="zh-CN" altLang="en-US" sz="2200" b="1" dirty="0" smtClean="0">
                <a:solidFill>
                  <a:schemeClr val="bg1"/>
                </a:solidFill>
                <a:latin typeface="+mn-ea"/>
              </a:rPr>
              <a:t>吗</a:t>
            </a:r>
            <a:r>
              <a:rPr lang="en-US" altLang="zh-CN" sz="2200" b="1" dirty="0" smtClean="0">
                <a:solidFill>
                  <a:schemeClr val="bg1"/>
                </a:solidFill>
                <a:latin typeface="+mn-ea"/>
              </a:rPr>
              <a:t>?</a:t>
            </a:r>
          </a:p>
          <a:p>
            <a:pPr marL="0" lvl="1" algn="just">
              <a:lnSpc>
                <a:spcPct val="150000"/>
              </a:lnSpc>
              <a:buClr>
                <a:schemeClr val="accent6">
                  <a:lumMod val="60000"/>
                  <a:lumOff val="40000"/>
                </a:schemeClr>
              </a:buClr>
            </a:pPr>
            <a:r>
              <a:rPr lang="zh-CN" altLang="en-US" sz="2200" b="1" dirty="0" smtClean="0">
                <a:solidFill>
                  <a:schemeClr val="bg1"/>
                </a:solidFill>
                <a:latin typeface="+mn-ea"/>
              </a:rPr>
              <a:t>  即用户是怎么用操作系统的</a:t>
            </a:r>
            <a:r>
              <a:rPr lang="en-US" altLang="zh-CN" sz="2200" b="1" dirty="0" smtClean="0">
                <a:solidFill>
                  <a:schemeClr val="bg1"/>
                </a:solidFill>
                <a:latin typeface="+mn-ea"/>
              </a:rPr>
              <a:t>?...</a:t>
            </a:r>
            <a:endParaRPr lang="zh-CN" altLang="en-US" sz="2200" b="1" dirty="0">
              <a:solidFill>
                <a:schemeClr val="bg1"/>
              </a:solidFill>
              <a:latin typeface="+mn-ea"/>
            </a:endParaRPr>
          </a:p>
        </p:txBody>
      </p:sp>
      <p:sp>
        <p:nvSpPr>
          <p:cNvPr id="41" name="矩形 40"/>
          <p:cNvSpPr/>
          <p:nvPr/>
        </p:nvSpPr>
        <p:spPr>
          <a:xfrm>
            <a:off x="827584" y="4110731"/>
            <a:ext cx="6912768" cy="60016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由上图可知，用户可以使用“</a:t>
            </a:r>
            <a:r>
              <a:rPr lang="zh-CN" altLang="en-US" sz="2200" b="1" dirty="0" smtClean="0">
                <a:solidFill>
                  <a:srgbClr val="FFFF00"/>
                </a:solidFill>
                <a:latin typeface="+mn-ea"/>
              </a:rPr>
              <a:t>命令</a:t>
            </a:r>
            <a:r>
              <a:rPr lang="zh-CN" altLang="en-US" sz="2200" b="1" dirty="0" smtClean="0">
                <a:solidFill>
                  <a:schemeClr val="bg1"/>
                </a:solidFill>
                <a:latin typeface="+mn-ea"/>
              </a:rPr>
              <a:t>”来使用操作系</a:t>
            </a:r>
            <a:endParaRPr lang="zh-CN" altLang="en-US" sz="2200" b="1" dirty="0">
              <a:solidFill>
                <a:schemeClr val="bg1"/>
              </a:solidFill>
              <a:latin typeface="+mn-ea"/>
            </a:endParaRPr>
          </a:p>
        </p:txBody>
      </p:sp>
      <p:pic>
        <p:nvPicPr>
          <p:cNvPr id="5" name="图片 4"/>
          <p:cNvPicPr>
            <a:picLocks noChangeAspect="1"/>
          </p:cNvPicPr>
          <p:nvPr/>
        </p:nvPicPr>
        <p:blipFill>
          <a:blip r:embed="rId3"/>
          <a:stretch>
            <a:fillRect/>
          </a:stretch>
        </p:blipFill>
        <p:spPr>
          <a:xfrm>
            <a:off x="1403648" y="2470378"/>
            <a:ext cx="5256584" cy="1673019"/>
          </a:xfrm>
          <a:prstGeom prst="rect">
            <a:avLst/>
          </a:prstGeom>
        </p:spPr>
      </p:pic>
    </p:spTree>
    <p:extLst>
      <p:ext uri="{BB962C8B-B14F-4D97-AF65-F5344CB8AC3E}">
        <p14:creationId xmlns:p14="http://schemas.microsoft.com/office/powerpoint/2010/main" val="22048032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
                                            <p:txEl>
                                              <p:pRg st="0" end="0"/>
                                            </p:txEl>
                                          </p:spTgt>
                                        </p:tgtEl>
                                        <p:attrNameLst>
                                          <p:attrName>style.visibility</p:attrName>
                                        </p:attrNameLst>
                                      </p:cBhvr>
                                      <p:to>
                                        <p:strVal val="visible"/>
                                      </p:to>
                                    </p:set>
                                    <p:animEffect transition="in" filter="wipe(left)">
                                      <p:cBhvr>
                                        <p:cTn id="27" dur="50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什么是操作系统接口</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9" name="矩形 28"/>
          <p:cNvSpPr/>
          <p:nvPr/>
        </p:nvSpPr>
        <p:spPr>
          <a:xfrm>
            <a:off x="835490" y="1162886"/>
            <a:ext cx="5256584" cy="1107996"/>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用户如何使用计算机</a:t>
            </a:r>
            <a:r>
              <a:rPr lang="en-US" altLang="zh-CN" sz="2200" b="1" dirty="0" smtClean="0">
                <a:solidFill>
                  <a:schemeClr val="bg1"/>
                </a:solidFill>
                <a:latin typeface="+mn-ea"/>
              </a:rPr>
              <a:t>?</a:t>
            </a:r>
          </a:p>
          <a:p>
            <a:pPr marL="342900" lvl="1" indent="17463" algn="just">
              <a:lnSpc>
                <a:spcPct val="150000"/>
              </a:lnSpc>
              <a:buClr>
                <a:srgbClr val="BCE292"/>
              </a:buClr>
              <a:buFont typeface="Wingdings" panose="05000000000000000000" pitchFamily="2" charset="2"/>
              <a:buChar char="u"/>
            </a:pPr>
            <a:r>
              <a:rPr lang="zh-CN" altLang="en-US" sz="2200" b="1" dirty="0" smtClean="0">
                <a:solidFill>
                  <a:srgbClr val="FFFF00"/>
                </a:solidFill>
                <a:latin typeface="+mn-ea"/>
              </a:rPr>
              <a:t>命令行</a:t>
            </a:r>
            <a:r>
              <a:rPr lang="zh-CN" altLang="en-US" sz="2200" b="1" dirty="0" smtClean="0">
                <a:solidFill>
                  <a:schemeClr val="bg1"/>
                </a:solidFill>
                <a:latin typeface="+mn-ea"/>
              </a:rPr>
              <a:t>：</a:t>
            </a:r>
            <a:endParaRPr lang="zh-CN" altLang="en-US" sz="2200" b="1" dirty="0">
              <a:solidFill>
                <a:schemeClr val="bg1"/>
              </a:solidFill>
              <a:latin typeface="+mn-ea"/>
            </a:endParaRPr>
          </a:p>
        </p:txBody>
      </p:sp>
      <p:pic>
        <p:nvPicPr>
          <p:cNvPr id="7" name="图片 6"/>
          <p:cNvPicPr>
            <a:picLocks noChangeAspect="1"/>
          </p:cNvPicPr>
          <p:nvPr/>
        </p:nvPicPr>
        <p:blipFill>
          <a:blip r:embed="rId3"/>
          <a:stretch>
            <a:fillRect/>
          </a:stretch>
        </p:blipFill>
        <p:spPr>
          <a:xfrm>
            <a:off x="2699792" y="1852410"/>
            <a:ext cx="4709568" cy="495343"/>
          </a:xfrm>
          <a:prstGeom prst="rect">
            <a:avLst/>
          </a:prstGeom>
        </p:spPr>
      </p:pic>
      <p:sp>
        <p:nvSpPr>
          <p:cNvPr id="30" name="矩形 29"/>
          <p:cNvSpPr/>
          <p:nvPr/>
        </p:nvSpPr>
        <p:spPr>
          <a:xfrm>
            <a:off x="827584" y="2498915"/>
            <a:ext cx="5256584" cy="600164"/>
          </a:xfrm>
          <a:prstGeom prst="rect">
            <a:avLst/>
          </a:prstGeom>
        </p:spPr>
        <p:txBody>
          <a:bodyPr wrap="square">
            <a:spAutoFit/>
          </a:bodyPr>
          <a:lstStyle/>
          <a:p>
            <a:pPr marL="342900" lvl="1" indent="17463" algn="just">
              <a:lnSpc>
                <a:spcPct val="150000"/>
              </a:lnSpc>
              <a:buClr>
                <a:srgbClr val="BCE292"/>
              </a:buClr>
              <a:buFont typeface="Wingdings" panose="05000000000000000000" pitchFamily="2" charset="2"/>
              <a:buChar char="u"/>
            </a:pPr>
            <a:r>
              <a:rPr lang="zh-CN" altLang="en-US" sz="2200" b="1" dirty="0" smtClean="0">
                <a:solidFill>
                  <a:srgbClr val="FFFF00"/>
                </a:solidFill>
                <a:latin typeface="+mn-ea"/>
              </a:rPr>
              <a:t>图形按钮</a:t>
            </a:r>
            <a:r>
              <a:rPr lang="zh-CN" altLang="en-US" sz="2200" b="1" dirty="0" smtClean="0">
                <a:solidFill>
                  <a:schemeClr val="bg1"/>
                </a:solidFill>
                <a:latin typeface="+mn-ea"/>
              </a:rPr>
              <a:t>：</a:t>
            </a:r>
            <a:endParaRPr lang="zh-CN" altLang="en-US" sz="2200" b="1" dirty="0">
              <a:solidFill>
                <a:schemeClr val="bg1"/>
              </a:solidFill>
              <a:latin typeface="+mn-ea"/>
            </a:endParaRPr>
          </a:p>
        </p:txBody>
      </p:sp>
      <p:pic>
        <p:nvPicPr>
          <p:cNvPr id="8" name="图片 7"/>
          <p:cNvPicPr>
            <a:picLocks noChangeAspect="1"/>
          </p:cNvPicPr>
          <p:nvPr/>
        </p:nvPicPr>
        <p:blipFill>
          <a:blip r:embed="rId4"/>
          <a:stretch>
            <a:fillRect/>
          </a:stretch>
        </p:blipFill>
        <p:spPr>
          <a:xfrm>
            <a:off x="2868249" y="2571750"/>
            <a:ext cx="3215919" cy="1188823"/>
          </a:xfrm>
          <a:prstGeom prst="rect">
            <a:avLst/>
          </a:prstGeom>
        </p:spPr>
      </p:pic>
      <p:sp>
        <p:nvSpPr>
          <p:cNvPr id="31" name="矩形 30"/>
          <p:cNvSpPr/>
          <p:nvPr/>
        </p:nvSpPr>
        <p:spPr>
          <a:xfrm>
            <a:off x="826985" y="3745584"/>
            <a:ext cx="5256584" cy="600164"/>
          </a:xfrm>
          <a:prstGeom prst="rect">
            <a:avLst/>
          </a:prstGeom>
        </p:spPr>
        <p:txBody>
          <a:bodyPr wrap="square">
            <a:spAutoFit/>
          </a:bodyPr>
          <a:lstStyle/>
          <a:p>
            <a:pPr marL="342900" lvl="1" indent="17463" algn="just">
              <a:lnSpc>
                <a:spcPct val="150000"/>
              </a:lnSpc>
              <a:buClr>
                <a:srgbClr val="BCE292"/>
              </a:buClr>
              <a:buFont typeface="Wingdings" panose="05000000000000000000" pitchFamily="2" charset="2"/>
              <a:buChar char="u"/>
            </a:pPr>
            <a:r>
              <a:rPr lang="zh-CN" altLang="en-US" sz="2200" b="1" dirty="0" smtClean="0">
                <a:solidFill>
                  <a:srgbClr val="FFFF00"/>
                </a:solidFill>
                <a:latin typeface="+mn-ea"/>
              </a:rPr>
              <a:t>应用程序</a:t>
            </a:r>
            <a:r>
              <a:rPr lang="zh-CN" altLang="en-US" sz="2200" b="1" dirty="0" smtClean="0">
                <a:solidFill>
                  <a:schemeClr val="bg1"/>
                </a:solidFill>
                <a:latin typeface="+mn-ea"/>
              </a:rPr>
              <a:t>：</a:t>
            </a:r>
            <a:endParaRPr lang="zh-CN" altLang="en-US" sz="2200" b="1" dirty="0">
              <a:solidFill>
                <a:schemeClr val="bg1"/>
              </a:solidFill>
              <a:latin typeface="+mn-ea"/>
            </a:endParaRPr>
          </a:p>
        </p:txBody>
      </p:sp>
      <p:pic>
        <p:nvPicPr>
          <p:cNvPr id="9" name="图片 8"/>
          <p:cNvPicPr>
            <a:picLocks noChangeAspect="1"/>
          </p:cNvPicPr>
          <p:nvPr/>
        </p:nvPicPr>
        <p:blipFill>
          <a:blip r:embed="rId5"/>
          <a:stretch>
            <a:fillRect/>
          </a:stretch>
        </p:blipFill>
        <p:spPr>
          <a:xfrm>
            <a:off x="2868249" y="3937706"/>
            <a:ext cx="2514818" cy="1097375"/>
          </a:xfrm>
          <a:prstGeom prst="rect">
            <a:avLst/>
          </a:prstGeom>
        </p:spPr>
      </p:pic>
    </p:spTree>
    <p:extLst>
      <p:ext uri="{BB962C8B-B14F-4D97-AF65-F5344CB8AC3E}">
        <p14:creationId xmlns:p14="http://schemas.microsoft.com/office/powerpoint/2010/main" val="28914213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xEl>
                                              <p:pRg st="0" end="0"/>
                                            </p:txEl>
                                          </p:spTgt>
                                        </p:tgtEl>
                                        <p:attrNameLst>
                                          <p:attrName>style.visibility</p:attrName>
                                        </p:attrNameLst>
                                      </p:cBhvr>
                                      <p:to>
                                        <p:strVal val="visible"/>
                                      </p:to>
                                    </p:set>
                                    <p:animEffect transition="in" filter="wipe(left)">
                                      <p:cBhvr>
                                        <p:cTn id="22" dur="500"/>
                                        <p:tgtEl>
                                          <p:spTgt spid="3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1">
                                            <p:txEl>
                                              <p:pRg st="0" end="0"/>
                                            </p:txEl>
                                          </p:spTgt>
                                        </p:tgtEl>
                                        <p:attrNameLst>
                                          <p:attrName>style.visibility</p:attrName>
                                        </p:attrNameLst>
                                      </p:cBhvr>
                                      <p:to>
                                        <p:strVal val="visible"/>
                                      </p:to>
                                    </p:set>
                                    <p:animEffect transition="in" filter="wipe(left)">
                                      <p:cBhvr>
                                        <p:cTn id="32" dur="500"/>
                                        <p:tgtEl>
                                          <p:spTgt spid="3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命令控制界面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99592" y="1204910"/>
            <a:ext cx="6583854" cy="600164"/>
          </a:xfrm>
          <a:prstGeom prst="rect">
            <a:avLst/>
          </a:prstGeom>
        </p:spPr>
        <p:txBody>
          <a:bodyPr wrap="non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200" b="1" dirty="0" smtClean="0">
                <a:solidFill>
                  <a:schemeClr val="bg1"/>
                </a:solidFill>
                <a:latin typeface="+mn-ea"/>
              </a:rPr>
              <a:t>OS</a:t>
            </a:r>
            <a:r>
              <a:rPr lang="zh-CN" altLang="en-US" sz="2200" b="1" dirty="0" smtClean="0">
                <a:solidFill>
                  <a:schemeClr val="bg1"/>
                </a:solidFill>
                <a:latin typeface="+mn-ea"/>
              </a:rPr>
              <a:t>启动之后，会打开一个桌面或</a:t>
            </a:r>
            <a:r>
              <a:rPr lang="en-US" altLang="zh-CN" sz="2200" b="1" dirty="0" smtClean="0">
                <a:solidFill>
                  <a:schemeClr val="bg1"/>
                </a:solidFill>
                <a:latin typeface="+mn-ea"/>
              </a:rPr>
              <a:t>shell</a:t>
            </a:r>
            <a:r>
              <a:rPr lang="zh-CN" altLang="en-US" sz="2200" b="1" dirty="0" smtClean="0">
                <a:solidFill>
                  <a:schemeClr val="bg1"/>
                </a:solidFill>
                <a:latin typeface="+mn-ea"/>
              </a:rPr>
              <a:t>（</a:t>
            </a:r>
            <a:r>
              <a:rPr lang="en-US" altLang="zh-CN" sz="2200" b="1" dirty="0" smtClean="0">
                <a:solidFill>
                  <a:schemeClr val="bg1"/>
                </a:solidFill>
                <a:latin typeface="+mn-ea"/>
              </a:rPr>
              <a:t>Linus</a:t>
            </a:r>
            <a:r>
              <a:rPr lang="zh-CN" altLang="en-US" sz="2200" b="1" dirty="0" smtClean="0">
                <a:solidFill>
                  <a:schemeClr val="bg1"/>
                </a:solidFill>
                <a:latin typeface="+mn-ea"/>
              </a:rPr>
              <a:t>）</a:t>
            </a:r>
            <a:r>
              <a:rPr lang="en-US" altLang="zh-CN" sz="2200" b="1" dirty="0" smtClean="0">
                <a:solidFill>
                  <a:schemeClr val="bg1"/>
                </a:solidFill>
                <a:latin typeface="+mn-ea"/>
              </a:rPr>
              <a:t> </a:t>
            </a:r>
            <a:endParaRPr lang="zh-CN" altLang="en-US" sz="2200" b="1" dirty="0">
              <a:solidFill>
                <a:schemeClr val="bg1"/>
              </a:solidFill>
              <a:latin typeface="+mn-ea"/>
            </a:endParaRPr>
          </a:p>
        </p:txBody>
      </p:sp>
      <p:sp>
        <p:nvSpPr>
          <p:cNvPr id="13" name="文本框 12"/>
          <p:cNvSpPr txBox="1"/>
          <p:nvPr/>
        </p:nvSpPr>
        <p:spPr>
          <a:xfrm>
            <a:off x="1259632" y="1923678"/>
            <a:ext cx="6120680" cy="2123658"/>
          </a:xfrm>
          <a:prstGeom prst="rect">
            <a:avLst/>
          </a:prstGeom>
          <a:noFill/>
        </p:spPr>
        <p:txBody>
          <a:bodyPr wrap="square" rtlCol="0">
            <a:spAutoFit/>
          </a:bodyPr>
          <a:lstStyle/>
          <a:p>
            <a:r>
              <a:rPr lang="en-US" altLang="zh-CN" sz="2200" b="1" dirty="0" err="1">
                <a:solidFill>
                  <a:schemeClr val="bg1"/>
                </a:solidFill>
                <a:latin typeface="+mn-ea"/>
              </a:rPr>
              <a:t>int</a:t>
            </a:r>
            <a:r>
              <a:rPr lang="en-US" altLang="zh-CN" sz="2200" b="1" dirty="0">
                <a:solidFill>
                  <a:schemeClr val="bg1"/>
                </a:solidFill>
                <a:latin typeface="+mn-ea"/>
              </a:rPr>
              <a:t> main(</a:t>
            </a:r>
            <a:r>
              <a:rPr lang="en-US" altLang="zh-CN" sz="2200" b="1" dirty="0" err="1">
                <a:solidFill>
                  <a:schemeClr val="bg1"/>
                </a:solidFill>
                <a:latin typeface="+mn-ea"/>
              </a:rPr>
              <a:t>int</a:t>
            </a:r>
            <a:r>
              <a:rPr lang="en-US" altLang="zh-CN" sz="2200" b="1" dirty="0">
                <a:solidFill>
                  <a:schemeClr val="bg1"/>
                </a:solidFill>
                <a:latin typeface="+mn-ea"/>
              </a:rPr>
              <a:t> </a:t>
            </a:r>
            <a:r>
              <a:rPr lang="en-US" altLang="zh-CN" sz="2200" b="1" dirty="0" err="1">
                <a:solidFill>
                  <a:schemeClr val="bg1"/>
                </a:solidFill>
                <a:latin typeface="+mn-ea"/>
              </a:rPr>
              <a:t>argc</a:t>
            </a:r>
            <a:r>
              <a:rPr lang="en-US" altLang="zh-CN" sz="2200" b="1" dirty="0">
                <a:solidFill>
                  <a:schemeClr val="bg1"/>
                </a:solidFill>
                <a:latin typeface="+mn-ea"/>
              </a:rPr>
              <a:t>, char * </a:t>
            </a:r>
            <a:r>
              <a:rPr lang="en-US" altLang="zh-CN" sz="2200" b="1" dirty="0" err="1">
                <a:solidFill>
                  <a:schemeClr val="bg1"/>
                </a:solidFill>
                <a:latin typeface="+mn-ea"/>
              </a:rPr>
              <a:t>argv</a:t>
            </a:r>
            <a:r>
              <a:rPr lang="en-US" altLang="zh-CN" sz="2200" b="1" dirty="0" smtClean="0">
                <a:solidFill>
                  <a:schemeClr val="bg1"/>
                </a:solidFill>
                <a:latin typeface="+mn-ea"/>
              </a:rPr>
              <a:t>[ ]) </a:t>
            </a:r>
            <a:endParaRPr lang="en-US" altLang="zh-CN" sz="2200" b="1" dirty="0">
              <a:solidFill>
                <a:schemeClr val="bg1"/>
              </a:solidFill>
              <a:latin typeface="+mn-ea"/>
            </a:endParaRPr>
          </a:p>
          <a:p>
            <a:r>
              <a:rPr lang="en-US" altLang="zh-CN" sz="2200" b="1" dirty="0">
                <a:solidFill>
                  <a:schemeClr val="bg1"/>
                </a:solidFill>
                <a:latin typeface="+mn-ea"/>
              </a:rPr>
              <a:t>{ char </a:t>
            </a:r>
            <a:r>
              <a:rPr lang="en-US" altLang="zh-CN" sz="2200" b="1" dirty="0" err="1">
                <a:solidFill>
                  <a:schemeClr val="bg1"/>
                </a:solidFill>
                <a:latin typeface="+mn-ea"/>
              </a:rPr>
              <a:t>cmd</a:t>
            </a:r>
            <a:r>
              <a:rPr lang="en-US" altLang="zh-CN" sz="2200" b="1" dirty="0">
                <a:solidFill>
                  <a:schemeClr val="bg1"/>
                </a:solidFill>
                <a:latin typeface="+mn-ea"/>
              </a:rPr>
              <a:t>[20]; </a:t>
            </a:r>
          </a:p>
          <a:p>
            <a:r>
              <a:rPr lang="en-US" altLang="zh-CN" sz="2200" b="1" dirty="0">
                <a:solidFill>
                  <a:schemeClr val="bg1"/>
                </a:solidFill>
                <a:latin typeface="+mn-ea"/>
              </a:rPr>
              <a:t>  while(1) { </a:t>
            </a:r>
            <a:r>
              <a:rPr lang="en-US" altLang="zh-CN" sz="2200" b="1" dirty="0" err="1">
                <a:solidFill>
                  <a:schemeClr val="bg1"/>
                </a:solidFill>
                <a:latin typeface="+mn-ea"/>
              </a:rPr>
              <a:t>scanf</a:t>
            </a:r>
            <a:r>
              <a:rPr lang="en-US" altLang="zh-CN" sz="2200" b="1" dirty="0">
                <a:solidFill>
                  <a:schemeClr val="bg1"/>
                </a:solidFill>
                <a:latin typeface="+mn-ea"/>
              </a:rPr>
              <a:t>(“%s”, </a:t>
            </a:r>
            <a:r>
              <a:rPr lang="en-US" altLang="zh-CN" sz="2200" b="1" dirty="0" err="1">
                <a:solidFill>
                  <a:schemeClr val="bg1"/>
                </a:solidFill>
                <a:latin typeface="+mn-ea"/>
              </a:rPr>
              <a:t>cmd</a:t>
            </a:r>
            <a:r>
              <a:rPr lang="en-US" altLang="zh-CN" sz="2200" b="1" dirty="0">
                <a:solidFill>
                  <a:schemeClr val="bg1"/>
                </a:solidFill>
                <a:latin typeface="+mn-ea"/>
              </a:rPr>
              <a:t>); </a:t>
            </a:r>
          </a:p>
          <a:p>
            <a:r>
              <a:rPr lang="en-US" altLang="zh-CN" sz="2200" b="1" dirty="0" smtClean="0">
                <a:solidFill>
                  <a:schemeClr val="bg1"/>
                </a:solidFill>
                <a:latin typeface="+mn-ea"/>
              </a:rPr>
              <a:t>            </a:t>
            </a:r>
            <a:r>
              <a:rPr lang="en-US" altLang="zh-CN" sz="2200" b="1" dirty="0" smtClean="0">
                <a:solidFill>
                  <a:srgbClr val="FFFF00"/>
                </a:solidFill>
                <a:latin typeface="+mn-ea"/>
              </a:rPr>
              <a:t>if</a:t>
            </a:r>
            <a:r>
              <a:rPr lang="en-US" altLang="zh-CN" sz="2200" b="1" dirty="0">
                <a:solidFill>
                  <a:srgbClr val="FFFF00"/>
                </a:solidFill>
                <a:latin typeface="+mn-ea"/>
              </a:rPr>
              <a:t>(!fork()) {exec(</a:t>
            </a:r>
            <a:r>
              <a:rPr lang="en-US" altLang="zh-CN" sz="2200" b="1" dirty="0" err="1">
                <a:solidFill>
                  <a:srgbClr val="FFFF00"/>
                </a:solidFill>
                <a:latin typeface="+mn-ea"/>
              </a:rPr>
              <a:t>cmd</a:t>
            </a:r>
            <a:r>
              <a:rPr lang="en-US" altLang="zh-CN" sz="2200" b="1" dirty="0">
                <a:solidFill>
                  <a:srgbClr val="FFFF00"/>
                </a:solidFill>
                <a:latin typeface="+mn-ea"/>
              </a:rPr>
              <a:t>)</a:t>
            </a:r>
            <a:r>
              <a:rPr lang="en-US" altLang="zh-CN" sz="2200" b="1" dirty="0">
                <a:solidFill>
                  <a:schemeClr val="bg1"/>
                </a:solidFill>
                <a:latin typeface="+mn-ea"/>
              </a:rPr>
              <a:t>;} </a:t>
            </a:r>
            <a:endParaRPr lang="en-US" altLang="zh-CN" sz="2200" b="1" dirty="0" smtClean="0">
              <a:solidFill>
                <a:schemeClr val="bg1"/>
              </a:solidFill>
              <a:latin typeface="+mn-ea"/>
            </a:endParaRPr>
          </a:p>
          <a:p>
            <a:r>
              <a:rPr lang="en-US" altLang="zh-CN" sz="2200" b="1" dirty="0">
                <a:solidFill>
                  <a:schemeClr val="bg1"/>
                </a:solidFill>
                <a:latin typeface="+mn-ea"/>
              </a:rPr>
              <a:t> </a:t>
            </a:r>
            <a:r>
              <a:rPr lang="en-US" altLang="zh-CN" sz="2200" b="1" dirty="0" smtClean="0">
                <a:solidFill>
                  <a:schemeClr val="bg1"/>
                </a:solidFill>
                <a:latin typeface="+mn-ea"/>
              </a:rPr>
              <a:t>           else </a:t>
            </a:r>
            <a:r>
              <a:rPr lang="en-US" altLang="zh-CN" sz="2200" b="1" dirty="0">
                <a:solidFill>
                  <a:schemeClr val="bg1"/>
                </a:solidFill>
                <a:latin typeface="+mn-ea"/>
              </a:rPr>
              <a:t>{wait();} } //while(1) </a:t>
            </a:r>
            <a:endParaRPr lang="en-US" altLang="zh-CN" sz="2200" b="1" dirty="0" smtClean="0">
              <a:solidFill>
                <a:schemeClr val="bg1"/>
              </a:solidFill>
              <a:latin typeface="+mn-ea"/>
            </a:endParaRPr>
          </a:p>
          <a:p>
            <a:r>
              <a:rPr lang="en-US" altLang="zh-CN" sz="2200" b="1" dirty="0" smtClean="0">
                <a:solidFill>
                  <a:schemeClr val="bg1"/>
                </a:solidFill>
                <a:latin typeface="+mn-ea"/>
              </a:rPr>
              <a:t>}</a:t>
            </a:r>
            <a:endParaRPr lang="zh-CN" altLang="en-US" sz="2200" b="1" dirty="0">
              <a:solidFill>
                <a:schemeClr val="bg1"/>
              </a:solidFill>
              <a:latin typeface="+mn-ea"/>
            </a:endParaRPr>
          </a:p>
        </p:txBody>
      </p:sp>
    </p:spTree>
    <p:extLst>
      <p:ext uri="{BB962C8B-B14F-4D97-AF65-F5344CB8AC3E}">
        <p14:creationId xmlns:p14="http://schemas.microsoft.com/office/powerpoint/2010/main" val="3835321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命令控制界面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34382" y="915566"/>
            <a:ext cx="5299849" cy="520848"/>
          </a:xfrm>
          <a:prstGeom prst="rect">
            <a:avLst/>
          </a:prstGeom>
        </p:spPr>
        <p:txBody>
          <a:bodyPr wrap="non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命令是什么</a:t>
            </a:r>
            <a:r>
              <a:rPr lang="en-US" altLang="zh-CN" sz="2200" b="1" dirty="0">
                <a:solidFill>
                  <a:schemeClr val="bg1"/>
                </a:solidFill>
                <a:latin typeface="+mn-ea"/>
              </a:rPr>
              <a:t>? </a:t>
            </a:r>
            <a:r>
              <a:rPr lang="zh-CN" altLang="en-US" sz="2200" b="1" dirty="0">
                <a:solidFill>
                  <a:schemeClr val="bg1"/>
                </a:solidFill>
                <a:latin typeface="+mn-ea"/>
              </a:rPr>
              <a:t>命令输入后发生了什么</a:t>
            </a:r>
            <a:r>
              <a:rPr lang="en-US" altLang="zh-CN" sz="2200" b="1" dirty="0">
                <a:solidFill>
                  <a:schemeClr val="bg1"/>
                </a:solidFill>
                <a:latin typeface="+mn-ea"/>
              </a:rPr>
              <a:t>? </a:t>
            </a:r>
            <a:endParaRPr lang="zh-CN" altLang="en-US" sz="2200" b="1" dirty="0">
              <a:solidFill>
                <a:schemeClr val="bg1"/>
              </a:solidFill>
              <a:latin typeface="+mn-ea"/>
            </a:endParaRPr>
          </a:p>
        </p:txBody>
      </p:sp>
      <p:pic>
        <p:nvPicPr>
          <p:cNvPr id="3" name="图片 2"/>
          <p:cNvPicPr>
            <a:picLocks noChangeAspect="1"/>
          </p:cNvPicPr>
          <p:nvPr/>
        </p:nvPicPr>
        <p:blipFill>
          <a:blip r:embed="rId2"/>
          <a:stretch>
            <a:fillRect/>
          </a:stretch>
        </p:blipFill>
        <p:spPr>
          <a:xfrm>
            <a:off x="1672780" y="1528611"/>
            <a:ext cx="3947502" cy="419136"/>
          </a:xfrm>
          <a:prstGeom prst="rect">
            <a:avLst/>
          </a:prstGeom>
        </p:spPr>
      </p:pic>
      <p:pic>
        <p:nvPicPr>
          <p:cNvPr id="4" name="图片 3"/>
          <p:cNvPicPr>
            <a:picLocks noChangeAspect="1"/>
          </p:cNvPicPr>
          <p:nvPr/>
        </p:nvPicPr>
        <p:blipFill>
          <a:blip r:embed="rId3"/>
          <a:stretch>
            <a:fillRect/>
          </a:stretch>
        </p:blipFill>
        <p:spPr>
          <a:xfrm>
            <a:off x="539552" y="2029268"/>
            <a:ext cx="2772914" cy="833064"/>
          </a:xfrm>
          <a:prstGeom prst="rect">
            <a:avLst/>
          </a:prstGeom>
        </p:spPr>
      </p:pic>
      <p:pic>
        <p:nvPicPr>
          <p:cNvPr id="10" name="图片 9"/>
          <p:cNvPicPr>
            <a:picLocks noChangeAspect="1"/>
          </p:cNvPicPr>
          <p:nvPr/>
        </p:nvPicPr>
        <p:blipFill rotWithShape="1">
          <a:blip r:embed="rId4"/>
          <a:srcRect t="1" r="27551" b="3906"/>
          <a:stretch/>
        </p:blipFill>
        <p:spPr>
          <a:xfrm>
            <a:off x="3756284" y="2295680"/>
            <a:ext cx="2556271" cy="300240"/>
          </a:xfrm>
          <a:prstGeom prst="rect">
            <a:avLst/>
          </a:prstGeom>
        </p:spPr>
      </p:pic>
      <p:sp>
        <p:nvSpPr>
          <p:cNvPr id="11" name="右箭头 10"/>
          <p:cNvSpPr/>
          <p:nvPr/>
        </p:nvSpPr>
        <p:spPr>
          <a:xfrm>
            <a:off x="3330540" y="2323094"/>
            <a:ext cx="398013" cy="283502"/>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pic>
        <p:nvPicPr>
          <p:cNvPr id="12" name="图片 11"/>
          <p:cNvPicPr>
            <a:picLocks noChangeAspect="1"/>
          </p:cNvPicPr>
          <p:nvPr/>
        </p:nvPicPr>
        <p:blipFill>
          <a:blip r:embed="rId5"/>
          <a:stretch>
            <a:fillRect/>
          </a:stretch>
        </p:blipFill>
        <p:spPr>
          <a:xfrm>
            <a:off x="6876256" y="2304818"/>
            <a:ext cx="1699407" cy="281964"/>
          </a:xfrm>
          <a:prstGeom prst="rect">
            <a:avLst/>
          </a:prstGeom>
        </p:spPr>
      </p:pic>
      <p:sp>
        <p:nvSpPr>
          <p:cNvPr id="29" name="右箭头 28"/>
          <p:cNvSpPr/>
          <p:nvPr/>
        </p:nvSpPr>
        <p:spPr>
          <a:xfrm>
            <a:off x="6372443" y="2332378"/>
            <a:ext cx="398013" cy="283502"/>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1" name="矩形 30"/>
          <p:cNvSpPr/>
          <p:nvPr/>
        </p:nvSpPr>
        <p:spPr>
          <a:xfrm>
            <a:off x="861420" y="3034474"/>
            <a:ext cx="6768101" cy="1615827"/>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命令实际上就是一段用</a:t>
            </a:r>
            <a:r>
              <a:rPr lang="en-US" altLang="zh-CN" sz="2200" b="1" dirty="0" smtClean="0">
                <a:solidFill>
                  <a:srgbClr val="FFFF00"/>
                </a:solidFill>
                <a:latin typeface="+mn-ea"/>
              </a:rPr>
              <a:t>C</a:t>
            </a:r>
            <a:r>
              <a:rPr lang="zh-CN" altLang="en-US" sz="2200" b="1" dirty="0" smtClean="0">
                <a:solidFill>
                  <a:srgbClr val="FFFF00"/>
                </a:solidFill>
                <a:latin typeface="+mn-ea"/>
              </a:rPr>
              <a:t>语言写的程序</a:t>
            </a:r>
            <a:r>
              <a:rPr lang="zh-CN" altLang="en-US" sz="2200" b="1" dirty="0" smtClean="0">
                <a:solidFill>
                  <a:schemeClr val="bg1"/>
                </a:solidFill>
                <a:latin typeface="+mn-ea"/>
              </a:rPr>
              <a:t>，只是在这些程序中加了一些非常</a:t>
            </a:r>
            <a:r>
              <a:rPr lang="zh-CN" altLang="en-US" sz="2200" b="1" dirty="0" smtClean="0">
                <a:solidFill>
                  <a:srgbClr val="FFFF00"/>
                </a:solidFill>
                <a:latin typeface="+mn-ea"/>
              </a:rPr>
              <a:t>重要的函数</a:t>
            </a:r>
            <a:r>
              <a:rPr lang="zh-CN" altLang="en-US" sz="2200" b="1" dirty="0" smtClean="0">
                <a:solidFill>
                  <a:schemeClr val="bg1"/>
                </a:solidFill>
                <a:latin typeface="+mn-ea"/>
              </a:rPr>
              <a:t>，编译之后形成</a:t>
            </a:r>
            <a:r>
              <a:rPr lang="zh-CN" altLang="en-US" sz="2200" b="1" dirty="0" smtClean="0">
                <a:solidFill>
                  <a:srgbClr val="FFFF00"/>
                </a:solidFill>
                <a:latin typeface="+mn-ea"/>
              </a:rPr>
              <a:t>可执行文件</a:t>
            </a:r>
            <a:r>
              <a:rPr lang="zh-CN" altLang="en-US" sz="2200" b="1" dirty="0" smtClean="0">
                <a:solidFill>
                  <a:schemeClr val="bg1"/>
                </a:solidFill>
                <a:latin typeface="+mn-ea"/>
              </a:rPr>
              <a:t>，进而被执行。</a:t>
            </a:r>
            <a:endParaRPr lang="zh-CN" altLang="en-US" sz="2200" b="1" dirty="0">
              <a:solidFill>
                <a:schemeClr val="bg1"/>
              </a:solidFill>
              <a:latin typeface="+mn-ea"/>
            </a:endParaRPr>
          </a:p>
        </p:txBody>
      </p:sp>
    </p:spTree>
    <p:extLst>
      <p:ext uri="{BB962C8B-B14F-4D97-AF65-F5344CB8AC3E}">
        <p14:creationId xmlns:p14="http://schemas.microsoft.com/office/powerpoint/2010/main" val="14634022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left)">
                                      <p:cBhvr>
                                        <p:cTn id="4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P spid="29" grpId="0" animBg="1"/>
      <p:bldP spid="3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使用操作命令进行作业控制有两种方式</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任意多边形 4"/>
          <p:cNvSpPr/>
          <p:nvPr/>
        </p:nvSpPr>
        <p:spPr>
          <a:xfrm>
            <a:off x="1170002" y="1563638"/>
            <a:ext cx="3056939" cy="2960914"/>
          </a:xfrm>
          <a:custGeom>
            <a:avLst/>
            <a:gdLst>
              <a:gd name="connsiteX0" fmla="*/ 0 w 2201228"/>
              <a:gd name="connsiteY0" fmla="*/ 0 h 1468219"/>
              <a:gd name="connsiteX1" fmla="*/ 2201228 w 2201228"/>
              <a:gd name="connsiteY1" fmla="*/ 0 h 1468219"/>
              <a:gd name="connsiteX2" fmla="*/ 2201228 w 2201228"/>
              <a:gd name="connsiteY2" fmla="*/ 1468219 h 1468219"/>
              <a:gd name="connsiteX3" fmla="*/ 0 w 2201228"/>
              <a:gd name="connsiteY3" fmla="*/ 1468219 h 1468219"/>
              <a:gd name="connsiteX4" fmla="*/ 0 w 2201228"/>
              <a:gd name="connsiteY4" fmla="*/ 0 h 146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228" h="1468219">
                <a:moveTo>
                  <a:pt x="0" y="0"/>
                </a:moveTo>
                <a:lnTo>
                  <a:pt x="2201228" y="0"/>
                </a:lnTo>
                <a:lnTo>
                  <a:pt x="2201228" y="1468219"/>
                </a:lnTo>
                <a:lnTo>
                  <a:pt x="0" y="1468219"/>
                </a:lnTo>
                <a:lnTo>
                  <a:pt x="0" y="0"/>
                </a:lnTo>
                <a:close/>
              </a:path>
            </a:pathLst>
          </a:cu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52197" tIns="64008" rIns="64007" bIns="64008" numCol="1" spcCol="1270" anchor="ctr" anchorCtr="0">
            <a:noAutofit/>
          </a:bodyPr>
          <a:lstStyle/>
          <a:p>
            <a:pPr lvl="0" algn="l" defTabSz="400050">
              <a:lnSpc>
                <a:spcPct val="90000"/>
              </a:lnSpc>
              <a:spcBef>
                <a:spcPct val="0"/>
              </a:spcBef>
              <a:spcAft>
                <a:spcPct val="35000"/>
              </a:spcAft>
            </a:pPr>
            <a:r>
              <a:rPr lang="zh-CN" altLang="en-US" b="1" kern="1200" dirty="0" smtClean="0"/>
              <a:t>用户将作业的执行顺序和出错处理方法一并以作业控制说明书的方式或命令文件方式提交给系统，由系统按照作业说明书或命令文件中所规定的顺序控制作业执行。执行过程中，用户无法干涉，只能等待作业正常执行结束或出错停止之后查看执行结果或出错信息，以便修改作业内容或控制过程</a:t>
            </a:r>
            <a:r>
              <a:rPr lang="zh-CN" altLang="en-US" b="1" dirty="0"/>
              <a:t>。</a:t>
            </a:r>
            <a:endParaRPr lang="zh-CN" altLang="en-US" b="1" kern="1200" dirty="0"/>
          </a:p>
        </p:txBody>
      </p:sp>
      <p:sp>
        <p:nvSpPr>
          <p:cNvPr id="6" name="任意多边形 5"/>
          <p:cNvSpPr/>
          <p:nvPr/>
        </p:nvSpPr>
        <p:spPr>
          <a:xfrm>
            <a:off x="538750" y="893741"/>
            <a:ext cx="998800" cy="998800"/>
          </a:xfrm>
          <a:custGeom>
            <a:avLst/>
            <a:gdLst>
              <a:gd name="connsiteX0" fmla="*/ 0 w 998800"/>
              <a:gd name="connsiteY0" fmla="*/ 499400 h 998800"/>
              <a:gd name="connsiteX1" fmla="*/ 499400 w 998800"/>
              <a:gd name="connsiteY1" fmla="*/ 0 h 998800"/>
              <a:gd name="connsiteX2" fmla="*/ 998800 w 998800"/>
              <a:gd name="connsiteY2" fmla="*/ 499400 h 998800"/>
              <a:gd name="connsiteX3" fmla="*/ 499400 w 998800"/>
              <a:gd name="connsiteY3" fmla="*/ 998800 h 998800"/>
              <a:gd name="connsiteX4" fmla="*/ 0 w 998800"/>
              <a:gd name="connsiteY4" fmla="*/ 499400 h 99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800" h="998800">
                <a:moveTo>
                  <a:pt x="0" y="499400"/>
                </a:moveTo>
                <a:cubicBezTo>
                  <a:pt x="0" y="223589"/>
                  <a:pt x="223589" y="0"/>
                  <a:pt x="499400" y="0"/>
                </a:cubicBezTo>
                <a:cubicBezTo>
                  <a:pt x="775211" y="0"/>
                  <a:pt x="998800" y="223589"/>
                  <a:pt x="998800" y="499400"/>
                </a:cubicBezTo>
                <a:cubicBezTo>
                  <a:pt x="998800" y="775211"/>
                  <a:pt x="775211" y="998800"/>
                  <a:pt x="499400" y="998800"/>
                </a:cubicBezTo>
                <a:cubicBezTo>
                  <a:pt x="223589" y="998800"/>
                  <a:pt x="0" y="775211"/>
                  <a:pt x="0" y="499400"/>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46271" tIns="146271" rIns="146271" bIns="146271" numCol="1" spcCol="1270" anchor="ctr" anchorCtr="0">
            <a:noAutofit/>
          </a:bodyPr>
          <a:lstStyle/>
          <a:p>
            <a:pPr lvl="0" algn="ctr" defTabSz="1022350">
              <a:lnSpc>
                <a:spcPct val="90000"/>
              </a:lnSpc>
              <a:spcBef>
                <a:spcPct val="0"/>
              </a:spcBef>
              <a:spcAft>
                <a:spcPct val="35000"/>
              </a:spcAft>
            </a:pPr>
            <a:r>
              <a:rPr lang="zh-CN" altLang="en-US" sz="2300" b="1" kern="1200" dirty="0" smtClean="0"/>
              <a:t>脱机方式</a:t>
            </a:r>
            <a:endParaRPr lang="zh-CN" altLang="en-US" sz="2300" b="1" kern="1200" dirty="0"/>
          </a:p>
        </p:txBody>
      </p:sp>
      <p:sp>
        <p:nvSpPr>
          <p:cNvPr id="7" name="任意多边形 6"/>
          <p:cNvSpPr/>
          <p:nvPr/>
        </p:nvSpPr>
        <p:spPr>
          <a:xfrm>
            <a:off x="5256559" y="1431886"/>
            <a:ext cx="3491905" cy="1499904"/>
          </a:xfrm>
          <a:custGeom>
            <a:avLst/>
            <a:gdLst>
              <a:gd name="connsiteX0" fmla="*/ 0 w 2201228"/>
              <a:gd name="connsiteY0" fmla="*/ 0 h 1468219"/>
              <a:gd name="connsiteX1" fmla="*/ 2201228 w 2201228"/>
              <a:gd name="connsiteY1" fmla="*/ 0 h 1468219"/>
              <a:gd name="connsiteX2" fmla="*/ 2201228 w 2201228"/>
              <a:gd name="connsiteY2" fmla="*/ 1468219 h 1468219"/>
              <a:gd name="connsiteX3" fmla="*/ 0 w 2201228"/>
              <a:gd name="connsiteY3" fmla="*/ 1468219 h 1468219"/>
              <a:gd name="connsiteX4" fmla="*/ 0 w 2201228"/>
              <a:gd name="connsiteY4" fmla="*/ 0 h 146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228" h="1468219">
                <a:moveTo>
                  <a:pt x="0" y="0"/>
                </a:moveTo>
                <a:lnTo>
                  <a:pt x="2201228" y="0"/>
                </a:lnTo>
                <a:lnTo>
                  <a:pt x="2201228" y="1468219"/>
                </a:lnTo>
                <a:lnTo>
                  <a:pt x="0" y="1468219"/>
                </a:lnTo>
                <a:lnTo>
                  <a:pt x="0" y="0"/>
                </a:lnTo>
                <a:close/>
              </a:path>
            </a:pathLst>
          </a:cu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52197" tIns="64008" rIns="64007" bIns="64008" numCol="1" spcCol="1270" anchor="ctr" anchorCtr="0">
            <a:noAutofit/>
          </a:bodyPr>
          <a:lstStyle/>
          <a:p>
            <a:pPr defTabSz="400050">
              <a:lnSpc>
                <a:spcPct val="90000"/>
              </a:lnSpc>
              <a:spcBef>
                <a:spcPct val="0"/>
              </a:spcBef>
              <a:spcAft>
                <a:spcPct val="35000"/>
              </a:spcAft>
            </a:pPr>
            <a:r>
              <a:rPr lang="zh-CN" altLang="en-US" b="1" dirty="0"/>
              <a:t>不要求用户填写作业说明书，系统只为用户提供一组键盘或其他操作方式的命令。用户使用系统提供的操作命令和系统会话，交互地控制程序执行和管理计算机系统。</a:t>
            </a:r>
          </a:p>
        </p:txBody>
      </p:sp>
      <p:sp>
        <p:nvSpPr>
          <p:cNvPr id="8" name="任意多边形 7"/>
          <p:cNvSpPr/>
          <p:nvPr/>
        </p:nvSpPr>
        <p:spPr>
          <a:xfrm>
            <a:off x="5256559" y="2900105"/>
            <a:ext cx="3491905" cy="1659503"/>
          </a:xfrm>
          <a:custGeom>
            <a:avLst/>
            <a:gdLst>
              <a:gd name="connsiteX0" fmla="*/ 0 w 2201228"/>
              <a:gd name="connsiteY0" fmla="*/ 0 h 1468219"/>
              <a:gd name="connsiteX1" fmla="*/ 2201228 w 2201228"/>
              <a:gd name="connsiteY1" fmla="*/ 0 h 1468219"/>
              <a:gd name="connsiteX2" fmla="*/ 2201228 w 2201228"/>
              <a:gd name="connsiteY2" fmla="*/ 1468219 h 1468219"/>
              <a:gd name="connsiteX3" fmla="*/ 0 w 2201228"/>
              <a:gd name="connsiteY3" fmla="*/ 1468219 h 1468219"/>
              <a:gd name="connsiteX4" fmla="*/ 0 w 2201228"/>
              <a:gd name="connsiteY4" fmla="*/ 0 h 146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228" h="1468219">
                <a:moveTo>
                  <a:pt x="0" y="0"/>
                </a:moveTo>
                <a:lnTo>
                  <a:pt x="2201228" y="0"/>
                </a:lnTo>
                <a:lnTo>
                  <a:pt x="2201228" y="1468219"/>
                </a:lnTo>
                <a:lnTo>
                  <a:pt x="0" y="1468219"/>
                </a:lnTo>
                <a:lnTo>
                  <a:pt x="0" y="0"/>
                </a:lnTo>
                <a:close/>
              </a:path>
            </a:pathLst>
          </a:cu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52197" tIns="64008" rIns="64007" bIns="64008" numCol="1" spcCol="1270" anchor="ctr" anchorCtr="0">
            <a:noAutofit/>
          </a:bodyPr>
          <a:lstStyle/>
          <a:p>
            <a:pPr defTabSz="400050">
              <a:lnSpc>
                <a:spcPct val="90000"/>
              </a:lnSpc>
              <a:spcBef>
                <a:spcPct val="0"/>
              </a:spcBef>
              <a:spcAft>
                <a:spcPct val="35000"/>
              </a:spcAft>
            </a:pPr>
            <a:r>
              <a:rPr lang="zh-CN" altLang="en-US" b="1" dirty="0"/>
              <a:t>其工作过程是，用户在系统给出的提示符下敲入特定的命令，系统在执行完该命令后向用户报告执行结果；然后，用户决定下一步的操作。如此反复，直到作业执行结束。</a:t>
            </a:r>
          </a:p>
        </p:txBody>
      </p:sp>
      <p:sp>
        <p:nvSpPr>
          <p:cNvPr id="9" name="任意多边形 8"/>
          <p:cNvSpPr/>
          <p:nvPr/>
        </p:nvSpPr>
        <p:spPr>
          <a:xfrm>
            <a:off x="4338345" y="827942"/>
            <a:ext cx="1035443" cy="1035443"/>
          </a:xfrm>
          <a:custGeom>
            <a:avLst/>
            <a:gdLst>
              <a:gd name="connsiteX0" fmla="*/ 0 w 1035443"/>
              <a:gd name="connsiteY0" fmla="*/ 517722 h 1035443"/>
              <a:gd name="connsiteX1" fmla="*/ 517722 w 1035443"/>
              <a:gd name="connsiteY1" fmla="*/ 0 h 1035443"/>
              <a:gd name="connsiteX2" fmla="*/ 1035444 w 1035443"/>
              <a:gd name="connsiteY2" fmla="*/ 517722 h 1035443"/>
              <a:gd name="connsiteX3" fmla="*/ 517722 w 1035443"/>
              <a:gd name="connsiteY3" fmla="*/ 1035444 h 1035443"/>
              <a:gd name="connsiteX4" fmla="*/ 0 w 1035443"/>
              <a:gd name="connsiteY4" fmla="*/ 517722 h 1035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443" h="1035443">
                <a:moveTo>
                  <a:pt x="0" y="517722"/>
                </a:moveTo>
                <a:cubicBezTo>
                  <a:pt x="0" y="231792"/>
                  <a:pt x="231792" y="0"/>
                  <a:pt x="517722" y="0"/>
                </a:cubicBezTo>
                <a:cubicBezTo>
                  <a:pt x="803652" y="0"/>
                  <a:pt x="1035444" y="231792"/>
                  <a:pt x="1035444" y="517722"/>
                </a:cubicBezTo>
                <a:cubicBezTo>
                  <a:pt x="1035444" y="803652"/>
                  <a:pt x="803652" y="1035444"/>
                  <a:pt x="517722" y="1035444"/>
                </a:cubicBezTo>
                <a:cubicBezTo>
                  <a:pt x="231792" y="1035444"/>
                  <a:pt x="0" y="803652"/>
                  <a:pt x="0" y="517722"/>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51637" tIns="151637" rIns="151637" bIns="151637" numCol="1" spcCol="1270" anchor="ctr" anchorCtr="0">
            <a:noAutofit/>
          </a:bodyPr>
          <a:lstStyle/>
          <a:p>
            <a:pPr lvl="0" algn="ctr" defTabSz="1022350">
              <a:lnSpc>
                <a:spcPct val="90000"/>
              </a:lnSpc>
              <a:spcBef>
                <a:spcPct val="0"/>
              </a:spcBef>
              <a:spcAft>
                <a:spcPct val="35000"/>
              </a:spcAft>
            </a:pPr>
            <a:r>
              <a:rPr lang="zh-CN" altLang="en-US" sz="2300" b="1" kern="1200" dirty="0" smtClean="0"/>
              <a:t>联机方式</a:t>
            </a:r>
            <a:endParaRPr lang="zh-CN" altLang="en-US" sz="2300" b="1" kern="1200" dirty="0"/>
          </a:p>
        </p:txBody>
      </p:sp>
    </p:spTree>
    <p:extLst>
      <p:ext uri="{BB962C8B-B14F-4D97-AF65-F5344CB8AC3E}">
        <p14:creationId xmlns:p14="http://schemas.microsoft.com/office/powerpoint/2010/main" val="4724809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AutoShape 15"/>
          <p:cNvSpPr>
            <a:spLocks noChangeArrowheads="1"/>
          </p:cNvSpPr>
          <p:nvPr/>
        </p:nvSpPr>
        <p:spPr bwMode="auto">
          <a:xfrm flipH="1" flipV="1">
            <a:off x="3118211" y="703992"/>
            <a:ext cx="2664097" cy="2301478"/>
          </a:xfrm>
          <a:prstGeom prst="triangle">
            <a:avLst>
              <a:gd name="adj" fmla="val 50000"/>
            </a:avLst>
          </a:prstGeom>
          <a:gradFill rotWithShape="1">
            <a:gsLst>
              <a:gs pos="0">
                <a:schemeClr val="bg1"/>
              </a:gs>
              <a:gs pos="100000">
                <a:schemeClr val="bg1">
                  <a:alpha val="0"/>
                </a:schemeClr>
              </a:gs>
            </a:gsLst>
            <a:lin ang="5400000" scaled="1"/>
          </a:gradFill>
          <a:ln w="9525">
            <a:noFill/>
            <a:miter lim="800000"/>
            <a:headEnd/>
            <a:tailEnd/>
          </a:ln>
        </p:spPr>
        <p:txBody>
          <a:bodyPr wrap="none" anchor="ctr"/>
          <a:lstStyle/>
          <a:p>
            <a:endParaRPr lang="zh-CN" altLang="zh-CN"/>
          </a:p>
        </p:txBody>
      </p:sp>
      <p:sp>
        <p:nvSpPr>
          <p:cNvPr id="812" name="AutoShape 11"/>
          <p:cNvSpPr>
            <a:spLocks noChangeArrowheads="1"/>
          </p:cNvSpPr>
          <p:nvPr/>
        </p:nvSpPr>
        <p:spPr bwMode="auto">
          <a:xfrm rot="14400000">
            <a:off x="4007552" y="994118"/>
            <a:ext cx="3028950" cy="2773362"/>
          </a:xfrm>
          <a:prstGeom prst="triangle">
            <a:avLst>
              <a:gd name="adj" fmla="val 50000"/>
            </a:avLst>
          </a:prstGeom>
          <a:gradFill rotWithShape="1">
            <a:gsLst>
              <a:gs pos="0">
                <a:srgbClr val="347AF8"/>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811" name="AutoShape 12"/>
          <p:cNvSpPr>
            <a:spLocks noChangeArrowheads="1"/>
          </p:cNvSpPr>
          <p:nvPr/>
        </p:nvSpPr>
        <p:spPr bwMode="auto">
          <a:xfrm rot="7200000" flipH="1">
            <a:off x="1451740" y="912063"/>
            <a:ext cx="3519252" cy="2773362"/>
          </a:xfrm>
          <a:prstGeom prst="triangle">
            <a:avLst>
              <a:gd name="adj" fmla="val 50000"/>
            </a:avLst>
          </a:prstGeom>
          <a:gradFill rotWithShape="1">
            <a:gsLst>
              <a:gs pos="0">
                <a:srgbClr val="3FEDB7"/>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768" name="页脚占位符 3"/>
          <p:cNvSpPr txBox="1">
            <a:spLocks noGrp="1"/>
          </p:cNvSpPr>
          <p:nvPr/>
        </p:nvSpPr>
        <p:spPr bwMode="auto">
          <a:xfrm>
            <a:off x="7046913" y="4926265"/>
            <a:ext cx="2133600" cy="183356"/>
          </a:xfrm>
          <a:prstGeom prst="rect">
            <a:avLst/>
          </a:prstGeom>
          <a:noFill/>
          <a:ln w="9525">
            <a:noFill/>
            <a:miter lim="800000"/>
            <a:headEnd/>
            <a:tailEnd/>
          </a:ln>
        </p:spPr>
        <p:txBody>
          <a:bodyPr/>
          <a:lstStyle/>
          <a:p>
            <a:r>
              <a:rPr lang="en-US" altLang="zh-CN"/>
              <a:t>   </a:t>
            </a:r>
          </a:p>
          <a:p>
            <a:r>
              <a:rPr lang="en-US" altLang="zh-CN"/>
              <a:t>   </a:t>
            </a:r>
          </a:p>
        </p:txBody>
      </p:sp>
      <p:sp>
        <p:nvSpPr>
          <p:cNvPr id="770" name="AutoShape 13"/>
          <p:cNvSpPr>
            <a:spLocks noChangeArrowheads="1"/>
          </p:cNvSpPr>
          <p:nvPr/>
        </p:nvSpPr>
        <p:spPr bwMode="auto">
          <a:xfrm rot="7200000" flipV="1">
            <a:off x="4630738" y="2100118"/>
            <a:ext cx="2271713" cy="2773362"/>
          </a:xfrm>
          <a:prstGeom prst="triangle">
            <a:avLst>
              <a:gd name="adj" fmla="val 50000"/>
            </a:avLst>
          </a:prstGeom>
          <a:gradFill rotWithShape="1">
            <a:gsLst>
              <a:gs pos="0">
                <a:srgbClr val="4628FC"/>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771" name="AutoShape 14"/>
          <p:cNvSpPr>
            <a:spLocks noChangeArrowheads="1"/>
          </p:cNvSpPr>
          <p:nvPr/>
        </p:nvSpPr>
        <p:spPr bwMode="auto">
          <a:xfrm rot="-7200000" flipH="1" flipV="1">
            <a:off x="2217738" y="2100118"/>
            <a:ext cx="2271713" cy="2773362"/>
          </a:xfrm>
          <a:prstGeom prst="triangle">
            <a:avLst>
              <a:gd name="adj" fmla="val 50000"/>
            </a:avLst>
          </a:prstGeom>
          <a:gradFill rotWithShape="1">
            <a:gsLst>
              <a:gs pos="0">
                <a:srgbClr val="72E41C"/>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772" name="AutoShape 15"/>
          <p:cNvSpPr>
            <a:spLocks noChangeArrowheads="1"/>
          </p:cNvSpPr>
          <p:nvPr/>
        </p:nvSpPr>
        <p:spPr bwMode="auto">
          <a:xfrm rot="10800000" flipH="1" flipV="1">
            <a:off x="2705075" y="2859782"/>
            <a:ext cx="3667125" cy="2301478"/>
          </a:xfrm>
          <a:prstGeom prst="triangle">
            <a:avLst>
              <a:gd name="adj" fmla="val 50000"/>
            </a:avLst>
          </a:prstGeom>
          <a:gradFill rotWithShape="1">
            <a:gsLst>
              <a:gs pos="0">
                <a:schemeClr val="bg1"/>
              </a:gs>
              <a:gs pos="100000">
                <a:schemeClr val="bg1">
                  <a:alpha val="0"/>
                </a:schemeClr>
              </a:gs>
            </a:gsLst>
            <a:lin ang="5400000" scaled="1"/>
          </a:gradFill>
          <a:ln w="9525">
            <a:noFill/>
            <a:miter lim="800000"/>
            <a:headEnd/>
            <a:tailEnd/>
          </a:ln>
        </p:spPr>
        <p:txBody>
          <a:bodyPr wrap="none" anchor="ctr"/>
          <a:lstStyle/>
          <a:p>
            <a:endParaRPr lang="zh-CN" altLang="zh-CN"/>
          </a:p>
        </p:txBody>
      </p:sp>
      <p:sp>
        <p:nvSpPr>
          <p:cNvPr id="773" name="Oval 19"/>
          <p:cNvSpPr>
            <a:spLocks noChangeArrowheads="1"/>
          </p:cNvSpPr>
          <p:nvPr/>
        </p:nvSpPr>
        <p:spPr bwMode="auto">
          <a:xfrm>
            <a:off x="2864298" y="2078441"/>
            <a:ext cx="3095625" cy="2321719"/>
          </a:xfrm>
          <a:prstGeom prst="ellipse">
            <a:avLst/>
          </a:prstGeom>
          <a:solidFill>
            <a:schemeClr val="bg1">
              <a:alpha val="25098"/>
            </a:schemeClr>
          </a:solidFill>
          <a:ln w="12700">
            <a:solidFill>
              <a:schemeClr val="bg1"/>
            </a:solidFill>
            <a:round/>
            <a:headEnd/>
            <a:tailEnd/>
          </a:ln>
        </p:spPr>
        <p:txBody>
          <a:bodyPr wrap="none" anchor="ctr"/>
          <a:lstStyle/>
          <a:p>
            <a:endParaRPr lang="zh-CN" altLang="zh-CN"/>
          </a:p>
        </p:txBody>
      </p:sp>
      <p:sp>
        <p:nvSpPr>
          <p:cNvPr id="774" name="Oval 20"/>
          <p:cNvSpPr>
            <a:spLocks noChangeArrowheads="1"/>
          </p:cNvSpPr>
          <p:nvPr/>
        </p:nvSpPr>
        <p:spPr bwMode="auto">
          <a:xfrm>
            <a:off x="2991297" y="2173691"/>
            <a:ext cx="2843212" cy="2132409"/>
          </a:xfrm>
          <a:prstGeom prst="ellipse">
            <a:avLst/>
          </a:prstGeom>
          <a:solidFill>
            <a:srgbClr val="99CCFF">
              <a:alpha val="50195"/>
            </a:srgbClr>
          </a:solidFill>
          <a:ln w="57150">
            <a:solidFill>
              <a:srgbClr val="99CCFF"/>
            </a:solidFill>
            <a:round/>
            <a:headEnd/>
            <a:tailEnd/>
          </a:ln>
        </p:spPr>
        <p:txBody>
          <a:bodyPr wrap="none" anchor="ctr"/>
          <a:lstStyle/>
          <a:p>
            <a:endParaRPr lang="zh-CN" altLang="zh-CN"/>
          </a:p>
        </p:txBody>
      </p:sp>
      <p:sp>
        <p:nvSpPr>
          <p:cNvPr id="775" name="Arc 38"/>
          <p:cNvSpPr>
            <a:spLocks/>
          </p:cNvSpPr>
          <p:nvPr/>
        </p:nvSpPr>
        <p:spPr bwMode="auto">
          <a:xfrm rot="19223345">
            <a:off x="3843025" y="2020714"/>
            <a:ext cx="1121087" cy="1043841"/>
          </a:xfrm>
          <a:custGeom>
            <a:avLst/>
            <a:gdLst>
              <a:gd name="T0" fmla="*/ 2147483647 w 20772"/>
              <a:gd name="T1" fmla="*/ 0 h 20677"/>
              <a:gd name="T2" fmla="*/ 2147483647 w 20772"/>
              <a:gd name="T3" fmla="*/ 2147483647 h 20677"/>
              <a:gd name="T4" fmla="*/ 0 w 20772"/>
              <a:gd name="T5" fmla="*/ 2147483647 h 20677"/>
              <a:gd name="T6" fmla="*/ 0 60000 65536"/>
              <a:gd name="T7" fmla="*/ 0 60000 65536"/>
              <a:gd name="T8" fmla="*/ 0 60000 65536"/>
              <a:gd name="T9" fmla="*/ 0 w 20772"/>
              <a:gd name="T10" fmla="*/ 0 h 20677"/>
              <a:gd name="T11" fmla="*/ 20772 w 20772"/>
              <a:gd name="T12" fmla="*/ 20677 h 20677"/>
            </a:gdLst>
            <a:ahLst/>
            <a:cxnLst>
              <a:cxn ang="T6">
                <a:pos x="T0" y="T1"/>
              </a:cxn>
              <a:cxn ang="T7">
                <a:pos x="T2" y="T3"/>
              </a:cxn>
              <a:cxn ang="T8">
                <a:pos x="T4" y="T5"/>
              </a:cxn>
            </a:cxnLst>
            <a:rect l="T9" t="T10" r="T11" b="T12"/>
            <a:pathLst>
              <a:path w="20772" h="20677" fill="none" extrusionOk="0">
                <a:moveTo>
                  <a:pt x="6246" y="0"/>
                </a:moveTo>
                <a:cubicBezTo>
                  <a:pt x="13283" y="2126"/>
                  <a:pt x="18756" y="7684"/>
                  <a:pt x="20772" y="14753"/>
                </a:cubicBezTo>
              </a:path>
              <a:path w="20772" h="20677" stroke="0" extrusionOk="0">
                <a:moveTo>
                  <a:pt x="6246" y="0"/>
                </a:moveTo>
                <a:cubicBezTo>
                  <a:pt x="13283" y="2126"/>
                  <a:pt x="18756" y="7684"/>
                  <a:pt x="20772" y="14753"/>
                </a:cubicBezTo>
                <a:lnTo>
                  <a:pt x="0" y="20677"/>
                </a:lnTo>
                <a:close/>
              </a:path>
            </a:pathLst>
          </a:custGeom>
          <a:gradFill rotWithShape="1">
            <a:gsLst>
              <a:gs pos="0">
                <a:srgbClr val="1C93E4"/>
              </a:gs>
              <a:gs pos="100000">
                <a:srgbClr val="69B8E9"/>
              </a:gs>
            </a:gsLst>
            <a:lin ang="5400000" scaled="1"/>
          </a:gradFill>
          <a:ln w="9525">
            <a:noFill/>
            <a:round/>
            <a:headEnd/>
            <a:tailEnd/>
          </a:ln>
        </p:spPr>
        <p:txBody>
          <a:bodyPr wrap="none" anchor="ctr"/>
          <a:lstStyle/>
          <a:p>
            <a:endParaRPr lang="zh-CN" altLang="en-US"/>
          </a:p>
        </p:txBody>
      </p:sp>
      <p:sp>
        <p:nvSpPr>
          <p:cNvPr id="776" name="Arc 39"/>
          <p:cNvSpPr>
            <a:spLocks/>
          </p:cNvSpPr>
          <p:nvPr/>
        </p:nvSpPr>
        <p:spPr bwMode="auto">
          <a:xfrm rot="884024">
            <a:off x="4543872" y="2477300"/>
            <a:ext cx="1200150" cy="897731"/>
          </a:xfrm>
          <a:custGeom>
            <a:avLst/>
            <a:gdLst>
              <a:gd name="T0" fmla="*/ 2147483647 w 20646"/>
              <a:gd name="T1" fmla="*/ 0 h 20637"/>
              <a:gd name="T2" fmla="*/ 2147483647 w 20646"/>
              <a:gd name="T3" fmla="*/ 2147483647 h 20637"/>
              <a:gd name="T4" fmla="*/ 0 w 20646"/>
              <a:gd name="T5" fmla="*/ 2147483647 h 20637"/>
              <a:gd name="T6" fmla="*/ 0 60000 65536"/>
              <a:gd name="T7" fmla="*/ 0 60000 65536"/>
              <a:gd name="T8" fmla="*/ 0 60000 65536"/>
              <a:gd name="T9" fmla="*/ 0 w 20646"/>
              <a:gd name="T10" fmla="*/ 0 h 20637"/>
              <a:gd name="T11" fmla="*/ 20646 w 20646"/>
              <a:gd name="T12" fmla="*/ 20637 h 20637"/>
            </a:gdLst>
            <a:ahLst/>
            <a:cxnLst>
              <a:cxn ang="T6">
                <a:pos x="T0" y="T1"/>
              </a:cxn>
              <a:cxn ang="T7">
                <a:pos x="T2" y="T3"/>
              </a:cxn>
              <a:cxn ang="T8">
                <a:pos x="T4" y="T5"/>
              </a:cxn>
            </a:cxnLst>
            <a:rect l="T9" t="T10" r="T11" b="T12"/>
            <a:pathLst>
              <a:path w="20646" h="20637" fill="none" extrusionOk="0">
                <a:moveTo>
                  <a:pt x="6378" y="0"/>
                </a:moveTo>
                <a:cubicBezTo>
                  <a:pt x="13205" y="2110"/>
                  <a:pt x="18546" y="7460"/>
                  <a:pt x="20646" y="14289"/>
                </a:cubicBezTo>
              </a:path>
              <a:path w="20646" h="20637" stroke="0" extrusionOk="0">
                <a:moveTo>
                  <a:pt x="6378" y="0"/>
                </a:moveTo>
                <a:cubicBezTo>
                  <a:pt x="13205" y="2110"/>
                  <a:pt x="18546" y="7460"/>
                  <a:pt x="20646" y="14289"/>
                </a:cubicBezTo>
                <a:lnTo>
                  <a:pt x="0" y="20637"/>
                </a:lnTo>
                <a:close/>
              </a:path>
            </a:pathLst>
          </a:custGeom>
          <a:gradFill rotWithShape="1">
            <a:gsLst>
              <a:gs pos="0">
                <a:srgbClr val="2648A6"/>
              </a:gs>
              <a:gs pos="100000">
                <a:srgbClr val="446AD4"/>
              </a:gs>
            </a:gsLst>
            <a:lin ang="5400000" scaled="1"/>
          </a:gradFill>
          <a:ln w="9525">
            <a:noFill/>
            <a:round/>
            <a:headEnd/>
            <a:tailEnd/>
          </a:ln>
        </p:spPr>
        <p:txBody>
          <a:bodyPr wrap="none" anchor="ctr"/>
          <a:lstStyle/>
          <a:p>
            <a:endParaRPr lang="zh-CN" altLang="en-US"/>
          </a:p>
        </p:txBody>
      </p:sp>
      <p:sp>
        <p:nvSpPr>
          <p:cNvPr id="777" name="Arc 40"/>
          <p:cNvSpPr>
            <a:spLocks/>
          </p:cNvSpPr>
          <p:nvPr/>
        </p:nvSpPr>
        <p:spPr bwMode="auto">
          <a:xfrm rot="4500000">
            <a:off x="4681706" y="2956328"/>
            <a:ext cx="900113" cy="1216025"/>
          </a:xfrm>
          <a:custGeom>
            <a:avLst/>
            <a:gdLst>
              <a:gd name="T0" fmla="*/ 2147483647 w 20690"/>
              <a:gd name="T1" fmla="*/ 0 h 20919"/>
              <a:gd name="T2" fmla="*/ 2147483647 w 20690"/>
              <a:gd name="T3" fmla="*/ 2147483647 h 20919"/>
              <a:gd name="T4" fmla="*/ 0 w 20690"/>
              <a:gd name="T5" fmla="*/ 2147483647 h 20919"/>
              <a:gd name="T6" fmla="*/ 0 60000 65536"/>
              <a:gd name="T7" fmla="*/ 0 60000 65536"/>
              <a:gd name="T8" fmla="*/ 0 60000 65536"/>
              <a:gd name="T9" fmla="*/ 0 w 20690"/>
              <a:gd name="T10" fmla="*/ 0 h 20919"/>
              <a:gd name="T11" fmla="*/ 20690 w 20690"/>
              <a:gd name="T12" fmla="*/ 20919 h 20919"/>
            </a:gdLst>
            <a:ahLst/>
            <a:cxnLst>
              <a:cxn ang="T6">
                <a:pos x="T0" y="T1"/>
              </a:cxn>
              <a:cxn ang="T7">
                <a:pos x="T2" y="T3"/>
              </a:cxn>
              <a:cxn ang="T8">
                <a:pos x="T4" y="T5"/>
              </a:cxn>
            </a:cxnLst>
            <a:rect l="T9" t="T10" r="T11" b="T12"/>
            <a:pathLst>
              <a:path w="20690" h="20919" fill="none" extrusionOk="0">
                <a:moveTo>
                  <a:pt x="5380" y="-1"/>
                </a:moveTo>
                <a:cubicBezTo>
                  <a:pt x="12709" y="1884"/>
                  <a:pt x="18517" y="7467"/>
                  <a:pt x="20690" y="14716"/>
                </a:cubicBezTo>
              </a:path>
              <a:path w="20690" h="20919" stroke="0" extrusionOk="0">
                <a:moveTo>
                  <a:pt x="5380" y="-1"/>
                </a:moveTo>
                <a:cubicBezTo>
                  <a:pt x="12709" y="1884"/>
                  <a:pt x="18517" y="7467"/>
                  <a:pt x="20690" y="14716"/>
                </a:cubicBezTo>
                <a:lnTo>
                  <a:pt x="0" y="20919"/>
                </a:lnTo>
                <a:close/>
              </a:path>
            </a:pathLst>
          </a:custGeom>
          <a:gradFill rotWithShape="1">
            <a:gsLst>
              <a:gs pos="0">
                <a:srgbClr val="3C3C90"/>
              </a:gs>
              <a:gs pos="100000">
                <a:srgbClr val="336699"/>
              </a:gs>
            </a:gsLst>
            <a:lin ang="5400000" scaled="1"/>
          </a:gradFill>
          <a:ln w="9525">
            <a:noFill/>
            <a:round/>
            <a:headEnd/>
            <a:tailEnd/>
          </a:ln>
        </p:spPr>
        <p:txBody>
          <a:bodyPr wrap="none" anchor="ctr"/>
          <a:lstStyle/>
          <a:p>
            <a:endParaRPr lang="zh-CN" altLang="en-US"/>
          </a:p>
        </p:txBody>
      </p:sp>
      <p:sp>
        <p:nvSpPr>
          <p:cNvPr id="778" name="Arc 41"/>
          <p:cNvSpPr>
            <a:spLocks/>
          </p:cNvSpPr>
          <p:nvPr/>
        </p:nvSpPr>
        <p:spPr bwMode="auto">
          <a:xfrm rot="20724172" flipH="1">
            <a:off x="3073848" y="2472537"/>
            <a:ext cx="1203325" cy="902494"/>
          </a:xfrm>
          <a:custGeom>
            <a:avLst/>
            <a:gdLst>
              <a:gd name="T0" fmla="*/ 2147483647 w 20704"/>
              <a:gd name="T1" fmla="*/ 0 h 20739"/>
              <a:gd name="T2" fmla="*/ 2147483647 w 20704"/>
              <a:gd name="T3" fmla="*/ 2147483647 h 20739"/>
              <a:gd name="T4" fmla="*/ 0 w 20704"/>
              <a:gd name="T5" fmla="*/ 2147483647 h 20739"/>
              <a:gd name="T6" fmla="*/ 0 60000 65536"/>
              <a:gd name="T7" fmla="*/ 0 60000 65536"/>
              <a:gd name="T8" fmla="*/ 0 60000 65536"/>
              <a:gd name="T9" fmla="*/ 0 w 20704"/>
              <a:gd name="T10" fmla="*/ 0 h 20739"/>
              <a:gd name="T11" fmla="*/ 20704 w 20704"/>
              <a:gd name="T12" fmla="*/ 20739 h 20739"/>
            </a:gdLst>
            <a:ahLst/>
            <a:cxnLst>
              <a:cxn ang="T6">
                <a:pos x="T0" y="T1"/>
              </a:cxn>
              <a:cxn ang="T7">
                <a:pos x="T2" y="T3"/>
              </a:cxn>
              <a:cxn ang="T8">
                <a:pos x="T4" y="T5"/>
              </a:cxn>
            </a:cxnLst>
            <a:rect l="T9" t="T10" r="T11" b="T12"/>
            <a:pathLst>
              <a:path w="20704" h="20739" fill="none" extrusionOk="0">
                <a:moveTo>
                  <a:pt x="6037" y="0"/>
                </a:moveTo>
                <a:cubicBezTo>
                  <a:pt x="13087" y="2052"/>
                  <a:pt x="18611" y="7545"/>
                  <a:pt x="20704" y="14582"/>
                </a:cubicBezTo>
              </a:path>
              <a:path w="20704" h="20739" stroke="0" extrusionOk="0">
                <a:moveTo>
                  <a:pt x="6037" y="0"/>
                </a:moveTo>
                <a:cubicBezTo>
                  <a:pt x="13087" y="2052"/>
                  <a:pt x="18611" y="7545"/>
                  <a:pt x="20704" y="14582"/>
                </a:cubicBezTo>
                <a:lnTo>
                  <a:pt x="0" y="20739"/>
                </a:lnTo>
                <a:close/>
              </a:path>
            </a:pathLst>
          </a:custGeom>
          <a:gradFill rotWithShape="1">
            <a:gsLst>
              <a:gs pos="0">
                <a:srgbClr val="296540"/>
              </a:gs>
              <a:gs pos="100000">
                <a:srgbClr val="3D9983"/>
              </a:gs>
            </a:gsLst>
            <a:lin ang="5400000" scaled="1"/>
          </a:gradFill>
          <a:ln w="9525">
            <a:noFill/>
            <a:round/>
            <a:headEnd/>
            <a:tailEnd/>
          </a:ln>
        </p:spPr>
        <p:txBody>
          <a:bodyPr wrap="none" anchor="ctr"/>
          <a:lstStyle/>
          <a:p>
            <a:endParaRPr lang="zh-CN" altLang="en-US"/>
          </a:p>
        </p:txBody>
      </p:sp>
      <p:sp>
        <p:nvSpPr>
          <p:cNvPr id="779" name="Arc 42"/>
          <p:cNvSpPr>
            <a:spLocks/>
          </p:cNvSpPr>
          <p:nvPr/>
        </p:nvSpPr>
        <p:spPr bwMode="auto">
          <a:xfrm rot="17100000" flipH="1">
            <a:off x="3234978" y="2957519"/>
            <a:ext cx="895350" cy="1211262"/>
          </a:xfrm>
          <a:custGeom>
            <a:avLst/>
            <a:gdLst>
              <a:gd name="T0" fmla="*/ 2147483647 w 20584"/>
              <a:gd name="T1" fmla="*/ 0 h 20851"/>
              <a:gd name="T2" fmla="*/ 2147483647 w 20584"/>
              <a:gd name="T3" fmla="*/ 2147483647 h 20851"/>
              <a:gd name="T4" fmla="*/ 0 w 20584"/>
              <a:gd name="T5" fmla="*/ 2147483647 h 20851"/>
              <a:gd name="T6" fmla="*/ 0 60000 65536"/>
              <a:gd name="T7" fmla="*/ 0 60000 65536"/>
              <a:gd name="T8" fmla="*/ 0 60000 65536"/>
              <a:gd name="T9" fmla="*/ 0 w 20584"/>
              <a:gd name="T10" fmla="*/ 0 h 20851"/>
              <a:gd name="T11" fmla="*/ 20584 w 20584"/>
              <a:gd name="T12" fmla="*/ 20851 h 20851"/>
            </a:gdLst>
            <a:ahLst/>
            <a:cxnLst>
              <a:cxn ang="T6">
                <a:pos x="T0" y="T1"/>
              </a:cxn>
              <a:cxn ang="T7">
                <a:pos x="T2" y="T3"/>
              </a:cxn>
              <a:cxn ang="T8">
                <a:pos x="T4" y="T5"/>
              </a:cxn>
            </a:cxnLst>
            <a:rect l="T9" t="T10" r="T11" b="T12"/>
            <a:pathLst>
              <a:path w="20584" h="20851" fill="none" extrusionOk="0">
                <a:moveTo>
                  <a:pt x="5637" y="-1"/>
                </a:moveTo>
                <a:cubicBezTo>
                  <a:pt x="12728" y="1916"/>
                  <a:pt x="18358" y="7305"/>
                  <a:pt x="20584" y="14305"/>
                </a:cubicBezTo>
              </a:path>
              <a:path w="20584" h="20851" stroke="0" extrusionOk="0">
                <a:moveTo>
                  <a:pt x="5637" y="-1"/>
                </a:moveTo>
                <a:cubicBezTo>
                  <a:pt x="12728" y="1916"/>
                  <a:pt x="18358" y="7305"/>
                  <a:pt x="20584" y="14305"/>
                </a:cubicBezTo>
                <a:lnTo>
                  <a:pt x="0" y="20851"/>
                </a:lnTo>
                <a:close/>
              </a:path>
            </a:pathLst>
          </a:custGeom>
          <a:gradFill rotWithShape="1">
            <a:gsLst>
              <a:gs pos="0">
                <a:srgbClr val="57902C"/>
              </a:gs>
              <a:gs pos="100000">
                <a:srgbClr val="90C94B"/>
              </a:gs>
            </a:gsLst>
            <a:lin ang="5400000" scaled="1"/>
          </a:gradFill>
          <a:ln w="9525">
            <a:noFill/>
            <a:round/>
            <a:headEnd/>
            <a:tailEnd/>
          </a:ln>
        </p:spPr>
        <p:txBody>
          <a:bodyPr wrap="none" anchor="ctr"/>
          <a:lstStyle/>
          <a:p>
            <a:endParaRPr lang="zh-CN" altLang="en-US"/>
          </a:p>
        </p:txBody>
      </p:sp>
      <p:sp>
        <p:nvSpPr>
          <p:cNvPr id="780" name="Arc 43"/>
          <p:cNvSpPr>
            <a:spLocks/>
          </p:cNvSpPr>
          <p:nvPr/>
        </p:nvSpPr>
        <p:spPr bwMode="auto">
          <a:xfrm rot="-2700000">
            <a:off x="3999359" y="2499922"/>
            <a:ext cx="831850" cy="621506"/>
          </a:xfrm>
          <a:custGeom>
            <a:avLst/>
            <a:gdLst>
              <a:gd name="T0" fmla="*/ 2147483647 w 20757"/>
              <a:gd name="T1" fmla="*/ 0 h 20712"/>
              <a:gd name="T2" fmla="*/ 2147483647 w 20757"/>
              <a:gd name="T3" fmla="*/ 2147483647 h 20712"/>
              <a:gd name="T4" fmla="*/ 0 w 20757"/>
              <a:gd name="T5" fmla="*/ 2147483647 h 20712"/>
              <a:gd name="T6" fmla="*/ 0 60000 65536"/>
              <a:gd name="T7" fmla="*/ 0 60000 65536"/>
              <a:gd name="T8" fmla="*/ 0 60000 65536"/>
              <a:gd name="T9" fmla="*/ 0 w 20757"/>
              <a:gd name="T10" fmla="*/ 0 h 20712"/>
              <a:gd name="T11" fmla="*/ 20757 w 20757"/>
              <a:gd name="T12" fmla="*/ 20712 h 20712"/>
            </a:gdLst>
            <a:ahLst/>
            <a:cxnLst>
              <a:cxn ang="T6">
                <a:pos x="T0" y="T1"/>
              </a:cxn>
              <a:cxn ang="T7">
                <a:pos x="T2" y="T3"/>
              </a:cxn>
              <a:cxn ang="T8">
                <a:pos x="T4" y="T5"/>
              </a:cxn>
            </a:cxnLst>
            <a:rect l="T9" t="T10" r="T11" b="T12"/>
            <a:pathLst>
              <a:path w="20757" h="20712" fill="none" extrusionOk="0">
                <a:moveTo>
                  <a:pt x="6129" y="-1"/>
                </a:moveTo>
                <a:cubicBezTo>
                  <a:pt x="13201" y="2092"/>
                  <a:pt x="18716" y="7649"/>
                  <a:pt x="20757" y="14736"/>
                </a:cubicBezTo>
              </a:path>
              <a:path w="20757" h="20712" stroke="0" extrusionOk="0">
                <a:moveTo>
                  <a:pt x="6129" y="-1"/>
                </a:moveTo>
                <a:cubicBezTo>
                  <a:pt x="13201" y="2092"/>
                  <a:pt x="18716" y="7649"/>
                  <a:pt x="20757" y="14736"/>
                </a:cubicBezTo>
                <a:lnTo>
                  <a:pt x="0" y="20712"/>
                </a:lnTo>
                <a:close/>
              </a:path>
            </a:pathLst>
          </a:custGeom>
          <a:gradFill rotWithShape="1">
            <a:gsLst>
              <a:gs pos="0">
                <a:srgbClr val="136AA5"/>
              </a:gs>
              <a:gs pos="100000">
                <a:srgbClr val="69B8E9"/>
              </a:gs>
            </a:gsLst>
            <a:lin ang="5400000" scaled="1"/>
          </a:gradFill>
          <a:ln w="3175">
            <a:solidFill>
              <a:srgbClr val="C0C0C0"/>
            </a:solidFill>
            <a:round/>
            <a:headEnd/>
            <a:tailEnd/>
          </a:ln>
        </p:spPr>
        <p:txBody>
          <a:bodyPr wrap="none" anchor="ctr"/>
          <a:lstStyle/>
          <a:p>
            <a:endParaRPr lang="zh-CN" altLang="en-US"/>
          </a:p>
        </p:txBody>
      </p:sp>
      <p:sp>
        <p:nvSpPr>
          <p:cNvPr id="781" name="Arc 44"/>
          <p:cNvSpPr>
            <a:spLocks/>
          </p:cNvSpPr>
          <p:nvPr/>
        </p:nvSpPr>
        <p:spPr bwMode="auto">
          <a:xfrm rot="884024">
            <a:off x="4507359" y="2711853"/>
            <a:ext cx="827088" cy="622697"/>
          </a:xfrm>
          <a:custGeom>
            <a:avLst/>
            <a:gdLst>
              <a:gd name="T0" fmla="*/ 2147483647 w 20590"/>
              <a:gd name="T1" fmla="*/ 0 h 20754"/>
              <a:gd name="T2" fmla="*/ 2147483647 w 20590"/>
              <a:gd name="T3" fmla="*/ 2147483647 h 20754"/>
              <a:gd name="T4" fmla="*/ 0 w 20590"/>
              <a:gd name="T5" fmla="*/ 2147483647 h 20754"/>
              <a:gd name="T6" fmla="*/ 0 60000 65536"/>
              <a:gd name="T7" fmla="*/ 0 60000 65536"/>
              <a:gd name="T8" fmla="*/ 0 60000 65536"/>
              <a:gd name="T9" fmla="*/ 0 w 20590"/>
              <a:gd name="T10" fmla="*/ 0 h 20754"/>
              <a:gd name="T11" fmla="*/ 20590 w 20590"/>
              <a:gd name="T12" fmla="*/ 20754 h 20754"/>
            </a:gdLst>
            <a:ahLst/>
            <a:cxnLst>
              <a:cxn ang="T6">
                <a:pos x="T0" y="T1"/>
              </a:cxn>
              <a:cxn ang="T7">
                <a:pos x="T2" y="T3"/>
              </a:cxn>
              <a:cxn ang="T8">
                <a:pos x="T4" y="T5"/>
              </a:cxn>
            </a:cxnLst>
            <a:rect l="T9" t="T10" r="T11" b="T12"/>
            <a:pathLst>
              <a:path w="20590" h="20754" fill="none" extrusionOk="0">
                <a:moveTo>
                  <a:pt x="5985" y="0"/>
                </a:moveTo>
                <a:cubicBezTo>
                  <a:pt x="12926" y="2001"/>
                  <a:pt x="18406" y="7339"/>
                  <a:pt x="20589" y="14225"/>
                </a:cubicBezTo>
              </a:path>
              <a:path w="20590" h="20754" stroke="0" extrusionOk="0">
                <a:moveTo>
                  <a:pt x="5985" y="0"/>
                </a:moveTo>
                <a:cubicBezTo>
                  <a:pt x="12926" y="2001"/>
                  <a:pt x="18406" y="7339"/>
                  <a:pt x="20589" y="14225"/>
                </a:cubicBezTo>
                <a:lnTo>
                  <a:pt x="0" y="20754"/>
                </a:lnTo>
                <a:close/>
              </a:path>
            </a:pathLst>
          </a:custGeom>
          <a:gradFill rotWithShape="1">
            <a:gsLst>
              <a:gs pos="0">
                <a:srgbClr val="1C357A"/>
              </a:gs>
              <a:gs pos="100000">
                <a:srgbClr val="446AD4"/>
              </a:gs>
            </a:gsLst>
            <a:lin ang="5400000" scaled="1"/>
          </a:gradFill>
          <a:ln w="3175">
            <a:solidFill>
              <a:srgbClr val="C0C0C0"/>
            </a:solidFill>
            <a:round/>
            <a:headEnd/>
            <a:tailEnd/>
          </a:ln>
        </p:spPr>
        <p:txBody>
          <a:bodyPr wrap="none" anchor="ctr"/>
          <a:lstStyle/>
          <a:p>
            <a:endParaRPr lang="zh-CN" altLang="en-US"/>
          </a:p>
        </p:txBody>
      </p:sp>
      <p:sp>
        <p:nvSpPr>
          <p:cNvPr id="782" name="Arc 45"/>
          <p:cNvSpPr>
            <a:spLocks/>
          </p:cNvSpPr>
          <p:nvPr/>
        </p:nvSpPr>
        <p:spPr bwMode="auto">
          <a:xfrm rot="4500000">
            <a:off x="4622850" y="3047213"/>
            <a:ext cx="621506" cy="836612"/>
          </a:xfrm>
          <a:custGeom>
            <a:avLst/>
            <a:gdLst>
              <a:gd name="T0" fmla="*/ 2147483647 w 20718"/>
              <a:gd name="T1" fmla="*/ 0 h 20863"/>
              <a:gd name="T2" fmla="*/ 2147483647 w 20718"/>
              <a:gd name="T3" fmla="*/ 2147483647 h 20863"/>
              <a:gd name="T4" fmla="*/ 0 w 20718"/>
              <a:gd name="T5" fmla="*/ 2147483647 h 20863"/>
              <a:gd name="T6" fmla="*/ 0 60000 65536"/>
              <a:gd name="T7" fmla="*/ 0 60000 65536"/>
              <a:gd name="T8" fmla="*/ 0 60000 65536"/>
              <a:gd name="T9" fmla="*/ 0 w 20718"/>
              <a:gd name="T10" fmla="*/ 0 h 20863"/>
              <a:gd name="T11" fmla="*/ 20718 w 20718"/>
              <a:gd name="T12" fmla="*/ 20863 h 20863"/>
            </a:gdLst>
            <a:ahLst/>
            <a:cxnLst>
              <a:cxn ang="T6">
                <a:pos x="T0" y="T1"/>
              </a:cxn>
              <a:cxn ang="T7">
                <a:pos x="T2" y="T3"/>
              </a:cxn>
              <a:cxn ang="T8">
                <a:pos x="T4" y="T5"/>
              </a:cxn>
            </a:cxnLst>
            <a:rect l="T9" t="T10" r="T11" b="T12"/>
            <a:pathLst>
              <a:path w="20718" h="20863" fill="none" extrusionOk="0">
                <a:moveTo>
                  <a:pt x="5593" y="-1"/>
                </a:moveTo>
                <a:cubicBezTo>
                  <a:pt x="12859" y="1947"/>
                  <a:pt x="18589" y="7536"/>
                  <a:pt x="20717" y="14753"/>
                </a:cubicBezTo>
              </a:path>
              <a:path w="20718" h="20863" stroke="0" extrusionOk="0">
                <a:moveTo>
                  <a:pt x="5593" y="-1"/>
                </a:moveTo>
                <a:cubicBezTo>
                  <a:pt x="12859" y="1947"/>
                  <a:pt x="18589" y="7536"/>
                  <a:pt x="20717" y="14753"/>
                </a:cubicBezTo>
                <a:lnTo>
                  <a:pt x="0" y="20863"/>
                </a:lnTo>
                <a:close/>
              </a:path>
            </a:pathLst>
          </a:custGeom>
          <a:gradFill rotWithShape="1">
            <a:gsLst>
              <a:gs pos="0">
                <a:srgbClr val="2E2E70"/>
              </a:gs>
              <a:gs pos="100000">
                <a:srgbClr val="336699"/>
              </a:gs>
            </a:gsLst>
            <a:lin ang="5400000" scaled="1"/>
          </a:gradFill>
          <a:ln w="3175">
            <a:solidFill>
              <a:srgbClr val="C0C0C0"/>
            </a:solidFill>
            <a:round/>
            <a:headEnd/>
            <a:tailEnd/>
          </a:ln>
        </p:spPr>
        <p:txBody>
          <a:bodyPr wrap="none" anchor="ctr"/>
          <a:lstStyle/>
          <a:p>
            <a:endParaRPr lang="zh-CN" altLang="en-US"/>
          </a:p>
        </p:txBody>
      </p:sp>
      <p:sp>
        <p:nvSpPr>
          <p:cNvPr id="783" name="Arc 46"/>
          <p:cNvSpPr>
            <a:spLocks/>
          </p:cNvSpPr>
          <p:nvPr/>
        </p:nvSpPr>
        <p:spPr bwMode="auto">
          <a:xfrm rot="20724172" flipH="1">
            <a:off x="3496122" y="2716616"/>
            <a:ext cx="827087" cy="619125"/>
          </a:xfrm>
          <a:custGeom>
            <a:avLst/>
            <a:gdLst>
              <a:gd name="T0" fmla="*/ 2147483647 w 20600"/>
              <a:gd name="T1" fmla="*/ 0 h 20650"/>
              <a:gd name="T2" fmla="*/ 2147483647 w 20600"/>
              <a:gd name="T3" fmla="*/ 2147483647 h 20650"/>
              <a:gd name="T4" fmla="*/ 0 w 20600"/>
              <a:gd name="T5" fmla="*/ 2147483647 h 20650"/>
              <a:gd name="T6" fmla="*/ 0 60000 65536"/>
              <a:gd name="T7" fmla="*/ 0 60000 65536"/>
              <a:gd name="T8" fmla="*/ 0 60000 65536"/>
              <a:gd name="T9" fmla="*/ 0 w 20600"/>
              <a:gd name="T10" fmla="*/ 0 h 20650"/>
              <a:gd name="T11" fmla="*/ 20600 w 20600"/>
              <a:gd name="T12" fmla="*/ 20650 h 20650"/>
            </a:gdLst>
            <a:ahLst/>
            <a:cxnLst>
              <a:cxn ang="T6">
                <a:pos x="T0" y="T1"/>
              </a:cxn>
              <a:cxn ang="T7">
                <a:pos x="T2" y="T3"/>
              </a:cxn>
              <a:cxn ang="T8">
                <a:pos x="T4" y="T5"/>
              </a:cxn>
            </a:cxnLst>
            <a:rect l="T9" t="T10" r="T11" b="T12"/>
            <a:pathLst>
              <a:path w="20600" h="20650" fill="none" extrusionOk="0">
                <a:moveTo>
                  <a:pt x="6335" y="-1"/>
                </a:moveTo>
                <a:cubicBezTo>
                  <a:pt x="13128" y="2084"/>
                  <a:pt x="18462" y="7376"/>
                  <a:pt x="20600" y="14153"/>
                </a:cubicBezTo>
              </a:path>
              <a:path w="20600" h="20650" stroke="0" extrusionOk="0">
                <a:moveTo>
                  <a:pt x="6335" y="-1"/>
                </a:moveTo>
                <a:cubicBezTo>
                  <a:pt x="13128" y="2084"/>
                  <a:pt x="18462" y="7376"/>
                  <a:pt x="20600" y="14153"/>
                </a:cubicBezTo>
                <a:lnTo>
                  <a:pt x="0" y="20650"/>
                </a:lnTo>
                <a:close/>
              </a:path>
            </a:pathLst>
          </a:custGeom>
          <a:gradFill rotWithShape="1">
            <a:gsLst>
              <a:gs pos="0">
                <a:srgbClr val="163622"/>
              </a:gs>
              <a:gs pos="100000">
                <a:srgbClr val="3D9983"/>
              </a:gs>
            </a:gsLst>
            <a:lin ang="5400000" scaled="1"/>
          </a:gradFill>
          <a:ln w="3175">
            <a:solidFill>
              <a:srgbClr val="C0C0C0"/>
            </a:solidFill>
            <a:round/>
            <a:headEnd/>
            <a:tailEnd/>
          </a:ln>
        </p:spPr>
        <p:txBody>
          <a:bodyPr wrap="none" anchor="ctr"/>
          <a:lstStyle/>
          <a:p>
            <a:endParaRPr lang="zh-CN" altLang="en-US"/>
          </a:p>
        </p:txBody>
      </p:sp>
      <p:sp>
        <p:nvSpPr>
          <p:cNvPr id="784" name="Arc 47"/>
          <p:cNvSpPr>
            <a:spLocks/>
          </p:cNvSpPr>
          <p:nvPr/>
        </p:nvSpPr>
        <p:spPr bwMode="auto">
          <a:xfrm rot="17100000" flipH="1">
            <a:off x="3598516" y="3047609"/>
            <a:ext cx="619125" cy="833438"/>
          </a:xfrm>
          <a:custGeom>
            <a:avLst/>
            <a:gdLst>
              <a:gd name="T0" fmla="*/ 2147483647 w 20653"/>
              <a:gd name="T1" fmla="*/ 0 h 20821"/>
              <a:gd name="T2" fmla="*/ 2147483647 w 20653"/>
              <a:gd name="T3" fmla="*/ 2147483647 h 20821"/>
              <a:gd name="T4" fmla="*/ 0 w 20653"/>
              <a:gd name="T5" fmla="*/ 2147483647 h 20821"/>
              <a:gd name="T6" fmla="*/ 0 60000 65536"/>
              <a:gd name="T7" fmla="*/ 0 60000 65536"/>
              <a:gd name="T8" fmla="*/ 0 60000 65536"/>
              <a:gd name="T9" fmla="*/ 0 w 20653"/>
              <a:gd name="T10" fmla="*/ 0 h 20821"/>
              <a:gd name="T11" fmla="*/ 20653 w 20653"/>
              <a:gd name="T12" fmla="*/ 20821 h 20821"/>
            </a:gdLst>
            <a:ahLst/>
            <a:cxnLst>
              <a:cxn ang="T6">
                <a:pos x="T0" y="T1"/>
              </a:cxn>
              <a:cxn ang="T7">
                <a:pos x="T2" y="T3"/>
              </a:cxn>
              <a:cxn ang="T8">
                <a:pos x="T4" y="T5"/>
              </a:cxn>
            </a:cxnLst>
            <a:rect l="T9" t="T10" r="T11" b="T12"/>
            <a:pathLst>
              <a:path w="20653" h="20821" fill="none" extrusionOk="0">
                <a:moveTo>
                  <a:pt x="5747" y="-1"/>
                </a:moveTo>
                <a:cubicBezTo>
                  <a:pt x="12867" y="1965"/>
                  <a:pt x="18490" y="7432"/>
                  <a:pt x="20653" y="14495"/>
                </a:cubicBezTo>
              </a:path>
              <a:path w="20653" h="20821" stroke="0" extrusionOk="0">
                <a:moveTo>
                  <a:pt x="5747" y="-1"/>
                </a:moveTo>
                <a:cubicBezTo>
                  <a:pt x="12867" y="1965"/>
                  <a:pt x="18490" y="7432"/>
                  <a:pt x="20653" y="14495"/>
                </a:cubicBezTo>
                <a:lnTo>
                  <a:pt x="0" y="20821"/>
                </a:lnTo>
                <a:close/>
              </a:path>
            </a:pathLst>
          </a:custGeom>
          <a:gradFill rotWithShape="1">
            <a:gsLst>
              <a:gs pos="0">
                <a:srgbClr val="426D21"/>
              </a:gs>
              <a:gs pos="100000">
                <a:srgbClr val="90C94B"/>
              </a:gs>
            </a:gsLst>
            <a:lin ang="5400000" scaled="1"/>
          </a:gradFill>
          <a:ln w="3175">
            <a:solidFill>
              <a:srgbClr val="C0C0C0"/>
            </a:solidFill>
            <a:round/>
            <a:headEnd/>
            <a:tailEnd/>
          </a:ln>
        </p:spPr>
        <p:txBody>
          <a:bodyPr wrap="none" anchor="ctr"/>
          <a:lstStyle/>
          <a:p>
            <a:endParaRPr lang="zh-CN" altLang="en-US"/>
          </a:p>
        </p:txBody>
      </p:sp>
      <p:sp>
        <p:nvSpPr>
          <p:cNvPr id="785" name="Oval 48"/>
          <p:cNvSpPr>
            <a:spLocks noChangeArrowheads="1"/>
          </p:cNvSpPr>
          <p:nvPr/>
        </p:nvSpPr>
        <p:spPr bwMode="auto">
          <a:xfrm>
            <a:off x="3743773" y="2724950"/>
            <a:ext cx="1368425" cy="1026319"/>
          </a:xfrm>
          <a:prstGeom prst="ellipse">
            <a:avLst/>
          </a:prstGeom>
          <a:gradFill rotWithShape="1">
            <a:gsLst>
              <a:gs pos="0">
                <a:srgbClr val="BDE6FF"/>
              </a:gs>
              <a:gs pos="100000">
                <a:srgbClr val="CCECFF"/>
              </a:gs>
            </a:gsLst>
            <a:lin ang="5400000" scaled="1"/>
          </a:gradFill>
          <a:ln w="9525">
            <a:noFill/>
            <a:round/>
            <a:headEnd/>
            <a:tailEnd/>
          </a:ln>
        </p:spPr>
        <p:txBody>
          <a:bodyPr wrap="none" anchor="ctr"/>
          <a:lstStyle/>
          <a:p>
            <a:endParaRPr lang="zh-CN" altLang="zh-CN"/>
          </a:p>
        </p:txBody>
      </p:sp>
      <p:sp>
        <p:nvSpPr>
          <p:cNvPr id="786" name="Oval 49"/>
          <p:cNvSpPr>
            <a:spLocks noChangeArrowheads="1"/>
          </p:cNvSpPr>
          <p:nvPr/>
        </p:nvSpPr>
        <p:spPr bwMode="auto">
          <a:xfrm>
            <a:off x="3815210" y="2788053"/>
            <a:ext cx="1223963" cy="915590"/>
          </a:xfrm>
          <a:prstGeom prst="ellipse">
            <a:avLst/>
          </a:prstGeom>
          <a:gradFill rotWithShape="0">
            <a:gsLst>
              <a:gs pos="0">
                <a:srgbClr val="A1BAD3">
                  <a:alpha val="64998"/>
                </a:srgbClr>
              </a:gs>
              <a:gs pos="100000">
                <a:srgbClr val="E4EBF2">
                  <a:alpha val="62999"/>
                </a:srgbClr>
              </a:gs>
            </a:gsLst>
            <a:lin ang="5400000" scaled="1"/>
          </a:gradFill>
          <a:ln w="9525">
            <a:noFill/>
            <a:round/>
            <a:headEnd/>
            <a:tailEnd/>
          </a:ln>
        </p:spPr>
        <p:txBody>
          <a:bodyPr wrap="none" anchor="ctr"/>
          <a:lstStyle/>
          <a:p>
            <a:pPr algn="ctr" latinLnBrk="1"/>
            <a:endParaRPr kumimoji="1" lang="zh-CN" altLang="zh-CN" sz="1600">
              <a:ea typeface="HY견고딕"/>
              <a:cs typeface="HY견고딕"/>
            </a:endParaRPr>
          </a:p>
        </p:txBody>
      </p:sp>
      <p:sp>
        <p:nvSpPr>
          <p:cNvPr id="787" name="AutoShape 52"/>
          <p:cNvSpPr>
            <a:spLocks noChangeAspect="1" noChangeArrowheads="1"/>
          </p:cNvSpPr>
          <p:nvPr/>
        </p:nvSpPr>
        <p:spPr bwMode="auto">
          <a:xfrm>
            <a:off x="3816798" y="2789243"/>
            <a:ext cx="1220787" cy="915591"/>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51" y="10800"/>
                </a:moveTo>
                <a:cubicBezTo>
                  <a:pt x="451" y="16516"/>
                  <a:pt x="5084" y="21149"/>
                  <a:pt x="10800" y="21149"/>
                </a:cubicBezTo>
                <a:cubicBezTo>
                  <a:pt x="16516" y="21149"/>
                  <a:pt x="21149" y="16516"/>
                  <a:pt x="21149" y="10800"/>
                </a:cubicBezTo>
                <a:cubicBezTo>
                  <a:pt x="21149" y="5084"/>
                  <a:pt x="16516" y="451"/>
                  <a:pt x="10800" y="451"/>
                </a:cubicBezTo>
                <a:cubicBezTo>
                  <a:pt x="5084" y="451"/>
                  <a:pt x="451" y="5084"/>
                  <a:pt x="451" y="10800"/>
                </a:cubicBezTo>
                <a:close/>
              </a:path>
            </a:pathLst>
          </a:custGeom>
          <a:gradFill rotWithShape="1">
            <a:gsLst>
              <a:gs pos="0">
                <a:srgbClr val="CCECFF">
                  <a:alpha val="0"/>
                </a:srgbClr>
              </a:gs>
              <a:gs pos="100000">
                <a:srgbClr val="068ECC"/>
              </a:gs>
            </a:gsLst>
            <a:lin ang="5400000" scaled="1"/>
          </a:gradFill>
          <a:ln w="9525">
            <a:noFill/>
            <a:round/>
            <a:headEnd/>
            <a:tailEnd/>
          </a:ln>
        </p:spPr>
        <p:txBody>
          <a:bodyPr wrap="none" anchor="ctr"/>
          <a:lstStyle/>
          <a:p>
            <a:endParaRPr lang="zh-CN" altLang="en-US"/>
          </a:p>
        </p:txBody>
      </p:sp>
      <p:pic>
        <p:nvPicPr>
          <p:cNvPr id="789" name="Picture 105" descr="02章_05-1"/>
          <p:cNvPicPr>
            <a:picLocks noChangeAspect="1" noChangeArrowheads="1"/>
          </p:cNvPicPr>
          <p:nvPr/>
        </p:nvPicPr>
        <p:blipFill>
          <a:blip r:embed="rId2" cstate="print"/>
          <a:srcRect/>
          <a:stretch>
            <a:fillRect/>
          </a:stretch>
        </p:blipFill>
        <p:spPr bwMode="auto">
          <a:xfrm>
            <a:off x="3564385" y="3463138"/>
            <a:ext cx="188913" cy="136922"/>
          </a:xfrm>
          <a:prstGeom prst="rect">
            <a:avLst/>
          </a:prstGeom>
          <a:noFill/>
          <a:ln w="9525">
            <a:noFill/>
            <a:miter lim="800000"/>
            <a:headEnd/>
            <a:tailEnd/>
          </a:ln>
        </p:spPr>
      </p:pic>
      <p:pic>
        <p:nvPicPr>
          <p:cNvPr id="790" name="Picture 106" descr="02章_05-1"/>
          <p:cNvPicPr>
            <a:picLocks noChangeAspect="1" noChangeArrowheads="1"/>
          </p:cNvPicPr>
          <p:nvPr/>
        </p:nvPicPr>
        <p:blipFill>
          <a:blip r:embed="rId2" cstate="print"/>
          <a:srcRect/>
          <a:stretch>
            <a:fillRect/>
          </a:stretch>
        </p:blipFill>
        <p:spPr bwMode="auto">
          <a:xfrm>
            <a:off x="3591372" y="2815438"/>
            <a:ext cx="188912" cy="136922"/>
          </a:xfrm>
          <a:prstGeom prst="rect">
            <a:avLst/>
          </a:prstGeom>
          <a:noFill/>
          <a:ln w="9525">
            <a:noFill/>
            <a:miter lim="800000"/>
            <a:headEnd/>
            <a:tailEnd/>
          </a:ln>
        </p:spPr>
      </p:pic>
      <p:pic>
        <p:nvPicPr>
          <p:cNvPr id="791" name="Picture 107" descr="02章_05-1"/>
          <p:cNvPicPr>
            <a:picLocks noChangeAspect="1" noChangeArrowheads="1"/>
          </p:cNvPicPr>
          <p:nvPr/>
        </p:nvPicPr>
        <p:blipFill>
          <a:blip r:embed="rId2" cstate="print"/>
          <a:srcRect/>
          <a:stretch>
            <a:fillRect/>
          </a:stretch>
        </p:blipFill>
        <p:spPr bwMode="auto">
          <a:xfrm>
            <a:off x="4332735" y="2545165"/>
            <a:ext cx="188913" cy="136922"/>
          </a:xfrm>
          <a:prstGeom prst="rect">
            <a:avLst/>
          </a:prstGeom>
          <a:noFill/>
          <a:ln w="9525">
            <a:noFill/>
            <a:miter lim="800000"/>
            <a:headEnd/>
            <a:tailEnd/>
          </a:ln>
        </p:spPr>
      </p:pic>
      <p:pic>
        <p:nvPicPr>
          <p:cNvPr id="792" name="Picture 108" descr="02章_05-1"/>
          <p:cNvPicPr>
            <a:picLocks noChangeAspect="1" noChangeArrowheads="1"/>
          </p:cNvPicPr>
          <p:nvPr/>
        </p:nvPicPr>
        <p:blipFill>
          <a:blip r:embed="rId2" cstate="print"/>
          <a:srcRect/>
          <a:stretch>
            <a:fillRect/>
          </a:stretch>
        </p:blipFill>
        <p:spPr bwMode="auto">
          <a:xfrm>
            <a:off x="5075685" y="2869015"/>
            <a:ext cx="188913" cy="136922"/>
          </a:xfrm>
          <a:prstGeom prst="rect">
            <a:avLst/>
          </a:prstGeom>
          <a:noFill/>
          <a:ln w="9525">
            <a:noFill/>
            <a:miter lim="800000"/>
            <a:headEnd/>
            <a:tailEnd/>
          </a:ln>
        </p:spPr>
      </p:pic>
      <p:pic>
        <p:nvPicPr>
          <p:cNvPr id="793" name="Picture 109" descr="02章_05-1"/>
          <p:cNvPicPr>
            <a:picLocks noChangeAspect="1" noChangeArrowheads="1"/>
          </p:cNvPicPr>
          <p:nvPr/>
        </p:nvPicPr>
        <p:blipFill>
          <a:blip r:embed="rId2" cstate="print"/>
          <a:srcRect/>
          <a:stretch>
            <a:fillRect/>
          </a:stretch>
        </p:blipFill>
        <p:spPr bwMode="auto">
          <a:xfrm>
            <a:off x="5075685" y="3463138"/>
            <a:ext cx="188913" cy="136922"/>
          </a:xfrm>
          <a:prstGeom prst="rect">
            <a:avLst/>
          </a:prstGeom>
          <a:noFill/>
          <a:ln w="9525">
            <a:noFill/>
            <a:miter lim="800000"/>
            <a:headEnd/>
            <a:tailEnd/>
          </a:ln>
        </p:spPr>
      </p:pic>
      <p:sp>
        <p:nvSpPr>
          <p:cNvPr id="794" name="Text Box 112"/>
          <p:cNvSpPr txBox="1">
            <a:spLocks noChangeArrowheads="1"/>
          </p:cNvSpPr>
          <p:nvPr/>
        </p:nvSpPr>
        <p:spPr bwMode="auto">
          <a:xfrm>
            <a:off x="5531121" y="3062539"/>
            <a:ext cx="2448272" cy="461665"/>
          </a:xfrm>
          <a:prstGeom prst="rect">
            <a:avLst/>
          </a:prstGeom>
          <a:noFill/>
          <a:ln w="9525">
            <a:noFill/>
            <a:miter lim="800000"/>
            <a:headEnd/>
            <a:tailEnd/>
          </a:ln>
        </p:spPr>
        <p:txBody>
          <a:bodyPr wrap="square">
            <a:spAutoFit/>
          </a:bodyPr>
          <a:lstStyle/>
          <a:p>
            <a:pPr marL="0" lvl="1" algn="ctr"/>
            <a:r>
              <a:rPr lang="zh-CN" altLang="en-US" sz="2400" b="1" dirty="0" smtClean="0">
                <a:solidFill>
                  <a:srgbClr val="FFFF00"/>
                </a:solidFill>
                <a:latin typeface="+mn-ea"/>
              </a:rPr>
              <a:t>文件管理</a:t>
            </a:r>
            <a:endParaRPr lang="en-US" altLang="ko-KR" sz="2400" b="1" dirty="0" smtClean="0">
              <a:solidFill>
                <a:srgbClr val="FFFF00"/>
              </a:solidFill>
              <a:latin typeface="+mn-ea"/>
            </a:endParaRPr>
          </a:p>
        </p:txBody>
      </p:sp>
      <p:sp>
        <p:nvSpPr>
          <p:cNvPr id="796" name="Text Box 111"/>
          <p:cNvSpPr txBox="1">
            <a:spLocks noChangeArrowheads="1"/>
          </p:cNvSpPr>
          <p:nvPr/>
        </p:nvSpPr>
        <p:spPr bwMode="auto">
          <a:xfrm>
            <a:off x="467544" y="3127323"/>
            <a:ext cx="2455680" cy="461665"/>
          </a:xfrm>
          <a:prstGeom prst="rect">
            <a:avLst/>
          </a:prstGeom>
          <a:noFill/>
          <a:ln w="9525">
            <a:noFill/>
            <a:miter lim="800000"/>
            <a:headEnd/>
            <a:tailEnd/>
          </a:ln>
        </p:spPr>
        <p:txBody>
          <a:bodyPr wrap="square">
            <a:spAutoFit/>
          </a:bodyPr>
          <a:lstStyle/>
          <a:p>
            <a:pPr marL="0" lvl="1" algn="ctr"/>
            <a:r>
              <a:rPr lang="zh-CN" altLang="en-US" sz="2400" b="1" dirty="0" smtClean="0">
                <a:solidFill>
                  <a:srgbClr val="FFFF00"/>
                </a:solidFill>
                <a:latin typeface="+mn-ea"/>
              </a:rPr>
              <a:t>环境设置</a:t>
            </a:r>
            <a:endParaRPr lang="en-US" altLang="ko-KR" sz="2400" b="1" dirty="0" smtClean="0">
              <a:solidFill>
                <a:srgbClr val="FFFF00"/>
              </a:solidFill>
              <a:latin typeface="+mn-ea"/>
            </a:endParaRPr>
          </a:p>
        </p:txBody>
      </p:sp>
      <p:sp>
        <p:nvSpPr>
          <p:cNvPr id="801" name="AutoShape 121"/>
          <p:cNvSpPr>
            <a:spLocks noChangeArrowheads="1"/>
          </p:cNvSpPr>
          <p:nvPr/>
        </p:nvSpPr>
        <p:spPr bwMode="auto">
          <a:xfrm>
            <a:off x="3167509" y="3490522"/>
            <a:ext cx="604838" cy="230981"/>
          </a:xfrm>
          <a:prstGeom prst="roundRect">
            <a:avLst>
              <a:gd name="adj" fmla="val 50000"/>
            </a:avLst>
          </a:prstGeom>
          <a:noFill/>
          <a:ln w="12700">
            <a:noFill/>
            <a:round/>
            <a:headEnd/>
            <a:tailEnd/>
          </a:ln>
        </p:spPr>
        <p:txBody>
          <a:bodyPr wrap="none" anchor="ctr"/>
          <a:lstStyle/>
          <a:p>
            <a:pPr algn="ctr"/>
            <a:r>
              <a:rPr lang="en-US" altLang="ko-KR" sz="2400" b="1" dirty="0">
                <a:solidFill>
                  <a:srgbClr val="FFFFFF"/>
                </a:solidFill>
                <a:latin typeface="Century Gothic" pitchFamily="34" charset="0"/>
                <a:ea typeface="Gulim" pitchFamily="34" charset="-127"/>
              </a:rPr>
              <a:t>1</a:t>
            </a:r>
          </a:p>
        </p:txBody>
      </p:sp>
      <p:sp>
        <p:nvSpPr>
          <p:cNvPr id="802" name="AutoShape 122"/>
          <p:cNvSpPr>
            <a:spLocks noChangeArrowheads="1"/>
          </p:cNvSpPr>
          <p:nvPr/>
        </p:nvSpPr>
        <p:spPr bwMode="auto">
          <a:xfrm>
            <a:off x="5053184" y="3498146"/>
            <a:ext cx="604837" cy="229790"/>
          </a:xfrm>
          <a:prstGeom prst="roundRect">
            <a:avLst>
              <a:gd name="adj" fmla="val 50000"/>
            </a:avLst>
          </a:prstGeom>
          <a:noFill/>
          <a:ln w="12700">
            <a:noFill/>
            <a:round/>
            <a:headEnd/>
            <a:tailEnd/>
          </a:ln>
        </p:spPr>
        <p:txBody>
          <a:bodyPr wrap="none" anchor="ctr"/>
          <a:lstStyle/>
          <a:p>
            <a:pPr algn="ctr"/>
            <a:r>
              <a:rPr lang="en-US" altLang="zh-CN" sz="2400" b="1" dirty="0" smtClean="0">
                <a:solidFill>
                  <a:srgbClr val="FFFFFF"/>
                </a:solidFill>
                <a:latin typeface="Century Gothic" pitchFamily="34" charset="0"/>
                <a:ea typeface="Gulim" pitchFamily="34" charset="-127"/>
              </a:rPr>
              <a:t>4</a:t>
            </a:r>
            <a:endParaRPr lang="en-US" altLang="ko-KR" sz="2400" b="1" dirty="0">
              <a:solidFill>
                <a:srgbClr val="FFFFFF"/>
              </a:solidFill>
              <a:latin typeface="Century Gothic" pitchFamily="34" charset="0"/>
              <a:ea typeface="Gulim" pitchFamily="34" charset="-127"/>
            </a:endParaRPr>
          </a:p>
        </p:txBody>
      </p:sp>
      <p:sp>
        <p:nvSpPr>
          <p:cNvPr id="803" name="AutoShape 123"/>
          <p:cNvSpPr>
            <a:spLocks noChangeArrowheads="1"/>
          </p:cNvSpPr>
          <p:nvPr/>
        </p:nvSpPr>
        <p:spPr bwMode="auto">
          <a:xfrm>
            <a:off x="5072400" y="2723116"/>
            <a:ext cx="604837" cy="229790"/>
          </a:xfrm>
          <a:prstGeom prst="roundRect">
            <a:avLst>
              <a:gd name="adj" fmla="val 50000"/>
            </a:avLst>
          </a:prstGeom>
          <a:noFill/>
          <a:ln w="12700">
            <a:noFill/>
            <a:round/>
            <a:headEnd/>
            <a:tailEnd/>
          </a:ln>
        </p:spPr>
        <p:txBody>
          <a:bodyPr wrap="none" anchor="ctr"/>
          <a:lstStyle/>
          <a:p>
            <a:pPr algn="ctr"/>
            <a:r>
              <a:rPr lang="en-US" altLang="zh-CN" sz="2400" b="1" dirty="0" smtClean="0">
                <a:solidFill>
                  <a:srgbClr val="FFFFFF"/>
                </a:solidFill>
                <a:latin typeface="Century Gothic" pitchFamily="34" charset="0"/>
                <a:ea typeface="Gulim" pitchFamily="34" charset="-127"/>
              </a:rPr>
              <a:t>3</a:t>
            </a:r>
            <a:endParaRPr lang="en-US" altLang="ko-KR" sz="2400" b="1" dirty="0">
              <a:solidFill>
                <a:srgbClr val="FFFFFF"/>
              </a:solidFill>
              <a:latin typeface="Century Gothic" pitchFamily="34" charset="0"/>
              <a:ea typeface="Gulim" pitchFamily="34" charset="-127"/>
            </a:endParaRPr>
          </a:p>
        </p:txBody>
      </p:sp>
      <p:sp>
        <p:nvSpPr>
          <p:cNvPr id="804" name="AutoShape 124"/>
          <p:cNvSpPr>
            <a:spLocks noChangeArrowheads="1"/>
          </p:cNvSpPr>
          <p:nvPr/>
        </p:nvSpPr>
        <p:spPr bwMode="auto">
          <a:xfrm>
            <a:off x="3138934" y="2788054"/>
            <a:ext cx="604838" cy="229790"/>
          </a:xfrm>
          <a:prstGeom prst="roundRect">
            <a:avLst>
              <a:gd name="adj" fmla="val 50000"/>
            </a:avLst>
          </a:prstGeom>
          <a:noFill/>
          <a:ln w="12700">
            <a:noFill/>
            <a:round/>
            <a:headEnd/>
            <a:tailEnd/>
          </a:ln>
        </p:spPr>
        <p:txBody>
          <a:bodyPr wrap="none" anchor="ctr"/>
          <a:lstStyle/>
          <a:p>
            <a:pPr algn="ctr"/>
            <a:r>
              <a:rPr lang="en-US" altLang="ko-KR" sz="2400" b="1" dirty="0">
                <a:solidFill>
                  <a:srgbClr val="FFFFFF"/>
                </a:solidFill>
                <a:latin typeface="Century Gothic" pitchFamily="34" charset="0"/>
                <a:ea typeface="Gulim" pitchFamily="34" charset="-127"/>
              </a:rPr>
              <a:t>2</a:t>
            </a:r>
          </a:p>
        </p:txBody>
      </p:sp>
      <p:sp>
        <p:nvSpPr>
          <p:cNvPr id="805" name="Text Box 125"/>
          <p:cNvSpPr txBox="1">
            <a:spLocks noChangeArrowheads="1"/>
          </p:cNvSpPr>
          <p:nvPr/>
        </p:nvSpPr>
        <p:spPr bwMode="auto">
          <a:xfrm>
            <a:off x="4102501" y="2907680"/>
            <a:ext cx="700833" cy="495585"/>
          </a:xfrm>
          <a:prstGeom prst="rect">
            <a:avLst/>
          </a:prstGeom>
          <a:noFill/>
          <a:ln w="9525">
            <a:noFill/>
            <a:miter lim="800000"/>
            <a:headEnd/>
            <a:tailEnd/>
          </a:ln>
        </p:spPr>
        <p:txBody>
          <a:bodyPr wrap="none">
            <a:spAutoFit/>
          </a:bodyPr>
          <a:lstStyle/>
          <a:p>
            <a:pPr algn="ctr" latinLnBrk="1">
              <a:lnSpc>
                <a:spcPct val="150000"/>
              </a:lnSpc>
            </a:pPr>
            <a:r>
              <a:rPr kumimoji="1" lang="zh-CN" altLang="en-US" sz="2000" b="1" dirty="0">
                <a:solidFill>
                  <a:schemeClr val="tx1">
                    <a:lumMod val="50000"/>
                  </a:schemeClr>
                </a:solidFill>
                <a:latin typeface="Times New Roman" pitchFamily="18" charset="0"/>
                <a:ea typeface="HY견고딕"/>
                <a:cs typeface="Times New Roman" pitchFamily="18" charset="0"/>
              </a:rPr>
              <a:t>种类</a:t>
            </a:r>
            <a:endParaRPr kumimoji="1" lang="ko-KR" altLang="en-US" sz="2000" b="1" dirty="0">
              <a:solidFill>
                <a:schemeClr val="tx1">
                  <a:lumMod val="50000"/>
                </a:schemeClr>
              </a:solidFill>
              <a:latin typeface="Times New Roman" pitchFamily="18" charset="0"/>
              <a:ea typeface="HY견고딕"/>
              <a:cs typeface="Times New Roman" pitchFamily="18" charset="0"/>
            </a:endParaRPr>
          </a:p>
        </p:txBody>
      </p:sp>
      <p:sp>
        <p:nvSpPr>
          <p:cNvPr id="808" name="Text Box 112"/>
          <p:cNvSpPr txBox="1">
            <a:spLocks noChangeArrowheads="1"/>
          </p:cNvSpPr>
          <p:nvPr/>
        </p:nvSpPr>
        <p:spPr bwMode="auto">
          <a:xfrm>
            <a:off x="588224" y="1809777"/>
            <a:ext cx="2293024" cy="1138773"/>
          </a:xfrm>
          <a:prstGeom prst="rect">
            <a:avLst/>
          </a:prstGeom>
          <a:noFill/>
          <a:ln w="9525">
            <a:noFill/>
            <a:miter lim="800000"/>
            <a:headEnd/>
            <a:tailEnd/>
          </a:ln>
        </p:spPr>
        <p:txBody>
          <a:bodyPr wrap="square">
            <a:spAutoFit/>
          </a:bodyPr>
          <a:lstStyle/>
          <a:p>
            <a:pPr marL="0" lvl="1" algn="ctr"/>
            <a:r>
              <a:rPr lang="en-US" altLang="zh-CN" sz="2800" b="0" dirty="0" smtClean="0">
                <a:latin typeface="Times New Roman" pitchFamily="18" charset="0"/>
                <a:cs typeface="Times New Roman" pitchFamily="18" charset="0"/>
              </a:rPr>
              <a:t> </a:t>
            </a:r>
            <a:r>
              <a:rPr lang="zh-CN" altLang="en-US" sz="2000" b="1" dirty="0" smtClean="0">
                <a:solidFill>
                  <a:schemeClr val="bg1"/>
                </a:solidFill>
                <a:latin typeface="+mn-ea"/>
              </a:rPr>
              <a:t>控制用户访问系统和读、写、执行有关文件的权限</a:t>
            </a:r>
            <a:endParaRPr lang="ko-KR" altLang="en-US" sz="2000" b="1" dirty="0" smtClean="0">
              <a:solidFill>
                <a:schemeClr val="accent2">
                  <a:lumMod val="40000"/>
                  <a:lumOff val="60000"/>
                </a:schemeClr>
              </a:solidFill>
              <a:latin typeface="+mn-ea"/>
            </a:endParaRPr>
          </a:p>
        </p:txBody>
      </p:sp>
      <p:sp>
        <p:nvSpPr>
          <p:cNvPr id="61" name="제목 1"/>
          <p:cNvSpPr txBox="1">
            <a:spLocks/>
          </p:cNvSpPr>
          <p:nvPr/>
        </p:nvSpPr>
        <p:spPr>
          <a:xfrm>
            <a:off x="571472" y="142858"/>
            <a:ext cx="731289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联机</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控制方式的命令种类</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2" name="Text Box 111"/>
          <p:cNvSpPr txBox="1">
            <a:spLocks noChangeArrowheads="1"/>
          </p:cNvSpPr>
          <p:nvPr/>
        </p:nvSpPr>
        <p:spPr bwMode="auto">
          <a:xfrm>
            <a:off x="568791" y="3607348"/>
            <a:ext cx="2567854" cy="707886"/>
          </a:xfrm>
          <a:prstGeom prst="rect">
            <a:avLst/>
          </a:prstGeom>
          <a:noFill/>
          <a:ln w="9525">
            <a:noFill/>
            <a:miter lim="800000"/>
            <a:headEnd/>
            <a:tailEnd/>
          </a:ln>
        </p:spPr>
        <p:txBody>
          <a:bodyPr wrap="square">
            <a:spAutoFit/>
          </a:bodyPr>
          <a:lstStyle/>
          <a:p>
            <a:pPr marL="0" lvl="1" algn="ctr"/>
            <a:r>
              <a:rPr lang="zh-CN" altLang="en-US" sz="2000" b="1" dirty="0" smtClean="0">
                <a:solidFill>
                  <a:schemeClr val="bg1"/>
                </a:solidFill>
                <a:latin typeface="+mn-ea"/>
              </a:rPr>
              <a:t>改变终端用户的所在位置、执行路径等</a:t>
            </a:r>
            <a:endParaRPr lang="en-US" altLang="ko-KR" sz="2000" b="1" dirty="0" smtClean="0">
              <a:solidFill>
                <a:schemeClr val="bg1"/>
              </a:solidFill>
              <a:latin typeface="+mn-ea"/>
            </a:endParaRPr>
          </a:p>
        </p:txBody>
      </p:sp>
      <p:sp>
        <p:nvSpPr>
          <p:cNvPr id="53" name="Text Box 111"/>
          <p:cNvSpPr txBox="1">
            <a:spLocks noChangeArrowheads="1"/>
          </p:cNvSpPr>
          <p:nvPr/>
        </p:nvSpPr>
        <p:spPr bwMode="auto">
          <a:xfrm>
            <a:off x="539552" y="1416767"/>
            <a:ext cx="2455680" cy="461665"/>
          </a:xfrm>
          <a:prstGeom prst="rect">
            <a:avLst/>
          </a:prstGeom>
          <a:noFill/>
          <a:ln w="9525">
            <a:noFill/>
            <a:miter lim="800000"/>
            <a:headEnd/>
            <a:tailEnd/>
          </a:ln>
        </p:spPr>
        <p:txBody>
          <a:bodyPr wrap="square">
            <a:spAutoFit/>
          </a:bodyPr>
          <a:lstStyle/>
          <a:p>
            <a:pPr marL="0" lvl="1" algn="ctr"/>
            <a:r>
              <a:rPr lang="zh-CN" altLang="en-US" sz="2400" b="1" dirty="0" smtClean="0">
                <a:solidFill>
                  <a:srgbClr val="FFFF00"/>
                </a:solidFill>
                <a:latin typeface="+mn-ea"/>
              </a:rPr>
              <a:t>执行权限管理</a:t>
            </a:r>
            <a:endParaRPr lang="en-US" altLang="ko-KR" sz="2400" b="1" dirty="0" smtClean="0">
              <a:solidFill>
                <a:srgbClr val="FFFF00"/>
              </a:solidFill>
              <a:latin typeface="+mn-ea"/>
            </a:endParaRPr>
          </a:p>
        </p:txBody>
      </p:sp>
      <p:sp>
        <p:nvSpPr>
          <p:cNvPr id="54" name="Text Box 111"/>
          <p:cNvSpPr txBox="1">
            <a:spLocks noChangeArrowheads="1"/>
          </p:cNvSpPr>
          <p:nvPr/>
        </p:nvSpPr>
        <p:spPr bwMode="auto">
          <a:xfrm>
            <a:off x="5212032" y="1449870"/>
            <a:ext cx="2455680" cy="461665"/>
          </a:xfrm>
          <a:prstGeom prst="rect">
            <a:avLst/>
          </a:prstGeom>
          <a:noFill/>
          <a:ln w="9525">
            <a:noFill/>
            <a:miter lim="800000"/>
            <a:headEnd/>
            <a:tailEnd/>
          </a:ln>
        </p:spPr>
        <p:txBody>
          <a:bodyPr wrap="square">
            <a:spAutoFit/>
          </a:bodyPr>
          <a:lstStyle/>
          <a:p>
            <a:pPr marL="0" lvl="1" algn="ctr"/>
            <a:r>
              <a:rPr lang="zh-CN" altLang="en-US" sz="2400" b="1" dirty="0" smtClean="0">
                <a:solidFill>
                  <a:srgbClr val="FFFF00"/>
                </a:solidFill>
                <a:latin typeface="+mn-ea"/>
              </a:rPr>
              <a:t>系统管理</a:t>
            </a:r>
            <a:endParaRPr lang="en-US" altLang="ko-KR" sz="2400" b="1" dirty="0" smtClean="0">
              <a:solidFill>
                <a:srgbClr val="FFFF00"/>
              </a:solidFill>
              <a:latin typeface="+mn-ea"/>
            </a:endParaRPr>
          </a:p>
        </p:txBody>
      </p:sp>
      <p:sp>
        <p:nvSpPr>
          <p:cNvPr id="55" name="Text Box 111"/>
          <p:cNvSpPr txBox="1">
            <a:spLocks noChangeArrowheads="1"/>
          </p:cNvSpPr>
          <p:nvPr/>
        </p:nvSpPr>
        <p:spPr bwMode="auto">
          <a:xfrm>
            <a:off x="5345975" y="1873805"/>
            <a:ext cx="2567854" cy="923330"/>
          </a:xfrm>
          <a:prstGeom prst="rect">
            <a:avLst/>
          </a:prstGeom>
          <a:noFill/>
          <a:ln w="9525">
            <a:noFill/>
            <a:miter lim="800000"/>
            <a:headEnd/>
            <a:tailEnd/>
          </a:ln>
        </p:spPr>
        <p:txBody>
          <a:bodyPr wrap="square">
            <a:spAutoFit/>
          </a:bodyPr>
          <a:lstStyle/>
          <a:p>
            <a:pPr marL="0" lvl="1" algn="ctr"/>
            <a:r>
              <a:rPr lang="zh-CN" altLang="en-US" b="1" dirty="0" smtClean="0">
                <a:solidFill>
                  <a:schemeClr val="bg1"/>
                </a:solidFill>
                <a:latin typeface="+mn-ea"/>
              </a:rPr>
              <a:t>系统维护、开机与关机，增加或减少用户终端、计时收费等</a:t>
            </a:r>
            <a:endParaRPr lang="en-US" altLang="ko-KR" b="1" dirty="0" smtClean="0">
              <a:solidFill>
                <a:schemeClr val="bg1"/>
              </a:solidFill>
              <a:latin typeface="+mn-ea"/>
            </a:endParaRPr>
          </a:p>
        </p:txBody>
      </p:sp>
      <p:sp>
        <p:nvSpPr>
          <p:cNvPr id="57" name="Text Box 112"/>
          <p:cNvSpPr txBox="1">
            <a:spLocks noChangeArrowheads="1"/>
          </p:cNvSpPr>
          <p:nvPr/>
        </p:nvSpPr>
        <p:spPr bwMode="auto">
          <a:xfrm>
            <a:off x="5725957" y="3446631"/>
            <a:ext cx="2293024" cy="830997"/>
          </a:xfrm>
          <a:prstGeom prst="rect">
            <a:avLst/>
          </a:prstGeom>
          <a:noFill/>
          <a:ln w="9525">
            <a:noFill/>
            <a:miter lim="800000"/>
            <a:headEnd/>
            <a:tailEnd/>
          </a:ln>
        </p:spPr>
        <p:txBody>
          <a:bodyPr wrap="square">
            <a:spAutoFit/>
          </a:bodyPr>
          <a:lstStyle/>
          <a:p>
            <a:pPr marL="0" lvl="1" algn="ctr"/>
            <a:r>
              <a:rPr lang="en-US" altLang="zh-CN" sz="2800" b="0" dirty="0" smtClean="0">
                <a:latin typeface="Times New Roman" pitchFamily="18" charset="0"/>
                <a:cs typeface="Times New Roman" pitchFamily="18" charset="0"/>
              </a:rPr>
              <a:t> </a:t>
            </a:r>
            <a:r>
              <a:rPr lang="zh-CN" altLang="en-US" sz="2000" b="1" dirty="0" smtClean="0">
                <a:solidFill>
                  <a:schemeClr val="bg1"/>
                </a:solidFill>
                <a:latin typeface="+mn-ea"/>
              </a:rPr>
              <a:t>管理和控制终端用户的文件</a:t>
            </a:r>
            <a:endParaRPr lang="ko-KR" altLang="en-US" sz="2000" b="1" dirty="0" smtClean="0">
              <a:solidFill>
                <a:schemeClr val="accent2">
                  <a:lumMod val="40000"/>
                  <a:lumOff val="60000"/>
                </a:schemeClr>
              </a:solidFill>
              <a:latin typeface="+mn-ea"/>
            </a:endParaRPr>
          </a:p>
        </p:txBody>
      </p:sp>
      <p:pic>
        <p:nvPicPr>
          <p:cNvPr id="62" name="Picture 74" descr="02章_05-2"/>
          <p:cNvPicPr>
            <a:picLocks noChangeAspect="1" noChangeArrowheads="1"/>
          </p:cNvPicPr>
          <p:nvPr/>
        </p:nvPicPr>
        <p:blipFill>
          <a:blip r:embed="rId3" cstate="print"/>
          <a:srcRect b="22370"/>
          <a:stretch>
            <a:fillRect/>
          </a:stretch>
        </p:blipFill>
        <p:spPr bwMode="auto">
          <a:xfrm>
            <a:off x="3550585" y="3690114"/>
            <a:ext cx="1657350" cy="756065"/>
          </a:xfrm>
          <a:prstGeom prst="rect">
            <a:avLst/>
          </a:prstGeom>
          <a:noFill/>
          <a:ln w="9525">
            <a:noFill/>
            <a:miter lim="800000"/>
            <a:headEnd/>
            <a:tailEnd/>
          </a:ln>
        </p:spPr>
      </p:pic>
      <p:grpSp>
        <p:nvGrpSpPr>
          <p:cNvPr id="66" name="组合 65"/>
          <p:cNvGrpSpPr/>
          <p:nvPr/>
        </p:nvGrpSpPr>
        <p:grpSpPr>
          <a:xfrm>
            <a:off x="1065071" y="364465"/>
            <a:ext cx="6434922" cy="4623973"/>
            <a:chOff x="685800" y="381000"/>
            <a:chExt cx="8153400" cy="5988233"/>
          </a:xfrm>
        </p:grpSpPr>
        <p:pic>
          <p:nvPicPr>
            <p:cNvPr id="67" name="图片 66"/>
            <p:cNvPicPr>
              <a:picLocks noChangeAspect="1"/>
            </p:cNvPicPr>
            <p:nvPr/>
          </p:nvPicPr>
          <p:blipFill>
            <a:blip r:embed="rId4"/>
            <a:stretch>
              <a:fillRect/>
            </a:stretch>
          </p:blipFill>
          <p:spPr>
            <a:xfrm>
              <a:off x="685800" y="381000"/>
              <a:ext cx="8153400" cy="5988233"/>
            </a:xfrm>
            <a:prstGeom prst="rect">
              <a:avLst/>
            </a:prstGeom>
          </p:spPr>
        </p:pic>
        <p:sp>
          <p:nvSpPr>
            <p:cNvPr id="68" name="矩形 67"/>
            <p:cNvSpPr/>
            <p:nvPr/>
          </p:nvSpPr>
          <p:spPr bwMode="auto">
            <a:xfrm>
              <a:off x="1828800" y="1418772"/>
              <a:ext cx="457200" cy="304800"/>
            </a:xfrm>
            <a:prstGeom prst="rect">
              <a:avLst/>
            </a:prstGeom>
            <a:noFill/>
            <a:ln w="57150" cap="flat" cmpd="sng" algn="ctr">
              <a:solidFill>
                <a:srgbClr val="FFFF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grpSp>
      <p:grpSp>
        <p:nvGrpSpPr>
          <p:cNvPr id="3" name="组合 2"/>
          <p:cNvGrpSpPr/>
          <p:nvPr/>
        </p:nvGrpSpPr>
        <p:grpSpPr>
          <a:xfrm>
            <a:off x="1065071" y="371358"/>
            <a:ext cx="6819297" cy="4523583"/>
            <a:chOff x="1065071" y="371358"/>
            <a:chExt cx="6819297" cy="4523583"/>
          </a:xfrm>
        </p:grpSpPr>
        <p:pic>
          <p:nvPicPr>
            <p:cNvPr id="69" name="图片 68"/>
            <p:cNvPicPr>
              <a:picLocks noChangeAspect="1"/>
            </p:cNvPicPr>
            <p:nvPr/>
          </p:nvPicPr>
          <p:blipFill rotWithShape="1">
            <a:blip r:embed="rId5"/>
            <a:srcRect b="9237"/>
            <a:stretch/>
          </p:blipFill>
          <p:spPr>
            <a:xfrm>
              <a:off x="1098397" y="371358"/>
              <a:ext cx="6785971" cy="4523583"/>
            </a:xfrm>
            <a:prstGeom prst="rect">
              <a:avLst/>
            </a:prstGeom>
          </p:spPr>
        </p:pic>
        <p:sp>
          <p:nvSpPr>
            <p:cNvPr id="2" name="矩形 1"/>
            <p:cNvSpPr/>
            <p:nvPr/>
          </p:nvSpPr>
          <p:spPr>
            <a:xfrm>
              <a:off x="1065071" y="2173691"/>
              <a:ext cx="2526301" cy="205472"/>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0" name="图片 69"/>
          <p:cNvPicPr>
            <a:picLocks noChangeAspect="1"/>
          </p:cNvPicPr>
          <p:nvPr/>
        </p:nvPicPr>
        <p:blipFill rotWithShape="1">
          <a:blip r:embed="rId6"/>
          <a:srcRect b="77686"/>
          <a:stretch/>
        </p:blipFill>
        <p:spPr>
          <a:xfrm>
            <a:off x="653688" y="1857854"/>
            <a:ext cx="7294849" cy="1195514"/>
          </a:xfrm>
          <a:prstGeom prst="rect">
            <a:avLst/>
          </a:prstGeom>
        </p:spPr>
      </p:pic>
      <p:pic>
        <p:nvPicPr>
          <p:cNvPr id="71" name="图片 70"/>
          <p:cNvPicPr>
            <a:picLocks noChangeAspect="1"/>
          </p:cNvPicPr>
          <p:nvPr/>
        </p:nvPicPr>
        <p:blipFill rotWithShape="1">
          <a:blip r:embed="rId7"/>
          <a:srcRect b="52595"/>
          <a:stretch/>
        </p:blipFill>
        <p:spPr>
          <a:xfrm>
            <a:off x="411610" y="1586722"/>
            <a:ext cx="8000999" cy="2785654"/>
          </a:xfrm>
          <a:prstGeom prst="rect">
            <a:avLst/>
          </a:prstGeom>
        </p:spPr>
      </p:pic>
      <p:pic>
        <p:nvPicPr>
          <p:cNvPr id="72" name="图片 71"/>
          <p:cNvPicPr>
            <a:picLocks noChangeAspect="1"/>
          </p:cNvPicPr>
          <p:nvPr/>
        </p:nvPicPr>
        <p:blipFill rotWithShape="1">
          <a:blip r:embed="rId8"/>
          <a:srcRect b="39418"/>
          <a:stretch/>
        </p:blipFill>
        <p:spPr>
          <a:xfrm>
            <a:off x="370977" y="829510"/>
            <a:ext cx="8001000" cy="3559992"/>
          </a:xfrm>
          <a:prstGeom prst="rect">
            <a:avLst/>
          </a:prstGeom>
        </p:spPr>
      </p:pic>
      <p:grpSp>
        <p:nvGrpSpPr>
          <p:cNvPr id="73" name="组合 72"/>
          <p:cNvGrpSpPr/>
          <p:nvPr/>
        </p:nvGrpSpPr>
        <p:grpSpPr>
          <a:xfrm>
            <a:off x="971600" y="130108"/>
            <a:ext cx="6932008" cy="4973613"/>
            <a:chOff x="663567" y="734061"/>
            <a:chExt cx="7719097" cy="5652933"/>
          </a:xfrm>
        </p:grpSpPr>
        <p:pic>
          <p:nvPicPr>
            <p:cNvPr id="74" name="图片 73"/>
            <p:cNvPicPr>
              <a:picLocks noChangeAspect="1"/>
            </p:cNvPicPr>
            <p:nvPr/>
          </p:nvPicPr>
          <p:blipFill>
            <a:blip r:embed="rId9"/>
            <a:stretch>
              <a:fillRect/>
            </a:stretch>
          </p:blipFill>
          <p:spPr>
            <a:xfrm>
              <a:off x="685799" y="734061"/>
              <a:ext cx="7696865" cy="5652933"/>
            </a:xfrm>
            <a:prstGeom prst="rect">
              <a:avLst/>
            </a:prstGeom>
          </p:spPr>
        </p:pic>
        <p:sp>
          <p:nvSpPr>
            <p:cNvPr id="75" name="矩形 74"/>
            <p:cNvSpPr/>
            <p:nvPr/>
          </p:nvSpPr>
          <p:spPr bwMode="auto">
            <a:xfrm>
              <a:off x="663567" y="3048000"/>
              <a:ext cx="7489833" cy="397330"/>
            </a:xfrm>
            <a:prstGeom prst="rect">
              <a:avLst/>
            </a:prstGeom>
            <a:noFill/>
            <a:ln w="28575" cap="flat" cmpd="sng" algn="ctr">
              <a:solidFill>
                <a:srgbClr val="FFFF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grpSp>
      <p:pic>
        <p:nvPicPr>
          <p:cNvPr id="76" name="图片 75"/>
          <p:cNvPicPr>
            <a:picLocks noChangeAspect="1"/>
          </p:cNvPicPr>
          <p:nvPr/>
        </p:nvPicPr>
        <p:blipFill>
          <a:blip r:embed="rId10"/>
          <a:stretch>
            <a:fillRect/>
          </a:stretch>
        </p:blipFill>
        <p:spPr>
          <a:xfrm>
            <a:off x="1017320" y="287225"/>
            <a:ext cx="6218976" cy="4567504"/>
          </a:xfrm>
          <a:prstGeom prst="rect">
            <a:avLst/>
          </a:prstGeom>
        </p:spPr>
      </p:pic>
      <p:grpSp>
        <p:nvGrpSpPr>
          <p:cNvPr id="4" name="组合 3"/>
          <p:cNvGrpSpPr/>
          <p:nvPr/>
        </p:nvGrpSpPr>
        <p:grpSpPr>
          <a:xfrm>
            <a:off x="997493" y="423008"/>
            <a:ext cx="6049420" cy="4182163"/>
            <a:chOff x="997493" y="423008"/>
            <a:chExt cx="6049420" cy="4182163"/>
          </a:xfrm>
        </p:grpSpPr>
        <p:pic>
          <p:nvPicPr>
            <p:cNvPr id="77" name="图片 76"/>
            <p:cNvPicPr>
              <a:picLocks noChangeAspect="1"/>
            </p:cNvPicPr>
            <p:nvPr/>
          </p:nvPicPr>
          <p:blipFill>
            <a:blip r:embed="rId11"/>
            <a:stretch>
              <a:fillRect/>
            </a:stretch>
          </p:blipFill>
          <p:spPr>
            <a:xfrm>
              <a:off x="997493" y="423008"/>
              <a:ext cx="6049420" cy="4182163"/>
            </a:xfrm>
            <a:prstGeom prst="rect">
              <a:avLst/>
            </a:prstGeom>
          </p:spPr>
        </p:pic>
        <p:sp>
          <p:nvSpPr>
            <p:cNvPr id="78" name="线形标注 1 77"/>
            <p:cNvSpPr/>
            <p:nvPr/>
          </p:nvSpPr>
          <p:spPr bwMode="auto">
            <a:xfrm>
              <a:off x="2041153" y="2973542"/>
              <a:ext cx="4259039" cy="646331"/>
            </a:xfrm>
            <a:prstGeom prst="borderCallout1">
              <a:avLst>
                <a:gd name="adj1" fmla="val 30827"/>
                <a:gd name="adj2" fmla="val -224"/>
                <a:gd name="adj3" fmla="val -175972"/>
                <a:gd name="adj4" fmla="val 46565"/>
              </a:avLst>
            </a:prstGeom>
            <a:ln w="38100">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ctr" anchorCtr="0" compatLnSpc="1">
              <a:prstTxWarp prst="textNoShape">
                <a:avLst/>
              </a:prstTxWarp>
              <a:spAutoFit/>
            </a:bodyPr>
            <a:lstStyle/>
            <a:p>
              <a:r>
                <a:rPr lang="en-US" altLang="zh-CN" dirty="0"/>
                <a:t>F</a:t>
              </a:r>
              <a:r>
                <a:rPr lang="zh-CN" altLang="en-US" dirty="0"/>
                <a:t>表示完全控制，</a:t>
              </a:r>
              <a:r>
                <a:rPr lang="en-US" altLang="zh-CN" dirty="0"/>
                <a:t>C</a:t>
              </a:r>
              <a:r>
                <a:rPr lang="zh-CN" altLang="en-US" dirty="0"/>
                <a:t>表示更改，</a:t>
              </a:r>
              <a:r>
                <a:rPr lang="en-US" altLang="zh-CN" dirty="0"/>
                <a:t>W</a:t>
              </a:r>
              <a:r>
                <a:rPr lang="zh-CN" altLang="en-US" dirty="0"/>
                <a:t>表示写入</a:t>
              </a:r>
              <a:endParaRPr kumimoji="1" lang="zh-CN" altLang="en-US" sz="2400" b="0" i="0" u="none" strike="noStrike" cap="none" normalizeH="0" baseline="0" dirty="0" smtClean="0">
                <a:ln>
                  <a:noFill/>
                </a:ln>
                <a:solidFill>
                  <a:schemeClr val="tx1"/>
                </a:solidFill>
                <a:effectLst/>
                <a:latin typeface="Times New Roman" pitchFamily="18" charset="0"/>
                <a:ea typeface="宋体" pitchFamily="2" charset="-122"/>
              </a:endParaRPr>
            </a:p>
          </p:txBody>
        </p:sp>
      </p:grpSp>
      <p:grpSp>
        <p:nvGrpSpPr>
          <p:cNvPr id="79" name="组合 78"/>
          <p:cNvGrpSpPr/>
          <p:nvPr/>
        </p:nvGrpSpPr>
        <p:grpSpPr>
          <a:xfrm>
            <a:off x="898407" y="1251536"/>
            <a:ext cx="7178214" cy="1939331"/>
            <a:chOff x="822786" y="993285"/>
            <a:chExt cx="7178214" cy="1939331"/>
          </a:xfrm>
        </p:grpSpPr>
        <p:pic>
          <p:nvPicPr>
            <p:cNvPr id="80" name="图片 79"/>
            <p:cNvPicPr>
              <a:picLocks noChangeAspect="1"/>
            </p:cNvPicPr>
            <p:nvPr/>
          </p:nvPicPr>
          <p:blipFill rotWithShape="1">
            <a:blip r:embed="rId12"/>
            <a:srcRect b="74034"/>
            <a:stretch/>
          </p:blipFill>
          <p:spPr>
            <a:xfrm>
              <a:off x="822786" y="993285"/>
              <a:ext cx="7178214" cy="1368915"/>
            </a:xfrm>
            <a:prstGeom prst="rect">
              <a:avLst/>
            </a:prstGeom>
          </p:spPr>
        </p:pic>
        <p:sp>
          <p:nvSpPr>
            <p:cNvPr id="81" name="线形标注 1 80"/>
            <p:cNvSpPr/>
            <p:nvPr/>
          </p:nvSpPr>
          <p:spPr bwMode="auto">
            <a:xfrm>
              <a:off x="3825247" y="2532506"/>
              <a:ext cx="3023585" cy="400110"/>
            </a:xfrm>
            <a:prstGeom prst="borderCallout1">
              <a:avLst>
                <a:gd name="adj1" fmla="val 18750"/>
                <a:gd name="adj2" fmla="val -8333"/>
                <a:gd name="adj3" fmla="val -169748"/>
                <a:gd name="adj4" fmla="val -39066"/>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smtClean="0">
                  <a:ln>
                    <a:noFill/>
                  </a:ln>
                  <a:solidFill>
                    <a:schemeClr val="tx1"/>
                  </a:solidFill>
                  <a:effectLst/>
                  <a:latin typeface="Times New Roman" pitchFamily="18" charset="0"/>
                  <a:ea typeface="宋体" pitchFamily="2" charset="-122"/>
                </a:rPr>
                <a:t>替换指定用户的访问权限</a:t>
              </a:r>
            </a:p>
          </p:txBody>
        </p:sp>
      </p:grpSp>
    </p:spTree>
    <p:extLst>
      <p:ext uri="{BB962C8B-B14F-4D97-AF65-F5344CB8AC3E}">
        <p14:creationId xmlns:p14="http://schemas.microsoft.com/office/powerpoint/2010/main" val="38656625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96">
                                            <p:txEl>
                                              <p:pRg st="0" end="0"/>
                                            </p:txEl>
                                          </p:spTgt>
                                        </p:tgtEl>
                                        <p:attrNameLst>
                                          <p:attrName>style.visibility</p:attrName>
                                        </p:attrNameLst>
                                      </p:cBhvr>
                                      <p:to>
                                        <p:strVal val="visible"/>
                                      </p:to>
                                    </p:set>
                                    <p:animEffect transition="in" filter="wipe(left)">
                                      <p:cBhvr>
                                        <p:cTn id="7" dur="500"/>
                                        <p:tgtEl>
                                          <p:spTgt spid="7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
                                            <p:txEl>
                                              <p:pRg st="0" end="0"/>
                                            </p:txEl>
                                          </p:spTgt>
                                        </p:tgtEl>
                                        <p:attrNameLst>
                                          <p:attrName>style.visibility</p:attrName>
                                        </p:attrNameLst>
                                      </p:cBhvr>
                                      <p:to>
                                        <p:strVal val="visible"/>
                                      </p:to>
                                    </p:set>
                                    <p:animEffect transition="in" filter="wipe(left)">
                                      <p:cBhvr>
                                        <p:cTn id="12" dur="500"/>
                                        <p:tgtEl>
                                          <p:spTgt spid="5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left)">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66"/>
                                        </p:tgtEl>
                                      </p:cBhvr>
                                    </p:animEffect>
                                    <p:set>
                                      <p:cBhvr>
                                        <p:cTn id="22" dur="1" fill="hold">
                                          <p:stCondLst>
                                            <p:cond delay="499"/>
                                          </p:stCondLst>
                                        </p:cTn>
                                        <p:tgtEl>
                                          <p:spTgt spid="6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3"/>
                                        </p:tgtEl>
                                      </p:cBhvr>
                                    </p:animEffect>
                                    <p:set>
                                      <p:cBhvr>
                                        <p:cTn id="32" dur="1" fill="hold">
                                          <p:stCondLst>
                                            <p:cond delay="499"/>
                                          </p:stCondLst>
                                        </p:cTn>
                                        <p:tgtEl>
                                          <p:spTgt spid="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wipe(left)">
                                      <p:cBhvr>
                                        <p:cTn id="37" dur="500"/>
                                        <p:tgtEl>
                                          <p:spTgt spid="7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70"/>
                                        </p:tgtEl>
                                      </p:cBhvr>
                                    </p:animEffect>
                                    <p:set>
                                      <p:cBhvr>
                                        <p:cTn id="42" dur="1" fill="hold">
                                          <p:stCondLst>
                                            <p:cond delay="499"/>
                                          </p:stCondLst>
                                        </p:cTn>
                                        <p:tgtEl>
                                          <p:spTgt spid="7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1"/>
                                        </p:tgtEl>
                                        <p:attrNameLst>
                                          <p:attrName>style.visibility</p:attrName>
                                        </p:attrNameLst>
                                      </p:cBhvr>
                                      <p:to>
                                        <p:strVal val="visible"/>
                                      </p:to>
                                    </p:set>
                                    <p:animEffect transition="in" filter="wipe(left)">
                                      <p:cBhvr>
                                        <p:cTn id="47" dur="500"/>
                                        <p:tgtEl>
                                          <p:spTgt spid="7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71"/>
                                        </p:tgtEl>
                                      </p:cBhvr>
                                    </p:animEffect>
                                    <p:set>
                                      <p:cBhvr>
                                        <p:cTn id="52" dur="1" fill="hold">
                                          <p:stCondLst>
                                            <p:cond delay="499"/>
                                          </p:stCondLst>
                                        </p:cTn>
                                        <p:tgtEl>
                                          <p:spTgt spid="71"/>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2"/>
                                        </p:tgtEl>
                                        <p:attrNameLst>
                                          <p:attrName>style.visibility</p:attrName>
                                        </p:attrNameLst>
                                      </p:cBhvr>
                                      <p:to>
                                        <p:strVal val="visible"/>
                                      </p:to>
                                    </p:set>
                                    <p:animEffect transition="in" filter="wipe(left)">
                                      <p:cBhvr>
                                        <p:cTn id="57" dur="500"/>
                                        <p:tgtEl>
                                          <p:spTgt spid="7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500"/>
                                        <p:tgtEl>
                                          <p:spTgt spid="72"/>
                                        </p:tgtEl>
                                      </p:cBhvr>
                                    </p:animEffect>
                                    <p:set>
                                      <p:cBhvr>
                                        <p:cTn id="62" dur="1" fill="hold">
                                          <p:stCondLst>
                                            <p:cond delay="499"/>
                                          </p:stCondLst>
                                        </p:cTn>
                                        <p:tgtEl>
                                          <p:spTgt spid="72"/>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73"/>
                                        </p:tgtEl>
                                        <p:attrNameLst>
                                          <p:attrName>style.visibility</p:attrName>
                                        </p:attrNameLst>
                                      </p:cBhvr>
                                      <p:to>
                                        <p:strVal val="visible"/>
                                      </p:to>
                                    </p:set>
                                    <p:animEffect transition="in" filter="wipe(left)">
                                      <p:cBhvr>
                                        <p:cTn id="67" dur="500"/>
                                        <p:tgtEl>
                                          <p:spTgt spid="7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nodeType="clickEffect">
                                  <p:stCondLst>
                                    <p:cond delay="0"/>
                                  </p:stCondLst>
                                  <p:childTnLst>
                                    <p:animEffect transition="out" filter="fade">
                                      <p:cBhvr>
                                        <p:cTn id="71" dur="500"/>
                                        <p:tgtEl>
                                          <p:spTgt spid="73"/>
                                        </p:tgtEl>
                                      </p:cBhvr>
                                    </p:animEffect>
                                    <p:set>
                                      <p:cBhvr>
                                        <p:cTn id="72" dur="1" fill="hold">
                                          <p:stCondLst>
                                            <p:cond delay="499"/>
                                          </p:stCondLst>
                                        </p:cTn>
                                        <p:tgtEl>
                                          <p:spTgt spid="73"/>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76"/>
                                        </p:tgtEl>
                                        <p:attrNameLst>
                                          <p:attrName>style.visibility</p:attrName>
                                        </p:attrNameLst>
                                      </p:cBhvr>
                                      <p:to>
                                        <p:strVal val="visible"/>
                                      </p:to>
                                    </p:set>
                                    <p:animEffect transition="in" filter="wipe(left)">
                                      <p:cBhvr>
                                        <p:cTn id="77" dur="500"/>
                                        <p:tgtEl>
                                          <p:spTgt spid="7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500"/>
                                        <p:tgtEl>
                                          <p:spTgt spid="76"/>
                                        </p:tgtEl>
                                      </p:cBhvr>
                                    </p:animEffect>
                                    <p:set>
                                      <p:cBhvr>
                                        <p:cTn id="82" dur="1" fill="hold">
                                          <p:stCondLst>
                                            <p:cond delay="499"/>
                                          </p:stCondLst>
                                        </p:cTn>
                                        <p:tgtEl>
                                          <p:spTgt spid="76"/>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53">
                                            <p:txEl>
                                              <p:pRg st="0" end="0"/>
                                            </p:txEl>
                                          </p:spTgt>
                                        </p:tgtEl>
                                        <p:attrNameLst>
                                          <p:attrName>style.visibility</p:attrName>
                                        </p:attrNameLst>
                                      </p:cBhvr>
                                      <p:to>
                                        <p:strVal val="visible"/>
                                      </p:to>
                                    </p:set>
                                    <p:animEffect transition="in" filter="wipe(left)">
                                      <p:cBhvr>
                                        <p:cTn id="87" dur="500"/>
                                        <p:tgtEl>
                                          <p:spTgt spid="53">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808">
                                            <p:txEl>
                                              <p:pRg st="0" end="0"/>
                                            </p:txEl>
                                          </p:spTgt>
                                        </p:tgtEl>
                                        <p:attrNameLst>
                                          <p:attrName>style.visibility</p:attrName>
                                        </p:attrNameLst>
                                      </p:cBhvr>
                                      <p:to>
                                        <p:strVal val="visible"/>
                                      </p:to>
                                    </p:set>
                                    <p:animEffect transition="in" filter="wipe(left)">
                                      <p:cBhvr>
                                        <p:cTn id="92" dur="500"/>
                                        <p:tgtEl>
                                          <p:spTgt spid="808">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4"/>
                                        </p:tgtEl>
                                        <p:attrNameLst>
                                          <p:attrName>style.visibility</p:attrName>
                                        </p:attrNameLst>
                                      </p:cBhvr>
                                      <p:to>
                                        <p:strVal val="visible"/>
                                      </p:to>
                                    </p:set>
                                    <p:animEffect transition="in" filter="wipe(left)">
                                      <p:cBhvr>
                                        <p:cTn id="97" dur="500"/>
                                        <p:tgtEl>
                                          <p:spTgt spid="4"/>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500"/>
                                        <p:tgtEl>
                                          <p:spTgt spid="4"/>
                                        </p:tgtEl>
                                      </p:cBhvr>
                                    </p:animEffect>
                                    <p:set>
                                      <p:cBhvr>
                                        <p:cTn id="102" dur="1" fill="hold">
                                          <p:stCondLst>
                                            <p:cond delay="499"/>
                                          </p:stCondLst>
                                        </p:cTn>
                                        <p:tgtEl>
                                          <p:spTgt spid="4"/>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2" fill="hold" nodeType="clickEffect">
                                  <p:stCondLst>
                                    <p:cond delay="0"/>
                                  </p:stCondLst>
                                  <p:childTnLst>
                                    <p:set>
                                      <p:cBhvr>
                                        <p:cTn id="106" dur="1" fill="hold">
                                          <p:stCondLst>
                                            <p:cond delay="0"/>
                                          </p:stCondLst>
                                        </p:cTn>
                                        <p:tgtEl>
                                          <p:spTgt spid="79"/>
                                        </p:tgtEl>
                                        <p:attrNameLst>
                                          <p:attrName>style.visibility</p:attrName>
                                        </p:attrNameLst>
                                      </p:cBhvr>
                                      <p:to>
                                        <p:strVal val="visible"/>
                                      </p:to>
                                    </p:set>
                                    <p:animEffect transition="in" filter="wipe(right)">
                                      <p:cBhvr>
                                        <p:cTn id="107" dur="500"/>
                                        <p:tgtEl>
                                          <p:spTgt spid="79"/>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nodeType="clickEffect">
                                  <p:stCondLst>
                                    <p:cond delay="0"/>
                                  </p:stCondLst>
                                  <p:childTnLst>
                                    <p:animEffect transition="out" filter="fade">
                                      <p:cBhvr>
                                        <p:cTn id="111" dur="500"/>
                                        <p:tgtEl>
                                          <p:spTgt spid="79"/>
                                        </p:tgtEl>
                                      </p:cBhvr>
                                    </p:animEffect>
                                    <p:set>
                                      <p:cBhvr>
                                        <p:cTn id="112" dur="1" fill="hold">
                                          <p:stCondLst>
                                            <p:cond delay="499"/>
                                          </p:stCondLst>
                                        </p:cTn>
                                        <p:tgtEl>
                                          <p:spTgt spid="79"/>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54">
                                            <p:txEl>
                                              <p:pRg st="0" end="0"/>
                                            </p:txEl>
                                          </p:spTgt>
                                        </p:tgtEl>
                                        <p:attrNameLst>
                                          <p:attrName>style.visibility</p:attrName>
                                        </p:attrNameLst>
                                      </p:cBhvr>
                                      <p:to>
                                        <p:strVal val="visible"/>
                                      </p:to>
                                    </p:set>
                                    <p:animEffect transition="in" filter="wipe(left)">
                                      <p:cBhvr>
                                        <p:cTn id="117" dur="500"/>
                                        <p:tgtEl>
                                          <p:spTgt spid="54">
                                            <p:txEl>
                                              <p:pRg st="0" end="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55">
                                            <p:txEl>
                                              <p:pRg st="0" end="0"/>
                                            </p:txEl>
                                          </p:spTgt>
                                        </p:tgtEl>
                                        <p:attrNameLst>
                                          <p:attrName>style.visibility</p:attrName>
                                        </p:attrNameLst>
                                      </p:cBhvr>
                                      <p:to>
                                        <p:strVal val="visible"/>
                                      </p:to>
                                    </p:set>
                                    <p:animEffect transition="in" filter="wipe(left)">
                                      <p:cBhvr>
                                        <p:cTn id="122" dur="500"/>
                                        <p:tgtEl>
                                          <p:spTgt spid="55">
                                            <p:txEl>
                                              <p:pRg st="0" end="0"/>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794">
                                            <p:txEl>
                                              <p:pRg st="0" end="0"/>
                                            </p:txEl>
                                          </p:spTgt>
                                        </p:tgtEl>
                                        <p:attrNameLst>
                                          <p:attrName>style.visibility</p:attrName>
                                        </p:attrNameLst>
                                      </p:cBhvr>
                                      <p:to>
                                        <p:strVal val="visible"/>
                                      </p:to>
                                    </p:set>
                                    <p:animEffect transition="in" filter="wipe(left)">
                                      <p:cBhvr>
                                        <p:cTn id="127" dur="500"/>
                                        <p:tgtEl>
                                          <p:spTgt spid="794">
                                            <p:txEl>
                                              <p:pRg st="0" end="0"/>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57">
                                            <p:txEl>
                                              <p:pRg st="0" end="0"/>
                                            </p:txEl>
                                          </p:spTgt>
                                        </p:tgtEl>
                                        <p:attrNameLst>
                                          <p:attrName>style.visibility</p:attrName>
                                        </p:attrNameLst>
                                      </p:cBhvr>
                                      <p:to>
                                        <p:strVal val="visible"/>
                                      </p:to>
                                    </p:set>
                                    <p:animEffect transition="in" filter="wipe(left)">
                                      <p:cBhvr>
                                        <p:cTn id="132" dur="500"/>
                                        <p:tgtEl>
                                          <p:spTgt spid="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AutoShape 15"/>
          <p:cNvSpPr>
            <a:spLocks noChangeArrowheads="1"/>
          </p:cNvSpPr>
          <p:nvPr/>
        </p:nvSpPr>
        <p:spPr bwMode="auto">
          <a:xfrm flipH="1" flipV="1">
            <a:off x="3118211" y="703992"/>
            <a:ext cx="2664097" cy="2301478"/>
          </a:xfrm>
          <a:prstGeom prst="triangle">
            <a:avLst>
              <a:gd name="adj" fmla="val 50000"/>
            </a:avLst>
          </a:prstGeom>
          <a:gradFill rotWithShape="1">
            <a:gsLst>
              <a:gs pos="0">
                <a:schemeClr val="bg1"/>
              </a:gs>
              <a:gs pos="100000">
                <a:schemeClr val="bg1">
                  <a:alpha val="0"/>
                </a:schemeClr>
              </a:gs>
            </a:gsLst>
            <a:lin ang="5400000" scaled="1"/>
          </a:gradFill>
          <a:ln w="9525">
            <a:noFill/>
            <a:miter lim="800000"/>
            <a:headEnd/>
            <a:tailEnd/>
          </a:ln>
        </p:spPr>
        <p:txBody>
          <a:bodyPr wrap="none" anchor="ctr"/>
          <a:lstStyle/>
          <a:p>
            <a:endParaRPr lang="zh-CN" altLang="zh-CN"/>
          </a:p>
        </p:txBody>
      </p:sp>
      <p:sp>
        <p:nvSpPr>
          <p:cNvPr id="812" name="AutoShape 11"/>
          <p:cNvSpPr>
            <a:spLocks noChangeArrowheads="1"/>
          </p:cNvSpPr>
          <p:nvPr/>
        </p:nvSpPr>
        <p:spPr bwMode="auto">
          <a:xfrm rot="14400000">
            <a:off x="4007552" y="994118"/>
            <a:ext cx="3028950" cy="2773362"/>
          </a:xfrm>
          <a:prstGeom prst="triangle">
            <a:avLst>
              <a:gd name="adj" fmla="val 50000"/>
            </a:avLst>
          </a:prstGeom>
          <a:gradFill rotWithShape="1">
            <a:gsLst>
              <a:gs pos="0">
                <a:srgbClr val="347AF8"/>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811" name="AutoShape 12"/>
          <p:cNvSpPr>
            <a:spLocks noChangeArrowheads="1"/>
          </p:cNvSpPr>
          <p:nvPr/>
        </p:nvSpPr>
        <p:spPr bwMode="auto">
          <a:xfrm rot="7200000" flipH="1">
            <a:off x="1451740" y="912063"/>
            <a:ext cx="3519252" cy="2773362"/>
          </a:xfrm>
          <a:prstGeom prst="triangle">
            <a:avLst>
              <a:gd name="adj" fmla="val 50000"/>
            </a:avLst>
          </a:prstGeom>
          <a:gradFill rotWithShape="1">
            <a:gsLst>
              <a:gs pos="0">
                <a:srgbClr val="3FEDB7"/>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768" name="页脚占位符 3"/>
          <p:cNvSpPr txBox="1">
            <a:spLocks noGrp="1"/>
          </p:cNvSpPr>
          <p:nvPr/>
        </p:nvSpPr>
        <p:spPr bwMode="auto">
          <a:xfrm>
            <a:off x="7046913" y="4926265"/>
            <a:ext cx="2133600" cy="183356"/>
          </a:xfrm>
          <a:prstGeom prst="rect">
            <a:avLst/>
          </a:prstGeom>
          <a:noFill/>
          <a:ln w="9525">
            <a:noFill/>
            <a:miter lim="800000"/>
            <a:headEnd/>
            <a:tailEnd/>
          </a:ln>
        </p:spPr>
        <p:txBody>
          <a:bodyPr/>
          <a:lstStyle/>
          <a:p>
            <a:r>
              <a:rPr lang="en-US" altLang="zh-CN"/>
              <a:t>   </a:t>
            </a:r>
          </a:p>
          <a:p>
            <a:r>
              <a:rPr lang="en-US" altLang="zh-CN"/>
              <a:t>   </a:t>
            </a:r>
          </a:p>
        </p:txBody>
      </p:sp>
      <p:sp>
        <p:nvSpPr>
          <p:cNvPr id="770" name="AutoShape 13"/>
          <p:cNvSpPr>
            <a:spLocks noChangeArrowheads="1"/>
          </p:cNvSpPr>
          <p:nvPr/>
        </p:nvSpPr>
        <p:spPr bwMode="auto">
          <a:xfrm rot="7200000" flipV="1">
            <a:off x="4630738" y="2100118"/>
            <a:ext cx="2271713" cy="2773362"/>
          </a:xfrm>
          <a:prstGeom prst="triangle">
            <a:avLst>
              <a:gd name="adj" fmla="val 50000"/>
            </a:avLst>
          </a:prstGeom>
          <a:gradFill rotWithShape="1">
            <a:gsLst>
              <a:gs pos="0">
                <a:srgbClr val="4628FC"/>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771" name="AutoShape 14"/>
          <p:cNvSpPr>
            <a:spLocks noChangeArrowheads="1"/>
          </p:cNvSpPr>
          <p:nvPr/>
        </p:nvSpPr>
        <p:spPr bwMode="auto">
          <a:xfrm rot="-7200000" flipH="1" flipV="1">
            <a:off x="2217738" y="2100118"/>
            <a:ext cx="2271713" cy="2773362"/>
          </a:xfrm>
          <a:prstGeom prst="triangle">
            <a:avLst>
              <a:gd name="adj" fmla="val 50000"/>
            </a:avLst>
          </a:prstGeom>
          <a:gradFill rotWithShape="1">
            <a:gsLst>
              <a:gs pos="0">
                <a:srgbClr val="72E41C"/>
              </a:gs>
              <a:gs pos="100000">
                <a:srgbClr val="CCECFF">
                  <a:alpha val="0"/>
                </a:srgbClr>
              </a:gs>
            </a:gsLst>
            <a:lin ang="5400000" scaled="1"/>
          </a:gradFill>
          <a:ln w="9525">
            <a:noFill/>
            <a:miter lim="800000"/>
            <a:headEnd/>
            <a:tailEnd/>
          </a:ln>
        </p:spPr>
        <p:txBody>
          <a:bodyPr wrap="none" anchor="ctr"/>
          <a:lstStyle/>
          <a:p>
            <a:endParaRPr lang="zh-CN" altLang="zh-CN"/>
          </a:p>
        </p:txBody>
      </p:sp>
      <p:sp>
        <p:nvSpPr>
          <p:cNvPr id="772" name="AutoShape 15"/>
          <p:cNvSpPr>
            <a:spLocks noChangeArrowheads="1"/>
          </p:cNvSpPr>
          <p:nvPr/>
        </p:nvSpPr>
        <p:spPr bwMode="auto">
          <a:xfrm rot="10800000" flipH="1" flipV="1">
            <a:off x="2705075" y="2859782"/>
            <a:ext cx="3667125" cy="2301478"/>
          </a:xfrm>
          <a:prstGeom prst="triangle">
            <a:avLst>
              <a:gd name="adj" fmla="val 50000"/>
            </a:avLst>
          </a:prstGeom>
          <a:gradFill rotWithShape="1">
            <a:gsLst>
              <a:gs pos="0">
                <a:schemeClr val="bg1"/>
              </a:gs>
              <a:gs pos="100000">
                <a:schemeClr val="bg1">
                  <a:alpha val="0"/>
                </a:schemeClr>
              </a:gs>
            </a:gsLst>
            <a:lin ang="5400000" scaled="1"/>
          </a:gradFill>
          <a:ln w="9525">
            <a:noFill/>
            <a:miter lim="800000"/>
            <a:headEnd/>
            <a:tailEnd/>
          </a:ln>
        </p:spPr>
        <p:txBody>
          <a:bodyPr wrap="none" anchor="ctr"/>
          <a:lstStyle/>
          <a:p>
            <a:endParaRPr lang="zh-CN" altLang="zh-CN"/>
          </a:p>
        </p:txBody>
      </p:sp>
      <p:sp>
        <p:nvSpPr>
          <p:cNvPr id="773" name="Oval 19"/>
          <p:cNvSpPr>
            <a:spLocks noChangeArrowheads="1"/>
          </p:cNvSpPr>
          <p:nvPr/>
        </p:nvSpPr>
        <p:spPr bwMode="auto">
          <a:xfrm>
            <a:off x="2864298" y="2078441"/>
            <a:ext cx="3095625" cy="2321719"/>
          </a:xfrm>
          <a:prstGeom prst="ellipse">
            <a:avLst/>
          </a:prstGeom>
          <a:solidFill>
            <a:schemeClr val="bg1">
              <a:alpha val="25098"/>
            </a:schemeClr>
          </a:solidFill>
          <a:ln w="12700">
            <a:solidFill>
              <a:schemeClr val="bg1"/>
            </a:solidFill>
            <a:round/>
            <a:headEnd/>
            <a:tailEnd/>
          </a:ln>
        </p:spPr>
        <p:txBody>
          <a:bodyPr wrap="none" anchor="ctr"/>
          <a:lstStyle/>
          <a:p>
            <a:endParaRPr lang="zh-CN" altLang="zh-CN"/>
          </a:p>
        </p:txBody>
      </p:sp>
      <p:sp>
        <p:nvSpPr>
          <p:cNvPr id="774" name="Oval 20"/>
          <p:cNvSpPr>
            <a:spLocks noChangeArrowheads="1"/>
          </p:cNvSpPr>
          <p:nvPr/>
        </p:nvSpPr>
        <p:spPr bwMode="auto">
          <a:xfrm>
            <a:off x="2991297" y="2173691"/>
            <a:ext cx="2843212" cy="2132409"/>
          </a:xfrm>
          <a:prstGeom prst="ellipse">
            <a:avLst/>
          </a:prstGeom>
          <a:solidFill>
            <a:srgbClr val="99CCFF">
              <a:alpha val="50195"/>
            </a:srgbClr>
          </a:solidFill>
          <a:ln w="57150">
            <a:solidFill>
              <a:srgbClr val="99CCFF"/>
            </a:solidFill>
            <a:round/>
            <a:headEnd/>
            <a:tailEnd/>
          </a:ln>
        </p:spPr>
        <p:txBody>
          <a:bodyPr wrap="none" anchor="ctr"/>
          <a:lstStyle/>
          <a:p>
            <a:endParaRPr lang="zh-CN" altLang="zh-CN"/>
          </a:p>
        </p:txBody>
      </p:sp>
      <p:sp>
        <p:nvSpPr>
          <p:cNvPr id="775" name="Arc 38"/>
          <p:cNvSpPr>
            <a:spLocks/>
          </p:cNvSpPr>
          <p:nvPr/>
        </p:nvSpPr>
        <p:spPr bwMode="auto">
          <a:xfrm rot="19223345">
            <a:off x="3843025" y="2020714"/>
            <a:ext cx="1121087" cy="1043841"/>
          </a:xfrm>
          <a:custGeom>
            <a:avLst/>
            <a:gdLst>
              <a:gd name="T0" fmla="*/ 2147483647 w 20772"/>
              <a:gd name="T1" fmla="*/ 0 h 20677"/>
              <a:gd name="T2" fmla="*/ 2147483647 w 20772"/>
              <a:gd name="T3" fmla="*/ 2147483647 h 20677"/>
              <a:gd name="T4" fmla="*/ 0 w 20772"/>
              <a:gd name="T5" fmla="*/ 2147483647 h 20677"/>
              <a:gd name="T6" fmla="*/ 0 60000 65536"/>
              <a:gd name="T7" fmla="*/ 0 60000 65536"/>
              <a:gd name="T8" fmla="*/ 0 60000 65536"/>
              <a:gd name="T9" fmla="*/ 0 w 20772"/>
              <a:gd name="T10" fmla="*/ 0 h 20677"/>
              <a:gd name="T11" fmla="*/ 20772 w 20772"/>
              <a:gd name="T12" fmla="*/ 20677 h 20677"/>
            </a:gdLst>
            <a:ahLst/>
            <a:cxnLst>
              <a:cxn ang="T6">
                <a:pos x="T0" y="T1"/>
              </a:cxn>
              <a:cxn ang="T7">
                <a:pos x="T2" y="T3"/>
              </a:cxn>
              <a:cxn ang="T8">
                <a:pos x="T4" y="T5"/>
              </a:cxn>
            </a:cxnLst>
            <a:rect l="T9" t="T10" r="T11" b="T12"/>
            <a:pathLst>
              <a:path w="20772" h="20677" fill="none" extrusionOk="0">
                <a:moveTo>
                  <a:pt x="6246" y="0"/>
                </a:moveTo>
                <a:cubicBezTo>
                  <a:pt x="13283" y="2126"/>
                  <a:pt x="18756" y="7684"/>
                  <a:pt x="20772" y="14753"/>
                </a:cubicBezTo>
              </a:path>
              <a:path w="20772" h="20677" stroke="0" extrusionOk="0">
                <a:moveTo>
                  <a:pt x="6246" y="0"/>
                </a:moveTo>
                <a:cubicBezTo>
                  <a:pt x="13283" y="2126"/>
                  <a:pt x="18756" y="7684"/>
                  <a:pt x="20772" y="14753"/>
                </a:cubicBezTo>
                <a:lnTo>
                  <a:pt x="0" y="20677"/>
                </a:lnTo>
                <a:close/>
              </a:path>
            </a:pathLst>
          </a:custGeom>
          <a:gradFill rotWithShape="1">
            <a:gsLst>
              <a:gs pos="0">
                <a:srgbClr val="1C93E4"/>
              </a:gs>
              <a:gs pos="100000">
                <a:srgbClr val="69B8E9"/>
              </a:gs>
            </a:gsLst>
            <a:lin ang="5400000" scaled="1"/>
          </a:gradFill>
          <a:ln w="9525">
            <a:noFill/>
            <a:round/>
            <a:headEnd/>
            <a:tailEnd/>
          </a:ln>
        </p:spPr>
        <p:txBody>
          <a:bodyPr wrap="none" anchor="ctr"/>
          <a:lstStyle/>
          <a:p>
            <a:endParaRPr lang="zh-CN" altLang="en-US"/>
          </a:p>
        </p:txBody>
      </p:sp>
      <p:sp>
        <p:nvSpPr>
          <p:cNvPr id="776" name="Arc 39"/>
          <p:cNvSpPr>
            <a:spLocks/>
          </p:cNvSpPr>
          <p:nvPr/>
        </p:nvSpPr>
        <p:spPr bwMode="auto">
          <a:xfrm rot="884024">
            <a:off x="4543872" y="2477300"/>
            <a:ext cx="1200150" cy="897731"/>
          </a:xfrm>
          <a:custGeom>
            <a:avLst/>
            <a:gdLst>
              <a:gd name="T0" fmla="*/ 2147483647 w 20646"/>
              <a:gd name="T1" fmla="*/ 0 h 20637"/>
              <a:gd name="T2" fmla="*/ 2147483647 w 20646"/>
              <a:gd name="T3" fmla="*/ 2147483647 h 20637"/>
              <a:gd name="T4" fmla="*/ 0 w 20646"/>
              <a:gd name="T5" fmla="*/ 2147483647 h 20637"/>
              <a:gd name="T6" fmla="*/ 0 60000 65536"/>
              <a:gd name="T7" fmla="*/ 0 60000 65536"/>
              <a:gd name="T8" fmla="*/ 0 60000 65536"/>
              <a:gd name="T9" fmla="*/ 0 w 20646"/>
              <a:gd name="T10" fmla="*/ 0 h 20637"/>
              <a:gd name="T11" fmla="*/ 20646 w 20646"/>
              <a:gd name="T12" fmla="*/ 20637 h 20637"/>
            </a:gdLst>
            <a:ahLst/>
            <a:cxnLst>
              <a:cxn ang="T6">
                <a:pos x="T0" y="T1"/>
              </a:cxn>
              <a:cxn ang="T7">
                <a:pos x="T2" y="T3"/>
              </a:cxn>
              <a:cxn ang="T8">
                <a:pos x="T4" y="T5"/>
              </a:cxn>
            </a:cxnLst>
            <a:rect l="T9" t="T10" r="T11" b="T12"/>
            <a:pathLst>
              <a:path w="20646" h="20637" fill="none" extrusionOk="0">
                <a:moveTo>
                  <a:pt x="6378" y="0"/>
                </a:moveTo>
                <a:cubicBezTo>
                  <a:pt x="13205" y="2110"/>
                  <a:pt x="18546" y="7460"/>
                  <a:pt x="20646" y="14289"/>
                </a:cubicBezTo>
              </a:path>
              <a:path w="20646" h="20637" stroke="0" extrusionOk="0">
                <a:moveTo>
                  <a:pt x="6378" y="0"/>
                </a:moveTo>
                <a:cubicBezTo>
                  <a:pt x="13205" y="2110"/>
                  <a:pt x="18546" y="7460"/>
                  <a:pt x="20646" y="14289"/>
                </a:cubicBezTo>
                <a:lnTo>
                  <a:pt x="0" y="20637"/>
                </a:lnTo>
                <a:close/>
              </a:path>
            </a:pathLst>
          </a:custGeom>
          <a:gradFill rotWithShape="1">
            <a:gsLst>
              <a:gs pos="0">
                <a:srgbClr val="2648A6"/>
              </a:gs>
              <a:gs pos="100000">
                <a:srgbClr val="446AD4"/>
              </a:gs>
            </a:gsLst>
            <a:lin ang="5400000" scaled="1"/>
          </a:gradFill>
          <a:ln w="9525">
            <a:noFill/>
            <a:round/>
            <a:headEnd/>
            <a:tailEnd/>
          </a:ln>
        </p:spPr>
        <p:txBody>
          <a:bodyPr wrap="none" anchor="ctr"/>
          <a:lstStyle/>
          <a:p>
            <a:endParaRPr lang="zh-CN" altLang="en-US"/>
          </a:p>
        </p:txBody>
      </p:sp>
      <p:sp>
        <p:nvSpPr>
          <p:cNvPr id="777" name="Arc 40"/>
          <p:cNvSpPr>
            <a:spLocks/>
          </p:cNvSpPr>
          <p:nvPr/>
        </p:nvSpPr>
        <p:spPr bwMode="auto">
          <a:xfrm rot="4500000">
            <a:off x="4681706" y="2956328"/>
            <a:ext cx="900113" cy="1216025"/>
          </a:xfrm>
          <a:custGeom>
            <a:avLst/>
            <a:gdLst>
              <a:gd name="T0" fmla="*/ 2147483647 w 20690"/>
              <a:gd name="T1" fmla="*/ 0 h 20919"/>
              <a:gd name="T2" fmla="*/ 2147483647 w 20690"/>
              <a:gd name="T3" fmla="*/ 2147483647 h 20919"/>
              <a:gd name="T4" fmla="*/ 0 w 20690"/>
              <a:gd name="T5" fmla="*/ 2147483647 h 20919"/>
              <a:gd name="T6" fmla="*/ 0 60000 65536"/>
              <a:gd name="T7" fmla="*/ 0 60000 65536"/>
              <a:gd name="T8" fmla="*/ 0 60000 65536"/>
              <a:gd name="T9" fmla="*/ 0 w 20690"/>
              <a:gd name="T10" fmla="*/ 0 h 20919"/>
              <a:gd name="T11" fmla="*/ 20690 w 20690"/>
              <a:gd name="T12" fmla="*/ 20919 h 20919"/>
            </a:gdLst>
            <a:ahLst/>
            <a:cxnLst>
              <a:cxn ang="T6">
                <a:pos x="T0" y="T1"/>
              </a:cxn>
              <a:cxn ang="T7">
                <a:pos x="T2" y="T3"/>
              </a:cxn>
              <a:cxn ang="T8">
                <a:pos x="T4" y="T5"/>
              </a:cxn>
            </a:cxnLst>
            <a:rect l="T9" t="T10" r="T11" b="T12"/>
            <a:pathLst>
              <a:path w="20690" h="20919" fill="none" extrusionOk="0">
                <a:moveTo>
                  <a:pt x="5380" y="-1"/>
                </a:moveTo>
                <a:cubicBezTo>
                  <a:pt x="12709" y="1884"/>
                  <a:pt x="18517" y="7467"/>
                  <a:pt x="20690" y="14716"/>
                </a:cubicBezTo>
              </a:path>
              <a:path w="20690" h="20919" stroke="0" extrusionOk="0">
                <a:moveTo>
                  <a:pt x="5380" y="-1"/>
                </a:moveTo>
                <a:cubicBezTo>
                  <a:pt x="12709" y="1884"/>
                  <a:pt x="18517" y="7467"/>
                  <a:pt x="20690" y="14716"/>
                </a:cubicBezTo>
                <a:lnTo>
                  <a:pt x="0" y="20919"/>
                </a:lnTo>
                <a:close/>
              </a:path>
            </a:pathLst>
          </a:custGeom>
          <a:gradFill rotWithShape="1">
            <a:gsLst>
              <a:gs pos="0">
                <a:srgbClr val="3C3C90"/>
              </a:gs>
              <a:gs pos="100000">
                <a:srgbClr val="336699"/>
              </a:gs>
            </a:gsLst>
            <a:lin ang="5400000" scaled="1"/>
          </a:gradFill>
          <a:ln w="9525">
            <a:noFill/>
            <a:round/>
            <a:headEnd/>
            <a:tailEnd/>
          </a:ln>
        </p:spPr>
        <p:txBody>
          <a:bodyPr wrap="none" anchor="ctr"/>
          <a:lstStyle/>
          <a:p>
            <a:endParaRPr lang="zh-CN" altLang="en-US"/>
          </a:p>
        </p:txBody>
      </p:sp>
      <p:sp>
        <p:nvSpPr>
          <p:cNvPr id="778" name="Arc 41"/>
          <p:cNvSpPr>
            <a:spLocks/>
          </p:cNvSpPr>
          <p:nvPr/>
        </p:nvSpPr>
        <p:spPr bwMode="auto">
          <a:xfrm rot="20724172" flipH="1">
            <a:off x="3073848" y="2472537"/>
            <a:ext cx="1203325" cy="902494"/>
          </a:xfrm>
          <a:custGeom>
            <a:avLst/>
            <a:gdLst>
              <a:gd name="T0" fmla="*/ 2147483647 w 20704"/>
              <a:gd name="T1" fmla="*/ 0 h 20739"/>
              <a:gd name="T2" fmla="*/ 2147483647 w 20704"/>
              <a:gd name="T3" fmla="*/ 2147483647 h 20739"/>
              <a:gd name="T4" fmla="*/ 0 w 20704"/>
              <a:gd name="T5" fmla="*/ 2147483647 h 20739"/>
              <a:gd name="T6" fmla="*/ 0 60000 65536"/>
              <a:gd name="T7" fmla="*/ 0 60000 65536"/>
              <a:gd name="T8" fmla="*/ 0 60000 65536"/>
              <a:gd name="T9" fmla="*/ 0 w 20704"/>
              <a:gd name="T10" fmla="*/ 0 h 20739"/>
              <a:gd name="T11" fmla="*/ 20704 w 20704"/>
              <a:gd name="T12" fmla="*/ 20739 h 20739"/>
            </a:gdLst>
            <a:ahLst/>
            <a:cxnLst>
              <a:cxn ang="T6">
                <a:pos x="T0" y="T1"/>
              </a:cxn>
              <a:cxn ang="T7">
                <a:pos x="T2" y="T3"/>
              </a:cxn>
              <a:cxn ang="T8">
                <a:pos x="T4" y="T5"/>
              </a:cxn>
            </a:cxnLst>
            <a:rect l="T9" t="T10" r="T11" b="T12"/>
            <a:pathLst>
              <a:path w="20704" h="20739" fill="none" extrusionOk="0">
                <a:moveTo>
                  <a:pt x="6037" y="0"/>
                </a:moveTo>
                <a:cubicBezTo>
                  <a:pt x="13087" y="2052"/>
                  <a:pt x="18611" y="7545"/>
                  <a:pt x="20704" y="14582"/>
                </a:cubicBezTo>
              </a:path>
              <a:path w="20704" h="20739" stroke="0" extrusionOk="0">
                <a:moveTo>
                  <a:pt x="6037" y="0"/>
                </a:moveTo>
                <a:cubicBezTo>
                  <a:pt x="13087" y="2052"/>
                  <a:pt x="18611" y="7545"/>
                  <a:pt x="20704" y="14582"/>
                </a:cubicBezTo>
                <a:lnTo>
                  <a:pt x="0" y="20739"/>
                </a:lnTo>
                <a:close/>
              </a:path>
            </a:pathLst>
          </a:custGeom>
          <a:gradFill rotWithShape="1">
            <a:gsLst>
              <a:gs pos="0">
                <a:srgbClr val="296540"/>
              </a:gs>
              <a:gs pos="100000">
                <a:srgbClr val="3D9983"/>
              </a:gs>
            </a:gsLst>
            <a:lin ang="5400000" scaled="1"/>
          </a:gradFill>
          <a:ln w="9525">
            <a:noFill/>
            <a:round/>
            <a:headEnd/>
            <a:tailEnd/>
          </a:ln>
        </p:spPr>
        <p:txBody>
          <a:bodyPr wrap="none" anchor="ctr"/>
          <a:lstStyle/>
          <a:p>
            <a:endParaRPr lang="zh-CN" altLang="en-US"/>
          </a:p>
        </p:txBody>
      </p:sp>
      <p:sp>
        <p:nvSpPr>
          <p:cNvPr id="779" name="Arc 42"/>
          <p:cNvSpPr>
            <a:spLocks/>
          </p:cNvSpPr>
          <p:nvPr/>
        </p:nvSpPr>
        <p:spPr bwMode="auto">
          <a:xfrm rot="17100000" flipH="1">
            <a:off x="3234978" y="2957519"/>
            <a:ext cx="895350" cy="1211262"/>
          </a:xfrm>
          <a:custGeom>
            <a:avLst/>
            <a:gdLst>
              <a:gd name="T0" fmla="*/ 2147483647 w 20584"/>
              <a:gd name="T1" fmla="*/ 0 h 20851"/>
              <a:gd name="T2" fmla="*/ 2147483647 w 20584"/>
              <a:gd name="T3" fmla="*/ 2147483647 h 20851"/>
              <a:gd name="T4" fmla="*/ 0 w 20584"/>
              <a:gd name="T5" fmla="*/ 2147483647 h 20851"/>
              <a:gd name="T6" fmla="*/ 0 60000 65536"/>
              <a:gd name="T7" fmla="*/ 0 60000 65536"/>
              <a:gd name="T8" fmla="*/ 0 60000 65536"/>
              <a:gd name="T9" fmla="*/ 0 w 20584"/>
              <a:gd name="T10" fmla="*/ 0 h 20851"/>
              <a:gd name="T11" fmla="*/ 20584 w 20584"/>
              <a:gd name="T12" fmla="*/ 20851 h 20851"/>
            </a:gdLst>
            <a:ahLst/>
            <a:cxnLst>
              <a:cxn ang="T6">
                <a:pos x="T0" y="T1"/>
              </a:cxn>
              <a:cxn ang="T7">
                <a:pos x="T2" y="T3"/>
              </a:cxn>
              <a:cxn ang="T8">
                <a:pos x="T4" y="T5"/>
              </a:cxn>
            </a:cxnLst>
            <a:rect l="T9" t="T10" r="T11" b="T12"/>
            <a:pathLst>
              <a:path w="20584" h="20851" fill="none" extrusionOk="0">
                <a:moveTo>
                  <a:pt x="5637" y="-1"/>
                </a:moveTo>
                <a:cubicBezTo>
                  <a:pt x="12728" y="1916"/>
                  <a:pt x="18358" y="7305"/>
                  <a:pt x="20584" y="14305"/>
                </a:cubicBezTo>
              </a:path>
              <a:path w="20584" h="20851" stroke="0" extrusionOk="0">
                <a:moveTo>
                  <a:pt x="5637" y="-1"/>
                </a:moveTo>
                <a:cubicBezTo>
                  <a:pt x="12728" y="1916"/>
                  <a:pt x="18358" y="7305"/>
                  <a:pt x="20584" y="14305"/>
                </a:cubicBezTo>
                <a:lnTo>
                  <a:pt x="0" y="20851"/>
                </a:lnTo>
                <a:close/>
              </a:path>
            </a:pathLst>
          </a:custGeom>
          <a:gradFill rotWithShape="1">
            <a:gsLst>
              <a:gs pos="0">
                <a:srgbClr val="57902C"/>
              </a:gs>
              <a:gs pos="100000">
                <a:srgbClr val="90C94B"/>
              </a:gs>
            </a:gsLst>
            <a:lin ang="5400000" scaled="1"/>
          </a:gradFill>
          <a:ln w="9525">
            <a:noFill/>
            <a:round/>
            <a:headEnd/>
            <a:tailEnd/>
          </a:ln>
        </p:spPr>
        <p:txBody>
          <a:bodyPr wrap="none" anchor="ctr"/>
          <a:lstStyle/>
          <a:p>
            <a:endParaRPr lang="zh-CN" altLang="en-US"/>
          </a:p>
        </p:txBody>
      </p:sp>
      <p:sp>
        <p:nvSpPr>
          <p:cNvPr id="780" name="Arc 43"/>
          <p:cNvSpPr>
            <a:spLocks/>
          </p:cNvSpPr>
          <p:nvPr/>
        </p:nvSpPr>
        <p:spPr bwMode="auto">
          <a:xfrm rot="-2700000">
            <a:off x="3999359" y="2499922"/>
            <a:ext cx="831850" cy="621506"/>
          </a:xfrm>
          <a:custGeom>
            <a:avLst/>
            <a:gdLst>
              <a:gd name="T0" fmla="*/ 2147483647 w 20757"/>
              <a:gd name="T1" fmla="*/ 0 h 20712"/>
              <a:gd name="T2" fmla="*/ 2147483647 w 20757"/>
              <a:gd name="T3" fmla="*/ 2147483647 h 20712"/>
              <a:gd name="T4" fmla="*/ 0 w 20757"/>
              <a:gd name="T5" fmla="*/ 2147483647 h 20712"/>
              <a:gd name="T6" fmla="*/ 0 60000 65536"/>
              <a:gd name="T7" fmla="*/ 0 60000 65536"/>
              <a:gd name="T8" fmla="*/ 0 60000 65536"/>
              <a:gd name="T9" fmla="*/ 0 w 20757"/>
              <a:gd name="T10" fmla="*/ 0 h 20712"/>
              <a:gd name="T11" fmla="*/ 20757 w 20757"/>
              <a:gd name="T12" fmla="*/ 20712 h 20712"/>
            </a:gdLst>
            <a:ahLst/>
            <a:cxnLst>
              <a:cxn ang="T6">
                <a:pos x="T0" y="T1"/>
              </a:cxn>
              <a:cxn ang="T7">
                <a:pos x="T2" y="T3"/>
              </a:cxn>
              <a:cxn ang="T8">
                <a:pos x="T4" y="T5"/>
              </a:cxn>
            </a:cxnLst>
            <a:rect l="T9" t="T10" r="T11" b="T12"/>
            <a:pathLst>
              <a:path w="20757" h="20712" fill="none" extrusionOk="0">
                <a:moveTo>
                  <a:pt x="6129" y="-1"/>
                </a:moveTo>
                <a:cubicBezTo>
                  <a:pt x="13201" y="2092"/>
                  <a:pt x="18716" y="7649"/>
                  <a:pt x="20757" y="14736"/>
                </a:cubicBezTo>
              </a:path>
              <a:path w="20757" h="20712" stroke="0" extrusionOk="0">
                <a:moveTo>
                  <a:pt x="6129" y="-1"/>
                </a:moveTo>
                <a:cubicBezTo>
                  <a:pt x="13201" y="2092"/>
                  <a:pt x="18716" y="7649"/>
                  <a:pt x="20757" y="14736"/>
                </a:cubicBezTo>
                <a:lnTo>
                  <a:pt x="0" y="20712"/>
                </a:lnTo>
                <a:close/>
              </a:path>
            </a:pathLst>
          </a:custGeom>
          <a:gradFill rotWithShape="1">
            <a:gsLst>
              <a:gs pos="0">
                <a:srgbClr val="136AA5"/>
              </a:gs>
              <a:gs pos="100000">
                <a:srgbClr val="69B8E9"/>
              </a:gs>
            </a:gsLst>
            <a:lin ang="5400000" scaled="1"/>
          </a:gradFill>
          <a:ln w="3175">
            <a:solidFill>
              <a:srgbClr val="C0C0C0"/>
            </a:solidFill>
            <a:round/>
            <a:headEnd/>
            <a:tailEnd/>
          </a:ln>
        </p:spPr>
        <p:txBody>
          <a:bodyPr wrap="none" anchor="ctr"/>
          <a:lstStyle/>
          <a:p>
            <a:endParaRPr lang="zh-CN" altLang="en-US"/>
          </a:p>
        </p:txBody>
      </p:sp>
      <p:sp>
        <p:nvSpPr>
          <p:cNvPr id="781" name="Arc 44"/>
          <p:cNvSpPr>
            <a:spLocks/>
          </p:cNvSpPr>
          <p:nvPr/>
        </p:nvSpPr>
        <p:spPr bwMode="auto">
          <a:xfrm rot="884024">
            <a:off x="4507359" y="2711853"/>
            <a:ext cx="827088" cy="622697"/>
          </a:xfrm>
          <a:custGeom>
            <a:avLst/>
            <a:gdLst>
              <a:gd name="T0" fmla="*/ 2147483647 w 20590"/>
              <a:gd name="T1" fmla="*/ 0 h 20754"/>
              <a:gd name="T2" fmla="*/ 2147483647 w 20590"/>
              <a:gd name="T3" fmla="*/ 2147483647 h 20754"/>
              <a:gd name="T4" fmla="*/ 0 w 20590"/>
              <a:gd name="T5" fmla="*/ 2147483647 h 20754"/>
              <a:gd name="T6" fmla="*/ 0 60000 65536"/>
              <a:gd name="T7" fmla="*/ 0 60000 65536"/>
              <a:gd name="T8" fmla="*/ 0 60000 65536"/>
              <a:gd name="T9" fmla="*/ 0 w 20590"/>
              <a:gd name="T10" fmla="*/ 0 h 20754"/>
              <a:gd name="T11" fmla="*/ 20590 w 20590"/>
              <a:gd name="T12" fmla="*/ 20754 h 20754"/>
            </a:gdLst>
            <a:ahLst/>
            <a:cxnLst>
              <a:cxn ang="T6">
                <a:pos x="T0" y="T1"/>
              </a:cxn>
              <a:cxn ang="T7">
                <a:pos x="T2" y="T3"/>
              </a:cxn>
              <a:cxn ang="T8">
                <a:pos x="T4" y="T5"/>
              </a:cxn>
            </a:cxnLst>
            <a:rect l="T9" t="T10" r="T11" b="T12"/>
            <a:pathLst>
              <a:path w="20590" h="20754" fill="none" extrusionOk="0">
                <a:moveTo>
                  <a:pt x="5985" y="0"/>
                </a:moveTo>
                <a:cubicBezTo>
                  <a:pt x="12926" y="2001"/>
                  <a:pt x="18406" y="7339"/>
                  <a:pt x="20589" y="14225"/>
                </a:cubicBezTo>
              </a:path>
              <a:path w="20590" h="20754" stroke="0" extrusionOk="0">
                <a:moveTo>
                  <a:pt x="5985" y="0"/>
                </a:moveTo>
                <a:cubicBezTo>
                  <a:pt x="12926" y="2001"/>
                  <a:pt x="18406" y="7339"/>
                  <a:pt x="20589" y="14225"/>
                </a:cubicBezTo>
                <a:lnTo>
                  <a:pt x="0" y="20754"/>
                </a:lnTo>
                <a:close/>
              </a:path>
            </a:pathLst>
          </a:custGeom>
          <a:gradFill rotWithShape="1">
            <a:gsLst>
              <a:gs pos="0">
                <a:srgbClr val="1C357A"/>
              </a:gs>
              <a:gs pos="100000">
                <a:srgbClr val="446AD4"/>
              </a:gs>
            </a:gsLst>
            <a:lin ang="5400000" scaled="1"/>
          </a:gradFill>
          <a:ln w="3175">
            <a:solidFill>
              <a:srgbClr val="C0C0C0"/>
            </a:solidFill>
            <a:round/>
            <a:headEnd/>
            <a:tailEnd/>
          </a:ln>
        </p:spPr>
        <p:txBody>
          <a:bodyPr wrap="none" anchor="ctr"/>
          <a:lstStyle/>
          <a:p>
            <a:endParaRPr lang="zh-CN" altLang="en-US"/>
          </a:p>
        </p:txBody>
      </p:sp>
      <p:sp>
        <p:nvSpPr>
          <p:cNvPr id="782" name="Arc 45"/>
          <p:cNvSpPr>
            <a:spLocks/>
          </p:cNvSpPr>
          <p:nvPr/>
        </p:nvSpPr>
        <p:spPr bwMode="auto">
          <a:xfrm rot="4500000">
            <a:off x="4622850" y="3047213"/>
            <a:ext cx="621506" cy="836612"/>
          </a:xfrm>
          <a:custGeom>
            <a:avLst/>
            <a:gdLst>
              <a:gd name="T0" fmla="*/ 2147483647 w 20718"/>
              <a:gd name="T1" fmla="*/ 0 h 20863"/>
              <a:gd name="T2" fmla="*/ 2147483647 w 20718"/>
              <a:gd name="T3" fmla="*/ 2147483647 h 20863"/>
              <a:gd name="T4" fmla="*/ 0 w 20718"/>
              <a:gd name="T5" fmla="*/ 2147483647 h 20863"/>
              <a:gd name="T6" fmla="*/ 0 60000 65536"/>
              <a:gd name="T7" fmla="*/ 0 60000 65536"/>
              <a:gd name="T8" fmla="*/ 0 60000 65536"/>
              <a:gd name="T9" fmla="*/ 0 w 20718"/>
              <a:gd name="T10" fmla="*/ 0 h 20863"/>
              <a:gd name="T11" fmla="*/ 20718 w 20718"/>
              <a:gd name="T12" fmla="*/ 20863 h 20863"/>
            </a:gdLst>
            <a:ahLst/>
            <a:cxnLst>
              <a:cxn ang="T6">
                <a:pos x="T0" y="T1"/>
              </a:cxn>
              <a:cxn ang="T7">
                <a:pos x="T2" y="T3"/>
              </a:cxn>
              <a:cxn ang="T8">
                <a:pos x="T4" y="T5"/>
              </a:cxn>
            </a:cxnLst>
            <a:rect l="T9" t="T10" r="T11" b="T12"/>
            <a:pathLst>
              <a:path w="20718" h="20863" fill="none" extrusionOk="0">
                <a:moveTo>
                  <a:pt x="5593" y="-1"/>
                </a:moveTo>
                <a:cubicBezTo>
                  <a:pt x="12859" y="1947"/>
                  <a:pt x="18589" y="7536"/>
                  <a:pt x="20717" y="14753"/>
                </a:cubicBezTo>
              </a:path>
              <a:path w="20718" h="20863" stroke="0" extrusionOk="0">
                <a:moveTo>
                  <a:pt x="5593" y="-1"/>
                </a:moveTo>
                <a:cubicBezTo>
                  <a:pt x="12859" y="1947"/>
                  <a:pt x="18589" y="7536"/>
                  <a:pt x="20717" y="14753"/>
                </a:cubicBezTo>
                <a:lnTo>
                  <a:pt x="0" y="20863"/>
                </a:lnTo>
                <a:close/>
              </a:path>
            </a:pathLst>
          </a:custGeom>
          <a:gradFill rotWithShape="1">
            <a:gsLst>
              <a:gs pos="0">
                <a:srgbClr val="2E2E70"/>
              </a:gs>
              <a:gs pos="100000">
                <a:srgbClr val="336699"/>
              </a:gs>
            </a:gsLst>
            <a:lin ang="5400000" scaled="1"/>
          </a:gradFill>
          <a:ln w="3175">
            <a:solidFill>
              <a:srgbClr val="C0C0C0"/>
            </a:solidFill>
            <a:round/>
            <a:headEnd/>
            <a:tailEnd/>
          </a:ln>
        </p:spPr>
        <p:txBody>
          <a:bodyPr wrap="none" anchor="ctr"/>
          <a:lstStyle/>
          <a:p>
            <a:endParaRPr lang="zh-CN" altLang="en-US"/>
          </a:p>
        </p:txBody>
      </p:sp>
      <p:sp>
        <p:nvSpPr>
          <p:cNvPr id="783" name="Arc 46"/>
          <p:cNvSpPr>
            <a:spLocks/>
          </p:cNvSpPr>
          <p:nvPr/>
        </p:nvSpPr>
        <p:spPr bwMode="auto">
          <a:xfrm rot="20724172" flipH="1">
            <a:off x="3496122" y="2716616"/>
            <a:ext cx="827087" cy="619125"/>
          </a:xfrm>
          <a:custGeom>
            <a:avLst/>
            <a:gdLst>
              <a:gd name="T0" fmla="*/ 2147483647 w 20600"/>
              <a:gd name="T1" fmla="*/ 0 h 20650"/>
              <a:gd name="T2" fmla="*/ 2147483647 w 20600"/>
              <a:gd name="T3" fmla="*/ 2147483647 h 20650"/>
              <a:gd name="T4" fmla="*/ 0 w 20600"/>
              <a:gd name="T5" fmla="*/ 2147483647 h 20650"/>
              <a:gd name="T6" fmla="*/ 0 60000 65536"/>
              <a:gd name="T7" fmla="*/ 0 60000 65536"/>
              <a:gd name="T8" fmla="*/ 0 60000 65536"/>
              <a:gd name="T9" fmla="*/ 0 w 20600"/>
              <a:gd name="T10" fmla="*/ 0 h 20650"/>
              <a:gd name="T11" fmla="*/ 20600 w 20600"/>
              <a:gd name="T12" fmla="*/ 20650 h 20650"/>
            </a:gdLst>
            <a:ahLst/>
            <a:cxnLst>
              <a:cxn ang="T6">
                <a:pos x="T0" y="T1"/>
              </a:cxn>
              <a:cxn ang="T7">
                <a:pos x="T2" y="T3"/>
              </a:cxn>
              <a:cxn ang="T8">
                <a:pos x="T4" y="T5"/>
              </a:cxn>
            </a:cxnLst>
            <a:rect l="T9" t="T10" r="T11" b="T12"/>
            <a:pathLst>
              <a:path w="20600" h="20650" fill="none" extrusionOk="0">
                <a:moveTo>
                  <a:pt x="6335" y="-1"/>
                </a:moveTo>
                <a:cubicBezTo>
                  <a:pt x="13128" y="2084"/>
                  <a:pt x="18462" y="7376"/>
                  <a:pt x="20600" y="14153"/>
                </a:cubicBezTo>
              </a:path>
              <a:path w="20600" h="20650" stroke="0" extrusionOk="0">
                <a:moveTo>
                  <a:pt x="6335" y="-1"/>
                </a:moveTo>
                <a:cubicBezTo>
                  <a:pt x="13128" y="2084"/>
                  <a:pt x="18462" y="7376"/>
                  <a:pt x="20600" y="14153"/>
                </a:cubicBezTo>
                <a:lnTo>
                  <a:pt x="0" y="20650"/>
                </a:lnTo>
                <a:close/>
              </a:path>
            </a:pathLst>
          </a:custGeom>
          <a:gradFill rotWithShape="1">
            <a:gsLst>
              <a:gs pos="0">
                <a:srgbClr val="163622"/>
              </a:gs>
              <a:gs pos="100000">
                <a:srgbClr val="3D9983"/>
              </a:gs>
            </a:gsLst>
            <a:lin ang="5400000" scaled="1"/>
          </a:gradFill>
          <a:ln w="3175">
            <a:solidFill>
              <a:srgbClr val="C0C0C0"/>
            </a:solidFill>
            <a:round/>
            <a:headEnd/>
            <a:tailEnd/>
          </a:ln>
        </p:spPr>
        <p:txBody>
          <a:bodyPr wrap="none" anchor="ctr"/>
          <a:lstStyle/>
          <a:p>
            <a:endParaRPr lang="zh-CN" altLang="en-US"/>
          </a:p>
        </p:txBody>
      </p:sp>
      <p:sp>
        <p:nvSpPr>
          <p:cNvPr id="784" name="Arc 47"/>
          <p:cNvSpPr>
            <a:spLocks/>
          </p:cNvSpPr>
          <p:nvPr/>
        </p:nvSpPr>
        <p:spPr bwMode="auto">
          <a:xfrm rot="17100000" flipH="1">
            <a:off x="3598516" y="3047609"/>
            <a:ext cx="619125" cy="833438"/>
          </a:xfrm>
          <a:custGeom>
            <a:avLst/>
            <a:gdLst>
              <a:gd name="T0" fmla="*/ 2147483647 w 20653"/>
              <a:gd name="T1" fmla="*/ 0 h 20821"/>
              <a:gd name="T2" fmla="*/ 2147483647 w 20653"/>
              <a:gd name="T3" fmla="*/ 2147483647 h 20821"/>
              <a:gd name="T4" fmla="*/ 0 w 20653"/>
              <a:gd name="T5" fmla="*/ 2147483647 h 20821"/>
              <a:gd name="T6" fmla="*/ 0 60000 65536"/>
              <a:gd name="T7" fmla="*/ 0 60000 65536"/>
              <a:gd name="T8" fmla="*/ 0 60000 65536"/>
              <a:gd name="T9" fmla="*/ 0 w 20653"/>
              <a:gd name="T10" fmla="*/ 0 h 20821"/>
              <a:gd name="T11" fmla="*/ 20653 w 20653"/>
              <a:gd name="T12" fmla="*/ 20821 h 20821"/>
            </a:gdLst>
            <a:ahLst/>
            <a:cxnLst>
              <a:cxn ang="T6">
                <a:pos x="T0" y="T1"/>
              </a:cxn>
              <a:cxn ang="T7">
                <a:pos x="T2" y="T3"/>
              </a:cxn>
              <a:cxn ang="T8">
                <a:pos x="T4" y="T5"/>
              </a:cxn>
            </a:cxnLst>
            <a:rect l="T9" t="T10" r="T11" b="T12"/>
            <a:pathLst>
              <a:path w="20653" h="20821" fill="none" extrusionOk="0">
                <a:moveTo>
                  <a:pt x="5747" y="-1"/>
                </a:moveTo>
                <a:cubicBezTo>
                  <a:pt x="12867" y="1965"/>
                  <a:pt x="18490" y="7432"/>
                  <a:pt x="20653" y="14495"/>
                </a:cubicBezTo>
              </a:path>
              <a:path w="20653" h="20821" stroke="0" extrusionOk="0">
                <a:moveTo>
                  <a:pt x="5747" y="-1"/>
                </a:moveTo>
                <a:cubicBezTo>
                  <a:pt x="12867" y="1965"/>
                  <a:pt x="18490" y="7432"/>
                  <a:pt x="20653" y="14495"/>
                </a:cubicBezTo>
                <a:lnTo>
                  <a:pt x="0" y="20821"/>
                </a:lnTo>
                <a:close/>
              </a:path>
            </a:pathLst>
          </a:custGeom>
          <a:gradFill rotWithShape="1">
            <a:gsLst>
              <a:gs pos="0">
                <a:srgbClr val="426D21"/>
              </a:gs>
              <a:gs pos="100000">
                <a:srgbClr val="90C94B"/>
              </a:gs>
            </a:gsLst>
            <a:lin ang="5400000" scaled="1"/>
          </a:gradFill>
          <a:ln w="3175">
            <a:solidFill>
              <a:srgbClr val="C0C0C0"/>
            </a:solidFill>
            <a:round/>
            <a:headEnd/>
            <a:tailEnd/>
          </a:ln>
        </p:spPr>
        <p:txBody>
          <a:bodyPr wrap="none" anchor="ctr"/>
          <a:lstStyle/>
          <a:p>
            <a:endParaRPr lang="zh-CN" altLang="en-US"/>
          </a:p>
        </p:txBody>
      </p:sp>
      <p:sp>
        <p:nvSpPr>
          <p:cNvPr id="785" name="Oval 48"/>
          <p:cNvSpPr>
            <a:spLocks noChangeArrowheads="1"/>
          </p:cNvSpPr>
          <p:nvPr/>
        </p:nvSpPr>
        <p:spPr bwMode="auto">
          <a:xfrm>
            <a:off x="3743773" y="2724950"/>
            <a:ext cx="1368425" cy="1026319"/>
          </a:xfrm>
          <a:prstGeom prst="ellipse">
            <a:avLst/>
          </a:prstGeom>
          <a:gradFill rotWithShape="1">
            <a:gsLst>
              <a:gs pos="0">
                <a:srgbClr val="BDE6FF"/>
              </a:gs>
              <a:gs pos="100000">
                <a:srgbClr val="CCECFF"/>
              </a:gs>
            </a:gsLst>
            <a:lin ang="5400000" scaled="1"/>
          </a:gradFill>
          <a:ln w="9525">
            <a:noFill/>
            <a:round/>
            <a:headEnd/>
            <a:tailEnd/>
          </a:ln>
        </p:spPr>
        <p:txBody>
          <a:bodyPr wrap="none" anchor="ctr"/>
          <a:lstStyle/>
          <a:p>
            <a:endParaRPr lang="zh-CN" altLang="zh-CN"/>
          </a:p>
        </p:txBody>
      </p:sp>
      <p:sp>
        <p:nvSpPr>
          <p:cNvPr id="786" name="Oval 49"/>
          <p:cNvSpPr>
            <a:spLocks noChangeArrowheads="1"/>
          </p:cNvSpPr>
          <p:nvPr/>
        </p:nvSpPr>
        <p:spPr bwMode="auto">
          <a:xfrm>
            <a:off x="3815210" y="2788053"/>
            <a:ext cx="1223963" cy="915590"/>
          </a:xfrm>
          <a:prstGeom prst="ellipse">
            <a:avLst/>
          </a:prstGeom>
          <a:gradFill rotWithShape="0">
            <a:gsLst>
              <a:gs pos="0">
                <a:srgbClr val="A1BAD3">
                  <a:alpha val="64998"/>
                </a:srgbClr>
              </a:gs>
              <a:gs pos="100000">
                <a:srgbClr val="E4EBF2">
                  <a:alpha val="62999"/>
                </a:srgbClr>
              </a:gs>
            </a:gsLst>
            <a:lin ang="5400000" scaled="1"/>
          </a:gradFill>
          <a:ln w="9525">
            <a:noFill/>
            <a:round/>
            <a:headEnd/>
            <a:tailEnd/>
          </a:ln>
        </p:spPr>
        <p:txBody>
          <a:bodyPr wrap="none" anchor="ctr"/>
          <a:lstStyle/>
          <a:p>
            <a:pPr algn="ctr" latinLnBrk="1"/>
            <a:endParaRPr kumimoji="1" lang="zh-CN" altLang="zh-CN" sz="1600">
              <a:ea typeface="HY견고딕"/>
              <a:cs typeface="HY견고딕"/>
            </a:endParaRPr>
          </a:p>
        </p:txBody>
      </p:sp>
      <p:sp>
        <p:nvSpPr>
          <p:cNvPr id="787" name="AutoShape 52"/>
          <p:cNvSpPr>
            <a:spLocks noChangeAspect="1" noChangeArrowheads="1"/>
          </p:cNvSpPr>
          <p:nvPr/>
        </p:nvSpPr>
        <p:spPr bwMode="auto">
          <a:xfrm>
            <a:off x="3816798" y="2789243"/>
            <a:ext cx="1220787" cy="915591"/>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51" y="10800"/>
                </a:moveTo>
                <a:cubicBezTo>
                  <a:pt x="451" y="16516"/>
                  <a:pt x="5084" y="21149"/>
                  <a:pt x="10800" y="21149"/>
                </a:cubicBezTo>
                <a:cubicBezTo>
                  <a:pt x="16516" y="21149"/>
                  <a:pt x="21149" y="16516"/>
                  <a:pt x="21149" y="10800"/>
                </a:cubicBezTo>
                <a:cubicBezTo>
                  <a:pt x="21149" y="5084"/>
                  <a:pt x="16516" y="451"/>
                  <a:pt x="10800" y="451"/>
                </a:cubicBezTo>
                <a:cubicBezTo>
                  <a:pt x="5084" y="451"/>
                  <a:pt x="451" y="5084"/>
                  <a:pt x="451" y="10800"/>
                </a:cubicBezTo>
                <a:close/>
              </a:path>
            </a:pathLst>
          </a:custGeom>
          <a:gradFill rotWithShape="1">
            <a:gsLst>
              <a:gs pos="0">
                <a:srgbClr val="CCECFF">
                  <a:alpha val="0"/>
                </a:srgbClr>
              </a:gs>
              <a:gs pos="100000">
                <a:srgbClr val="068ECC"/>
              </a:gs>
            </a:gsLst>
            <a:lin ang="5400000" scaled="1"/>
          </a:gradFill>
          <a:ln w="9525">
            <a:noFill/>
            <a:round/>
            <a:headEnd/>
            <a:tailEnd/>
          </a:ln>
        </p:spPr>
        <p:txBody>
          <a:bodyPr wrap="none" anchor="ctr"/>
          <a:lstStyle/>
          <a:p>
            <a:endParaRPr lang="zh-CN" altLang="en-US"/>
          </a:p>
        </p:txBody>
      </p:sp>
      <p:pic>
        <p:nvPicPr>
          <p:cNvPr id="789" name="Picture 105" descr="02章_05-1"/>
          <p:cNvPicPr>
            <a:picLocks noChangeAspect="1" noChangeArrowheads="1"/>
          </p:cNvPicPr>
          <p:nvPr/>
        </p:nvPicPr>
        <p:blipFill>
          <a:blip r:embed="rId2" cstate="print"/>
          <a:srcRect/>
          <a:stretch>
            <a:fillRect/>
          </a:stretch>
        </p:blipFill>
        <p:spPr bwMode="auto">
          <a:xfrm>
            <a:off x="3564385" y="3463138"/>
            <a:ext cx="188913" cy="136922"/>
          </a:xfrm>
          <a:prstGeom prst="rect">
            <a:avLst/>
          </a:prstGeom>
          <a:noFill/>
          <a:ln w="9525">
            <a:noFill/>
            <a:miter lim="800000"/>
            <a:headEnd/>
            <a:tailEnd/>
          </a:ln>
        </p:spPr>
      </p:pic>
      <p:pic>
        <p:nvPicPr>
          <p:cNvPr id="790" name="Picture 106" descr="02章_05-1"/>
          <p:cNvPicPr>
            <a:picLocks noChangeAspect="1" noChangeArrowheads="1"/>
          </p:cNvPicPr>
          <p:nvPr/>
        </p:nvPicPr>
        <p:blipFill>
          <a:blip r:embed="rId2" cstate="print"/>
          <a:srcRect/>
          <a:stretch>
            <a:fillRect/>
          </a:stretch>
        </p:blipFill>
        <p:spPr bwMode="auto">
          <a:xfrm>
            <a:off x="3591372" y="2815438"/>
            <a:ext cx="188912" cy="136922"/>
          </a:xfrm>
          <a:prstGeom prst="rect">
            <a:avLst/>
          </a:prstGeom>
          <a:noFill/>
          <a:ln w="9525">
            <a:noFill/>
            <a:miter lim="800000"/>
            <a:headEnd/>
            <a:tailEnd/>
          </a:ln>
        </p:spPr>
      </p:pic>
      <p:pic>
        <p:nvPicPr>
          <p:cNvPr id="791" name="Picture 107" descr="02章_05-1"/>
          <p:cNvPicPr>
            <a:picLocks noChangeAspect="1" noChangeArrowheads="1"/>
          </p:cNvPicPr>
          <p:nvPr/>
        </p:nvPicPr>
        <p:blipFill>
          <a:blip r:embed="rId2" cstate="print"/>
          <a:srcRect/>
          <a:stretch>
            <a:fillRect/>
          </a:stretch>
        </p:blipFill>
        <p:spPr bwMode="auto">
          <a:xfrm>
            <a:off x="4332735" y="2545165"/>
            <a:ext cx="188913" cy="136922"/>
          </a:xfrm>
          <a:prstGeom prst="rect">
            <a:avLst/>
          </a:prstGeom>
          <a:noFill/>
          <a:ln w="9525">
            <a:noFill/>
            <a:miter lim="800000"/>
            <a:headEnd/>
            <a:tailEnd/>
          </a:ln>
        </p:spPr>
      </p:pic>
      <p:pic>
        <p:nvPicPr>
          <p:cNvPr id="792" name="Picture 108" descr="02章_05-1"/>
          <p:cNvPicPr>
            <a:picLocks noChangeAspect="1" noChangeArrowheads="1"/>
          </p:cNvPicPr>
          <p:nvPr/>
        </p:nvPicPr>
        <p:blipFill>
          <a:blip r:embed="rId2" cstate="print"/>
          <a:srcRect/>
          <a:stretch>
            <a:fillRect/>
          </a:stretch>
        </p:blipFill>
        <p:spPr bwMode="auto">
          <a:xfrm>
            <a:off x="5075685" y="2869015"/>
            <a:ext cx="188913" cy="136922"/>
          </a:xfrm>
          <a:prstGeom prst="rect">
            <a:avLst/>
          </a:prstGeom>
          <a:noFill/>
          <a:ln w="9525">
            <a:noFill/>
            <a:miter lim="800000"/>
            <a:headEnd/>
            <a:tailEnd/>
          </a:ln>
        </p:spPr>
      </p:pic>
      <p:pic>
        <p:nvPicPr>
          <p:cNvPr id="793" name="Picture 109" descr="02章_05-1"/>
          <p:cNvPicPr>
            <a:picLocks noChangeAspect="1" noChangeArrowheads="1"/>
          </p:cNvPicPr>
          <p:nvPr/>
        </p:nvPicPr>
        <p:blipFill>
          <a:blip r:embed="rId2" cstate="print"/>
          <a:srcRect/>
          <a:stretch>
            <a:fillRect/>
          </a:stretch>
        </p:blipFill>
        <p:spPr bwMode="auto">
          <a:xfrm>
            <a:off x="5075685" y="3463138"/>
            <a:ext cx="188913" cy="136922"/>
          </a:xfrm>
          <a:prstGeom prst="rect">
            <a:avLst/>
          </a:prstGeom>
          <a:noFill/>
          <a:ln w="9525">
            <a:noFill/>
            <a:miter lim="800000"/>
            <a:headEnd/>
            <a:tailEnd/>
          </a:ln>
        </p:spPr>
      </p:pic>
      <p:sp>
        <p:nvSpPr>
          <p:cNvPr id="805" name="Text Box 125"/>
          <p:cNvSpPr txBox="1">
            <a:spLocks noChangeArrowheads="1"/>
          </p:cNvSpPr>
          <p:nvPr/>
        </p:nvSpPr>
        <p:spPr bwMode="auto">
          <a:xfrm>
            <a:off x="4102501" y="2907680"/>
            <a:ext cx="700833" cy="495585"/>
          </a:xfrm>
          <a:prstGeom prst="rect">
            <a:avLst/>
          </a:prstGeom>
          <a:noFill/>
          <a:ln w="9525">
            <a:noFill/>
            <a:miter lim="800000"/>
            <a:headEnd/>
            <a:tailEnd/>
          </a:ln>
        </p:spPr>
        <p:txBody>
          <a:bodyPr wrap="none">
            <a:spAutoFit/>
          </a:bodyPr>
          <a:lstStyle/>
          <a:p>
            <a:pPr algn="ctr" latinLnBrk="1">
              <a:lnSpc>
                <a:spcPct val="150000"/>
              </a:lnSpc>
            </a:pPr>
            <a:r>
              <a:rPr kumimoji="1" lang="zh-CN" altLang="en-US" sz="2000" b="1" dirty="0" smtClean="0">
                <a:solidFill>
                  <a:schemeClr val="tx1">
                    <a:lumMod val="50000"/>
                  </a:schemeClr>
                </a:solidFill>
                <a:latin typeface="Times New Roman" pitchFamily="18" charset="0"/>
                <a:ea typeface="HY견고딕"/>
                <a:cs typeface="Times New Roman" pitchFamily="18" charset="0"/>
              </a:rPr>
              <a:t>种类</a:t>
            </a:r>
            <a:endParaRPr kumimoji="1" lang="ko-KR" altLang="en-US" sz="2000" b="1" dirty="0">
              <a:solidFill>
                <a:schemeClr val="tx1">
                  <a:lumMod val="50000"/>
                </a:schemeClr>
              </a:solidFill>
              <a:latin typeface="Times New Roman" pitchFamily="18" charset="0"/>
              <a:ea typeface="HY견고딕"/>
              <a:cs typeface="Times New Roman" pitchFamily="18" charset="0"/>
            </a:endParaRPr>
          </a:p>
        </p:txBody>
      </p:sp>
      <p:sp>
        <p:nvSpPr>
          <p:cNvPr id="61" name="제목 1"/>
          <p:cNvSpPr txBox="1">
            <a:spLocks/>
          </p:cNvSpPr>
          <p:nvPr/>
        </p:nvSpPr>
        <p:spPr>
          <a:xfrm>
            <a:off x="571472" y="142858"/>
            <a:ext cx="731289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联机</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控制方式的命令种类</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8" name="Text Box 112"/>
          <p:cNvSpPr txBox="1">
            <a:spLocks noChangeArrowheads="1"/>
          </p:cNvSpPr>
          <p:nvPr/>
        </p:nvSpPr>
        <p:spPr bwMode="auto">
          <a:xfrm>
            <a:off x="994262" y="1591745"/>
            <a:ext cx="2124546" cy="1200329"/>
          </a:xfrm>
          <a:prstGeom prst="rect">
            <a:avLst/>
          </a:prstGeom>
          <a:noFill/>
          <a:ln w="9525">
            <a:noFill/>
            <a:miter lim="800000"/>
            <a:headEnd/>
            <a:tailEnd/>
          </a:ln>
        </p:spPr>
        <p:txBody>
          <a:bodyPr wrap="square">
            <a:spAutoFit/>
          </a:bodyPr>
          <a:lstStyle/>
          <a:p>
            <a:pPr marL="0" lvl="1" algn="ctr"/>
            <a:r>
              <a:rPr lang="zh-CN" altLang="en-US" sz="2400" b="1" dirty="0" smtClean="0">
                <a:solidFill>
                  <a:srgbClr val="FFFF00"/>
                </a:solidFill>
                <a:latin typeface="+mn-ea"/>
              </a:rPr>
              <a:t>编辑、编译、链接装配和执行编辑命令</a:t>
            </a:r>
            <a:endParaRPr lang="en-US" altLang="ko-KR" sz="2400" b="1" dirty="0" smtClean="0">
              <a:solidFill>
                <a:srgbClr val="FFFF00"/>
              </a:solidFill>
              <a:latin typeface="+mn-ea"/>
            </a:endParaRPr>
          </a:p>
        </p:txBody>
      </p:sp>
      <p:sp>
        <p:nvSpPr>
          <p:cNvPr id="59" name="Text Box 111"/>
          <p:cNvSpPr txBox="1">
            <a:spLocks noChangeArrowheads="1"/>
          </p:cNvSpPr>
          <p:nvPr/>
        </p:nvSpPr>
        <p:spPr bwMode="auto">
          <a:xfrm>
            <a:off x="5264598" y="1338630"/>
            <a:ext cx="2455680" cy="461665"/>
          </a:xfrm>
          <a:prstGeom prst="rect">
            <a:avLst/>
          </a:prstGeom>
          <a:noFill/>
          <a:ln w="9525">
            <a:noFill/>
            <a:miter lim="800000"/>
            <a:headEnd/>
            <a:tailEnd/>
          </a:ln>
        </p:spPr>
        <p:txBody>
          <a:bodyPr wrap="square">
            <a:spAutoFit/>
          </a:bodyPr>
          <a:lstStyle/>
          <a:p>
            <a:pPr marL="0" lvl="1" algn="ctr"/>
            <a:r>
              <a:rPr lang="zh-CN" altLang="en-US" sz="2400" b="1" dirty="0" smtClean="0">
                <a:solidFill>
                  <a:srgbClr val="FFFF00"/>
                </a:solidFill>
                <a:latin typeface="+mn-ea"/>
              </a:rPr>
              <a:t>通信</a:t>
            </a:r>
            <a:endParaRPr lang="en-US" altLang="ko-KR" sz="2400" b="1" dirty="0" smtClean="0">
              <a:solidFill>
                <a:srgbClr val="FFFF00"/>
              </a:solidFill>
              <a:latin typeface="+mn-ea"/>
            </a:endParaRPr>
          </a:p>
        </p:txBody>
      </p:sp>
      <p:sp>
        <p:nvSpPr>
          <p:cNvPr id="60" name="Text Box 111"/>
          <p:cNvSpPr txBox="1">
            <a:spLocks noChangeArrowheads="1"/>
          </p:cNvSpPr>
          <p:nvPr/>
        </p:nvSpPr>
        <p:spPr bwMode="auto">
          <a:xfrm>
            <a:off x="5569604" y="1795360"/>
            <a:ext cx="2107065" cy="1015663"/>
          </a:xfrm>
          <a:prstGeom prst="rect">
            <a:avLst/>
          </a:prstGeom>
          <a:noFill/>
          <a:ln w="9525">
            <a:noFill/>
            <a:miter lim="800000"/>
            <a:headEnd/>
            <a:tailEnd/>
          </a:ln>
        </p:spPr>
        <p:txBody>
          <a:bodyPr wrap="square">
            <a:spAutoFit/>
          </a:bodyPr>
          <a:lstStyle/>
          <a:p>
            <a:pPr marL="0" lvl="1" algn="ctr"/>
            <a:r>
              <a:rPr lang="zh-CN" altLang="en-US" sz="2000" b="1" dirty="0" smtClean="0">
                <a:solidFill>
                  <a:schemeClr val="bg1"/>
                </a:solidFill>
                <a:latin typeface="+mn-ea"/>
              </a:rPr>
              <a:t>主机和远程终端之间的呼叫、连接以及断开等</a:t>
            </a:r>
            <a:endParaRPr lang="en-US" altLang="ko-KR" sz="2000" b="1" dirty="0" smtClean="0">
              <a:solidFill>
                <a:schemeClr val="bg1"/>
              </a:solidFill>
              <a:latin typeface="+mn-ea"/>
            </a:endParaRPr>
          </a:p>
        </p:txBody>
      </p:sp>
      <p:sp>
        <p:nvSpPr>
          <p:cNvPr id="63" name="AutoShape 121"/>
          <p:cNvSpPr>
            <a:spLocks noChangeArrowheads="1"/>
          </p:cNvSpPr>
          <p:nvPr/>
        </p:nvSpPr>
        <p:spPr bwMode="auto">
          <a:xfrm>
            <a:off x="3145743" y="2702352"/>
            <a:ext cx="604838" cy="230981"/>
          </a:xfrm>
          <a:prstGeom prst="roundRect">
            <a:avLst>
              <a:gd name="adj" fmla="val 50000"/>
            </a:avLst>
          </a:prstGeom>
          <a:noFill/>
          <a:ln w="12700">
            <a:noFill/>
            <a:round/>
            <a:headEnd/>
            <a:tailEnd/>
          </a:ln>
        </p:spPr>
        <p:txBody>
          <a:bodyPr wrap="none" anchor="ctr"/>
          <a:lstStyle/>
          <a:p>
            <a:pPr algn="ctr"/>
            <a:r>
              <a:rPr lang="en-US" altLang="zh-CN" sz="2400" b="1" dirty="0" smtClean="0">
                <a:solidFill>
                  <a:srgbClr val="FFFFFF"/>
                </a:solidFill>
                <a:latin typeface="Century Gothic" pitchFamily="34" charset="0"/>
                <a:ea typeface="Gulim" pitchFamily="34" charset="-127"/>
              </a:rPr>
              <a:t>5</a:t>
            </a:r>
            <a:endParaRPr lang="en-US" altLang="ko-KR" sz="2400" b="1" dirty="0">
              <a:solidFill>
                <a:srgbClr val="FFFFFF"/>
              </a:solidFill>
              <a:latin typeface="Century Gothic" pitchFamily="34" charset="0"/>
              <a:ea typeface="Gulim" pitchFamily="34" charset="-127"/>
            </a:endParaRPr>
          </a:p>
        </p:txBody>
      </p:sp>
      <p:sp>
        <p:nvSpPr>
          <p:cNvPr id="64" name="AutoShape 121"/>
          <p:cNvSpPr>
            <a:spLocks noChangeArrowheads="1"/>
          </p:cNvSpPr>
          <p:nvPr/>
        </p:nvSpPr>
        <p:spPr bwMode="auto">
          <a:xfrm>
            <a:off x="5023903" y="2701581"/>
            <a:ext cx="604838" cy="230981"/>
          </a:xfrm>
          <a:prstGeom prst="roundRect">
            <a:avLst>
              <a:gd name="adj" fmla="val 50000"/>
            </a:avLst>
          </a:prstGeom>
          <a:noFill/>
          <a:ln w="12700">
            <a:noFill/>
            <a:round/>
            <a:headEnd/>
            <a:tailEnd/>
          </a:ln>
        </p:spPr>
        <p:txBody>
          <a:bodyPr wrap="none" anchor="ctr"/>
          <a:lstStyle/>
          <a:p>
            <a:pPr algn="ctr"/>
            <a:r>
              <a:rPr lang="en-US" altLang="zh-CN" sz="2400" b="1" dirty="0" smtClean="0">
                <a:solidFill>
                  <a:srgbClr val="FFFFFF"/>
                </a:solidFill>
                <a:latin typeface="Century Gothic" pitchFamily="34" charset="0"/>
                <a:ea typeface="Gulim" pitchFamily="34" charset="-127"/>
              </a:rPr>
              <a:t>6</a:t>
            </a:r>
            <a:endParaRPr lang="en-US" altLang="ko-KR" sz="2400" b="1" dirty="0">
              <a:solidFill>
                <a:srgbClr val="FFFFFF"/>
              </a:solidFill>
              <a:latin typeface="Century Gothic" pitchFamily="34" charset="0"/>
              <a:ea typeface="Gulim" pitchFamily="34" charset="-127"/>
            </a:endParaRPr>
          </a:p>
        </p:txBody>
      </p:sp>
      <p:pic>
        <p:nvPicPr>
          <p:cNvPr id="65" name="Picture 107" descr="02章_05-1"/>
          <p:cNvPicPr>
            <a:picLocks noChangeAspect="1" noChangeArrowheads="1"/>
          </p:cNvPicPr>
          <p:nvPr/>
        </p:nvPicPr>
        <p:blipFill>
          <a:blip r:embed="rId2" cstate="print"/>
          <a:srcRect/>
          <a:stretch>
            <a:fillRect/>
          </a:stretch>
        </p:blipFill>
        <p:spPr bwMode="auto">
          <a:xfrm>
            <a:off x="4311855" y="3802421"/>
            <a:ext cx="188913" cy="136922"/>
          </a:xfrm>
          <a:prstGeom prst="rect">
            <a:avLst/>
          </a:prstGeom>
          <a:noFill/>
          <a:ln w="9525">
            <a:noFill/>
            <a:miter lim="800000"/>
            <a:headEnd/>
            <a:tailEnd/>
          </a:ln>
        </p:spPr>
      </p:pic>
      <p:pic>
        <p:nvPicPr>
          <p:cNvPr id="67" name="Picture 74" descr="02章_05-2"/>
          <p:cNvPicPr>
            <a:picLocks noChangeAspect="1" noChangeArrowheads="1"/>
          </p:cNvPicPr>
          <p:nvPr/>
        </p:nvPicPr>
        <p:blipFill>
          <a:blip r:embed="rId3" cstate="print"/>
          <a:srcRect b="22370"/>
          <a:stretch>
            <a:fillRect/>
          </a:stretch>
        </p:blipFill>
        <p:spPr bwMode="auto">
          <a:xfrm>
            <a:off x="3550585" y="3690114"/>
            <a:ext cx="1657350" cy="756065"/>
          </a:xfrm>
          <a:prstGeom prst="rect">
            <a:avLst/>
          </a:prstGeom>
          <a:noFill/>
          <a:ln w="9525">
            <a:noFill/>
            <a:miter lim="800000"/>
            <a:headEnd/>
            <a:tailEnd/>
          </a:ln>
        </p:spPr>
      </p:pic>
      <p:sp>
        <p:nvSpPr>
          <p:cNvPr id="50" name="AutoShape 121"/>
          <p:cNvSpPr>
            <a:spLocks noChangeArrowheads="1"/>
          </p:cNvSpPr>
          <p:nvPr/>
        </p:nvSpPr>
        <p:spPr bwMode="auto">
          <a:xfrm>
            <a:off x="5004048" y="3447903"/>
            <a:ext cx="604838" cy="230981"/>
          </a:xfrm>
          <a:prstGeom prst="roundRect">
            <a:avLst>
              <a:gd name="adj" fmla="val 50000"/>
            </a:avLst>
          </a:prstGeom>
          <a:noFill/>
          <a:ln w="12700">
            <a:noFill/>
            <a:round/>
            <a:headEnd/>
            <a:tailEnd/>
          </a:ln>
        </p:spPr>
        <p:txBody>
          <a:bodyPr wrap="none" anchor="ctr"/>
          <a:lstStyle/>
          <a:p>
            <a:pPr algn="ctr"/>
            <a:r>
              <a:rPr lang="en-US" altLang="zh-CN" sz="2400" b="1" dirty="0" smtClean="0">
                <a:solidFill>
                  <a:srgbClr val="FFFFFF"/>
                </a:solidFill>
                <a:latin typeface="Century Gothic" pitchFamily="34" charset="0"/>
                <a:ea typeface="Gulim" pitchFamily="34" charset="-127"/>
              </a:rPr>
              <a:t>7</a:t>
            </a:r>
            <a:endParaRPr lang="en-US" altLang="ko-KR" sz="2400" b="1" dirty="0">
              <a:solidFill>
                <a:srgbClr val="FFFFFF"/>
              </a:solidFill>
              <a:latin typeface="Century Gothic" pitchFamily="34" charset="0"/>
              <a:ea typeface="Gulim" pitchFamily="34" charset="-127"/>
            </a:endParaRPr>
          </a:p>
        </p:txBody>
      </p:sp>
      <p:sp>
        <p:nvSpPr>
          <p:cNvPr id="51" name="Text Box 111"/>
          <p:cNvSpPr txBox="1">
            <a:spLocks noChangeArrowheads="1"/>
          </p:cNvSpPr>
          <p:nvPr/>
        </p:nvSpPr>
        <p:spPr bwMode="auto">
          <a:xfrm>
            <a:off x="5478001" y="3212889"/>
            <a:ext cx="2455680" cy="461665"/>
          </a:xfrm>
          <a:prstGeom prst="rect">
            <a:avLst/>
          </a:prstGeom>
          <a:noFill/>
          <a:ln w="9525">
            <a:noFill/>
            <a:miter lim="800000"/>
            <a:headEnd/>
            <a:tailEnd/>
          </a:ln>
        </p:spPr>
        <p:txBody>
          <a:bodyPr wrap="square">
            <a:spAutoFit/>
          </a:bodyPr>
          <a:lstStyle/>
          <a:p>
            <a:pPr marL="0" lvl="1" algn="ctr"/>
            <a:r>
              <a:rPr lang="zh-CN" altLang="en-US" sz="2400" b="1" dirty="0" smtClean="0">
                <a:solidFill>
                  <a:srgbClr val="FFFF00"/>
                </a:solidFill>
                <a:latin typeface="+mn-ea"/>
              </a:rPr>
              <a:t>资源要求</a:t>
            </a:r>
            <a:endParaRPr lang="en-US" altLang="ko-KR" sz="2400" b="1" dirty="0" smtClean="0">
              <a:solidFill>
                <a:srgbClr val="FFFF00"/>
              </a:solidFill>
              <a:latin typeface="+mn-ea"/>
            </a:endParaRPr>
          </a:p>
        </p:txBody>
      </p:sp>
      <p:sp>
        <p:nvSpPr>
          <p:cNvPr id="52" name="Text Box 111"/>
          <p:cNvSpPr txBox="1">
            <a:spLocks noChangeArrowheads="1"/>
          </p:cNvSpPr>
          <p:nvPr/>
        </p:nvSpPr>
        <p:spPr bwMode="auto">
          <a:xfrm>
            <a:off x="5611972" y="3658489"/>
            <a:ext cx="2107065" cy="400110"/>
          </a:xfrm>
          <a:prstGeom prst="rect">
            <a:avLst/>
          </a:prstGeom>
          <a:noFill/>
          <a:ln w="9525">
            <a:noFill/>
            <a:miter lim="800000"/>
            <a:headEnd/>
            <a:tailEnd/>
          </a:ln>
        </p:spPr>
        <p:txBody>
          <a:bodyPr wrap="square">
            <a:spAutoFit/>
          </a:bodyPr>
          <a:lstStyle/>
          <a:p>
            <a:pPr marL="0" lvl="1" algn="ctr"/>
            <a:r>
              <a:rPr lang="zh-CN" altLang="en-US" sz="2000" b="1" dirty="0" smtClean="0">
                <a:solidFill>
                  <a:schemeClr val="bg1"/>
                </a:solidFill>
                <a:latin typeface="+mn-ea"/>
              </a:rPr>
              <a:t>向系统申请资源</a:t>
            </a:r>
            <a:endParaRPr lang="en-US" altLang="ko-KR" sz="2000" b="1" dirty="0" smtClean="0">
              <a:solidFill>
                <a:schemeClr val="bg1"/>
              </a:solidFill>
              <a:latin typeface="+mn-ea"/>
            </a:endParaRPr>
          </a:p>
        </p:txBody>
      </p:sp>
      <p:sp>
        <p:nvSpPr>
          <p:cNvPr id="2" name="矩形 1"/>
          <p:cNvSpPr/>
          <p:nvPr/>
        </p:nvSpPr>
        <p:spPr>
          <a:xfrm>
            <a:off x="1291920" y="433529"/>
            <a:ext cx="6314402" cy="1622502"/>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r>
              <a:rPr lang="zh-CN" altLang="en-US" b="1" dirty="0"/>
              <a:t>某单位一台电脑要添加另一台</a:t>
            </a:r>
            <a:r>
              <a:rPr lang="en-US" altLang="zh-CN" b="1" dirty="0" err="1"/>
              <a:t>ip</a:t>
            </a:r>
            <a:r>
              <a:rPr lang="zh-CN" altLang="en-US" b="1" dirty="0"/>
              <a:t>为</a:t>
            </a:r>
            <a:r>
              <a:rPr lang="en-US" altLang="zh-CN" b="1" dirty="0"/>
              <a:t>192.168.1.3</a:t>
            </a:r>
            <a:r>
              <a:rPr lang="zh-CN" altLang="en-US" b="1" dirty="0"/>
              <a:t>电脑上共享名为</a:t>
            </a:r>
            <a:r>
              <a:rPr lang="en-US" altLang="zh-CN" b="1" dirty="0"/>
              <a:t>hp1000</a:t>
            </a:r>
            <a:r>
              <a:rPr lang="zh-CN" altLang="en-US" b="1" dirty="0"/>
              <a:t>的打印机</a:t>
            </a:r>
            <a:r>
              <a:rPr lang="en-US" altLang="zh-CN" b="1" dirty="0"/>
              <a:t>.</a:t>
            </a:r>
            <a:r>
              <a:rPr lang="zh-CN" altLang="en-US" b="1" dirty="0"/>
              <a:t>该电脑设置了密码限制访问未完全开放共享</a:t>
            </a:r>
            <a:r>
              <a:rPr lang="en-US" altLang="zh-CN" b="1" dirty="0"/>
              <a:t>,</a:t>
            </a:r>
            <a:r>
              <a:rPr lang="zh-CN" altLang="en-US" b="1" dirty="0"/>
              <a:t>因此添加该机器上的打印机时，需要先用</a:t>
            </a:r>
            <a:r>
              <a:rPr lang="en-US" altLang="zh-CN" b="1" dirty="0"/>
              <a:t>NET USE</a:t>
            </a:r>
            <a:r>
              <a:rPr lang="zh-CN" altLang="en-US" b="1" dirty="0"/>
              <a:t>命令开启共享资源。所需命令如下：</a:t>
            </a:r>
          </a:p>
          <a:p>
            <a:r>
              <a:rPr lang="en-US" altLang="zh-CN" b="1" dirty="0"/>
              <a:t>net use \\192.168.1.3\ipc$ /</a:t>
            </a:r>
            <a:r>
              <a:rPr lang="en-US" altLang="zh-CN" b="1" dirty="0" err="1"/>
              <a:t>user:username</a:t>
            </a:r>
            <a:r>
              <a:rPr lang="en-US" altLang="zh-CN" b="1" dirty="0"/>
              <a:t> </a:t>
            </a:r>
            <a:r>
              <a:rPr lang="en-US" altLang="zh-CN" b="1" dirty="0" smtClean="0"/>
              <a:t>password</a:t>
            </a:r>
            <a:endParaRPr lang="en-US" altLang="zh-CN" b="1" dirty="0"/>
          </a:p>
        </p:txBody>
      </p:sp>
    </p:spTree>
    <p:extLst>
      <p:ext uri="{BB962C8B-B14F-4D97-AF65-F5344CB8AC3E}">
        <p14:creationId xmlns:p14="http://schemas.microsoft.com/office/powerpoint/2010/main" val="1086994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xEl>
                                              <p:pRg st="0" end="0"/>
                                            </p:txEl>
                                          </p:spTgt>
                                        </p:tgtEl>
                                        <p:attrNameLst>
                                          <p:attrName>style.visibility</p:attrName>
                                        </p:attrNameLst>
                                      </p:cBhvr>
                                      <p:to>
                                        <p:strVal val="visible"/>
                                      </p:to>
                                    </p:set>
                                    <p:animEffect transition="in" filter="wipe(left)">
                                      <p:cBhvr>
                                        <p:cTn id="7" dur="500"/>
                                        <p:tgtEl>
                                          <p:spTgt spid="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
                                            <p:txEl>
                                              <p:pRg st="0" end="0"/>
                                            </p:txEl>
                                          </p:spTgt>
                                        </p:tgtEl>
                                        <p:attrNameLst>
                                          <p:attrName>style.visibility</p:attrName>
                                        </p:attrNameLst>
                                      </p:cBhvr>
                                      <p:to>
                                        <p:strVal val="visible"/>
                                      </p:to>
                                    </p:set>
                                    <p:animEffect transition="in" filter="wipe(left)">
                                      <p:cBhvr>
                                        <p:cTn id="12" dur="500"/>
                                        <p:tgtEl>
                                          <p:spTgt spid="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0">
                                            <p:txEl>
                                              <p:pRg st="0" end="0"/>
                                            </p:txEl>
                                          </p:spTgt>
                                        </p:tgtEl>
                                        <p:attrNameLst>
                                          <p:attrName>style.visibility</p:attrName>
                                        </p:attrNameLst>
                                      </p:cBhvr>
                                      <p:to>
                                        <p:strVal val="visible"/>
                                      </p:to>
                                    </p:set>
                                    <p:animEffect transition="in" filter="wipe(left)">
                                      <p:cBhvr>
                                        <p:cTn id="17" dur="500"/>
                                        <p:tgtEl>
                                          <p:spTgt spid="6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1">
                                            <p:txEl>
                                              <p:pRg st="0" end="0"/>
                                            </p:txEl>
                                          </p:spTgt>
                                        </p:tgtEl>
                                        <p:attrNameLst>
                                          <p:attrName>style.visibility</p:attrName>
                                        </p:attrNameLst>
                                      </p:cBhvr>
                                      <p:to>
                                        <p:strVal val="visible"/>
                                      </p:to>
                                    </p:set>
                                    <p:animEffect transition="in" filter="wipe(left)">
                                      <p:cBhvr>
                                        <p:cTn id="27" dur="500"/>
                                        <p:tgtEl>
                                          <p:spTgt spid="5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2">
                                            <p:txEl>
                                              <p:pRg st="0" end="0"/>
                                            </p:txEl>
                                          </p:spTgt>
                                        </p:tgtEl>
                                        <p:attrNameLst>
                                          <p:attrName>style.visibility</p:attrName>
                                        </p:attrNameLst>
                                      </p:cBhvr>
                                      <p:to>
                                        <p:strVal val="visible"/>
                                      </p:to>
                                    </p:set>
                                    <p:animEffect transition="in" filter="wipe(left)">
                                      <p:cBhvr>
                                        <p:cTn id="32" dur="500"/>
                                        <p:tgtEl>
                                          <p:spTgt spid="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命令控制界面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563638"/>
            <a:ext cx="6912768"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联机控制方式大大地方便了用户。但在某些情况下，用户反复输入众多的命令也会浪费不必要的时间。因此，在现代操作系统中，大都提供批处理方式和联机控制方式。</a:t>
            </a:r>
          </a:p>
        </p:txBody>
      </p:sp>
    </p:spTree>
    <p:extLst>
      <p:ext uri="{BB962C8B-B14F-4D97-AF65-F5344CB8AC3E}">
        <p14:creationId xmlns:p14="http://schemas.microsoft.com/office/powerpoint/2010/main" val="38179352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命令控制界面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44876"/>
            <a:ext cx="6912768" cy="332398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近年来，命令控制界面的人机交互方式发生了革命性变化。无论是</a:t>
            </a:r>
            <a:r>
              <a:rPr lang="en-US" altLang="zh-CN" sz="2000" b="1" dirty="0">
                <a:solidFill>
                  <a:schemeClr val="bg1"/>
                </a:solidFill>
                <a:latin typeface="+mn-ea"/>
              </a:rPr>
              <a:t>Windows</a:t>
            </a:r>
            <a:r>
              <a:rPr lang="zh-CN" altLang="en-US" sz="2000" b="1" dirty="0">
                <a:solidFill>
                  <a:schemeClr val="bg1"/>
                </a:solidFill>
                <a:latin typeface="+mn-ea"/>
              </a:rPr>
              <a:t>系列，还是</a:t>
            </a:r>
            <a:r>
              <a:rPr lang="en-US" altLang="zh-CN" sz="2000" b="1" dirty="0">
                <a:solidFill>
                  <a:schemeClr val="bg1"/>
                </a:solidFill>
                <a:latin typeface="+mn-ea"/>
              </a:rPr>
              <a:t>UNIX</a:t>
            </a:r>
            <a:r>
              <a:rPr lang="zh-CN" altLang="en-US" sz="2000" b="1" dirty="0">
                <a:solidFill>
                  <a:schemeClr val="bg1"/>
                </a:solidFill>
                <a:latin typeface="+mn-ea"/>
              </a:rPr>
              <a:t>系列的操作系统，它们的命令控制界面都是由多窗口的按钮式图形界面组成。在这些系统中，命令已被开发成一条条能用鼠标点击而执行的简单的</a:t>
            </a:r>
            <a:r>
              <a:rPr lang="zh-CN" altLang="en-US" sz="2000" b="1" dirty="0">
                <a:solidFill>
                  <a:srgbClr val="FFFF00"/>
                </a:solidFill>
                <a:latin typeface="+mn-ea"/>
              </a:rPr>
              <a:t>菜单</a:t>
            </a:r>
            <a:r>
              <a:rPr lang="zh-CN" altLang="en-US" sz="2000" b="1" dirty="0">
                <a:solidFill>
                  <a:schemeClr val="bg1"/>
                </a:solidFill>
                <a:latin typeface="+mn-ea"/>
              </a:rPr>
              <a:t>或小巧的</a:t>
            </a:r>
            <a:r>
              <a:rPr lang="zh-CN" altLang="en-US" sz="2000" b="1" dirty="0">
                <a:solidFill>
                  <a:srgbClr val="FFFF00"/>
                </a:solidFill>
                <a:latin typeface="+mn-ea"/>
              </a:rPr>
              <a:t>图标</a:t>
            </a:r>
            <a:r>
              <a:rPr lang="zh-CN" altLang="en-US" sz="2000" b="1" dirty="0">
                <a:solidFill>
                  <a:schemeClr val="bg1"/>
                </a:solidFill>
                <a:latin typeface="+mn-ea"/>
              </a:rPr>
              <a:t>。而且，用户也可以在提示符的提示下用普通字符方式输入各种命令。可以预计，计算机系统的命令控制界面将会越来越方便和越来越拟人化。</a:t>
            </a:r>
          </a:p>
        </p:txBody>
      </p:sp>
    </p:spTree>
    <p:extLst>
      <p:ext uri="{BB962C8B-B14F-4D97-AF65-F5344CB8AC3E}">
        <p14:creationId xmlns:p14="http://schemas.microsoft.com/office/powerpoint/2010/main" val="25448346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图形控制界面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992798"/>
            <a:ext cx="6912768" cy="193899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图形按钮本质上是基于一套</a:t>
            </a:r>
            <a:r>
              <a:rPr lang="zh-CN" altLang="en-US" sz="2000" b="1" dirty="0" smtClean="0">
                <a:solidFill>
                  <a:srgbClr val="FFFF00"/>
                </a:solidFill>
                <a:latin typeface="+mn-ea"/>
              </a:rPr>
              <a:t>消息机制</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点击鼠标或者按下键盘后，就会通过</a:t>
            </a:r>
            <a:r>
              <a:rPr lang="zh-CN" altLang="en-US" sz="2000" b="1" dirty="0" smtClean="0">
                <a:solidFill>
                  <a:srgbClr val="FFFF00"/>
                </a:solidFill>
                <a:latin typeface="+mn-ea"/>
              </a:rPr>
              <a:t>中断</a:t>
            </a:r>
            <a:r>
              <a:rPr lang="zh-CN" altLang="en-US" sz="2000" b="1" dirty="0" smtClean="0">
                <a:solidFill>
                  <a:schemeClr val="bg1"/>
                </a:solidFill>
                <a:latin typeface="+mn-ea"/>
              </a:rPr>
              <a:t>，放到内存中一个</a:t>
            </a:r>
            <a:r>
              <a:rPr lang="zh-CN" altLang="en-US" sz="2000" b="1" dirty="0" smtClean="0">
                <a:solidFill>
                  <a:srgbClr val="FFFF00"/>
                </a:solidFill>
                <a:latin typeface="+mn-ea"/>
              </a:rPr>
              <a:t>消息队列</a:t>
            </a:r>
            <a:r>
              <a:rPr lang="zh-CN" altLang="en-US" sz="2000" b="1" dirty="0" smtClean="0">
                <a:solidFill>
                  <a:schemeClr val="bg1"/>
                </a:solidFill>
                <a:latin typeface="+mn-ea"/>
              </a:rPr>
              <a:t>，而应用程序则需要写一个</a:t>
            </a:r>
            <a:r>
              <a:rPr lang="zh-CN" altLang="en-US" sz="2000" b="1" dirty="0" smtClean="0">
                <a:solidFill>
                  <a:srgbClr val="FFFF00"/>
                </a:solidFill>
                <a:latin typeface="+mn-ea"/>
              </a:rPr>
              <a:t>系统调用</a:t>
            </a:r>
            <a:r>
              <a:rPr lang="zh-CN" altLang="en-US" sz="2000" b="1" dirty="0" smtClean="0">
                <a:solidFill>
                  <a:schemeClr val="bg1"/>
                </a:solidFill>
                <a:latin typeface="+mn-ea"/>
              </a:rPr>
              <a:t>，从消息队列中取出相应的消息。</a:t>
            </a:r>
            <a:endParaRPr lang="zh-CN" altLang="en-US" sz="2000" b="1" dirty="0">
              <a:solidFill>
                <a:srgbClr val="FFFF00"/>
              </a:solidFill>
              <a:latin typeface="+mn-ea"/>
            </a:endParaRPr>
          </a:p>
        </p:txBody>
      </p:sp>
      <p:grpSp>
        <p:nvGrpSpPr>
          <p:cNvPr id="7" name="组合 6"/>
          <p:cNvGrpSpPr/>
          <p:nvPr/>
        </p:nvGrpSpPr>
        <p:grpSpPr>
          <a:xfrm>
            <a:off x="783034" y="2830062"/>
            <a:ext cx="3526233" cy="1562235"/>
            <a:chOff x="1623990" y="2844293"/>
            <a:chExt cx="3526233" cy="1562235"/>
          </a:xfrm>
        </p:grpSpPr>
        <p:pic>
          <p:nvPicPr>
            <p:cNvPr id="3" name="图片 2"/>
            <p:cNvPicPr>
              <a:picLocks noChangeAspect="1"/>
            </p:cNvPicPr>
            <p:nvPr/>
          </p:nvPicPr>
          <p:blipFill>
            <a:blip r:embed="rId2"/>
            <a:stretch>
              <a:fillRect/>
            </a:stretch>
          </p:blipFill>
          <p:spPr>
            <a:xfrm>
              <a:off x="2627784" y="2844293"/>
              <a:ext cx="2522439" cy="1562235"/>
            </a:xfrm>
            <a:prstGeom prst="rect">
              <a:avLst/>
            </a:prstGeom>
          </p:spPr>
        </p:pic>
        <p:sp>
          <p:nvSpPr>
            <p:cNvPr id="4" name="文本框 3"/>
            <p:cNvSpPr txBox="1"/>
            <p:nvPr/>
          </p:nvSpPr>
          <p:spPr>
            <a:xfrm>
              <a:off x="1623990" y="2908694"/>
              <a:ext cx="717921" cy="707886"/>
            </a:xfrm>
            <a:prstGeom prst="rect">
              <a:avLst/>
            </a:prstGeom>
            <a:noFill/>
          </p:spPr>
          <p:txBody>
            <a:bodyPr wrap="square" rtlCol="0">
              <a:spAutoFit/>
            </a:bodyPr>
            <a:lstStyle/>
            <a:p>
              <a:r>
                <a:rPr lang="zh-CN" altLang="en-US" sz="2000" b="1" dirty="0">
                  <a:solidFill>
                    <a:schemeClr val="bg1"/>
                  </a:solidFill>
                  <a:latin typeface="+mn-ea"/>
                </a:rPr>
                <a:t>硬件输入</a:t>
              </a:r>
            </a:p>
          </p:txBody>
        </p:sp>
        <p:cxnSp>
          <p:nvCxnSpPr>
            <p:cNvPr id="6" name="直接箭头连接符 5"/>
            <p:cNvCxnSpPr/>
            <p:nvPr/>
          </p:nvCxnSpPr>
          <p:spPr>
            <a:xfrm>
              <a:off x="2267744" y="3100765"/>
              <a:ext cx="720080" cy="15969"/>
            </a:xfrm>
            <a:prstGeom prst="straightConnector1">
              <a:avLst/>
            </a:prstGeom>
            <a:ln w="38100">
              <a:solidFill>
                <a:srgbClr val="00B0F0"/>
              </a:solidFill>
              <a:tailEnd type="triangle"/>
            </a:ln>
          </p:spPr>
          <p:style>
            <a:lnRef idx="1">
              <a:schemeClr val="accent5"/>
            </a:lnRef>
            <a:fillRef idx="0">
              <a:schemeClr val="accent5"/>
            </a:fillRef>
            <a:effectRef idx="0">
              <a:schemeClr val="accent5"/>
            </a:effectRef>
            <a:fontRef idx="minor">
              <a:schemeClr val="tx1"/>
            </a:fontRef>
          </p:style>
        </p:cxnSp>
      </p:grpSp>
      <p:grpSp>
        <p:nvGrpSpPr>
          <p:cNvPr id="29" name="组合 28"/>
          <p:cNvGrpSpPr/>
          <p:nvPr/>
        </p:nvGrpSpPr>
        <p:grpSpPr>
          <a:xfrm>
            <a:off x="4193939" y="2643758"/>
            <a:ext cx="4329778" cy="2307823"/>
            <a:chOff x="4031188" y="2170668"/>
            <a:chExt cx="4329778" cy="2307823"/>
          </a:xfrm>
        </p:grpSpPr>
        <p:grpSp>
          <p:nvGrpSpPr>
            <p:cNvPr id="10" name="组合 9"/>
            <p:cNvGrpSpPr/>
            <p:nvPr/>
          </p:nvGrpSpPr>
          <p:grpSpPr>
            <a:xfrm>
              <a:off x="4476131" y="2170668"/>
              <a:ext cx="3884835" cy="2307823"/>
              <a:chOff x="4408441" y="2291630"/>
              <a:chExt cx="3884835" cy="2307823"/>
            </a:xfrm>
          </p:grpSpPr>
          <p:pic>
            <p:nvPicPr>
              <p:cNvPr id="8" name="图片 7"/>
              <p:cNvPicPr>
                <a:picLocks noChangeAspect="1"/>
              </p:cNvPicPr>
              <p:nvPr/>
            </p:nvPicPr>
            <p:blipFill>
              <a:blip r:embed="rId3"/>
              <a:stretch>
                <a:fillRect/>
              </a:stretch>
            </p:blipFill>
            <p:spPr>
              <a:xfrm>
                <a:off x="4408441" y="2291630"/>
                <a:ext cx="3884835" cy="2307823"/>
              </a:xfrm>
              <a:prstGeom prst="rect">
                <a:avLst/>
              </a:prstGeom>
            </p:spPr>
          </p:pic>
          <p:pic>
            <p:nvPicPr>
              <p:cNvPr id="9" name="图片 8"/>
              <p:cNvPicPr>
                <a:picLocks noChangeAspect="1"/>
              </p:cNvPicPr>
              <p:nvPr/>
            </p:nvPicPr>
            <p:blipFill>
              <a:blip r:embed="rId4"/>
              <a:stretch>
                <a:fillRect/>
              </a:stretch>
            </p:blipFill>
            <p:spPr>
              <a:xfrm>
                <a:off x="6420112" y="2331066"/>
                <a:ext cx="1656184" cy="1435360"/>
              </a:xfrm>
              <a:prstGeom prst="rect">
                <a:avLst/>
              </a:prstGeom>
            </p:spPr>
          </p:pic>
        </p:grpSp>
        <p:cxnSp>
          <p:nvCxnSpPr>
            <p:cNvPr id="12" name="直接箭头连接符 11"/>
            <p:cNvCxnSpPr/>
            <p:nvPr/>
          </p:nvCxnSpPr>
          <p:spPr>
            <a:xfrm>
              <a:off x="4031188" y="2969265"/>
              <a:ext cx="719361"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文本框 29"/>
          <p:cNvSpPr txBox="1"/>
          <p:nvPr/>
        </p:nvSpPr>
        <p:spPr>
          <a:xfrm>
            <a:off x="3720301" y="224212"/>
            <a:ext cx="4595159" cy="1754326"/>
          </a:xfrm>
          <a:prstGeom prst="rect">
            <a:avLst/>
          </a:prstGeom>
          <a:solidFill>
            <a:schemeClr val="bg1"/>
          </a:solidFill>
        </p:spPr>
        <p:txBody>
          <a:bodyPr wrap="square" rtlCol="0">
            <a:spAutoFit/>
          </a:bodyPr>
          <a:lstStyle/>
          <a:p>
            <a:r>
              <a:rPr lang="en-US" altLang="zh-CN" b="1" dirty="0"/>
              <a:t>void </a:t>
            </a:r>
            <a:r>
              <a:rPr lang="en-US" altLang="zh-CN" b="1" dirty="0" err="1"/>
              <a:t>COutputDlg</a:t>
            </a:r>
            <a:r>
              <a:rPr lang="en-US" altLang="zh-CN" b="1" dirty="0"/>
              <a:t>::</a:t>
            </a:r>
            <a:r>
              <a:rPr lang="en-US" altLang="zh-CN" b="1" dirty="0" err="1"/>
              <a:t>OnOK</a:t>
            </a:r>
            <a:r>
              <a:rPr lang="en-US" altLang="zh-CN" b="1" dirty="0"/>
              <a:t>()</a:t>
            </a:r>
          </a:p>
          <a:p>
            <a:r>
              <a:rPr lang="en-US" altLang="zh-CN" b="1" dirty="0"/>
              <a:t>{ </a:t>
            </a:r>
            <a:r>
              <a:rPr lang="en-US" altLang="zh-CN" b="1" dirty="0" err="1"/>
              <a:t>GetDlgItemText</a:t>
            </a:r>
            <a:r>
              <a:rPr lang="en-US" altLang="zh-CN" b="1" dirty="0"/>
              <a:t>(IDC_EDIT1,m_outStr);</a:t>
            </a:r>
          </a:p>
          <a:p>
            <a:r>
              <a:rPr lang="en-US" altLang="zh-CN" b="1" dirty="0" smtClean="0"/>
              <a:t>   FILE </a:t>
            </a:r>
            <a:r>
              <a:rPr lang="en-US" altLang="zh-CN" b="1" dirty="0"/>
              <a:t>*</a:t>
            </a:r>
            <a:r>
              <a:rPr lang="en-US" altLang="zh-CN" b="1" dirty="0" err="1"/>
              <a:t>fp</a:t>
            </a:r>
            <a:r>
              <a:rPr lang="en-US" altLang="zh-CN" b="1" dirty="0"/>
              <a:t>=</a:t>
            </a:r>
            <a:r>
              <a:rPr lang="en-US" altLang="zh-CN" b="1" dirty="0" err="1">
                <a:solidFill>
                  <a:srgbClr val="FF0000"/>
                </a:solidFill>
              </a:rPr>
              <a:t>fopen</a:t>
            </a:r>
            <a:r>
              <a:rPr lang="en-US" altLang="zh-CN" b="1" dirty="0"/>
              <a:t>("d:\\out.txt","w");</a:t>
            </a:r>
          </a:p>
          <a:p>
            <a:r>
              <a:rPr lang="en-US" altLang="zh-CN" b="1" dirty="0" smtClean="0"/>
              <a:t>   </a:t>
            </a:r>
            <a:r>
              <a:rPr lang="en-US" altLang="zh-CN" b="1" dirty="0" err="1" smtClean="0">
                <a:solidFill>
                  <a:srgbClr val="FF0000"/>
                </a:solidFill>
              </a:rPr>
              <a:t>printf</a:t>
            </a:r>
            <a:r>
              <a:rPr lang="en-US" altLang="zh-CN" b="1" dirty="0" smtClean="0"/>
              <a:t>(</a:t>
            </a:r>
            <a:r>
              <a:rPr lang="en-US" altLang="zh-CN" b="1" dirty="0" err="1" smtClean="0"/>
              <a:t>fp,m_outStr,m_outStr.GetLength</a:t>
            </a:r>
            <a:r>
              <a:rPr lang="en-US" altLang="zh-CN" b="1" dirty="0"/>
              <a:t>());</a:t>
            </a:r>
          </a:p>
          <a:p>
            <a:r>
              <a:rPr lang="en-US" altLang="zh-CN" b="1" dirty="0" smtClean="0">
                <a:solidFill>
                  <a:srgbClr val="FF0000"/>
                </a:solidFill>
              </a:rPr>
              <a:t>   </a:t>
            </a:r>
            <a:r>
              <a:rPr lang="en-US" altLang="zh-CN" b="1" dirty="0" err="1" smtClean="0">
                <a:solidFill>
                  <a:srgbClr val="FF0000"/>
                </a:solidFill>
              </a:rPr>
              <a:t>fclose</a:t>
            </a:r>
            <a:r>
              <a:rPr lang="en-US" altLang="zh-CN" b="1" dirty="0" smtClean="0"/>
              <a:t>(</a:t>
            </a:r>
            <a:r>
              <a:rPr lang="en-US" altLang="zh-CN" b="1" dirty="0" err="1" smtClean="0"/>
              <a:t>fp</a:t>
            </a:r>
            <a:r>
              <a:rPr lang="en-US" altLang="zh-CN" b="1" dirty="0"/>
              <a:t>); </a:t>
            </a:r>
            <a:endParaRPr lang="en-US" altLang="zh-CN" b="1" dirty="0" smtClean="0"/>
          </a:p>
          <a:p>
            <a:r>
              <a:rPr lang="en-US" altLang="zh-CN" b="1" dirty="0" smtClean="0"/>
              <a:t>} </a:t>
            </a:r>
            <a:endParaRPr lang="zh-CN" altLang="en-US" dirty="0"/>
          </a:p>
        </p:txBody>
      </p:sp>
      <p:cxnSp>
        <p:nvCxnSpPr>
          <p:cNvPr id="32" name="直接箭头连接符 31"/>
          <p:cNvCxnSpPr/>
          <p:nvPr/>
        </p:nvCxnSpPr>
        <p:spPr>
          <a:xfrm flipV="1">
            <a:off x="7164288" y="1491630"/>
            <a:ext cx="288032" cy="3240360"/>
          </a:xfrm>
          <a:prstGeom prst="straightConnector1">
            <a:avLst/>
          </a:prstGeom>
          <a:ln w="38100">
            <a:solidFill>
              <a:srgbClr val="FF5050"/>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899592" y="4463898"/>
            <a:ext cx="4572000" cy="481863"/>
          </a:xfrm>
          <a:prstGeom prst="rect">
            <a:avLst/>
          </a:prstGeom>
        </p:spPr>
        <p:txBody>
          <a:bodyPr>
            <a:spAutoFit/>
          </a:bodyPr>
          <a:lstStyle/>
          <a:p>
            <a:pPr marL="0" lvl="1" algn="just">
              <a:lnSpc>
                <a:spcPct val="150000"/>
              </a:lnSpc>
              <a:buClr>
                <a:schemeClr val="accent6">
                  <a:lumMod val="60000"/>
                  <a:lumOff val="40000"/>
                </a:schemeClr>
              </a:buClr>
            </a:pPr>
            <a:r>
              <a:rPr lang="zh-CN" altLang="en-US" sz="2000" b="1" dirty="0" smtClean="0">
                <a:solidFill>
                  <a:srgbClr val="FF0000"/>
                </a:solidFill>
                <a:latin typeface="+mn-ea"/>
              </a:rPr>
              <a:t>图形界面：包括画图的</a:t>
            </a:r>
            <a:r>
              <a:rPr lang="en-US" altLang="zh-CN" sz="2000" b="1" dirty="0" smtClean="0">
                <a:solidFill>
                  <a:srgbClr val="FF0000"/>
                </a:solidFill>
                <a:latin typeface="+mn-ea"/>
              </a:rPr>
              <a:t>C</a:t>
            </a:r>
            <a:r>
              <a:rPr lang="zh-CN" altLang="en-US" sz="2000" b="1" dirty="0" smtClean="0">
                <a:solidFill>
                  <a:srgbClr val="FF0000"/>
                </a:solidFill>
                <a:latin typeface="+mn-ea"/>
              </a:rPr>
              <a:t>程序</a:t>
            </a:r>
            <a:endParaRPr lang="zh-CN" altLang="en-US" sz="2000" b="1" dirty="0">
              <a:solidFill>
                <a:srgbClr val="FF0000"/>
              </a:solidFill>
              <a:latin typeface="+mn-ea"/>
            </a:endParaRPr>
          </a:p>
        </p:txBody>
      </p:sp>
    </p:spTree>
    <p:extLst>
      <p:ext uri="{BB962C8B-B14F-4D97-AF65-F5344CB8AC3E}">
        <p14:creationId xmlns:p14="http://schemas.microsoft.com/office/powerpoint/2010/main" val="17957345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down)">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down)">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操作系统接口</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992798"/>
            <a:ext cx="6912768" cy="240065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命令行：</a:t>
            </a:r>
            <a:r>
              <a:rPr lang="zh-CN" altLang="en-US" sz="2000" b="1" dirty="0" smtClean="0">
                <a:solidFill>
                  <a:srgbClr val="FFFF00"/>
                </a:solidFill>
                <a:latin typeface="+mn-ea"/>
              </a:rPr>
              <a:t>命令程序</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图形界面：</a:t>
            </a:r>
            <a:r>
              <a:rPr lang="zh-CN" altLang="en-US" sz="2000" b="1" dirty="0" smtClean="0">
                <a:solidFill>
                  <a:srgbClr val="FFFF00"/>
                </a:solidFill>
                <a:latin typeface="+mn-ea"/>
              </a:rPr>
              <a:t>消息框架程序</a:t>
            </a:r>
            <a:r>
              <a:rPr lang="en-US" altLang="zh-CN" sz="2000" b="1" dirty="0" smtClean="0">
                <a:solidFill>
                  <a:srgbClr val="FFFF00"/>
                </a:solidFill>
                <a:latin typeface="+mn-ea"/>
              </a:rPr>
              <a:t>+</a:t>
            </a:r>
            <a:r>
              <a:rPr lang="zh-CN" altLang="en-US" sz="2000" b="1" dirty="0" smtClean="0">
                <a:solidFill>
                  <a:srgbClr val="FFFF00"/>
                </a:solidFill>
                <a:latin typeface="+mn-ea"/>
              </a:rPr>
              <a:t>消息处理程序</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用户使用计算机：通过</a:t>
            </a:r>
            <a:r>
              <a:rPr lang="zh-CN" altLang="en-US" sz="2000" b="1" dirty="0" smtClean="0">
                <a:solidFill>
                  <a:srgbClr val="FFFF00"/>
                </a:solidFill>
                <a:latin typeface="+mn-ea"/>
              </a:rPr>
              <a:t>程序</a:t>
            </a:r>
            <a:endParaRPr lang="en-US" altLang="zh-CN" sz="2000" b="1" dirty="0" smtClean="0">
              <a:solidFill>
                <a:srgbClr val="FFFF00"/>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操作系统接口连接的就是操作系统和应用程序</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如何</a:t>
            </a:r>
            <a:r>
              <a:rPr lang="zh-CN" altLang="en-US" sz="2000" b="1" dirty="0">
                <a:solidFill>
                  <a:schemeClr val="bg1"/>
                </a:solidFill>
                <a:latin typeface="+mn-ea"/>
              </a:rPr>
              <a:t>连接？</a:t>
            </a:r>
            <a:r>
              <a:rPr lang="en-US" altLang="zh-CN" sz="2000" b="1" dirty="0">
                <a:solidFill>
                  <a:schemeClr val="bg1"/>
                </a:solidFill>
                <a:latin typeface="+mn-ea"/>
              </a:rPr>
              <a:t>---C</a:t>
            </a:r>
            <a:r>
              <a:rPr lang="zh-CN" altLang="en-US" sz="2000" b="1" dirty="0">
                <a:solidFill>
                  <a:schemeClr val="bg1"/>
                </a:solidFill>
                <a:latin typeface="+mn-ea"/>
              </a:rPr>
              <a:t>程序。</a:t>
            </a:r>
          </a:p>
        </p:txBody>
      </p:sp>
      <p:pic>
        <p:nvPicPr>
          <p:cNvPr id="5" name="图片 4"/>
          <p:cNvPicPr>
            <a:picLocks noChangeAspect="1"/>
          </p:cNvPicPr>
          <p:nvPr/>
        </p:nvPicPr>
        <p:blipFill>
          <a:blip r:embed="rId2"/>
          <a:stretch>
            <a:fillRect/>
          </a:stretch>
        </p:blipFill>
        <p:spPr>
          <a:xfrm>
            <a:off x="1547664" y="3291830"/>
            <a:ext cx="5471634" cy="1150720"/>
          </a:xfrm>
          <a:prstGeom prst="rect">
            <a:avLst/>
          </a:prstGeom>
        </p:spPr>
      </p:pic>
    </p:spTree>
    <p:extLst>
      <p:ext uri="{BB962C8B-B14F-4D97-AF65-F5344CB8AC3E}">
        <p14:creationId xmlns:p14="http://schemas.microsoft.com/office/powerpoint/2010/main" val="25078244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操作系统接口</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19622"/>
            <a:ext cx="6912768"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操作系统提供这样的重要函数。</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本质上操作系统接口变现为</a:t>
            </a:r>
            <a:r>
              <a:rPr lang="zh-CN" altLang="en-US" sz="2400" b="1" dirty="0" smtClean="0">
                <a:solidFill>
                  <a:srgbClr val="FFFF00"/>
                </a:solidFill>
                <a:latin typeface="+mn-ea"/>
              </a:rPr>
              <a:t>函数调用</a:t>
            </a:r>
            <a:r>
              <a:rPr lang="zh-CN" altLang="en-US" sz="2400" b="1" dirty="0" smtClean="0">
                <a:solidFill>
                  <a:schemeClr val="bg1"/>
                </a:solidFill>
                <a:latin typeface="+mn-ea"/>
              </a:rPr>
              <a:t>，由于这些函数是由系统提供的，因此称为</a:t>
            </a:r>
            <a:r>
              <a:rPr lang="zh-CN" altLang="en-US" sz="2400" b="1" dirty="0" smtClean="0">
                <a:solidFill>
                  <a:srgbClr val="FFFF00"/>
                </a:solidFill>
                <a:latin typeface="+mn-ea"/>
              </a:rPr>
              <a:t>系统调用</a:t>
            </a:r>
            <a:r>
              <a:rPr lang="en-US" altLang="zh-CN" sz="2400" b="1" dirty="0" smtClean="0">
                <a:solidFill>
                  <a:srgbClr val="FFFF00"/>
                </a:solidFill>
                <a:latin typeface="+mn-ea"/>
              </a:rPr>
              <a:t>(system _call)</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419152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9"/>
            <a:ext cx="4724400" cy="833438"/>
            <a:chOff x="1296" y="1824"/>
            <a:chExt cx="2976" cy="525"/>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407"/>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简介及一般用户的输入输出界面</a:t>
              </a:r>
              <a:endParaRPr lang="en-US" altLang="zh-CN" b="1" dirty="0">
                <a:solidFill>
                  <a:srgbClr val="000000"/>
                </a:solidFill>
              </a:endParaRPr>
            </a:p>
            <a:p>
              <a:pPr algn="ctr" eaLnBrk="0" hangingPunct="0"/>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6"/>
            <a:ext cx="4724400" cy="823913"/>
            <a:chOff x="1296" y="1824"/>
            <a:chExt cx="2976" cy="519"/>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800" y="1936"/>
              <a:ext cx="2160" cy="407"/>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命令控制界面</a:t>
              </a:r>
              <a:r>
                <a:rPr lang="zh-CN" altLang="en-US" b="1" dirty="0" smtClean="0">
                  <a:solidFill>
                    <a:srgbClr val="000000"/>
                  </a:solidFill>
                </a:rPr>
                <a:t>、图形</a:t>
              </a:r>
              <a:r>
                <a:rPr lang="zh-CN" altLang="en-US" b="1" dirty="0">
                  <a:solidFill>
                    <a:srgbClr val="000000"/>
                  </a:solidFill>
                </a:rPr>
                <a:t>控制界面</a:t>
              </a:r>
              <a:endParaRPr lang="en-US" altLang="zh-CN" b="1" dirty="0">
                <a:solidFill>
                  <a:srgbClr val="000000"/>
                </a:solidFill>
              </a:endParaRPr>
            </a:p>
            <a:p>
              <a:pPr algn="ctr" eaLnBrk="0" hangingPunct="0"/>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系统</a:t>
              </a:r>
              <a:r>
                <a:rPr lang="zh-CN" altLang="en-US" b="1" dirty="0" smtClean="0">
                  <a:solidFill>
                    <a:srgbClr val="000000"/>
                  </a:solidFill>
                </a:rPr>
                <a:t>调用</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a:solidFill>
                    <a:srgbClr val="000000"/>
                  </a:solidFill>
                </a:rPr>
                <a:t>Windows</a:t>
              </a:r>
              <a:r>
                <a:rPr lang="zh-CN" altLang="en-US" b="1" dirty="0">
                  <a:solidFill>
                    <a:srgbClr val="000000"/>
                  </a:solidFill>
                </a:rPr>
                <a:t>的命令控制界面</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a:solidFill>
                    <a:srgbClr val="000000"/>
                  </a:solidFill>
                </a:rPr>
                <a:t>Windows</a:t>
              </a:r>
              <a:r>
                <a:rPr lang="zh-CN" altLang="en-US" b="1" dirty="0" smtClean="0">
                  <a:solidFill>
                    <a:srgbClr val="000000"/>
                  </a:solidFill>
                </a:rPr>
                <a:t>的</a:t>
              </a:r>
              <a:r>
                <a:rPr lang="zh-CN" altLang="en-US" b="1" dirty="0" smtClean="0">
                  <a:solidFill>
                    <a:srgbClr val="000000"/>
                  </a:solidFill>
                  <a:ea typeface="宋体" pitchFamily="2" charset="-122"/>
                </a:rPr>
                <a:t>系统调用</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27919033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gtEl>
                                      </p:cBhvr>
                                      <p:by x="150000" y="150000"/>
                                    </p:animScale>
                                  </p:childTnLst>
                                </p:cTn>
                              </p:par>
                              <p:par>
                                <p:cTn id="7" presetID="10" presetClass="exit" presetSubtype="0" fill="hold" nodeType="withEffect">
                                  <p:stCondLst>
                                    <p:cond delay="0"/>
                                  </p:stCondLst>
                                  <p:childTnLst>
                                    <p:animEffect transition="out" filter="fade">
                                      <p:cBhvr>
                                        <p:cTn id="8" dur="2000"/>
                                        <p:tgtEl>
                                          <p:spTgt spid="27"/>
                                        </p:tgtEl>
                                      </p:cBhvr>
                                    </p:animEffect>
                                    <p:set>
                                      <p:cBhvr>
                                        <p:cTn id="9" dur="1" fill="hold">
                                          <p:stCondLst>
                                            <p:cond delay="1999"/>
                                          </p:stCondLst>
                                        </p:cTn>
                                        <p:tgtEl>
                                          <p:spTgt spid="27"/>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11" dur="2000"/>
                                        <p:tgtEl>
                                          <p:spTgt spid="32"/>
                                        </p:tgtEl>
                                      </p:cBhvr>
                                    </p:animEffect>
                                    <p:set>
                                      <p:cBhvr>
                                        <p:cTn id="12" dur="1" fill="hold">
                                          <p:stCondLst>
                                            <p:cond delay="1999"/>
                                          </p:stCondLst>
                                        </p:cTn>
                                        <p:tgtEl>
                                          <p:spTgt spid="32"/>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2000"/>
                                        <p:tgtEl>
                                          <p:spTgt spid="11"/>
                                        </p:tgtEl>
                                      </p:cBhvr>
                                    </p:animEffect>
                                    <p:set>
                                      <p:cBhvr>
                                        <p:cTn id="15" dur="1" fill="hold">
                                          <p:stCondLst>
                                            <p:cond delay="1999"/>
                                          </p:stCondLst>
                                        </p:cTn>
                                        <p:tgtEl>
                                          <p:spTgt spid="11"/>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2000"/>
                                        <p:tgtEl>
                                          <p:spTgt spid="16"/>
                                        </p:tgtEl>
                                      </p:cBhvr>
                                    </p:animEffect>
                                    <p:set>
                                      <p:cBhvr>
                                        <p:cTn id="18"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75606"/>
            <a:ext cx="6624736" cy="3323987"/>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zh-CN" altLang="en-US" sz="2000" b="1" dirty="0">
                <a:solidFill>
                  <a:srgbClr val="FFFF00"/>
                </a:solidFill>
                <a:latin typeface="+mn-ea"/>
              </a:rPr>
              <a:t>系统调用是操作系统提供给编程人员的唯一接口</a:t>
            </a:r>
            <a:r>
              <a:rPr lang="zh-CN" altLang="en-US" sz="2000" b="1" dirty="0">
                <a:solidFill>
                  <a:schemeClr val="bg1"/>
                </a:solidFill>
                <a:latin typeface="+mn-ea"/>
              </a:rPr>
              <a:t>。编程人员利用系统调用</a:t>
            </a:r>
            <a:r>
              <a:rPr lang="en-US" altLang="zh-CN" sz="2000" b="1" dirty="0">
                <a:solidFill>
                  <a:schemeClr val="bg1"/>
                </a:solidFill>
                <a:latin typeface="+mn-ea"/>
              </a:rPr>
              <a:t>,</a:t>
            </a:r>
            <a:r>
              <a:rPr lang="zh-CN" altLang="en-US" sz="2000" b="1" dirty="0">
                <a:solidFill>
                  <a:schemeClr val="bg1"/>
                </a:solidFill>
                <a:latin typeface="+mn-ea"/>
              </a:rPr>
              <a:t>在源程序一级动态请求和释放系统资源，调用系统中已有的系统功能来完成那些与机器硬件部分相关的工作以及控制程序的执行速度等</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系统</a:t>
            </a:r>
            <a:r>
              <a:rPr lang="zh-CN" altLang="en-US" sz="2000" b="1" dirty="0">
                <a:solidFill>
                  <a:schemeClr val="bg1"/>
                </a:solidFill>
                <a:latin typeface="+mn-ea"/>
              </a:rPr>
              <a:t>调用像一个</a:t>
            </a:r>
            <a:r>
              <a:rPr lang="zh-CN" altLang="en-US" sz="2000" b="1" dirty="0">
                <a:solidFill>
                  <a:srgbClr val="FFFF00"/>
                </a:solidFill>
                <a:latin typeface="+mn-ea"/>
              </a:rPr>
              <a:t>黑箱子</a:t>
            </a:r>
            <a:r>
              <a:rPr lang="zh-CN" altLang="en-US" sz="2000" b="1" dirty="0">
                <a:solidFill>
                  <a:schemeClr val="bg1"/>
                </a:solidFill>
                <a:latin typeface="+mn-ea"/>
              </a:rPr>
              <a:t>那样，对用户屏蔽了操作系统的具体动作而只提供有关的功能。事实上，命令控制界面也是在系统调用的基础上开发而成的。</a:t>
            </a:r>
          </a:p>
        </p:txBody>
      </p:sp>
    </p:spTree>
    <p:extLst>
      <p:ext uri="{BB962C8B-B14F-4D97-AF65-F5344CB8AC3E}">
        <p14:creationId xmlns:p14="http://schemas.microsoft.com/office/powerpoint/2010/main" val="197762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040070"/>
            <a:ext cx="5328592" cy="1015663"/>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en-US" altLang="zh-CN" sz="2000" b="1" dirty="0">
                <a:solidFill>
                  <a:srgbClr val="FFFF00"/>
                </a:solidFill>
                <a:latin typeface="+mn-ea"/>
              </a:rPr>
              <a:t>POSIX: </a:t>
            </a:r>
            <a:r>
              <a:rPr lang="en-US" altLang="zh-CN" sz="2000" b="1" dirty="0">
                <a:solidFill>
                  <a:schemeClr val="bg1"/>
                </a:solidFill>
                <a:latin typeface="+mn-ea"/>
              </a:rPr>
              <a:t>Portable Operating System Interface of </a:t>
            </a:r>
            <a:r>
              <a:rPr lang="en-US" altLang="zh-CN" sz="2000" b="1" dirty="0" smtClean="0">
                <a:solidFill>
                  <a:schemeClr val="bg1"/>
                </a:solidFill>
                <a:latin typeface="+mn-ea"/>
              </a:rPr>
              <a:t>Unix(IEEE </a:t>
            </a:r>
            <a:r>
              <a:rPr lang="zh-CN" altLang="en-US" sz="2000" b="1" dirty="0" smtClean="0">
                <a:solidFill>
                  <a:schemeClr val="bg1"/>
                </a:solidFill>
                <a:latin typeface="+mn-ea"/>
              </a:rPr>
              <a:t>制定的一个标准族</a:t>
            </a:r>
            <a:r>
              <a:rPr lang="en-US" altLang="zh-CN" sz="2000" b="1" dirty="0" smtClean="0">
                <a:solidFill>
                  <a:schemeClr val="bg1"/>
                </a:solidFill>
                <a:latin typeface="+mn-ea"/>
              </a:rPr>
              <a:t>)</a:t>
            </a:r>
            <a:r>
              <a:rPr lang="zh-CN" altLang="en-US" sz="2000" b="1" dirty="0" smtClean="0">
                <a:solidFill>
                  <a:schemeClr val="bg1"/>
                </a:solidFill>
                <a:latin typeface="+mn-ea"/>
              </a:rPr>
              <a:t>。</a:t>
            </a:r>
            <a:endParaRPr lang="en-US" altLang="zh-CN" sz="2000" b="1" dirty="0" smtClean="0">
              <a:solidFill>
                <a:schemeClr val="bg1"/>
              </a:solidFill>
              <a:latin typeface="+mn-ea"/>
            </a:endParaRPr>
          </a:p>
        </p:txBody>
      </p:sp>
      <p:pic>
        <p:nvPicPr>
          <p:cNvPr id="3" name="图片 2"/>
          <p:cNvPicPr>
            <a:picLocks noChangeAspect="1"/>
          </p:cNvPicPr>
          <p:nvPr/>
        </p:nvPicPr>
        <p:blipFill>
          <a:blip r:embed="rId2"/>
          <a:stretch>
            <a:fillRect/>
          </a:stretch>
        </p:blipFill>
        <p:spPr>
          <a:xfrm>
            <a:off x="1547664" y="2055733"/>
            <a:ext cx="5128704" cy="2552921"/>
          </a:xfrm>
          <a:prstGeom prst="rect">
            <a:avLst/>
          </a:prstGeom>
        </p:spPr>
      </p:pic>
    </p:spTree>
    <p:extLst>
      <p:ext uri="{BB962C8B-B14F-4D97-AF65-F5344CB8AC3E}">
        <p14:creationId xmlns:p14="http://schemas.microsoft.com/office/powerpoint/2010/main" val="99967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任意多边形 4"/>
          <p:cNvSpPr/>
          <p:nvPr/>
        </p:nvSpPr>
        <p:spPr>
          <a:xfrm>
            <a:off x="111797" y="844105"/>
            <a:ext cx="1435867" cy="4175915"/>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52400" tIns="835183" rIns="152400" bIns="835183" numCol="1" spcCol="1270" anchor="t" anchorCtr="0">
            <a:noAutofit/>
          </a:bodyPr>
          <a:lstStyle/>
          <a:p>
            <a:pPr lvl="0" algn="l" defTabSz="1066800">
              <a:lnSpc>
                <a:spcPct val="90000"/>
              </a:lnSpc>
              <a:spcBef>
                <a:spcPct val="0"/>
              </a:spcBef>
              <a:spcAft>
                <a:spcPct val="35000"/>
              </a:spcAft>
            </a:pPr>
            <a:r>
              <a:rPr lang="zh-CN" altLang="en-US" sz="2200" b="1" kern="1200" dirty="0" smtClean="0"/>
              <a:t>设备管理</a:t>
            </a:r>
            <a:endParaRPr lang="zh-CN" altLang="en-US" sz="2200" b="1" kern="1200" dirty="0"/>
          </a:p>
          <a:p>
            <a:pPr marL="0" lvl="1" algn="l" defTabSz="889000">
              <a:lnSpc>
                <a:spcPct val="90000"/>
              </a:lnSpc>
              <a:spcBef>
                <a:spcPct val="0"/>
              </a:spcBef>
              <a:spcAft>
                <a:spcPct val="15000"/>
              </a:spcAft>
              <a:buChar char="••"/>
            </a:pPr>
            <a:r>
              <a:rPr lang="zh-CN" altLang="en-US" sz="2000" kern="1200" dirty="0" smtClean="0"/>
              <a:t>该类系统调用被用来请求和释放有关设备、以及启动设备操作等</a:t>
            </a:r>
            <a:endParaRPr lang="zh-CN" altLang="en-US" sz="2000" kern="1200" dirty="0"/>
          </a:p>
        </p:txBody>
      </p:sp>
      <p:sp>
        <p:nvSpPr>
          <p:cNvPr id="6" name="任意多边形 5"/>
          <p:cNvSpPr/>
          <p:nvPr/>
        </p:nvSpPr>
        <p:spPr>
          <a:xfrm>
            <a:off x="1646552" y="844104"/>
            <a:ext cx="1125248" cy="4175915"/>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52401" tIns="835183" rIns="152400" bIns="835183" numCol="1" spcCol="1270" anchor="t" anchorCtr="0">
            <a:noAutofit/>
          </a:bodyPr>
          <a:lstStyle/>
          <a:p>
            <a:pPr lvl="0" algn="l" defTabSz="1066800">
              <a:lnSpc>
                <a:spcPct val="90000"/>
              </a:lnSpc>
              <a:spcBef>
                <a:spcPct val="0"/>
              </a:spcBef>
              <a:spcAft>
                <a:spcPct val="35000"/>
              </a:spcAft>
            </a:pPr>
            <a:r>
              <a:rPr lang="zh-CN" altLang="en-US" sz="2200" b="1" kern="1200" dirty="0" smtClean="0"/>
              <a:t>文件管理</a:t>
            </a:r>
            <a:endParaRPr lang="zh-CN" altLang="en-US" sz="2200" b="1" kern="1200" dirty="0"/>
          </a:p>
          <a:p>
            <a:pPr marL="0" lvl="1" algn="l" defTabSz="889000">
              <a:lnSpc>
                <a:spcPct val="90000"/>
              </a:lnSpc>
              <a:spcBef>
                <a:spcPct val="0"/>
              </a:spcBef>
              <a:spcAft>
                <a:spcPct val="15000"/>
              </a:spcAft>
              <a:buChar char="••"/>
            </a:pPr>
            <a:r>
              <a:rPr lang="zh-CN" altLang="en-US" sz="2000" kern="1200" dirty="0" smtClean="0"/>
              <a:t>对文件的读、写、创建和删除等</a:t>
            </a:r>
            <a:endParaRPr lang="zh-CN" altLang="en-US" sz="2000" kern="1200" dirty="0"/>
          </a:p>
        </p:txBody>
      </p:sp>
      <p:sp>
        <p:nvSpPr>
          <p:cNvPr id="7" name="任意多边形 6"/>
          <p:cNvSpPr/>
          <p:nvPr/>
        </p:nvSpPr>
        <p:spPr>
          <a:xfrm>
            <a:off x="2870688" y="872798"/>
            <a:ext cx="1989344" cy="4175915"/>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52400" tIns="835183" rIns="152400" bIns="835183" numCol="1" spcCol="1270" anchor="t" anchorCtr="0">
            <a:noAutofit/>
          </a:bodyPr>
          <a:lstStyle/>
          <a:p>
            <a:pPr defTabSz="1066800">
              <a:lnSpc>
                <a:spcPct val="90000"/>
              </a:lnSpc>
              <a:spcBef>
                <a:spcPct val="0"/>
              </a:spcBef>
              <a:spcAft>
                <a:spcPct val="35000"/>
              </a:spcAft>
            </a:pPr>
            <a:r>
              <a:rPr lang="zh-CN" altLang="en-US" sz="2200" b="1" dirty="0"/>
              <a:t>进程创建</a:t>
            </a:r>
          </a:p>
          <a:p>
            <a:pPr marL="0" lvl="1" indent="-171450" defTabSz="889000">
              <a:lnSpc>
                <a:spcPct val="90000"/>
              </a:lnSpc>
              <a:spcBef>
                <a:spcPct val="0"/>
              </a:spcBef>
              <a:spcAft>
                <a:spcPct val="15000"/>
              </a:spcAft>
              <a:buChar char="••"/>
            </a:pPr>
            <a:r>
              <a:rPr lang="zh-CN" altLang="en-US" dirty="0"/>
              <a:t>进程是一个在功能上独立的程序的一次执行过程。进程控制的有关系统调用包括进程创建、进程执行、进程撤消、执行等待和执行优先级控制等。</a:t>
            </a:r>
          </a:p>
        </p:txBody>
      </p:sp>
      <p:sp>
        <p:nvSpPr>
          <p:cNvPr id="8" name="任意多边形 7"/>
          <p:cNvSpPr/>
          <p:nvPr/>
        </p:nvSpPr>
        <p:spPr>
          <a:xfrm>
            <a:off x="4958921" y="818786"/>
            <a:ext cx="1125248" cy="4175915"/>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52400" tIns="835183" rIns="152400" bIns="835183" numCol="1" spcCol="1270" anchor="ctr" anchorCtr="0">
            <a:noAutofit/>
          </a:bodyPr>
          <a:lstStyle/>
          <a:p>
            <a:pPr lvl="0" defTabSz="1066800">
              <a:lnSpc>
                <a:spcPct val="90000"/>
              </a:lnSpc>
              <a:spcBef>
                <a:spcPct val="0"/>
              </a:spcBef>
              <a:spcAft>
                <a:spcPct val="35000"/>
              </a:spcAft>
            </a:pPr>
            <a:r>
              <a:rPr lang="zh-CN" altLang="en-US" sz="2200" b="1" dirty="0"/>
              <a:t>进程</a:t>
            </a:r>
            <a:r>
              <a:rPr lang="zh-CN" altLang="en-US" sz="2200" b="1" dirty="0" smtClean="0"/>
              <a:t>通信</a:t>
            </a:r>
            <a:endParaRPr lang="en-US" altLang="zh-CN" sz="2200" b="1" dirty="0" smtClean="0"/>
          </a:p>
          <a:p>
            <a:pPr marL="0" lvl="1" indent="-171450" defTabSz="889000">
              <a:lnSpc>
                <a:spcPct val="90000"/>
              </a:lnSpc>
              <a:spcBef>
                <a:spcPct val="0"/>
              </a:spcBef>
              <a:spcAft>
                <a:spcPct val="15000"/>
              </a:spcAft>
              <a:buChar char="••"/>
            </a:pPr>
            <a:r>
              <a:rPr lang="zh-CN" altLang="en-US" dirty="0"/>
              <a:t>该类系统调用被用在进程之间传递消息或信号。</a:t>
            </a:r>
          </a:p>
        </p:txBody>
      </p:sp>
      <p:sp>
        <p:nvSpPr>
          <p:cNvPr id="9" name="任意多边形 8"/>
          <p:cNvSpPr/>
          <p:nvPr/>
        </p:nvSpPr>
        <p:spPr>
          <a:xfrm>
            <a:off x="6208664" y="883561"/>
            <a:ext cx="1315663" cy="4175915"/>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52400" tIns="835183" rIns="152400" bIns="835183" numCol="1" spcCol="1270" anchor="ctr" anchorCtr="0">
            <a:noAutofit/>
          </a:bodyPr>
          <a:lstStyle/>
          <a:p>
            <a:pPr defTabSz="1066800">
              <a:lnSpc>
                <a:spcPct val="90000"/>
              </a:lnSpc>
              <a:spcBef>
                <a:spcPct val="0"/>
              </a:spcBef>
              <a:spcAft>
                <a:spcPct val="35000"/>
              </a:spcAft>
            </a:pPr>
            <a:r>
              <a:rPr lang="zh-CN" altLang="en-US" sz="2200" b="1" dirty="0"/>
              <a:t>存储管理</a:t>
            </a:r>
            <a:endParaRPr lang="en-US" altLang="zh-CN" sz="2200" b="1" dirty="0"/>
          </a:p>
          <a:p>
            <a:pPr marL="0" lvl="1" indent="-171450" defTabSz="889000">
              <a:lnSpc>
                <a:spcPct val="90000"/>
              </a:lnSpc>
              <a:spcBef>
                <a:spcPct val="0"/>
              </a:spcBef>
              <a:spcAft>
                <a:spcPct val="15000"/>
              </a:spcAft>
              <a:buChar char="••"/>
            </a:pPr>
            <a:r>
              <a:rPr lang="zh-CN" altLang="en-US" dirty="0"/>
              <a:t>包括调查作业占据内存区的大小、获取作业占据内存区的始址等。</a:t>
            </a:r>
          </a:p>
          <a:p>
            <a:pPr lvl="0" algn="ctr" defTabSz="1066800">
              <a:lnSpc>
                <a:spcPct val="90000"/>
              </a:lnSpc>
              <a:spcBef>
                <a:spcPct val="0"/>
              </a:spcBef>
              <a:spcAft>
                <a:spcPct val="35000"/>
              </a:spcAft>
            </a:pPr>
            <a:endParaRPr lang="zh-CN" altLang="en-US" sz="2400" b="1" kern="1200" dirty="0"/>
          </a:p>
        </p:txBody>
      </p:sp>
      <p:sp>
        <p:nvSpPr>
          <p:cNvPr id="10" name="任意多边形 9"/>
          <p:cNvSpPr/>
          <p:nvPr/>
        </p:nvSpPr>
        <p:spPr>
          <a:xfrm>
            <a:off x="7599470" y="919482"/>
            <a:ext cx="1296142" cy="4175915"/>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52400" tIns="835183" rIns="152400" bIns="835183" numCol="1" spcCol="1270" anchor="ctr" anchorCtr="0">
            <a:noAutofit/>
          </a:bodyPr>
          <a:lstStyle/>
          <a:p>
            <a:pPr lvl="0" defTabSz="1066800">
              <a:lnSpc>
                <a:spcPct val="90000"/>
              </a:lnSpc>
              <a:spcBef>
                <a:spcPct val="0"/>
              </a:spcBef>
              <a:spcAft>
                <a:spcPct val="35000"/>
              </a:spcAft>
            </a:pPr>
            <a:r>
              <a:rPr lang="zh-CN" altLang="en-US" sz="2400" b="1" kern="1200" dirty="0" smtClean="0"/>
              <a:t>线程管理</a:t>
            </a:r>
            <a:endParaRPr lang="en-US" altLang="zh-CN" sz="2400" b="1" kern="1200" dirty="0" smtClean="0"/>
          </a:p>
          <a:p>
            <a:pPr marL="0" lvl="1" indent="-171450" defTabSz="889000">
              <a:lnSpc>
                <a:spcPct val="90000"/>
              </a:lnSpc>
              <a:spcBef>
                <a:spcPct val="0"/>
              </a:spcBef>
              <a:spcAft>
                <a:spcPct val="15000"/>
              </a:spcAft>
              <a:buChar char="••"/>
            </a:pPr>
            <a:r>
              <a:rPr lang="zh-CN" altLang="en-US" dirty="0"/>
              <a:t>包括线程的创建、调度、执行、撤销等。</a:t>
            </a:r>
          </a:p>
        </p:txBody>
      </p:sp>
    </p:spTree>
    <p:extLst>
      <p:ext uri="{BB962C8B-B14F-4D97-AF65-F5344CB8AC3E}">
        <p14:creationId xmlns:p14="http://schemas.microsoft.com/office/powerpoint/2010/main" val="25298458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0" y="1229306"/>
            <a:ext cx="6624736" cy="3416320"/>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为了提供系统调用功能，操作系统内必须有</a:t>
            </a:r>
            <a:r>
              <a:rPr lang="zh-CN" altLang="en-US" sz="2400" b="1" dirty="0">
                <a:solidFill>
                  <a:srgbClr val="FFFF00"/>
                </a:solidFill>
                <a:latin typeface="+mn-ea"/>
              </a:rPr>
              <a:t>事先编制好的实现这些功能的子程序或过程</a:t>
            </a:r>
            <a:r>
              <a:rPr lang="zh-CN" altLang="en-US" sz="2400" b="1" dirty="0">
                <a:solidFill>
                  <a:schemeClr val="bg1"/>
                </a:solidFill>
                <a:latin typeface="+mn-ea"/>
              </a:rPr>
              <a:t>。显然，这些程序或过程是操作系统程序模块的一部分，且</a:t>
            </a:r>
            <a:r>
              <a:rPr lang="zh-CN" altLang="en-US" sz="2400" b="1" dirty="0">
                <a:solidFill>
                  <a:srgbClr val="FFFF00"/>
                </a:solidFill>
                <a:latin typeface="+mn-ea"/>
              </a:rPr>
              <a:t>不能直接被用户程序调用</a:t>
            </a:r>
            <a:r>
              <a:rPr lang="zh-CN" altLang="en-US" sz="2400" b="1" dirty="0">
                <a:solidFill>
                  <a:schemeClr val="bg1"/>
                </a:solidFill>
                <a:latin typeface="+mn-ea"/>
              </a:rPr>
              <a:t>。而且，为了保证操作系统程序不被用户程序破坏，一般操作系统都不允许用户程序访问操作系统的系统程序和数据。</a:t>
            </a:r>
          </a:p>
        </p:txBody>
      </p:sp>
    </p:spTree>
    <p:extLst>
      <p:ext uri="{BB962C8B-B14F-4D97-AF65-F5344CB8AC3E}">
        <p14:creationId xmlns:p14="http://schemas.microsoft.com/office/powerpoint/2010/main" val="20942327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2"/>
          <a:stretch>
            <a:fillRect/>
          </a:stretch>
        </p:blipFill>
        <p:spPr>
          <a:xfrm>
            <a:off x="142158" y="939400"/>
            <a:ext cx="8970078" cy="3936606"/>
          </a:xfrm>
          <a:prstGeom prst="rect">
            <a:avLst/>
          </a:prstGeom>
        </p:spPr>
      </p:pic>
    </p:spTree>
    <p:extLst>
      <p:ext uri="{BB962C8B-B14F-4D97-AF65-F5344CB8AC3E}">
        <p14:creationId xmlns:p14="http://schemas.microsoft.com/office/powerpoint/2010/main" val="1988393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通过硬件隔离</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282580" y="112710"/>
            <a:ext cx="8583338" cy="4967325"/>
          </a:xfrm>
          <a:prstGeom prst="rect">
            <a:avLst/>
          </a:prstGeom>
        </p:spPr>
      </p:pic>
    </p:spTree>
    <p:extLst>
      <p:ext uri="{BB962C8B-B14F-4D97-AF65-F5344CB8AC3E}">
        <p14:creationId xmlns:p14="http://schemas.microsoft.com/office/powerpoint/2010/main" val="19687682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如何才能进入系统内核呢？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9" name="矩形 28"/>
          <p:cNvSpPr/>
          <p:nvPr/>
        </p:nvSpPr>
        <p:spPr>
          <a:xfrm>
            <a:off x="827584" y="1186704"/>
            <a:ext cx="6840760" cy="2862322"/>
          </a:xfrm>
          <a:prstGeom prst="rect">
            <a:avLst/>
          </a:prstGeom>
        </p:spPr>
        <p:txBody>
          <a:bodyPr wrap="square">
            <a:spAutoFit/>
          </a:bodyPr>
          <a:lstStyle/>
          <a:p>
            <a:pPr marL="0" lvl="1" indent="-342900">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硬件提供了“主动进入内核的</a:t>
            </a:r>
            <a:r>
              <a:rPr lang="zh-CN" altLang="en-US" sz="2400" b="1" dirty="0" smtClean="0">
                <a:solidFill>
                  <a:schemeClr val="bg1"/>
                </a:solidFill>
                <a:latin typeface="+mn-ea"/>
              </a:rPr>
              <a:t>方法”</a:t>
            </a:r>
            <a:endParaRPr lang="en-US" altLang="zh-CN" sz="2400" b="1" dirty="0">
              <a:solidFill>
                <a:schemeClr val="bg1"/>
              </a:solidFill>
              <a:latin typeface="+mn-ea"/>
            </a:endParaRPr>
          </a:p>
          <a:p>
            <a:pPr marL="0" lvl="1" indent="-342900">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对于</a:t>
            </a:r>
            <a:r>
              <a:rPr lang="en-US" altLang="zh-CN" sz="2400" b="1" dirty="0">
                <a:solidFill>
                  <a:schemeClr val="bg1"/>
                </a:solidFill>
                <a:latin typeface="+mn-ea"/>
              </a:rPr>
              <a:t>Intel x86</a:t>
            </a:r>
            <a:r>
              <a:rPr lang="zh-CN" altLang="en-US" sz="2400" b="1" dirty="0">
                <a:solidFill>
                  <a:schemeClr val="bg1"/>
                </a:solidFill>
                <a:latin typeface="+mn-ea"/>
              </a:rPr>
              <a:t>，那就是中断指令</a:t>
            </a:r>
            <a:r>
              <a:rPr lang="en-US" altLang="zh-CN" sz="2400" b="1" dirty="0" err="1" smtClean="0">
                <a:solidFill>
                  <a:schemeClr val="bg1"/>
                </a:solidFill>
                <a:latin typeface="+mn-ea"/>
              </a:rPr>
              <a:t>int</a:t>
            </a:r>
            <a:r>
              <a:rPr lang="en-US" altLang="zh-CN" sz="2400" b="1" dirty="0" smtClean="0">
                <a:solidFill>
                  <a:schemeClr val="bg1"/>
                </a:solidFill>
                <a:latin typeface="+mn-ea"/>
              </a:rPr>
              <a:t> </a:t>
            </a:r>
          </a:p>
          <a:p>
            <a:pPr marL="114300" lvl="1" indent="155575">
              <a:lnSpc>
                <a:spcPct val="150000"/>
              </a:lnSpc>
              <a:buClr>
                <a:srgbClr val="33CC33"/>
              </a:buClr>
              <a:buFont typeface="Wingdings" panose="05000000000000000000" pitchFamily="2" charset="2"/>
              <a:buChar char="l"/>
            </a:pPr>
            <a:r>
              <a:rPr lang="en-US" altLang="zh-CN" sz="2400" b="1" dirty="0" err="1" smtClean="0">
                <a:solidFill>
                  <a:schemeClr val="bg1"/>
                </a:solidFill>
                <a:latin typeface="+mn-ea"/>
              </a:rPr>
              <a:t>int</a:t>
            </a:r>
            <a:r>
              <a:rPr lang="zh-CN" altLang="en-US" sz="2400" b="1" dirty="0" smtClean="0">
                <a:solidFill>
                  <a:schemeClr val="bg1"/>
                </a:solidFill>
                <a:latin typeface="+mn-ea"/>
              </a:rPr>
              <a:t>指令将使</a:t>
            </a:r>
            <a:r>
              <a:rPr lang="en-US" altLang="zh-CN" sz="2400" b="1" dirty="0" smtClean="0">
                <a:solidFill>
                  <a:schemeClr val="bg1"/>
                </a:solidFill>
                <a:latin typeface="+mn-ea"/>
              </a:rPr>
              <a:t>CS</a:t>
            </a:r>
            <a:r>
              <a:rPr lang="zh-CN" altLang="en-US" sz="2400" b="1" dirty="0" smtClean="0">
                <a:solidFill>
                  <a:schemeClr val="bg1"/>
                </a:solidFill>
                <a:latin typeface="+mn-ea"/>
              </a:rPr>
              <a:t>中的</a:t>
            </a:r>
            <a:r>
              <a:rPr lang="en-US" altLang="zh-CN" sz="2400" b="1" dirty="0" smtClean="0">
                <a:solidFill>
                  <a:schemeClr val="bg1"/>
                </a:solidFill>
                <a:latin typeface="+mn-ea"/>
              </a:rPr>
              <a:t>CPL</a:t>
            </a:r>
            <a:r>
              <a:rPr lang="zh-CN" altLang="en-US" sz="2400" b="1" dirty="0" smtClean="0">
                <a:solidFill>
                  <a:schemeClr val="bg1"/>
                </a:solidFill>
                <a:latin typeface="+mn-ea"/>
              </a:rPr>
              <a:t>改成</a:t>
            </a:r>
            <a:r>
              <a:rPr lang="en-US" altLang="zh-CN" sz="2400" b="1" dirty="0" smtClean="0">
                <a:solidFill>
                  <a:schemeClr val="bg1"/>
                </a:solidFill>
                <a:latin typeface="+mn-ea"/>
              </a:rPr>
              <a:t>0</a:t>
            </a:r>
            <a:r>
              <a:rPr lang="zh-CN" altLang="en-US" sz="2400" b="1" dirty="0" smtClean="0">
                <a:solidFill>
                  <a:schemeClr val="bg1"/>
                </a:solidFill>
                <a:latin typeface="+mn-ea"/>
              </a:rPr>
              <a:t>“进入内核” </a:t>
            </a:r>
            <a:endParaRPr lang="en-US" altLang="zh-CN" sz="2400" b="1" dirty="0" smtClean="0">
              <a:solidFill>
                <a:schemeClr val="bg1"/>
              </a:solidFill>
              <a:latin typeface="+mn-ea"/>
            </a:endParaRPr>
          </a:p>
          <a:p>
            <a:pPr marL="114300" lvl="1" indent="155575">
              <a:lnSpc>
                <a:spcPct val="150000"/>
              </a:lnSpc>
              <a:buClr>
                <a:srgbClr val="33CC33"/>
              </a:buClr>
              <a:buFont typeface="Wingdings" panose="05000000000000000000" pitchFamily="2" charset="2"/>
              <a:buChar char="l"/>
            </a:pPr>
            <a:r>
              <a:rPr lang="zh-CN" altLang="en-US" sz="2400" b="1" dirty="0" smtClean="0">
                <a:solidFill>
                  <a:schemeClr val="bg1"/>
                </a:solidFill>
                <a:latin typeface="+mn-ea"/>
              </a:rPr>
              <a:t>这</a:t>
            </a:r>
            <a:r>
              <a:rPr lang="zh-CN" altLang="en-US" sz="2400" b="1" dirty="0">
                <a:solidFill>
                  <a:schemeClr val="bg1"/>
                </a:solidFill>
                <a:latin typeface="+mn-ea"/>
              </a:rPr>
              <a:t>是用户程序发起的调用内核代码的唯一方式</a:t>
            </a:r>
            <a:endParaRPr lang="en-US" altLang="zh-CN" sz="2400" b="1" dirty="0">
              <a:solidFill>
                <a:schemeClr val="bg1"/>
              </a:solidFill>
              <a:latin typeface="+mn-ea"/>
            </a:endParaRPr>
          </a:p>
          <a:p>
            <a:pPr marL="114300" lvl="1" indent="155575">
              <a:lnSpc>
                <a:spcPct val="150000"/>
              </a:lnSpc>
              <a:buClr>
                <a:srgbClr val="33CC33"/>
              </a:buClr>
              <a:buFont typeface="Wingdings" panose="05000000000000000000" pitchFamily="2" charset="2"/>
              <a:buChar char="l"/>
            </a:pPr>
            <a:endParaRPr lang="zh-CN" altLang="en-US" sz="2400" b="1" dirty="0">
              <a:solidFill>
                <a:schemeClr val="bg1"/>
              </a:solidFill>
              <a:latin typeface="+mn-ea"/>
            </a:endParaRPr>
          </a:p>
        </p:txBody>
      </p:sp>
      <p:pic>
        <p:nvPicPr>
          <p:cNvPr id="4" name="图片 3"/>
          <p:cNvPicPr>
            <a:picLocks noChangeAspect="1"/>
          </p:cNvPicPr>
          <p:nvPr/>
        </p:nvPicPr>
        <p:blipFill>
          <a:blip r:embed="rId3"/>
          <a:stretch>
            <a:fillRect/>
          </a:stretch>
        </p:blipFill>
        <p:spPr>
          <a:xfrm>
            <a:off x="1211131" y="2269849"/>
            <a:ext cx="6073666" cy="2270957"/>
          </a:xfrm>
          <a:prstGeom prst="rect">
            <a:avLst/>
          </a:prstGeom>
        </p:spPr>
      </p:pic>
    </p:spTree>
    <p:extLst>
      <p:ext uri="{BB962C8B-B14F-4D97-AF65-F5344CB8AC3E}">
        <p14:creationId xmlns:p14="http://schemas.microsoft.com/office/powerpoint/2010/main" val="39076213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wipe(left)">
                                      <p:cBhvr>
                                        <p:cTn id="17" dur="500"/>
                                        <p:tgtEl>
                                          <p:spTgt spid="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xEl>
                                              <p:pRg st="3" end="3"/>
                                            </p:txEl>
                                          </p:spTgt>
                                        </p:tgtEl>
                                        <p:attrNameLst>
                                          <p:attrName>style.visibility</p:attrName>
                                        </p:attrNameLst>
                                      </p:cBhvr>
                                      <p:to>
                                        <p:strVal val="visible"/>
                                      </p:to>
                                    </p:set>
                                    <p:animEffect transition="in" filter="wipe(left)">
                                      <p:cBhvr>
                                        <p:cTn id="22" dur="500"/>
                                        <p:tgtEl>
                                          <p:spTgt spid="2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如何才能进入系统内核呢？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3"/>
          <a:stretch>
            <a:fillRect/>
          </a:stretch>
        </p:blipFill>
        <p:spPr>
          <a:xfrm>
            <a:off x="107504" y="1025478"/>
            <a:ext cx="8943753" cy="3448765"/>
          </a:xfrm>
          <a:prstGeom prst="rect">
            <a:avLst/>
          </a:prstGeom>
        </p:spPr>
      </p:pic>
    </p:spTree>
    <p:extLst>
      <p:ext uri="{BB962C8B-B14F-4D97-AF65-F5344CB8AC3E}">
        <p14:creationId xmlns:p14="http://schemas.microsoft.com/office/powerpoint/2010/main" val="330853911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0" y="1515582"/>
            <a:ext cx="6624736" cy="495457"/>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中断指令</a:t>
            </a:r>
            <a:r>
              <a:rPr lang="en-US" altLang="zh-CN" sz="2200" b="1" dirty="0" err="1" smtClean="0">
                <a:solidFill>
                  <a:schemeClr val="bg1"/>
                </a:solidFill>
                <a:latin typeface="+mn-ea"/>
              </a:rPr>
              <a:t>Int</a:t>
            </a:r>
            <a:r>
              <a:rPr lang="zh-CN" altLang="en-US" sz="2200" b="1" dirty="0" smtClean="0">
                <a:solidFill>
                  <a:schemeClr val="bg1"/>
                </a:solidFill>
                <a:latin typeface="+mn-ea"/>
              </a:rPr>
              <a:t>内部的处理过程是怎样呢？</a:t>
            </a:r>
            <a:endParaRPr lang="zh-CN" altLang="en-US" sz="2200" b="1" dirty="0">
              <a:solidFill>
                <a:schemeClr val="bg1"/>
              </a:solidFill>
              <a:latin typeface="+mn-ea"/>
            </a:endParaRPr>
          </a:p>
        </p:txBody>
      </p:sp>
      <p:grpSp>
        <p:nvGrpSpPr>
          <p:cNvPr id="6" name="组合 5"/>
          <p:cNvGrpSpPr/>
          <p:nvPr/>
        </p:nvGrpSpPr>
        <p:grpSpPr>
          <a:xfrm>
            <a:off x="611560" y="1008218"/>
            <a:ext cx="7989838" cy="3859116"/>
            <a:chOff x="539552" y="1062443"/>
            <a:chExt cx="7989838" cy="3859116"/>
          </a:xfrm>
        </p:grpSpPr>
        <p:grpSp>
          <p:nvGrpSpPr>
            <p:cNvPr id="5" name="组合 4"/>
            <p:cNvGrpSpPr/>
            <p:nvPr/>
          </p:nvGrpSpPr>
          <p:grpSpPr>
            <a:xfrm>
              <a:off x="539552" y="1062443"/>
              <a:ext cx="7989838" cy="3859116"/>
              <a:chOff x="755576" y="940536"/>
              <a:chExt cx="7989838" cy="3859116"/>
            </a:xfrm>
          </p:grpSpPr>
          <p:pic>
            <p:nvPicPr>
              <p:cNvPr id="29" name="Picture 3" descr="图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940536"/>
                <a:ext cx="7989838" cy="3859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4283968" y="1045356"/>
                <a:ext cx="648072" cy="3366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rPr>
                  <a:t>陷阱</a:t>
                </a:r>
                <a:endParaRPr lang="zh-CN" altLang="en-US" sz="1600" b="1" dirty="0">
                  <a:solidFill>
                    <a:schemeClr val="tx1"/>
                  </a:solidFill>
                </a:endParaRPr>
              </a:p>
            </p:txBody>
          </p:sp>
        </p:grpSp>
        <p:sp>
          <p:nvSpPr>
            <p:cNvPr id="30" name="矩形 29"/>
            <p:cNvSpPr/>
            <p:nvPr/>
          </p:nvSpPr>
          <p:spPr>
            <a:xfrm rot="19791037">
              <a:off x="2016499" y="2251849"/>
              <a:ext cx="638752" cy="2529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rPr>
                <a:t>陷阱</a:t>
              </a:r>
              <a:endParaRPr lang="zh-CN" altLang="en-US" sz="1600" b="1" dirty="0">
                <a:solidFill>
                  <a:schemeClr val="tx1"/>
                </a:solidFill>
              </a:endParaRPr>
            </a:p>
          </p:txBody>
        </p:sp>
      </p:grpSp>
      <p:sp>
        <p:nvSpPr>
          <p:cNvPr id="3" name="线形标注 1 2"/>
          <p:cNvSpPr/>
          <p:nvPr/>
        </p:nvSpPr>
        <p:spPr>
          <a:xfrm>
            <a:off x="2796735" y="426326"/>
            <a:ext cx="4968552" cy="1466856"/>
          </a:xfrm>
          <a:prstGeom prst="borderCallout1">
            <a:avLst>
              <a:gd name="adj1" fmla="val 20270"/>
              <a:gd name="adj2" fmla="val -1009"/>
              <a:gd name="adj3" fmla="val 148230"/>
              <a:gd name="adj4" fmla="val -12174"/>
            </a:avLst>
          </a:prstGeom>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solidFill>
                  <a:schemeClr val="tx1"/>
                </a:solidFill>
                <a:latin typeface="+mn-ea"/>
              </a:rPr>
              <a:t>在操作系统中，每个系统调用都对应一个事先给定的</a:t>
            </a:r>
            <a:r>
              <a:rPr lang="zh-CN" altLang="en-US" b="1" dirty="0">
                <a:solidFill>
                  <a:srgbClr val="FF3300"/>
                </a:solidFill>
                <a:latin typeface="+mn-ea"/>
              </a:rPr>
              <a:t>功能号</a:t>
            </a:r>
            <a:r>
              <a:rPr lang="zh-CN" altLang="en-US" b="1" dirty="0">
                <a:solidFill>
                  <a:schemeClr val="tx1"/>
                </a:solidFill>
                <a:latin typeface="+mn-ea"/>
              </a:rPr>
              <a:t>，例如</a:t>
            </a:r>
            <a:r>
              <a:rPr lang="en-US" altLang="zh-CN" b="1" dirty="0">
                <a:solidFill>
                  <a:schemeClr val="tx1"/>
                </a:solidFill>
                <a:latin typeface="+mn-ea"/>
              </a:rPr>
              <a:t>0</a:t>
            </a:r>
            <a:r>
              <a:rPr lang="zh-CN" altLang="en-US" b="1" dirty="0">
                <a:solidFill>
                  <a:schemeClr val="tx1"/>
                </a:solidFill>
                <a:latin typeface="+mn-ea"/>
              </a:rPr>
              <a:t>，</a:t>
            </a:r>
            <a:r>
              <a:rPr lang="en-US" altLang="zh-CN" b="1" dirty="0">
                <a:solidFill>
                  <a:schemeClr val="tx1"/>
                </a:solidFill>
                <a:latin typeface="+mn-ea"/>
              </a:rPr>
              <a:t>1</a:t>
            </a:r>
            <a:r>
              <a:rPr lang="zh-CN" altLang="en-US" b="1" dirty="0">
                <a:solidFill>
                  <a:schemeClr val="tx1"/>
                </a:solidFill>
                <a:latin typeface="+mn-ea"/>
              </a:rPr>
              <a:t>，</a:t>
            </a:r>
            <a:r>
              <a:rPr lang="en-US" altLang="zh-CN" b="1" dirty="0">
                <a:solidFill>
                  <a:schemeClr val="tx1"/>
                </a:solidFill>
                <a:latin typeface="+mn-ea"/>
              </a:rPr>
              <a:t>2</a:t>
            </a:r>
            <a:r>
              <a:rPr lang="zh-CN" altLang="en-US" b="1" dirty="0">
                <a:solidFill>
                  <a:schemeClr val="tx1"/>
                </a:solidFill>
                <a:latin typeface="+mn-ea"/>
              </a:rPr>
              <a:t>，</a:t>
            </a:r>
            <a:r>
              <a:rPr lang="en-US" altLang="zh-CN" b="1" dirty="0">
                <a:solidFill>
                  <a:schemeClr val="tx1"/>
                </a:solidFill>
                <a:latin typeface="+mn-ea"/>
              </a:rPr>
              <a:t>3</a:t>
            </a:r>
            <a:r>
              <a:rPr lang="zh-CN" altLang="en-US" b="1" dirty="0">
                <a:solidFill>
                  <a:schemeClr val="tx1"/>
                </a:solidFill>
                <a:latin typeface="+mn-ea"/>
              </a:rPr>
              <a:t>等。在陷阱指令中必须包括对应系统调用的功能号。而且，在有些陷阱指令中</a:t>
            </a:r>
            <a:r>
              <a:rPr lang="en-US" altLang="zh-CN" b="1" dirty="0">
                <a:solidFill>
                  <a:schemeClr val="tx1"/>
                </a:solidFill>
                <a:latin typeface="+mn-ea"/>
              </a:rPr>
              <a:t>,</a:t>
            </a:r>
            <a:r>
              <a:rPr lang="zh-CN" altLang="en-US" b="1" dirty="0">
                <a:solidFill>
                  <a:schemeClr val="tx1"/>
                </a:solidFill>
                <a:latin typeface="+mn-ea"/>
              </a:rPr>
              <a:t>还带有传递给陷阱处理机构和内部处理程序的有关</a:t>
            </a:r>
            <a:r>
              <a:rPr lang="zh-CN" altLang="en-US" b="1" dirty="0">
                <a:solidFill>
                  <a:srgbClr val="FF3300"/>
                </a:solidFill>
                <a:latin typeface="+mn-ea"/>
              </a:rPr>
              <a:t>参数</a:t>
            </a:r>
            <a:endParaRPr lang="zh-CN" altLang="en-US" dirty="0">
              <a:solidFill>
                <a:srgbClr val="FF3300"/>
              </a:solidFill>
            </a:endParaRPr>
          </a:p>
        </p:txBody>
      </p:sp>
    </p:spTree>
    <p:extLst>
      <p:ext uri="{BB962C8B-B14F-4D97-AF65-F5344CB8AC3E}">
        <p14:creationId xmlns:p14="http://schemas.microsoft.com/office/powerpoint/2010/main" val="33819973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46331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用户程序和系统程序之间的参数传递</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9" name="组合 28"/>
          <p:cNvGrpSpPr/>
          <p:nvPr/>
        </p:nvGrpSpPr>
        <p:grpSpPr>
          <a:xfrm>
            <a:off x="611560" y="1197327"/>
            <a:ext cx="2569351" cy="3318639"/>
            <a:chOff x="987631" y="1137478"/>
            <a:chExt cx="2186299" cy="2837416"/>
          </a:xfrm>
        </p:grpSpPr>
        <p:sp>
          <p:nvSpPr>
            <p:cNvPr id="5" name="任意多边形 4"/>
            <p:cNvSpPr/>
            <p:nvPr/>
          </p:nvSpPr>
          <p:spPr>
            <a:xfrm>
              <a:off x="987631" y="1137478"/>
              <a:ext cx="1982844" cy="2010022"/>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defTabSz="577850">
                <a:lnSpc>
                  <a:spcPct val="90000"/>
                </a:lnSpc>
                <a:spcBef>
                  <a:spcPct val="0"/>
                </a:spcBef>
                <a:spcAft>
                  <a:spcPct val="15000"/>
                </a:spcAft>
                <a:buChar char="••"/>
              </a:pPr>
              <a:r>
                <a:rPr lang="zh-CN" altLang="en-US" sz="2000" b="1" kern="1200" dirty="0" smtClean="0"/>
                <a:t>一条陷阱指令的长度总是有限的</a:t>
              </a:r>
              <a:r>
                <a:rPr lang="en-US" altLang="zh-CN" sz="2000" b="1" kern="1200" dirty="0" smtClean="0"/>
                <a:t>,</a:t>
              </a:r>
              <a:r>
                <a:rPr lang="zh-CN" altLang="en-US" sz="2000" b="1" kern="1200" dirty="0" smtClean="0"/>
                <a:t>而且，该指令还要携带一个系统调用的功能号，从而，陷阱指令只能自带极有限的几个参数进入系统内部</a:t>
              </a:r>
              <a:endParaRPr lang="zh-CN" altLang="en-US" sz="2000" b="1" kern="1200" dirty="0"/>
            </a:p>
          </p:txBody>
        </p:sp>
        <p:sp>
          <p:nvSpPr>
            <p:cNvPr id="6" name="任意多边形 5"/>
            <p:cNvSpPr/>
            <p:nvPr/>
          </p:nvSpPr>
          <p:spPr>
            <a:xfrm>
              <a:off x="987631"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zh-CN" altLang="en-US" sz="2400" b="1" kern="1200" dirty="0" smtClean="0"/>
                <a:t>陷阱指令自带参数</a:t>
              </a:r>
              <a:endParaRPr lang="zh-CN" altLang="en-US" sz="2400" b="1" kern="1200" dirty="0"/>
            </a:p>
          </p:txBody>
        </p:sp>
        <p:sp>
          <p:nvSpPr>
            <p:cNvPr id="7" name="椭圆 6"/>
            <p:cNvSpPr/>
            <p:nvPr/>
          </p:nvSpPr>
          <p:spPr>
            <a:xfrm>
              <a:off x="2479935" y="3280899"/>
              <a:ext cx="693995"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0" name="组合 29"/>
          <p:cNvGrpSpPr/>
          <p:nvPr/>
        </p:nvGrpSpPr>
        <p:grpSpPr>
          <a:xfrm>
            <a:off x="3327659" y="1197326"/>
            <a:ext cx="2564578" cy="3318640"/>
            <a:chOff x="3306020" y="1159725"/>
            <a:chExt cx="2146456" cy="2782866"/>
          </a:xfrm>
        </p:grpSpPr>
        <p:sp>
          <p:nvSpPr>
            <p:cNvPr id="8" name="任意多边形 7"/>
            <p:cNvSpPr/>
            <p:nvPr/>
          </p:nvSpPr>
          <p:spPr>
            <a:xfrm>
              <a:off x="3306020" y="1159725"/>
              <a:ext cx="1982844" cy="1987773"/>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indent="-285750" defTabSz="577850">
                <a:lnSpc>
                  <a:spcPct val="90000"/>
                </a:lnSpc>
                <a:spcBef>
                  <a:spcPct val="0"/>
                </a:spcBef>
                <a:spcAft>
                  <a:spcPct val="15000"/>
                </a:spcAft>
                <a:buChar char="••"/>
              </a:pPr>
              <a:r>
                <a:rPr lang="zh-CN" altLang="en-US" sz="2000" b="1" dirty="0"/>
                <a:t>这些寄存器应是系统程序和用户程序都能访问的。不过，由于寄存器长度也是较短的。从而无法传递较多的参数</a:t>
              </a:r>
            </a:p>
          </p:txBody>
        </p:sp>
        <p:sp>
          <p:nvSpPr>
            <p:cNvPr id="9" name="任意多边形 8"/>
            <p:cNvSpPr/>
            <p:nvPr/>
          </p:nvSpPr>
          <p:spPr>
            <a:xfrm>
              <a:off x="3306020"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a:t>通用寄存器传递参数</a:t>
              </a:r>
            </a:p>
          </p:txBody>
        </p:sp>
        <p:sp>
          <p:nvSpPr>
            <p:cNvPr id="10" name="椭圆 9"/>
            <p:cNvSpPr/>
            <p:nvPr/>
          </p:nvSpPr>
          <p:spPr>
            <a:xfrm>
              <a:off x="4758481" y="3248596"/>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1" name="组合 30"/>
          <p:cNvGrpSpPr/>
          <p:nvPr/>
        </p:nvGrpSpPr>
        <p:grpSpPr>
          <a:xfrm>
            <a:off x="6085810" y="1152324"/>
            <a:ext cx="2547990" cy="3296176"/>
            <a:chOff x="5624410" y="1141672"/>
            <a:chExt cx="2146455" cy="2800919"/>
          </a:xfrm>
        </p:grpSpPr>
        <p:sp>
          <p:nvSpPr>
            <p:cNvPr id="11" name="任意多边形 10"/>
            <p:cNvSpPr/>
            <p:nvPr/>
          </p:nvSpPr>
          <p:spPr>
            <a:xfrm>
              <a:off x="5624410" y="1141672"/>
              <a:ext cx="1982844" cy="2005827"/>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indent="-285750" defTabSz="577850">
                <a:lnSpc>
                  <a:spcPct val="90000"/>
                </a:lnSpc>
                <a:spcBef>
                  <a:spcPct val="0"/>
                </a:spcBef>
                <a:spcAft>
                  <a:spcPct val="15000"/>
                </a:spcAft>
                <a:buChar char="••"/>
              </a:pPr>
              <a:r>
                <a:rPr lang="zh-CN" altLang="en-US" sz="2000" b="1" dirty="0"/>
                <a:t>在系统调用较多的系统中，大多在内存中开辟专用堆栈区来传递参数</a:t>
              </a:r>
            </a:p>
          </p:txBody>
        </p:sp>
        <p:sp>
          <p:nvSpPr>
            <p:cNvPr id="12" name="任意多边形 11"/>
            <p:cNvSpPr/>
            <p:nvPr/>
          </p:nvSpPr>
          <p:spPr>
            <a:xfrm>
              <a:off x="5624410"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a:t>专用堆栈传递参数</a:t>
              </a:r>
            </a:p>
          </p:txBody>
        </p:sp>
        <p:sp>
          <p:nvSpPr>
            <p:cNvPr id="13" name="椭圆 12"/>
            <p:cNvSpPr/>
            <p:nvPr/>
          </p:nvSpPr>
          <p:spPr>
            <a:xfrm>
              <a:off x="7076870" y="3248596"/>
              <a:ext cx="693995" cy="693995"/>
            </a:xfrm>
            <a:prstGeom prst="ellipse">
              <a:avLst/>
            </a:pr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3</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extLst>
      <p:ext uri="{BB962C8B-B14F-4D97-AF65-F5344CB8AC3E}">
        <p14:creationId xmlns:p14="http://schemas.microsoft.com/office/powerpoint/2010/main" val="3048865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3" descr="图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939400"/>
            <a:ext cx="7989838" cy="3859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线形标注 1 2"/>
          <p:cNvSpPr/>
          <p:nvPr/>
        </p:nvSpPr>
        <p:spPr>
          <a:xfrm>
            <a:off x="140839" y="163686"/>
            <a:ext cx="3063009" cy="1460109"/>
          </a:xfrm>
          <a:prstGeom prst="borderCallout1">
            <a:avLst>
              <a:gd name="adj1" fmla="val 38515"/>
              <a:gd name="adj2" fmla="val 101106"/>
              <a:gd name="adj3" fmla="val 108786"/>
              <a:gd name="adj4" fmla="val 167857"/>
            </a:avLst>
          </a:prstGeom>
          <a:ln w="28575"/>
        </p:spPr>
        <p:style>
          <a:lnRef idx="1">
            <a:schemeClr val="accent3"/>
          </a:lnRef>
          <a:fillRef idx="2">
            <a:schemeClr val="accent3"/>
          </a:fillRef>
          <a:effectRef idx="1">
            <a:schemeClr val="accent3"/>
          </a:effectRef>
          <a:fontRef idx="minor">
            <a:schemeClr val="dk1"/>
          </a:fontRef>
        </p:style>
        <p:txBody>
          <a:bodyPr rtlCol="0" anchor="ctr"/>
          <a:lstStyle/>
          <a:p>
            <a:r>
              <a:rPr lang="zh-CN" altLang="en-US" sz="2000" b="1" dirty="0">
                <a:solidFill>
                  <a:schemeClr val="tx1"/>
                </a:solidFill>
                <a:latin typeface="+mn-ea"/>
              </a:rPr>
              <a:t>实现各种系统调用功能的子程序编造入口地址表，</a:t>
            </a:r>
            <a:r>
              <a:rPr lang="zh-CN" altLang="en-US" sz="2000" b="1" dirty="0">
                <a:solidFill>
                  <a:srgbClr val="FF3300"/>
                </a:solidFill>
                <a:latin typeface="+mn-ea"/>
              </a:rPr>
              <a:t>每个入口地址都与相应的系统子程序名对应起来</a:t>
            </a:r>
            <a:endParaRPr lang="zh-CN" altLang="en-US" sz="2000" dirty="0">
              <a:solidFill>
                <a:srgbClr val="FF3300"/>
              </a:solidFill>
            </a:endParaRPr>
          </a:p>
        </p:txBody>
      </p:sp>
      <p:sp>
        <p:nvSpPr>
          <p:cNvPr id="30" name="线形标注 1 29"/>
          <p:cNvSpPr/>
          <p:nvPr/>
        </p:nvSpPr>
        <p:spPr>
          <a:xfrm>
            <a:off x="4932040" y="163686"/>
            <a:ext cx="4211960" cy="1460109"/>
          </a:xfrm>
          <a:prstGeom prst="borderCallout1">
            <a:avLst>
              <a:gd name="adj1" fmla="val 39279"/>
              <a:gd name="adj2" fmla="val 989"/>
              <a:gd name="adj3" fmla="val 62962"/>
              <a:gd name="adj4" fmla="val -10006"/>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lgn="just"/>
            <a:r>
              <a:rPr lang="zh-CN" altLang="en-US" sz="2000" b="1" dirty="0">
                <a:solidFill>
                  <a:schemeClr val="tx1"/>
                </a:solidFill>
                <a:latin typeface="+mn-ea"/>
              </a:rPr>
              <a:t>由陷阱处理程序把</a:t>
            </a:r>
            <a:r>
              <a:rPr lang="zh-CN" altLang="en-US" sz="2000" b="1" dirty="0">
                <a:solidFill>
                  <a:srgbClr val="FF3300"/>
                </a:solidFill>
                <a:latin typeface="+mn-ea"/>
              </a:rPr>
              <a:t>陷阱指令中所包含的功能号与该入口地址表中的有关项对应起来</a:t>
            </a:r>
            <a:r>
              <a:rPr lang="zh-CN" altLang="en-US" sz="2000" b="1" dirty="0">
                <a:solidFill>
                  <a:schemeClr val="tx1"/>
                </a:solidFill>
                <a:latin typeface="+mn-ea"/>
              </a:rPr>
              <a:t>，从而由系统调用功能号驱动有关系统子程序执行</a:t>
            </a:r>
            <a:endParaRPr lang="zh-CN" altLang="en-US" sz="2000" dirty="0">
              <a:solidFill>
                <a:schemeClr val="tx1"/>
              </a:solidFill>
            </a:endParaRPr>
          </a:p>
        </p:txBody>
      </p:sp>
      <p:sp>
        <p:nvSpPr>
          <p:cNvPr id="31" name="线形标注 1 30"/>
          <p:cNvSpPr/>
          <p:nvPr/>
        </p:nvSpPr>
        <p:spPr>
          <a:xfrm>
            <a:off x="4932040" y="3363838"/>
            <a:ext cx="2788615" cy="1152128"/>
          </a:xfrm>
          <a:prstGeom prst="borderCallout1">
            <a:avLst>
              <a:gd name="adj1" fmla="val 39279"/>
              <a:gd name="adj2" fmla="val 989"/>
              <a:gd name="adj3" fmla="val -90312"/>
              <a:gd name="adj4" fmla="val -19150"/>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algn="just"/>
            <a:r>
              <a:rPr lang="zh-CN" altLang="en-US" sz="2000" b="1" dirty="0" smtClean="0">
                <a:solidFill>
                  <a:schemeClr val="tx1"/>
                </a:solidFill>
                <a:latin typeface="+mn-ea"/>
              </a:rPr>
              <a:t>在</a:t>
            </a:r>
            <a:r>
              <a:rPr lang="zh-CN" altLang="en-US" sz="2000" b="1" dirty="0">
                <a:solidFill>
                  <a:schemeClr val="tx1"/>
                </a:solidFill>
                <a:latin typeface="+mn-ea"/>
              </a:rPr>
              <a:t>操作系统中，处理机的现场一般被保护在特定的内存区或寄存器中</a:t>
            </a:r>
            <a:endParaRPr lang="zh-CN" altLang="en-US" sz="2000" dirty="0">
              <a:solidFill>
                <a:schemeClr val="tx1"/>
              </a:solidFill>
            </a:endParaRPr>
          </a:p>
        </p:txBody>
      </p:sp>
    </p:spTree>
    <p:extLst>
      <p:ext uri="{BB962C8B-B14F-4D97-AF65-F5344CB8AC3E}">
        <p14:creationId xmlns:p14="http://schemas.microsoft.com/office/powerpoint/2010/main" val="17657213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30"/>
                                        </p:tgtEl>
                                      </p:cBhvr>
                                    </p:animEffect>
                                    <p:set>
                                      <p:cBhvr>
                                        <p:cTn id="22" dur="1" fill="hold">
                                          <p:stCondLst>
                                            <p:cond delay="499"/>
                                          </p:stCondLst>
                                        </p:cTn>
                                        <p:tgtEl>
                                          <p:spTgt spid="3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31"/>
                                        </p:tgtEl>
                                      </p:cBhvr>
                                    </p:animEffect>
                                    <p:set>
                                      <p:cBhvr>
                                        <p:cTn id="32"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0" grpId="0" animBg="1"/>
      <p:bldP spid="30" grpId="1" animBg="1"/>
      <p:bldP spid="31" grpId="0" animBg="1"/>
      <p:bldP spid="31"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ko-KR"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INT </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的实现细节</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755576" y="1470468"/>
            <a:ext cx="6984776" cy="2862322"/>
          </a:xfrm>
          <a:prstGeom prst="rect">
            <a:avLst/>
          </a:prstGeom>
        </p:spPr>
        <p:txBody>
          <a:bodyPr wrap="square">
            <a:spAutoFit/>
          </a:bodyPr>
          <a:lstStyle/>
          <a:p>
            <a:pPr marL="0" lvl="1" fontAlgn="base">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请同学们课下</a:t>
            </a:r>
            <a:r>
              <a:rPr lang="zh-CN" altLang="en-US" sz="2400" b="1" dirty="0" smtClean="0">
                <a:solidFill>
                  <a:schemeClr val="bg1"/>
                </a:solidFill>
                <a:latin typeface="+mn-ea"/>
              </a:rPr>
              <a:t>观看哈尔滨工业大学</a:t>
            </a:r>
            <a:r>
              <a:rPr lang="zh-CN" altLang="en-US" sz="2400" b="1" dirty="0">
                <a:solidFill>
                  <a:schemeClr val="bg1"/>
                </a:solidFill>
                <a:latin typeface="+mn-ea"/>
              </a:rPr>
              <a:t>李治军</a:t>
            </a:r>
            <a:r>
              <a:rPr lang="zh-CN" altLang="en-US" sz="2400" b="1" dirty="0" smtClean="0">
                <a:solidFill>
                  <a:schemeClr val="bg1"/>
                </a:solidFill>
                <a:latin typeface="+mn-ea"/>
              </a:rPr>
              <a:t>老师的视频讲解：</a:t>
            </a:r>
            <a:r>
              <a:rPr lang="en-US" altLang="zh-CN" sz="2400" b="1" dirty="0" smtClean="0">
                <a:solidFill>
                  <a:srgbClr val="FFFF00"/>
                </a:solidFill>
                <a:latin typeface="+mn-ea"/>
              </a:rPr>
              <a:t>L5 </a:t>
            </a:r>
            <a:r>
              <a:rPr lang="zh-CN" altLang="en-US" sz="2400" b="1" dirty="0" smtClean="0">
                <a:solidFill>
                  <a:srgbClr val="FFFF00"/>
                </a:solidFill>
                <a:latin typeface="+mn-ea"/>
              </a:rPr>
              <a:t>系统调用的实现</a:t>
            </a:r>
            <a:endParaRPr lang="en-US" altLang="zh-CN" sz="2400" b="1" dirty="0" smtClean="0">
              <a:solidFill>
                <a:srgbClr val="FFFF00"/>
              </a:solidFill>
              <a:latin typeface="+mn-ea"/>
            </a:endParaRPr>
          </a:p>
          <a:p>
            <a:pPr marL="0" lvl="1" fontAlgn="base">
              <a:lnSpc>
                <a:spcPct val="150000"/>
              </a:lnSpc>
              <a:buClr>
                <a:schemeClr val="accent6">
                  <a:lumMod val="60000"/>
                  <a:lumOff val="40000"/>
                </a:schemeClr>
              </a:buClr>
              <a:buFont typeface="Wingdings" panose="05000000000000000000" pitchFamily="2" charset="2"/>
              <a:buChar char="Ø"/>
            </a:pPr>
            <a:r>
              <a:rPr lang="en-US" altLang="zh-CN" sz="2400" b="1" dirty="0">
                <a:solidFill>
                  <a:schemeClr val="bg1"/>
                </a:solidFill>
                <a:latin typeface="+mn-ea"/>
              </a:rPr>
              <a:t>https://www.bilibili.com/video/BV19r4y1b7Aw?p=5&amp;vd_source=3890c386258705c903d8eba25827411b</a:t>
            </a:r>
            <a:endParaRPr lang="zh-CN" altLang="en-US" sz="2400" b="1" dirty="0">
              <a:solidFill>
                <a:schemeClr val="bg1"/>
              </a:solidFill>
              <a:latin typeface="+mn-ea"/>
            </a:endParaRPr>
          </a:p>
        </p:txBody>
      </p:sp>
    </p:spTree>
    <p:extLst>
      <p:ext uri="{BB962C8B-B14F-4D97-AF65-F5344CB8AC3E}">
        <p14:creationId xmlns:p14="http://schemas.microsoft.com/office/powerpoint/2010/main" val="255241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731118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（对应实验平台中的实验</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3</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827584" y="1344876"/>
            <a:ext cx="6984776" cy="1113766"/>
          </a:xfrm>
          <a:prstGeom prst="rect">
            <a:avLst/>
          </a:prstGeom>
        </p:spPr>
        <p:txBody>
          <a:bodyPr wrap="square">
            <a:spAutoFit/>
          </a:bodyPr>
          <a:lstStyle/>
          <a:p>
            <a:pPr marL="0" lvl="1" fontAlgn="base">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 </a:t>
            </a:r>
            <a:r>
              <a:rPr lang="en-US" altLang="zh-CN" sz="2400" b="1" dirty="0">
                <a:solidFill>
                  <a:schemeClr val="bg1"/>
                </a:solidFill>
                <a:latin typeface="+mn-ea"/>
              </a:rPr>
              <a:t>Linux 0.11 </a:t>
            </a:r>
            <a:r>
              <a:rPr lang="zh-CN" altLang="en-US" sz="2400" b="1" dirty="0">
                <a:solidFill>
                  <a:schemeClr val="bg1"/>
                </a:solidFill>
                <a:latin typeface="+mn-ea"/>
              </a:rPr>
              <a:t>上添加两个系统调用，并编写两个简单的应用程序测试</a:t>
            </a:r>
            <a:r>
              <a:rPr lang="zh-CN" altLang="en-US" sz="2400" b="1" dirty="0" smtClean="0">
                <a:solidFill>
                  <a:schemeClr val="bg1"/>
                </a:solidFill>
                <a:latin typeface="+mn-ea"/>
              </a:rPr>
              <a:t>它们。</a:t>
            </a:r>
            <a:endParaRPr lang="en-US" altLang="zh-CN" sz="2400" b="1" dirty="0" smtClean="0">
              <a:solidFill>
                <a:schemeClr val="bg1"/>
              </a:solidFill>
              <a:latin typeface="+mn-ea"/>
            </a:endParaRPr>
          </a:p>
        </p:txBody>
      </p:sp>
      <p:pic>
        <p:nvPicPr>
          <p:cNvPr id="4" name="图片 3"/>
          <p:cNvPicPr>
            <a:picLocks noChangeAspect="1"/>
          </p:cNvPicPr>
          <p:nvPr/>
        </p:nvPicPr>
        <p:blipFill>
          <a:blip r:embed="rId3"/>
          <a:stretch>
            <a:fillRect/>
          </a:stretch>
        </p:blipFill>
        <p:spPr>
          <a:xfrm>
            <a:off x="324693" y="1901759"/>
            <a:ext cx="4336156" cy="2720576"/>
          </a:xfrm>
          <a:prstGeom prst="rect">
            <a:avLst/>
          </a:prstGeom>
        </p:spPr>
      </p:pic>
      <p:pic>
        <p:nvPicPr>
          <p:cNvPr id="5" name="图片 4"/>
          <p:cNvPicPr>
            <a:picLocks noChangeAspect="1"/>
          </p:cNvPicPr>
          <p:nvPr/>
        </p:nvPicPr>
        <p:blipFill>
          <a:blip r:embed="rId4"/>
          <a:stretch>
            <a:fillRect/>
          </a:stretch>
        </p:blipFill>
        <p:spPr>
          <a:xfrm>
            <a:off x="4716016" y="1993207"/>
            <a:ext cx="4343776" cy="2537680"/>
          </a:xfrm>
          <a:prstGeom prst="rect">
            <a:avLst/>
          </a:prstGeom>
        </p:spPr>
      </p:pic>
    </p:spTree>
    <p:extLst>
      <p:ext uri="{BB962C8B-B14F-4D97-AF65-F5344CB8AC3E}">
        <p14:creationId xmlns:p14="http://schemas.microsoft.com/office/powerpoint/2010/main" val="410811482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实验目的</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827584" y="1344876"/>
            <a:ext cx="6984776" cy="2221762"/>
          </a:xfrm>
          <a:prstGeom prst="rect">
            <a:avLst/>
          </a:prstGeom>
        </p:spPr>
        <p:txBody>
          <a:bodyPr wrap="square">
            <a:spAutoFit/>
          </a:bodyPr>
          <a:lstStyle/>
          <a:p>
            <a:pPr marL="0" lvl="1" fontAlgn="base">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建立对系统调用接口的深入认识；</a:t>
            </a:r>
          </a:p>
          <a:p>
            <a:pPr marL="0" lvl="1" fontAlgn="base">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掌握系统调用的基本过程；</a:t>
            </a:r>
          </a:p>
          <a:p>
            <a:pPr marL="0" lvl="1" fontAlgn="base">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能完成系统调用的全面控制；</a:t>
            </a:r>
          </a:p>
          <a:p>
            <a:pPr marL="0" lvl="1" fontAlgn="base">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为后续实验做准备。</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15732132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实验报告要求</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827584" y="1184145"/>
            <a:ext cx="6984776" cy="3416320"/>
          </a:xfrm>
          <a:prstGeom prst="rect">
            <a:avLst/>
          </a:prstGeom>
        </p:spPr>
        <p:txBody>
          <a:bodyPr wrap="square">
            <a:spAutoFit/>
          </a:bodyPr>
          <a:lstStyle/>
          <a:p>
            <a:pPr marL="0" lvl="1" fontAlgn="base">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在实验报告中回答如下问题：</a:t>
            </a:r>
          </a:p>
          <a:p>
            <a:pPr marL="0" lvl="1" fontAlgn="base">
              <a:lnSpc>
                <a:spcPct val="150000"/>
              </a:lnSpc>
              <a:buClr>
                <a:schemeClr val="accent6">
                  <a:lumMod val="60000"/>
                  <a:lumOff val="40000"/>
                </a:schemeClr>
              </a:buClr>
            </a:pPr>
            <a:r>
              <a:rPr lang="zh-CN" altLang="en-US" sz="2400" b="1" dirty="0" smtClean="0">
                <a:solidFill>
                  <a:schemeClr val="bg1"/>
                </a:solidFill>
                <a:latin typeface="+mn-ea"/>
              </a:rPr>
              <a:t>（</a:t>
            </a:r>
            <a:r>
              <a:rPr lang="en-US" altLang="zh-CN" sz="2400" b="1" dirty="0" smtClean="0">
                <a:solidFill>
                  <a:schemeClr val="bg1"/>
                </a:solidFill>
                <a:latin typeface="+mn-ea"/>
              </a:rPr>
              <a:t>1</a:t>
            </a:r>
            <a:r>
              <a:rPr lang="zh-CN" altLang="en-US" sz="2400" b="1" dirty="0" smtClean="0">
                <a:solidFill>
                  <a:schemeClr val="bg1"/>
                </a:solidFill>
                <a:latin typeface="+mn-ea"/>
              </a:rPr>
              <a:t>）从 </a:t>
            </a:r>
            <a:r>
              <a:rPr lang="en-US" altLang="zh-CN" sz="2400" b="1" dirty="0">
                <a:solidFill>
                  <a:schemeClr val="bg1"/>
                </a:solidFill>
                <a:latin typeface="+mn-ea"/>
              </a:rPr>
              <a:t>Linux 0.11 </a:t>
            </a:r>
            <a:r>
              <a:rPr lang="zh-CN" altLang="en-US" sz="2400" b="1" dirty="0">
                <a:solidFill>
                  <a:schemeClr val="bg1"/>
                </a:solidFill>
                <a:latin typeface="+mn-ea"/>
              </a:rPr>
              <a:t>现在的机制看，它的系统调用最多能传递几个参数？你能想出办法来扩大这个限制吗？</a:t>
            </a:r>
          </a:p>
          <a:p>
            <a:pPr marL="0" lvl="1" fontAlgn="base">
              <a:lnSpc>
                <a:spcPct val="150000"/>
              </a:lnSpc>
              <a:buClr>
                <a:schemeClr val="accent6">
                  <a:lumMod val="60000"/>
                  <a:lumOff val="40000"/>
                </a:schemeClr>
              </a:buClr>
            </a:pPr>
            <a:r>
              <a:rPr lang="zh-CN" altLang="en-US" sz="2400" b="1" dirty="0" smtClean="0">
                <a:solidFill>
                  <a:schemeClr val="bg1"/>
                </a:solidFill>
                <a:latin typeface="+mn-ea"/>
              </a:rPr>
              <a:t>（</a:t>
            </a:r>
            <a:r>
              <a:rPr lang="en-US" altLang="zh-CN" sz="2400" b="1" dirty="0" smtClean="0">
                <a:solidFill>
                  <a:schemeClr val="bg1"/>
                </a:solidFill>
                <a:latin typeface="+mn-ea"/>
              </a:rPr>
              <a:t>2</a:t>
            </a:r>
            <a:r>
              <a:rPr lang="zh-CN" altLang="en-US" sz="2400" b="1" dirty="0" smtClean="0">
                <a:solidFill>
                  <a:schemeClr val="bg1"/>
                </a:solidFill>
                <a:latin typeface="+mn-ea"/>
              </a:rPr>
              <a:t>）用</a:t>
            </a:r>
            <a:r>
              <a:rPr lang="zh-CN" altLang="en-US" sz="2400" b="1" dirty="0">
                <a:solidFill>
                  <a:schemeClr val="bg1"/>
                </a:solidFill>
                <a:latin typeface="+mn-ea"/>
              </a:rPr>
              <a:t>文字简要描述向 </a:t>
            </a:r>
            <a:r>
              <a:rPr lang="en-US" altLang="zh-CN" sz="2400" b="1" dirty="0">
                <a:solidFill>
                  <a:schemeClr val="bg1"/>
                </a:solidFill>
                <a:latin typeface="+mn-ea"/>
              </a:rPr>
              <a:t>Linux 0.11 </a:t>
            </a:r>
            <a:r>
              <a:rPr lang="zh-CN" altLang="en-US" sz="2400" b="1" dirty="0">
                <a:solidFill>
                  <a:schemeClr val="bg1"/>
                </a:solidFill>
                <a:latin typeface="+mn-ea"/>
              </a:rPr>
              <a:t>添加一个系统调用 </a:t>
            </a:r>
            <a:r>
              <a:rPr lang="en-US" altLang="zh-CN" sz="2400" b="1" dirty="0">
                <a:solidFill>
                  <a:schemeClr val="bg1"/>
                </a:solidFill>
                <a:latin typeface="+mn-ea"/>
              </a:rPr>
              <a:t>foo() </a:t>
            </a:r>
            <a:r>
              <a:rPr lang="zh-CN" altLang="en-US" sz="2400" b="1" dirty="0">
                <a:solidFill>
                  <a:schemeClr val="bg1"/>
                </a:solidFill>
                <a:latin typeface="+mn-ea"/>
              </a:rPr>
              <a:t>的步骤。</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61126561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评分标准</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899592" y="1750353"/>
            <a:ext cx="6984776" cy="1754326"/>
          </a:xfrm>
          <a:prstGeom prst="rect">
            <a:avLst/>
          </a:prstGeom>
        </p:spPr>
        <p:txBody>
          <a:bodyPr wrap="square">
            <a:spAutoFit/>
          </a:bodyPr>
          <a:lstStyle/>
          <a:p>
            <a:pPr marL="0" lvl="1" fontAlgn="base">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一</a:t>
            </a:r>
            <a:r>
              <a:rPr lang="zh-CN" altLang="en-US" sz="2400" b="1" dirty="0">
                <a:solidFill>
                  <a:schemeClr val="bg1"/>
                </a:solidFill>
                <a:latin typeface="+mn-ea"/>
              </a:rPr>
              <a:t>个新增的系统调用被成功调用，并且能和用户空间交换参数</a:t>
            </a:r>
            <a:r>
              <a:rPr lang="zh-CN" altLang="en-US" sz="2400" b="1" dirty="0" smtClean="0">
                <a:solidFill>
                  <a:schemeClr val="bg1"/>
                </a:solidFill>
                <a:latin typeface="+mn-ea"/>
              </a:rPr>
              <a:t>，可得</a:t>
            </a:r>
            <a:r>
              <a:rPr lang="en-US" altLang="zh-CN" sz="2400" b="1" dirty="0" smtClean="0">
                <a:solidFill>
                  <a:schemeClr val="bg1"/>
                </a:solidFill>
                <a:latin typeface="+mn-ea"/>
              </a:rPr>
              <a:t>60</a:t>
            </a:r>
            <a:r>
              <a:rPr lang="zh-CN" altLang="en-US" sz="2400" b="1" dirty="0" smtClean="0">
                <a:solidFill>
                  <a:schemeClr val="bg1"/>
                </a:solidFill>
                <a:latin typeface="+mn-ea"/>
              </a:rPr>
              <a:t>分。</a:t>
            </a:r>
            <a:r>
              <a:rPr lang="zh-CN" altLang="en-US" sz="2400" b="1" dirty="0">
                <a:solidFill>
                  <a:schemeClr val="bg1"/>
                </a:solidFill>
                <a:latin typeface="+mn-ea"/>
              </a:rPr>
              <a:t>两</a:t>
            </a:r>
            <a:r>
              <a:rPr lang="zh-CN" altLang="en-US" sz="2400" b="1" dirty="0" smtClean="0">
                <a:solidFill>
                  <a:schemeClr val="bg1"/>
                </a:solidFill>
                <a:latin typeface="+mn-ea"/>
              </a:rPr>
              <a:t>个都成功可</a:t>
            </a:r>
            <a:r>
              <a:rPr lang="zh-CN" altLang="en-US" sz="2400" b="1" dirty="0">
                <a:solidFill>
                  <a:schemeClr val="bg1"/>
                </a:solidFill>
                <a:latin typeface="+mn-ea"/>
              </a:rPr>
              <a:t>得</a:t>
            </a:r>
            <a:r>
              <a:rPr lang="zh-CN" altLang="en-US" sz="2400" b="1" dirty="0" smtClean="0">
                <a:solidFill>
                  <a:schemeClr val="bg1"/>
                </a:solidFill>
                <a:latin typeface="+mn-ea"/>
              </a:rPr>
              <a:t>满分。</a:t>
            </a:r>
            <a:endParaRPr lang="zh-CN" altLang="en-US" sz="2400" b="1" dirty="0">
              <a:solidFill>
                <a:schemeClr val="bg1"/>
              </a:solidFill>
              <a:latin typeface="+mn-ea"/>
            </a:endParaRPr>
          </a:p>
          <a:p>
            <a:pPr marL="0" lvl="1" fontAlgn="base">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将实验结果截图到实验报告中</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54998638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9"/>
            <a:ext cx="4724400" cy="833438"/>
            <a:chOff x="1296" y="1824"/>
            <a:chExt cx="2976" cy="525"/>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407"/>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简介及一般用户的输入输出界面</a:t>
              </a:r>
              <a:endParaRPr lang="en-US" altLang="zh-CN" b="1" dirty="0">
                <a:solidFill>
                  <a:srgbClr val="000000"/>
                </a:solidFill>
              </a:endParaRPr>
            </a:p>
            <a:p>
              <a:pPr algn="ctr" eaLnBrk="0" hangingPunct="0"/>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800" y="1935"/>
              <a:ext cx="2160" cy="233"/>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命令控制</a:t>
              </a:r>
              <a:r>
                <a:rPr lang="zh-CN" altLang="en-US" b="1" dirty="0" smtClean="0">
                  <a:solidFill>
                    <a:srgbClr val="000000"/>
                  </a:solidFill>
                </a:rPr>
                <a:t>界面、图形控制界面</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3"/>
            <a:ext cx="4724400" cy="804863"/>
            <a:chOff x="1296" y="1824"/>
            <a:chExt cx="2976" cy="507"/>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407"/>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系统</a:t>
              </a:r>
              <a:r>
                <a:rPr lang="zh-CN" altLang="en-US" b="1" dirty="0">
                  <a:solidFill>
                    <a:srgbClr val="000000"/>
                  </a:solidFill>
                </a:rPr>
                <a:t>调用</a:t>
              </a:r>
              <a:endParaRPr lang="en-US" altLang="zh-CN" b="1" dirty="0">
                <a:solidFill>
                  <a:srgbClr val="000000"/>
                </a:solidFill>
              </a:endParaRPr>
            </a:p>
            <a:p>
              <a:pPr algn="ctr" eaLnBrk="0" hangingPunct="0"/>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a:solidFill>
                    <a:srgbClr val="000000"/>
                  </a:solidFill>
                </a:rPr>
                <a:t>Windows</a:t>
              </a:r>
              <a:r>
                <a:rPr lang="zh-CN" altLang="en-US" b="1" dirty="0">
                  <a:solidFill>
                    <a:srgbClr val="000000"/>
                  </a:solidFill>
                </a:rPr>
                <a:t>的命令控制界面</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a:solidFill>
                    <a:srgbClr val="000000"/>
                  </a:solidFill>
                </a:rPr>
                <a:t>Windows</a:t>
              </a:r>
              <a:r>
                <a:rPr lang="zh-CN" altLang="en-US" b="1" dirty="0" smtClean="0">
                  <a:solidFill>
                    <a:srgbClr val="000000"/>
                  </a:solidFill>
                </a:rPr>
                <a:t>的</a:t>
              </a:r>
              <a:r>
                <a:rPr lang="zh-CN" altLang="en-US" b="1" dirty="0" smtClean="0">
                  <a:solidFill>
                    <a:srgbClr val="000000"/>
                  </a:solidFill>
                  <a:ea typeface="宋体" pitchFamily="2" charset="-122"/>
                </a:rPr>
                <a:t>系统调用</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1759929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7"/>
                                        </p:tgtEl>
                                      </p:cBhvr>
                                      <p:by x="150000" y="150000"/>
                                    </p:animScale>
                                  </p:childTnLst>
                                </p:cTn>
                              </p:par>
                              <p:par>
                                <p:cTn id="7" presetID="42" presetClass="path" presetSubtype="0" accel="50000" decel="50000" fill="hold" nodeType="withEffect">
                                  <p:stCondLst>
                                    <p:cond delay="0"/>
                                  </p:stCondLst>
                                  <p:childTnLst>
                                    <p:animMotion origin="layout" path="M -3.61111E-6 1.60494E-6 L 0.00139 -0.16482 " pathEditMode="relative" rAng="0" ptsTypes="AA">
                                      <p:cBhvr>
                                        <p:cTn id="8" dur="2000" fill="hold"/>
                                        <p:tgtEl>
                                          <p:spTgt spid="27"/>
                                        </p:tgtEl>
                                        <p:attrNameLst>
                                          <p:attrName>ppt_x</p:attrName>
                                          <p:attrName>ppt_y</p:attrName>
                                        </p:attrNameLst>
                                      </p:cBhvr>
                                      <p:rCtr x="69" y="-8241"/>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32"/>
                                        </p:tgtEl>
                                      </p:cBhvr>
                                    </p:animEffect>
                                    <p:set>
                                      <p:cBhvr>
                                        <p:cTn id="14" dur="1" fill="hold">
                                          <p:stCondLst>
                                            <p:cond delay="1999"/>
                                          </p:stCondLst>
                                        </p:cTn>
                                        <p:tgtEl>
                                          <p:spTgt spid="32"/>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1"/>
                                        </p:tgtEl>
                                      </p:cBhvr>
                                    </p:animEffect>
                                    <p:set>
                                      <p:cBhvr>
                                        <p:cTn id="17" dur="1" fill="hold">
                                          <p:stCondLst>
                                            <p:cond delay="1999"/>
                                          </p:stCondLst>
                                        </p:cTn>
                                        <p:tgtEl>
                                          <p:spTgt spid="11"/>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6"/>
                                        </p:tgtEl>
                                      </p:cBhvr>
                                    </p:animEffect>
                                    <p:set>
                                      <p:cBhvr>
                                        <p:cTn id="20"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39552" y="74101"/>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Linux</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的命令控制界面 </a:t>
            </a:r>
          </a:p>
        </p:txBody>
      </p:sp>
      <p:pic>
        <p:nvPicPr>
          <p:cNvPr id="29" name="图片 5" descr="C:\Users\109\AppData\Local\Temp\ksohtml\wps_clip_image-247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084357"/>
            <a:ext cx="5332412"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2185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heel(1)">
                                      <p:cBhvr>
                                        <p:cTn id="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常用</a:t>
            </a:r>
            <a:r>
              <a:rPr lang="en-US" altLang="zh-CN" sz="3600" b="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linux</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命令</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915414"/>
            <a:ext cx="6912768" cy="371351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en-US" altLang="zh-CN" sz="2000" b="1" dirty="0" err="1">
                <a:solidFill>
                  <a:schemeClr val="bg1"/>
                </a:solidFill>
                <a:latin typeface="+mn-ea"/>
              </a:rPr>
              <a:t>cp</a:t>
            </a:r>
            <a:r>
              <a:rPr lang="en-US" altLang="zh-CN" sz="2000" b="1" dirty="0">
                <a:solidFill>
                  <a:schemeClr val="bg1"/>
                </a:solidFill>
                <a:latin typeface="+mn-ea"/>
              </a:rPr>
              <a:t> file1 file2 </a:t>
            </a:r>
            <a:r>
              <a:rPr lang="zh-CN" altLang="en-US" sz="2000" b="1" dirty="0">
                <a:solidFill>
                  <a:schemeClr val="bg1"/>
                </a:solidFill>
                <a:latin typeface="+mn-ea"/>
              </a:rPr>
              <a:t>文件复制</a:t>
            </a:r>
          </a:p>
          <a:p>
            <a:pPr marL="0" lvl="1" algn="just">
              <a:lnSpc>
                <a:spcPct val="150000"/>
              </a:lnSpc>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cat file1 </a:t>
            </a:r>
            <a:r>
              <a:rPr lang="zh-CN" altLang="en-US" sz="2000" b="1" dirty="0">
                <a:solidFill>
                  <a:schemeClr val="bg1"/>
                </a:solidFill>
                <a:latin typeface="+mn-ea"/>
              </a:rPr>
              <a:t>在屏幕上打印文件</a:t>
            </a:r>
          </a:p>
          <a:p>
            <a:pPr marL="0" lvl="1" algn="just">
              <a:lnSpc>
                <a:spcPct val="150000"/>
              </a:lnSpc>
              <a:buClr>
                <a:schemeClr val="accent6">
                  <a:lumMod val="60000"/>
                  <a:lumOff val="40000"/>
                </a:schemeClr>
              </a:buClr>
              <a:buFont typeface="Wingdings" panose="05000000000000000000" pitchFamily="2" charset="2"/>
              <a:buChar char="Ø"/>
            </a:pPr>
            <a:r>
              <a:rPr lang="en-US" altLang="zh-CN" sz="2000" b="1" dirty="0" err="1">
                <a:solidFill>
                  <a:schemeClr val="bg1"/>
                </a:solidFill>
                <a:latin typeface="+mn-ea"/>
              </a:rPr>
              <a:t>pwd</a:t>
            </a:r>
            <a:r>
              <a:rPr lang="en-US" altLang="zh-CN" sz="2000" b="1" dirty="0">
                <a:solidFill>
                  <a:schemeClr val="bg1"/>
                </a:solidFill>
                <a:latin typeface="+mn-ea"/>
              </a:rPr>
              <a:t> </a:t>
            </a:r>
            <a:r>
              <a:rPr lang="zh-CN" altLang="en-US" sz="2000" b="1" dirty="0">
                <a:solidFill>
                  <a:schemeClr val="bg1"/>
                </a:solidFill>
                <a:latin typeface="+mn-ea"/>
              </a:rPr>
              <a:t>显示当前工作目录</a:t>
            </a:r>
          </a:p>
          <a:p>
            <a:pPr marL="0" lvl="1" algn="just">
              <a:lnSpc>
                <a:spcPct val="150000"/>
              </a:lnSpc>
              <a:buClr>
                <a:schemeClr val="accent6">
                  <a:lumMod val="60000"/>
                  <a:lumOff val="40000"/>
                </a:schemeClr>
              </a:buClr>
              <a:buFont typeface="Wingdings" panose="05000000000000000000" pitchFamily="2" charset="2"/>
              <a:buChar char="Ø"/>
            </a:pPr>
            <a:r>
              <a:rPr lang="en-US" altLang="zh-CN" sz="2000" b="1" dirty="0" err="1">
                <a:solidFill>
                  <a:schemeClr val="bg1"/>
                </a:solidFill>
                <a:latin typeface="+mn-ea"/>
              </a:rPr>
              <a:t>ls</a:t>
            </a:r>
            <a:r>
              <a:rPr lang="en-US" altLang="zh-CN" sz="2000" b="1" dirty="0">
                <a:solidFill>
                  <a:schemeClr val="bg1"/>
                </a:solidFill>
                <a:latin typeface="+mn-ea"/>
              </a:rPr>
              <a:t> </a:t>
            </a:r>
            <a:r>
              <a:rPr lang="zh-CN" altLang="en-US" sz="2000" b="1" dirty="0">
                <a:solidFill>
                  <a:schemeClr val="bg1"/>
                </a:solidFill>
                <a:latin typeface="+mn-ea"/>
              </a:rPr>
              <a:t>列出目录内容</a:t>
            </a:r>
          </a:p>
          <a:p>
            <a:pPr marL="0" lvl="1" algn="just">
              <a:lnSpc>
                <a:spcPct val="150000"/>
              </a:lnSpc>
              <a:buClr>
                <a:schemeClr val="accent6">
                  <a:lumMod val="60000"/>
                  <a:lumOff val="40000"/>
                </a:schemeClr>
              </a:buClr>
              <a:buFont typeface="Wingdings" panose="05000000000000000000" pitchFamily="2" charset="2"/>
              <a:buChar char="Ø"/>
            </a:pPr>
            <a:r>
              <a:rPr lang="en-US" altLang="zh-CN" sz="2000" b="1" dirty="0" err="1">
                <a:solidFill>
                  <a:schemeClr val="bg1"/>
                </a:solidFill>
                <a:latin typeface="+mn-ea"/>
              </a:rPr>
              <a:t>mkdir</a:t>
            </a:r>
            <a:r>
              <a:rPr lang="en-US" altLang="zh-CN" sz="2000" b="1" dirty="0">
                <a:solidFill>
                  <a:schemeClr val="bg1"/>
                </a:solidFill>
                <a:latin typeface="+mn-ea"/>
              </a:rPr>
              <a:t> </a:t>
            </a:r>
            <a:r>
              <a:rPr lang="zh-CN" altLang="en-US" sz="2000" b="1" dirty="0">
                <a:solidFill>
                  <a:schemeClr val="bg1"/>
                </a:solidFill>
                <a:latin typeface="+mn-ea"/>
              </a:rPr>
              <a:t>创建目录</a:t>
            </a:r>
          </a:p>
          <a:p>
            <a:pPr marL="0" lvl="1" algn="just">
              <a:lnSpc>
                <a:spcPct val="150000"/>
              </a:lnSpc>
              <a:buClr>
                <a:schemeClr val="accent6">
                  <a:lumMod val="60000"/>
                  <a:lumOff val="40000"/>
                </a:schemeClr>
              </a:buClr>
              <a:buFont typeface="Wingdings" panose="05000000000000000000" pitchFamily="2" charset="2"/>
              <a:buChar char="Ø"/>
            </a:pPr>
            <a:r>
              <a:rPr lang="en-US" altLang="zh-CN" sz="2000" b="1" dirty="0" err="1">
                <a:solidFill>
                  <a:schemeClr val="bg1"/>
                </a:solidFill>
                <a:latin typeface="+mn-ea"/>
              </a:rPr>
              <a:t>rmdir</a:t>
            </a:r>
            <a:r>
              <a:rPr lang="en-US" altLang="zh-CN" sz="2000" b="1" dirty="0">
                <a:solidFill>
                  <a:schemeClr val="bg1"/>
                </a:solidFill>
                <a:latin typeface="+mn-ea"/>
              </a:rPr>
              <a:t> </a:t>
            </a:r>
            <a:r>
              <a:rPr lang="zh-CN" altLang="en-US" sz="2000" b="1" dirty="0">
                <a:solidFill>
                  <a:schemeClr val="bg1"/>
                </a:solidFill>
                <a:latin typeface="+mn-ea"/>
              </a:rPr>
              <a:t>删除目录</a:t>
            </a:r>
          </a:p>
          <a:p>
            <a:pPr marL="0" lvl="1" algn="just">
              <a:lnSpc>
                <a:spcPct val="150000"/>
              </a:lnSpc>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cd </a:t>
            </a:r>
            <a:r>
              <a:rPr lang="zh-CN" altLang="en-US" sz="2000" b="1" dirty="0">
                <a:solidFill>
                  <a:schemeClr val="bg1"/>
                </a:solidFill>
                <a:latin typeface="+mn-ea"/>
              </a:rPr>
              <a:t>改变目录</a:t>
            </a:r>
          </a:p>
          <a:p>
            <a:pPr marL="0" lvl="1" algn="just">
              <a:lnSpc>
                <a:spcPct val="150000"/>
              </a:lnSpc>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vi </a:t>
            </a:r>
            <a:r>
              <a:rPr lang="zh-CN" altLang="en-US" sz="2000" b="1" dirty="0">
                <a:solidFill>
                  <a:schemeClr val="bg1"/>
                </a:solidFill>
                <a:latin typeface="+mn-ea"/>
              </a:rPr>
              <a:t>编辑文件 ：</a:t>
            </a:r>
            <a:r>
              <a:rPr lang="en-US" altLang="zh-CN" sz="2000" b="1" dirty="0" err="1">
                <a:solidFill>
                  <a:schemeClr val="bg1"/>
                </a:solidFill>
                <a:latin typeface="+mn-ea"/>
              </a:rPr>
              <a:t>wq</a:t>
            </a:r>
            <a:r>
              <a:rPr lang="en-US" altLang="zh-CN" sz="2000" b="1" dirty="0">
                <a:solidFill>
                  <a:schemeClr val="bg1"/>
                </a:solidFill>
                <a:latin typeface="+mn-ea"/>
              </a:rPr>
              <a:t> filename </a:t>
            </a:r>
            <a:r>
              <a:rPr lang="zh-CN" altLang="en-US" sz="2000" b="1" dirty="0">
                <a:solidFill>
                  <a:schemeClr val="bg1"/>
                </a:solidFill>
                <a:latin typeface="+mn-ea"/>
              </a:rPr>
              <a:t>保存文件 ：</a:t>
            </a:r>
            <a:r>
              <a:rPr lang="en-US" altLang="zh-CN" sz="2000" b="1" dirty="0">
                <a:solidFill>
                  <a:schemeClr val="bg1"/>
                </a:solidFill>
                <a:latin typeface="+mn-ea"/>
              </a:rPr>
              <a:t>q! </a:t>
            </a:r>
            <a:r>
              <a:rPr lang="zh-CN" altLang="en-US" sz="2000" b="1" dirty="0">
                <a:solidFill>
                  <a:schemeClr val="bg1"/>
                </a:solidFill>
                <a:latin typeface="+mn-ea"/>
              </a:rPr>
              <a:t>不保存退出</a:t>
            </a:r>
          </a:p>
        </p:txBody>
      </p:sp>
    </p:spTree>
    <p:extLst>
      <p:ext uri="{BB962C8B-B14F-4D97-AF65-F5344CB8AC3E}">
        <p14:creationId xmlns:p14="http://schemas.microsoft.com/office/powerpoint/2010/main" val="3643452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常用</a:t>
            </a:r>
            <a:r>
              <a:rPr lang="en-US" altLang="zh-CN" sz="3600" b="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linux</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命令</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29306"/>
            <a:ext cx="6912768" cy="1866858"/>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000" b="1" dirty="0" err="1">
                <a:solidFill>
                  <a:schemeClr val="bg1"/>
                </a:solidFill>
                <a:latin typeface="+mn-ea"/>
              </a:rPr>
              <a:t>Gcc</a:t>
            </a:r>
            <a:r>
              <a:rPr lang="en-US" altLang="zh-CN" sz="2000" b="1" dirty="0">
                <a:solidFill>
                  <a:schemeClr val="bg1"/>
                </a:solidFill>
                <a:latin typeface="+mn-ea"/>
              </a:rPr>
              <a:t> </a:t>
            </a:r>
            <a:r>
              <a:rPr lang="en-US" altLang="zh-CN" sz="2000" b="1" dirty="0" err="1">
                <a:solidFill>
                  <a:schemeClr val="bg1"/>
                </a:solidFill>
                <a:latin typeface="+mn-ea"/>
              </a:rPr>
              <a:t>test.c</a:t>
            </a:r>
            <a:r>
              <a:rPr lang="en-US" altLang="zh-CN" sz="2000" b="1" dirty="0">
                <a:solidFill>
                  <a:schemeClr val="bg1"/>
                </a:solidFill>
                <a:latin typeface="+mn-ea"/>
              </a:rPr>
              <a:t> </a:t>
            </a:r>
            <a:r>
              <a:rPr lang="zh-CN" altLang="en-US" sz="2000" b="1" dirty="0">
                <a:solidFill>
                  <a:schemeClr val="bg1"/>
                </a:solidFill>
                <a:latin typeface="+mn-ea"/>
              </a:rPr>
              <a:t>编译</a:t>
            </a:r>
            <a:r>
              <a:rPr lang="en-US" altLang="zh-CN" sz="2000" b="1" dirty="0" err="1">
                <a:solidFill>
                  <a:schemeClr val="bg1"/>
                </a:solidFill>
                <a:latin typeface="+mn-ea"/>
              </a:rPr>
              <a:t>test.c</a:t>
            </a:r>
            <a:r>
              <a:rPr lang="en-US" altLang="zh-CN" sz="2000" b="1" dirty="0">
                <a:solidFill>
                  <a:schemeClr val="bg1"/>
                </a:solidFill>
                <a:latin typeface="+mn-ea"/>
              </a:rPr>
              <a:t> </a:t>
            </a:r>
            <a:r>
              <a:rPr lang="zh-CN" altLang="en-US" sz="2000" b="1" dirty="0">
                <a:solidFill>
                  <a:schemeClr val="bg1"/>
                </a:solidFill>
                <a:latin typeface="+mn-ea"/>
              </a:rPr>
              <a:t>生成</a:t>
            </a:r>
            <a:r>
              <a:rPr lang="en-US" altLang="zh-CN" sz="2000" b="1" dirty="0" err="1">
                <a:solidFill>
                  <a:schemeClr val="bg1"/>
                </a:solidFill>
                <a:latin typeface="+mn-ea"/>
              </a:rPr>
              <a:t>a.out</a:t>
            </a:r>
            <a:r>
              <a:rPr lang="en-US" altLang="zh-CN" sz="2000" b="1" dirty="0">
                <a:solidFill>
                  <a:schemeClr val="bg1"/>
                </a:solidFill>
                <a:latin typeface="+mn-ea"/>
              </a:rPr>
              <a:t> </a:t>
            </a:r>
            <a:r>
              <a:rPr lang="zh-CN" altLang="en-US" sz="2000" b="1" dirty="0">
                <a:solidFill>
                  <a:schemeClr val="bg1"/>
                </a:solidFill>
                <a:latin typeface="+mn-ea"/>
              </a:rPr>
              <a:t>文件</a:t>
            </a:r>
          </a:p>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a:t>
            </a:r>
            <a:r>
              <a:rPr lang="en-US" altLang="zh-CN" sz="2000" b="1" dirty="0" err="1">
                <a:solidFill>
                  <a:schemeClr val="bg1"/>
                </a:solidFill>
                <a:latin typeface="+mn-ea"/>
              </a:rPr>
              <a:t>a.out</a:t>
            </a:r>
            <a:r>
              <a:rPr lang="en-US" altLang="zh-CN" sz="2000" b="1" dirty="0">
                <a:solidFill>
                  <a:schemeClr val="bg1"/>
                </a:solidFill>
                <a:latin typeface="+mn-ea"/>
              </a:rPr>
              <a:t> </a:t>
            </a:r>
            <a:r>
              <a:rPr lang="zh-CN" altLang="en-US" sz="2000" b="1" dirty="0">
                <a:solidFill>
                  <a:schemeClr val="bg1"/>
                </a:solidFill>
                <a:latin typeface="+mn-ea"/>
              </a:rPr>
              <a:t>运行</a:t>
            </a:r>
            <a:r>
              <a:rPr lang="en-US" altLang="zh-CN" sz="2000" b="1" dirty="0" err="1">
                <a:solidFill>
                  <a:schemeClr val="bg1"/>
                </a:solidFill>
                <a:latin typeface="+mn-ea"/>
              </a:rPr>
              <a:t>a.out</a:t>
            </a:r>
            <a:endParaRPr lang="en-US" altLang="zh-CN" sz="2000" b="1" dirty="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Find / -name </a:t>
            </a:r>
            <a:r>
              <a:rPr lang="en-US" altLang="zh-CN" sz="2000" b="1" dirty="0" err="1">
                <a:solidFill>
                  <a:schemeClr val="bg1"/>
                </a:solidFill>
                <a:latin typeface="+mn-ea"/>
              </a:rPr>
              <a:t>ls</a:t>
            </a:r>
            <a:r>
              <a:rPr lang="en-US" altLang="zh-CN" sz="2000" b="1" dirty="0">
                <a:solidFill>
                  <a:schemeClr val="bg1"/>
                </a:solidFill>
                <a:latin typeface="+mn-ea"/>
              </a:rPr>
              <a:t> </a:t>
            </a:r>
            <a:r>
              <a:rPr lang="zh-CN" altLang="en-US" sz="2000" b="1" dirty="0">
                <a:solidFill>
                  <a:schemeClr val="bg1"/>
                </a:solidFill>
                <a:latin typeface="+mn-ea"/>
              </a:rPr>
              <a:t>在根目录下查找</a:t>
            </a:r>
            <a:r>
              <a:rPr lang="en-US" altLang="zh-CN" sz="2000" b="1" dirty="0" err="1">
                <a:solidFill>
                  <a:schemeClr val="bg1"/>
                </a:solidFill>
                <a:latin typeface="+mn-ea"/>
              </a:rPr>
              <a:t>ls</a:t>
            </a:r>
            <a:r>
              <a:rPr lang="zh-CN" altLang="en-US" sz="2000" b="1" dirty="0">
                <a:solidFill>
                  <a:schemeClr val="bg1"/>
                </a:solidFill>
                <a:latin typeface="+mn-ea"/>
              </a:rPr>
              <a:t>文件</a:t>
            </a:r>
          </a:p>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000" b="1" dirty="0" err="1">
                <a:solidFill>
                  <a:schemeClr val="bg1"/>
                </a:solidFill>
                <a:latin typeface="+mn-ea"/>
              </a:rPr>
              <a:t>Grep</a:t>
            </a:r>
            <a:r>
              <a:rPr lang="en-US" altLang="zh-CN" sz="2000" b="1" dirty="0">
                <a:solidFill>
                  <a:schemeClr val="bg1"/>
                </a:solidFill>
                <a:latin typeface="+mn-ea"/>
              </a:rPr>
              <a:t> –F test /</a:t>
            </a:r>
            <a:r>
              <a:rPr lang="en-US" altLang="zh-CN" sz="2000" b="1" dirty="0" err="1">
                <a:solidFill>
                  <a:schemeClr val="bg1"/>
                </a:solidFill>
                <a:latin typeface="+mn-ea"/>
              </a:rPr>
              <a:t>etc</a:t>
            </a:r>
            <a:r>
              <a:rPr lang="en-US" altLang="zh-CN" sz="2000" b="1" dirty="0">
                <a:solidFill>
                  <a:schemeClr val="bg1"/>
                </a:solidFill>
                <a:latin typeface="+mn-ea"/>
              </a:rPr>
              <a:t>/</a:t>
            </a:r>
            <a:r>
              <a:rPr lang="en-US" altLang="zh-CN" sz="2000" b="1" dirty="0" err="1">
                <a:solidFill>
                  <a:schemeClr val="bg1"/>
                </a:solidFill>
                <a:latin typeface="+mn-ea"/>
              </a:rPr>
              <a:t>passwd</a:t>
            </a:r>
            <a:r>
              <a:rPr lang="en-US" altLang="zh-CN" sz="2000" b="1" dirty="0">
                <a:solidFill>
                  <a:schemeClr val="bg1"/>
                </a:solidFill>
                <a:latin typeface="+mn-ea"/>
              </a:rPr>
              <a:t> </a:t>
            </a:r>
            <a:r>
              <a:rPr lang="zh-CN" altLang="en-US" sz="2000" b="1" dirty="0">
                <a:solidFill>
                  <a:schemeClr val="bg1"/>
                </a:solidFill>
                <a:latin typeface="+mn-ea"/>
              </a:rPr>
              <a:t>查找</a:t>
            </a:r>
            <a:r>
              <a:rPr lang="en-US" altLang="zh-CN" sz="2000" b="1" dirty="0">
                <a:solidFill>
                  <a:schemeClr val="bg1"/>
                </a:solidFill>
                <a:latin typeface="+mn-ea"/>
              </a:rPr>
              <a:t>test</a:t>
            </a:r>
            <a:r>
              <a:rPr lang="zh-CN" altLang="en-US" sz="2000" b="1" dirty="0">
                <a:solidFill>
                  <a:schemeClr val="bg1"/>
                </a:solidFill>
                <a:latin typeface="+mn-ea"/>
              </a:rPr>
              <a:t>用户</a:t>
            </a:r>
          </a:p>
        </p:txBody>
      </p:sp>
    </p:spTree>
    <p:extLst>
      <p:ext uri="{BB962C8B-B14F-4D97-AF65-F5344CB8AC3E}">
        <p14:creationId xmlns:p14="http://schemas.microsoft.com/office/powerpoint/2010/main" val="271579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建立并且运行一个脚本 </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780819"/>
            <a:ext cx="63436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extLst>
      <p:ext uri="{BB962C8B-B14F-4D97-AF65-F5344CB8AC3E}">
        <p14:creationId xmlns:p14="http://schemas.microsoft.com/office/powerpoint/2010/main" val="36528170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执行脚本 </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104022"/>
            <a:ext cx="7056784" cy="1477328"/>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正好自己写一下脚本。建立一个目录 </a:t>
            </a:r>
            <a:r>
              <a:rPr lang="en-US" altLang="zh-CN" sz="2000" b="1" dirty="0">
                <a:solidFill>
                  <a:schemeClr val="bg1"/>
                </a:solidFill>
                <a:latin typeface="+mn-ea"/>
              </a:rPr>
              <a:t>~/scripts </a:t>
            </a:r>
            <a:r>
              <a:rPr lang="zh-CN" altLang="en-US" sz="2000" b="1" dirty="0">
                <a:solidFill>
                  <a:schemeClr val="bg1"/>
                </a:solidFill>
                <a:latin typeface="+mn-ea"/>
              </a:rPr>
              <a:t>来存放你的脚本将会是个好主意。把此目录添加到 </a:t>
            </a:r>
            <a:r>
              <a:rPr lang="en-US" altLang="zh-CN" sz="2000" b="1" dirty="0">
                <a:solidFill>
                  <a:schemeClr val="bg1"/>
                </a:solidFill>
                <a:latin typeface="+mn-ea"/>
              </a:rPr>
              <a:t>PATH </a:t>
            </a:r>
            <a:r>
              <a:rPr lang="zh-CN" altLang="en-US" sz="2000" b="1" dirty="0">
                <a:solidFill>
                  <a:schemeClr val="bg1"/>
                </a:solidFill>
                <a:latin typeface="+mn-ea"/>
              </a:rPr>
              <a:t>变量中： </a:t>
            </a:r>
          </a:p>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export PATH="$PATH:~/scripts" </a:t>
            </a:r>
          </a:p>
        </p:txBody>
      </p:sp>
      <p:pic>
        <p:nvPicPr>
          <p:cNvPr id="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715766"/>
            <a:ext cx="61722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extLst>
      <p:ext uri="{BB962C8B-B14F-4D97-AF65-F5344CB8AC3E}">
        <p14:creationId xmlns:p14="http://schemas.microsoft.com/office/powerpoint/2010/main" val="1672453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执行脚本 </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44876"/>
            <a:ext cx="6768752" cy="2973122"/>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这是执行脚本最普通的方法。在子</a:t>
            </a:r>
            <a:r>
              <a:rPr lang="en-US" altLang="zh-CN" sz="2400" b="1" dirty="0">
                <a:solidFill>
                  <a:schemeClr val="bg1"/>
                </a:solidFill>
                <a:latin typeface="+mn-ea"/>
              </a:rPr>
              <a:t>shell</a:t>
            </a:r>
            <a:r>
              <a:rPr lang="zh-CN" altLang="en-US" sz="2400" b="1" dirty="0">
                <a:solidFill>
                  <a:schemeClr val="bg1"/>
                </a:solidFill>
                <a:latin typeface="+mn-ea"/>
              </a:rPr>
              <a:t>中一般都是这么执行脚本。建立在子</a:t>
            </a:r>
            <a:r>
              <a:rPr lang="en-US" altLang="zh-CN" sz="2400" b="1" dirty="0">
                <a:solidFill>
                  <a:schemeClr val="bg1"/>
                </a:solidFill>
                <a:latin typeface="+mn-ea"/>
              </a:rPr>
              <a:t>shell</a:t>
            </a:r>
            <a:r>
              <a:rPr lang="zh-CN" altLang="en-US" sz="2400" b="1" dirty="0">
                <a:solidFill>
                  <a:schemeClr val="bg1"/>
                </a:solidFill>
                <a:latin typeface="+mn-ea"/>
              </a:rPr>
              <a:t>中的变量，函数和别名等只有子</a:t>
            </a:r>
            <a:r>
              <a:rPr lang="en-US" altLang="zh-CN" sz="2400" b="1" dirty="0">
                <a:solidFill>
                  <a:schemeClr val="bg1"/>
                </a:solidFill>
                <a:latin typeface="+mn-ea"/>
              </a:rPr>
              <a:t>shell</a:t>
            </a:r>
            <a:r>
              <a:rPr lang="zh-CN" altLang="en-US" sz="2400" b="1" dirty="0">
                <a:solidFill>
                  <a:schemeClr val="bg1"/>
                </a:solidFill>
                <a:latin typeface="+mn-ea"/>
              </a:rPr>
              <a:t>使用。当那个</a:t>
            </a:r>
            <a:r>
              <a:rPr lang="en-US" altLang="zh-CN" sz="2400" b="1" dirty="0">
                <a:solidFill>
                  <a:schemeClr val="bg1"/>
                </a:solidFill>
                <a:latin typeface="+mn-ea"/>
              </a:rPr>
              <a:t>shell</a:t>
            </a:r>
            <a:r>
              <a:rPr lang="zh-CN" altLang="en-US" sz="2400" b="1" dirty="0">
                <a:solidFill>
                  <a:schemeClr val="bg1"/>
                </a:solidFill>
                <a:latin typeface="+mn-ea"/>
              </a:rPr>
              <a:t>退出，父</a:t>
            </a:r>
            <a:r>
              <a:rPr lang="en-US" altLang="zh-CN" sz="2400" b="1" dirty="0">
                <a:solidFill>
                  <a:schemeClr val="bg1"/>
                </a:solidFill>
                <a:latin typeface="+mn-ea"/>
              </a:rPr>
              <a:t>shell</a:t>
            </a:r>
            <a:r>
              <a:rPr lang="zh-CN" altLang="en-US" sz="2400" b="1" dirty="0">
                <a:solidFill>
                  <a:schemeClr val="bg1"/>
                </a:solidFill>
                <a:latin typeface="+mn-ea"/>
              </a:rPr>
              <a:t>重新得到控制的时候，所有的东西都被清空，脚本对</a:t>
            </a:r>
            <a:r>
              <a:rPr lang="en-US" altLang="zh-CN" sz="2400" b="1" dirty="0">
                <a:solidFill>
                  <a:schemeClr val="bg1"/>
                </a:solidFill>
                <a:latin typeface="+mn-ea"/>
              </a:rPr>
              <a:t>shell</a:t>
            </a:r>
            <a:r>
              <a:rPr lang="zh-CN" altLang="en-US" sz="2400" b="1" dirty="0">
                <a:solidFill>
                  <a:schemeClr val="bg1"/>
                </a:solidFill>
                <a:latin typeface="+mn-ea"/>
              </a:rPr>
              <a:t>状态所作的改变耶全部清除</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7191730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脚本基础</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11560" y="1031423"/>
            <a:ext cx="7128792" cy="3600986"/>
          </a:xfrm>
          <a:prstGeom prst="rect">
            <a:avLst/>
          </a:prstGeom>
        </p:spPr>
        <p:txBody>
          <a:bodyPr wrap="square">
            <a:spAutoFit/>
          </a:bodyPr>
          <a:lstStyle/>
          <a:p>
            <a:pPr marL="0" lvl="1" indent="-285750" algn="just">
              <a:lnSpc>
                <a:spcPct val="114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哪个</a:t>
            </a:r>
            <a:r>
              <a:rPr lang="en-US" altLang="zh-CN" sz="2000" b="1" dirty="0">
                <a:solidFill>
                  <a:schemeClr val="bg1"/>
                </a:solidFill>
                <a:latin typeface="+mn-ea"/>
              </a:rPr>
              <a:t>Shell</a:t>
            </a:r>
            <a:r>
              <a:rPr lang="zh-CN" altLang="en-US" sz="2000" b="1" dirty="0">
                <a:solidFill>
                  <a:schemeClr val="bg1"/>
                </a:solidFill>
                <a:latin typeface="+mn-ea"/>
              </a:rPr>
              <a:t>来执行脚本？ </a:t>
            </a:r>
          </a:p>
          <a:p>
            <a:pPr marL="0" lvl="1" indent="-285750" algn="just">
              <a:lnSpc>
                <a:spcPct val="114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当在子</a:t>
            </a:r>
            <a:r>
              <a:rPr lang="en-US" altLang="zh-CN" sz="2000" b="1" dirty="0">
                <a:solidFill>
                  <a:schemeClr val="bg1"/>
                </a:solidFill>
                <a:latin typeface="+mn-ea"/>
              </a:rPr>
              <a:t>shell</a:t>
            </a:r>
            <a:r>
              <a:rPr lang="zh-CN" altLang="en-US" sz="2000" b="1" dirty="0">
                <a:solidFill>
                  <a:schemeClr val="bg1"/>
                </a:solidFill>
                <a:latin typeface="+mn-ea"/>
              </a:rPr>
              <a:t>运行脚本时，你应该定义哪个</a:t>
            </a:r>
            <a:r>
              <a:rPr lang="en-US" altLang="zh-CN" sz="2000" b="1" dirty="0">
                <a:solidFill>
                  <a:schemeClr val="bg1"/>
                </a:solidFill>
                <a:latin typeface="+mn-ea"/>
              </a:rPr>
              <a:t>shell</a:t>
            </a:r>
            <a:r>
              <a:rPr lang="zh-CN" altLang="en-US" sz="2000" b="1" dirty="0">
                <a:solidFill>
                  <a:schemeClr val="bg1"/>
                </a:solidFill>
                <a:latin typeface="+mn-ea"/>
              </a:rPr>
              <a:t>来运行脚本，你编写的脚本的</a:t>
            </a:r>
            <a:r>
              <a:rPr lang="en-US" altLang="zh-CN" sz="2000" b="1" dirty="0">
                <a:solidFill>
                  <a:schemeClr val="bg1"/>
                </a:solidFill>
                <a:latin typeface="+mn-ea"/>
              </a:rPr>
              <a:t>shell</a:t>
            </a:r>
            <a:r>
              <a:rPr lang="zh-CN" altLang="en-US" sz="2000" b="1" dirty="0">
                <a:solidFill>
                  <a:schemeClr val="bg1"/>
                </a:solidFill>
                <a:latin typeface="+mn-ea"/>
              </a:rPr>
              <a:t>类型可能不是你系统默认的，所以用错误的</a:t>
            </a:r>
            <a:r>
              <a:rPr lang="en-US" altLang="zh-CN" sz="2000" b="1" dirty="0">
                <a:solidFill>
                  <a:schemeClr val="bg1"/>
                </a:solidFill>
                <a:latin typeface="+mn-ea"/>
              </a:rPr>
              <a:t>shell</a:t>
            </a:r>
            <a:r>
              <a:rPr lang="zh-CN" altLang="en-US" sz="2000" b="1" dirty="0">
                <a:solidFill>
                  <a:schemeClr val="bg1"/>
                </a:solidFill>
                <a:latin typeface="+mn-ea"/>
              </a:rPr>
              <a:t>来运行你输入的命令可能最终出错。</a:t>
            </a:r>
          </a:p>
          <a:p>
            <a:pPr marL="0" lvl="1" indent="-285750" algn="just">
              <a:lnSpc>
                <a:spcPct val="114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第一行决定了启动的</a:t>
            </a:r>
            <a:r>
              <a:rPr lang="en-US" altLang="zh-CN" sz="2000" b="1" dirty="0">
                <a:solidFill>
                  <a:schemeClr val="bg1"/>
                </a:solidFill>
                <a:latin typeface="+mn-ea"/>
              </a:rPr>
              <a:t>shell</a:t>
            </a:r>
            <a:r>
              <a:rPr lang="zh-CN" altLang="en-US" sz="2000" b="1" dirty="0">
                <a:solidFill>
                  <a:schemeClr val="bg1"/>
                </a:solidFill>
                <a:latin typeface="+mn-ea"/>
              </a:rPr>
              <a:t>，第一行的开始</a:t>
            </a:r>
            <a:r>
              <a:rPr lang="en-US" altLang="zh-CN" sz="2000" b="1" dirty="0">
                <a:solidFill>
                  <a:schemeClr val="bg1"/>
                </a:solidFill>
                <a:latin typeface="+mn-ea"/>
              </a:rPr>
              <a:t>2</a:t>
            </a:r>
            <a:r>
              <a:rPr lang="zh-CN" altLang="en-US" sz="2000" b="1" dirty="0">
                <a:solidFill>
                  <a:schemeClr val="bg1"/>
                </a:solidFill>
                <a:latin typeface="+mn-ea"/>
              </a:rPr>
              <a:t>个字符应该是</a:t>
            </a:r>
            <a:r>
              <a:rPr lang="en-US" altLang="zh-CN" sz="2000" b="1" dirty="0">
                <a:solidFill>
                  <a:schemeClr val="bg1"/>
                </a:solidFill>
                <a:latin typeface="+mn-ea"/>
              </a:rPr>
              <a:t>#!</a:t>
            </a:r>
            <a:r>
              <a:rPr lang="zh-CN" altLang="en-US" sz="2000" b="1" dirty="0">
                <a:solidFill>
                  <a:schemeClr val="bg1"/>
                </a:solidFill>
                <a:latin typeface="+mn-ea"/>
              </a:rPr>
              <a:t>，然后紧跟解释后面命令的</a:t>
            </a:r>
            <a:r>
              <a:rPr lang="en-US" altLang="zh-CN" sz="2000" b="1" dirty="0">
                <a:solidFill>
                  <a:schemeClr val="bg1"/>
                </a:solidFill>
                <a:latin typeface="+mn-ea"/>
              </a:rPr>
              <a:t>shell</a:t>
            </a:r>
            <a:r>
              <a:rPr lang="zh-CN" altLang="en-US" sz="2000" b="1" dirty="0">
                <a:solidFill>
                  <a:schemeClr val="bg1"/>
                </a:solidFill>
                <a:latin typeface="+mn-ea"/>
              </a:rPr>
              <a:t>的路径。空白行也被认为是一行，所以不要让你的脚本以空白行开始。 </a:t>
            </a:r>
          </a:p>
          <a:p>
            <a:pPr marL="0" lvl="1" indent="-285750" algn="just">
              <a:lnSpc>
                <a:spcPct val="114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例如：</a:t>
            </a:r>
            <a:endParaRPr lang="zh-CN" altLang="en-US" sz="2000" b="1" dirty="0">
              <a:solidFill>
                <a:schemeClr val="bg1"/>
              </a:solidFill>
              <a:latin typeface="+mn-ea"/>
            </a:endParaRPr>
          </a:p>
          <a:p>
            <a:pPr marL="0" lvl="1" algn="just">
              <a:lnSpc>
                <a:spcPct val="114000"/>
              </a:lnSpc>
              <a:buClr>
                <a:schemeClr val="accent6">
                  <a:lumMod val="60000"/>
                  <a:lumOff val="40000"/>
                </a:schemeClr>
              </a:buClr>
            </a:pPr>
            <a:r>
              <a:rPr lang="en-US" altLang="zh-CN" sz="2000" b="1" dirty="0" smtClean="0">
                <a:solidFill>
                  <a:schemeClr val="bg1"/>
                </a:solidFill>
                <a:latin typeface="+mn-ea"/>
              </a:rPr>
              <a:t>  #!/</a:t>
            </a:r>
            <a:r>
              <a:rPr lang="en-US" altLang="zh-CN" sz="2000" b="1" dirty="0">
                <a:solidFill>
                  <a:schemeClr val="bg1"/>
                </a:solidFill>
                <a:latin typeface="+mn-ea"/>
              </a:rPr>
              <a:t>bin/bash </a:t>
            </a:r>
          </a:p>
          <a:p>
            <a:pPr marL="0" lvl="1" algn="just">
              <a:lnSpc>
                <a:spcPct val="114000"/>
              </a:lnSpc>
              <a:buClr>
                <a:schemeClr val="accent6">
                  <a:lumMod val="60000"/>
                  <a:lumOff val="40000"/>
                </a:schemeClr>
              </a:buClr>
            </a:pPr>
            <a:r>
              <a:rPr lang="zh-CN" altLang="en-US" sz="2000" b="1" dirty="0" smtClean="0">
                <a:solidFill>
                  <a:schemeClr val="bg1"/>
                </a:solidFill>
                <a:latin typeface="+mn-ea"/>
              </a:rPr>
              <a:t>  表明</a:t>
            </a:r>
            <a:r>
              <a:rPr lang="en-US" altLang="zh-CN" sz="2000" b="1" dirty="0">
                <a:solidFill>
                  <a:schemeClr val="bg1"/>
                </a:solidFill>
                <a:latin typeface="+mn-ea"/>
              </a:rPr>
              <a:t>Bash</a:t>
            </a:r>
            <a:r>
              <a:rPr lang="zh-CN" altLang="en-US" sz="2000" b="1" dirty="0">
                <a:solidFill>
                  <a:schemeClr val="bg1"/>
                </a:solidFill>
                <a:latin typeface="+mn-ea"/>
              </a:rPr>
              <a:t>可以在 </a:t>
            </a:r>
            <a:r>
              <a:rPr lang="en-US" altLang="zh-CN" sz="2000" b="1" dirty="0">
                <a:solidFill>
                  <a:schemeClr val="bg1"/>
                </a:solidFill>
                <a:latin typeface="+mn-ea"/>
              </a:rPr>
              <a:t>/bin </a:t>
            </a:r>
            <a:r>
              <a:rPr lang="zh-CN" altLang="en-US" sz="2000" b="1" dirty="0">
                <a:solidFill>
                  <a:schemeClr val="bg1"/>
                </a:solidFill>
                <a:latin typeface="+mn-ea"/>
              </a:rPr>
              <a:t>里面找到。</a:t>
            </a:r>
          </a:p>
        </p:txBody>
      </p:sp>
    </p:spTree>
    <p:extLst>
      <p:ext uri="{BB962C8B-B14F-4D97-AF65-F5344CB8AC3E}">
        <p14:creationId xmlns:p14="http://schemas.microsoft.com/office/powerpoint/2010/main" val="29484710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加入注释</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279503"/>
            <a:ext cx="7128792" cy="3251852"/>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你应该知道事实上你不会阅读你自己脚本的唯一的一个人。很多用户和系统管理员运行别人编写的脚本。如果他们想知道你是如何做到的，注释能很好的提醒读者。</a:t>
            </a: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注释也同样让你自己更方便。你一定阅读了很多帮助页面通过脚本中的一些命令来得到特定的结果。如果不对脚本加上注释，几个星期或者几个月后你需要更改你的脚本，你会忘记脚本做了些什么事，你怎么做的和为什么要这么做。</a:t>
            </a:r>
          </a:p>
        </p:txBody>
      </p:sp>
    </p:spTree>
    <p:extLst>
      <p:ext uri="{BB962C8B-B14F-4D97-AF65-F5344CB8AC3E}">
        <p14:creationId xmlns:p14="http://schemas.microsoft.com/office/powerpoint/2010/main" val="34197987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加入注释</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087" y="349835"/>
            <a:ext cx="657225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extLst>
      <p:ext uri="{BB962C8B-B14F-4D97-AF65-F5344CB8AC3E}">
        <p14:creationId xmlns:p14="http://schemas.microsoft.com/office/powerpoint/2010/main" val="2597794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的命令控制界面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81469"/>
            <a:ext cx="6912768" cy="2862322"/>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en-US" altLang="zh-CN" sz="2400" b="1" dirty="0" smtClean="0">
                <a:solidFill>
                  <a:schemeClr val="bg1"/>
                </a:solidFill>
                <a:latin typeface="+mn-ea"/>
              </a:rPr>
              <a:t>Windows</a:t>
            </a:r>
            <a:r>
              <a:rPr lang="zh-CN" altLang="en-US" sz="2400" b="1" dirty="0" smtClean="0">
                <a:solidFill>
                  <a:schemeClr val="bg1"/>
                </a:solidFill>
                <a:latin typeface="+mn-ea"/>
              </a:rPr>
              <a:t>通过自带的</a:t>
            </a:r>
            <a:r>
              <a:rPr lang="zh-CN" altLang="en-US" sz="2400" b="1" dirty="0" smtClean="0">
                <a:solidFill>
                  <a:srgbClr val="FFFF00"/>
                </a:solidFill>
                <a:latin typeface="+mn-ea"/>
              </a:rPr>
              <a:t>命令行解释器</a:t>
            </a:r>
            <a:r>
              <a:rPr lang="en-US" altLang="zh-CN" sz="2400" b="1" dirty="0" smtClean="0">
                <a:solidFill>
                  <a:srgbClr val="FFFF00"/>
                </a:solidFill>
                <a:latin typeface="+mn-ea"/>
              </a:rPr>
              <a:t>cmd.exe</a:t>
            </a:r>
            <a:r>
              <a:rPr lang="zh-CN" altLang="en-US" sz="2400" b="1" dirty="0" smtClean="0">
                <a:solidFill>
                  <a:schemeClr val="bg1"/>
                </a:solidFill>
                <a:latin typeface="+mn-ea"/>
              </a:rPr>
              <a:t>为用户提供了功能强大的命令行控制界面，用户可以通过输入命令来对</a:t>
            </a:r>
            <a:r>
              <a:rPr lang="en-US" altLang="zh-CN" sz="2400" b="1" dirty="0" smtClean="0">
                <a:solidFill>
                  <a:schemeClr val="bg1"/>
                </a:solidFill>
                <a:latin typeface="+mn-ea"/>
              </a:rPr>
              <a:t>Windows</a:t>
            </a:r>
            <a:r>
              <a:rPr lang="zh-CN" altLang="en-US" sz="2400" b="1" dirty="0" smtClean="0">
                <a:solidFill>
                  <a:schemeClr val="bg1"/>
                </a:solidFill>
                <a:latin typeface="+mn-ea"/>
              </a:rPr>
              <a:t>操作系统进行控制和使用。</a:t>
            </a:r>
            <a:endParaRPr lang="en-US" altLang="zh-CN" sz="2400" b="1" dirty="0" smtClean="0">
              <a:solidFill>
                <a:schemeClr val="bg1"/>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每个命令有不同的功能，不同的命令可以按照下面的形式进行组合从而形成新的命令。</a:t>
            </a:r>
            <a:endParaRPr lang="zh-CN" altLang="en-US" sz="2400" b="1" dirty="0">
              <a:solidFill>
                <a:schemeClr val="bg1"/>
              </a:solidFill>
              <a:latin typeface="+mn-ea"/>
            </a:endParaRPr>
          </a:p>
        </p:txBody>
      </p:sp>
    </p:spTree>
    <p:extLst>
      <p:ext uri="{BB962C8B-B14F-4D97-AF65-F5344CB8AC3E}">
        <p14:creationId xmlns:p14="http://schemas.microsoft.com/office/powerpoint/2010/main" val="15684944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的命令控制界面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81469"/>
            <a:ext cx="6912768" cy="3416320"/>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en-US" altLang="zh-CN" sz="2400" b="1" dirty="0" smtClean="0">
                <a:solidFill>
                  <a:srgbClr val="FFFF00"/>
                </a:solidFill>
                <a:latin typeface="+mn-ea"/>
              </a:rPr>
              <a:t>Command1 &amp; Command2</a:t>
            </a:r>
            <a:r>
              <a:rPr lang="zh-CN" altLang="en-US" sz="2400" b="1" dirty="0" smtClean="0">
                <a:solidFill>
                  <a:srgbClr val="FFFF00"/>
                </a:solidFill>
                <a:latin typeface="+mn-ea"/>
              </a:rPr>
              <a:t>：</a:t>
            </a:r>
            <a:r>
              <a:rPr lang="zh-CN" altLang="en-US" sz="2400" b="1" dirty="0" smtClean="0">
                <a:solidFill>
                  <a:schemeClr val="bg1"/>
                </a:solidFill>
                <a:latin typeface="+mn-ea"/>
              </a:rPr>
              <a:t>用来分隔一个命令行中的多个命令。即</a:t>
            </a:r>
            <a:r>
              <a:rPr lang="en-US" altLang="zh-CN" sz="2400" b="1" dirty="0" smtClean="0">
                <a:solidFill>
                  <a:schemeClr val="bg1"/>
                </a:solidFill>
                <a:latin typeface="+mn-ea"/>
              </a:rPr>
              <a:t>cmd.exe</a:t>
            </a:r>
            <a:r>
              <a:rPr lang="zh-CN" altLang="en-US" sz="2400" b="1" dirty="0" smtClean="0">
                <a:solidFill>
                  <a:schemeClr val="bg1"/>
                </a:solidFill>
                <a:latin typeface="+mn-ea"/>
              </a:rPr>
              <a:t>运行第一个命令，然后运行第二个命令。</a:t>
            </a:r>
            <a:endParaRPr lang="en-US" altLang="zh-CN" sz="2400" b="1" dirty="0" smtClean="0">
              <a:solidFill>
                <a:schemeClr val="bg1"/>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en-US" altLang="zh-CN" sz="2400" b="1" dirty="0">
                <a:solidFill>
                  <a:srgbClr val="FFFF00"/>
                </a:solidFill>
                <a:latin typeface="+mn-ea"/>
              </a:rPr>
              <a:t>Command1 </a:t>
            </a:r>
            <a:r>
              <a:rPr lang="en-US" altLang="zh-CN" sz="2400" b="1" dirty="0" smtClean="0">
                <a:solidFill>
                  <a:srgbClr val="FFFF00"/>
                </a:solidFill>
                <a:latin typeface="+mn-ea"/>
              </a:rPr>
              <a:t>&amp;&amp; Command2</a:t>
            </a:r>
            <a:r>
              <a:rPr lang="zh-CN" altLang="en-US" sz="2400" b="1" dirty="0" smtClean="0">
                <a:solidFill>
                  <a:srgbClr val="FFFF00"/>
                </a:solidFill>
                <a:latin typeface="+mn-ea"/>
              </a:rPr>
              <a:t>：</a:t>
            </a:r>
            <a:r>
              <a:rPr lang="zh-CN" altLang="en-US" sz="2400" b="1" dirty="0" smtClean="0">
                <a:solidFill>
                  <a:schemeClr val="bg1"/>
                </a:solidFill>
                <a:latin typeface="+mn-ea"/>
              </a:rPr>
              <a:t>只有在符号</a:t>
            </a:r>
            <a:r>
              <a:rPr lang="en-US" altLang="zh-CN" sz="2400" b="1" dirty="0" smtClean="0">
                <a:solidFill>
                  <a:schemeClr val="bg1"/>
                </a:solidFill>
                <a:latin typeface="+mn-ea"/>
              </a:rPr>
              <a:t>&amp;&amp;</a:t>
            </a:r>
            <a:r>
              <a:rPr lang="zh-CN" altLang="en-US" sz="2400" b="1" dirty="0" smtClean="0">
                <a:solidFill>
                  <a:schemeClr val="bg1"/>
                </a:solidFill>
                <a:latin typeface="+mn-ea"/>
              </a:rPr>
              <a:t>前面的命令行运行成功时，才运行符号</a:t>
            </a:r>
            <a:r>
              <a:rPr lang="en-US" altLang="zh-CN" sz="2400" b="1" dirty="0" smtClean="0">
                <a:solidFill>
                  <a:schemeClr val="bg1"/>
                </a:solidFill>
                <a:latin typeface="+mn-ea"/>
              </a:rPr>
              <a:t>&amp;&amp;</a:t>
            </a:r>
            <a:r>
              <a:rPr lang="zh-CN" altLang="en-US" sz="2400" b="1" dirty="0" smtClean="0">
                <a:solidFill>
                  <a:schemeClr val="bg1"/>
                </a:solidFill>
                <a:latin typeface="+mn-ea"/>
              </a:rPr>
              <a:t>后面的命令</a:t>
            </a:r>
            <a:r>
              <a:rPr lang="en-US" altLang="zh-CN" sz="2400" b="1" dirty="0" smtClean="0">
                <a:solidFill>
                  <a:schemeClr val="bg1"/>
                </a:solidFill>
                <a:latin typeface="+mn-ea"/>
              </a:rPr>
              <a:t>(</a:t>
            </a:r>
            <a:r>
              <a:rPr lang="zh-CN" altLang="en-US" sz="2400" b="1" dirty="0" smtClean="0">
                <a:solidFill>
                  <a:schemeClr val="bg1"/>
                </a:solidFill>
                <a:latin typeface="+mn-ea"/>
              </a:rPr>
              <a:t>不同的版本的</a:t>
            </a:r>
            <a:r>
              <a:rPr lang="en-US" altLang="zh-CN" sz="2400" b="1" dirty="0" smtClean="0">
                <a:solidFill>
                  <a:schemeClr val="bg1"/>
                </a:solidFill>
                <a:latin typeface="+mn-ea"/>
              </a:rPr>
              <a:t>windows</a:t>
            </a:r>
            <a:r>
              <a:rPr lang="zh-CN" altLang="en-US" sz="2400" b="1" dirty="0" smtClean="0">
                <a:solidFill>
                  <a:schemeClr val="bg1"/>
                </a:solidFill>
                <a:latin typeface="+mn-ea"/>
              </a:rPr>
              <a:t>操作系统中会有不同）。</a:t>
            </a:r>
            <a:endParaRPr lang="zh-CN" altLang="en-US" sz="2400" b="1" dirty="0">
              <a:solidFill>
                <a:schemeClr val="bg1"/>
              </a:solidFill>
              <a:latin typeface="+mn-ea"/>
            </a:endParaRPr>
          </a:p>
        </p:txBody>
      </p:sp>
    </p:spTree>
    <p:extLst>
      <p:ext uri="{BB962C8B-B14F-4D97-AF65-F5344CB8AC3E}">
        <p14:creationId xmlns:p14="http://schemas.microsoft.com/office/powerpoint/2010/main" val="16744916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的命令控制界面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81469"/>
            <a:ext cx="6984776" cy="3139321"/>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en-US" altLang="zh-CN" sz="2200" b="1" dirty="0" smtClean="0">
                <a:solidFill>
                  <a:srgbClr val="FFFF00"/>
                </a:solidFill>
                <a:latin typeface="+mn-ea"/>
              </a:rPr>
              <a:t>Command1 || Command2</a:t>
            </a:r>
            <a:r>
              <a:rPr lang="zh-CN" altLang="en-US" sz="2200" b="1" dirty="0" smtClean="0">
                <a:solidFill>
                  <a:srgbClr val="FFFF00"/>
                </a:solidFill>
                <a:latin typeface="+mn-ea"/>
              </a:rPr>
              <a:t>：</a:t>
            </a:r>
            <a:r>
              <a:rPr lang="zh-CN" altLang="en-US" sz="2200" b="1" dirty="0" smtClean="0">
                <a:solidFill>
                  <a:schemeClr val="bg1"/>
                </a:solidFill>
                <a:latin typeface="+mn-ea"/>
              </a:rPr>
              <a:t>只有在符号</a:t>
            </a:r>
            <a:r>
              <a:rPr lang="en-US" altLang="zh-CN" sz="2200" b="1" dirty="0" smtClean="0">
                <a:solidFill>
                  <a:schemeClr val="bg1"/>
                </a:solidFill>
                <a:latin typeface="+mn-ea"/>
              </a:rPr>
              <a:t>||</a:t>
            </a:r>
            <a:r>
              <a:rPr lang="zh-CN" altLang="en-US" sz="2200" b="1" dirty="0" smtClean="0">
                <a:solidFill>
                  <a:schemeClr val="bg1"/>
                </a:solidFill>
                <a:latin typeface="+mn-ea"/>
              </a:rPr>
              <a:t>前面的命令运行失败时，才运行符号</a:t>
            </a:r>
            <a:r>
              <a:rPr lang="en-US" altLang="zh-CN" sz="2200" b="1" dirty="0" smtClean="0">
                <a:solidFill>
                  <a:schemeClr val="bg1"/>
                </a:solidFill>
                <a:latin typeface="+mn-ea"/>
              </a:rPr>
              <a:t>||</a:t>
            </a:r>
            <a:r>
              <a:rPr lang="zh-CN" altLang="en-US" sz="2200" b="1" dirty="0" smtClean="0">
                <a:solidFill>
                  <a:schemeClr val="bg1"/>
                </a:solidFill>
                <a:latin typeface="+mn-ea"/>
              </a:rPr>
              <a:t>后面的命令（自己試一下）。</a:t>
            </a:r>
            <a:endParaRPr lang="en-US" altLang="zh-CN" sz="2200" b="1" dirty="0" smtClean="0">
              <a:solidFill>
                <a:schemeClr val="bg1"/>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zh-CN" altLang="en-US" sz="2200" b="1" dirty="0" smtClean="0">
                <a:solidFill>
                  <a:srgbClr val="FFFF00"/>
                </a:solidFill>
                <a:latin typeface="+mn-ea"/>
              </a:rPr>
              <a:t>（</a:t>
            </a:r>
            <a:r>
              <a:rPr lang="en-US" altLang="zh-CN" sz="2200" b="1" dirty="0" smtClean="0">
                <a:solidFill>
                  <a:srgbClr val="FFFF00"/>
                </a:solidFill>
                <a:latin typeface="+mn-ea"/>
              </a:rPr>
              <a:t>Command1 &amp; Command2</a:t>
            </a:r>
            <a:r>
              <a:rPr lang="zh-CN" altLang="en-US" sz="2200" b="1" dirty="0" smtClean="0">
                <a:solidFill>
                  <a:srgbClr val="FFFF00"/>
                </a:solidFill>
                <a:latin typeface="+mn-ea"/>
              </a:rPr>
              <a:t>）：</a:t>
            </a:r>
            <a:r>
              <a:rPr lang="zh-CN" altLang="en-US" sz="2200" b="1" dirty="0" smtClean="0">
                <a:solidFill>
                  <a:schemeClr val="bg1"/>
                </a:solidFill>
                <a:latin typeface="+mn-ea"/>
              </a:rPr>
              <a:t>用户分组或嵌套多个</a:t>
            </a:r>
            <a:r>
              <a:rPr lang="zh-CN" altLang="en-US" sz="2200" b="1" dirty="0">
                <a:solidFill>
                  <a:schemeClr val="bg1"/>
                </a:solidFill>
                <a:latin typeface="+mn-ea"/>
              </a:rPr>
              <a:t>命令（自己試一下） 。</a:t>
            </a:r>
            <a:endParaRPr lang="en-US" altLang="zh-CN" sz="2200" b="1" dirty="0" smtClean="0">
              <a:solidFill>
                <a:schemeClr val="bg1"/>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en-US" altLang="zh-CN" sz="2200" b="1" dirty="0">
                <a:solidFill>
                  <a:srgbClr val="FFFF00"/>
                </a:solidFill>
                <a:latin typeface="+mn-ea"/>
              </a:rPr>
              <a:t>Command1 </a:t>
            </a:r>
            <a:r>
              <a:rPr lang="en-US" altLang="zh-CN" sz="2200" b="1" dirty="0" smtClean="0">
                <a:solidFill>
                  <a:srgbClr val="FFFF00"/>
                </a:solidFill>
                <a:latin typeface="+mn-ea"/>
              </a:rPr>
              <a:t>parameter1</a:t>
            </a:r>
            <a:r>
              <a:rPr lang="zh-CN" altLang="en-US" sz="2200" b="1" dirty="0" smtClean="0">
                <a:solidFill>
                  <a:srgbClr val="FFFF00"/>
                </a:solidFill>
                <a:latin typeface="+mn-ea"/>
              </a:rPr>
              <a:t>；</a:t>
            </a:r>
            <a:r>
              <a:rPr lang="en-US" altLang="zh-CN" sz="2200" b="1" dirty="0" smtClean="0">
                <a:solidFill>
                  <a:srgbClr val="FFFF00"/>
                </a:solidFill>
                <a:latin typeface="+mn-ea"/>
              </a:rPr>
              <a:t>parameter2</a:t>
            </a:r>
            <a:r>
              <a:rPr lang="zh-CN" altLang="en-US" sz="2200" b="1" dirty="0" smtClean="0">
                <a:solidFill>
                  <a:srgbClr val="FFFF00"/>
                </a:solidFill>
                <a:latin typeface="+mn-ea"/>
              </a:rPr>
              <a:t>：</a:t>
            </a:r>
            <a:r>
              <a:rPr lang="zh-CN" altLang="en-US" sz="2200" b="1" dirty="0">
                <a:solidFill>
                  <a:schemeClr val="bg1"/>
                </a:solidFill>
                <a:latin typeface="+mn-ea"/>
              </a:rPr>
              <a:t>用分号（；）分隔命令参数。</a:t>
            </a:r>
          </a:p>
        </p:txBody>
      </p:sp>
    </p:spTree>
    <p:extLst>
      <p:ext uri="{BB962C8B-B14F-4D97-AF65-F5344CB8AC3E}">
        <p14:creationId xmlns:p14="http://schemas.microsoft.com/office/powerpoint/2010/main" val="12200612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直接在命令行输入命令</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81469"/>
            <a:ext cx="6912768" cy="1754326"/>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用户运行</a:t>
            </a:r>
            <a:r>
              <a:rPr lang="en-US" altLang="zh-CN" sz="2400" b="1" dirty="0" smtClean="0">
                <a:solidFill>
                  <a:srgbClr val="FFFF00"/>
                </a:solidFill>
                <a:latin typeface="+mn-ea"/>
              </a:rPr>
              <a:t>cmd.exe</a:t>
            </a:r>
            <a:r>
              <a:rPr lang="zh-CN" altLang="en-US" sz="2400" b="1" dirty="0" smtClean="0">
                <a:solidFill>
                  <a:srgbClr val="FFFF00"/>
                </a:solidFill>
                <a:latin typeface="+mn-ea"/>
              </a:rPr>
              <a:t>进入命令行界面</a:t>
            </a:r>
            <a:endParaRPr lang="en-US" altLang="zh-CN" sz="2400" b="1" dirty="0" smtClean="0">
              <a:solidFill>
                <a:srgbClr val="FFFF00"/>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en-US" altLang="zh-CN" sz="2400" b="1" dirty="0" err="1" smtClean="0">
                <a:solidFill>
                  <a:srgbClr val="FFFF00"/>
                </a:solidFill>
                <a:latin typeface="+mn-ea"/>
              </a:rPr>
              <a:t>Systeminfo</a:t>
            </a:r>
            <a:r>
              <a:rPr lang="en-US" altLang="zh-CN" sz="2400" b="1" dirty="0" smtClean="0">
                <a:solidFill>
                  <a:srgbClr val="FFFF00"/>
                </a:solidFill>
                <a:latin typeface="+mn-ea"/>
              </a:rPr>
              <a:t> &amp; </a:t>
            </a:r>
            <a:r>
              <a:rPr lang="en-US" altLang="zh-CN" sz="2400" b="1" dirty="0" err="1" smtClean="0">
                <a:solidFill>
                  <a:srgbClr val="FFFF00"/>
                </a:solidFill>
                <a:latin typeface="+mn-ea"/>
              </a:rPr>
              <a:t>mem</a:t>
            </a:r>
            <a:r>
              <a:rPr lang="zh-CN" altLang="en-US" sz="2400" b="1" dirty="0" smtClean="0">
                <a:solidFill>
                  <a:srgbClr val="FFFF00"/>
                </a:solidFill>
                <a:latin typeface="+mn-ea"/>
              </a:rPr>
              <a:t>：</a:t>
            </a:r>
            <a:r>
              <a:rPr lang="zh-CN" altLang="en-US" sz="2400" b="1" dirty="0" smtClean="0">
                <a:solidFill>
                  <a:schemeClr val="bg1"/>
                </a:solidFill>
                <a:latin typeface="+mn-ea"/>
              </a:rPr>
              <a:t>显示当前系统的属性和配置等，然后显示当前内存的使用情况。</a:t>
            </a:r>
            <a:endParaRPr lang="zh-CN" altLang="en-US" sz="2400" b="1" dirty="0">
              <a:solidFill>
                <a:schemeClr val="bg1"/>
              </a:solidFill>
              <a:latin typeface="+mn-ea"/>
            </a:endParaRPr>
          </a:p>
        </p:txBody>
      </p:sp>
    </p:spTree>
    <p:extLst>
      <p:ext uri="{BB962C8B-B14F-4D97-AF65-F5344CB8AC3E}">
        <p14:creationId xmlns:p14="http://schemas.microsoft.com/office/powerpoint/2010/main" val="15791559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使用批处理文件</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81469"/>
            <a:ext cx="2520280" cy="2862322"/>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建立批处理文件（</a:t>
            </a:r>
            <a:r>
              <a:rPr lang="en-US" altLang="zh-CN" sz="2400" b="1" dirty="0" smtClean="0">
                <a:solidFill>
                  <a:srgbClr val="FFFF00"/>
                </a:solidFill>
                <a:latin typeface="+mn-ea"/>
              </a:rPr>
              <a:t>.bat </a:t>
            </a:r>
            <a:r>
              <a:rPr lang="zh-CN" altLang="en-US" sz="2400" b="1" dirty="0" smtClean="0">
                <a:solidFill>
                  <a:srgbClr val="FFFF00"/>
                </a:solidFill>
                <a:latin typeface="+mn-ea"/>
              </a:rPr>
              <a:t>或 </a:t>
            </a:r>
            <a:r>
              <a:rPr lang="en-US" altLang="zh-CN" sz="2400" b="1" dirty="0" smtClean="0">
                <a:solidFill>
                  <a:srgbClr val="FFFF00"/>
                </a:solidFill>
                <a:latin typeface="+mn-ea"/>
              </a:rPr>
              <a:t>.</a:t>
            </a:r>
            <a:r>
              <a:rPr lang="en-US" altLang="zh-CN" sz="2400" b="1" dirty="0" err="1" smtClean="0">
                <a:solidFill>
                  <a:srgbClr val="FFFF00"/>
                </a:solidFill>
                <a:latin typeface="+mn-ea"/>
              </a:rPr>
              <a:t>cmd</a:t>
            </a:r>
            <a:r>
              <a:rPr lang="zh-CN" altLang="en-US" sz="2400" b="1" dirty="0" smtClean="0">
                <a:solidFill>
                  <a:srgbClr val="FFFF00"/>
                </a:solidFill>
                <a:latin typeface="+mn-ea"/>
              </a:rPr>
              <a:t>）</a:t>
            </a:r>
            <a:endParaRPr lang="en-US" altLang="zh-CN" sz="2400" b="1" dirty="0" smtClean="0">
              <a:solidFill>
                <a:srgbClr val="FFFF00"/>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双击批处理文件的名字</a:t>
            </a:r>
            <a:endParaRPr lang="zh-CN" altLang="en-US" sz="2400" b="1" dirty="0">
              <a:solidFill>
                <a:schemeClr val="bg1"/>
              </a:solidFill>
              <a:latin typeface="+mn-ea"/>
            </a:endParaRPr>
          </a:p>
        </p:txBody>
      </p:sp>
      <p:pic>
        <p:nvPicPr>
          <p:cNvPr id="2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1087564"/>
            <a:ext cx="4726127" cy="3518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5683657" y="3363838"/>
            <a:ext cx="2200711" cy="1008112"/>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b="1" dirty="0" smtClean="0"/>
              <a:t>注意：</a:t>
            </a:r>
            <a:r>
              <a:rPr lang="en-US" altLang="zh-CN" b="1" dirty="0" smtClean="0"/>
              <a:t>win 10 </a:t>
            </a:r>
            <a:r>
              <a:rPr lang="zh-CN" altLang="en-US" b="1" dirty="0" smtClean="0"/>
              <a:t>：</a:t>
            </a:r>
            <a:r>
              <a:rPr lang="en-US" altLang="zh-CN" b="1" dirty="0" err="1" smtClean="0"/>
              <a:t>wmic</a:t>
            </a:r>
            <a:r>
              <a:rPr lang="en-US" altLang="zh-CN" b="1" dirty="0" smtClean="0"/>
              <a:t> </a:t>
            </a:r>
            <a:r>
              <a:rPr lang="en-US" altLang="zh-CN" b="1" dirty="0" err="1"/>
              <a:t>memorychip</a:t>
            </a:r>
            <a:endParaRPr lang="zh-CN" altLang="en-US" b="1" dirty="0"/>
          </a:p>
        </p:txBody>
      </p:sp>
    </p:spTree>
    <p:extLst>
      <p:ext uri="{BB962C8B-B14F-4D97-AF65-F5344CB8AC3E}">
        <p14:creationId xmlns:p14="http://schemas.microsoft.com/office/powerpoint/2010/main" val="295114323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0150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使用批处理文件</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思考</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87624" y="1419622"/>
            <a:ext cx="6192688" cy="2862322"/>
          </a:xfrm>
          <a:prstGeom prst="rect">
            <a:avLst/>
          </a:prstGeom>
        </p:spPr>
        <p:txBody>
          <a:bodyPr wrap="square">
            <a:spAutoFit/>
          </a:bodyPr>
          <a:lstStyle/>
          <a:p>
            <a:pPr marL="0" lvl="1">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将路由信息保存在</a:t>
            </a:r>
            <a:r>
              <a:rPr lang="en-US" altLang="zh-CN" sz="2400" b="1" dirty="0" smtClean="0">
                <a:solidFill>
                  <a:schemeClr val="bg1"/>
                </a:solidFill>
                <a:latin typeface="+mn-ea"/>
              </a:rPr>
              <a:t>test</a:t>
            </a:r>
            <a:r>
              <a:rPr lang="zh-CN" altLang="en-US" sz="2400" b="1" dirty="0" smtClean="0">
                <a:solidFill>
                  <a:schemeClr val="bg1"/>
                </a:solidFill>
                <a:latin typeface="+mn-ea"/>
              </a:rPr>
              <a:t>文件夹下，并在屏幕上将</a:t>
            </a:r>
            <a:r>
              <a:rPr lang="en-US" altLang="zh-CN" sz="2400" b="1" dirty="0" smtClean="0">
                <a:solidFill>
                  <a:schemeClr val="bg1"/>
                </a:solidFill>
                <a:latin typeface="+mn-ea"/>
              </a:rPr>
              <a:t>test</a:t>
            </a:r>
            <a:r>
              <a:rPr lang="zh-CN" altLang="en-US" sz="2400" b="1" dirty="0" smtClean="0">
                <a:solidFill>
                  <a:schemeClr val="bg1"/>
                </a:solidFill>
                <a:latin typeface="+mn-ea"/>
              </a:rPr>
              <a:t>文件夹下以</a:t>
            </a:r>
            <a:r>
              <a:rPr lang="en-US" altLang="zh-CN" sz="2400" b="1" dirty="0" smtClean="0">
                <a:solidFill>
                  <a:schemeClr val="bg1"/>
                </a:solidFill>
                <a:latin typeface="+mn-ea"/>
              </a:rPr>
              <a:t>txt</a:t>
            </a:r>
            <a:r>
              <a:rPr lang="zh-CN" altLang="en-US" sz="2400" b="1" dirty="0" smtClean="0">
                <a:solidFill>
                  <a:schemeClr val="bg1"/>
                </a:solidFill>
                <a:latin typeface="+mn-ea"/>
              </a:rPr>
              <a:t>为扩展名的文件内容打印出来。</a:t>
            </a:r>
            <a:endParaRPr lang="en-US" altLang="zh-CN" sz="2400" b="1" dirty="0">
              <a:solidFill>
                <a:schemeClr val="bg1"/>
              </a:solidFill>
              <a:latin typeface="+mn-ea"/>
            </a:endParaRPr>
          </a:p>
          <a:p>
            <a:pPr marL="0" lvl="1">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模仿书上例题，将上述批处理文件改写为三个批处理文件，并调用（下节课提问）。</a:t>
            </a:r>
            <a:endParaRPr lang="zh-CN" altLang="en-US" sz="2400" b="1" dirty="0">
              <a:solidFill>
                <a:schemeClr val="bg1"/>
              </a:solidFill>
              <a:latin typeface="+mn-ea"/>
            </a:endParaRPr>
          </a:p>
        </p:txBody>
      </p:sp>
    </p:spTree>
    <p:extLst>
      <p:ext uri="{BB962C8B-B14F-4D97-AF65-F5344CB8AC3E}">
        <p14:creationId xmlns:p14="http://schemas.microsoft.com/office/powerpoint/2010/main" val="39170553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9"/>
            <a:ext cx="4724400" cy="833438"/>
            <a:chOff x="1296" y="1824"/>
            <a:chExt cx="2976" cy="525"/>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407"/>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简介及一般用户的输入输出界面</a:t>
              </a:r>
              <a:endParaRPr lang="en-US" altLang="zh-CN" b="1" dirty="0">
                <a:solidFill>
                  <a:srgbClr val="000000"/>
                </a:solidFill>
              </a:endParaRPr>
            </a:p>
            <a:p>
              <a:pPr algn="ctr" eaLnBrk="0" hangingPunct="0"/>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命令控制界面</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1"/>
            </a:xfrm>
            <a:prstGeom prst="rect">
              <a:avLst/>
            </a:prstGeom>
            <a:noFill/>
            <a:ln w="9525" algn="ctr">
              <a:noFill/>
              <a:miter lim="800000"/>
              <a:headEnd/>
              <a:tailEnd/>
            </a:ln>
            <a:effectLst/>
          </p:spPr>
          <p:txBody>
            <a:bodyPr>
              <a:spAutoFit/>
            </a:bodyPr>
            <a:lstStyle/>
            <a:p>
              <a:pPr algn="ctr" eaLnBrk="0" hangingPunct="0"/>
              <a:r>
                <a:rPr lang="zh-CN" altLang="en-US" b="1" dirty="0">
                  <a:solidFill>
                    <a:srgbClr val="000000"/>
                  </a:solidFill>
                </a:rPr>
                <a:t>系统调用</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a:solidFill>
                    <a:srgbClr val="000000"/>
                  </a:solidFill>
                </a:rPr>
                <a:t>Windows</a:t>
              </a:r>
              <a:r>
                <a:rPr lang="zh-CN" altLang="en-US" b="1" dirty="0">
                  <a:solidFill>
                    <a:srgbClr val="000000"/>
                  </a:solidFill>
                </a:rPr>
                <a:t>的命令控制</a:t>
              </a:r>
              <a:r>
                <a:rPr lang="zh-CN" altLang="en-US" b="1" dirty="0" smtClean="0">
                  <a:solidFill>
                    <a:srgbClr val="000000"/>
                  </a:solidFill>
                </a:rPr>
                <a:t>界面</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en-US" altLang="zh-CN" b="1" dirty="0">
                  <a:solidFill>
                    <a:srgbClr val="000000"/>
                  </a:solidFill>
                </a:rPr>
                <a:t>Linux</a:t>
              </a:r>
              <a:r>
                <a:rPr lang="zh-CN" altLang="en-US" b="1" dirty="0">
                  <a:solidFill>
                    <a:srgbClr val="000000"/>
                  </a:solidFill>
                </a:rPr>
                <a:t>与</a:t>
              </a:r>
              <a:r>
                <a:rPr lang="en-US" altLang="zh-CN" b="1" dirty="0">
                  <a:solidFill>
                    <a:srgbClr val="000000"/>
                  </a:solidFill>
                </a:rPr>
                <a:t>Windows</a:t>
              </a:r>
              <a:r>
                <a:rPr lang="zh-CN" altLang="en-US" b="1" dirty="0" smtClean="0">
                  <a:solidFill>
                    <a:srgbClr val="000000"/>
                  </a:solidFill>
                </a:rPr>
                <a:t>的</a:t>
              </a:r>
              <a:r>
                <a:rPr lang="zh-CN" altLang="en-US" b="1" dirty="0" smtClean="0">
                  <a:solidFill>
                    <a:srgbClr val="000000"/>
                  </a:solidFill>
                  <a:ea typeface="宋体" pitchFamily="2" charset="-122"/>
                </a:rPr>
                <a:t>系统调用</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9574475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2"/>
                                        </p:tgtEl>
                                      </p:cBhvr>
                                      <p:by x="150000" y="150000"/>
                                    </p:animScale>
                                  </p:childTnLst>
                                </p:cTn>
                              </p:par>
                              <p:par>
                                <p:cTn id="7" presetID="42" presetClass="path" presetSubtype="0" accel="50000" decel="50000" fill="hold" nodeType="withEffect">
                                  <p:stCondLst>
                                    <p:cond delay="0"/>
                                  </p:stCondLst>
                                  <p:childTnLst>
                                    <p:animMotion origin="layout" path="M 1.11111E-6 -1.23457E-6 L 0.00017 -0.30679 " pathEditMode="relative" rAng="0" ptsTypes="AA">
                                      <p:cBhvr>
                                        <p:cTn id="8" dur="2000" fill="hold"/>
                                        <p:tgtEl>
                                          <p:spTgt spid="32"/>
                                        </p:tgtEl>
                                        <p:attrNameLst>
                                          <p:attrName>ppt_x</p:attrName>
                                          <p:attrName>ppt_y</p:attrName>
                                        </p:attrNameLst>
                                      </p:cBhvr>
                                      <p:rCtr x="0" y="-15340"/>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11"/>
                                        </p:tgtEl>
                                      </p:cBhvr>
                                    </p:animEffect>
                                    <p:set>
                                      <p:cBhvr>
                                        <p:cTn id="14" dur="1" fill="hold">
                                          <p:stCondLst>
                                            <p:cond delay="1999"/>
                                          </p:stCondLst>
                                        </p:cTn>
                                        <p:tgtEl>
                                          <p:spTgt spid="11"/>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6"/>
                                        </p:tgtEl>
                                      </p:cBhvr>
                                    </p:animEffect>
                                    <p:set>
                                      <p:cBhvr>
                                        <p:cTn id="17" dur="1" fill="hold">
                                          <p:stCondLst>
                                            <p:cond delay="1999"/>
                                          </p:stCondLst>
                                        </p:cTn>
                                        <p:tgtEl>
                                          <p:spTgt spid="16"/>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27"/>
                                        </p:tgtEl>
                                      </p:cBhvr>
                                    </p:animEffect>
                                    <p:set>
                                      <p:cBhvr>
                                        <p:cTn id="20" dur="1" fill="hold">
                                          <p:stCondLst>
                                            <p:cond delay="19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Linus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4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345" y="225017"/>
            <a:ext cx="7954116" cy="4816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03438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755576" y="1635646"/>
            <a:ext cx="7056784" cy="2160591"/>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en-US" altLang="zh-CN" sz="2400" b="1" dirty="0" smtClean="0">
                <a:solidFill>
                  <a:schemeClr val="bg1"/>
                </a:solidFill>
                <a:latin typeface="+mn-ea"/>
              </a:rPr>
              <a:t>Windows</a:t>
            </a:r>
            <a:r>
              <a:rPr lang="zh-CN" altLang="en-US" sz="2400" b="1" dirty="0" smtClean="0">
                <a:solidFill>
                  <a:schemeClr val="bg1"/>
                </a:solidFill>
                <a:latin typeface="+mn-ea"/>
              </a:rPr>
              <a:t>操作系统也提供了丰富的系统调用。这些系统调用被进一步编写成</a:t>
            </a:r>
            <a:r>
              <a:rPr lang="zh-CN" altLang="en-US" sz="2400" b="1" dirty="0" smtClean="0">
                <a:solidFill>
                  <a:srgbClr val="FFFF00"/>
                </a:solidFill>
                <a:latin typeface="+mn-ea"/>
              </a:rPr>
              <a:t>不同的库函数</a:t>
            </a:r>
            <a:r>
              <a:rPr lang="zh-CN" altLang="en-US" sz="2400" b="1" dirty="0" smtClean="0">
                <a:solidFill>
                  <a:schemeClr val="bg1"/>
                </a:solidFill>
                <a:latin typeface="+mn-ea"/>
              </a:rPr>
              <a:t>后放入</a:t>
            </a:r>
            <a:r>
              <a:rPr lang="zh-CN" altLang="en-US" sz="2400" b="1" dirty="0" smtClean="0">
                <a:solidFill>
                  <a:srgbClr val="FFFF00"/>
                </a:solidFill>
                <a:latin typeface="+mn-ea"/>
              </a:rPr>
              <a:t>动态链接库（</a:t>
            </a:r>
            <a:r>
              <a:rPr lang="en-US" altLang="zh-CN" sz="2400" b="1" dirty="0" smtClean="0">
                <a:solidFill>
                  <a:srgbClr val="FFFF00"/>
                </a:solidFill>
                <a:latin typeface="+mn-ea"/>
              </a:rPr>
              <a:t>DLL</a:t>
            </a:r>
            <a:r>
              <a:rPr lang="zh-CN" altLang="en-US" sz="2400" b="1" dirty="0" smtClean="0">
                <a:solidFill>
                  <a:srgbClr val="FFFF00"/>
                </a:solidFill>
                <a:latin typeface="+mn-ea"/>
              </a:rPr>
              <a:t>）中</a:t>
            </a:r>
            <a:r>
              <a:rPr lang="zh-CN" altLang="en-US" sz="2400" b="1" dirty="0" smtClean="0">
                <a:solidFill>
                  <a:schemeClr val="bg1"/>
                </a:solidFill>
                <a:latin typeface="+mn-ea"/>
              </a:rPr>
              <a:t>。这些库函数构成了</a:t>
            </a:r>
            <a:r>
              <a:rPr lang="en-US" altLang="zh-CN" sz="2400" b="1" dirty="0" smtClean="0">
                <a:solidFill>
                  <a:schemeClr val="bg1"/>
                </a:solidFill>
                <a:latin typeface="+mn-ea"/>
              </a:rPr>
              <a:t>Windows</a:t>
            </a:r>
            <a:r>
              <a:rPr lang="zh-CN" altLang="en-US" sz="2400" b="1" dirty="0" smtClean="0">
                <a:solidFill>
                  <a:schemeClr val="bg1"/>
                </a:solidFill>
                <a:latin typeface="+mn-ea"/>
              </a:rPr>
              <a:t>操作系统提供给程序的编程接口</a:t>
            </a:r>
            <a:r>
              <a:rPr lang="zh-CN" altLang="en-US" sz="2400" b="1" dirty="0">
                <a:solidFill>
                  <a:schemeClr val="bg1"/>
                </a:solidFill>
                <a:latin typeface="+mn-ea"/>
              </a:rPr>
              <a:t>（</a:t>
            </a:r>
            <a:r>
              <a:rPr lang="zh-CN" altLang="en-US" sz="2400" b="1" dirty="0" smtClean="0">
                <a:solidFill>
                  <a:srgbClr val="FFFF00"/>
                </a:solidFill>
                <a:latin typeface="+mn-ea"/>
              </a:rPr>
              <a:t>应用编程接口</a:t>
            </a:r>
            <a:r>
              <a:rPr lang="en-US" altLang="zh-CN" sz="2400" b="1" dirty="0" smtClean="0">
                <a:solidFill>
                  <a:srgbClr val="FFFF00"/>
                </a:solidFill>
                <a:latin typeface="+mn-ea"/>
              </a:rPr>
              <a:t>API</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13106112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46331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9" name="组合 28"/>
          <p:cNvGrpSpPr/>
          <p:nvPr/>
        </p:nvGrpSpPr>
        <p:grpSpPr>
          <a:xfrm>
            <a:off x="611560" y="1062443"/>
            <a:ext cx="2522527" cy="3775781"/>
            <a:chOff x="987631" y="714321"/>
            <a:chExt cx="2146456" cy="3228270"/>
          </a:xfrm>
        </p:grpSpPr>
        <p:sp>
          <p:nvSpPr>
            <p:cNvPr id="5" name="任意多边形 4"/>
            <p:cNvSpPr/>
            <p:nvPr/>
          </p:nvSpPr>
          <p:spPr>
            <a:xfrm>
              <a:off x="987631" y="714321"/>
              <a:ext cx="1982844" cy="2433179"/>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defTabSz="577850">
                <a:lnSpc>
                  <a:spcPct val="90000"/>
                </a:lnSpc>
                <a:spcBef>
                  <a:spcPct val="0"/>
                </a:spcBef>
                <a:spcAft>
                  <a:spcPct val="15000"/>
                </a:spcAft>
                <a:buChar char="••"/>
              </a:pPr>
              <a:r>
                <a:rPr lang="zh-CN" altLang="en-US" sz="2000" b="1" dirty="0" smtClean="0"/>
                <a:t>向应用程序提供了一些创建和管理用户界面的方法，可以使用窗口管理函数</a:t>
              </a:r>
              <a:r>
                <a:rPr lang="zh-CN" altLang="en-US" sz="2000" b="1" kern="1200" dirty="0" smtClean="0"/>
                <a:t>创建和使用窗口来显示输出、提示用户进行输入以及完成其他一些与用户进行交互所需的工作</a:t>
              </a:r>
              <a:endParaRPr lang="zh-CN" altLang="en-US" sz="2000" b="1" kern="1200" dirty="0"/>
            </a:p>
          </p:txBody>
        </p:sp>
        <p:sp>
          <p:nvSpPr>
            <p:cNvPr id="6" name="任意多边形 5"/>
            <p:cNvSpPr/>
            <p:nvPr/>
          </p:nvSpPr>
          <p:spPr>
            <a:xfrm>
              <a:off x="987631"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zh-CN" altLang="en-US" sz="2400" b="1" kern="1200" dirty="0" smtClean="0"/>
                <a:t> 窗口管理类</a:t>
              </a:r>
              <a:endParaRPr lang="zh-CN" altLang="en-US" sz="2400" b="1" kern="1200" dirty="0"/>
            </a:p>
          </p:txBody>
        </p:sp>
        <p:sp>
          <p:nvSpPr>
            <p:cNvPr id="7" name="椭圆 6"/>
            <p:cNvSpPr/>
            <p:nvPr/>
          </p:nvSpPr>
          <p:spPr>
            <a:xfrm>
              <a:off x="2440092" y="3248596"/>
              <a:ext cx="693995"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0" name="组合 29"/>
          <p:cNvGrpSpPr/>
          <p:nvPr/>
        </p:nvGrpSpPr>
        <p:grpSpPr>
          <a:xfrm>
            <a:off x="3305033" y="1062444"/>
            <a:ext cx="2587204" cy="3813562"/>
            <a:chOff x="3287083" y="744705"/>
            <a:chExt cx="2165393" cy="3197886"/>
          </a:xfrm>
        </p:grpSpPr>
        <p:sp>
          <p:nvSpPr>
            <p:cNvPr id="8" name="任意多边形 7"/>
            <p:cNvSpPr/>
            <p:nvPr/>
          </p:nvSpPr>
          <p:spPr>
            <a:xfrm>
              <a:off x="3306020" y="744705"/>
              <a:ext cx="1945487" cy="2402794"/>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indent="-285750" defTabSz="577850">
                <a:lnSpc>
                  <a:spcPct val="90000"/>
                </a:lnSpc>
                <a:spcBef>
                  <a:spcPct val="0"/>
                </a:spcBef>
                <a:spcAft>
                  <a:spcPct val="15000"/>
                </a:spcAft>
                <a:buChar char="••"/>
              </a:pPr>
              <a:r>
                <a:rPr lang="zh-CN" altLang="en-US" sz="2000" b="1" dirty="0"/>
                <a:t>提供</a:t>
              </a:r>
              <a:r>
                <a:rPr lang="zh-CN" altLang="en-US" sz="2000" b="1" dirty="0" smtClean="0"/>
                <a:t>了一系列的函数和相关的结构，应用程序可以使用它们在显示器、打印机或其他设备上生成图形化的输出结果。</a:t>
              </a:r>
              <a:endParaRPr lang="zh-CN" altLang="en-US" sz="2000" b="1" dirty="0"/>
            </a:p>
          </p:txBody>
        </p:sp>
        <p:sp>
          <p:nvSpPr>
            <p:cNvPr id="9" name="任意多边形 8"/>
            <p:cNvSpPr/>
            <p:nvPr/>
          </p:nvSpPr>
          <p:spPr>
            <a:xfrm>
              <a:off x="3287083" y="3147499"/>
              <a:ext cx="2024693"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marL="0" lvl="4" defTabSz="577850">
                <a:lnSpc>
                  <a:spcPct val="90000"/>
                </a:lnSpc>
                <a:spcBef>
                  <a:spcPct val="0"/>
                </a:spcBef>
                <a:spcAft>
                  <a:spcPct val="15000"/>
                </a:spcAft>
              </a:pPr>
              <a:r>
                <a:rPr lang="zh-CN" altLang="en-US" sz="2400" b="1" dirty="0"/>
                <a:t>图形设备</a:t>
              </a:r>
              <a:r>
                <a:rPr lang="zh-CN" altLang="en-US" sz="2400" b="1" dirty="0" smtClean="0"/>
                <a:t>接口（</a:t>
              </a:r>
              <a:r>
                <a:rPr lang="en-US" altLang="zh-CN" sz="2400" b="1" dirty="0" smtClean="0"/>
                <a:t>GDI</a:t>
              </a:r>
              <a:r>
                <a:rPr lang="zh-CN" altLang="en-US" sz="2400" b="1" dirty="0" smtClean="0"/>
                <a:t>）类</a:t>
              </a:r>
              <a:endParaRPr lang="zh-CN" altLang="en-US" sz="2400" b="1" dirty="0"/>
            </a:p>
          </p:txBody>
        </p:sp>
        <p:sp>
          <p:nvSpPr>
            <p:cNvPr id="10" name="椭圆 9"/>
            <p:cNvSpPr/>
            <p:nvPr/>
          </p:nvSpPr>
          <p:spPr>
            <a:xfrm>
              <a:off x="4758481" y="3248596"/>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1" name="组合 30"/>
          <p:cNvGrpSpPr/>
          <p:nvPr/>
        </p:nvGrpSpPr>
        <p:grpSpPr>
          <a:xfrm>
            <a:off x="6085810" y="1062443"/>
            <a:ext cx="2547990" cy="3746096"/>
            <a:chOff x="5624410" y="759353"/>
            <a:chExt cx="2146455" cy="3183238"/>
          </a:xfrm>
        </p:grpSpPr>
        <p:sp>
          <p:nvSpPr>
            <p:cNvPr id="11" name="任意多边形 10"/>
            <p:cNvSpPr/>
            <p:nvPr/>
          </p:nvSpPr>
          <p:spPr>
            <a:xfrm>
              <a:off x="5624410" y="759353"/>
              <a:ext cx="1982844" cy="2388146"/>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indent="-285750" defTabSz="577850">
                <a:lnSpc>
                  <a:spcPct val="90000"/>
                </a:lnSpc>
                <a:spcBef>
                  <a:spcPct val="0"/>
                </a:spcBef>
                <a:spcAft>
                  <a:spcPct val="15000"/>
                </a:spcAft>
                <a:buChar char="••"/>
              </a:pPr>
              <a:r>
                <a:rPr lang="zh-CN" altLang="en-US" sz="2000" b="1" dirty="0" smtClean="0"/>
                <a:t>为应用程序提供了访问计算机资源以及底层操作系统特性的手段。比如访问内存、文件系统、设备、进程和线程</a:t>
              </a:r>
              <a:endParaRPr lang="zh-CN" altLang="en-US" sz="2000" b="1" dirty="0"/>
            </a:p>
          </p:txBody>
        </p:sp>
        <p:sp>
          <p:nvSpPr>
            <p:cNvPr id="12" name="任意多边形 11"/>
            <p:cNvSpPr/>
            <p:nvPr/>
          </p:nvSpPr>
          <p:spPr>
            <a:xfrm>
              <a:off x="5624410"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smtClean="0"/>
                <a:t>系统服务类</a:t>
              </a:r>
              <a:endParaRPr lang="zh-CN" altLang="en-US" sz="2400" b="1" dirty="0"/>
            </a:p>
          </p:txBody>
        </p:sp>
        <p:sp>
          <p:nvSpPr>
            <p:cNvPr id="13" name="椭圆 12"/>
            <p:cNvSpPr/>
            <p:nvPr/>
          </p:nvSpPr>
          <p:spPr>
            <a:xfrm>
              <a:off x="7076870" y="3248596"/>
              <a:ext cx="693995" cy="693995"/>
            </a:xfrm>
            <a:prstGeom prst="ellipse">
              <a:avLst/>
            </a:pr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3</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extLst>
      <p:ext uri="{BB962C8B-B14F-4D97-AF65-F5344CB8AC3E}">
        <p14:creationId xmlns:p14="http://schemas.microsoft.com/office/powerpoint/2010/main" val="38114274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46331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9" name="组合 28"/>
          <p:cNvGrpSpPr/>
          <p:nvPr/>
        </p:nvGrpSpPr>
        <p:grpSpPr>
          <a:xfrm>
            <a:off x="1435647" y="1491630"/>
            <a:ext cx="2522527" cy="3040804"/>
            <a:chOff x="987631" y="1342722"/>
            <a:chExt cx="2146456" cy="2599869"/>
          </a:xfrm>
        </p:grpSpPr>
        <p:sp>
          <p:nvSpPr>
            <p:cNvPr id="5" name="任意多边形 4"/>
            <p:cNvSpPr/>
            <p:nvPr/>
          </p:nvSpPr>
          <p:spPr>
            <a:xfrm>
              <a:off x="987631" y="1342722"/>
              <a:ext cx="1982844" cy="1804778"/>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defTabSz="577850">
                <a:lnSpc>
                  <a:spcPct val="90000"/>
                </a:lnSpc>
                <a:spcBef>
                  <a:spcPct val="0"/>
                </a:spcBef>
                <a:spcAft>
                  <a:spcPct val="15000"/>
                </a:spcAft>
                <a:buChar char="••"/>
              </a:pPr>
              <a:r>
                <a:rPr lang="zh-CN" altLang="en-US" sz="2000" b="1" dirty="0" smtClean="0"/>
                <a:t>帮助用户编写国际化的应用程序，提供给用户将应用程序本地化的一些功能。</a:t>
              </a:r>
              <a:endParaRPr lang="zh-CN" altLang="en-US" sz="2000" b="1" kern="1200" dirty="0"/>
            </a:p>
          </p:txBody>
        </p:sp>
        <p:sp>
          <p:nvSpPr>
            <p:cNvPr id="6" name="任意多边形 5"/>
            <p:cNvSpPr/>
            <p:nvPr/>
          </p:nvSpPr>
          <p:spPr>
            <a:xfrm>
              <a:off x="987631"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zh-CN" altLang="en-US" sz="2400" b="1" kern="1200" dirty="0" smtClean="0"/>
                <a:t> 国际特性类</a:t>
              </a:r>
              <a:endParaRPr lang="zh-CN" altLang="en-US" sz="2400" b="1" kern="1200" dirty="0"/>
            </a:p>
          </p:txBody>
        </p:sp>
        <p:sp>
          <p:nvSpPr>
            <p:cNvPr id="7" name="椭圆 6"/>
            <p:cNvSpPr/>
            <p:nvPr/>
          </p:nvSpPr>
          <p:spPr>
            <a:xfrm>
              <a:off x="2440092" y="3248596"/>
              <a:ext cx="693995"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4</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0" name="组合 29"/>
          <p:cNvGrpSpPr/>
          <p:nvPr/>
        </p:nvGrpSpPr>
        <p:grpSpPr>
          <a:xfrm>
            <a:off x="4716016" y="1491630"/>
            <a:ext cx="2564578" cy="3101408"/>
            <a:chOff x="3306020" y="1341886"/>
            <a:chExt cx="2146456" cy="2600705"/>
          </a:xfrm>
        </p:grpSpPr>
        <p:sp>
          <p:nvSpPr>
            <p:cNvPr id="8" name="任意多边形 7"/>
            <p:cNvSpPr/>
            <p:nvPr/>
          </p:nvSpPr>
          <p:spPr>
            <a:xfrm>
              <a:off x="3306020" y="1341886"/>
              <a:ext cx="1945487" cy="1805613"/>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defTabSz="577850">
                <a:lnSpc>
                  <a:spcPct val="90000"/>
                </a:lnSpc>
                <a:spcBef>
                  <a:spcPct val="0"/>
                </a:spcBef>
                <a:spcAft>
                  <a:spcPct val="15000"/>
                </a:spcAft>
                <a:buChar char="••"/>
              </a:pPr>
              <a:r>
                <a:rPr lang="zh-CN" altLang="en-US" sz="2000" b="1" dirty="0" smtClean="0"/>
                <a:t>允许网络上的不同计算机的应用程序之间进行通信，帮助在网络中的各计算机上创建和管理共享资源的连接。</a:t>
              </a:r>
              <a:endParaRPr lang="zh-CN" altLang="en-US" sz="2000" b="1" dirty="0"/>
            </a:p>
          </p:txBody>
        </p:sp>
        <p:sp>
          <p:nvSpPr>
            <p:cNvPr id="9" name="任意多边形 8"/>
            <p:cNvSpPr/>
            <p:nvPr/>
          </p:nvSpPr>
          <p:spPr>
            <a:xfrm>
              <a:off x="3306020" y="3147499"/>
              <a:ext cx="1945487"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marL="0" lvl="4" defTabSz="577850">
                <a:lnSpc>
                  <a:spcPct val="90000"/>
                </a:lnSpc>
                <a:spcBef>
                  <a:spcPct val="0"/>
                </a:spcBef>
                <a:spcAft>
                  <a:spcPct val="15000"/>
                </a:spcAft>
              </a:pPr>
              <a:r>
                <a:rPr lang="zh-CN" altLang="en-US" sz="2400" b="1" dirty="0" smtClean="0"/>
                <a:t>网络服务类</a:t>
              </a:r>
              <a:endParaRPr lang="zh-CN" altLang="en-US" sz="2400" b="1" dirty="0"/>
            </a:p>
          </p:txBody>
        </p:sp>
        <p:sp>
          <p:nvSpPr>
            <p:cNvPr id="10" name="椭圆 9"/>
            <p:cNvSpPr/>
            <p:nvPr/>
          </p:nvSpPr>
          <p:spPr>
            <a:xfrm>
              <a:off x="4758481" y="3248596"/>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5</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extLst>
      <p:ext uri="{BB962C8B-B14F-4D97-AF65-F5344CB8AC3E}">
        <p14:creationId xmlns:p14="http://schemas.microsoft.com/office/powerpoint/2010/main" val="402271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46331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5" name="组合 34"/>
          <p:cNvGrpSpPr/>
          <p:nvPr/>
        </p:nvGrpSpPr>
        <p:grpSpPr>
          <a:xfrm>
            <a:off x="433058" y="725145"/>
            <a:ext cx="5881186" cy="1153916"/>
            <a:chOff x="2069444" y="307310"/>
            <a:chExt cx="5881186" cy="1153916"/>
          </a:xfrm>
        </p:grpSpPr>
        <p:sp>
          <p:nvSpPr>
            <p:cNvPr id="4" name="任意多边形 3"/>
            <p:cNvSpPr/>
            <p:nvPr/>
          </p:nvSpPr>
          <p:spPr>
            <a:xfrm>
              <a:off x="2820954" y="540399"/>
              <a:ext cx="5129676" cy="829882"/>
            </a:xfrm>
            <a:custGeom>
              <a:avLst/>
              <a:gdLst>
                <a:gd name="connsiteX0" fmla="*/ 0 w 4325415"/>
                <a:gd name="connsiteY0" fmla="*/ 0 h 829880"/>
                <a:gd name="connsiteX1" fmla="*/ 3910475 w 4325415"/>
                <a:gd name="connsiteY1" fmla="*/ 0 h 829880"/>
                <a:gd name="connsiteX2" fmla="*/ 4325415 w 4325415"/>
                <a:gd name="connsiteY2" fmla="*/ 414940 h 829880"/>
                <a:gd name="connsiteX3" fmla="*/ 3910475 w 4325415"/>
                <a:gd name="connsiteY3" fmla="*/ 829880 h 829880"/>
                <a:gd name="connsiteX4" fmla="*/ 0 w 4325415"/>
                <a:gd name="connsiteY4" fmla="*/ 829880 h 829880"/>
                <a:gd name="connsiteX5" fmla="*/ 0 w 4325415"/>
                <a:gd name="connsiteY5" fmla="*/ 0 h 82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25415" h="829880">
                  <a:moveTo>
                    <a:pt x="4325415" y="829879"/>
                  </a:moveTo>
                  <a:lnTo>
                    <a:pt x="414940" y="829879"/>
                  </a:lnTo>
                  <a:lnTo>
                    <a:pt x="0" y="414940"/>
                  </a:lnTo>
                  <a:lnTo>
                    <a:pt x="414940" y="1"/>
                  </a:lnTo>
                  <a:lnTo>
                    <a:pt x="4325415" y="1"/>
                  </a:lnTo>
                  <a:lnTo>
                    <a:pt x="4325415" y="82987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573424" tIns="80011" rIns="149352" bIns="80011" numCol="1" spcCol="1270" anchor="ctr" anchorCtr="0">
              <a:noAutofit/>
            </a:bodyPr>
            <a:lstStyle/>
            <a:p>
              <a:pPr lvl="0" algn="ctr" defTabSz="933450">
                <a:lnSpc>
                  <a:spcPct val="90000"/>
                </a:lnSpc>
                <a:spcBef>
                  <a:spcPct val="0"/>
                </a:spcBef>
                <a:spcAft>
                  <a:spcPct val="35000"/>
                </a:spcAft>
              </a:pPr>
              <a:r>
                <a:rPr lang="zh-CN" altLang="en-US" sz="2100" b="1" kern="1200" dirty="0" smtClean="0"/>
                <a:t>给出了屏幕显示及打印功能的函数集</a:t>
              </a:r>
              <a:endParaRPr lang="zh-CN" altLang="en-US" sz="2100" b="1" kern="1200" dirty="0"/>
            </a:p>
          </p:txBody>
        </p:sp>
        <p:sp>
          <p:nvSpPr>
            <p:cNvPr id="11" name="椭圆 10"/>
            <p:cNvSpPr/>
            <p:nvPr/>
          </p:nvSpPr>
          <p:spPr>
            <a:xfrm>
              <a:off x="2069444" y="307310"/>
              <a:ext cx="1153916" cy="1153916"/>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2">
                <a:tint val="50000"/>
                <a:hueOff val="0"/>
                <a:satOff val="0"/>
                <a:lumOff val="0"/>
                <a:alphaOff val="0"/>
              </a:schemeClr>
            </a:fillRef>
            <a:effectRef idx="2">
              <a:schemeClr val="accent2">
                <a:tint val="50000"/>
                <a:hueOff val="0"/>
                <a:satOff val="0"/>
                <a:lumOff val="0"/>
                <a:alphaOff val="0"/>
              </a:schemeClr>
            </a:effectRef>
            <a:fontRef idx="minor">
              <a:schemeClr val="lt1">
                <a:hueOff val="0"/>
                <a:satOff val="0"/>
                <a:lumOff val="0"/>
                <a:alphaOff val="0"/>
              </a:schemeClr>
            </a:fontRef>
          </p:style>
          <p:txBody>
            <a:bodyPr/>
            <a:lstStyle/>
            <a:p>
              <a:pPr algn="ctr"/>
              <a:r>
                <a:rPr lang="en-US" altLang="zh-CN" sz="2000" b="1" dirty="0" smtClean="0">
                  <a:ln w="6600">
                    <a:solidFill>
                      <a:schemeClr val="accent2"/>
                    </a:solidFill>
                    <a:prstDash val="solid"/>
                  </a:ln>
                  <a:solidFill>
                    <a:srgbClr val="FFFFFF"/>
                  </a:solidFill>
                  <a:effectLst>
                    <a:outerShdw dist="38100" dir="2700000" algn="tl" rotWithShape="0">
                      <a:schemeClr val="accent2"/>
                    </a:outerShdw>
                  </a:effectLst>
                </a:rPr>
                <a:t>GDI32.DLL</a:t>
              </a:r>
              <a:endParaRPr lang="zh-CN" alt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6" name="组合 35"/>
          <p:cNvGrpSpPr/>
          <p:nvPr/>
        </p:nvGrpSpPr>
        <p:grpSpPr>
          <a:xfrm>
            <a:off x="2411760" y="1829001"/>
            <a:ext cx="5904656" cy="1165636"/>
            <a:chOff x="2045974" y="1517344"/>
            <a:chExt cx="5904656" cy="1165636"/>
          </a:xfrm>
        </p:grpSpPr>
        <p:sp>
          <p:nvSpPr>
            <p:cNvPr id="12" name="任意多边形 11"/>
            <p:cNvSpPr/>
            <p:nvPr/>
          </p:nvSpPr>
          <p:spPr>
            <a:xfrm>
              <a:off x="2820954" y="1618005"/>
              <a:ext cx="5129676" cy="829882"/>
            </a:xfrm>
            <a:custGeom>
              <a:avLst/>
              <a:gdLst>
                <a:gd name="connsiteX0" fmla="*/ 0 w 4325415"/>
                <a:gd name="connsiteY0" fmla="*/ 0 h 829880"/>
                <a:gd name="connsiteX1" fmla="*/ 3910475 w 4325415"/>
                <a:gd name="connsiteY1" fmla="*/ 0 h 829880"/>
                <a:gd name="connsiteX2" fmla="*/ 4325415 w 4325415"/>
                <a:gd name="connsiteY2" fmla="*/ 414940 h 829880"/>
                <a:gd name="connsiteX3" fmla="*/ 3910475 w 4325415"/>
                <a:gd name="connsiteY3" fmla="*/ 829880 h 829880"/>
                <a:gd name="connsiteX4" fmla="*/ 0 w 4325415"/>
                <a:gd name="connsiteY4" fmla="*/ 829880 h 829880"/>
                <a:gd name="connsiteX5" fmla="*/ 0 w 4325415"/>
                <a:gd name="connsiteY5" fmla="*/ 0 h 82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25415" h="829880">
                  <a:moveTo>
                    <a:pt x="4325415" y="829879"/>
                  </a:moveTo>
                  <a:lnTo>
                    <a:pt x="414940" y="829879"/>
                  </a:lnTo>
                  <a:lnTo>
                    <a:pt x="0" y="414940"/>
                  </a:lnTo>
                  <a:lnTo>
                    <a:pt x="414940" y="1"/>
                  </a:lnTo>
                  <a:lnTo>
                    <a:pt x="4325415" y="1"/>
                  </a:lnTo>
                  <a:lnTo>
                    <a:pt x="4325415" y="82987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573424" tIns="80011" rIns="149352" bIns="80011" numCol="1" spcCol="1270" anchor="ctr" anchorCtr="0">
              <a:noAutofit/>
            </a:bodyPr>
            <a:lstStyle/>
            <a:p>
              <a:pPr lvl="0" algn="ctr" defTabSz="933450">
                <a:lnSpc>
                  <a:spcPct val="90000"/>
                </a:lnSpc>
                <a:spcBef>
                  <a:spcPct val="0"/>
                </a:spcBef>
                <a:spcAft>
                  <a:spcPct val="35000"/>
                </a:spcAft>
              </a:pPr>
              <a:r>
                <a:rPr lang="zh-CN" altLang="en-US" sz="2100" b="1" kern="1200" dirty="0" smtClean="0"/>
                <a:t>给出了鼠标、键盘、通信端口、声音、时钟功能的函数集</a:t>
              </a:r>
              <a:endParaRPr lang="en-US" altLang="zh-CN" sz="2100" b="1" kern="1200" dirty="0" smtClean="0"/>
            </a:p>
          </p:txBody>
        </p:sp>
        <p:sp>
          <p:nvSpPr>
            <p:cNvPr id="13" name="椭圆 12"/>
            <p:cNvSpPr/>
            <p:nvPr/>
          </p:nvSpPr>
          <p:spPr>
            <a:xfrm>
              <a:off x="2045974" y="1517344"/>
              <a:ext cx="1165636" cy="1165636"/>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3">
                <a:tint val="50000"/>
                <a:hueOff val="0"/>
                <a:satOff val="0"/>
                <a:lumOff val="0"/>
                <a:alphaOff val="0"/>
              </a:schemeClr>
            </a:fillRef>
            <a:effectRef idx="2">
              <a:schemeClr val="accent3">
                <a:tint val="50000"/>
                <a:hueOff val="0"/>
                <a:satOff val="0"/>
                <a:lumOff val="0"/>
                <a:alphaOff val="0"/>
              </a:schemeClr>
            </a:effectRef>
            <a:fontRef idx="minor">
              <a:schemeClr val="lt1">
                <a:hueOff val="0"/>
                <a:satOff val="0"/>
                <a:lumOff val="0"/>
                <a:alphaOff val="0"/>
              </a:schemeClr>
            </a:fontRef>
          </p:style>
          <p:txBody>
            <a:bodyPr/>
            <a:lstStyle/>
            <a:p>
              <a:pPr algn="ctr"/>
              <a:r>
                <a:rPr lang="en-US" altLang="zh-CN" b="1" dirty="0" smtClean="0">
                  <a:ln w="6600">
                    <a:solidFill>
                      <a:schemeClr val="accent2"/>
                    </a:solidFill>
                    <a:prstDash val="solid"/>
                  </a:ln>
                  <a:solidFill>
                    <a:srgbClr val="FFFFFF"/>
                  </a:solidFill>
                  <a:effectLst>
                    <a:outerShdw dist="38100" dir="2700000" algn="tl" rotWithShape="0">
                      <a:schemeClr val="accent2"/>
                    </a:outerShdw>
                  </a:effectLst>
                </a:rPr>
                <a:t>USER32.DLL</a:t>
              </a:r>
              <a:endParaRPr lang="zh-CN" altLang="en-US"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7" name="组合 36"/>
          <p:cNvGrpSpPr/>
          <p:nvPr/>
        </p:nvGrpSpPr>
        <p:grpSpPr>
          <a:xfrm>
            <a:off x="539713" y="3000039"/>
            <a:ext cx="5907266" cy="1143486"/>
            <a:chOff x="2115372" y="2618349"/>
            <a:chExt cx="5907266" cy="1143486"/>
          </a:xfrm>
        </p:grpSpPr>
        <p:sp>
          <p:nvSpPr>
            <p:cNvPr id="31" name="任意多边形 30"/>
            <p:cNvSpPr/>
            <p:nvPr/>
          </p:nvSpPr>
          <p:spPr>
            <a:xfrm>
              <a:off x="2892962" y="2695611"/>
              <a:ext cx="5129676" cy="829881"/>
            </a:xfrm>
            <a:custGeom>
              <a:avLst/>
              <a:gdLst>
                <a:gd name="connsiteX0" fmla="*/ 0 w 4325415"/>
                <a:gd name="connsiteY0" fmla="*/ 0 h 829880"/>
                <a:gd name="connsiteX1" fmla="*/ 3910475 w 4325415"/>
                <a:gd name="connsiteY1" fmla="*/ 0 h 829880"/>
                <a:gd name="connsiteX2" fmla="*/ 4325415 w 4325415"/>
                <a:gd name="connsiteY2" fmla="*/ 414940 h 829880"/>
                <a:gd name="connsiteX3" fmla="*/ 3910475 w 4325415"/>
                <a:gd name="connsiteY3" fmla="*/ 829880 h 829880"/>
                <a:gd name="connsiteX4" fmla="*/ 0 w 4325415"/>
                <a:gd name="connsiteY4" fmla="*/ 829880 h 829880"/>
                <a:gd name="connsiteX5" fmla="*/ 0 w 4325415"/>
                <a:gd name="connsiteY5" fmla="*/ 0 h 82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25415" h="829880">
                  <a:moveTo>
                    <a:pt x="4325415" y="829879"/>
                  </a:moveTo>
                  <a:lnTo>
                    <a:pt x="414940" y="829879"/>
                  </a:lnTo>
                  <a:lnTo>
                    <a:pt x="0" y="414940"/>
                  </a:lnTo>
                  <a:lnTo>
                    <a:pt x="414940" y="1"/>
                  </a:lnTo>
                  <a:lnTo>
                    <a:pt x="4325415" y="1"/>
                  </a:lnTo>
                  <a:lnTo>
                    <a:pt x="4325415" y="82987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573424" tIns="80011" rIns="149352" bIns="80010" numCol="1" spcCol="1270" anchor="ctr" anchorCtr="0">
              <a:noAutofit/>
            </a:bodyPr>
            <a:lstStyle/>
            <a:p>
              <a:pPr lvl="0" algn="ctr" defTabSz="933450">
                <a:lnSpc>
                  <a:spcPct val="90000"/>
                </a:lnSpc>
                <a:spcBef>
                  <a:spcPct val="0"/>
                </a:spcBef>
                <a:spcAft>
                  <a:spcPct val="35000"/>
                </a:spcAft>
              </a:pPr>
              <a:r>
                <a:rPr lang="zh-CN" altLang="en-US" sz="2100" b="1" kern="1200" dirty="0" smtClean="0"/>
                <a:t>给出了文件及内存管理（核心部分）功能的函数集</a:t>
              </a:r>
              <a:endParaRPr lang="zh-CN" altLang="en-US" sz="2100" b="1" kern="1200" dirty="0"/>
            </a:p>
          </p:txBody>
        </p:sp>
        <p:sp>
          <p:nvSpPr>
            <p:cNvPr id="32" name="椭圆 31"/>
            <p:cNvSpPr/>
            <p:nvPr/>
          </p:nvSpPr>
          <p:spPr>
            <a:xfrm>
              <a:off x="2115372" y="2618349"/>
              <a:ext cx="1143486" cy="1143486"/>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4">
                <a:tint val="50000"/>
                <a:hueOff val="0"/>
                <a:satOff val="0"/>
                <a:lumOff val="0"/>
                <a:alphaOff val="0"/>
              </a:schemeClr>
            </a:fillRef>
            <a:effectRef idx="2">
              <a:schemeClr val="accent4">
                <a:tint val="50000"/>
                <a:hueOff val="0"/>
                <a:satOff val="0"/>
                <a:lumOff val="0"/>
                <a:alphaOff val="0"/>
              </a:schemeClr>
            </a:effectRef>
            <a:fontRef idx="minor">
              <a:schemeClr val="lt1">
                <a:hueOff val="0"/>
                <a:satOff val="0"/>
                <a:lumOff val="0"/>
                <a:alphaOff val="0"/>
              </a:schemeClr>
            </a:fontRef>
          </p:style>
          <p:txBody>
            <a:bodyPr/>
            <a:lstStyle/>
            <a:p>
              <a:pPr algn="ctr"/>
              <a:r>
                <a:rPr lang="en-US" altLang="zh-CN" b="1" dirty="0" smtClean="0">
                  <a:ln w="6600">
                    <a:solidFill>
                      <a:schemeClr val="accent2"/>
                    </a:solidFill>
                    <a:prstDash val="solid"/>
                  </a:ln>
                  <a:solidFill>
                    <a:srgbClr val="FFFFFF"/>
                  </a:solidFill>
                  <a:effectLst>
                    <a:outerShdw dist="38100" dir="2700000" algn="tl" rotWithShape="0">
                      <a:schemeClr val="accent2"/>
                    </a:outerShdw>
                  </a:effectLst>
                </a:rPr>
                <a:t>KERNEL32.DLL</a:t>
              </a:r>
              <a:endParaRPr lang="zh-CN" altLang="en-US"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8" name="组合 37"/>
          <p:cNvGrpSpPr/>
          <p:nvPr/>
        </p:nvGrpSpPr>
        <p:grpSpPr>
          <a:xfrm>
            <a:off x="2490992" y="4021698"/>
            <a:ext cx="5825424" cy="1038680"/>
            <a:chOff x="2197214" y="3605858"/>
            <a:chExt cx="5825424" cy="1038680"/>
          </a:xfrm>
        </p:grpSpPr>
        <p:sp>
          <p:nvSpPr>
            <p:cNvPr id="33" name="任意多边形 32"/>
            <p:cNvSpPr/>
            <p:nvPr/>
          </p:nvSpPr>
          <p:spPr>
            <a:xfrm>
              <a:off x="2820954" y="3773217"/>
              <a:ext cx="5201684" cy="829881"/>
            </a:xfrm>
            <a:custGeom>
              <a:avLst/>
              <a:gdLst>
                <a:gd name="connsiteX0" fmla="*/ 0 w 4325415"/>
                <a:gd name="connsiteY0" fmla="*/ 0 h 829880"/>
                <a:gd name="connsiteX1" fmla="*/ 3910475 w 4325415"/>
                <a:gd name="connsiteY1" fmla="*/ 0 h 829880"/>
                <a:gd name="connsiteX2" fmla="*/ 4325415 w 4325415"/>
                <a:gd name="connsiteY2" fmla="*/ 414940 h 829880"/>
                <a:gd name="connsiteX3" fmla="*/ 3910475 w 4325415"/>
                <a:gd name="connsiteY3" fmla="*/ 829880 h 829880"/>
                <a:gd name="connsiteX4" fmla="*/ 0 w 4325415"/>
                <a:gd name="connsiteY4" fmla="*/ 829880 h 829880"/>
                <a:gd name="connsiteX5" fmla="*/ 0 w 4325415"/>
                <a:gd name="connsiteY5" fmla="*/ 0 h 82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25415" h="829880">
                  <a:moveTo>
                    <a:pt x="4325415" y="829879"/>
                  </a:moveTo>
                  <a:lnTo>
                    <a:pt x="414940" y="829879"/>
                  </a:lnTo>
                  <a:lnTo>
                    <a:pt x="0" y="414940"/>
                  </a:lnTo>
                  <a:lnTo>
                    <a:pt x="414940" y="1"/>
                  </a:lnTo>
                  <a:lnTo>
                    <a:pt x="4325415" y="1"/>
                  </a:lnTo>
                  <a:lnTo>
                    <a:pt x="4325415" y="82987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573424" tIns="80011" rIns="149352" bIns="80010" numCol="1" spcCol="1270" anchor="ctr" anchorCtr="0">
              <a:noAutofit/>
            </a:bodyPr>
            <a:lstStyle/>
            <a:p>
              <a:pPr lvl="0" algn="ctr" defTabSz="933450">
                <a:lnSpc>
                  <a:spcPct val="90000"/>
                </a:lnSpc>
                <a:spcBef>
                  <a:spcPct val="0"/>
                </a:spcBef>
                <a:spcAft>
                  <a:spcPct val="35000"/>
                </a:spcAft>
              </a:pPr>
              <a:r>
                <a:rPr lang="zh-CN" altLang="en-US" sz="2100" b="1" kern="1200" dirty="0" smtClean="0"/>
                <a:t>给出了</a:t>
              </a:r>
              <a:r>
                <a:rPr lang="en-US" altLang="zh-CN" sz="2100" b="1" kern="1200" dirty="0" smtClean="0"/>
                <a:t>Windows 3.2</a:t>
              </a:r>
              <a:r>
                <a:rPr lang="zh-CN" altLang="en-US" sz="2100" b="1" kern="1200" dirty="0" smtClean="0"/>
                <a:t>网络接口库</a:t>
              </a:r>
              <a:endParaRPr lang="zh-CN" altLang="en-US" sz="2100" b="1" kern="1200" dirty="0"/>
            </a:p>
          </p:txBody>
        </p:sp>
        <p:sp>
          <p:nvSpPr>
            <p:cNvPr id="34" name="椭圆 33"/>
            <p:cNvSpPr/>
            <p:nvPr/>
          </p:nvSpPr>
          <p:spPr>
            <a:xfrm>
              <a:off x="2197214" y="3605858"/>
              <a:ext cx="1038680" cy="1038680"/>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5">
                <a:tint val="50000"/>
                <a:hueOff val="0"/>
                <a:satOff val="0"/>
                <a:lumOff val="0"/>
                <a:alphaOff val="0"/>
              </a:schemeClr>
            </a:fillRef>
            <a:effectRef idx="2">
              <a:schemeClr val="accent5">
                <a:tint val="50000"/>
                <a:hueOff val="0"/>
                <a:satOff val="0"/>
                <a:lumOff val="0"/>
                <a:alphaOff val="0"/>
              </a:schemeClr>
            </a:effectRef>
            <a:fontRef idx="minor">
              <a:schemeClr val="lt1">
                <a:hueOff val="0"/>
                <a:satOff val="0"/>
                <a:lumOff val="0"/>
                <a:alphaOff val="0"/>
              </a:schemeClr>
            </a:fontRef>
          </p:style>
          <p:txBody>
            <a:bodyPr/>
            <a:lstStyle/>
            <a:p>
              <a:pPr algn="ctr"/>
              <a:r>
                <a:rPr lang="en-US" altLang="zh-CN" sz="2000" b="1" dirty="0" smtClean="0">
                  <a:ln w="6600">
                    <a:solidFill>
                      <a:schemeClr val="accent2"/>
                    </a:solidFill>
                    <a:prstDash val="solid"/>
                  </a:ln>
                  <a:solidFill>
                    <a:srgbClr val="FFFFFF"/>
                  </a:solidFill>
                  <a:effectLst>
                    <a:outerShdw dist="38100" dir="2700000" algn="tl" rotWithShape="0">
                      <a:schemeClr val="accent2"/>
                    </a:outerShdw>
                  </a:effectLst>
                </a:rPr>
                <a:t>MP.DLL</a:t>
              </a:r>
              <a:endParaRPr lang="zh-CN" alt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extLst>
      <p:ext uri="{BB962C8B-B14F-4D97-AF65-F5344CB8AC3E}">
        <p14:creationId xmlns:p14="http://schemas.microsoft.com/office/powerpoint/2010/main" val="351879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left)">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236" y="600838"/>
            <a:ext cx="6622504" cy="4393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1043608" y="2643758"/>
            <a:ext cx="6542132" cy="5760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动作按钮: 前进或下一项 2">
            <a:hlinkClick r:id="rId3" action="ppaction://hlinksldjump" highlightClick="1"/>
          </p:cNvPr>
          <p:cNvSpPr/>
          <p:nvPr/>
        </p:nvSpPr>
        <p:spPr>
          <a:xfrm>
            <a:off x="1187624" y="3003798"/>
            <a:ext cx="216024" cy="144016"/>
          </a:xfrm>
          <a:prstGeom prst="actionButtonForwardNex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10843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159834"/>
            <a:ext cx="6814600" cy="3241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矩形 28"/>
          <p:cNvSpPr/>
          <p:nvPr/>
        </p:nvSpPr>
        <p:spPr>
          <a:xfrm>
            <a:off x="1244068" y="1563637"/>
            <a:ext cx="6280260" cy="2938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267216" y="1857533"/>
            <a:ext cx="4600928" cy="2821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475656" y="2448658"/>
            <a:ext cx="5976664" cy="3391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619672" y="3062295"/>
            <a:ext cx="4536504" cy="31660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动作按钮: 前进或下一项 1">
            <a:hlinkClick r:id="rId3" action="ppaction://hlinksldjump" highlightClick="1"/>
          </p:cNvPr>
          <p:cNvSpPr/>
          <p:nvPr/>
        </p:nvSpPr>
        <p:spPr>
          <a:xfrm>
            <a:off x="7596336" y="1563637"/>
            <a:ext cx="189864" cy="293895"/>
          </a:xfrm>
          <a:prstGeom prst="actionButtonForwardNex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3" name="动作按钮: 前进或下一项 2">
            <a:hlinkClick r:id="rId4" action="ppaction://hlinksldjump" highlightClick="1"/>
          </p:cNvPr>
          <p:cNvSpPr/>
          <p:nvPr/>
        </p:nvSpPr>
        <p:spPr>
          <a:xfrm>
            <a:off x="971600" y="1857532"/>
            <a:ext cx="144016" cy="282171"/>
          </a:xfrm>
          <a:prstGeom prst="actionButtonForwardNex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4" name="动作按钮: 前进或下一项 3">
            <a:hlinkClick r:id="rId5" action="ppaction://hlinksldjump" highlightClick="1"/>
          </p:cNvPr>
          <p:cNvSpPr/>
          <p:nvPr/>
        </p:nvSpPr>
        <p:spPr>
          <a:xfrm>
            <a:off x="1115616" y="3062295"/>
            <a:ext cx="216024" cy="229535"/>
          </a:xfrm>
          <a:prstGeom prst="actionButtonForwardNex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5" name="动作按钮: 结束 4">
            <a:hlinkClick r:id="rId6" action="ppaction://hlinksldjump" highlightClick="1"/>
          </p:cNvPr>
          <p:cNvSpPr/>
          <p:nvPr/>
        </p:nvSpPr>
        <p:spPr>
          <a:xfrm>
            <a:off x="8100392" y="4401731"/>
            <a:ext cx="288032" cy="330259"/>
          </a:xfrm>
          <a:prstGeom prst="actionButtonE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411771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P spid="32" grpId="0" animBg="1"/>
      <p:bldP spid="3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808" y="52129"/>
            <a:ext cx="7934605" cy="509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2" name="动作按钮: 第一张 1">
            <a:hlinkClick r:id="rId4" action="ppaction://hlinksldjump" highlightClick="1"/>
          </p:cNvPr>
          <p:cNvSpPr/>
          <p:nvPr/>
        </p:nvSpPr>
        <p:spPr>
          <a:xfrm>
            <a:off x="8604448" y="4803998"/>
            <a:ext cx="288032" cy="216024"/>
          </a:xfrm>
          <a:prstGeom prst="actionButtonHo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59067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897" y="142858"/>
            <a:ext cx="7757940" cy="491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2" name="动作按钮: 第一张 1">
            <a:hlinkClick r:id="rId3" action="ppaction://hlinksldjump" highlightClick="1"/>
          </p:cNvPr>
          <p:cNvSpPr/>
          <p:nvPr/>
        </p:nvSpPr>
        <p:spPr>
          <a:xfrm>
            <a:off x="8676456" y="4587974"/>
            <a:ext cx="216024" cy="288032"/>
          </a:xfrm>
          <a:prstGeom prst="actionButtonHom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828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172" y="81149"/>
            <a:ext cx="7627584" cy="4995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30" name="动作按钮: 第一张 29">
            <a:hlinkClick r:id="rId3" action="ppaction://hlinksldjump" highlightClick="1"/>
          </p:cNvPr>
          <p:cNvSpPr/>
          <p:nvPr/>
        </p:nvSpPr>
        <p:spPr>
          <a:xfrm>
            <a:off x="8676456" y="4587974"/>
            <a:ext cx="216024" cy="288032"/>
          </a:xfrm>
          <a:prstGeom prst="actionButtonHom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245223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Windows</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系统调用</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529" y="142858"/>
            <a:ext cx="7143227" cy="4947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29" name="动作按钮: 第一张 28">
            <a:hlinkClick r:id="rId3" action="ppaction://hlinksldjump" highlightClick="1"/>
          </p:cNvPr>
          <p:cNvSpPr/>
          <p:nvPr/>
        </p:nvSpPr>
        <p:spPr>
          <a:xfrm>
            <a:off x="8676456" y="4587974"/>
            <a:ext cx="216024" cy="288032"/>
          </a:xfrm>
          <a:prstGeom prst="actionButtonHom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38569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1187624" y="1491630"/>
            <a:ext cx="6336704" cy="3194721"/>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复习本章所学习的内容，完成智慧树上的视频学习。</a:t>
            </a:r>
            <a:endParaRPr lang="en-US" altLang="zh-CN" sz="2400" b="1" dirty="0" smtClean="0">
              <a:solidFill>
                <a:schemeClr val="bg1"/>
              </a:solidFill>
              <a:latin typeface="+mn-ea"/>
            </a:endParaRPr>
          </a:p>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查阅资料，自学常用的联机控制命令</a:t>
            </a:r>
            <a:endParaRPr lang="en-US" altLang="zh-CN" sz="2400" b="1" dirty="0" smtClean="0">
              <a:solidFill>
                <a:schemeClr val="bg1"/>
              </a:solidFill>
              <a:latin typeface="+mn-ea"/>
            </a:endParaRPr>
          </a:p>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查阅</a:t>
            </a:r>
            <a:r>
              <a:rPr lang="zh-CN" altLang="en-US" sz="2400" b="1" dirty="0">
                <a:solidFill>
                  <a:schemeClr val="bg1"/>
                </a:solidFill>
                <a:latin typeface="+mn-ea"/>
              </a:rPr>
              <a:t>资料，</a:t>
            </a:r>
            <a:r>
              <a:rPr lang="zh-CN" altLang="en-US" sz="2400" b="1" dirty="0" smtClean="0">
                <a:solidFill>
                  <a:schemeClr val="bg1"/>
                </a:solidFill>
                <a:latin typeface="+mn-ea"/>
              </a:rPr>
              <a:t>自学</a:t>
            </a:r>
            <a:r>
              <a:rPr lang="en-US" altLang="zh-CN" sz="2400" b="1" dirty="0" smtClean="0">
                <a:solidFill>
                  <a:schemeClr val="bg1"/>
                </a:solidFill>
                <a:latin typeface="+mn-ea"/>
              </a:rPr>
              <a:t>5</a:t>
            </a:r>
            <a:r>
              <a:rPr lang="zh-CN" altLang="en-US" sz="2400" b="1" dirty="0" smtClean="0">
                <a:solidFill>
                  <a:schemeClr val="bg1"/>
                </a:solidFill>
                <a:latin typeface="+mn-ea"/>
              </a:rPr>
              <a:t>类常用的</a:t>
            </a:r>
            <a:r>
              <a:rPr lang="en-US" altLang="zh-CN" sz="2400" b="1" dirty="0" smtClean="0">
                <a:solidFill>
                  <a:schemeClr val="bg1"/>
                </a:solidFill>
                <a:latin typeface="+mn-ea"/>
              </a:rPr>
              <a:t>API</a:t>
            </a:r>
            <a:r>
              <a:rPr lang="zh-CN" altLang="en-US" sz="2400" b="1" dirty="0" smtClean="0">
                <a:solidFill>
                  <a:schemeClr val="bg1"/>
                </a:solidFill>
                <a:latin typeface="+mn-ea"/>
              </a:rPr>
              <a:t>函数</a:t>
            </a:r>
            <a:endParaRPr lang="en-US" altLang="zh-CN" sz="2400" b="1" dirty="0" smtClean="0">
              <a:solidFill>
                <a:schemeClr val="bg1"/>
              </a:solidFill>
              <a:latin typeface="+mn-ea"/>
            </a:endParaRPr>
          </a:p>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下次</a:t>
            </a:r>
            <a:r>
              <a:rPr lang="zh-CN" altLang="en-US" sz="2400" b="1" dirty="0" smtClean="0">
                <a:solidFill>
                  <a:schemeClr val="bg1"/>
                </a:solidFill>
                <a:latin typeface="+mn-ea"/>
              </a:rPr>
              <a:t>课第</a:t>
            </a:r>
            <a:r>
              <a:rPr lang="en-US" altLang="zh-CN" sz="2400" b="1" dirty="0" smtClean="0">
                <a:solidFill>
                  <a:schemeClr val="bg1"/>
                </a:solidFill>
                <a:latin typeface="+mn-ea"/>
              </a:rPr>
              <a:t>1-2</a:t>
            </a:r>
            <a:r>
              <a:rPr lang="zh-CN" altLang="en-US" sz="2400" b="1" dirty="0">
                <a:solidFill>
                  <a:schemeClr val="bg1"/>
                </a:solidFill>
                <a:latin typeface="+mn-ea"/>
              </a:rPr>
              <a:t>章</a:t>
            </a:r>
            <a:r>
              <a:rPr lang="zh-CN" altLang="en-US" sz="2400" b="1" dirty="0" smtClean="0">
                <a:solidFill>
                  <a:schemeClr val="bg1"/>
                </a:solidFill>
                <a:latin typeface="+mn-ea"/>
              </a:rPr>
              <a:t>章节</a:t>
            </a:r>
            <a:r>
              <a:rPr lang="zh-CN" altLang="en-US" sz="2400" b="1" dirty="0">
                <a:solidFill>
                  <a:schemeClr val="bg1"/>
                </a:solidFill>
                <a:latin typeface="+mn-ea"/>
              </a:rPr>
              <a:t>小测</a:t>
            </a:r>
            <a:endParaRPr lang="en-US" altLang="zh-CN" sz="2400" b="1" dirty="0">
              <a:solidFill>
                <a:schemeClr val="bg1"/>
              </a:solidFill>
              <a:latin typeface="+mn-ea"/>
            </a:endParaRPr>
          </a:p>
          <a:p>
            <a:pPr marL="0" lvl="1" algn="just">
              <a:lnSpc>
                <a:spcPct val="140000"/>
              </a:lnSpc>
              <a:buClr>
                <a:schemeClr val="accent6">
                  <a:lumMod val="60000"/>
                  <a:lumOff val="40000"/>
                </a:schemeClr>
              </a:buClr>
              <a:buFont typeface="Wingdings" panose="05000000000000000000" pitchFamily="2" charset="2"/>
              <a:buChar char="Ø"/>
            </a:pPr>
            <a:endParaRPr lang="en-US" altLang="zh-CN" sz="2400" b="1" dirty="0" smtClean="0">
              <a:solidFill>
                <a:schemeClr val="bg1"/>
              </a:solidFill>
              <a:latin typeface="+mn-ea"/>
            </a:endParaRPr>
          </a:p>
        </p:txBody>
      </p:sp>
    </p:spTree>
    <p:extLst>
      <p:ext uri="{BB962C8B-B14F-4D97-AF65-F5344CB8AC3E}">
        <p14:creationId xmlns:p14="http://schemas.microsoft.com/office/powerpoint/2010/main" val="328725862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left)">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wipe(left)">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wipe(left)">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cstate="print">
            <a:clrChange>
              <a:clrFrom>
                <a:srgbClr val="F5F5F2">
                  <a:alpha val="80000"/>
                </a:srgbClr>
              </a:clrFrom>
              <a:clrTo>
                <a:srgbClr val="F5F5F2">
                  <a:alpha val="0"/>
                </a:srgbClr>
              </a:clrTo>
            </a:clrChange>
            <a:extLst>
              <a:ext uri="{BEBA8EAE-BF5A-486C-A8C5-ECC9F3942E4B}">
                <a14:imgProps xmlns:a14="http://schemas.microsoft.com/office/drawing/2010/main">
                  <a14:imgLayer r:embed="rId3">
                    <a14:imgEffect>
                      <a14:artisticPastelsSmooth/>
                    </a14:imgEffect>
                  </a14:imgLayer>
                </a14:imgProps>
              </a:ext>
            </a:extLst>
          </a:blip>
          <a:srcRect/>
          <a:stretch>
            <a:fillRect/>
          </a:stretch>
        </p:blipFill>
        <p:spPr bwMode="auto">
          <a:xfrm rot="21163559">
            <a:off x="2670789" y="1565488"/>
            <a:ext cx="3498851" cy="901700"/>
          </a:xfrm>
          <a:prstGeom prst="rect">
            <a:avLst/>
          </a:prstGeom>
          <a:noFill/>
          <a:ln w="9525">
            <a:noFill/>
            <a:miter lim="800000"/>
            <a:headEnd/>
            <a:tailEnd/>
          </a:ln>
          <a:effectLst/>
        </p:spPr>
      </p:pic>
      <p:grpSp>
        <p:nvGrpSpPr>
          <p:cNvPr id="10" name="组合 27"/>
          <p:cNvGrpSpPr/>
          <p:nvPr/>
        </p:nvGrpSpPr>
        <p:grpSpPr>
          <a:xfrm>
            <a:off x="763792" y="475567"/>
            <a:ext cx="1704074" cy="840074"/>
            <a:chOff x="728490" y="483518"/>
            <a:chExt cx="1704075" cy="840074"/>
          </a:xfrm>
        </p:grpSpPr>
        <p:pic>
          <p:nvPicPr>
            <p:cNvPr id="11" name="图片 10" descr="贴贴子4张（空）.png"/>
            <p:cNvPicPr>
              <a:picLocks noChangeAspect="1"/>
            </p:cNvPicPr>
            <p:nvPr/>
          </p:nvPicPr>
          <p:blipFill>
            <a:blip r:embed="rId4" cstate="print"/>
            <a:srcRect t="33018" r="77449" b="52860"/>
            <a:stretch>
              <a:fillRect/>
            </a:stretch>
          </p:blipFill>
          <p:spPr>
            <a:xfrm>
              <a:off x="728490" y="483518"/>
              <a:ext cx="1512168" cy="615496"/>
            </a:xfrm>
            <a:prstGeom prst="rect">
              <a:avLst/>
            </a:prstGeom>
          </p:spPr>
        </p:pic>
        <p:sp>
          <p:nvSpPr>
            <p:cNvPr id="12" name="TextBox 11"/>
            <p:cNvSpPr txBox="1"/>
            <p:nvPr/>
          </p:nvSpPr>
          <p:spPr>
            <a:xfrm>
              <a:off x="1187623" y="731481"/>
              <a:ext cx="352179" cy="384721"/>
            </a:xfrm>
            <a:prstGeom prst="rect">
              <a:avLst/>
            </a:prstGeom>
            <a:noFill/>
          </p:spPr>
          <p:txBody>
            <a:bodyPr wrap="square" rtlCol="0">
              <a:spAutoFit/>
            </a:bodyPr>
            <a:lstStyle/>
            <a:p>
              <a:pPr defTabSz="914399"/>
              <a:r>
                <a:rPr lang="en-US" altLang="zh-CN" sz="1900" dirty="0" smtClean="0">
                  <a:solidFill>
                    <a:prstClr val="black"/>
                  </a:solidFill>
                  <a:latin typeface="微软雅黑" pitchFamily="34" charset="-122"/>
                  <a:ea typeface="微软雅黑" pitchFamily="34" charset="-122"/>
                </a:rPr>
                <a:t>O</a:t>
              </a:r>
              <a:endParaRPr lang="zh-CN" altLang="en-US" sz="1900" dirty="0">
                <a:solidFill>
                  <a:prstClr val="black"/>
                </a:solidFill>
                <a:latin typeface="微软雅黑" pitchFamily="34" charset="-122"/>
                <a:ea typeface="微软雅黑" pitchFamily="34" charset="-122"/>
              </a:endParaRPr>
            </a:p>
          </p:txBody>
        </p:sp>
        <p:pic>
          <p:nvPicPr>
            <p:cNvPr id="13" name="图片 12" descr="贴贴子4张（空）.png"/>
            <p:cNvPicPr>
              <a:picLocks/>
            </p:cNvPicPr>
            <p:nvPr/>
          </p:nvPicPr>
          <p:blipFill>
            <a:blip r:embed="rId4" cstate="print"/>
            <a:srcRect l="6702" t="47905" r="86794" b="38897"/>
            <a:stretch>
              <a:fillRect/>
            </a:stretch>
          </p:blipFill>
          <p:spPr>
            <a:xfrm rot="-180000">
              <a:off x="2000565" y="731480"/>
              <a:ext cx="432000" cy="592112"/>
            </a:xfrm>
            <a:prstGeom prst="rect">
              <a:avLst/>
            </a:prstGeom>
          </p:spPr>
        </p:pic>
        <p:sp>
          <p:nvSpPr>
            <p:cNvPr id="14" name="TextBox 13"/>
            <p:cNvSpPr txBox="1"/>
            <p:nvPr/>
          </p:nvSpPr>
          <p:spPr>
            <a:xfrm rot="599039">
              <a:off x="1667523" y="747677"/>
              <a:ext cx="352179" cy="384721"/>
            </a:xfrm>
            <a:prstGeom prst="rect">
              <a:avLst/>
            </a:prstGeom>
            <a:noFill/>
          </p:spPr>
          <p:txBody>
            <a:bodyPr wrap="square" rtlCol="0">
              <a:spAutoFit/>
            </a:bodyPr>
            <a:lstStyle/>
            <a:p>
              <a:pPr defTabSz="914399"/>
              <a:r>
                <a:rPr lang="en-US" altLang="zh-CN" sz="1900" dirty="0" smtClean="0">
                  <a:solidFill>
                    <a:prstClr val="black"/>
                  </a:solidFill>
                  <a:latin typeface="微软雅黑" pitchFamily="34" charset="-122"/>
                  <a:ea typeface="微软雅黑" pitchFamily="34" charset="-122"/>
                </a:rPr>
                <a:t>S</a:t>
              </a:r>
              <a:endParaRPr lang="zh-CN" altLang="en-US" sz="1900" dirty="0">
                <a:solidFill>
                  <a:prstClr val="black"/>
                </a:solidFill>
                <a:latin typeface="微软雅黑" pitchFamily="34" charset="-122"/>
                <a:ea typeface="微软雅黑" pitchFamily="34" charset="-122"/>
              </a:endParaRPr>
            </a:p>
          </p:txBody>
        </p:sp>
        <p:sp>
          <p:nvSpPr>
            <p:cNvPr id="15" name="TextBox 14"/>
            <p:cNvSpPr txBox="1"/>
            <p:nvPr/>
          </p:nvSpPr>
          <p:spPr>
            <a:xfrm rot="20890714">
              <a:off x="2046654" y="743345"/>
              <a:ext cx="352179" cy="384721"/>
            </a:xfrm>
            <a:prstGeom prst="rect">
              <a:avLst/>
            </a:prstGeom>
            <a:noFill/>
          </p:spPr>
          <p:txBody>
            <a:bodyPr wrap="square" rtlCol="0">
              <a:spAutoFit/>
            </a:bodyPr>
            <a:lstStyle/>
            <a:p>
              <a:pPr defTabSz="914399"/>
              <a:r>
                <a:rPr lang="en-US" altLang="zh-CN" sz="1900" dirty="0">
                  <a:solidFill>
                    <a:prstClr val="black"/>
                  </a:solidFill>
                  <a:latin typeface="微软雅黑" pitchFamily="34" charset="-122"/>
                  <a:ea typeface="微软雅黑" pitchFamily="34" charset="-122"/>
                </a:rPr>
                <a:t>Y</a:t>
              </a:r>
              <a:endParaRPr lang="zh-CN" altLang="en-US" sz="1900" dirty="0">
                <a:solidFill>
                  <a:prstClr val="black"/>
                </a:solidFill>
                <a:latin typeface="微软雅黑" pitchFamily="34" charset="-122"/>
                <a:ea typeface="微软雅黑" pitchFamily="34" charset="-122"/>
              </a:endParaRPr>
            </a:p>
          </p:txBody>
        </p:sp>
      </p:grpSp>
      <p:sp>
        <p:nvSpPr>
          <p:cNvPr id="17" name="矩形 16"/>
          <p:cNvSpPr/>
          <p:nvPr/>
        </p:nvSpPr>
        <p:spPr>
          <a:xfrm rot="20036968">
            <a:off x="6164792" y="2110566"/>
            <a:ext cx="1432894" cy="338553"/>
          </a:xfrm>
          <a:prstGeom prst="rect">
            <a:avLst/>
          </a:prstGeom>
        </p:spPr>
        <p:txBody>
          <a:bodyPr wrap="none" lIns="91441" tIns="45721" rIns="91441" bIns="45721">
            <a:spAutoFit/>
          </a:bodyPr>
          <a:lstStyle/>
          <a:p>
            <a:pPr defTabSz="914399"/>
            <a:r>
              <a:rPr lang="en-US" altLang="zh-CN" sz="1600" dirty="0">
                <a:solidFill>
                  <a:prstClr val="white">
                    <a:lumMod val="75000"/>
                  </a:prstClr>
                </a:solidFill>
                <a:latin typeface="Arial" pitchFamily="34" charset="0"/>
                <a:ea typeface="微软雅黑"/>
                <a:cs typeface="Arial" pitchFamily="34" charset="0"/>
              </a:rPr>
              <a:t>THANK</a:t>
            </a:r>
            <a:r>
              <a:rPr lang="zh-CN" altLang="en-US" sz="1600" dirty="0">
                <a:solidFill>
                  <a:prstClr val="white">
                    <a:lumMod val="75000"/>
                  </a:prstClr>
                </a:solidFill>
                <a:latin typeface="Arial" pitchFamily="34" charset="0"/>
                <a:ea typeface="微软雅黑"/>
                <a:cs typeface="Arial" pitchFamily="34" charset="0"/>
              </a:rPr>
              <a:t> </a:t>
            </a:r>
            <a:r>
              <a:rPr lang="en-US" altLang="zh-CN" sz="1600" dirty="0">
                <a:solidFill>
                  <a:prstClr val="white">
                    <a:lumMod val="75000"/>
                  </a:prstClr>
                </a:solidFill>
                <a:latin typeface="Arial" pitchFamily="34" charset="0"/>
                <a:ea typeface="微软雅黑"/>
                <a:cs typeface="Arial" pitchFamily="34" charset="0"/>
              </a:rPr>
              <a:t>YOU!</a:t>
            </a:r>
            <a:endParaRPr lang="zh-CN" altLang="en-US" sz="1600" dirty="0">
              <a:solidFill>
                <a:prstClr val="white">
                  <a:lumMod val="75000"/>
                </a:prstClr>
              </a:solidFill>
              <a:latin typeface="Arial" pitchFamily="34" charset="0"/>
              <a:ea typeface="微软雅黑"/>
              <a:cs typeface="Arial" pitchFamily="34" charset="0"/>
            </a:endParaRPr>
          </a:p>
        </p:txBody>
      </p:sp>
      <p:pic>
        <p:nvPicPr>
          <p:cNvPr id="16" name="Picture 2"/>
          <p:cNvPicPr>
            <a:picLocks noChangeAspect="1" noChangeArrowheads="1"/>
          </p:cNvPicPr>
          <p:nvPr/>
        </p:nvPicPr>
        <p:blipFill>
          <a:blip r:embed="rId5" cstate="print"/>
          <a:srcRect/>
          <a:stretch>
            <a:fillRect/>
          </a:stretch>
        </p:blipFill>
        <p:spPr bwMode="auto">
          <a:xfrm>
            <a:off x="2027867" y="598012"/>
            <a:ext cx="504056" cy="492055"/>
          </a:xfrm>
          <a:prstGeom prst="rect">
            <a:avLst/>
          </a:prstGeom>
          <a:noFill/>
          <a:ln w="9525">
            <a:noFill/>
            <a:miter lim="800000"/>
            <a:headEnd/>
            <a:tailEnd/>
          </a:ln>
        </p:spPr>
      </p:pic>
    </p:spTree>
    <p:extLst>
      <p:ext uri="{BB962C8B-B14F-4D97-AF65-F5344CB8AC3E}">
        <p14:creationId xmlns:p14="http://schemas.microsoft.com/office/powerpoint/2010/main" val="280500025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7642</TotalTime>
  <Words>4007</Words>
  <Application>Microsoft Office PowerPoint</Application>
  <PresentationFormat>全屏显示(16:9)</PresentationFormat>
  <Paragraphs>395</Paragraphs>
  <Slides>77</Slides>
  <Notes>20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77</vt:i4>
      </vt:variant>
    </vt:vector>
  </HeadingPairs>
  <TitlesOfParts>
    <vt:vector size="91" baseType="lpstr">
      <vt:lpstr>Gulim</vt:lpstr>
      <vt:lpstr>HY견고딕</vt:lpstr>
      <vt:lpstr>맑은 고딕</vt:lpstr>
      <vt:lpstr>方正特粗光辉简体</vt:lpstr>
      <vt:lpstr>黑体</vt:lpstr>
      <vt:lpstr>宋体</vt:lpstr>
      <vt:lpstr>微软雅黑</vt:lpstr>
      <vt:lpstr>Arial</vt:lpstr>
      <vt:lpstr>Calibri</vt:lpstr>
      <vt:lpstr>Century Gothic</vt:lpstr>
      <vt:lpstr>Segoe UI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qian gao</cp:lastModifiedBy>
  <cp:revision>621</cp:revision>
  <dcterms:created xsi:type="dcterms:W3CDTF">2014-04-24T10:36:34Z</dcterms:created>
  <dcterms:modified xsi:type="dcterms:W3CDTF">2025-09-25T10:59:28Z</dcterms:modified>
</cp:coreProperties>
</file>