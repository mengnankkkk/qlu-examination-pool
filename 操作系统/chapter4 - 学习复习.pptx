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62" r:id="rId3"/>
    <p:sldId id="291" r:id="rId4"/>
    <p:sldId id="449" r:id="rId5"/>
    <p:sldId id="691" r:id="rId6"/>
    <p:sldId id="692" r:id="rId7"/>
    <p:sldId id="694" r:id="rId8"/>
    <p:sldId id="695" r:id="rId9"/>
    <p:sldId id="508" r:id="rId10"/>
    <p:sldId id="388" r:id="rId11"/>
    <p:sldId id="696" r:id="rId12"/>
    <p:sldId id="697" r:id="rId13"/>
    <p:sldId id="698" r:id="rId14"/>
    <p:sldId id="758" r:id="rId15"/>
    <p:sldId id="511" r:id="rId16"/>
    <p:sldId id="702" r:id="rId17"/>
    <p:sldId id="700" r:id="rId18"/>
    <p:sldId id="699" r:id="rId19"/>
    <p:sldId id="701" r:id="rId20"/>
    <p:sldId id="703" r:id="rId21"/>
    <p:sldId id="704" r:id="rId22"/>
    <p:sldId id="705" r:id="rId23"/>
    <p:sldId id="708" r:id="rId24"/>
    <p:sldId id="707" r:id="rId25"/>
    <p:sldId id="706" r:id="rId26"/>
    <p:sldId id="711" r:id="rId27"/>
    <p:sldId id="509" r:id="rId28"/>
    <p:sldId id="710" r:id="rId29"/>
    <p:sldId id="709" r:id="rId30"/>
    <p:sldId id="512" r:id="rId31"/>
    <p:sldId id="713" r:id="rId32"/>
    <p:sldId id="714" r:id="rId33"/>
    <p:sldId id="715" r:id="rId34"/>
    <p:sldId id="716" r:id="rId35"/>
    <p:sldId id="717" r:id="rId36"/>
    <p:sldId id="712" r:id="rId37"/>
    <p:sldId id="514" r:id="rId38"/>
    <p:sldId id="718" r:id="rId39"/>
    <p:sldId id="719" r:id="rId40"/>
    <p:sldId id="720" r:id="rId41"/>
    <p:sldId id="721" r:id="rId42"/>
    <p:sldId id="759" r:id="rId43"/>
    <p:sldId id="722" r:id="rId44"/>
    <p:sldId id="723" r:id="rId45"/>
    <p:sldId id="724" r:id="rId46"/>
    <p:sldId id="725" r:id="rId47"/>
    <p:sldId id="726" r:id="rId48"/>
    <p:sldId id="727" r:id="rId49"/>
    <p:sldId id="448" r:id="rId50"/>
    <p:sldId id="728" r:id="rId51"/>
    <p:sldId id="729" r:id="rId52"/>
    <p:sldId id="730" r:id="rId53"/>
    <p:sldId id="731" r:id="rId54"/>
    <p:sldId id="732" r:id="rId55"/>
    <p:sldId id="733" r:id="rId56"/>
    <p:sldId id="734" r:id="rId57"/>
    <p:sldId id="735" r:id="rId58"/>
    <p:sldId id="736" r:id="rId59"/>
    <p:sldId id="737" r:id="rId60"/>
    <p:sldId id="738" r:id="rId61"/>
    <p:sldId id="761" r:id="rId62"/>
    <p:sldId id="762" r:id="rId63"/>
    <p:sldId id="510" r:id="rId64"/>
    <p:sldId id="763" r:id="rId65"/>
    <p:sldId id="764" r:id="rId66"/>
    <p:sldId id="739" r:id="rId67"/>
    <p:sldId id="522" r:id="rId68"/>
    <p:sldId id="740" r:id="rId69"/>
    <p:sldId id="741" r:id="rId70"/>
    <p:sldId id="742" r:id="rId71"/>
    <p:sldId id="754" r:id="rId72"/>
    <p:sldId id="745" r:id="rId73"/>
    <p:sldId id="744" r:id="rId74"/>
    <p:sldId id="746" r:id="rId75"/>
    <p:sldId id="747" r:id="rId76"/>
    <p:sldId id="755" r:id="rId77"/>
    <p:sldId id="743" r:id="rId78"/>
    <p:sldId id="748" r:id="rId79"/>
    <p:sldId id="749" r:id="rId80"/>
    <p:sldId id="751" r:id="rId81"/>
    <p:sldId id="756" r:id="rId82"/>
    <p:sldId id="752" r:id="rId83"/>
    <p:sldId id="757" r:id="rId84"/>
    <p:sldId id="753" r:id="rId85"/>
    <p:sldId id="689" r:id="rId86"/>
    <p:sldId id="260" r:id="rId8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8989"/>
    <a:srgbClr val="FF3300"/>
    <a:srgbClr val="006600"/>
    <a:srgbClr val="0E2D07"/>
    <a:srgbClr val="008000"/>
    <a:srgbClr val="33CC33"/>
    <a:srgbClr val="8FCF49"/>
    <a:srgbClr val="BCE292"/>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14" autoAdjust="0"/>
  </p:normalViewPr>
  <p:slideViewPr>
    <p:cSldViewPr>
      <p:cViewPr varScale="1">
        <p:scale>
          <a:sx n="148" d="100"/>
          <a:sy n="148" d="100"/>
        </p:scale>
        <p:origin x="492"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BF1A80-AD49-4C16-A13B-5867B0E2C3D4}" type="doc">
      <dgm:prSet loTypeId="urn:microsoft.com/office/officeart/2009/layout/CircleArrowProcess" loCatId="process" qsTypeId="urn:microsoft.com/office/officeart/2005/8/quickstyle/simple1" qsCatId="simple" csTypeId="urn:microsoft.com/office/officeart/2005/8/colors/colorful5" csCatId="colorful" phldr="1"/>
      <dgm:spPr/>
      <dgm:t>
        <a:bodyPr/>
        <a:lstStyle/>
        <a:p>
          <a:endParaRPr lang="zh-CN" altLang="en-US"/>
        </a:p>
      </dgm:t>
    </dgm:pt>
    <dgm:pt modelId="{9A09C867-C1E1-4F33-B866-4669E2D6AD1B}">
      <dgm:prSet phldrT="[文本]" custT="1"/>
      <dgm:spPr/>
      <dgm:t>
        <a:bodyPr/>
        <a:lstStyle/>
        <a:p>
          <a:r>
            <a:rPr lang="zh-CN" altLang="en-US" sz="2400" b="1" dirty="0" smtClean="0">
              <a:solidFill>
                <a:srgbClr val="FFFF00"/>
              </a:solidFill>
            </a:rPr>
            <a:t>作业调度</a:t>
          </a:r>
          <a:endParaRPr lang="zh-CN" altLang="en-US" sz="2400" b="1" dirty="0">
            <a:solidFill>
              <a:srgbClr val="FFFF00"/>
            </a:solidFill>
          </a:endParaRPr>
        </a:p>
      </dgm:t>
    </dgm:pt>
    <dgm:pt modelId="{A7098AF1-D0E3-422F-B85E-4B00CD361FBE}" type="parTrans" cxnId="{B54973C4-141C-4A00-93A5-F9846ED23427}">
      <dgm:prSet/>
      <dgm:spPr/>
      <dgm:t>
        <a:bodyPr/>
        <a:lstStyle/>
        <a:p>
          <a:endParaRPr lang="zh-CN" altLang="en-US"/>
        </a:p>
      </dgm:t>
    </dgm:pt>
    <dgm:pt modelId="{95122F63-848D-485F-A283-6B9442442D33}" type="sibTrans" cxnId="{B54973C4-141C-4A00-93A5-F9846ED23427}">
      <dgm:prSet/>
      <dgm:spPr/>
      <dgm:t>
        <a:bodyPr/>
        <a:lstStyle/>
        <a:p>
          <a:endParaRPr lang="zh-CN" altLang="en-US"/>
        </a:p>
      </dgm:t>
    </dgm:pt>
    <dgm:pt modelId="{6F5F2378-9B7E-4263-A698-1C7DDE6EFEC2}">
      <dgm:prSet phldrT="[文本]" custT="1"/>
      <dgm:spPr/>
      <dgm:t>
        <a:bodyPr/>
        <a:lstStyle/>
        <a:p>
          <a:r>
            <a:rPr lang="zh-CN" altLang="en-US" sz="2400" b="1" dirty="0" smtClean="0">
              <a:solidFill>
                <a:schemeClr val="bg1"/>
              </a:solidFill>
            </a:rPr>
            <a:t>交换调度</a:t>
          </a:r>
          <a:endParaRPr lang="zh-CN" altLang="en-US" sz="2400" b="1" dirty="0">
            <a:solidFill>
              <a:schemeClr val="bg1"/>
            </a:solidFill>
          </a:endParaRPr>
        </a:p>
      </dgm:t>
    </dgm:pt>
    <dgm:pt modelId="{0E13C8E7-1E07-4159-958C-232D783546C2}" type="parTrans" cxnId="{E0F65C02-2823-409B-9E97-05357BE3B290}">
      <dgm:prSet/>
      <dgm:spPr/>
      <dgm:t>
        <a:bodyPr/>
        <a:lstStyle/>
        <a:p>
          <a:endParaRPr lang="zh-CN" altLang="en-US"/>
        </a:p>
      </dgm:t>
    </dgm:pt>
    <dgm:pt modelId="{AEA225BD-CA99-4E02-8B51-9FDA65E06C5F}" type="sibTrans" cxnId="{E0F65C02-2823-409B-9E97-05357BE3B290}">
      <dgm:prSet/>
      <dgm:spPr/>
      <dgm:t>
        <a:bodyPr/>
        <a:lstStyle/>
        <a:p>
          <a:endParaRPr lang="zh-CN" altLang="en-US"/>
        </a:p>
      </dgm:t>
    </dgm:pt>
    <dgm:pt modelId="{A30432A8-0361-4E2D-AB46-6FE77B8B5419}">
      <dgm:prSet phldrT="[文本]" custT="1"/>
      <dgm:spPr/>
      <dgm:t>
        <a:bodyPr/>
        <a:lstStyle/>
        <a:p>
          <a:r>
            <a:rPr lang="zh-CN" altLang="en-US" sz="2400" b="1" dirty="0" smtClean="0">
              <a:solidFill>
                <a:schemeClr val="bg1"/>
              </a:solidFill>
            </a:rPr>
            <a:t>进程调度</a:t>
          </a:r>
          <a:endParaRPr lang="zh-CN" altLang="en-US" sz="2400" b="1" dirty="0">
            <a:solidFill>
              <a:schemeClr val="bg1"/>
            </a:solidFill>
          </a:endParaRPr>
        </a:p>
      </dgm:t>
    </dgm:pt>
    <dgm:pt modelId="{44118357-15E6-4731-BDE8-91F59CC5DF31}" type="parTrans" cxnId="{E2A1D821-645C-4835-9078-EDA2F8EC1E32}">
      <dgm:prSet/>
      <dgm:spPr/>
      <dgm:t>
        <a:bodyPr/>
        <a:lstStyle/>
        <a:p>
          <a:endParaRPr lang="zh-CN" altLang="en-US"/>
        </a:p>
      </dgm:t>
    </dgm:pt>
    <dgm:pt modelId="{94900359-D1A7-4D47-9B80-920FBB39CF2A}" type="sibTrans" cxnId="{E2A1D821-645C-4835-9078-EDA2F8EC1E32}">
      <dgm:prSet/>
      <dgm:spPr/>
      <dgm:t>
        <a:bodyPr/>
        <a:lstStyle/>
        <a:p>
          <a:endParaRPr lang="zh-CN" altLang="en-US"/>
        </a:p>
      </dgm:t>
    </dgm:pt>
    <dgm:pt modelId="{ADA738FC-FB2A-4FBB-9A69-CDEE64939EEE}">
      <dgm:prSet phldrT="[文本]" custT="1"/>
      <dgm:spPr/>
      <dgm:t>
        <a:bodyPr/>
        <a:lstStyle/>
        <a:p>
          <a:r>
            <a:rPr lang="zh-CN" altLang="en-US" sz="2400" b="1" dirty="0" smtClean="0">
              <a:solidFill>
                <a:schemeClr val="bg1"/>
              </a:solidFill>
            </a:rPr>
            <a:t>线程调度</a:t>
          </a:r>
          <a:endParaRPr lang="zh-CN" altLang="en-US" sz="2400" b="1" dirty="0">
            <a:solidFill>
              <a:schemeClr val="bg1"/>
            </a:solidFill>
          </a:endParaRPr>
        </a:p>
      </dgm:t>
    </dgm:pt>
    <dgm:pt modelId="{1CCE4C6F-05D1-4436-8B6B-3CFE7CDB0696}" type="parTrans" cxnId="{C4B97E67-4609-4A11-AE66-54BEF3DA0D78}">
      <dgm:prSet/>
      <dgm:spPr/>
      <dgm:t>
        <a:bodyPr/>
        <a:lstStyle/>
        <a:p>
          <a:endParaRPr lang="zh-CN" altLang="en-US"/>
        </a:p>
      </dgm:t>
    </dgm:pt>
    <dgm:pt modelId="{DAB56713-772A-46A1-906A-88A6A9473CD3}" type="sibTrans" cxnId="{C4B97E67-4609-4A11-AE66-54BEF3DA0D78}">
      <dgm:prSet/>
      <dgm:spPr/>
      <dgm:t>
        <a:bodyPr/>
        <a:lstStyle/>
        <a:p>
          <a:endParaRPr lang="zh-CN" altLang="en-US"/>
        </a:p>
      </dgm:t>
    </dgm:pt>
    <dgm:pt modelId="{DE3E8D95-B145-43AD-82D0-A385857C25F2}" type="pres">
      <dgm:prSet presAssocID="{2FBF1A80-AD49-4C16-A13B-5867B0E2C3D4}" presName="Name0" presStyleCnt="0">
        <dgm:presLayoutVars>
          <dgm:chMax val="7"/>
          <dgm:chPref val="7"/>
          <dgm:dir/>
          <dgm:animLvl val="lvl"/>
        </dgm:presLayoutVars>
      </dgm:prSet>
      <dgm:spPr/>
      <dgm:t>
        <a:bodyPr/>
        <a:lstStyle/>
        <a:p>
          <a:endParaRPr lang="zh-CN" altLang="en-US"/>
        </a:p>
      </dgm:t>
    </dgm:pt>
    <dgm:pt modelId="{81940F02-1075-4C44-9E29-7AA2DA8EBFD2}" type="pres">
      <dgm:prSet presAssocID="{9A09C867-C1E1-4F33-B866-4669E2D6AD1B}" presName="Accent1" presStyleCnt="0"/>
      <dgm:spPr/>
    </dgm:pt>
    <dgm:pt modelId="{084DB16D-924C-442B-8ECB-2FCFC2DE8024}" type="pres">
      <dgm:prSet presAssocID="{9A09C867-C1E1-4F33-B866-4669E2D6AD1B}" presName="Accent" presStyleLbl="node1" presStyleIdx="0" presStyleCnt="4"/>
      <dgm:spPr/>
    </dgm:pt>
    <dgm:pt modelId="{9889F776-8F38-4CD2-948B-CD3D1B0C26C9}" type="pres">
      <dgm:prSet presAssocID="{9A09C867-C1E1-4F33-B866-4669E2D6AD1B}" presName="Parent1" presStyleLbl="revTx" presStyleIdx="0" presStyleCnt="4">
        <dgm:presLayoutVars>
          <dgm:chMax val="1"/>
          <dgm:chPref val="1"/>
          <dgm:bulletEnabled val="1"/>
        </dgm:presLayoutVars>
      </dgm:prSet>
      <dgm:spPr/>
      <dgm:t>
        <a:bodyPr/>
        <a:lstStyle/>
        <a:p>
          <a:endParaRPr lang="zh-CN" altLang="en-US"/>
        </a:p>
      </dgm:t>
    </dgm:pt>
    <dgm:pt modelId="{CD2D4372-129F-4166-BB6D-C7B5ABB20A2E}" type="pres">
      <dgm:prSet presAssocID="{6F5F2378-9B7E-4263-A698-1C7DDE6EFEC2}" presName="Accent2" presStyleCnt="0"/>
      <dgm:spPr/>
    </dgm:pt>
    <dgm:pt modelId="{7DFC0E1E-45CD-4E24-8262-D08939F7343D}" type="pres">
      <dgm:prSet presAssocID="{6F5F2378-9B7E-4263-A698-1C7DDE6EFEC2}" presName="Accent" presStyleLbl="node1" presStyleIdx="1" presStyleCnt="4"/>
      <dgm:spPr/>
    </dgm:pt>
    <dgm:pt modelId="{33A7BD48-0E66-4D7A-B719-42B19612BE3F}" type="pres">
      <dgm:prSet presAssocID="{6F5F2378-9B7E-4263-A698-1C7DDE6EFEC2}" presName="Parent2" presStyleLbl="revTx" presStyleIdx="1" presStyleCnt="4">
        <dgm:presLayoutVars>
          <dgm:chMax val="1"/>
          <dgm:chPref val="1"/>
          <dgm:bulletEnabled val="1"/>
        </dgm:presLayoutVars>
      </dgm:prSet>
      <dgm:spPr/>
      <dgm:t>
        <a:bodyPr/>
        <a:lstStyle/>
        <a:p>
          <a:endParaRPr lang="zh-CN" altLang="en-US"/>
        </a:p>
      </dgm:t>
    </dgm:pt>
    <dgm:pt modelId="{A8EDEADF-7694-4AA5-8FA3-4EAB59A55663}" type="pres">
      <dgm:prSet presAssocID="{A30432A8-0361-4E2D-AB46-6FE77B8B5419}" presName="Accent3" presStyleCnt="0"/>
      <dgm:spPr/>
    </dgm:pt>
    <dgm:pt modelId="{364ED544-6BA9-4DCB-A1BE-1E1676EC38DD}" type="pres">
      <dgm:prSet presAssocID="{A30432A8-0361-4E2D-AB46-6FE77B8B5419}" presName="Accent" presStyleLbl="node1" presStyleIdx="2" presStyleCnt="4"/>
      <dgm:spPr/>
    </dgm:pt>
    <dgm:pt modelId="{4372EEBA-E26F-4CD7-B785-23311DFB4FB3}" type="pres">
      <dgm:prSet presAssocID="{A30432A8-0361-4E2D-AB46-6FE77B8B5419}" presName="Parent3" presStyleLbl="revTx" presStyleIdx="2" presStyleCnt="4">
        <dgm:presLayoutVars>
          <dgm:chMax val="1"/>
          <dgm:chPref val="1"/>
          <dgm:bulletEnabled val="1"/>
        </dgm:presLayoutVars>
      </dgm:prSet>
      <dgm:spPr/>
      <dgm:t>
        <a:bodyPr/>
        <a:lstStyle/>
        <a:p>
          <a:endParaRPr lang="zh-CN" altLang="en-US"/>
        </a:p>
      </dgm:t>
    </dgm:pt>
    <dgm:pt modelId="{B7E01FE0-E916-4A54-AD13-E1B0637BBFA7}" type="pres">
      <dgm:prSet presAssocID="{ADA738FC-FB2A-4FBB-9A69-CDEE64939EEE}" presName="Accent4" presStyleCnt="0"/>
      <dgm:spPr/>
    </dgm:pt>
    <dgm:pt modelId="{2903EBDF-6B7C-4799-8C7B-35615DC35896}" type="pres">
      <dgm:prSet presAssocID="{ADA738FC-FB2A-4FBB-9A69-CDEE64939EEE}" presName="Accent" presStyleLbl="node1" presStyleIdx="3" presStyleCnt="4"/>
      <dgm:spPr/>
    </dgm:pt>
    <dgm:pt modelId="{E53E95CE-0E59-405B-9E16-50638467FAB7}" type="pres">
      <dgm:prSet presAssocID="{ADA738FC-FB2A-4FBB-9A69-CDEE64939EEE}" presName="Parent4" presStyleLbl="revTx" presStyleIdx="3" presStyleCnt="4">
        <dgm:presLayoutVars>
          <dgm:chMax val="1"/>
          <dgm:chPref val="1"/>
          <dgm:bulletEnabled val="1"/>
        </dgm:presLayoutVars>
      </dgm:prSet>
      <dgm:spPr/>
      <dgm:t>
        <a:bodyPr/>
        <a:lstStyle/>
        <a:p>
          <a:endParaRPr lang="zh-CN" altLang="en-US"/>
        </a:p>
      </dgm:t>
    </dgm:pt>
  </dgm:ptLst>
  <dgm:cxnLst>
    <dgm:cxn modelId="{334DD739-B4C7-41AA-B0CD-390F2438CA3D}" type="presOf" srcId="{6F5F2378-9B7E-4263-A698-1C7DDE6EFEC2}" destId="{33A7BD48-0E66-4D7A-B719-42B19612BE3F}" srcOrd="0" destOrd="0" presId="urn:microsoft.com/office/officeart/2009/layout/CircleArrowProcess"/>
    <dgm:cxn modelId="{DCB87CA1-D543-42F9-AF0B-A53E8DEC0CDF}" type="presOf" srcId="{2FBF1A80-AD49-4C16-A13B-5867B0E2C3D4}" destId="{DE3E8D95-B145-43AD-82D0-A385857C25F2}" srcOrd="0" destOrd="0" presId="urn:microsoft.com/office/officeart/2009/layout/CircleArrowProcess"/>
    <dgm:cxn modelId="{C4B97E67-4609-4A11-AE66-54BEF3DA0D78}" srcId="{2FBF1A80-AD49-4C16-A13B-5867B0E2C3D4}" destId="{ADA738FC-FB2A-4FBB-9A69-CDEE64939EEE}" srcOrd="3" destOrd="0" parTransId="{1CCE4C6F-05D1-4436-8B6B-3CFE7CDB0696}" sibTransId="{DAB56713-772A-46A1-906A-88A6A9473CD3}"/>
    <dgm:cxn modelId="{577FFF97-3A92-40AE-A255-0687A7B33250}" type="presOf" srcId="{A30432A8-0361-4E2D-AB46-6FE77B8B5419}" destId="{4372EEBA-E26F-4CD7-B785-23311DFB4FB3}" srcOrd="0" destOrd="0" presId="urn:microsoft.com/office/officeart/2009/layout/CircleArrowProcess"/>
    <dgm:cxn modelId="{5C581DC5-18B9-40ED-B276-2D23CD7A308F}" type="presOf" srcId="{9A09C867-C1E1-4F33-B866-4669E2D6AD1B}" destId="{9889F776-8F38-4CD2-948B-CD3D1B0C26C9}" srcOrd="0" destOrd="0" presId="urn:microsoft.com/office/officeart/2009/layout/CircleArrowProcess"/>
    <dgm:cxn modelId="{B54973C4-141C-4A00-93A5-F9846ED23427}" srcId="{2FBF1A80-AD49-4C16-A13B-5867B0E2C3D4}" destId="{9A09C867-C1E1-4F33-B866-4669E2D6AD1B}" srcOrd="0" destOrd="0" parTransId="{A7098AF1-D0E3-422F-B85E-4B00CD361FBE}" sibTransId="{95122F63-848D-485F-A283-6B9442442D33}"/>
    <dgm:cxn modelId="{65B7FA25-24DB-4CCC-88A5-231449AA3378}" type="presOf" srcId="{ADA738FC-FB2A-4FBB-9A69-CDEE64939EEE}" destId="{E53E95CE-0E59-405B-9E16-50638467FAB7}" srcOrd="0" destOrd="0" presId="urn:microsoft.com/office/officeart/2009/layout/CircleArrowProcess"/>
    <dgm:cxn modelId="{E2A1D821-645C-4835-9078-EDA2F8EC1E32}" srcId="{2FBF1A80-AD49-4C16-A13B-5867B0E2C3D4}" destId="{A30432A8-0361-4E2D-AB46-6FE77B8B5419}" srcOrd="2" destOrd="0" parTransId="{44118357-15E6-4731-BDE8-91F59CC5DF31}" sibTransId="{94900359-D1A7-4D47-9B80-920FBB39CF2A}"/>
    <dgm:cxn modelId="{E0F65C02-2823-409B-9E97-05357BE3B290}" srcId="{2FBF1A80-AD49-4C16-A13B-5867B0E2C3D4}" destId="{6F5F2378-9B7E-4263-A698-1C7DDE6EFEC2}" srcOrd="1" destOrd="0" parTransId="{0E13C8E7-1E07-4159-958C-232D783546C2}" sibTransId="{AEA225BD-CA99-4E02-8B51-9FDA65E06C5F}"/>
    <dgm:cxn modelId="{6462E211-5B58-4596-BE33-C073ECA09F83}" type="presParOf" srcId="{DE3E8D95-B145-43AD-82D0-A385857C25F2}" destId="{81940F02-1075-4C44-9E29-7AA2DA8EBFD2}" srcOrd="0" destOrd="0" presId="urn:microsoft.com/office/officeart/2009/layout/CircleArrowProcess"/>
    <dgm:cxn modelId="{54C9408E-475D-4625-A9D6-E5F27D13B065}" type="presParOf" srcId="{81940F02-1075-4C44-9E29-7AA2DA8EBFD2}" destId="{084DB16D-924C-442B-8ECB-2FCFC2DE8024}" srcOrd="0" destOrd="0" presId="urn:microsoft.com/office/officeart/2009/layout/CircleArrowProcess"/>
    <dgm:cxn modelId="{0D3CC29C-6672-4C79-AE1B-A4A41ECC9C1D}" type="presParOf" srcId="{DE3E8D95-B145-43AD-82D0-A385857C25F2}" destId="{9889F776-8F38-4CD2-948B-CD3D1B0C26C9}" srcOrd="1" destOrd="0" presId="urn:microsoft.com/office/officeart/2009/layout/CircleArrowProcess"/>
    <dgm:cxn modelId="{9D07DFF5-3A78-4279-AD5B-40D4987A94A3}" type="presParOf" srcId="{DE3E8D95-B145-43AD-82D0-A385857C25F2}" destId="{CD2D4372-129F-4166-BB6D-C7B5ABB20A2E}" srcOrd="2" destOrd="0" presId="urn:microsoft.com/office/officeart/2009/layout/CircleArrowProcess"/>
    <dgm:cxn modelId="{30EA25B9-7417-4108-9C4F-CAC751A91194}" type="presParOf" srcId="{CD2D4372-129F-4166-BB6D-C7B5ABB20A2E}" destId="{7DFC0E1E-45CD-4E24-8262-D08939F7343D}" srcOrd="0" destOrd="0" presId="urn:microsoft.com/office/officeart/2009/layout/CircleArrowProcess"/>
    <dgm:cxn modelId="{DB0AF5CB-1C07-4932-8138-DB31F227AA7E}" type="presParOf" srcId="{DE3E8D95-B145-43AD-82D0-A385857C25F2}" destId="{33A7BD48-0E66-4D7A-B719-42B19612BE3F}" srcOrd="3" destOrd="0" presId="urn:microsoft.com/office/officeart/2009/layout/CircleArrowProcess"/>
    <dgm:cxn modelId="{B5D3C3BB-71CC-4A29-890E-95D3A949A18C}" type="presParOf" srcId="{DE3E8D95-B145-43AD-82D0-A385857C25F2}" destId="{A8EDEADF-7694-4AA5-8FA3-4EAB59A55663}" srcOrd="4" destOrd="0" presId="urn:microsoft.com/office/officeart/2009/layout/CircleArrowProcess"/>
    <dgm:cxn modelId="{3EEEBE67-92C5-40EE-B25F-4E2C3751E5EB}" type="presParOf" srcId="{A8EDEADF-7694-4AA5-8FA3-4EAB59A55663}" destId="{364ED544-6BA9-4DCB-A1BE-1E1676EC38DD}" srcOrd="0" destOrd="0" presId="urn:microsoft.com/office/officeart/2009/layout/CircleArrowProcess"/>
    <dgm:cxn modelId="{6D9E3015-B779-4C38-B381-10C5F73E1FED}" type="presParOf" srcId="{DE3E8D95-B145-43AD-82D0-A385857C25F2}" destId="{4372EEBA-E26F-4CD7-B785-23311DFB4FB3}" srcOrd="5" destOrd="0" presId="urn:microsoft.com/office/officeart/2009/layout/CircleArrowProcess"/>
    <dgm:cxn modelId="{16466CCA-AB7E-40E5-A28E-087E16D62CDB}" type="presParOf" srcId="{DE3E8D95-B145-43AD-82D0-A385857C25F2}" destId="{B7E01FE0-E916-4A54-AD13-E1B0637BBFA7}" srcOrd="6" destOrd="0" presId="urn:microsoft.com/office/officeart/2009/layout/CircleArrowProcess"/>
    <dgm:cxn modelId="{72516007-AAE8-4E17-809A-99DAD90ABA3A}" type="presParOf" srcId="{B7E01FE0-E916-4A54-AD13-E1B0637BBFA7}" destId="{2903EBDF-6B7C-4799-8C7B-35615DC35896}" srcOrd="0" destOrd="0" presId="urn:microsoft.com/office/officeart/2009/layout/CircleArrowProcess"/>
    <dgm:cxn modelId="{94E724CF-DCA2-4B15-9577-5EF6DE3F78DD}" type="presParOf" srcId="{DE3E8D95-B145-43AD-82D0-A385857C25F2}" destId="{E53E95CE-0E59-405B-9E16-50638467FAB7}" srcOrd="7"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F1A80-AD49-4C16-A13B-5867B0E2C3D4}" type="doc">
      <dgm:prSet loTypeId="urn:microsoft.com/office/officeart/2009/layout/CircleArrowProcess" loCatId="process" qsTypeId="urn:microsoft.com/office/officeart/2005/8/quickstyle/simple1" qsCatId="simple" csTypeId="urn:microsoft.com/office/officeart/2005/8/colors/colorful5" csCatId="colorful" phldr="1"/>
      <dgm:spPr/>
      <dgm:t>
        <a:bodyPr/>
        <a:lstStyle/>
        <a:p>
          <a:endParaRPr lang="zh-CN" altLang="en-US"/>
        </a:p>
      </dgm:t>
    </dgm:pt>
    <dgm:pt modelId="{9A09C867-C1E1-4F33-B866-4669E2D6AD1B}">
      <dgm:prSet phldrT="[文本]" custT="1"/>
      <dgm:spPr/>
      <dgm:t>
        <a:bodyPr/>
        <a:lstStyle/>
        <a:p>
          <a:r>
            <a:rPr lang="zh-CN" altLang="en-US" sz="2400" b="1" dirty="0" smtClean="0">
              <a:solidFill>
                <a:schemeClr val="bg1"/>
              </a:solidFill>
            </a:rPr>
            <a:t>作业调度</a:t>
          </a:r>
          <a:endParaRPr lang="zh-CN" altLang="en-US" sz="2400" b="1" dirty="0">
            <a:solidFill>
              <a:schemeClr val="bg1"/>
            </a:solidFill>
          </a:endParaRPr>
        </a:p>
      </dgm:t>
    </dgm:pt>
    <dgm:pt modelId="{A7098AF1-D0E3-422F-B85E-4B00CD361FBE}" type="parTrans" cxnId="{B54973C4-141C-4A00-93A5-F9846ED23427}">
      <dgm:prSet/>
      <dgm:spPr/>
      <dgm:t>
        <a:bodyPr/>
        <a:lstStyle/>
        <a:p>
          <a:endParaRPr lang="zh-CN" altLang="en-US"/>
        </a:p>
      </dgm:t>
    </dgm:pt>
    <dgm:pt modelId="{95122F63-848D-485F-A283-6B9442442D33}" type="sibTrans" cxnId="{B54973C4-141C-4A00-93A5-F9846ED23427}">
      <dgm:prSet/>
      <dgm:spPr/>
      <dgm:t>
        <a:bodyPr/>
        <a:lstStyle/>
        <a:p>
          <a:endParaRPr lang="zh-CN" altLang="en-US"/>
        </a:p>
      </dgm:t>
    </dgm:pt>
    <dgm:pt modelId="{6F5F2378-9B7E-4263-A698-1C7DDE6EFEC2}">
      <dgm:prSet phldrT="[文本]" custT="1"/>
      <dgm:spPr/>
      <dgm:t>
        <a:bodyPr/>
        <a:lstStyle/>
        <a:p>
          <a:r>
            <a:rPr lang="zh-CN" altLang="en-US" sz="2400" b="1" dirty="0" smtClean="0">
              <a:solidFill>
                <a:srgbClr val="FFFF00"/>
              </a:solidFill>
            </a:rPr>
            <a:t>交换调度</a:t>
          </a:r>
          <a:endParaRPr lang="zh-CN" altLang="en-US" sz="2400" b="1" dirty="0">
            <a:solidFill>
              <a:srgbClr val="FFFF00"/>
            </a:solidFill>
          </a:endParaRPr>
        </a:p>
      </dgm:t>
    </dgm:pt>
    <dgm:pt modelId="{0E13C8E7-1E07-4159-958C-232D783546C2}" type="parTrans" cxnId="{E0F65C02-2823-409B-9E97-05357BE3B290}">
      <dgm:prSet/>
      <dgm:spPr/>
      <dgm:t>
        <a:bodyPr/>
        <a:lstStyle/>
        <a:p>
          <a:endParaRPr lang="zh-CN" altLang="en-US"/>
        </a:p>
      </dgm:t>
    </dgm:pt>
    <dgm:pt modelId="{AEA225BD-CA99-4E02-8B51-9FDA65E06C5F}" type="sibTrans" cxnId="{E0F65C02-2823-409B-9E97-05357BE3B290}">
      <dgm:prSet/>
      <dgm:spPr/>
      <dgm:t>
        <a:bodyPr/>
        <a:lstStyle/>
        <a:p>
          <a:endParaRPr lang="zh-CN" altLang="en-US"/>
        </a:p>
      </dgm:t>
    </dgm:pt>
    <dgm:pt modelId="{A30432A8-0361-4E2D-AB46-6FE77B8B5419}">
      <dgm:prSet phldrT="[文本]" custT="1"/>
      <dgm:spPr/>
      <dgm:t>
        <a:bodyPr/>
        <a:lstStyle/>
        <a:p>
          <a:r>
            <a:rPr lang="zh-CN" altLang="en-US" sz="2400" b="1" dirty="0" smtClean="0">
              <a:solidFill>
                <a:schemeClr val="bg1"/>
              </a:solidFill>
            </a:rPr>
            <a:t>进程调度</a:t>
          </a:r>
          <a:endParaRPr lang="zh-CN" altLang="en-US" sz="2400" b="1" dirty="0">
            <a:solidFill>
              <a:schemeClr val="bg1"/>
            </a:solidFill>
          </a:endParaRPr>
        </a:p>
      </dgm:t>
    </dgm:pt>
    <dgm:pt modelId="{44118357-15E6-4731-BDE8-91F59CC5DF31}" type="parTrans" cxnId="{E2A1D821-645C-4835-9078-EDA2F8EC1E32}">
      <dgm:prSet/>
      <dgm:spPr/>
      <dgm:t>
        <a:bodyPr/>
        <a:lstStyle/>
        <a:p>
          <a:endParaRPr lang="zh-CN" altLang="en-US"/>
        </a:p>
      </dgm:t>
    </dgm:pt>
    <dgm:pt modelId="{94900359-D1A7-4D47-9B80-920FBB39CF2A}" type="sibTrans" cxnId="{E2A1D821-645C-4835-9078-EDA2F8EC1E32}">
      <dgm:prSet/>
      <dgm:spPr/>
      <dgm:t>
        <a:bodyPr/>
        <a:lstStyle/>
        <a:p>
          <a:endParaRPr lang="zh-CN" altLang="en-US"/>
        </a:p>
      </dgm:t>
    </dgm:pt>
    <dgm:pt modelId="{ADA738FC-FB2A-4FBB-9A69-CDEE64939EEE}">
      <dgm:prSet phldrT="[文本]" custT="1"/>
      <dgm:spPr/>
      <dgm:t>
        <a:bodyPr/>
        <a:lstStyle/>
        <a:p>
          <a:r>
            <a:rPr lang="zh-CN" altLang="en-US" sz="2400" b="1" dirty="0" smtClean="0">
              <a:solidFill>
                <a:schemeClr val="bg1"/>
              </a:solidFill>
            </a:rPr>
            <a:t>线程调度</a:t>
          </a:r>
          <a:endParaRPr lang="zh-CN" altLang="en-US" sz="2400" b="1" dirty="0">
            <a:solidFill>
              <a:schemeClr val="bg1"/>
            </a:solidFill>
          </a:endParaRPr>
        </a:p>
      </dgm:t>
    </dgm:pt>
    <dgm:pt modelId="{1CCE4C6F-05D1-4436-8B6B-3CFE7CDB0696}" type="parTrans" cxnId="{C4B97E67-4609-4A11-AE66-54BEF3DA0D78}">
      <dgm:prSet/>
      <dgm:spPr/>
      <dgm:t>
        <a:bodyPr/>
        <a:lstStyle/>
        <a:p>
          <a:endParaRPr lang="zh-CN" altLang="en-US"/>
        </a:p>
      </dgm:t>
    </dgm:pt>
    <dgm:pt modelId="{DAB56713-772A-46A1-906A-88A6A9473CD3}" type="sibTrans" cxnId="{C4B97E67-4609-4A11-AE66-54BEF3DA0D78}">
      <dgm:prSet/>
      <dgm:spPr/>
      <dgm:t>
        <a:bodyPr/>
        <a:lstStyle/>
        <a:p>
          <a:endParaRPr lang="zh-CN" altLang="en-US"/>
        </a:p>
      </dgm:t>
    </dgm:pt>
    <dgm:pt modelId="{DE3E8D95-B145-43AD-82D0-A385857C25F2}" type="pres">
      <dgm:prSet presAssocID="{2FBF1A80-AD49-4C16-A13B-5867B0E2C3D4}" presName="Name0" presStyleCnt="0">
        <dgm:presLayoutVars>
          <dgm:chMax val="7"/>
          <dgm:chPref val="7"/>
          <dgm:dir/>
          <dgm:animLvl val="lvl"/>
        </dgm:presLayoutVars>
      </dgm:prSet>
      <dgm:spPr/>
      <dgm:t>
        <a:bodyPr/>
        <a:lstStyle/>
        <a:p>
          <a:endParaRPr lang="zh-CN" altLang="en-US"/>
        </a:p>
      </dgm:t>
    </dgm:pt>
    <dgm:pt modelId="{81940F02-1075-4C44-9E29-7AA2DA8EBFD2}" type="pres">
      <dgm:prSet presAssocID="{9A09C867-C1E1-4F33-B866-4669E2D6AD1B}" presName="Accent1" presStyleCnt="0"/>
      <dgm:spPr/>
    </dgm:pt>
    <dgm:pt modelId="{084DB16D-924C-442B-8ECB-2FCFC2DE8024}" type="pres">
      <dgm:prSet presAssocID="{9A09C867-C1E1-4F33-B866-4669E2D6AD1B}" presName="Accent" presStyleLbl="node1" presStyleIdx="0" presStyleCnt="4"/>
      <dgm:spPr/>
    </dgm:pt>
    <dgm:pt modelId="{9889F776-8F38-4CD2-948B-CD3D1B0C26C9}" type="pres">
      <dgm:prSet presAssocID="{9A09C867-C1E1-4F33-B866-4669E2D6AD1B}" presName="Parent1" presStyleLbl="revTx" presStyleIdx="0" presStyleCnt="4">
        <dgm:presLayoutVars>
          <dgm:chMax val="1"/>
          <dgm:chPref val="1"/>
          <dgm:bulletEnabled val="1"/>
        </dgm:presLayoutVars>
      </dgm:prSet>
      <dgm:spPr/>
      <dgm:t>
        <a:bodyPr/>
        <a:lstStyle/>
        <a:p>
          <a:endParaRPr lang="zh-CN" altLang="en-US"/>
        </a:p>
      </dgm:t>
    </dgm:pt>
    <dgm:pt modelId="{CD2D4372-129F-4166-BB6D-C7B5ABB20A2E}" type="pres">
      <dgm:prSet presAssocID="{6F5F2378-9B7E-4263-A698-1C7DDE6EFEC2}" presName="Accent2" presStyleCnt="0"/>
      <dgm:spPr/>
    </dgm:pt>
    <dgm:pt modelId="{7DFC0E1E-45CD-4E24-8262-D08939F7343D}" type="pres">
      <dgm:prSet presAssocID="{6F5F2378-9B7E-4263-A698-1C7DDE6EFEC2}" presName="Accent" presStyleLbl="node1" presStyleIdx="1" presStyleCnt="4"/>
      <dgm:spPr/>
    </dgm:pt>
    <dgm:pt modelId="{33A7BD48-0E66-4D7A-B719-42B19612BE3F}" type="pres">
      <dgm:prSet presAssocID="{6F5F2378-9B7E-4263-A698-1C7DDE6EFEC2}" presName="Parent2" presStyleLbl="revTx" presStyleIdx="1" presStyleCnt="4">
        <dgm:presLayoutVars>
          <dgm:chMax val="1"/>
          <dgm:chPref val="1"/>
          <dgm:bulletEnabled val="1"/>
        </dgm:presLayoutVars>
      </dgm:prSet>
      <dgm:spPr/>
      <dgm:t>
        <a:bodyPr/>
        <a:lstStyle/>
        <a:p>
          <a:endParaRPr lang="zh-CN" altLang="en-US"/>
        </a:p>
      </dgm:t>
    </dgm:pt>
    <dgm:pt modelId="{A8EDEADF-7694-4AA5-8FA3-4EAB59A55663}" type="pres">
      <dgm:prSet presAssocID="{A30432A8-0361-4E2D-AB46-6FE77B8B5419}" presName="Accent3" presStyleCnt="0"/>
      <dgm:spPr/>
    </dgm:pt>
    <dgm:pt modelId="{364ED544-6BA9-4DCB-A1BE-1E1676EC38DD}" type="pres">
      <dgm:prSet presAssocID="{A30432A8-0361-4E2D-AB46-6FE77B8B5419}" presName="Accent" presStyleLbl="node1" presStyleIdx="2" presStyleCnt="4"/>
      <dgm:spPr/>
    </dgm:pt>
    <dgm:pt modelId="{4372EEBA-E26F-4CD7-B785-23311DFB4FB3}" type="pres">
      <dgm:prSet presAssocID="{A30432A8-0361-4E2D-AB46-6FE77B8B5419}" presName="Parent3" presStyleLbl="revTx" presStyleIdx="2" presStyleCnt="4">
        <dgm:presLayoutVars>
          <dgm:chMax val="1"/>
          <dgm:chPref val="1"/>
          <dgm:bulletEnabled val="1"/>
        </dgm:presLayoutVars>
      </dgm:prSet>
      <dgm:spPr/>
      <dgm:t>
        <a:bodyPr/>
        <a:lstStyle/>
        <a:p>
          <a:endParaRPr lang="zh-CN" altLang="en-US"/>
        </a:p>
      </dgm:t>
    </dgm:pt>
    <dgm:pt modelId="{B7E01FE0-E916-4A54-AD13-E1B0637BBFA7}" type="pres">
      <dgm:prSet presAssocID="{ADA738FC-FB2A-4FBB-9A69-CDEE64939EEE}" presName="Accent4" presStyleCnt="0"/>
      <dgm:spPr/>
    </dgm:pt>
    <dgm:pt modelId="{2903EBDF-6B7C-4799-8C7B-35615DC35896}" type="pres">
      <dgm:prSet presAssocID="{ADA738FC-FB2A-4FBB-9A69-CDEE64939EEE}" presName="Accent" presStyleLbl="node1" presStyleIdx="3" presStyleCnt="4"/>
      <dgm:spPr/>
    </dgm:pt>
    <dgm:pt modelId="{E53E95CE-0E59-405B-9E16-50638467FAB7}" type="pres">
      <dgm:prSet presAssocID="{ADA738FC-FB2A-4FBB-9A69-CDEE64939EEE}" presName="Parent4" presStyleLbl="revTx" presStyleIdx="3" presStyleCnt="4">
        <dgm:presLayoutVars>
          <dgm:chMax val="1"/>
          <dgm:chPref val="1"/>
          <dgm:bulletEnabled val="1"/>
        </dgm:presLayoutVars>
      </dgm:prSet>
      <dgm:spPr/>
      <dgm:t>
        <a:bodyPr/>
        <a:lstStyle/>
        <a:p>
          <a:endParaRPr lang="zh-CN" altLang="en-US"/>
        </a:p>
      </dgm:t>
    </dgm:pt>
  </dgm:ptLst>
  <dgm:cxnLst>
    <dgm:cxn modelId="{1EFB0367-2686-498D-9B6D-266FA7CB4A2F}" type="presOf" srcId="{2FBF1A80-AD49-4C16-A13B-5867B0E2C3D4}" destId="{DE3E8D95-B145-43AD-82D0-A385857C25F2}" srcOrd="0" destOrd="0" presId="urn:microsoft.com/office/officeart/2009/layout/CircleArrowProcess"/>
    <dgm:cxn modelId="{DC2F8C5D-EB68-45C7-AF23-1BC764A717EA}" type="presOf" srcId="{9A09C867-C1E1-4F33-B866-4669E2D6AD1B}" destId="{9889F776-8F38-4CD2-948B-CD3D1B0C26C9}" srcOrd="0" destOrd="0" presId="urn:microsoft.com/office/officeart/2009/layout/CircleArrowProcess"/>
    <dgm:cxn modelId="{C4B97E67-4609-4A11-AE66-54BEF3DA0D78}" srcId="{2FBF1A80-AD49-4C16-A13B-5867B0E2C3D4}" destId="{ADA738FC-FB2A-4FBB-9A69-CDEE64939EEE}" srcOrd="3" destOrd="0" parTransId="{1CCE4C6F-05D1-4436-8B6B-3CFE7CDB0696}" sibTransId="{DAB56713-772A-46A1-906A-88A6A9473CD3}"/>
    <dgm:cxn modelId="{B54973C4-141C-4A00-93A5-F9846ED23427}" srcId="{2FBF1A80-AD49-4C16-A13B-5867B0E2C3D4}" destId="{9A09C867-C1E1-4F33-B866-4669E2D6AD1B}" srcOrd="0" destOrd="0" parTransId="{A7098AF1-D0E3-422F-B85E-4B00CD361FBE}" sibTransId="{95122F63-848D-485F-A283-6B9442442D33}"/>
    <dgm:cxn modelId="{72F81CDA-54C0-42F5-BE0B-22F7EA375AF4}" type="presOf" srcId="{A30432A8-0361-4E2D-AB46-6FE77B8B5419}" destId="{4372EEBA-E26F-4CD7-B785-23311DFB4FB3}" srcOrd="0" destOrd="0" presId="urn:microsoft.com/office/officeart/2009/layout/CircleArrowProcess"/>
    <dgm:cxn modelId="{E2A1D821-645C-4835-9078-EDA2F8EC1E32}" srcId="{2FBF1A80-AD49-4C16-A13B-5867B0E2C3D4}" destId="{A30432A8-0361-4E2D-AB46-6FE77B8B5419}" srcOrd="2" destOrd="0" parTransId="{44118357-15E6-4731-BDE8-91F59CC5DF31}" sibTransId="{94900359-D1A7-4D47-9B80-920FBB39CF2A}"/>
    <dgm:cxn modelId="{F79549B3-F89F-484D-9731-059412953F28}" type="presOf" srcId="{6F5F2378-9B7E-4263-A698-1C7DDE6EFEC2}" destId="{33A7BD48-0E66-4D7A-B719-42B19612BE3F}" srcOrd="0" destOrd="0" presId="urn:microsoft.com/office/officeart/2009/layout/CircleArrowProcess"/>
    <dgm:cxn modelId="{2C0FA7BE-ADF8-463C-888F-C2BFDE566594}" type="presOf" srcId="{ADA738FC-FB2A-4FBB-9A69-CDEE64939EEE}" destId="{E53E95CE-0E59-405B-9E16-50638467FAB7}" srcOrd="0" destOrd="0" presId="urn:microsoft.com/office/officeart/2009/layout/CircleArrowProcess"/>
    <dgm:cxn modelId="{E0F65C02-2823-409B-9E97-05357BE3B290}" srcId="{2FBF1A80-AD49-4C16-A13B-5867B0E2C3D4}" destId="{6F5F2378-9B7E-4263-A698-1C7DDE6EFEC2}" srcOrd="1" destOrd="0" parTransId="{0E13C8E7-1E07-4159-958C-232D783546C2}" sibTransId="{AEA225BD-CA99-4E02-8B51-9FDA65E06C5F}"/>
    <dgm:cxn modelId="{1C982D9A-E251-4A22-B790-3CB37E1394D9}" type="presParOf" srcId="{DE3E8D95-B145-43AD-82D0-A385857C25F2}" destId="{81940F02-1075-4C44-9E29-7AA2DA8EBFD2}" srcOrd="0" destOrd="0" presId="urn:microsoft.com/office/officeart/2009/layout/CircleArrowProcess"/>
    <dgm:cxn modelId="{84A1FE41-3153-4EAE-9121-7014D2641ED9}" type="presParOf" srcId="{81940F02-1075-4C44-9E29-7AA2DA8EBFD2}" destId="{084DB16D-924C-442B-8ECB-2FCFC2DE8024}" srcOrd="0" destOrd="0" presId="urn:microsoft.com/office/officeart/2009/layout/CircleArrowProcess"/>
    <dgm:cxn modelId="{0AF900C0-1540-41C2-B740-2129288B68F3}" type="presParOf" srcId="{DE3E8D95-B145-43AD-82D0-A385857C25F2}" destId="{9889F776-8F38-4CD2-948B-CD3D1B0C26C9}" srcOrd="1" destOrd="0" presId="urn:microsoft.com/office/officeart/2009/layout/CircleArrowProcess"/>
    <dgm:cxn modelId="{438E43DE-C08A-49D0-9C27-D7A0E610753E}" type="presParOf" srcId="{DE3E8D95-B145-43AD-82D0-A385857C25F2}" destId="{CD2D4372-129F-4166-BB6D-C7B5ABB20A2E}" srcOrd="2" destOrd="0" presId="urn:microsoft.com/office/officeart/2009/layout/CircleArrowProcess"/>
    <dgm:cxn modelId="{FCE52371-C2D8-4B46-8E96-0F4ED724CF94}" type="presParOf" srcId="{CD2D4372-129F-4166-BB6D-C7B5ABB20A2E}" destId="{7DFC0E1E-45CD-4E24-8262-D08939F7343D}" srcOrd="0" destOrd="0" presId="urn:microsoft.com/office/officeart/2009/layout/CircleArrowProcess"/>
    <dgm:cxn modelId="{5A37561E-0729-4665-80E2-3DDB06F72F2B}" type="presParOf" srcId="{DE3E8D95-B145-43AD-82D0-A385857C25F2}" destId="{33A7BD48-0E66-4D7A-B719-42B19612BE3F}" srcOrd="3" destOrd="0" presId="urn:microsoft.com/office/officeart/2009/layout/CircleArrowProcess"/>
    <dgm:cxn modelId="{E2FBF674-02EF-4066-B5CA-434BF1A0F07F}" type="presParOf" srcId="{DE3E8D95-B145-43AD-82D0-A385857C25F2}" destId="{A8EDEADF-7694-4AA5-8FA3-4EAB59A55663}" srcOrd="4" destOrd="0" presId="urn:microsoft.com/office/officeart/2009/layout/CircleArrowProcess"/>
    <dgm:cxn modelId="{5A939FDF-700B-4B1F-91D6-274FE3CCB9E0}" type="presParOf" srcId="{A8EDEADF-7694-4AA5-8FA3-4EAB59A55663}" destId="{364ED544-6BA9-4DCB-A1BE-1E1676EC38DD}" srcOrd="0" destOrd="0" presId="urn:microsoft.com/office/officeart/2009/layout/CircleArrowProcess"/>
    <dgm:cxn modelId="{84C3670C-C937-4E18-9762-57E53691B235}" type="presParOf" srcId="{DE3E8D95-B145-43AD-82D0-A385857C25F2}" destId="{4372EEBA-E26F-4CD7-B785-23311DFB4FB3}" srcOrd="5" destOrd="0" presId="urn:microsoft.com/office/officeart/2009/layout/CircleArrowProcess"/>
    <dgm:cxn modelId="{1DB20493-A24C-42AF-AD53-A6D7DB8B54B0}" type="presParOf" srcId="{DE3E8D95-B145-43AD-82D0-A385857C25F2}" destId="{B7E01FE0-E916-4A54-AD13-E1B0637BBFA7}" srcOrd="6" destOrd="0" presId="urn:microsoft.com/office/officeart/2009/layout/CircleArrowProcess"/>
    <dgm:cxn modelId="{9DCAA399-74A3-4C74-A114-6CA3554CF956}" type="presParOf" srcId="{B7E01FE0-E916-4A54-AD13-E1B0637BBFA7}" destId="{2903EBDF-6B7C-4799-8C7B-35615DC35896}" srcOrd="0" destOrd="0" presId="urn:microsoft.com/office/officeart/2009/layout/CircleArrowProcess"/>
    <dgm:cxn modelId="{4E7B0EE7-4886-492F-8689-624A7C19A58F}" type="presParOf" srcId="{DE3E8D95-B145-43AD-82D0-A385857C25F2}" destId="{E53E95CE-0E59-405B-9E16-50638467FAB7}" srcOrd="7"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BF1A80-AD49-4C16-A13B-5867B0E2C3D4}" type="doc">
      <dgm:prSet loTypeId="urn:microsoft.com/office/officeart/2009/layout/CircleArrowProcess" loCatId="process" qsTypeId="urn:microsoft.com/office/officeart/2005/8/quickstyle/simple1" qsCatId="simple" csTypeId="urn:microsoft.com/office/officeart/2005/8/colors/colorful5" csCatId="colorful" phldr="1"/>
      <dgm:spPr/>
      <dgm:t>
        <a:bodyPr/>
        <a:lstStyle/>
        <a:p>
          <a:endParaRPr lang="zh-CN" altLang="en-US"/>
        </a:p>
      </dgm:t>
    </dgm:pt>
    <dgm:pt modelId="{9A09C867-C1E1-4F33-B866-4669E2D6AD1B}">
      <dgm:prSet phldrT="[文本]" custT="1"/>
      <dgm:spPr/>
      <dgm:t>
        <a:bodyPr/>
        <a:lstStyle/>
        <a:p>
          <a:r>
            <a:rPr lang="zh-CN" altLang="en-US" sz="2400" b="1" dirty="0" smtClean="0">
              <a:solidFill>
                <a:schemeClr val="bg1"/>
              </a:solidFill>
            </a:rPr>
            <a:t>作业调度</a:t>
          </a:r>
          <a:endParaRPr lang="zh-CN" altLang="en-US" sz="2400" b="1" dirty="0">
            <a:solidFill>
              <a:schemeClr val="bg1"/>
            </a:solidFill>
          </a:endParaRPr>
        </a:p>
      </dgm:t>
    </dgm:pt>
    <dgm:pt modelId="{A7098AF1-D0E3-422F-B85E-4B00CD361FBE}" type="parTrans" cxnId="{B54973C4-141C-4A00-93A5-F9846ED23427}">
      <dgm:prSet/>
      <dgm:spPr/>
      <dgm:t>
        <a:bodyPr/>
        <a:lstStyle/>
        <a:p>
          <a:endParaRPr lang="zh-CN" altLang="en-US"/>
        </a:p>
      </dgm:t>
    </dgm:pt>
    <dgm:pt modelId="{95122F63-848D-485F-A283-6B9442442D33}" type="sibTrans" cxnId="{B54973C4-141C-4A00-93A5-F9846ED23427}">
      <dgm:prSet/>
      <dgm:spPr/>
      <dgm:t>
        <a:bodyPr/>
        <a:lstStyle/>
        <a:p>
          <a:endParaRPr lang="zh-CN" altLang="en-US"/>
        </a:p>
      </dgm:t>
    </dgm:pt>
    <dgm:pt modelId="{6F5F2378-9B7E-4263-A698-1C7DDE6EFEC2}">
      <dgm:prSet phldrT="[文本]" custT="1"/>
      <dgm:spPr/>
      <dgm:t>
        <a:bodyPr/>
        <a:lstStyle/>
        <a:p>
          <a:r>
            <a:rPr lang="zh-CN" altLang="en-US" sz="2400" b="1" dirty="0" smtClean="0">
              <a:solidFill>
                <a:schemeClr val="bg1"/>
              </a:solidFill>
            </a:rPr>
            <a:t>交换调度</a:t>
          </a:r>
          <a:endParaRPr lang="zh-CN" altLang="en-US" sz="2400" b="1" dirty="0">
            <a:solidFill>
              <a:schemeClr val="bg1"/>
            </a:solidFill>
          </a:endParaRPr>
        </a:p>
      </dgm:t>
    </dgm:pt>
    <dgm:pt modelId="{0E13C8E7-1E07-4159-958C-232D783546C2}" type="parTrans" cxnId="{E0F65C02-2823-409B-9E97-05357BE3B290}">
      <dgm:prSet/>
      <dgm:spPr/>
      <dgm:t>
        <a:bodyPr/>
        <a:lstStyle/>
        <a:p>
          <a:endParaRPr lang="zh-CN" altLang="en-US"/>
        </a:p>
      </dgm:t>
    </dgm:pt>
    <dgm:pt modelId="{AEA225BD-CA99-4E02-8B51-9FDA65E06C5F}" type="sibTrans" cxnId="{E0F65C02-2823-409B-9E97-05357BE3B290}">
      <dgm:prSet/>
      <dgm:spPr/>
      <dgm:t>
        <a:bodyPr/>
        <a:lstStyle/>
        <a:p>
          <a:endParaRPr lang="zh-CN" altLang="en-US"/>
        </a:p>
      </dgm:t>
    </dgm:pt>
    <dgm:pt modelId="{A30432A8-0361-4E2D-AB46-6FE77B8B5419}">
      <dgm:prSet phldrT="[文本]" custT="1"/>
      <dgm:spPr/>
      <dgm:t>
        <a:bodyPr/>
        <a:lstStyle/>
        <a:p>
          <a:r>
            <a:rPr lang="zh-CN" altLang="en-US" sz="2400" b="1" dirty="0" smtClean="0">
              <a:solidFill>
                <a:srgbClr val="FFFF00"/>
              </a:solidFill>
            </a:rPr>
            <a:t>进程调度</a:t>
          </a:r>
          <a:endParaRPr lang="zh-CN" altLang="en-US" sz="2400" b="1" dirty="0">
            <a:solidFill>
              <a:srgbClr val="FFFF00"/>
            </a:solidFill>
          </a:endParaRPr>
        </a:p>
      </dgm:t>
    </dgm:pt>
    <dgm:pt modelId="{44118357-15E6-4731-BDE8-91F59CC5DF31}" type="parTrans" cxnId="{E2A1D821-645C-4835-9078-EDA2F8EC1E32}">
      <dgm:prSet/>
      <dgm:spPr/>
      <dgm:t>
        <a:bodyPr/>
        <a:lstStyle/>
        <a:p>
          <a:endParaRPr lang="zh-CN" altLang="en-US"/>
        </a:p>
      </dgm:t>
    </dgm:pt>
    <dgm:pt modelId="{94900359-D1A7-4D47-9B80-920FBB39CF2A}" type="sibTrans" cxnId="{E2A1D821-645C-4835-9078-EDA2F8EC1E32}">
      <dgm:prSet/>
      <dgm:spPr/>
      <dgm:t>
        <a:bodyPr/>
        <a:lstStyle/>
        <a:p>
          <a:endParaRPr lang="zh-CN" altLang="en-US"/>
        </a:p>
      </dgm:t>
    </dgm:pt>
    <dgm:pt modelId="{ADA738FC-FB2A-4FBB-9A69-CDEE64939EEE}">
      <dgm:prSet phldrT="[文本]" custT="1"/>
      <dgm:spPr/>
      <dgm:t>
        <a:bodyPr/>
        <a:lstStyle/>
        <a:p>
          <a:r>
            <a:rPr lang="zh-CN" altLang="en-US" sz="2400" b="1" dirty="0" smtClean="0">
              <a:solidFill>
                <a:schemeClr val="bg1"/>
              </a:solidFill>
            </a:rPr>
            <a:t>线程调度</a:t>
          </a:r>
          <a:endParaRPr lang="zh-CN" altLang="en-US" sz="2400" b="1" dirty="0">
            <a:solidFill>
              <a:schemeClr val="bg1"/>
            </a:solidFill>
          </a:endParaRPr>
        </a:p>
      </dgm:t>
    </dgm:pt>
    <dgm:pt modelId="{1CCE4C6F-05D1-4436-8B6B-3CFE7CDB0696}" type="parTrans" cxnId="{C4B97E67-4609-4A11-AE66-54BEF3DA0D78}">
      <dgm:prSet/>
      <dgm:spPr/>
      <dgm:t>
        <a:bodyPr/>
        <a:lstStyle/>
        <a:p>
          <a:endParaRPr lang="zh-CN" altLang="en-US"/>
        </a:p>
      </dgm:t>
    </dgm:pt>
    <dgm:pt modelId="{DAB56713-772A-46A1-906A-88A6A9473CD3}" type="sibTrans" cxnId="{C4B97E67-4609-4A11-AE66-54BEF3DA0D78}">
      <dgm:prSet/>
      <dgm:spPr/>
      <dgm:t>
        <a:bodyPr/>
        <a:lstStyle/>
        <a:p>
          <a:endParaRPr lang="zh-CN" altLang="en-US"/>
        </a:p>
      </dgm:t>
    </dgm:pt>
    <dgm:pt modelId="{DE3E8D95-B145-43AD-82D0-A385857C25F2}" type="pres">
      <dgm:prSet presAssocID="{2FBF1A80-AD49-4C16-A13B-5867B0E2C3D4}" presName="Name0" presStyleCnt="0">
        <dgm:presLayoutVars>
          <dgm:chMax val="7"/>
          <dgm:chPref val="7"/>
          <dgm:dir/>
          <dgm:animLvl val="lvl"/>
        </dgm:presLayoutVars>
      </dgm:prSet>
      <dgm:spPr/>
      <dgm:t>
        <a:bodyPr/>
        <a:lstStyle/>
        <a:p>
          <a:endParaRPr lang="zh-CN" altLang="en-US"/>
        </a:p>
      </dgm:t>
    </dgm:pt>
    <dgm:pt modelId="{81940F02-1075-4C44-9E29-7AA2DA8EBFD2}" type="pres">
      <dgm:prSet presAssocID="{9A09C867-C1E1-4F33-B866-4669E2D6AD1B}" presName="Accent1" presStyleCnt="0"/>
      <dgm:spPr/>
    </dgm:pt>
    <dgm:pt modelId="{084DB16D-924C-442B-8ECB-2FCFC2DE8024}" type="pres">
      <dgm:prSet presAssocID="{9A09C867-C1E1-4F33-B866-4669E2D6AD1B}" presName="Accent" presStyleLbl="node1" presStyleIdx="0" presStyleCnt="4"/>
      <dgm:spPr/>
    </dgm:pt>
    <dgm:pt modelId="{9889F776-8F38-4CD2-948B-CD3D1B0C26C9}" type="pres">
      <dgm:prSet presAssocID="{9A09C867-C1E1-4F33-B866-4669E2D6AD1B}" presName="Parent1" presStyleLbl="revTx" presStyleIdx="0" presStyleCnt="4">
        <dgm:presLayoutVars>
          <dgm:chMax val="1"/>
          <dgm:chPref val="1"/>
          <dgm:bulletEnabled val="1"/>
        </dgm:presLayoutVars>
      </dgm:prSet>
      <dgm:spPr/>
      <dgm:t>
        <a:bodyPr/>
        <a:lstStyle/>
        <a:p>
          <a:endParaRPr lang="zh-CN" altLang="en-US"/>
        </a:p>
      </dgm:t>
    </dgm:pt>
    <dgm:pt modelId="{CD2D4372-129F-4166-BB6D-C7B5ABB20A2E}" type="pres">
      <dgm:prSet presAssocID="{6F5F2378-9B7E-4263-A698-1C7DDE6EFEC2}" presName="Accent2" presStyleCnt="0"/>
      <dgm:spPr/>
    </dgm:pt>
    <dgm:pt modelId="{7DFC0E1E-45CD-4E24-8262-D08939F7343D}" type="pres">
      <dgm:prSet presAssocID="{6F5F2378-9B7E-4263-A698-1C7DDE6EFEC2}" presName="Accent" presStyleLbl="node1" presStyleIdx="1" presStyleCnt="4"/>
      <dgm:spPr/>
    </dgm:pt>
    <dgm:pt modelId="{33A7BD48-0E66-4D7A-B719-42B19612BE3F}" type="pres">
      <dgm:prSet presAssocID="{6F5F2378-9B7E-4263-A698-1C7DDE6EFEC2}" presName="Parent2" presStyleLbl="revTx" presStyleIdx="1" presStyleCnt="4">
        <dgm:presLayoutVars>
          <dgm:chMax val="1"/>
          <dgm:chPref val="1"/>
          <dgm:bulletEnabled val="1"/>
        </dgm:presLayoutVars>
      </dgm:prSet>
      <dgm:spPr/>
      <dgm:t>
        <a:bodyPr/>
        <a:lstStyle/>
        <a:p>
          <a:endParaRPr lang="zh-CN" altLang="en-US"/>
        </a:p>
      </dgm:t>
    </dgm:pt>
    <dgm:pt modelId="{A8EDEADF-7694-4AA5-8FA3-4EAB59A55663}" type="pres">
      <dgm:prSet presAssocID="{A30432A8-0361-4E2D-AB46-6FE77B8B5419}" presName="Accent3" presStyleCnt="0"/>
      <dgm:spPr/>
    </dgm:pt>
    <dgm:pt modelId="{364ED544-6BA9-4DCB-A1BE-1E1676EC38DD}" type="pres">
      <dgm:prSet presAssocID="{A30432A8-0361-4E2D-AB46-6FE77B8B5419}" presName="Accent" presStyleLbl="node1" presStyleIdx="2" presStyleCnt="4"/>
      <dgm:spPr/>
    </dgm:pt>
    <dgm:pt modelId="{4372EEBA-E26F-4CD7-B785-23311DFB4FB3}" type="pres">
      <dgm:prSet presAssocID="{A30432A8-0361-4E2D-AB46-6FE77B8B5419}" presName="Parent3" presStyleLbl="revTx" presStyleIdx="2" presStyleCnt="4">
        <dgm:presLayoutVars>
          <dgm:chMax val="1"/>
          <dgm:chPref val="1"/>
          <dgm:bulletEnabled val="1"/>
        </dgm:presLayoutVars>
      </dgm:prSet>
      <dgm:spPr/>
      <dgm:t>
        <a:bodyPr/>
        <a:lstStyle/>
        <a:p>
          <a:endParaRPr lang="zh-CN" altLang="en-US"/>
        </a:p>
      </dgm:t>
    </dgm:pt>
    <dgm:pt modelId="{B7E01FE0-E916-4A54-AD13-E1B0637BBFA7}" type="pres">
      <dgm:prSet presAssocID="{ADA738FC-FB2A-4FBB-9A69-CDEE64939EEE}" presName="Accent4" presStyleCnt="0"/>
      <dgm:spPr/>
    </dgm:pt>
    <dgm:pt modelId="{2903EBDF-6B7C-4799-8C7B-35615DC35896}" type="pres">
      <dgm:prSet presAssocID="{ADA738FC-FB2A-4FBB-9A69-CDEE64939EEE}" presName="Accent" presStyleLbl="node1" presStyleIdx="3" presStyleCnt="4"/>
      <dgm:spPr/>
    </dgm:pt>
    <dgm:pt modelId="{E53E95CE-0E59-405B-9E16-50638467FAB7}" type="pres">
      <dgm:prSet presAssocID="{ADA738FC-FB2A-4FBB-9A69-CDEE64939EEE}" presName="Parent4" presStyleLbl="revTx" presStyleIdx="3" presStyleCnt="4">
        <dgm:presLayoutVars>
          <dgm:chMax val="1"/>
          <dgm:chPref val="1"/>
          <dgm:bulletEnabled val="1"/>
        </dgm:presLayoutVars>
      </dgm:prSet>
      <dgm:spPr/>
      <dgm:t>
        <a:bodyPr/>
        <a:lstStyle/>
        <a:p>
          <a:endParaRPr lang="zh-CN" altLang="en-US"/>
        </a:p>
      </dgm:t>
    </dgm:pt>
  </dgm:ptLst>
  <dgm:cxnLst>
    <dgm:cxn modelId="{C4B97E67-4609-4A11-AE66-54BEF3DA0D78}" srcId="{2FBF1A80-AD49-4C16-A13B-5867B0E2C3D4}" destId="{ADA738FC-FB2A-4FBB-9A69-CDEE64939EEE}" srcOrd="3" destOrd="0" parTransId="{1CCE4C6F-05D1-4436-8B6B-3CFE7CDB0696}" sibTransId="{DAB56713-772A-46A1-906A-88A6A9473CD3}"/>
    <dgm:cxn modelId="{B54973C4-141C-4A00-93A5-F9846ED23427}" srcId="{2FBF1A80-AD49-4C16-A13B-5867B0E2C3D4}" destId="{9A09C867-C1E1-4F33-B866-4669E2D6AD1B}" srcOrd="0" destOrd="0" parTransId="{A7098AF1-D0E3-422F-B85E-4B00CD361FBE}" sibTransId="{95122F63-848D-485F-A283-6B9442442D33}"/>
    <dgm:cxn modelId="{E625B636-9A03-4360-A05F-B109372FD698}" type="presOf" srcId="{ADA738FC-FB2A-4FBB-9A69-CDEE64939EEE}" destId="{E53E95CE-0E59-405B-9E16-50638467FAB7}" srcOrd="0" destOrd="0" presId="urn:microsoft.com/office/officeart/2009/layout/CircleArrowProcess"/>
    <dgm:cxn modelId="{E2A1D821-645C-4835-9078-EDA2F8EC1E32}" srcId="{2FBF1A80-AD49-4C16-A13B-5867B0E2C3D4}" destId="{A30432A8-0361-4E2D-AB46-6FE77B8B5419}" srcOrd="2" destOrd="0" parTransId="{44118357-15E6-4731-BDE8-91F59CC5DF31}" sibTransId="{94900359-D1A7-4D47-9B80-920FBB39CF2A}"/>
    <dgm:cxn modelId="{3A61533D-B6DD-456C-9342-3898632EF14B}" type="presOf" srcId="{6F5F2378-9B7E-4263-A698-1C7DDE6EFEC2}" destId="{33A7BD48-0E66-4D7A-B719-42B19612BE3F}" srcOrd="0" destOrd="0" presId="urn:microsoft.com/office/officeart/2009/layout/CircleArrowProcess"/>
    <dgm:cxn modelId="{E021B525-676A-45CD-A7C7-3BD2E7D411A9}" type="presOf" srcId="{2FBF1A80-AD49-4C16-A13B-5867B0E2C3D4}" destId="{DE3E8D95-B145-43AD-82D0-A385857C25F2}" srcOrd="0" destOrd="0" presId="urn:microsoft.com/office/officeart/2009/layout/CircleArrowProcess"/>
    <dgm:cxn modelId="{599611E1-FAF4-43C4-8F24-8FBB640C18A7}" type="presOf" srcId="{9A09C867-C1E1-4F33-B866-4669E2D6AD1B}" destId="{9889F776-8F38-4CD2-948B-CD3D1B0C26C9}" srcOrd="0" destOrd="0" presId="urn:microsoft.com/office/officeart/2009/layout/CircleArrowProcess"/>
    <dgm:cxn modelId="{088518B2-CEA1-4A3E-B092-83EB30E8F89B}" type="presOf" srcId="{A30432A8-0361-4E2D-AB46-6FE77B8B5419}" destId="{4372EEBA-E26F-4CD7-B785-23311DFB4FB3}" srcOrd="0" destOrd="0" presId="urn:microsoft.com/office/officeart/2009/layout/CircleArrowProcess"/>
    <dgm:cxn modelId="{E0F65C02-2823-409B-9E97-05357BE3B290}" srcId="{2FBF1A80-AD49-4C16-A13B-5867B0E2C3D4}" destId="{6F5F2378-9B7E-4263-A698-1C7DDE6EFEC2}" srcOrd="1" destOrd="0" parTransId="{0E13C8E7-1E07-4159-958C-232D783546C2}" sibTransId="{AEA225BD-CA99-4E02-8B51-9FDA65E06C5F}"/>
    <dgm:cxn modelId="{BE9B11AD-9D05-4C4A-9D19-809C6A36226C}" type="presParOf" srcId="{DE3E8D95-B145-43AD-82D0-A385857C25F2}" destId="{81940F02-1075-4C44-9E29-7AA2DA8EBFD2}" srcOrd="0" destOrd="0" presId="urn:microsoft.com/office/officeart/2009/layout/CircleArrowProcess"/>
    <dgm:cxn modelId="{C2E8F1C5-CF4C-47FD-9987-2638618F47CB}" type="presParOf" srcId="{81940F02-1075-4C44-9E29-7AA2DA8EBFD2}" destId="{084DB16D-924C-442B-8ECB-2FCFC2DE8024}" srcOrd="0" destOrd="0" presId="urn:microsoft.com/office/officeart/2009/layout/CircleArrowProcess"/>
    <dgm:cxn modelId="{7687DC89-1DCF-41C8-81DE-882C1E4E335B}" type="presParOf" srcId="{DE3E8D95-B145-43AD-82D0-A385857C25F2}" destId="{9889F776-8F38-4CD2-948B-CD3D1B0C26C9}" srcOrd="1" destOrd="0" presId="urn:microsoft.com/office/officeart/2009/layout/CircleArrowProcess"/>
    <dgm:cxn modelId="{D0B5DDD1-F5F2-42E3-BB01-DF530CD28CC6}" type="presParOf" srcId="{DE3E8D95-B145-43AD-82D0-A385857C25F2}" destId="{CD2D4372-129F-4166-BB6D-C7B5ABB20A2E}" srcOrd="2" destOrd="0" presId="urn:microsoft.com/office/officeart/2009/layout/CircleArrowProcess"/>
    <dgm:cxn modelId="{B33C2F1E-B0D9-4A5F-8F8E-0035708E845F}" type="presParOf" srcId="{CD2D4372-129F-4166-BB6D-C7B5ABB20A2E}" destId="{7DFC0E1E-45CD-4E24-8262-D08939F7343D}" srcOrd="0" destOrd="0" presId="urn:microsoft.com/office/officeart/2009/layout/CircleArrowProcess"/>
    <dgm:cxn modelId="{824D9996-0BBD-49A2-B0B8-1FBC4DD1173C}" type="presParOf" srcId="{DE3E8D95-B145-43AD-82D0-A385857C25F2}" destId="{33A7BD48-0E66-4D7A-B719-42B19612BE3F}" srcOrd="3" destOrd="0" presId="urn:microsoft.com/office/officeart/2009/layout/CircleArrowProcess"/>
    <dgm:cxn modelId="{B845D920-BD1A-432A-B727-6E1044D7329E}" type="presParOf" srcId="{DE3E8D95-B145-43AD-82D0-A385857C25F2}" destId="{A8EDEADF-7694-4AA5-8FA3-4EAB59A55663}" srcOrd="4" destOrd="0" presId="urn:microsoft.com/office/officeart/2009/layout/CircleArrowProcess"/>
    <dgm:cxn modelId="{F41B40C9-3B36-4188-ABF0-238734655101}" type="presParOf" srcId="{A8EDEADF-7694-4AA5-8FA3-4EAB59A55663}" destId="{364ED544-6BA9-4DCB-A1BE-1E1676EC38DD}" srcOrd="0" destOrd="0" presId="urn:microsoft.com/office/officeart/2009/layout/CircleArrowProcess"/>
    <dgm:cxn modelId="{4388531E-78D4-4BC0-B1E3-CDBE9E4A8F00}" type="presParOf" srcId="{DE3E8D95-B145-43AD-82D0-A385857C25F2}" destId="{4372EEBA-E26F-4CD7-B785-23311DFB4FB3}" srcOrd="5" destOrd="0" presId="urn:microsoft.com/office/officeart/2009/layout/CircleArrowProcess"/>
    <dgm:cxn modelId="{E9EEEF25-459F-459B-A1A6-0C5F927C32FD}" type="presParOf" srcId="{DE3E8D95-B145-43AD-82D0-A385857C25F2}" destId="{B7E01FE0-E916-4A54-AD13-E1B0637BBFA7}" srcOrd="6" destOrd="0" presId="urn:microsoft.com/office/officeart/2009/layout/CircleArrowProcess"/>
    <dgm:cxn modelId="{83807A0C-BC5A-42D1-A390-87BE384DFBE4}" type="presParOf" srcId="{B7E01FE0-E916-4A54-AD13-E1B0637BBFA7}" destId="{2903EBDF-6B7C-4799-8C7B-35615DC35896}" srcOrd="0" destOrd="0" presId="urn:microsoft.com/office/officeart/2009/layout/CircleArrowProcess"/>
    <dgm:cxn modelId="{E7BF752A-3B55-4F50-93BC-1B6662A4678C}" type="presParOf" srcId="{DE3E8D95-B145-43AD-82D0-A385857C25F2}" destId="{E53E95CE-0E59-405B-9E16-50638467FAB7}" srcOrd="7"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DB16D-924C-442B-8ECB-2FCFC2DE8024}">
      <dsp:nvSpPr>
        <dsp:cNvPr id="0" name=""/>
        <dsp:cNvSpPr/>
      </dsp:nvSpPr>
      <dsp:spPr>
        <a:xfrm>
          <a:off x="2520721" y="0"/>
          <a:ext cx="1604046" cy="1604210"/>
        </a:xfrm>
        <a:prstGeom prst="circularArrow">
          <a:avLst>
            <a:gd name="adj1" fmla="val 10980"/>
            <a:gd name="adj2" fmla="val 1142322"/>
            <a:gd name="adj3" fmla="val 4500000"/>
            <a:gd name="adj4" fmla="val 10800000"/>
            <a:gd name="adj5" fmla="val 125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89F776-8F38-4CD2-948B-CD3D1B0C26C9}">
      <dsp:nvSpPr>
        <dsp:cNvPr id="0" name=""/>
        <dsp:cNvSpPr/>
      </dsp:nvSpPr>
      <dsp:spPr>
        <a:xfrm>
          <a:off x="2874869" y="580680"/>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rgbClr val="FFFF00"/>
              </a:solidFill>
            </a:rPr>
            <a:t>作业调度</a:t>
          </a:r>
          <a:endParaRPr lang="zh-CN" altLang="en-US" sz="2400" b="1" kern="1200" dirty="0">
            <a:solidFill>
              <a:srgbClr val="FFFF00"/>
            </a:solidFill>
          </a:endParaRPr>
        </a:p>
      </dsp:txBody>
      <dsp:txXfrm>
        <a:off x="2874869" y="580680"/>
        <a:ext cx="895149" cy="447528"/>
      </dsp:txXfrm>
    </dsp:sp>
    <dsp:sp modelId="{7DFC0E1E-45CD-4E24-8262-D08939F7343D}">
      <dsp:nvSpPr>
        <dsp:cNvPr id="0" name=""/>
        <dsp:cNvSpPr/>
      </dsp:nvSpPr>
      <dsp:spPr>
        <a:xfrm>
          <a:off x="2075102" y="921857"/>
          <a:ext cx="1604046" cy="1604210"/>
        </a:xfrm>
        <a:prstGeom prst="leftCircularArrow">
          <a:avLst>
            <a:gd name="adj1" fmla="val 10980"/>
            <a:gd name="adj2" fmla="val 1142322"/>
            <a:gd name="adj3" fmla="val 6300000"/>
            <a:gd name="adj4" fmla="val 18900000"/>
            <a:gd name="adj5" fmla="val 125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A7BD48-0E66-4D7A-B719-42B19612BE3F}">
      <dsp:nvSpPr>
        <dsp:cNvPr id="0" name=""/>
        <dsp:cNvSpPr/>
      </dsp:nvSpPr>
      <dsp:spPr>
        <a:xfrm>
          <a:off x="2427445" y="1504239"/>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交换调度</a:t>
          </a:r>
          <a:endParaRPr lang="zh-CN" altLang="en-US" sz="2400" b="1" kern="1200" dirty="0">
            <a:solidFill>
              <a:schemeClr val="bg1"/>
            </a:solidFill>
          </a:endParaRPr>
        </a:p>
      </dsp:txBody>
      <dsp:txXfrm>
        <a:off x="2427445" y="1504239"/>
        <a:ext cx="895149" cy="447528"/>
      </dsp:txXfrm>
    </dsp:sp>
    <dsp:sp modelId="{364ED544-6BA9-4DCB-A1BE-1E1676EC38DD}">
      <dsp:nvSpPr>
        <dsp:cNvPr id="0" name=""/>
        <dsp:cNvSpPr/>
      </dsp:nvSpPr>
      <dsp:spPr>
        <a:xfrm>
          <a:off x="2520721" y="1847117"/>
          <a:ext cx="1604046" cy="1604210"/>
        </a:xfrm>
        <a:prstGeom prst="circularArrow">
          <a:avLst>
            <a:gd name="adj1" fmla="val 10980"/>
            <a:gd name="adj2" fmla="val 1142322"/>
            <a:gd name="adj3" fmla="val 4500000"/>
            <a:gd name="adj4" fmla="val 13500000"/>
            <a:gd name="adj5" fmla="val 125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72EEBA-E26F-4CD7-B785-23311DFB4FB3}">
      <dsp:nvSpPr>
        <dsp:cNvPr id="0" name=""/>
        <dsp:cNvSpPr/>
      </dsp:nvSpPr>
      <dsp:spPr>
        <a:xfrm>
          <a:off x="2874869" y="2427798"/>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进程调度</a:t>
          </a:r>
          <a:endParaRPr lang="zh-CN" altLang="en-US" sz="2400" b="1" kern="1200" dirty="0">
            <a:solidFill>
              <a:schemeClr val="bg1"/>
            </a:solidFill>
          </a:endParaRPr>
        </a:p>
      </dsp:txBody>
      <dsp:txXfrm>
        <a:off x="2874869" y="2427798"/>
        <a:ext cx="895149" cy="447528"/>
      </dsp:txXfrm>
    </dsp:sp>
    <dsp:sp modelId="{2903EBDF-6B7C-4799-8C7B-35615DC35896}">
      <dsp:nvSpPr>
        <dsp:cNvPr id="0" name=""/>
        <dsp:cNvSpPr/>
      </dsp:nvSpPr>
      <dsp:spPr>
        <a:xfrm>
          <a:off x="2189441" y="2875326"/>
          <a:ext cx="1378078" cy="1378744"/>
        </a:xfrm>
        <a:prstGeom prst="blockArc">
          <a:avLst>
            <a:gd name="adj1" fmla="val 0"/>
            <a:gd name="adj2" fmla="val 18900000"/>
            <a:gd name="adj3" fmla="val 1274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3E95CE-0E59-405B-9E16-50638467FAB7}">
      <dsp:nvSpPr>
        <dsp:cNvPr id="0" name=""/>
        <dsp:cNvSpPr/>
      </dsp:nvSpPr>
      <dsp:spPr>
        <a:xfrm>
          <a:off x="2427445" y="3351357"/>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线程调度</a:t>
          </a:r>
          <a:endParaRPr lang="zh-CN" altLang="en-US" sz="2400" b="1" kern="1200" dirty="0">
            <a:solidFill>
              <a:schemeClr val="bg1"/>
            </a:solidFill>
          </a:endParaRPr>
        </a:p>
      </dsp:txBody>
      <dsp:txXfrm>
        <a:off x="2427445" y="3351357"/>
        <a:ext cx="895149" cy="4475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DB16D-924C-442B-8ECB-2FCFC2DE8024}">
      <dsp:nvSpPr>
        <dsp:cNvPr id="0" name=""/>
        <dsp:cNvSpPr/>
      </dsp:nvSpPr>
      <dsp:spPr>
        <a:xfrm>
          <a:off x="2520721" y="0"/>
          <a:ext cx="1604046" cy="1604210"/>
        </a:xfrm>
        <a:prstGeom prst="circularArrow">
          <a:avLst>
            <a:gd name="adj1" fmla="val 10980"/>
            <a:gd name="adj2" fmla="val 1142322"/>
            <a:gd name="adj3" fmla="val 4500000"/>
            <a:gd name="adj4" fmla="val 10800000"/>
            <a:gd name="adj5" fmla="val 125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89F776-8F38-4CD2-948B-CD3D1B0C26C9}">
      <dsp:nvSpPr>
        <dsp:cNvPr id="0" name=""/>
        <dsp:cNvSpPr/>
      </dsp:nvSpPr>
      <dsp:spPr>
        <a:xfrm>
          <a:off x="2874869" y="580680"/>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作业调度</a:t>
          </a:r>
          <a:endParaRPr lang="zh-CN" altLang="en-US" sz="2400" b="1" kern="1200" dirty="0">
            <a:solidFill>
              <a:schemeClr val="bg1"/>
            </a:solidFill>
          </a:endParaRPr>
        </a:p>
      </dsp:txBody>
      <dsp:txXfrm>
        <a:off x="2874869" y="580680"/>
        <a:ext cx="895149" cy="447528"/>
      </dsp:txXfrm>
    </dsp:sp>
    <dsp:sp modelId="{7DFC0E1E-45CD-4E24-8262-D08939F7343D}">
      <dsp:nvSpPr>
        <dsp:cNvPr id="0" name=""/>
        <dsp:cNvSpPr/>
      </dsp:nvSpPr>
      <dsp:spPr>
        <a:xfrm>
          <a:off x="2075102" y="921857"/>
          <a:ext cx="1604046" cy="1604210"/>
        </a:xfrm>
        <a:prstGeom prst="leftCircularArrow">
          <a:avLst>
            <a:gd name="adj1" fmla="val 10980"/>
            <a:gd name="adj2" fmla="val 1142322"/>
            <a:gd name="adj3" fmla="val 6300000"/>
            <a:gd name="adj4" fmla="val 18900000"/>
            <a:gd name="adj5" fmla="val 125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A7BD48-0E66-4D7A-B719-42B19612BE3F}">
      <dsp:nvSpPr>
        <dsp:cNvPr id="0" name=""/>
        <dsp:cNvSpPr/>
      </dsp:nvSpPr>
      <dsp:spPr>
        <a:xfrm>
          <a:off x="2427445" y="1504239"/>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rgbClr val="FFFF00"/>
              </a:solidFill>
            </a:rPr>
            <a:t>交换调度</a:t>
          </a:r>
          <a:endParaRPr lang="zh-CN" altLang="en-US" sz="2400" b="1" kern="1200" dirty="0">
            <a:solidFill>
              <a:srgbClr val="FFFF00"/>
            </a:solidFill>
          </a:endParaRPr>
        </a:p>
      </dsp:txBody>
      <dsp:txXfrm>
        <a:off x="2427445" y="1504239"/>
        <a:ext cx="895149" cy="447528"/>
      </dsp:txXfrm>
    </dsp:sp>
    <dsp:sp modelId="{364ED544-6BA9-4DCB-A1BE-1E1676EC38DD}">
      <dsp:nvSpPr>
        <dsp:cNvPr id="0" name=""/>
        <dsp:cNvSpPr/>
      </dsp:nvSpPr>
      <dsp:spPr>
        <a:xfrm>
          <a:off x="2520721" y="1847117"/>
          <a:ext cx="1604046" cy="1604210"/>
        </a:xfrm>
        <a:prstGeom prst="circularArrow">
          <a:avLst>
            <a:gd name="adj1" fmla="val 10980"/>
            <a:gd name="adj2" fmla="val 1142322"/>
            <a:gd name="adj3" fmla="val 4500000"/>
            <a:gd name="adj4" fmla="val 13500000"/>
            <a:gd name="adj5" fmla="val 125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72EEBA-E26F-4CD7-B785-23311DFB4FB3}">
      <dsp:nvSpPr>
        <dsp:cNvPr id="0" name=""/>
        <dsp:cNvSpPr/>
      </dsp:nvSpPr>
      <dsp:spPr>
        <a:xfrm>
          <a:off x="2874869" y="2427798"/>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进程调度</a:t>
          </a:r>
          <a:endParaRPr lang="zh-CN" altLang="en-US" sz="2400" b="1" kern="1200" dirty="0">
            <a:solidFill>
              <a:schemeClr val="bg1"/>
            </a:solidFill>
          </a:endParaRPr>
        </a:p>
      </dsp:txBody>
      <dsp:txXfrm>
        <a:off x="2874869" y="2427798"/>
        <a:ext cx="895149" cy="447528"/>
      </dsp:txXfrm>
    </dsp:sp>
    <dsp:sp modelId="{2903EBDF-6B7C-4799-8C7B-35615DC35896}">
      <dsp:nvSpPr>
        <dsp:cNvPr id="0" name=""/>
        <dsp:cNvSpPr/>
      </dsp:nvSpPr>
      <dsp:spPr>
        <a:xfrm>
          <a:off x="2189441" y="2875326"/>
          <a:ext cx="1378078" cy="1378744"/>
        </a:xfrm>
        <a:prstGeom prst="blockArc">
          <a:avLst>
            <a:gd name="adj1" fmla="val 0"/>
            <a:gd name="adj2" fmla="val 18900000"/>
            <a:gd name="adj3" fmla="val 1274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3E95CE-0E59-405B-9E16-50638467FAB7}">
      <dsp:nvSpPr>
        <dsp:cNvPr id="0" name=""/>
        <dsp:cNvSpPr/>
      </dsp:nvSpPr>
      <dsp:spPr>
        <a:xfrm>
          <a:off x="2427445" y="3351357"/>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线程调度</a:t>
          </a:r>
          <a:endParaRPr lang="zh-CN" altLang="en-US" sz="2400" b="1" kern="1200" dirty="0">
            <a:solidFill>
              <a:schemeClr val="bg1"/>
            </a:solidFill>
          </a:endParaRPr>
        </a:p>
      </dsp:txBody>
      <dsp:txXfrm>
        <a:off x="2427445" y="3351357"/>
        <a:ext cx="895149" cy="4475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DB16D-924C-442B-8ECB-2FCFC2DE8024}">
      <dsp:nvSpPr>
        <dsp:cNvPr id="0" name=""/>
        <dsp:cNvSpPr/>
      </dsp:nvSpPr>
      <dsp:spPr>
        <a:xfrm>
          <a:off x="2520721" y="0"/>
          <a:ext cx="1604046" cy="1604210"/>
        </a:xfrm>
        <a:prstGeom prst="circularArrow">
          <a:avLst>
            <a:gd name="adj1" fmla="val 10980"/>
            <a:gd name="adj2" fmla="val 1142322"/>
            <a:gd name="adj3" fmla="val 4500000"/>
            <a:gd name="adj4" fmla="val 10800000"/>
            <a:gd name="adj5" fmla="val 125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89F776-8F38-4CD2-948B-CD3D1B0C26C9}">
      <dsp:nvSpPr>
        <dsp:cNvPr id="0" name=""/>
        <dsp:cNvSpPr/>
      </dsp:nvSpPr>
      <dsp:spPr>
        <a:xfrm>
          <a:off x="2874869" y="580680"/>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作业调度</a:t>
          </a:r>
          <a:endParaRPr lang="zh-CN" altLang="en-US" sz="2400" b="1" kern="1200" dirty="0">
            <a:solidFill>
              <a:schemeClr val="bg1"/>
            </a:solidFill>
          </a:endParaRPr>
        </a:p>
      </dsp:txBody>
      <dsp:txXfrm>
        <a:off x="2874869" y="580680"/>
        <a:ext cx="895149" cy="447528"/>
      </dsp:txXfrm>
    </dsp:sp>
    <dsp:sp modelId="{7DFC0E1E-45CD-4E24-8262-D08939F7343D}">
      <dsp:nvSpPr>
        <dsp:cNvPr id="0" name=""/>
        <dsp:cNvSpPr/>
      </dsp:nvSpPr>
      <dsp:spPr>
        <a:xfrm>
          <a:off x="2075102" y="921857"/>
          <a:ext cx="1604046" cy="1604210"/>
        </a:xfrm>
        <a:prstGeom prst="leftCircularArrow">
          <a:avLst>
            <a:gd name="adj1" fmla="val 10980"/>
            <a:gd name="adj2" fmla="val 1142322"/>
            <a:gd name="adj3" fmla="val 6300000"/>
            <a:gd name="adj4" fmla="val 18900000"/>
            <a:gd name="adj5" fmla="val 12500"/>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A7BD48-0E66-4D7A-B719-42B19612BE3F}">
      <dsp:nvSpPr>
        <dsp:cNvPr id="0" name=""/>
        <dsp:cNvSpPr/>
      </dsp:nvSpPr>
      <dsp:spPr>
        <a:xfrm>
          <a:off x="2427445" y="1504239"/>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交换调度</a:t>
          </a:r>
          <a:endParaRPr lang="zh-CN" altLang="en-US" sz="2400" b="1" kern="1200" dirty="0">
            <a:solidFill>
              <a:schemeClr val="bg1"/>
            </a:solidFill>
          </a:endParaRPr>
        </a:p>
      </dsp:txBody>
      <dsp:txXfrm>
        <a:off x="2427445" y="1504239"/>
        <a:ext cx="895149" cy="447528"/>
      </dsp:txXfrm>
    </dsp:sp>
    <dsp:sp modelId="{364ED544-6BA9-4DCB-A1BE-1E1676EC38DD}">
      <dsp:nvSpPr>
        <dsp:cNvPr id="0" name=""/>
        <dsp:cNvSpPr/>
      </dsp:nvSpPr>
      <dsp:spPr>
        <a:xfrm>
          <a:off x="2520721" y="1847117"/>
          <a:ext cx="1604046" cy="1604210"/>
        </a:xfrm>
        <a:prstGeom prst="circularArrow">
          <a:avLst>
            <a:gd name="adj1" fmla="val 10980"/>
            <a:gd name="adj2" fmla="val 1142322"/>
            <a:gd name="adj3" fmla="val 4500000"/>
            <a:gd name="adj4" fmla="val 13500000"/>
            <a:gd name="adj5" fmla="val 12500"/>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72EEBA-E26F-4CD7-B785-23311DFB4FB3}">
      <dsp:nvSpPr>
        <dsp:cNvPr id="0" name=""/>
        <dsp:cNvSpPr/>
      </dsp:nvSpPr>
      <dsp:spPr>
        <a:xfrm>
          <a:off x="2874869" y="2427798"/>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rgbClr val="FFFF00"/>
              </a:solidFill>
            </a:rPr>
            <a:t>进程调度</a:t>
          </a:r>
          <a:endParaRPr lang="zh-CN" altLang="en-US" sz="2400" b="1" kern="1200" dirty="0">
            <a:solidFill>
              <a:srgbClr val="FFFF00"/>
            </a:solidFill>
          </a:endParaRPr>
        </a:p>
      </dsp:txBody>
      <dsp:txXfrm>
        <a:off x="2874869" y="2427798"/>
        <a:ext cx="895149" cy="447528"/>
      </dsp:txXfrm>
    </dsp:sp>
    <dsp:sp modelId="{2903EBDF-6B7C-4799-8C7B-35615DC35896}">
      <dsp:nvSpPr>
        <dsp:cNvPr id="0" name=""/>
        <dsp:cNvSpPr/>
      </dsp:nvSpPr>
      <dsp:spPr>
        <a:xfrm>
          <a:off x="2189441" y="2875326"/>
          <a:ext cx="1378078" cy="1378744"/>
        </a:xfrm>
        <a:prstGeom prst="blockArc">
          <a:avLst>
            <a:gd name="adj1" fmla="val 0"/>
            <a:gd name="adj2" fmla="val 18900000"/>
            <a:gd name="adj3" fmla="val 1274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3E95CE-0E59-405B-9E16-50638467FAB7}">
      <dsp:nvSpPr>
        <dsp:cNvPr id="0" name=""/>
        <dsp:cNvSpPr/>
      </dsp:nvSpPr>
      <dsp:spPr>
        <a:xfrm>
          <a:off x="2427445" y="3351357"/>
          <a:ext cx="895149" cy="447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bg1"/>
              </a:solidFill>
            </a:rPr>
            <a:t>线程调度</a:t>
          </a:r>
          <a:endParaRPr lang="zh-CN" altLang="en-US" sz="2400" b="1" kern="1200" dirty="0">
            <a:solidFill>
              <a:schemeClr val="bg1"/>
            </a:solidFill>
          </a:endParaRPr>
        </a:p>
      </dsp:txBody>
      <dsp:txXfrm>
        <a:off x="2427445" y="3351357"/>
        <a:ext cx="895149" cy="447528"/>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CE70C7-2C26-4505-8578-4D978357873D}" type="datetimeFigureOut">
              <a:rPr lang="zh-CN" altLang="en-US" smtClean="0"/>
              <a:pPr/>
              <a:t>2025/11/02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63B0A5-B27C-4FBD-B1E5-E777625DAE14}" type="slidenum">
              <a:rPr lang="zh-CN" altLang="en-US" smtClean="0"/>
              <a:pPr/>
              <a:t>‹#›</a:t>
            </a:fld>
            <a:endParaRPr lang="zh-CN" altLang="en-US"/>
          </a:p>
        </p:txBody>
      </p:sp>
    </p:spTree>
    <p:extLst>
      <p:ext uri="{BB962C8B-B14F-4D97-AF65-F5344CB8AC3E}">
        <p14:creationId xmlns:p14="http://schemas.microsoft.com/office/powerpoint/2010/main" val="8828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a:t>
            </a:fld>
            <a:endParaRPr lang="zh-CN" altLang="en-US"/>
          </a:p>
        </p:txBody>
      </p:sp>
    </p:spTree>
    <p:extLst>
      <p:ext uri="{BB962C8B-B14F-4D97-AF65-F5344CB8AC3E}">
        <p14:creationId xmlns:p14="http://schemas.microsoft.com/office/powerpoint/2010/main" val="3327055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a:t>
            </a:fld>
            <a:endParaRPr lang="zh-CN" altLang="en-US"/>
          </a:p>
        </p:txBody>
      </p:sp>
    </p:spTree>
    <p:extLst>
      <p:ext uri="{BB962C8B-B14F-4D97-AF65-F5344CB8AC3E}">
        <p14:creationId xmlns:p14="http://schemas.microsoft.com/office/powerpoint/2010/main" val="944575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a:t>
            </a:fld>
            <a:endParaRPr lang="zh-CN" altLang="en-US"/>
          </a:p>
        </p:txBody>
      </p:sp>
    </p:spTree>
    <p:extLst>
      <p:ext uri="{BB962C8B-B14F-4D97-AF65-F5344CB8AC3E}">
        <p14:creationId xmlns:p14="http://schemas.microsoft.com/office/powerpoint/2010/main" val="2307355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16</a:t>
            </a:fld>
            <a:endParaRPr lang="zh-CN" altLang="en-US"/>
          </a:p>
        </p:txBody>
      </p:sp>
    </p:spTree>
    <p:extLst>
      <p:ext uri="{BB962C8B-B14F-4D97-AF65-F5344CB8AC3E}">
        <p14:creationId xmlns:p14="http://schemas.microsoft.com/office/powerpoint/2010/main" val="4206164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17</a:t>
            </a:fld>
            <a:endParaRPr lang="zh-CN" altLang="en-US"/>
          </a:p>
        </p:txBody>
      </p:sp>
    </p:spTree>
    <p:extLst>
      <p:ext uri="{BB962C8B-B14F-4D97-AF65-F5344CB8AC3E}">
        <p14:creationId xmlns:p14="http://schemas.microsoft.com/office/powerpoint/2010/main" val="4019152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18</a:t>
            </a:fld>
            <a:endParaRPr lang="zh-CN" altLang="en-US"/>
          </a:p>
        </p:txBody>
      </p:sp>
    </p:spTree>
    <p:extLst>
      <p:ext uri="{BB962C8B-B14F-4D97-AF65-F5344CB8AC3E}">
        <p14:creationId xmlns:p14="http://schemas.microsoft.com/office/powerpoint/2010/main" val="4082291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19</a:t>
            </a:fld>
            <a:endParaRPr lang="zh-CN" altLang="en-US"/>
          </a:p>
        </p:txBody>
      </p:sp>
    </p:spTree>
    <p:extLst>
      <p:ext uri="{BB962C8B-B14F-4D97-AF65-F5344CB8AC3E}">
        <p14:creationId xmlns:p14="http://schemas.microsoft.com/office/powerpoint/2010/main" val="3713459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20</a:t>
            </a:fld>
            <a:endParaRPr lang="zh-CN" altLang="en-US"/>
          </a:p>
        </p:txBody>
      </p:sp>
    </p:spTree>
    <p:extLst>
      <p:ext uri="{BB962C8B-B14F-4D97-AF65-F5344CB8AC3E}">
        <p14:creationId xmlns:p14="http://schemas.microsoft.com/office/powerpoint/2010/main" val="807068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21</a:t>
            </a:fld>
            <a:endParaRPr lang="zh-CN" altLang="en-US"/>
          </a:p>
        </p:txBody>
      </p:sp>
    </p:spTree>
    <p:extLst>
      <p:ext uri="{BB962C8B-B14F-4D97-AF65-F5344CB8AC3E}">
        <p14:creationId xmlns:p14="http://schemas.microsoft.com/office/powerpoint/2010/main" val="3897583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22</a:t>
            </a:fld>
            <a:endParaRPr lang="zh-CN" altLang="en-US"/>
          </a:p>
        </p:txBody>
      </p:sp>
    </p:spTree>
    <p:extLst>
      <p:ext uri="{BB962C8B-B14F-4D97-AF65-F5344CB8AC3E}">
        <p14:creationId xmlns:p14="http://schemas.microsoft.com/office/powerpoint/2010/main" val="740368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23</a:t>
            </a:fld>
            <a:endParaRPr lang="zh-CN" altLang="en-US"/>
          </a:p>
        </p:txBody>
      </p:sp>
    </p:spTree>
    <p:extLst>
      <p:ext uri="{BB962C8B-B14F-4D97-AF65-F5344CB8AC3E}">
        <p14:creationId xmlns:p14="http://schemas.microsoft.com/office/powerpoint/2010/main" val="2623831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24</a:t>
            </a:fld>
            <a:endParaRPr lang="zh-CN" altLang="en-US"/>
          </a:p>
        </p:txBody>
      </p:sp>
    </p:spTree>
    <p:extLst>
      <p:ext uri="{BB962C8B-B14F-4D97-AF65-F5344CB8AC3E}">
        <p14:creationId xmlns:p14="http://schemas.microsoft.com/office/powerpoint/2010/main" val="2812674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25</a:t>
            </a:fld>
            <a:endParaRPr lang="zh-CN" altLang="en-US"/>
          </a:p>
        </p:txBody>
      </p:sp>
    </p:spTree>
    <p:extLst>
      <p:ext uri="{BB962C8B-B14F-4D97-AF65-F5344CB8AC3E}">
        <p14:creationId xmlns:p14="http://schemas.microsoft.com/office/powerpoint/2010/main" val="1306772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26</a:t>
            </a:fld>
            <a:endParaRPr lang="zh-CN" altLang="en-US"/>
          </a:p>
        </p:txBody>
      </p:sp>
    </p:spTree>
    <p:extLst>
      <p:ext uri="{BB962C8B-B14F-4D97-AF65-F5344CB8AC3E}">
        <p14:creationId xmlns:p14="http://schemas.microsoft.com/office/powerpoint/2010/main" val="3131978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27</a:t>
            </a:fld>
            <a:endParaRPr lang="zh-CN" altLang="en-US"/>
          </a:p>
        </p:txBody>
      </p:sp>
    </p:spTree>
    <p:extLst>
      <p:ext uri="{BB962C8B-B14F-4D97-AF65-F5344CB8AC3E}">
        <p14:creationId xmlns:p14="http://schemas.microsoft.com/office/powerpoint/2010/main" val="110384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28</a:t>
            </a:fld>
            <a:endParaRPr lang="zh-CN" altLang="en-US"/>
          </a:p>
        </p:txBody>
      </p:sp>
    </p:spTree>
    <p:extLst>
      <p:ext uri="{BB962C8B-B14F-4D97-AF65-F5344CB8AC3E}">
        <p14:creationId xmlns:p14="http://schemas.microsoft.com/office/powerpoint/2010/main" val="3132139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29</a:t>
            </a:fld>
            <a:endParaRPr lang="zh-CN" altLang="en-US"/>
          </a:p>
        </p:txBody>
      </p:sp>
    </p:spTree>
    <p:extLst>
      <p:ext uri="{BB962C8B-B14F-4D97-AF65-F5344CB8AC3E}">
        <p14:creationId xmlns:p14="http://schemas.microsoft.com/office/powerpoint/2010/main" val="6702991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36</a:t>
            </a:fld>
            <a:endParaRPr lang="zh-CN" altLang="en-US"/>
          </a:p>
        </p:txBody>
      </p:sp>
    </p:spTree>
    <p:extLst>
      <p:ext uri="{BB962C8B-B14F-4D97-AF65-F5344CB8AC3E}">
        <p14:creationId xmlns:p14="http://schemas.microsoft.com/office/powerpoint/2010/main" val="1669112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1"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66</a:t>
            </a:fld>
            <a:endParaRPr lang="zh-CN" altLang="en-US"/>
          </a:p>
        </p:txBody>
      </p:sp>
    </p:spTree>
    <p:extLst>
      <p:ext uri="{BB962C8B-B14F-4D97-AF65-F5344CB8AC3E}">
        <p14:creationId xmlns:p14="http://schemas.microsoft.com/office/powerpoint/2010/main" val="3834099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69</a:t>
            </a:fld>
            <a:endParaRPr lang="zh-CN" altLang="en-US"/>
          </a:p>
        </p:txBody>
      </p:sp>
    </p:spTree>
    <p:extLst>
      <p:ext uri="{BB962C8B-B14F-4D97-AF65-F5344CB8AC3E}">
        <p14:creationId xmlns:p14="http://schemas.microsoft.com/office/powerpoint/2010/main" val="3522355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70</a:t>
            </a:fld>
            <a:endParaRPr lang="zh-CN" altLang="en-US"/>
          </a:p>
        </p:txBody>
      </p:sp>
    </p:spTree>
    <p:extLst>
      <p:ext uri="{BB962C8B-B14F-4D97-AF65-F5344CB8AC3E}">
        <p14:creationId xmlns:p14="http://schemas.microsoft.com/office/powerpoint/2010/main" val="1027273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76</a:t>
            </a:fld>
            <a:endParaRPr lang="zh-CN" altLang="en-US"/>
          </a:p>
        </p:txBody>
      </p:sp>
    </p:spTree>
    <p:extLst>
      <p:ext uri="{BB962C8B-B14F-4D97-AF65-F5344CB8AC3E}">
        <p14:creationId xmlns:p14="http://schemas.microsoft.com/office/powerpoint/2010/main" val="88853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81</a:t>
            </a:fld>
            <a:endParaRPr lang="zh-CN" altLang="en-US"/>
          </a:p>
        </p:txBody>
      </p:sp>
    </p:spTree>
    <p:extLst>
      <p:ext uri="{BB962C8B-B14F-4D97-AF65-F5344CB8AC3E}">
        <p14:creationId xmlns:p14="http://schemas.microsoft.com/office/powerpoint/2010/main" val="2663839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83</a:t>
            </a:fld>
            <a:endParaRPr lang="zh-CN" altLang="en-US"/>
          </a:p>
        </p:txBody>
      </p:sp>
    </p:spTree>
    <p:extLst>
      <p:ext uri="{BB962C8B-B14F-4D97-AF65-F5344CB8AC3E}">
        <p14:creationId xmlns:p14="http://schemas.microsoft.com/office/powerpoint/2010/main" val="3816459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663B0A5-B27C-4FBD-B1E5-E777625DAE14}" type="slidenum">
              <a:rPr lang="zh-CN" altLang="en-US" smtClean="0"/>
              <a:pPr/>
              <a:t>85</a:t>
            </a:fld>
            <a:endParaRPr lang="zh-CN" altLang="en-US"/>
          </a:p>
        </p:txBody>
      </p:sp>
    </p:spTree>
    <p:extLst>
      <p:ext uri="{BB962C8B-B14F-4D97-AF65-F5344CB8AC3E}">
        <p14:creationId xmlns:p14="http://schemas.microsoft.com/office/powerpoint/2010/main" val="238521548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7" name="组合 16"/>
          <p:cNvGrpSpPr/>
          <p:nvPr userDrawn="1"/>
        </p:nvGrpSpPr>
        <p:grpSpPr>
          <a:xfrm>
            <a:off x="-11499" y="0"/>
            <a:ext cx="9174890" cy="5143500"/>
            <a:chOff x="-11499" y="0"/>
            <a:chExt cx="2891224" cy="1620838"/>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61" y="7637"/>
              <a:ext cx="2709804" cy="1443102"/>
            </a:xfrm>
            <a:prstGeom prst="rect">
              <a:avLst/>
            </a:prstGeom>
          </p:spPr>
        </p:pic>
        <p:pic>
          <p:nvPicPr>
            <p:cNvPr id="8" name="图片 7"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pic>
          <p:nvPicPr>
            <p:cNvPr id="9" name="图片 8" descr="桌子.png"/>
            <p:cNvPicPr>
              <a:picLocks noChangeAspect="1"/>
            </p:cNvPicPr>
            <p:nvPr userDrawn="1"/>
          </p:nvPicPr>
          <p:blipFill>
            <a:blip r:embed="rId4" cstate="print"/>
            <a:srcRect t="80530" r="40938"/>
            <a:stretch>
              <a:fillRect/>
            </a:stretch>
          </p:blipFill>
          <p:spPr>
            <a:xfrm>
              <a:off x="-11499" y="1353415"/>
              <a:ext cx="1247264" cy="267423"/>
            </a:xfrm>
            <a:prstGeom prst="rect">
              <a:avLst/>
            </a:prstGeom>
          </p:spPr>
        </p:pic>
        <p:pic>
          <p:nvPicPr>
            <p:cNvPr id="10" name="图片 9" descr="粉笔画.png"/>
            <p:cNvPicPr>
              <a:picLocks noChangeAspect="1"/>
            </p:cNvPicPr>
            <p:nvPr userDrawn="1"/>
          </p:nvPicPr>
          <p:blipFill>
            <a:blip r:embed="rId5" cstate="print"/>
            <a:srcRect l="49934" t="39179" b="17915"/>
            <a:stretch>
              <a:fillRect/>
            </a:stretch>
          </p:blipFill>
          <p:spPr>
            <a:xfrm>
              <a:off x="1632621" y="799729"/>
              <a:ext cx="1057298" cy="589321"/>
            </a:xfrm>
            <a:prstGeom prst="rect">
              <a:avLst/>
            </a:prstGeom>
          </p:spPr>
        </p:pic>
        <p:pic>
          <p:nvPicPr>
            <p:cNvPr id="11" name="图片 10" descr="书本.png"/>
            <p:cNvPicPr>
              <a:picLocks noChangeAspect="1"/>
            </p:cNvPicPr>
            <p:nvPr userDrawn="1"/>
          </p:nvPicPr>
          <p:blipFill>
            <a:blip r:embed="rId6" cstate="print"/>
            <a:stretch>
              <a:fillRect/>
            </a:stretch>
          </p:blipFill>
          <p:spPr>
            <a:xfrm>
              <a:off x="135905" y="1264247"/>
              <a:ext cx="331633" cy="283611"/>
            </a:xfrm>
            <a:prstGeom prst="rect">
              <a:avLst/>
            </a:prstGeom>
          </p:spPr>
        </p:pic>
        <p:pic>
          <p:nvPicPr>
            <p:cNvPr id="12" name="图片 11" descr="钟.PNG"/>
            <p:cNvPicPr>
              <a:picLocks noChangeAspect="1"/>
            </p:cNvPicPr>
            <p:nvPr userDrawn="1"/>
          </p:nvPicPr>
          <p:blipFill>
            <a:blip r:embed="rId7" cstate="print"/>
            <a:stretch>
              <a:fillRect/>
            </a:stretch>
          </p:blipFill>
          <p:spPr>
            <a:xfrm>
              <a:off x="586523" y="1346308"/>
              <a:ext cx="168944" cy="161364"/>
            </a:xfrm>
            <a:prstGeom prst="rect">
              <a:avLst/>
            </a:prstGeom>
          </p:spPr>
        </p:pic>
        <p:pic>
          <p:nvPicPr>
            <p:cNvPr id="13" name="图片 12" descr="铅笔筒.PNG"/>
            <p:cNvPicPr>
              <a:picLocks noChangeAspect="1"/>
            </p:cNvPicPr>
            <p:nvPr userDrawn="1"/>
          </p:nvPicPr>
          <p:blipFill>
            <a:blip r:embed="rId8" cstate="print"/>
            <a:stretch>
              <a:fillRect/>
            </a:stretch>
          </p:blipFill>
          <p:spPr>
            <a:xfrm>
              <a:off x="447336" y="1270428"/>
              <a:ext cx="223659" cy="242046"/>
            </a:xfrm>
            <a:prstGeom prst="rect">
              <a:avLst/>
            </a:prstGeom>
          </p:spPr>
        </p:pic>
        <p:pic>
          <p:nvPicPr>
            <p:cNvPr id="14" name="图片 13" descr="眼镜.PNG"/>
            <p:cNvPicPr>
              <a:picLocks noChangeAspect="1"/>
            </p:cNvPicPr>
            <p:nvPr userDrawn="1"/>
          </p:nvPicPr>
          <p:blipFill>
            <a:blip r:embed="rId9" cstate="print"/>
            <a:stretch>
              <a:fillRect/>
            </a:stretch>
          </p:blipFill>
          <p:spPr>
            <a:xfrm>
              <a:off x="818232" y="1467966"/>
              <a:ext cx="172083" cy="79411"/>
            </a:xfrm>
            <a:prstGeom prst="rect">
              <a:avLst/>
            </a:prstGeom>
          </p:spPr>
        </p:pic>
        <p:pic>
          <p:nvPicPr>
            <p:cNvPr id="15" name="图片 14" descr="贴贴子4张（空）.png"/>
            <p:cNvPicPr>
              <a:picLocks noChangeAspect="1"/>
            </p:cNvPicPr>
            <p:nvPr userDrawn="1"/>
          </p:nvPicPr>
          <p:blipFill>
            <a:blip r:embed="rId10" cstate="print"/>
            <a:srcRect t="33018" r="77449" b="52860"/>
            <a:stretch>
              <a:fillRect/>
            </a:stretch>
          </p:blipFill>
          <p:spPr>
            <a:xfrm>
              <a:off x="229424" y="152368"/>
              <a:ext cx="476228" cy="193957"/>
            </a:xfrm>
            <a:prstGeom prst="rect">
              <a:avLst/>
            </a:prstGeom>
          </p:spPr>
        </p:pic>
        <p:pic>
          <p:nvPicPr>
            <p:cNvPr id="16" name="图片 15" descr="贴贴子4张（空）.png"/>
            <p:cNvPicPr>
              <a:picLocks/>
            </p:cNvPicPr>
            <p:nvPr userDrawn="1"/>
          </p:nvPicPr>
          <p:blipFill>
            <a:blip r:embed="rId10" cstate="print"/>
            <a:srcRect l="6702" t="47905" r="86794" b="38897"/>
            <a:stretch>
              <a:fillRect/>
            </a:stretch>
          </p:blipFill>
          <p:spPr>
            <a:xfrm rot="21420000">
              <a:off x="630039" y="230507"/>
              <a:ext cx="136050" cy="186588"/>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p:cNvGrpSpPr/>
          <p:nvPr userDrawn="1"/>
        </p:nvGrpSpPr>
        <p:grpSpPr>
          <a:xfrm>
            <a:off x="13811" y="-236562"/>
            <a:ext cx="9238709" cy="5353378"/>
            <a:chOff x="-7497" y="-117332"/>
            <a:chExt cx="3007002" cy="1742410"/>
          </a:xfrm>
        </p:grpSpPr>
        <p:pic>
          <p:nvPicPr>
            <p:cNvPr id="7" name="图片 6"/>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7497" y="129677"/>
              <a:ext cx="2808011" cy="1495401"/>
            </a:xfrm>
            <a:prstGeom prst="rect">
              <a:avLst/>
            </a:prstGeom>
          </p:spPr>
        </p:pic>
        <p:pic>
          <p:nvPicPr>
            <p:cNvPr id="8" name="图片 7" descr="照片夹.png"/>
            <p:cNvPicPr>
              <a:picLocks noChangeAspect="1"/>
            </p:cNvPicPr>
            <p:nvPr userDrawn="1"/>
          </p:nvPicPr>
          <p:blipFill>
            <a:blip r:embed="rId3" cstate="print"/>
            <a:srcRect r="66645" b="79232"/>
            <a:stretch>
              <a:fillRect/>
            </a:stretch>
          </p:blipFill>
          <p:spPr>
            <a:xfrm flipH="1">
              <a:off x="1530573" y="-117332"/>
              <a:ext cx="1468932" cy="594851"/>
            </a:xfrm>
            <a:prstGeom prst="rect">
              <a:avLst/>
            </a:prstGeom>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59328" y="-7204"/>
            <a:ext cx="9100573" cy="5243250"/>
            <a:chOff x="43427" y="0"/>
            <a:chExt cx="2836298" cy="1634119"/>
          </a:xfrm>
        </p:grpSpPr>
        <p:pic>
          <p:nvPicPr>
            <p:cNvPr id="9" name="图片 8"/>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43427" y="152903"/>
              <a:ext cx="2781373" cy="1481216"/>
            </a:xfrm>
            <a:prstGeom prst="rect">
              <a:avLst/>
            </a:prstGeom>
          </p:spPr>
        </p:pic>
        <p:pic>
          <p:nvPicPr>
            <p:cNvPr id="10" name="图片 9"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grpSp>
        <p:nvGrpSpPr>
          <p:cNvPr id="12" name="组合 11"/>
          <p:cNvGrpSpPr/>
          <p:nvPr userDrawn="1"/>
        </p:nvGrpSpPr>
        <p:grpSpPr>
          <a:xfrm>
            <a:off x="-11499" y="0"/>
            <a:ext cx="9174890" cy="5143500"/>
            <a:chOff x="-11499" y="0"/>
            <a:chExt cx="2891224" cy="1620838"/>
          </a:xfrm>
        </p:grpSpPr>
        <p:pic>
          <p:nvPicPr>
            <p:cNvPr id="10" name="图片 9"/>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11499" y="0"/>
              <a:ext cx="2890797" cy="1620838"/>
            </a:xfrm>
            <a:prstGeom prst="rect">
              <a:avLst/>
            </a:prstGeom>
          </p:spPr>
        </p:pic>
        <p:pic>
          <p:nvPicPr>
            <p:cNvPr id="11" name="图片 10" descr="叶子.png"/>
            <p:cNvPicPr>
              <a:picLocks noChangeAspect="1"/>
            </p:cNvPicPr>
            <p:nvPr userDrawn="1"/>
          </p:nvPicPr>
          <p:blipFill>
            <a:blip r:embed="rId3" cstate="print"/>
            <a:srcRect l="54369" b="60821"/>
            <a:stretch>
              <a:fillRect/>
            </a:stretch>
          </p:blipFill>
          <p:spPr>
            <a:xfrm>
              <a:off x="1916090" y="0"/>
              <a:ext cx="963635" cy="538122"/>
            </a:xfrm>
            <a:prstGeom prst="rect">
              <a:avLst/>
            </a:prstGeom>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背景.jpg"/>
          <p:cNvPicPr>
            <a:picLocks noChangeAspect="1"/>
          </p:cNvPicPr>
          <p:nvPr/>
        </p:nvPicPr>
        <p:blipFill>
          <a:blip r:embed="rId6" cstate="print"/>
          <a:srcRect r="2304" b="7492"/>
          <a:stretch>
            <a:fillRect/>
          </a:stretch>
        </p:blipFill>
        <p:spPr>
          <a:xfrm>
            <a:off x="-11499" y="0"/>
            <a:ext cx="917489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5.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1357290" y="1307333"/>
            <a:ext cx="6357982" cy="1200331"/>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ctr" defTabSz="914399"/>
            <a:r>
              <a:rPr lang="zh-CN" altLang="en-US" sz="7200" b="1" dirty="0" smtClean="0">
                <a:ln w="50800"/>
                <a:solidFill>
                  <a:schemeClr val="bg1">
                    <a:shade val="50000"/>
                  </a:schemeClr>
                </a:solidFill>
                <a:latin typeface="黑体" pitchFamily="49" charset="-122"/>
                <a:ea typeface="黑体" pitchFamily="49" charset="-122"/>
              </a:rPr>
              <a:t>操作系统</a:t>
            </a:r>
            <a:endParaRPr lang="zh-CN" altLang="en-US" sz="72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 calcmode="lin" valueType="num">
                                      <p:cBhvr>
                                        <p:cTn id="7" dur="500" decel="50000" fill="hold">
                                          <p:stCondLst>
                                            <p:cond delay="0"/>
                                          </p:stCondLst>
                                        </p:cTn>
                                        <p:tgtEl>
                                          <p:spTgt spid="20">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0">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0">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20">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0">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0">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0">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sp>
        <p:nvSpPr>
          <p:cNvPr id="88" name="矩形 87"/>
          <p:cNvSpPr/>
          <p:nvPr/>
        </p:nvSpPr>
        <p:spPr>
          <a:xfrm>
            <a:off x="2531923" y="2214560"/>
            <a:ext cx="3874392" cy="769443"/>
          </a:xfrm>
          <a:prstGeom prst="rect">
            <a:avLst/>
          </a:prstGeom>
        </p:spPr>
        <p:txBody>
          <a:bodyPr wrap="square" lIns="91441" tIns="45721" rIns="91441" bIns="45721">
            <a:spAutoFit/>
          </a:bodyPr>
          <a:lstStyle/>
          <a:p>
            <a:pPr algn="ctr" defTabSz="914399"/>
            <a:r>
              <a:rPr lang="zh-CN" altLang="en-US" sz="4400" b="1" dirty="0" smtClean="0">
                <a:solidFill>
                  <a:prstClr val="white">
                    <a:lumMod val="75000"/>
                  </a:prstClr>
                </a:solidFill>
                <a:latin typeface="方正特粗光辉简体" panose="02000000000000000000" pitchFamily="2" charset="-122"/>
                <a:ea typeface="方正特粗光辉简体" panose="02000000000000000000" pitchFamily="2" charset="-122"/>
              </a:rPr>
              <a:t>处理机调度</a:t>
            </a:r>
            <a:endParaRPr lang="zh-CN" altLang="en-US" sz="4400" b="1" dirty="0">
              <a:solidFill>
                <a:prstClr val="white">
                  <a:lumMod val="75000"/>
                </a:prstClr>
              </a:solidFill>
              <a:latin typeface="方正特粗光辉简体" panose="02000000000000000000" pitchFamily="2" charset="-122"/>
              <a:ea typeface="方正特粗光辉简体" panose="02000000000000000000" pitchFamily="2" charset="-122"/>
            </a:endParaRPr>
          </a:p>
        </p:txBody>
      </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sp>
        <p:nvSpPr>
          <p:cNvPr id="20" name="TextBox 19"/>
          <p:cNvSpPr txBox="1"/>
          <p:nvPr/>
        </p:nvSpPr>
        <p:spPr>
          <a:xfrm>
            <a:off x="2229162" y="1307333"/>
            <a:ext cx="3960441" cy="923332"/>
          </a:xfrm>
          <a:prstGeom prst="rect">
            <a:avLst/>
          </a:prstGeom>
          <a:noFill/>
          <a:effectLst>
            <a:glow rad="228600">
              <a:schemeClr val="accent6">
                <a:satMod val="175000"/>
                <a:alpha val="40000"/>
              </a:schemeClr>
            </a:glow>
            <a:innerShdw blurRad="63500" dist="50800" dir="5400000">
              <a:prstClr val="black">
                <a:alpha val="50000"/>
              </a:prstClr>
            </a:innerShdw>
            <a:softEdge rad="127000"/>
          </a:effectLst>
          <a:scene3d>
            <a:camera prst="perspectiveRelaxedModerately"/>
            <a:lightRig rig="threePt" dir="t"/>
          </a:scene3d>
        </p:spPr>
        <p:txBody>
          <a:bodyPr wrap="square" lIns="91441" tIns="45721" rIns="91441" bIns="45721" rtlCol="0">
            <a:spAutoFit/>
            <a:scene3d>
              <a:camera prst="orthographicFront"/>
              <a:lightRig rig="balanced" dir="t">
                <a:rot lat="0" lon="0" rev="2100000"/>
              </a:lightRig>
            </a:scene3d>
            <a:sp3d extrusionH="57150" prstMaterial="metal">
              <a:bevelT w="38100" h="25400"/>
              <a:contourClr>
                <a:schemeClr val="bg2"/>
              </a:contourClr>
            </a:sp3d>
          </a:bodyPr>
          <a:lstStyle/>
          <a:p>
            <a:pPr algn="r" defTabSz="914399"/>
            <a:r>
              <a:rPr lang="en-US" altLang="zh-CN" sz="5400" b="1" dirty="0">
                <a:ln w="50800"/>
                <a:solidFill>
                  <a:schemeClr val="bg1">
                    <a:shade val="50000"/>
                  </a:schemeClr>
                </a:solidFill>
                <a:latin typeface="黑体" pitchFamily="49" charset="-122"/>
                <a:ea typeface="黑体" pitchFamily="49" charset="-122"/>
              </a:rPr>
              <a:t>Chapter</a:t>
            </a:r>
            <a:r>
              <a:rPr lang="en-US" altLang="zh-CN" sz="5400" b="1" dirty="0" smtClean="0">
                <a:ln w="50800"/>
                <a:solidFill>
                  <a:schemeClr val="bg1">
                    <a:shade val="50000"/>
                  </a:schemeClr>
                </a:solidFill>
                <a:latin typeface="黑体" pitchFamily="49" charset="-122"/>
                <a:ea typeface="黑体" pitchFamily="49" charset="-122"/>
              </a:rPr>
              <a:t> 4</a:t>
            </a:r>
            <a:endParaRPr lang="zh-CN" altLang="en-US" sz="5400" b="1" dirty="0">
              <a:ln w="50800"/>
              <a:solidFill>
                <a:schemeClr val="bg1">
                  <a:shade val="50000"/>
                </a:schemeClr>
              </a:solidFill>
              <a:latin typeface="黑体" pitchFamily="49" charset="-122"/>
              <a:ea typeface="黑体" pitchFamily="49" charset="-122"/>
            </a:endParaRPr>
          </a:p>
        </p:txBody>
      </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分级调度</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作业调度</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676" y="192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进程调度</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zh-CN" altLang="en-US" b="1" dirty="0" smtClean="0">
                  <a:solidFill>
                    <a:srgbClr val="000000"/>
                  </a:solidFill>
                </a:rPr>
                <a:t>调度算法及算法评价</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实时系统调度算法</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25143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1000" fill="hold"/>
                                        <p:tgtEl>
                                          <p:spTgt spid="16"/>
                                        </p:tgtEl>
                                        <p:attrNameLst>
                                          <p:attrName>ppt_w</p:attrName>
                                        </p:attrNameLst>
                                      </p:cBhvr>
                                      <p:tavLst>
                                        <p:tav tm="0">
                                          <p:val>
                                            <p:strVal val="#ppt_w*0.70"/>
                                          </p:val>
                                        </p:tav>
                                        <p:tav tm="100000">
                                          <p:val>
                                            <p:strVal val="#ppt_w"/>
                                          </p:val>
                                        </p:tav>
                                      </p:tavLst>
                                    </p:anim>
                                    <p:anim calcmode="lin" valueType="num">
                                      <p:cBhvr>
                                        <p:cTn id="15" dur="1000" fill="hold"/>
                                        <p:tgtEl>
                                          <p:spTgt spid="16"/>
                                        </p:tgtEl>
                                        <p:attrNameLst>
                                          <p:attrName>ppt_h</p:attrName>
                                        </p:attrNameLst>
                                      </p:cBhvr>
                                      <p:tavLst>
                                        <p:tav tm="0">
                                          <p:val>
                                            <p:strVal val="#ppt_h"/>
                                          </p:val>
                                        </p:tav>
                                        <p:tav tm="100000">
                                          <p:val>
                                            <p:strVal val="#ppt_h"/>
                                          </p:val>
                                        </p:tav>
                                      </p:tavLst>
                                    </p:anim>
                                    <p:animEffect transition="in" filter="fade">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1000" fill="hold"/>
                                        <p:tgtEl>
                                          <p:spTgt spid="22"/>
                                        </p:tgtEl>
                                        <p:attrNameLst>
                                          <p:attrName>ppt_w</p:attrName>
                                        </p:attrNameLst>
                                      </p:cBhvr>
                                      <p:tavLst>
                                        <p:tav tm="0">
                                          <p:val>
                                            <p:strVal val="#ppt_w*0.70"/>
                                          </p:val>
                                        </p:tav>
                                        <p:tav tm="100000">
                                          <p:val>
                                            <p:strVal val="#ppt_w"/>
                                          </p:val>
                                        </p:tav>
                                      </p:tavLst>
                                    </p:anim>
                                    <p:anim calcmode="lin" valueType="num">
                                      <p:cBhvr>
                                        <p:cTn id="22" dur="1000" fill="hold"/>
                                        <p:tgtEl>
                                          <p:spTgt spid="22"/>
                                        </p:tgtEl>
                                        <p:attrNameLst>
                                          <p:attrName>ppt_h</p:attrName>
                                        </p:attrNameLst>
                                      </p:cBhvr>
                                      <p:tavLst>
                                        <p:tav tm="0">
                                          <p:val>
                                            <p:strVal val="#ppt_h"/>
                                          </p:val>
                                        </p:tav>
                                        <p:tav tm="100000">
                                          <p:val>
                                            <p:strVal val="#ppt_h"/>
                                          </p:val>
                                        </p:tav>
                                      </p:tavLst>
                                    </p:anim>
                                    <p:animEffect transition="in" filter="fade">
                                      <p:cBhvr>
                                        <p:cTn id="23" dur="10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1000" fill="hold"/>
                                        <p:tgtEl>
                                          <p:spTgt spid="27"/>
                                        </p:tgtEl>
                                        <p:attrNameLst>
                                          <p:attrName>ppt_w</p:attrName>
                                        </p:attrNameLst>
                                      </p:cBhvr>
                                      <p:tavLst>
                                        <p:tav tm="0">
                                          <p:val>
                                            <p:strVal val="#ppt_w*0.70"/>
                                          </p:val>
                                        </p:tav>
                                        <p:tav tm="100000">
                                          <p:val>
                                            <p:strVal val="#ppt_w"/>
                                          </p:val>
                                        </p:tav>
                                      </p:tavLst>
                                    </p:anim>
                                    <p:anim calcmode="lin" valueType="num">
                                      <p:cBhvr>
                                        <p:cTn id="29" dur="1000" fill="hold"/>
                                        <p:tgtEl>
                                          <p:spTgt spid="27"/>
                                        </p:tgtEl>
                                        <p:attrNameLst>
                                          <p:attrName>ppt_h</p:attrName>
                                        </p:attrNameLst>
                                      </p:cBhvr>
                                      <p:tavLst>
                                        <p:tav tm="0">
                                          <p:val>
                                            <p:strVal val="#ppt_h"/>
                                          </p:val>
                                        </p:tav>
                                        <p:tav tm="100000">
                                          <p:val>
                                            <p:strVal val="#ppt_h"/>
                                          </p:val>
                                        </p:tav>
                                      </p:tavLst>
                                    </p:anim>
                                    <p:animEffect transition="in" filter="fade">
                                      <p:cBhvr>
                                        <p:cTn id="30" dur="10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1000" fill="hold"/>
                                        <p:tgtEl>
                                          <p:spTgt spid="32"/>
                                        </p:tgtEl>
                                        <p:attrNameLst>
                                          <p:attrName>ppt_w</p:attrName>
                                        </p:attrNameLst>
                                      </p:cBhvr>
                                      <p:tavLst>
                                        <p:tav tm="0">
                                          <p:val>
                                            <p:strVal val="#ppt_w*0.70"/>
                                          </p:val>
                                        </p:tav>
                                        <p:tav tm="100000">
                                          <p:val>
                                            <p:strVal val="#ppt_w"/>
                                          </p:val>
                                        </p:tav>
                                      </p:tavLst>
                                    </p:anim>
                                    <p:anim calcmode="lin" valueType="num">
                                      <p:cBhvr>
                                        <p:cTn id="36" dur="1000" fill="hold"/>
                                        <p:tgtEl>
                                          <p:spTgt spid="32"/>
                                        </p:tgtEl>
                                        <p:attrNameLst>
                                          <p:attrName>ppt_h</p:attrName>
                                        </p:attrNameLst>
                                      </p:cBhvr>
                                      <p:tavLst>
                                        <p:tav tm="0">
                                          <p:val>
                                            <p:strVal val="#ppt_h"/>
                                          </p:val>
                                        </p:tav>
                                        <p:tav tm="100000">
                                          <p:val>
                                            <p:strVal val="#ppt_h"/>
                                          </p:val>
                                        </p:tav>
                                      </p:tavLst>
                                    </p:anim>
                                    <p:animEffect transition="in" filter="fade">
                                      <p:cBhvr>
                                        <p:cTn id="37" dur="10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mph" presetSubtype="0" fill="hold" nodeType="clickEffect">
                                  <p:stCondLst>
                                    <p:cond delay="0"/>
                                  </p:stCondLst>
                                  <p:childTnLst>
                                    <p:animScale>
                                      <p:cBhvr>
                                        <p:cTn id="41" dur="2000" fill="hold"/>
                                        <p:tgtEl>
                                          <p:spTgt spid="11"/>
                                        </p:tgtEl>
                                      </p:cBhvr>
                                      <p:by x="150000" y="150000"/>
                                    </p:animScale>
                                  </p:childTnLst>
                                </p:cTn>
                              </p:par>
                              <p:par>
                                <p:cTn id="42" presetID="42" presetClass="path" presetSubtype="0" accel="50000" decel="50000" fill="hold" nodeType="withEffect">
                                  <p:stCondLst>
                                    <p:cond delay="0"/>
                                  </p:stCondLst>
                                  <p:childTnLst>
                                    <p:animMotion origin="layout" path="M 3.05556E-6 -3.95062E-6 L -0.00643 0.25525 " pathEditMode="relative" rAng="0" ptsTypes="AA">
                                      <p:cBhvr>
                                        <p:cTn id="43" dur="2000" fill="hold"/>
                                        <p:tgtEl>
                                          <p:spTgt spid="11"/>
                                        </p:tgtEl>
                                        <p:attrNameLst>
                                          <p:attrName>ppt_x</p:attrName>
                                          <p:attrName>ppt_y</p:attrName>
                                        </p:attrNameLst>
                                      </p:cBhvr>
                                      <p:rCtr x="-330" y="12747"/>
                                    </p:animMotion>
                                  </p:childTnLst>
                                </p:cTn>
                              </p:par>
                              <p:par>
                                <p:cTn id="44" presetID="10" presetClass="exit" presetSubtype="0" fill="hold" nodeType="withEffect">
                                  <p:stCondLst>
                                    <p:cond delay="0"/>
                                  </p:stCondLst>
                                  <p:childTnLst>
                                    <p:animEffect transition="out" filter="fade">
                                      <p:cBhvr>
                                        <p:cTn id="45" dur="2000"/>
                                        <p:tgtEl>
                                          <p:spTgt spid="16"/>
                                        </p:tgtEl>
                                      </p:cBhvr>
                                    </p:animEffect>
                                    <p:set>
                                      <p:cBhvr>
                                        <p:cTn id="46" dur="1" fill="hold">
                                          <p:stCondLst>
                                            <p:cond delay="1999"/>
                                          </p:stCondLst>
                                        </p:cTn>
                                        <p:tgtEl>
                                          <p:spTgt spid="1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2000"/>
                                        <p:tgtEl>
                                          <p:spTgt spid="22"/>
                                        </p:tgtEl>
                                      </p:cBhvr>
                                    </p:animEffect>
                                    <p:set>
                                      <p:cBhvr>
                                        <p:cTn id="49" dur="1" fill="hold">
                                          <p:stCondLst>
                                            <p:cond delay="1999"/>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2000"/>
                                        <p:tgtEl>
                                          <p:spTgt spid="27"/>
                                        </p:tgtEl>
                                      </p:cBhvr>
                                    </p:animEffect>
                                    <p:set>
                                      <p:cBhvr>
                                        <p:cTn id="52" dur="1" fill="hold">
                                          <p:stCondLst>
                                            <p:cond delay="1999"/>
                                          </p:stCondLst>
                                        </p:cTn>
                                        <p:tgtEl>
                                          <p:spTgt spid="2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2000"/>
                                        <p:tgtEl>
                                          <p:spTgt spid="32"/>
                                        </p:tgtEl>
                                      </p:cBhvr>
                                    </p:animEffect>
                                    <p:set>
                                      <p:cBhvr>
                                        <p:cTn id="55" dur="1" fill="hold">
                                          <p:stCondLst>
                                            <p:cond delay="1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回顾：作业的概念</a:t>
            </a:r>
            <a:endParaRPr lang="en-US" altLang="zh-CN" sz="2400" b="1" dirty="0" smtClean="0">
              <a:solidFill>
                <a:srgbClr val="FFFF00"/>
              </a:solidFill>
              <a:latin typeface="+mn-ea"/>
            </a:endParaRPr>
          </a:p>
          <a:p>
            <a:pPr marL="0" lvl="1" algn="just">
              <a:lnSpc>
                <a:spcPct val="150000"/>
              </a:lnSpc>
              <a:buClr>
                <a:schemeClr val="accent6">
                  <a:lumMod val="60000"/>
                  <a:lumOff val="40000"/>
                </a:schemeClr>
              </a:buClr>
            </a:pPr>
            <a:r>
              <a:rPr lang="en-US" altLang="zh-CN" sz="2400" b="1" dirty="0">
                <a:solidFill>
                  <a:schemeClr val="bg1"/>
                </a:solidFill>
                <a:latin typeface="+mn-ea"/>
              </a:rPr>
              <a:t> </a:t>
            </a:r>
            <a:r>
              <a:rPr lang="en-US" altLang="zh-CN" sz="2400" b="1" dirty="0" smtClean="0">
                <a:solidFill>
                  <a:schemeClr val="bg1"/>
                </a:solidFill>
                <a:latin typeface="+mn-ea"/>
              </a:rPr>
              <a:t> </a:t>
            </a:r>
            <a:r>
              <a:rPr lang="zh-CN" altLang="en-US" sz="2400" b="1" dirty="0" smtClean="0">
                <a:solidFill>
                  <a:schemeClr val="bg1"/>
                </a:solidFill>
                <a:latin typeface="+mn-ea"/>
              </a:rPr>
              <a:t>在一次应用业务处理过程中，从输入开始到输出结束，用户要求计算机所做的有关该次业务处理的全部工作称为一个作业。它包括作业的提交、执行和输出等过程。</a:t>
            </a:r>
            <a:endParaRPr lang="zh-CN" altLang="en-US" sz="2400" b="1" dirty="0">
              <a:solidFill>
                <a:schemeClr val="bg1"/>
              </a:solidFill>
              <a:latin typeface="+mn-ea"/>
            </a:endParaRPr>
          </a:p>
        </p:txBody>
      </p:sp>
    </p:spTree>
    <p:extLst>
      <p:ext uri="{BB962C8B-B14F-4D97-AF65-F5344CB8AC3E}">
        <p14:creationId xmlns:p14="http://schemas.microsoft.com/office/powerpoint/2010/main" val="49404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作业的状态及其转换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284141"/>
            <a:ext cx="6840760"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一个作业从用户提交开始到真正占有处理机而被执行，则要由系统经过</a:t>
            </a:r>
            <a:r>
              <a:rPr lang="zh-CN" altLang="en-US" sz="2400" b="1" dirty="0">
                <a:solidFill>
                  <a:srgbClr val="FFFF00"/>
                </a:solidFill>
                <a:latin typeface="+mn-ea"/>
              </a:rPr>
              <a:t>多级调度</a:t>
            </a:r>
            <a:r>
              <a:rPr lang="zh-CN" altLang="en-US" sz="2400" b="1" dirty="0">
                <a:solidFill>
                  <a:schemeClr val="bg1"/>
                </a:solidFill>
                <a:latin typeface="+mn-ea"/>
              </a:rPr>
              <a:t>才能实现（在有些系统，例如分时系统中，也可以由单级调度实现</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221888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作业的状态及其转换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986037"/>
            <a:ext cx="6054824" cy="394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775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amond(out)">
                                      <p:cBhvr>
                                        <p:cTn id="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作业的状态及其转换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4"/>
          <p:cNvPicPr>
            <a:picLocks noChangeAspect="1" noChangeArrowheads="1"/>
          </p:cNvPicPr>
          <p:nvPr/>
        </p:nvPicPr>
        <p:blipFill rotWithShape="1">
          <a:blip r:embed="rId2">
            <a:extLst>
              <a:ext uri="{28A0092B-C50C-407E-A947-70E740481C1C}">
                <a14:useLocalDpi xmlns:a14="http://schemas.microsoft.com/office/drawing/2010/main" val="0"/>
              </a:ext>
            </a:extLst>
          </a:blip>
          <a:srcRect l="5349" r="6211"/>
          <a:stretch/>
        </p:blipFill>
        <p:spPr bwMode="auto">
          <a:xfrm>
            <a:off x="44614" y="1491630"/>
            <a:ext cx="3816424" cy="280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3896743" y="1281469"/>
            <a:ext cx="3816424" cy="33239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在</a:t>
            </a:r>
            <a:r>
              <a:rPr lang="zh-CN" altLang="en-US" sz="2000" b="1" dirty="0">
                <a:solidFill>
                  <a:schemeClr val="bg1"/>
                </a:solidFill>
                <a:latin typeface="+mn-ea"/>
              </a:rPr>
              <a:t>进程有资格竞争处理机之前，</a:t>
            </a:r>
            <a:r>
              <a:rPr lang="zh-CN" altLang="en-US" sz="2000" b="1" dirty="0">
                <a:solidFill>
                  <a:srgbClr val="FFFF00"/>
                </a:solidFill>
                <a:latin typeface="+mn-ea"/>
              </a:rPr>
              <a:t>作业调度程</a:t>
            </a:r>
            <a:r>
              <a:rPr lang="zh-CN" altLang="en-US" sz="2000" b="1" dirty="0">
                <a:solidFill>
                  <a:schemeClr val="bg1"/>
                </a:solidFill>
                <a:latin typeface="+mn-ea"/>
              </a:rPr>
              <a:t>序必须先调用</a:t>
            </a:r>
            <a:r>
              <a:rPr lang="zh-CN" altLang="en-US" sz="2000" b="1" dirty="0">
                <a:solidFill>
                  <a:srgbClr val="FF8989"/>
                </a:solidFill>
                <a:latin typeface="+mn-ea"/>
              </a:rPr>
              <a:t>存储管理</a:t>
            </a:r>
            <a:r>
              <a:rPr lang="zh-CN" altLang="en-US" sz="2000" b="1" dirty="0">
                <a:solidFill>
                  <a:schemeClr val="bg1"/>
                </a:solidFill>
                <a:latin typeface="+mn-ea"/>
              </a:rPr>
              <a:t>、</a:t>
            </a:r>
            <a:r>
              <a:rPr lang="zh-CN" altLang="en-US" sz="2000" b="1" dirty="0">
                <a:solidFill>
                  <a:srgbClr val="FF8989"/>
                </a:solidFill>
                <a:latin typeface="+mn-ea"/>
              </a:rPr>
              <a:t>外设管理程序</a:t>
            </a:r>
            <a:r>
              <a:rPr lang="zh-CN" altLang="en-US" sz="2000" b="1" dirty="0">
                <a:solidFill>
                  <a:schemeClr val="bg1"/>
                </a:solidFill>
                <a:latin typeface="+mn-ea"/>
              </a:rPr>
              <a:t>，并按一定的选择顺序和策略从输入井中选择出几个处于后备状态的作业，为它们分配内存等资源和创建进程，使它们获得竞争处理机的资格。</a:t>
            </a:r>
            <a:endParaRPr lang="en-US" altLang="zh-CN" sz="2000" b="1" dirty="0">
              <a:solidFill>
                <a:schemeClr val="bg1"/>
              </a:solidFill>
              <a:latin typeface="+mn-ea"/>
            </a:endParaRPr>
          </a:p>
        </p:txBody>
      </p:sp>
    </p:spTree>
    <p:extLst>
      <p:ext uri="{BB962C8B-B14F-4D97-AF65-F5344CB8AC3E}">
        <p14:creationId xmlns:p14="http://schemas.microsoft.com/office/powerpoint/2010/main" val="335528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作业的状态及其转换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9" name="Picture 3" descr="图4"/>
          <p:cNvPicPr>
            <a:picLocks noChangeAspect="1" noChangeArrowheads="1"/>
          </p:cNvPicPr>
          <p:nvPr/>
        </p:nvPicPr>
        <p:blipFill rotWithShape="1">
          <a:blip r:embed="rId2">
            <a:extLst>
              <a:ext uri="{28A0092B-C50C-407E-A947-70E740481C1C}">
                <a14:useLocalDpi xmlns:a14="http://schemas.microsoft.com/office/drawing/2010/main" val="0"/>
              </a:ext>
            </a:extLst>
          </a:blip>
          <a:srcRect l="5349" r="6211"/>
          <a:stretch/>
        </p:blipFill>
        <p:spPr bwMode="auto">
          <a:xfrm>
            <a:off x="0" y="1635646"/>
            <a:ext cx="3816424" cy="280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3923928" y="1281469"/>
            <a:ext cx="3888431" cy="3333220"/>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b="1" dirty="0">
                <a:solidFill>
                  <a:schemeClr val="bg1"/>
                </a:solidFill>
                <a:latin typeface="+mn-ea"/>
              </a:rPr>
              <a:t>为了提高资源的利用率，在有些操作系统中把一部分在内存中处于就绪状态或等待状态而在短时期内又得不到执行的进程、作业</a:t>
            </a:r>
            <a:r>
              <a:rPr lang="zh-CN" altLang="en-US" b="1" dirty="0">
                <a:solidFill>
                  <a:srgbClr val="FFFF00"/>
                </a:solidFill>
                <a:latin typeface="+mn-ea"/>
              </a:rPr>
              <a:t>换出内存</a:t>
            </a:r>
            <a:r>
              <a:rPr lang="zh-CN" altLang="en-US" b="1" dirty="0">
                <a:solidFill>
                  <a:schemeClr val="bg1"/>
                </a:solidFill>
                <a:latin typeface="+mn-ea"/>
              </a:rPr>
              <a:t>，以让其他作业的进程竞争处理机。这样，在外存中，除了处于后备状态的作业外，还存在有处于就绪状态而等待得到内存的作业。这就需要有一定的方法和策略为这部分作业分配空间。</a:t>
            </a:r>
          </a:p>
        </p:txBody>
      </p:sp>
    </p:spTree>
    <p:extLst>
      <p:ext uri="{BB962C8B-B14F-4D97-AF65-F5344CB8AC3E}">
        <p14:creationId xmlns:p14="http://schemas.microsoft.com/office/powerpoint/2010/main" val="92398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left)">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635646"/>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只有那些参与竞争处理机所必需的资源都已得到满足的进程才能享有竞争处理机的资格。这时，它们处于内存就绪状态。这些</a:t>
            </a:r>
            <a:r>
              <a:rPr lang="zh-CN" altLang="en-US" sz="2400" b="1" dirty="0">
                <a:solidFill>
                  <a:srgbClr val="FFFF00"/>
                </a:solidFill>
                <a:latin typeface="+mn-ea"/>
              </a:rPr>
              <a:t>必需的资源</a:t>
            </a:r>
            <a:r>
              <a:rPr lang="zh-CN" altLang="en-US" sz="2400" b="1" dirty="0">
                <a:solidFill>
                  <a:schemeClr val="bg1"/>
                </a:solidFill>
                <a:latin typeface="+mn-ea"/>
              </a:rPr>
              <a:t>包括</a:t>
            </a:r>
            <a:r>
              <a:rPr lang="zh-CN" altLang="en-US" sz="2400" b="1" dirty="0">
                <a:solidFill>
                  <a:srgbClr val="FFFF00"/>
                </a:solidFill>
                <a:latin typeface="+mn-ea"/>
              </a:rPr>
              <a:t>内存</a:t>
            </a:r>
            <a:r>
              <a:rPr lang="zh-CN" altLang="en-US" sz="2400" b="1" dirty="0">
                <a:solidFill>
                  <a:schemeClr val="bg1"/>
                </a:solidFill>
                <a:latin typeface="+mn-ea"/>
              </a:rPr>
              <a:t>、</a:t>
            </a:r>
            <a:r>
              <a:rPr lang="zh-CN" altLang="en-US" sz="2400" b="1" dirty="0">
                <a:solidFill>
                  <a:srgbClr val="FFFF00"/>
                </a:solidFill>
                <a:latin typeface="+mn-ea"/>
              </a:rPr>
              <a:t>外设</a:t>
            </a:r>
            <a:r>
              <a:rPr lang="zh-CN" altLang="en-US" sz="2400" b="1" dirty="0">
                <a:solidFill>
                  <a:schemeClr val="bg1"/>
                </a:solidFill>
                <a:latin typeface="+mn-ea"/>
              </a:rPr>
              <a:t>及</a:t>
            </a:r>
            <a:r>
              <a:rPr lang="zh-CN" altLang="en-US" sz="2400" b="1" dirty="0">
                <a:solidFill>
                  <a:srgbClr val="FFFF00"/>
                </a:solidFill>
                <a:latin typeface="+mn-ea"/>
              </a:rPr>
              <a:t>有关数据结构</a:t>
            </a:r>
            <a:r>
              <a:rPr lang="zh-CN" altLang="en-US" sz="2400" b="1" dirty="0">
                <a:solidFill>
                  <a:schemeClr val="bg1"/>
                </a:solidFill>
                <a:latin typeface="+mn-ea"/>
              </a:rPr>
              <a:t>等</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340496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图示 2"/>
          <p:cNvGraphicFramePr/>
          <p:nvPr>
            <p:extLst>
              <p:ext uri="{D42A27DB-BD31-4B8C-83A1-F6EECF244321}">
                <p14:modId xmlns:p14="http://schemas.microsoft.com/office/powerpoint/2010/main" val="1983033971"/>
              </p:ext>
            </p:extLst>
          </p:nvPr>
        </p:nvGraphicFramePr>
        <p:xfrm>
          <a:off x="-1960511" y="626554"/>
          <a:ext cx="6199871" cy="4254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矩形 3"/>
          <p:cNvSpPr/>
          <p:nvPr/>
        </p:nvSpPr>
        <p:spPr>
          <a:xfrm>
            <a:off x="2123728" y="1195960"/>
            <a:ext cx="5688632" cy="345325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又称宏观</a:t>
            </a:r>
            <a:r>
              <a:rPr lang="zh-CN" altLang="en-US" sz="2400" b="1" dirty="0" smtClean="0">
                <a:solidFill>
                  <a:schemeClr val="bg1"/>
                </a:solidFill>
                <a:latin typeface="+mn-ea"/>
              </a:rPr>
              <a:t>调度或</a:t>
            </a:r>
            <a:r>
              <a:rPr lang="zh-CN" altLang="en-US" sz="2400" b="1" dirty="0">
                <a:solidFill>
                  <a:schemeClr val="bg1"/>
                </a:solidFill>
                <a:latin typeface="+mn-ea"/>
              </a:rPr>
              <a:t>高级调度。其主要任务是按一定的原则对外存输入井上的大量后备作业进行选择，给选出的作业</a:t>
            </a:r>
            <a:r>
              <a:rPr lang="zh-CN" altLang="en-US" sz="2400" b="1" dirty="0">
                <a:solidFill>
                  <a:srgbClr val="FFFF00"/>
                </a:solidFill>
                <a:latin typeface="+mn-ea"/>
              </a:rPr>
              <a:t>分配内存</a:t>
            </a:r>
            <a:r>
              <a:rPr lang="zh-CN" altLang="en-US" sz="2400" b="1" dirty="0">
                <a:solidFill>
                  <a:schemeClr val="bg1"/>
                </a:solidFill>
                <a:latin typeface="+mn-ea"/>
              </a:rPr>
              <a:t>、</a:t>
            </a:r>
            <a:r>
              <a:rPr lang="zh-CN" altLang="en-US" sz="2400" b="1" dirty="0">
                <a:solidFill>
                  <a:srgbClr val="FFFF00"/>
                </a:solidFill>
                <a:latin typeface="+mn-ea"/>
              </a:rPr>
              <a:t>输入输出设备</a:t>
            </a:r>
            <a:r>
              <a:rPr lang="zh-CN" altLang="en-US" sz="2400" b="1" dirty="0">
                <a:solidFill>
                  <a:schemeClr val="bg1"/>
                </a:solidFill>
                <a:latin typeface="+mn-ea"/>
              </a:rPr>
              <a:t>等必要的资源，并建立相应的进程，以使该作业的进程获得竞争处理机的权利。另外，</a:t>
            </a:r>
            <a:r>
              <a:rPr lang="zh-CN" altLang="en-US" sz="2400" b="1" dirty="0">
                <a:solidFill>
                  <a:srgbClr val="FFFF00"/>
                </a:solidFill>
                <a:latin typeface="+mn-ea"/>
              </a:rPr>
              <a:t>当该作业执行完毕时，还负责回收系统资源</a:t>
            </a:r>
            <a:r>
              <a:rPr lang="zh-CN" altLang="en-US" sz="2400" b="1" dirty="0">
                <a:solidFill>
                  <a:schemeClr val="bg1"/>
                </a:solidFill>
                <a:latin typeface="+mn-ea"/>
              </a:rPr>
              <a:t>。</a:t>
            </a:r>
          </a:p>
        </p:txBody>
      </p:sp>
    </p:spTree>
    <p:extLst>
      <p:ext uri="{BB962C8B-B14F-4D97-AF65-F5344CB8AC3E}">
        <p14:creationId xmlns:p14="http://schemas.microsoft.com/office/powerpoint/2010/main" val="26141269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图示 2"/>
          <p:cNvGraphicFramePr/>
          <p:nvPr>
            <p:extLst>
              <p:ext uri="{D42A27DB-BD31-4B8C-83A1-F6EECF244321}">
                <p14:modId xmlns:p14="http://schemas.microsoft.com/office/powerpoint/2010/main" val="210183912"/>
              </p:ext>
            </p:extLst>
          </p:nvPr>
        </p:nvGraphicFramePr>
        <p:xfrm>
          <a:off x="-1960511" y="626554"/>
          <a:ext cx="6199871" cy="4254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矩形 3"/>
          <p:cNvSpPr/>
          <p:nvPr/>
        </p:nvSpPr>
        <p:spPr>
          <a:xfrm>
            <a:off x="2123728" y="1195960"/>
            <a:ext cx="547260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称中级调度。其主要任务是按照给定的原则和策略，将处于外存交换区中的就绪状态或就绪等待状态的进程调入内存，或把处于内存就绪状态或内存等待状态的进程交换到外存交换区。</a:t>
            </a:r>
            <a:r>
              <a:rPr lang="zh-CN" altLang="en-US" sz="2400" b="1" dirty="0">
                <a:solidFill>
                  <a:srgbClr val="FFFF00"/>
                </a:solidFill>
                <a:latin typeface="+mn-ea"/>
              </a:rPr>
              <a:t>交换调度主要涉及到内存管理与扩充</a:t>
            </a:r>
            <a:r>
              <a:rPr lang="zh-CN" altLang="en-US" sz="2400" b="1" dirty="0">
                <a:solidFill>
                  <a:schemeClr val="bg1"/>
                </a:solidFill>
                <a:latin typeface="+mn-ea"/>
              </a:rPr>
              <a:t>。</a:t>
            </a:r>
          </a:p>
        </p:txBody>
      </p:sp>
    </p:spTree>
    <p:extLst>
      <p:ext uri="{BB962C8B-B14F-4D97-AF65-F5344CB8AC3E}">
        <p14:creationId xmlns:p14="http://schemas.microsoft.com/office/powerpoint/2010/main" val="1593323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aphicFrame>
        <p:nvGraphicFramePr>
          <p:cNvPr id="3" name="图示 2"/>
          <p:cNvGraphicFramePr/>
          <p:nvPr>
            <p:extLst>
              <p:ext uri="{D42A27DB-BD31-4B8C-83A1-F6EECF244321}">
                <p14:modId xmlns:p14="http://schemas.microsoft.com/office/powerpoint/2010/main" val="3986433250"/>
              </p:ext>
            </p:extLst>
          </p:nvPr>
        </p:nvGraphicFramePr>
        <p:xfrm>
          <a:off x="-1960511" y="626554"/>
          <a:ext cx="6199871" cy="4254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矩形 3"/>
          <p:cNvSpPr/>
          <p:nvPr/>
        </p:nvSpPr>
        <p:spPr>
          <a:xfrm>
            <a:off x="2123728" y="1195960"/>
            <a:ext cx="5544616" cy="397031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又称微观调度或低级调度。其主要任务是按照某种策略和方法选取一个处于就绪状态的进程占用处理机。在确定了占用处理机的进程后，系统必须进行进程上下文切换以建立与占用处理机进程相适应的执行环境。</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extLst>
      <p:ext uri="{BB962C8B-B14F-4D97-AF65-F5344CB8AC3E}">
        <p14:creationId xmlns:p14="http://schemas.microsoft.com/office/powerpoint/2010/main" val="3465383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1043608" y="1750353"/>
            <a:ext cx="6480720"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在多道批处理系统中，存在着作业调度和进程调度。但是，在</a:t>
            </a:r>
            <a:r>
              <a:rPr lang="zh-CN" altLang="en-US" sz="2400" b="1" dirty="0">
                <a:solidFill>
                  <a:srgbClr val="FFFF00"/>
                </a:solidFill>
                <a:latin typeface="+mn-ea"/>
              </a:rPr>
              <a:t>分时系统</a:t>
            </a:r>
            <a:r>
              <a:rPr lang="zh-CN" altLang="en-US" sz="2400" b="1" dirty="0">
                <a:solidFill>
                  <a:schemeClr val="bg1"/>
                </a:solidFill>
                <a:latin typeface="+mn-ea"/>
              </a:rPr>
              <a:t>和</a:t>
            </a:r>
            <a:r>
              <a:rPr lang="zh-CN" altLang="en-US" sz="2400" b="1" dirty="0">
                <a:solidFill>
                  <a:srgbClr val="FFFF00"/>
                </a:solidFill>
                <a:latin typeface="+mn-ea"/>
              </a:rPr>
              <a:t>实时系统</a:t>
            </a:r>
            <a:r>
              <a:rPr lang="zh-CN" altLang="en-US" sz="2400" b="1" dirty="0">
                <a:solidFill>
                  <a:schemeClr val="bg1"/>
                </a:solidFill>
                <a:latin typeface="+mn-ea"/>
              </a:rPr>
              <a:t>中，一般</a:t>
            </a:r>
            <a:r>
              <a:rPr lang="zh-CN" altLang="en-US" sz="2400" b="1" dirty="0">
                <a:solidFill>
                  <a:srgbClr val="FFFF00"/>
                </a:solidFill>
                <a:latin typeface="+mn-ea"/>
              </a:rPr>
              <a:t>不存在作业调度</a:t>
            </a:r>
            <a:r>
              <a:rPr lang="zh-CN" altLang="en-US" sz="2400" b="1" dirty="0">
                <a:solidFill>
                  <a:schemeClr val="bg1"/>
                </a:solidFill>
                <a:latin typeface="+mn-ea"/>
              </a:rPr>
              <a:t>，而只有进程调度、交换调度和线程调度</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1488990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调度的层次</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矩形 3"/>
          <p:cNvSpPr/>
          <p:nvPr/>
        </p:nvSpPr>
        <p:spPr>
          <a:xfrm>
            <a:off x="755576" y="1283422"/>
            <a:ext cx="6984776" cy="3550908"/>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这</a:t>
            </a:r>
            <a:r>
              <a:rPr lang="zh-CN" altLang="en-US" sz="2200" b="1" dirty="0">
                <a:solidFill>
                  <a:schemeClr val="bg1"/>
                </a:solidFill>
                <a:latin typeface="+mn-ea"/>
              </a:rPr>
              <a:t>是因为在</a:t>
            </a:r>
            <a:r>
              <a:rPr lang="zh-CN" altLang="en-US" sz="2200" b="1" dirty="0">
                <a:solidFill>
                  <a:srgbClr val="FFFF00"/>
                </a:solidFill>
                <a:latin typeface="+mn-ea"/>
              </a:rPr>
              <a:t>分时系统</a:t>
            </a:r>
            <a:r>
              <a:rPr lang="zh-CN" altLang="en-US" sz="2200" b="1" dirty="0">
                <a:solidFill>
                  <a:schemeClr val="bg1"/>
                </a:solidFill>
                <a:latin typeface="+mn-ea"/>
              </a:rPr>
              <a:t>和</a:t>
            </a:r>
            <a:r>
              <a:rPr lang="zh-CN" altLang="en-US" sz="2200" b="1" dirty="0">
                <a:solidFill>
                  <a:srgbClr val="FFFF00"/>
                </a:solidFill>
                <a:latin typeface="+mn-ea"/>
              </a:rPr>
              <a:t>实时系统</a:t>
            </a:r>
            <a:r>
              <a:rPr lang="zh-CN" altLang="en-US" sz="2200" b="1" dirty="0">
                <a:solidFill>
                  <a:schemeClr val="bg1"/>
                </a:solidFill>
                <a:latin typeface="+mn-ea"/>
              </a:rPr>
              <a:t>中，为了缩短响应时间或为了满足用户需求的截止时间，</a:t>
            </a:r>
            <a:r>
              <a:rPr lang="zh-CN" altLang="en-US" sz="2200" b="1" dirty="0">
                <a:solidFill>
                  <a:srgbClr val="FFFF00"/>
                </a:solidFill>
                <a:latin typeface="+mn-ea"/>
              </a:rPr>
              <a:t>作业不是建立在外存，而是直接建立在内存中</a:t>
            </a:r>
            <a:r>
              <a:rPr lang="zh-CN" altLang="en-US" sz="2200" b="1" dirty="0">
                <a:solidFill>
                  <a:schemeClr val="bg1"/>
                </a:solidFill>
                <a:latin typeface="+mn-ea"/>
              </a:rPr>
              <a:t>。在这些系统中，一旦用户和系统的交互开始，用户马上要进行控制。因而，这些系统中</a:t>
            </a:r>
            <a:r>
              <a:rPr lang="zh-CN" altLang="en-US" sz="2200" b="1" dirty="0">
                <a:solidFill>
                  <a:srgbClr val="FFFF00"/>
                </a:solidFill>
                <a:latin typeface="+mn-ea"/>
              </a:rPr>
              <a:t>没有作业提交状态和后备状态</a:t>
            </a:r>
            <a:r>
              <a:rPr lang="zh-CN" altLang="en-US" sz="2200" b="1" dirty="0">
                <a:solidFill>
                  <a:schemeClr val="bg1"/>
                </a:solidFill>
                <a:latin typeface="+mn-ea"/>
              </a:rPr>
              <a:t>。它们的输入信息经过终端缓冲区为系统所接收，或者立即处理，或者经交换调度暂存外存中。</a:t>
            </a:r>
          </a:p>
          <a:p>
            <a:pPr marL="0" lvl="1" algn="just">
              <a:lnSpc>
                <a:spcPct val="13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spTree>
    <p:extLst>
      <p:ext uri="{BB962C8B-B14F-4D97-AF65-F5344CB8AC3E}">
        <p14:creationId xmlns:p14="http://schemas.microsoft.com/office/powerpoint/2010/main" val="2438715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750141" y="185390"/>
            <a:ext cx="1984142" cy="4780837"/>
            <a:chOff x="3568442" y="600838"/>
            <a:chExt cx="1984142" cy="4780837"/>
          </a:xfrm>
        </p:grpSpPr>
        <p:sp>
          <p:nvSpPr>
            <p:cNvPr id="5" name="矩形 4"/>
            <p:cNvSpPr/>
            <p:nvPr/>
          </p:nvSpPr>
          <p:spPr>
            <a:xfrm>
              <a:off x="3568442" y="600838"/>
              <a:ext cx="1872208" cy="4780837"/>
            </a:xfrm>
            <a:prstGeom prst="rect">
              <a:avLst/>
            </a:prstGeom>
            <a:ln/>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400" b="1" dirty="0" smtClean="0"/>
                <a:t>进</a:t>
              </a:r>
              <a:endParaRPr lang="en-US" altLang="zh-CN" sz="2400" b="1" dirty="0" smtClean="0"/>
            </a:p>
            <a:p>
              <a:r>
                <a:rPr lang="zh-CN" altLang="en-US" sz="2400" b="1" dirty="0" smtClean="0"/>
                <a:t>程</a:t>
              </a:r>
              <a:endParaRPr lang="en-US" altLang="zh-CN" sz="2400" b="1" dirty="0" smtClean="0"/>
            </a:p>
            <a:p>
              <a:r>
                <a:rPr lang="zh-CN" altLang="en-US" sz="2400" b="1" dirty="0" smtClean="0"/>
                <a:t>是</a:t>
              </a:r>
              <a:endParaRPr lang="en-US" altLang="zh-CN" sz="2400" b="1" dirty="0" smtClean="0"/>
            </a:p>
            <a:p>
              <a:r>
                <a:rPr lang="zh-CN" altLang="en-US" sz="2400" b="1" dirty="0" smtClean="0"/>
                <a:t>计</a:t>
              </a:r>
              <a:endParaRPr lang="en-US" altLang="zh-CN" sz="2400" b="1" dirty="0" smtClean="0"/>
            </a:p>
            <a:p>
              <a:r>
                <a:rPr lang="zh-CN" altLang="en-US" sz="2400" b="1" dirty="0" smtClean="0"/>
                <a:t>算</a:t>
              </a:r>
              <a:endParaRPr lang="en-US" altLang="zh-CN" sz="2400" b="1" dirty="0" smtClean="0"/>
            </a:p>
            <a:p>
              <a:r>
                <a:rPr lang="zh-CN" altLang="en-US" sz="2400" b="1" dirty="0" smtClean="0"/>
                <a:t>机</a:t>
              </a:r>
              <a:endParaRPr lang="en-US" altLang="zh-CN" sz="2400" b="1" dirty="0" smtClean="0"/>
            </a:p>
            <a:p>
              <a:r>
                <a:rPr lang="zh-CN" altLang="en-US" sz="2400" b="1" dirty="0" smtClean="0"/>
                <a:t>为</a:t>
              </a:r>
              <a:endParaRPr lang="en-US" altLang="zh-CN" sz="2400" b="1" dirty="0" smtClean="0"/>
            </a:p>
            <a:p>
              <a:r>
                <a:rPr lang="zh-CN" altLang="en-US" sz="2400" b="1" dirty="0" smtClean="0"/>
                <a:t>了</a:t>
              </a:r>
              <a:endParaRPr lang="en-US" altLang="zh-CN" sz="2400" b="1" dirty="0" smtClean="0"/>
            </a:p>
            <a:p>
              <a:r>
                <a:rPr lang="zh-CN" altLang="en-US" sz="2400" b="1" dirty="0" smtClean="0"/>
                <a:t>完</a:t>
              </a:r>
              <a:endParaRPr lang="en-US" altLang="zh-CN" sz="2400" b="1" dirty="0" smtClean="0"/>
            </a:p>
            <a:p>
              <a:r>
                <a:rPr lang="zh-CN" altLang="en-US" sz="2400" b="1" dirty="0" smtClean="0"/>
                <a:t>成</a:t>
              </a:r>
              <a:endParaRPr lang="en-US" altLang="zh-CN" sz="2400" b="1" dirty="0" smtClean="0"/>
            </a:p>
            <a:p>
              <a:r>
                <a:rPr lang="zh-CN" altLang="en-US" sz="2400" b="1" dirty="0" smtClean="0"/>
                <a:t>用</a:t>
              </a:r>
              <a:endParaRPr lang="en-US" altLang="zh-CN" sz="2400" b="1" dirty="0" smtClean="0"/>
            </a:p>
            <a:p>
              <a:r>
                <a:rPr lang="zh-CN" altLang="en-US" sz="2400" b="1" dirty="0" smtClean="0"/>
                <a:t>户</a:t>
              </a:r>
              <a:endParaRPr lang="en-US" altLang="zh-CN" sz="2400" b="1" dirty="0" smtClean="0"/>
            </a:p>
          </p:txBody>
        </p:sp>
        <p:sp>
          <p:nvSpPr>
            <p:cNvPr id="6" name="矩形 5"/>
            <p:cNvSpPr/>
            <p:nvPr/>
          </p:nvSpPr>
          <p:spPr>
            <a:xfrm>
              <a:off x="4892797" y="755441"/>
              <a:ext cx="659787" cy="4524315"/>
            </a:xfrm>
            <a:prstGeom prst="rect">
              <a:avLst/>
            </a:prstGeom>
          </p:spPr>
          <p:txBody>
            <a:bodyPr wrap="square">
              <a:spAutoFit/>
            </a:bodyPr>
            <a:lstStyle/>
            <a:p>
              <a:r>
                <a:rPr lang="zh-CN" altLang="en-US" sz="2400" b="1" dirty="0">
                  <a:solidFill>
                    <a:schemeClr val="lt1"/>
                  </a:solidFill>
                </a:rPr>
                <a:t>任</a:t>
              </a:r>
              <a:endParaRPr lang="en-US" altLang="zh-CN" sz="2400" b="1" dirty="0">
                <a:solidFill>
                  <a:schemeClr val="lt1"/>
                </a:solidFill>
              </a:endParaRPr>
            </a:p>
            <a:p>
              <a:r>
                <a:rPr lang="zh-CN" altLang="en-US" sz="2400" b="1" dirty="0">
                  <a:solidFill>
                    <a:schemeClr val="lt1"/>
                  </a:solidFill>
                </a:rPr>
                <a:t>务</a:t>
              </a:r>
              <a:endParaRPr lang="en-US" altLang="zh-CN" sz="2400" b="1" dirty="0">
                <a:solidFill>
                  <a:schemeClr val="lt1"/>
                </a:solidFill>
              </a:endParaRPr>
            </a:p>
            <a:p>
              <a:r>
                <a:rPr lang="zh-CN" altLang="en-US" sz="2400" b="1" dirty="0">
                  <a:solidFill>
                    <a:schemeClr val="lt1"/>
                  </a:solidFill>
                </a:rPr>
                <a:t>实</a:t>
              </a:r>
              <a:endParaRPr lang="en-US" altLang="zh-CN" sz="2400" b="1" dirty="0">
                <a:solidFill>
                  <a:schemeClr val="lt1"/>
                </a:solidFill>
              </a:endParaRPr>
            </a:p>
            <a:p>
              <a:r>
                <a:rPr lang="zh-CN" altLang="en-US" sz="2400" b="1" dirty="0">
                  <a:solidFill>
                    <a:schemeClr val="lt1"/>
                  </a:solidFill>
                </a:rPr>
                <a:t>体</a:t>
              </a:r>
              <a:endParaRPr lang="en-US" altLang="zh-CN" sz="2400" b="1" dirty="0">
                <a:solidFill>
                  <a:schemeClr val="lt1"/>
                </a:solidFill>
              </a:endParaRPr>
            </a:p>
            <a:p>
              <a:r>
                <a:rPr lang="zh-CN" altLang="en-US" sz="2400" b="1" dirty="0">
                  <a:solidFill>
                    <a:schemeClr val="lt1"/>
                  </a:solidFill>
                </a:rPr>
                <a:t>而</a:t>
              </a:r>
              <a:endParaRPr lang="en-US" altLang="zh-CN" sz="2400" b="1" dirty="0">
                <a:solidFill>
                  <a:schemeClr val="lt1"/>
                </a:solidFill>
              </a:endParaRPr>
            </a:p>
            <a:p>
              <a:r>
                <a:rPr lang="zh-CN" altLang="en-US" sz="2400" b="1" dirty="0">
                  <a:solidFill>
                    <a:schemeClr val="lt1"/>
                  </a:solidFill>
                </a:rPr>
                <a:t>设</a:t>
              </a:r>
              <a:endParaRPr lang="en-US" altLang="zh-CN" sz="2400" b="1" dirty="0">
                <a:solidFill>
                  <a:schemeClr val="lt1"/>
                </a:solidFill>
              </a:endParaRPr>
            </a:p>
            <a:p>
              <a:r>
                <a:rPr lang="zh-CN" altLang="en-US" sz="2400" b="1" dirty="0">
                  <a:solidFill>
                    <a:schemeClr val="lt1"/>
                  </a:solidFill>
                </a:rPr>
                <a:t>置</a:t>
              </a:r>
              <a:endParaRPr lang="en-US" altLang="zh-CN" sz="2400" b="1" dirty="0">
                <a:solidFill>
                  <a:schemeClr val="lt1"/>
                </a:solidFill>
              </a:endParaRPr>
            </a:p>
            <a:p>
              <a:r>
                <a:rPr lang="zh-CN" altLang="en-US" sz="2400" b="1" dirty="0">
                  <a:solidFill>
                    <a:schemeClr val="lt1"/>
                  </a:solidFill>
                </a:rPr>
                <a:t>的</a:t>
              </a:r>
              <a:endParaRPr lang="en-US" altLang="zh-CN" sz="2400" b="1" dirty="0">
                <a:solidFill>
                  <a:schemeClr val="lt1"/>
                </a:solidFill>
              </a:endParaRPr>
            </a:p>
            <a:p>
              <a:r>
                <a:rPr lang="zh-CN" altLang="en-US" sz="2400" b="1" dirty="0">
                  <a:solidFill>
                    <a:schemeClr val="lt1"/>
                  </a:solidFill>
                </a:rPr>
                <a:t>执</a:t>
              </a:r>
              <a:endParaRPr lang="en-US" altLang="zh-CN" sz="2400" b="1" dirty="0">
                <a:solidFill>
                  <a:schemeClr val="lt1"/>
                </a:solidFill>
              </a:endParaRPr>
            </a:p>
            <a:p>
              <a:r>
                <a:rPr lang="zh-CN" altLang="en-US" sz="2400" b="1" dirty="0">
                  <a:solidFill>
                    <a:schemeClr val="lt1"/>
                  </a:solidFill>
                </a:rPr>
                <a:t>行</a:t>
              </a:r>
              <a:endParaRPr lang="en-US" altLang="zh-CN" sz="2400" b="1" dirty="0">
                <a:solidFill>
                  <a:schemeClr val="lt1"/>
                </a:solidFill>
              </a:endParaRPr>
            </a:p>
            <a:p>
              <a:r>
                <a:rPr lang="zh-CN" altLang="en-US" sz="2400" b="1" dirty="0">
                  <a:solidFill>
                    <a:schemeClr val="lt1"/>
                  </a:solidFill>
                </a:rPr>
                <a:t>实</a:t>
              </a:r>
              <a:endParaRPr lang="en-US" altLang="zh-CN" sz="2400" b="1" dirty="0">
                <a:solidFill>
                  <a:schemeClr val="lt1"/>
                </a:solidFill>
              </a:endParaRPr>
            </a:p>
            <a:p>
              <a:r>
                <a:rPr lang="zh-CN" altLang="en-US" sz="2400" b="1" dirty="0">
                  <a:solidFill>
                    <a:schemeClr val="lt1"/>
                  </a:solidFill>
                </a:rPr>
                <a:t>体</a:t>
              </a:r>
            </a:p>
          </p:txBody>
        </p:sp>
      </p:grpSp>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作业与进程的关系</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9" name="组合 38"/>
          <p:cNvGrpSpPr/>
          <p:nvPr/>
        </p:nvGrpSpPr>
        <p:grpSpPr>
          <a:xfrm>
            <a:off x="5209764" y="444304"/>
            <a:ext cx="952096" cy="4269961"/>
            <a:chOff x="5132070" y="754010"/>
            <a:chExt cx="952096" cy="4269961"/>
          </a:xfrm>
        </p:grpSpPr>
        <p:sp>
          <p:nvSpPr>
            <p:cNvPr id="9" name="任意多边形 8"/>
            <p:cNvSpPr/>
            <p:nvPr/>
          </p:nvSpPr>
          <p:spPr>
            <a:xfrm>
              <a:off x="5132070" y="754010"/>
              <a:ext cx="952096" cy="952096"/>
            </a:xfrm>
            <a:custGeom>
              <a:avLst/>
              <a:gdLst>
                <a:gd name="connsiteX0" fmla="*/ 0 w 952096"/>
                <a:gd name="connsiteY0" fmla="*/ 476048 h 952096"/>
                <a:gd name="connsiteX1" fmla="*/ 476048 w 952096"/>
                <a:gd name="connsiteY1" fmla="*/ 0 h 952096"/>
                <a:gd name="connsiteX2" fmla="*/ 952096 w 952096"/>
                <a:gd name="connsiteY2" fmla="*/ 476048 h 952096"/>
                <a:gd name="connsiteX3" fmla="*/ 476048 w 952096"/>
                <a:gd name="connsiteY3" fmla="*/ 952096 h 952096"/>
                <a:gd name="connsiteX4" fmla="*/ 0 w 952096"/>
                <a:gd name="connsiteY4" fmla="*/ 476048 h 95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096" h="952096">
                  <a:moveTo>
                    <a:pt x="0" y="476048"/>
                  </a:moveTo>
                  <a:cubicBezTo>
                    <a:pt x="0" y="213134"/>
                    <a:pt x="213134" y="0"/>
                    <a:pt x="476048" y="0"/>
                  </a:cubicBezTo>
                  <a:cubicBezTo>
                    <a:pt x="738962" y="0"/>
                    <a:pt x="952096" y="213134"/>
                    <a:pt x="952096" y="476048"/>
                  </a:cubicBezTo>
                  <a:cubicBezTo>
                    <a:pt x="952096" y="738962"/>
                    <a:pt x="738962" y="952096"/>
                    <a:pt x="476048" y="952096"/>
                  </a:cubicBezTo>
                  <a:cubicBezTo>
                    <a:pt x="213134" y="952096"/>
                    <a:pt x="0" y="738962"/>
                    <a:pt x="0" y="4760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66101" tIns="166101" rIns="166101" bIns="166101" numCol="1" spcCol="1270" anchor="ctr" anchorCtr="0">
              <a:noAutofit/>
            </a:bodyPr>
            <a:lstStyle/>
            <a:p>
              <a:pPr lvl="0" algn="ctr" defTabSz="933450">
                <a:lnSpc>
                  <a:spcPct val="90000"/>
                </a:lnSpc>
                <a:spcBef>
                  <a:spcPct val="0"/>
                </a:spcBef>
                <a:spcAft>
                  <a:spcPct val="35000"/>
                </a:spcAft>
              </a:pPr>
              <a:r>
                <a:rPr lang="zh-CN" altLang="en-US" sz="2100" b="1" kern="1200" dirty="0" smtClean="0"/>
                <a:t>进程</a:t>
              </a:r>
              <a:r>
                <a:rPr lang="en-US" altLang="zh-CN" sz="2100" b="1" kern="1200" dirty="0" smtClean="0"/>
                <a:t>1</a:t>
              </a:r>
              <a:endParaRPr lang="zh-CN" altLang="en-US" sz="2100" b="1" kern="1200" dirty="0"/>
            </a:p>
          </p:txBody>
        </p:sp>
        <p:sp>
          <p:nvSpPr>
            <p:cNvPr id="10" name="任意多边形 9"/>
            <p:cNvSpPr/>
            <p:nvPr/>
          </p:nvSpPr>
          <p:spPr>
            <a:xfrm>
              <a:off x="5331995" y="1783416"/>
              <a:ext cx="552215" cy="552215"/>
            </a:xfrm>
            <a:custGeom>
              <a:avLst/>
              <a:gdLst>
                <a:gd name="connsiteX0" fmla="*/ 73196 w 552215"/>
                <a:gd name="connsiteY0" fmla="*/ 211167 h 552215"/>
                <a:gd name="connsiteX1" fmla="*/ 211167 w 552215"/>
                <a:gd name="connsiteY1" fmla="*/ 211167 h 552215"/>
                <a:gd name="connsiteX2" fmla="*/ 211167 w 552215"/>
                <a:gd name="connsiteY2" fmla="*/ 73196 h 552215"/>
                <a:gd name="connsiteX3" fmla="*/ 341048 w 552215"/>
                <a:gd name="connsiteY3" fmla="*/ 73196 h 552215"/>
                <a:gd name="connsiteX4" fmla="*/ 341048 w 552215"/>
                <a:gd name="connsiteY4" fmla="*/ 211167 h 552215"/>
                <a:gd name="connsiteX5" fmla="*/ 479019 w 552215"/>
                <a:gd name="connsiteY5" fmla="*/ 211167 h 552215"/>
                <a:gd name="connsiteX6" fmla="*/ 479019 w 552215"/>
                <a:gd name="connsiteY6" fmla="*/ 341048 h 552215"/>
                <a:gd name="connsiteX7" fmla="*/ 341048 w 552215"/>
                <a:gd name="connsiteY7" fmla="*/ 341048 h 552215"/>
                <a:gd name="connsiteX8" fmla="*/ 341048 w 552215"/>
                <a:gd name="connsiteY8" fmla="*/ 479019 h 552215"/>
                <a:gd name="connsiteX9" fmla="*/ 211167 w 552215"/>
                <a:gd name="connsiteY9" fmla="*/ 479019 h 552215"/>
                <a:gd name="connsiteX10" fmla="*/ 211167 w 552215"/>
                <a:gd name="connsiteY10" fmla="*/ 341048 h 552215"/>
                <a:gd name="connsiteX11" fmla="*/ 73196 w 552215"/>
                <a:gd name="connsiteY11" fmla="*/ 341048 h 552215"/>
                <a:gd name="connsiteX12" fmla="*/ 73196 w 552215"/>
                <a:gd name="connsiteY12" fmla="*/ 211167 h 55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2215" h="552215">
                  <a:moveTo>
                    <a:pt x="73196" y="211167"/>
                  </a:moveTo>
                  <a:lnTo>
                    <a:pt x="211167" y="211167"/>
                  </a:lnTo>
                  <a:lnTo>
                    <a:pt x="211167" y="73196"/>
                  </a:lnTo>
                  <a:lnTo>
                    <a:pt x="341048" y="73196"/>
                  </a:lnTo>
                  <a:lnTo>
                    <a:pt x="341048" y="211167"/>
                  </a:lnTo>
                  <a:lnTo>
                    <a:pt x="479019" y="211167"/>
                  </a:lnTo>
                  <a:lnTo>
                    <a:pt x="479019" y="341048"/>
                  </a:lnTo>
                  <a:lnTo>
                    <a:pt x="341048" y="341048"/>
                  </a:lnTo>
                  <a:lnTo>
                    <a:pt x="341048" y="479019"/>
                  </a:lnTo>
                  <a:lnTo>
                    <a:pt x="211167" y="479019"/>
                  </a:lnTo>
                  <a:lnTo>
                    <a:pt x="211167" y="341048"/>
                  </a:lnTo>
                  <a:lnTo>
                    <a:pt x="73196" y="341048"/>
                  </a:lnTo>
                  <a:lnTo>
                    <a:pt x="73196" y="211167"/>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3196" tIns="211167" rIns="73196" bIns="211167" numCol="1" spcCol="1270" anchor="ctr" anchorCtr="0">
              <a:noAutofit/>
            </a:bodyPr>
            <a:lstStyle/>
            <a:p>
              <a:pPr lvl="0" algn="ctr" defTabSz="400050">
                <a:lnSpc>
                  <a:spcPct val="90000"/>
                </a:lnSpc>
                <a:spcBef>
                  <a:spcPct val="0"/>
                </a:spcBef>
                <a:spcAft>
                  <a:spcPct val="35000"/>
                </a:spcAft>
              </a:pPr>
              <a:endParaRPr lang="zh-CN" altLang="en-US" sz="900" kern="1200"/>
            </a:p>
          </p:txBody>
        </p:sp>
        <p:sp>
          <p:nvSpPr>
            <p:cNvPr id="11" name="任意多边形 10"/>
            <p:cNvSpPr/>
            <p:nvPr/>
          </p:nvSpPr>
          <p:spPr>
            <a:xfrm>
              <a:off x="5132070" y="2412942"/>
              <a:ext cx="952096" cy="952096"/>
            </a:xfrm>
            <a:custGeom>
              <a:avLst/>
              <a:gdLst>
                <a:gd name="connsiteX0" fmla="*/ 0 w 952096"/>
                <a:gd name="connsiteY0" fmla="*/ 476048 h 952096"/>
                <a:gd name="connsiteX1" fmla="*/ 476048 w 952096"/>
                <a:gd name="connsiteY1" fmla="*/ 0 h 952096"/>
                <a:gd name="connsiteX2" fmla="*/ 952096 w 952096"/>
                <a:gd name="connsiteY2" fmla="*/ 476048 h 952096"/>
                <a:gd name="connsiteX3" fmla="*/ 476048 w 952096"/>
                <a:gd name="connsiteY3" fmla="*/ 952096 h 952096"/>
                <a:gd name="connsiteX4" fmla="*/ 0 w 952096"/>
                <a:gd name="connsiteY4" fmla="*/ 476048 h 95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096" h="952096">
                  <a:moveTo>
                    <a:pt x="0" y="476048"/>
                  </a:moveTo>
                  <a:cubicBezTo>
                    <a:pt x="0" y="213134"/>
                    <a:pt x="213134" y="0"/>
                    <a:pt x="476048" y="0"/>
                  </a:cubicBezTo>
                  <a:cubicBezTo>
                    <a:pt x="738962" y="0"/>
                    <a:pt x="952096" y="213134"/>
                    <a:pt x="952096" y="476048"/>
                  </a:cubicBezTo>
                  <a:cubicBezTo>
                    <a:pt x="952096" y="738962"/>
                    <a:pt x="738962" y="952096"/>
                    <a:pt x="476048" y="952096"/>
                  </a:cubicBezTo>
                  <a:cubicBezTo>
                    <a:pt x="213134" y="952096"/>
                    <a:pt x="0" y="738962"/>
                    <a:pt x="0" y="4760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3750088"/>
                <a:satOff val="-5627"/>
                <a:lumOff val="-915"/>
                <a:alphaOff val="0"/>
              </a:schemeClr>
            </a:fillRef>
            <a:effectRef idx="2">
              <a:schemeClr val="accent3">
                <a:hueOff val="3750088"/>
                <a:satOff val="-5627"/>
                <a:lumOff val="-915"/>
                <a:alphaOff val="0"/>
              </a:schemeClr>
            </a:effectRef>
            <a:fontRef idx="minor">
              <a:schemeClr val="lt1"/>
            </a:fontRef>
          </p:style>
          <p:txBody>
            <a:bodyPr spcFirstLastPara="0" vert="horz" wrap="square" lIns="166101" tIns="166101" rIns="166101" bIns="166101" numCol="1" spcCol="1270" anchor="ctr" anchorCtr="0">
              <a:noAutofit/>
            </a:bodyPr>
            <a:lstStyle/>
            <a:p>
              <a:pPr lvl="0" algn="ctr" defTabSz="933450">
                <a:lnSpc>
                  <a:spcPct val="90000"/>
                </a:lnSpc>
                <a:spcBef>
                  <a:spcPct val="0"/>
                </a:spcBef>
                <a:spcAft>
                  <a:spcPct val="35000"/>
                </a:spcAft>
              </a:pPr>
              <a:r>
                <a:rPr lang="zh-CN" altLang="en-US" sz="2100" b="1" kern="1200" dirty="0" smtClean="0"/>
                <a:t>进程</a:t>
              </a:r>
              <a:r>
                <a:rPr lang="en-US" altLang="zh-CN" sz="2100" b="1" kern="1200" dirty="0" smtClean="0"/>
                <a:t>2</a:t>
              </a:r>
              <a:endParaRPr lang="zh-CN" altLang="en-US" sz="2100" b="1" kern="1200" dirty="0"/>
            </a:p>
          </p:txBody>
        </p:sp>
        <p:sp>
          <p:nvSpPr>
            <p:cNvPr id="12" name="任意多边形 11"/>
            <p:cNvSpPr/>
            <p:nvPr/>
          </p:nvSpPr>
          <p:spPr>
            <a:xfrm>
              <a:off x="5331995" y="3442349"/>
              <a:ext cx="552215" cy="552215"/>
            </a:xfrm>
            <a:custGeom>
              <a:avLst/>
              <a:gdLst>
                <a:gd name="connsiteX0" fmla="*/ 73196 w 552215"/>
                <a:gd name="connsiteY0" fmla="*/ 211167 h 552215"/>
                <a:gd name="connsiteX1" fmla="*/ 211167 w 552215"/>
                <a:gd name="connsiteY1" fmla="*/ 211167 h 552215"/>
                <a:gd name="connsiteX2" fmla="*/ 211167 w 552215"/>
                <a:gd name="connsiteY2" fmla="*/ 73196 h 552215"/>
                <a:gd name="connsiteX3" fmla="*/ 341048 w 552215"/>
                <a:gd name="connsiteY3" fmla="*/ 73196 h 552215"/>
                <a:gd name="connsiteX4" fmla="*/ 341048 w 552215"/>
                <a:gd name="connsiteY4" fmla="*/ 211167 h 552215"/>
                <a:gd name="connsiteX5" fmla="*/ 479019 w 552215"/>
                <a:gd name="connsiteY5" fmla="*/ 211167 h 552215"/>
                <a:gd name="connsiteX6" fmla="*/ 479019 w 552215"/>
                <a:gd name="connsiteY6" fmla="*/ 341048 h 552215"/>
                <a:gd name="connsiteX7" fmla="*/ 341048 w 552215"/>
                <a:gd name="connsiteY7" fmla="*/ 341048 h 552215"/>
                <a:gd name="connsiteX8" fmla="*/ 341048 w 552215"/>
                <a:gd name="connsiteY8" fmla="*/ 479019 h 552215"/>
                <a:gd name="connsiteX9" fmla="*/ 211167 w 552215"/>
                <a:gd name="connsiteY9" fmla="*/ 479019 h 552215"/>
                <a:gd name="connsiteX10" fmla="*/ 211167 w 552215"/>
                <a:gd name="connsiteY10" fmla="*/ 341048 h 552215"/>
                <a:gd name="connsiteX11" fmla="*/ 73196 w 552215"/>
                <a:gd name="connsiteY11" fmla="*/ 341048 h 552215"/>
                <a:gd name="connsiteX12" fmla="*/ 73196 w 552215"/>
                <a:gd name="connsiteY12" fmla="*/ 211167 h 55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2215" h="552215">
                  <a:moveTo>
                    <a:pt x="73196" y="211167"/>
                  </a:moveTo>
                  <a:lnTo>
                    <a:pt x="211167" y="211167"/>
                  </a:lnTo>
                  <a:lnTo>
                    <a:pt x="211167" y="73196"/>
                  </a:lnTo>
                  <a:lnTo>
                    <a:pt x="341048" y="73196"/>
                  </a:lnTo>
                  <a:lnTo>
                    <a:pt x="341048" y="211167"/>
                  </a:lnTo>
                  <a:lnTo>
                    <a:pt x="479019" y="211167"/>
                  </a:lnTo>
                  <a:lnTo>
                    <a:pt x="479019" y="341048"/>
                  </a:lnTo>
                  <a:lnTo>
                    <a:pt x="341048" y="341048"/>
                  </a:lnTo>
                  <a:lnTo>
                    <a:pt x="341048" y="479019"/>
                  </a:lnTo>
                  <a:lnTo>
                    <a:pt x="211167" y="479019"/>
                  </a:lnTo>
                  <a:lnTo>
                    <a:pt x="211167" y="341048"/>
                  </a:lnTo>
                  <a:lnTo>
                    <a:pt x="73196" y="341048"/>
                  </a:lnTo>
                  <a:lnTo>
                    <a:pt x="73196" y="211167"/>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3">
                <a:hueOff val="5625132"/>
                <a:satOff val="-8440"/>
                <a:lumOff val="-1373"/>
                <a:alphaOff val="0"/>
              </a:schemeClr>
            </a:fillRef>
            <a:effectRef idx="2">
              <a:schemeClr val="accent3">
                <a:hueOff val="5625132"/>
                <a:satOff val="-8440"/>
                <a:lumOff val="-1373"/>
                <a:alphaOff val="0"/>
              </a:schemeClr>
            </a:effectRef>
            <a:fontRef idx="minor">
              <a:schemeClr val="lt1"/>
            </a:fontRef>
          </p:style>
          <p:txBody>
            <a:bodyPr spcFirstLastPara="0" vert="horz" wrap="square" lIns="73196" tIns="211167" rIns="73196" bIns="211167" numCol="1" spcCol="1270" anchor="ctr" anchorCtr="0">
              <a:noAutofit/>
            </a:bodyPr>
            <a:lstStyle/>
            <a:p>
              <a:pPr lvl="0" algn="ctr" defTabSz="400050">
                <a:lnSpc>
                  <a:spcPct val="90000"/>
                </a:lnSpc>
                <a:spcBef>
                  <a:spcPct val="0"/>
                </a:spcBef>
                <a:spcAft>
                  <a:spcPct val="35000"/>
                </a:spcAft>
              </a:pPr>
              <a:endParaRPr lang="zh-CN" altLang="en-US" sz="900" kern="1200"/>
            </a:p>
          </p:txBody>
        </p:sp>
        <p:sp>
          <p:nvSpPr>
            <p:cNvPr id="13" name="任意多边形 12"/>
            <p:cNvSpPr/>
            <p:nvPr/>
          </p:nvSpPr>
          <p:spPr>
            <a:xfrm>
              <a:off x="5132070" y="4071875"/>
              <a:ext cx="952096" cy="952096"/>
            </a:xfrm>
            <a:custGeom>
              <a:avLst/>
              <a:gdLst>
                <a:gd name="connsiteX0" fmla="*/ 0 w 952096"/>
                <a:gd name="connsiteY0" fmla="*/ 476048 h 952096"/>
                <a:gd name="connsiteX1" fmla="*/ 476048 w 952096"/>
                <a:gd name="connsiteY1" fmla="*/ 0 h 952096"/>
                <a:gd name="connsiteX2" fmla="*/ 952096 w 952096"/>
                <a:gd name="connsiteY2" fmla="*/ 476048 h 952096"/>
                <a:gd name="connsiteX3" fmla="*/ 476048 w 952096"/>
                <a:gd name="connsiteY3" fmla="*/ 952096 h 952096"/>
                <a:gd name="connsiteX4" fmla="*/ 0 w 952096"/>
                <a:gd name="connsiteY4" fmla="*/ 476048 h 95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096" h="952096">
                  <a:moveTo>
                    <a:pt x="0" y="476048"/>
                  </a:moveTo>
                  <a:cubicBezTo>
                    <a:pt x="0" y="213134"/>
                    <a:pt x="213134" y="0"/>
                    <a:pt x="476048" y="0"/>
                  </a:cubicBezTo>
                  <a:cubicBezTo>
                    <a:pt x="738962" y="0"/>
                    <a:pt x="952096" y="213134"/>
                    <a:pt x="952096" y="476048"/>
                  </a:cubicBezTo>
                  <a:cubicBezTo>
                    <a:pt x="952096" y="738962"/>
                    <a:pt x="738962" y="952096"/>
                    <a:pt x="476048" y="952096"/>
                  </a:cubicBezTo>
                  <a:cubicBezTo>
                    <a:pt x="213134" y="952096"/>
                    <a:pt x="0" y="738962"/>
                    <a:pt x="0" y="476048"/>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7500176"/>
                <a:satOff val="-11253"/>
                <a:lumOff val="-1830"/>
                <a:alphaOff val="0"/>
              </a:schemeClr>
            </a:fillRef>
            <a:effectRef idx="2">
              <a:schemeClr val="accent3">
                <a:hueOff val="7500176"/>
                <a:satOff val="-11253"/>
                <a:lumOff val="-1830"/>
                <a:alphaOff val="0"/>
              </a:schemeClr>
            </a:effectRef>
            <a:fontRef idx="minor">
              <a:schemeClr val="lt1"/>
            </a:fontRef>
          </p:style>
          <p:txBody>
            <a:bodyPr spcFirstLastPara="0" vert="horz" wrap="square" lIns="166101" tIns="166101" rIns="166101" bIns="166101" numCol="1" spcCol="1270" anchor="ctr" anchorCtr="0">
              <a:noAutofit/>
            </a:bodyPr>
            <a:lstStyle/>
            <a:p>
              <a:pPr lvl="0" algn="ctr" defTabSz="933450">
                <a:lnSpc>
                  <a:spcPct val="90000"/>
                </a:lnSpc>
                <a:spcBef>
                  <a:spcPct val="0"/>
                </a:spcBef>
                <a:spcAft>
                  <a:spcPct val="35000"/>
                </a:spcAft>
              </a:pPr>
              <a:r>
                <a:rPr lang="zh-CN" altLang="en-US" sz="2100" b="1" kern="1200" dirty="0" smtClean="0"/>
                <a:t>进程</a:t>
              </a:r>
              <a:r>
                <a:rPr lang="en-US" altLang="zh-CN" sz="2100" b="1" kern="1200" dirty="0" smtClean="0"/>
                <a:t>n</a:t>
              </a:r>
              <a:endParaRPr lang="zh-CN" altLang="en-US" sz="2100" b="1" kern="1200" dirty="0"/>
            </a:p>
          </p:txBody>
        </p:sp>
      </p:grpSp>
      <p:sp>
        <p:nvSpPr>
          <p:cNvPr id="37" name="任意多边形 36"/>
          <p:cNvSpPr/>
          <p:nvPr/>
        </p:nvSpPr>
        <p:spPr>
          <a:xfrm rot="29249">
            <a:off x="6722693" y="2323205"/>
            <a:ext cx="229707" cy="365198"/>
          </a:xfrm>
          <a:custGeom>
            <a:avLst/>
            <a:gdLst>
              <a:gd name="connsiteX0" fmla="*/ 0 w 229707"/>
              <a:gd name="connsiteY0" fmla="*/ 73040 h 365198"/>
              <a:gd name="connsiteX1" fmla="*/ 114854 w 229707"/>
              <a:gd name="connsiteY1" fmla="*/ 73040 h 365198"/>
              <a:gd name="connsiteX2" fmla="*/ 114854 w 229707"/>
              <a:gd name="connsiteY2" fmla="*/ 0 h 365198"/>
              <a:gd name="connsiteX3" fmla="*/ 229707 w 229707"/>
              <a:gd name="connsiteY3" fmla="*/ 182599 h 365198"/>
              <a:gd name="connsiteX4" fmla="*/ 114854 w 229707"/>
              <a:gd name="connsiteY4" fmla="*/ 365198 h 365198"/>
              <a:gd name="connsiteX5" fmla="*/ 114854 w 229707"/>
              <a:gd name="connsiteY5" fmla="*/ 292158 h 365198"/>
              <a:gd name="connsiteX6" fmla="*/ 0 w 229707"/>
              <a:gd name="connsiteY6" fmla="*/ 292158 h 365198"/>
              <a:gd name="connsiteX7" fmla="*/ 0 w 229707"/>
              <a:gd name="connsiteY7" fmla="*/ 73040 h 365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707" h="365198">
                <a:moveTo>
                  <a:pt x="0" y="73040"/>
                </a:moveTo>
                <a:lnTo>
                  <a:pt x="114854" y="73040"/>
                </a:lnTo>
                <a:lnTo>
                  <a:pt x="114854" y="0"/>
                </a:lnTo>
                <a:lnTo>
                  <a:pt x="229707" y="182599"/>
                </a:lnTo>
                <a:lnTo>
                  <a:pt x="114854" y="365198"/>
                </a:lnTo>
                <a:lnTo>
                  <a:pt x="114854" y="292158"/>
                </a:lnTo>
                <a:lnTo>
                  <a:pt x="0" y="292158"/>
                </a:lnTo>
                <a:lnTo>
                  <a:pt x="0" y="73040"/>
                </a:lnTo>
                <a:close/>
              </a:path>
            </a:pathLst>
          </a:custGeom>
          <a:scene3d>
            <a:camera prst="orthographicFront"/>
            <a:lightRig rig="flat" dir="t"/>
          </a:scene3d>
          <a:sp3d z="-80000" prstMaterial="plastic">
            <a:bevelT w="50800" h="50800"/>
            <a:bevelB w="25400" h="25400" prst="angle"/>
          </a:sp3d>
        </p:spPr>
        <p:style>
          <a:lnRef idx="0">
            <a:schemeClr val="lt1">
              <a:hueOff val="0"/>
              <a:satOff val="0"/>
              <a:lumOff val="0"/>
              <a:alphaOff val="0"/>
            </a:schemeClr>
          </a:lnRef>
          <a:fillRef idx="3">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txBody>
          <a:bodyPr spcFirstLastPara="0" vert="horz" wrap="square" lIns="-1" tIns="73040" rIns="68912" bIns="73039" numCol="1" spcCol="1270" anchor="ctr" anchorCtr="0">
            <a:noAutofit/>
          </a:bodyPr>
          <a:lstStyle/>
          <a:p>
            <a:pPr lvl="0" algn="ctr" defTabSz="666750">
              <a:lnSpc>
                <a:spcPct val="90000"/>
              </a:lnSpc>
              <a:spcBef>
                <a:spcPct val="0"/>
              </a:spcBef>
              <a:spcAft>
                <a:spcPct val="35000"/>
              </a:spcAft>
            </a:pPr>
            <a:endParaRPr lang="zh-CN" altLang="en-US" sz="1500" kern="1200"/>
          </a:p>
        </p:txBody>
      </p:sp>
      <p:sp>
        <p:nvSpPr>
          <p:cNvPr id="38" name="任意多边形 37"/>
          <p:cNvSpPr/>
          <p:nvPr/>
        </p:nvSpPr>
        <p:spPr>
          <a:xfrm>
            <a:off x="6919053" y="1851670"/>
            <a:ext cx="2224946" cy="2224946"/>
          </a:xfrm>
          <a:custGeom>
            <a:avLst/>
            <a:gdLst>
              <a:gd name="connsiteX0" fmla="*/ 0 w 2329589"/>
              <a:gd name="connsiteY0" fmla="*/ 1164795 h 2329589"/>
              <a:gd name="connsiteX1" fmla="*/ 1164795 w 2329589"/>
              <a:gd name="connsiteY1" fmla="*/ 0 h 2329589"/>
              <a:gd name="connsiteX2" fmla="*/ 2329590 w 2329589"/>
              <a:gd name="connsiteY2" fmla="*/ 1164795 h 2329589"/>
              <a:gd name="connsiteX3" fmla="*/ 1164795 w 2329589"/>
              <a:gd name="connsiteY3" fmla="*/ 2329590 h 2329589"/>
              <a:gd name="connsiteX4" fmla="*/ 0 w 2329589"/>
              <a:gd name="connsiteY4" fmla="*/ 1164795 h 2329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9589" h="2329589">
                <a:moveTo>
                  <a:pt x="0" y="1164795"/>
                </a:moveTo>
                <a:cubicBezTo>
                  <a:pt x="0" y="521496"/>
                  <a:pt x="521496" y="0"/>
                  <a:pt x="1164795" y="0"/>
                </a:cubicBezTo>
                <a:cubicBezTo>
                  <a:pt x="1808094" y="0"/>
                  <a:pt x="2329590" y="521496"/>
                  <a:pt x="2329590" y="1164795"/>
                </a:cubicBezTo>
                <a:cubicBezTo>
                  <a:pt x="2329590" y="1808094"/>
                  <a:pt x="1808094" y="2329590"/>
                  <a:pt x="1164795" y="2329590"/>
                </a:cubicBezTo>
                <a:cubicBezTo>
                  <a:pt x="521496" y="2329590"/>
                  <a:pt x="0" y="1808094"/>
                  <a:pt x="0" y="116479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11250264"/>
              <a:satOff val="-16880"/>
              <a:lumOff val="-2745"/>
              <a:alphaOff val="0"/>
            </a:schemeClr>
          </a:fillRef>
          <a:effectRef idx="2">
            <a:schemeClr val="accent3">
              <a:hueOff val="11250264"/>
              <a:satOff val="-16880"/>
              <a:lumOff val="-2745"/>
              <a:alphaOff val="0"/>
            </a:schemeClr>
          </a:effectRef>
          <a:fontRef idx="minor">
            <a:schemeClr val="lt1"/>
          </a:fontRef>
        </p:style>
        <p:txBody>
          <a:bodyPr spcFirstLastPara="0" vert="horz" wrap="square" lIns="371640" tIns="371640" rIns="371640" bIns="371640" numCol="1" spcCol="1270" anchor="ctr" anchorCtr="0">
            <a:noAutofit/>
          </a:bodyPr>
          <a:lstStyle/>
          <a:p>
            <a:pPr lvl="0" algn="ctr" defTabSz="1066800">
              <a:lnSpc>
                <a:spcPct val="90000"/>
              </a:lnSpc>
              <a:spcBef>
                <a:spcPct val="0"/>
              </a:spcBef>
              <a:spcAft>
                <a:spcPct val="35000"/>
              </a:spcAft>
            </a:pPr>
            <a:r>
              <a:rPr lang="zh-CN" altLang="en-US" sz="2400" b="1" kern="1200" dirty="0" smtClean="0"/>
              <a:t>作业：用户向计算机提交任务的任务实体</a:t>
            </a:r>
            <a:endParaRPr lang="zh-CN" altLang="en-US" sz="2400" b="1" kern="1200" dirty="0"/>
          </a:p>
        </p:txBody>
      </p:sp>
      <p:sp>
        <p:nvSpPr>
          <p:cNvPr id="4" name="矩形 3"/>
          <p:cNvSpPr/>
          <p:nvPr/>
        </p:nvSpPr>
        <p:spPr>
          <a:xfrm>
            <a:off x="690170" y="939400"/>
            <a:ext cx="3869685" cy="36471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首先，系统必须为一个作业创建一个</a:t>
            </a:r>
            <a:r>
              <a:rPr lang="zh-CN" altLang="en-US" sz="2200" b="1" dirty="0">
                <a:solidFill>
                  <a:srgbClr val="FFFF00"/>
                </a:solidFill>
                <a:latin typeface="+mn-ea"/>
              </a:rPr>
              <a:t>根进程</a:t>
            </a:r>
            <a:r>
              <a:rPr lang="zh-CN" altLang="en-US" sz="2200" b="1" dirty="0">
                <a:solidFill>
                  <a:schemeClr val="bg1"/>
                </a:solidFill>
                <a:latin typeface="+mn-ea"/>
              </a:rPr>
              <a:t>。然后，在执行作业控制语句时，根据任务要求，系统或根进程为其创建相应的</a:t>
            </a:r>
            <a:r>
              <a:rPr lang="zh-CN" altLang="en-US" sz="2200" b="1" dirty="0">
                <a:solidFill>
                  <a:srgbClr val="FFFF00"/>
                </a:solidFill>
                <a:latin typeface="+mn-ea"/>
              </a:rPr>
              <a:t>子进程</a:t>
            </a:r>
            <a:r>
              <a:rPr lang="zh-CN" altLang="en-US" sz="2200" b="1" dirty="0">
                <a:solidFill>
                  <a:schemeClr val="bg1"/>
                </a:solidFill>
                <a:latin typeface="+mn-ea"/>
              </a:rPr>
              <a:t>，然后，为各子进程分配资源和调度各子进程执行以完成作业要求的任务</a:t>
            </a:r>
          </a:p>
        </p:txBody>
      </p:sp>
    </p:spTree>
    <p:extLst>
      <p:ext uri="{BB962C8B-B14F-4D97-AF65-F5344CB8AC3E}">
        <p14:creationId xmlns:p14="http://schemas.microsoft.com/office/powerpoint/2010/main" val="3692535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分级调度</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作业调度</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进程调度</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zh-CN" altLang="en-US" b="1" dirty="0" smtClean="0">
                  <a:solidFill>
                    <a:srgbClr val="000000"/>
                  </a:solidFill>
                </a:rPr>
                <a:t>调度算法及算法评价</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实时系统调度算法</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400821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par>
                                <p:cTn id="7" presetID="42" presetClass="path" presetSubtype="0" accel="50000" decel="50000" fill="hold" nodeType="withEffect">
                                  <p:stCondLst>
                                    <p:cond delay="0"/>
                                  </p:stCondLst>
                                  <p:childTnLst>
                                    <p:animMotion origin="layout" path="M -3.61111E-6 -3.7037E-6 L 0.00139 0.15741 " pathEditMode="relative" rAng="0" ptsTypes="AA">
                                      <p:cBhvr>
                                        <p:cTn id="8" dur="2000" fill="hold"/>
                                        <p:tgtEl>
                                          <p:spTgt spid="16"/>
                                        </p:tgtEl>
                                        <p:attrNameLst>
                                          <p:attrName>ppt_x</p:attrName>
                                          <p:attrName>ppt_y</p:attrName>
                                        </p:attrNameLst>
                                      </p:cBhvr>
                                      <p:rCtr x="69" y="7870"/>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27"/>
                                        </p:tgtEl>
                                      </p:cBhvr>
                                    </p:animEffect>
                                    <p:set>
                                      <p:cBhvr>
                                        <p:cTn id="14" dur="1" fill="hold">
                                          <p:stCondLst>
                                            <p:cond delay="1999"/>
                                          </p:stCondLst>
                                        </p:cTn>
                                        <p:tgtEl>
                                          <p:spTgt spid="27"/>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32"/>
                                        </p:tgtEl>
                                      </p:cBhvr>
                                    </p:animEffect>
                                    <p:set>
                                      <p:cBhvr>
                                        <p:cTn id="17" dur="1" fill="hold">
                                          <p:stCondLst>
                                            <p:cond delay="1999"/>
                                          </p:stCondLst>
                                        </p:cTn>
                                        <p:tgtEl>
                                          <p:spTgt spid="32"/>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1"/>
                                        </p:tgtEl>
                                      </p:cBhvr>
                                    </p:animEffect>
                                    <p:set>
                                      <p:cBhvr>
                                        <p:cTn id="20" dur="1" fill="hold">
                                          <p:stCondLst>
                                            <p:cond delay="1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作业调度的功能</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3" name="组合 12"/>
          <p:cNvGrpSpPr/>
          <p:nvPr/>
        </p:nvGrpSpPr>
        <p:grpSpPr>
          <a:xfrm>
            <a:off x="536700" y="800285"/>
            <a:ext cx="4496461" cy="4470427"/>
            <a:chOff x="2076728" y="737218"/>
            <a:chExt cx="4496461" cy="4470427"/>
          </a:xfrm>
        </p:grpSpPr>
        <p:sp>
          <p:nvSpPr>
            <p:cNvPr id="6" name="任意多边形 5"/>
            <p:cNvSpPr/>
            <p:nvPr/>
          </p:nvSpPr>
          <p:spPr>
            <a:xfrm>
              <a:off x="2471542" y="1105999"/>
              <a:ext cx="3862537" cy="3862537"/>
            </a:xfrm>
            <a:custGeom>
              <a:avLst/>
              <a:gdLst>
                <a:gd name="connsiteX0" fmla="*/ 3862537 w 3862537"/>
                <a:gd name="connsiteY0" fmla="*/ 1931269 h 3862537"/>
                <a:gd name="connsiteX1" fmla="*/ 1931268 w 3862537"/>
                <a:gd name="connsiteY1" fmla="*/ 3862538 h 3862537"/>
                <a:gd name="connsiteX2" fmla="*/ 1931269 w 3862537"/>
                <a:gd name="connsiteY2" fmla="*/ 1931269 h 3862537"/>
                <a:gd name="connsiteX3" fmla="*/ 3862537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3862537" y="1931269"/>
                  </a:moveTo>
                  <a:cubicBezTo>
                    <a:pt x="3862537" y="2997879"/>
                    <a:pt x="2997878" y="3862538"/>
                    <a:pt x="1931268" y="3862538"/>
                  </a:cubicBezTo>
                  <a:cubicBezTo>
                    <a:pt x="1931268" y="3218782"/>
                    <a:pt x="1931269" y="2575025"/>
                    <a:pt x="1931269" y="1931269"/>
                  </a:cubicBezTo>
                  <a:lnTo>
                    <a:pt x="3862537"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2075764" tIns="2029781" rIns="412113"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从后备队列中挑选出一部分作业投入执行</a:t>
              </a:r>
              <a:endParaRPr lang="zh-CN" altLang="en-US" sz="2000" b="1" kern="1200" dirty="0"/>
            </a:p>
          </p:txBody>
        </p:sp>
        <p:sp>
          <p:nvSpPr>
            <p:cNvPr id="7" name="任意多边形 6"/>
            <p:cNvSpPr/>
            <p:nvPr/>
          </p:nvSpPr>
          <p:spPr>
            <a:xfrm>
              <a:off x="2315838" y="1070000"/>
              <a:ext cx="3862537" cy="3862537"/>
            </a:xfrm>
            <a:custGeom>
              <a:avLst/>
              <a:gdLst>
                <a:gd name="connsiteX0" fmla="*/ 1931269 w 3862537"/>
                <a:gd name="connsiteY0" fmla="*/ 3862537 h 3862537"/>
                <a:gd name="connsiteX1" fmla="*/ 0 w 3862537"/>
                <a:gd name="connsiteY1" fmla="*/ 1931268 h 3862537"/>
                <a:gd name="connsiteX2" fmla="*/ 1931269 w 3862537"/>
                <a:gd name="connsiteY2" fmla="*/ 1931269 h 3862537"/>
                <a:gd name="connsiteX3" fmla="*/ 1931269 w 3862537"/>
                <a:gd name="connsiteY3" fmla="*/ 3862537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9" y="3862537"/>
                  </a:moveTo>
                  <a:cubicBezTo>
                    <a:pt x="864659" y="3862537"/>
                    <a:pt x="0" y="2997878"/>
                    <a:pt x="0" y="1931268"/>
                  </a:cubicBezTo>
                  <a:lnTo>
                    <a:pt x="1931269" y="1931269"/>
                  </a:lnTo>
                  <a:lnTo>
                    <a:pt x="1931269" y="38625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2113" tIns="2029781" rIns="2075764"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为被选中作业做好执行前的准备工作</a:t>
              </a:r>
              <a:endParaRPr lang="en-US" altLang="zh-CN" sz="2000" b="1" kern="1200" dirty="0" smtClean="0"/>
            </a:p>
          </p:txBody>
        </p:sp>
        <p:sp>
          <p:nvSpPr>
            <p:cNvPr id="8" name="任意多边形 7"/>
            <p:cNvSpPr/>
            <p:nvPr/>
          </p:nvSpPr>
          <p:spPr>
            <a:xfrm>
              <a:off x="2341871" y="976328"/>
              <a:ext cx="3862537" cy="3862537"/>
            </a:xfrm>
            <a:custGeom>
              <a:avLst/>
              <a:gdLst>
                <a:gd name="connsiteX0" fmla="*/ 0 w 3862537"/>
                <a:gd name="connsiteY0" fmla="*/ 1931269 h 3862537"/>
                <a:gd name="connsiteX1" fmla="*/ 1931269 w 3862537"/>
                <a:gd name="connsiteY1" fmla="*/ 0 h 3862537"/>
                <a:gd name="connsiteX2" fmla="*/ 1931269 w 3862537"/>
                <a:gd name="connsiteY2" fmla="*/ 1931269 h 3862537"/>
                <a:gd name="connsiteX3" fmla="*/ 0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0" y="1931269"/>
                  </a:moveTo>
                  <a:cubicBezTo>
                    <a:pt x="0" y="864659"/>
                    <a:pt x="864659" y="0"/>
                    <a:pt x="1931269" y="0"/>
                  </a:cubicBezTo>
                  <a:lnTo>
                    <a:pt x="1931269" y="1931269"/>
                  </a:lnTo>
                  <a:lnTo>
                    <a:pt x="0"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2114" tIns="825957" rIns="2075763" bIns="2029781" numCol="1" spcCol="1270" anchor="ctr" anchorCtr="0">
              <a:noAutofit/>
            </a:bodyPr>
            <a:lstStyle/>
            <a:p>
              <a:pPr lvl="0" algn="ctr" defTabSz="889000">
                <a:lnSpc>
                  <a:spcPct val="90000"/>
                </a:lnSpc>
                <a:spcBef>
                  <a:spcPct val="0"/>
                </a:spcBef>
                <a:spcAft>
                  <a:spcPct val="35000"/>
                </a:spcAft>
              </a:pPr>
              <a:r>
                <a:rPr lang="zh-CN" altLang="en-US" sz="2000" b="1" kern="1200" dirty="0" smtClean="0"/>
                <a:t>作业执行结束时做善后处理工作</a:t>
              </a:r>
              <a:endParaRPr lang="zh-CN" altLang="en-US" sz="2000" b="1" kern="1200" dirty="0"/>
            </a:p>
          </p:txBody>
        </p:sp>
        <p:sp>
          <p:nvSpPr>
            <p:cNvPr id="9" name="环形箭头 8"/>
            <p:cNvSpPr/>
            <p:nvPr/>
          </p:nvSpPr>
          <p:spPr>
            <a:xfrm>
              <a:off x="2232433" y="737218"/>
              <a:ext cx="4340756" cy="4340756"/>
            </a:xfrm>
            <a:prstGeom prst="circularArrow">
              <a:avLst>
                <a:gd name="adj1" fmla="val 5085"/>
                <a:gd name="adj2" fmla="val 327528"/>
                <a:gd name="adj3" fmla="val 21272472"/>
                <a:gd name="adj4" fmla="val 162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hueOff val="0"/>
                <a:satOff val="0"/>
                <a:lumOff val="0"/>
                <a:alphaOff val="0"/>
              </a:schemeClr>
            </a:fontRef>
          </p:style>
        </p:sp>
        <p:sp>
          <p:nvSpPr>
            <p:cNvPr id="10" name="环形箭头 9"/>
            <p:cNvSpPr/>
            <p:nvPr/>
          </p:nvSpPr>
          <p:spPr>
            <a:xfrm>
              <a:off x="2232433" y="866889"/>
              <a:ext cx="4340756" cy="4340756"/>
            </a:xfrm>
            <a:prstGeom prst="circularArrow">
              <a:avLst>
                <a:gd name="adj1" fmla="val 5085"/>
                <a:gd name="adj2" fmla="val 327528"/>
                <a:gd name="adj3" fmla="val 5072472"/>
                <a:gd name="adj4" fmla="val 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hueOff val="0"/>
                <a:satOff val="0"/>
                <a:lumOff val="0"/>
                <a:alphaOff val="0"/>
              </a:schemeClr>
            </a:fontRef>
          </p:style>
        </p:sp>
        <p:sp>
          <p:nvSpPr>
            <p:cNvPr id="11" name="环形箭头 10"/>
            <p:cNvSpPr/>
            <p:nvPr/>
          </p:nvSpPr>
          <p:spPr>
            <a:xfrm>
              <a:off x="2076728" y="830890"/>
              <a:ext cx="4340756" cy="4340756"/>
            </a:xfrm>
            <a:prstGeom prst="circularArrow">
              <a:avLst>
                <a:gd name="adj1" fmla="val 5085"/>
                <a:gd name="adj2" fmla="val 327528"/>
                <a:gd name="adj3" fmla="val 10472472"/>
                <a:gd name="adj4" fmla="val 54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hueOff val="0"/>
                <a:satOff val="0"/>
                <a:lumOff val="0"/>
                <a:alphaOff val="0"/>
              </a:schemeClr>
            </a:fontRef>
          </p:style>
        </p:sp>
        <p:sp>
          <p:nvSpPr>
            <p:cNvPr id="12" name="环形箭头 11"/>
            <p:cNvSpPr/>
            <p:nvPr/>
          </p:nvSpPr>
          <p:spPr>
            <a:xfrm>
              <a:off x="2102762" y="737218"/>
              <a:ext cx="4340756" cy="4340756"/>
            </a:xfrm>
            <a:prstGeom prst="circularArrow">
              <a:avLst>
                <a:gd name="adj1" fmla="val 5085"/>
                <a:gd name="adj2" fmla="val 327528"/>
                <a:gd name="adj3" fmla="val 15872472"/>
                <a:gd name="adj4" fmla="val 108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2471542" y="976328"/>
              <a:ext cx="3862537" cy="3862537"/>
            </a:xfrm>
            <a:custGeom>
              <a:avLst/>
              <a:gdLst>
                <a:gd name="connsiteX0" fmla="*/ 1931268 w 3862537"/>
                <a:gd name="connsiteY0" fmla="*/ 0 h 3862537"/>
                <a:gd name="connsiteX1" fmla="*/ 3862537 w 3862537"/>
                <a:gd name="connsiteY1" fmla="*/ 1931269 h 3862537"/>
                <a:gd name="connsiteX2" fmla="*/ 1931269 w 3862537"/>
                <a:gd name="connsiteY2" fmla="*/ 1931269 h 3862537"/>
                <a:gd name="connsiteX3" fmla="*/ 1931268 w 3862537"/>
                <a:gd name="connsiteY3" fmla="*/ 0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8" y="0"/>
                  </a:moveTo>
                  <a:cubicBezTo>
                    <a:pt x="2997878" y="0"/>
                    <a:pt x="3862537" y="864659"/>
                    <a:pt x="3862537" y="1931269"/>
                  </a:cubicBezTo>
                  <a:lnTo>
                    <a:pt x="1931269" y="1931269"/>
                  </a:lnTo>
                  <a:cubicBezTo>
                    <a:pt x="1931269" y="1287513"/>
                    <a:pt x="1931268" y="643756"/>
                    <a:pt x="1931268" y="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2075764" tIns="825957" rIns="412113" bIns="2029781" numCol="1" spcCol="1270" anchor="ctr" anchorCtr="0">
              <a:noAutofit/>
            </a:bodyPr>
            <a:lstStyle/>
            <a:p>
              <a:pPr marL="0" lvl="0" indent="0" algn="ctr" defTabSz="889000">
                <a:lnSpc>
                  <a:spcPct val="90000"/>
                </a:lnSpc>
                <a:spcBef>
                  <a:spcPct val="0"/>
                </a:spcBef>
                <a:spcAft>
                  <a:spcPct val="35000"/>
                </a:spcAft>
              </a:pPr>
              <a:r>
                <a:rPr lang="zh-CN" altLang="en-US" sz="2000" b="1" kern="1200" dirty="0" smtClean="0"/>
                <a:t>记录系统中各作业的状况</a:t>
              </a:r>
              <a:endParaRPr lang="zh-CN" altLang="en-US" sz="2000" b="1" kern="1200" dirty="0"/>
            </a:p>
          </p:txBody>
        </p:sp>
      </p:grpSp>
      <p:pic>
        <p:nvPicPr>
          <p:cNvPr id="41" name="图片 40"/>
          <p:cNvPicPr>
            <a:picLocks noChangeAspect="1"/>
          </p:cNvPicPr>
          <p:nvPr/>
        </p:nvPicPr>
        <p:blipFill>
          <a:blip r:embed="rId3"/>
          <a:stretch>
            <a:fillRect/>
          </a:stretch>
        </p:blipFill>
        <p:spPr>
          <a:xfrm>
            <a:off x="5760784" y="1350544"/>
            <a:ext cx="1979568" cy="3415044"/>
          </a:xfrm>
          <a:prstGeom prst="rect">
            <a:avLst/>
          </a:prstGeom>
        </p:spPr>
      </p:pic>
    </p:spTree>
    <p:extLst>
      <p:ext uri="{BB962C8B-B14F-4D97-AF65-F5344CB8AC3E}">
        <p14:creationId xmlns:p14="http://schemas.microsoft.com/office/powerpoint/2010/main" val="88318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up)">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作业调度的功能</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3" name="组合 12"/>
          <p:cNvGrpSpPr/>
          <p:nvPr/>
        </p:nvGrpSpPr>
        <p:grpSpPr>
          <a:xfrm>
            <a:off x="536700" y="800285"/>
            <a:ext cx="4496461" cy="4470427"/>
            <a:chOff x="2076728" y="737218"/>
            <a:chExt cx="4496461" cy="4470427"/>
          </a:xfrm>
        </p:grpSpPr>
        <p:sp>
          <p:nvSpPr>
            <p:cNvPr id="6" name="任意多边形 5"/>
            <p:cNvSpPr/>
            <p:nvPr/>
          </p:nvSpPr>
          <p:spPr>
            <a:xfrm>
              <a:off x="2471542" y="1105999"/>
              <a:ext cx="3862537" cy="3862537"/>
            </a:xfrm>
            <a:custGeom>
              <a:avLst/>
              <a:gdLst>
                <a:gd name="connsiteX0" fmla="*/ 3862537 w 3862537"/>
                <a:gd name="connsiteY0" fmla="*/ 1931269 h 3862537"/>
                <a:gd name="connsiteX1" fmla="*/ 1931268 w 3862537"/>
                <a:gd name="connsiteY1" fmla="*/ 3862538 h 3862537"/>
                <a:gd name="connsiteX2" fmla="*/ 1931269 w 3862537"/>
                <a:gd name="connsiteY2" fmla="*/ 1931269 h 3862537"/>
                <a:gd name="connsiteX3" fmla="*/ 3862537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3862537" y="1931269"/>
                  </a:moveTo>
                  <a:cubicBezTo>
                    <a:pt x="3862537" y="2997879"/>
                    <a:pt x="2997878" y="3862538"/>
                    <a:pt x="1931268" y="3862538"/>
                  </a:cubicBezTo>
                  <a:cubicBezTo>
                    <a:pt x="1931268" y="3218782"/>
                    <a:pt x="1931269" y="2575025"/>
                    <a:pt x="1931269" y="1931269"/>
                  </a:cubicBezTo>
                  <a:lnTo>
                    <a:pt x="3862537"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2075764" tIns="2029781" rIns="412113"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从后备队列中挑选出一部分作业投入执行</a:t>
              </a:r>
              <a:endParaRPr lang="zh-CN" altLang="en-US" sz="2000" b="1" kern="1200" dirty="0"/>
            </a:p>
          </p:txBody>
        </p:sp>
        <p:sp>
          <p:nvSpPr>
            <p:cNvPr id="7" name="任意多边形 6"/>
            <p:cNvSpPr/>
            <p:nvPr/>
          </p:nvSpPr>
          <p:spPr>
            <a:xfrm>
              <a:off x="2315838" y="1070000"/>
              <a:ext cx="3862537" cy="3862537"/>
            </a:xfrm>
            <a:custGeom>
              <a:avLst/>
              <a:gdLst>
                <a:gd name="connsiteX0" fmla="*/ 1931269 w 3862537"/>
                <a:gd name="connsiteY0" fmla="*/ 3862537 h 3862537"/>
                <a:gd name="connsiteX1" fmla="*/ 0 w 3862537"/>
                <a:gd name="connsiteY1" fmla="*/ 1931268 h 3862537"/>
                <a:gd name="connsiteX2" fmla="*/ 1931269 w 3862537"/>
                <a:gd name="connsiteY2" fmla="*/ 1931269 h 3862537"/>
                <a:gd name="connsiteX3" fmla="*/ 1931269 w 3862537"/>
                <a:gd name="connsiteY3" fmla="*/ 3862537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9" y="3862537"/>
                  </a:moveTo>
                  <a:cubicBezTo>
                    <a:pt x="864659" y="3862537"/>
                    <a:pt x="0" y="2997878"/>
                    <a:pt x="0" y="1931268"/>
                  </a:cubicBezTo>
                  <a:lnTo>
                    <a:pt x="1931269" y="1931269"/>
                  </a:lnTo>
                  <a:lnTo>
                    <a:pt x="1931269" y="38625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2113" tIns="2029781" rIns="2075764"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为被选中作业做好执行前的准备工作</a:t>
              </a:r>
              <a:endParaRPr lang="en-US" altLang="zh-CN" sz="2000" b="1" kern="1200" dirty="0" smtClean="0"/>
            </a:p>
          </p:txBody>
        </p:sp>
        <p:sp>
          <p:nvSpPr>
            <p:cNvPr id="8" name="任意多边形 7"/>
            <p:cNvSpPr/>
            <p:nvPr/>
          </p:nvSpPr>
          <p:spPr>
            <a:xfrm>
              <a:off x="2341871" y="976328"/>
              <a:ext cx="3862537" cy="3862537"/>
            </a:xfrm>
            <a:custGeom>
              <a:avLst/>
              <a:gdLst>
                <a:gd name="connsiteX0" fmla="*/ 0 w 3862537"/>
                <a:gd name="connsiteY0" fmla="*/ 1931269 h 3862537"/>
                <a:gd name="connsiteX1" fmla="*/ 1931269 w 3862537"/>
                <a:gd name="connsiteY1" fmla="*/ 0 h 3862537"/>
                <a:gd name="connsiteX2" fmla="*/ 1931269 w 3862537"/>
                <a:gd name="connsiteY2" fmla="*/ 1931269 h 3862537"/>
                <a:gd name="connsiteX3" fmla="*/ 0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0" y="1931269"/>
                  </a:moveTo>
                  <a:cubicBezTo>
                    <a:pt x="0" y="864659"/>
                    <a:pt x="864659" y="0"/>
                    <a:pt x="1931269" y="0"/>
                  </a:cubicBezTo>
                  <a:lnTo>
                    <a:pt x="1931269" y="1931269"/>
                  </a:lnTo>
                  <a:lnTo>
                    <a:pt x="0"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2114" tIns="825957" rIns="2075763" bIns="2029781" numCol="1" spcCol="1270" anchor="ctr" anchorCtr="0">
              <a:noAutofit/>
            </a:bodyPr>
            <a:lstStyle/>
            <a:p>
              <a:pPr lvl="0" algn="ctr" defTabSz="889000">
                <a:lnSpc>
                  <a:spcPct val="90000"/>
                </a:lnSpc>
                <a:spcBef>
                  <a:spcPct val="0"/>
                </a:spcBef>
                <a:spcAft>
                  <a:spcPct val="35000"/>
                </a:spcAft>
              </a:pPr>
              <a:r>
                <a:rPr lang="zh-CN" altLang="en-US" sz="2000" b="1" kern="1200" dirty="0" smtClean="0"/>
                <a:t>作业执行结束时做善后处理工作</a:t>
              </a:r>
              <a:endParaRPr lang="zh-CN" altLang="en-US" sz="2000" b="1" kern="1200" dirty="0"/>
            </a:p>
          </p:txBody>
        </p:sp>
        <p:sp>
          <p:nvSpPr>
            <p:cNvPr id="9" name="环形箭头 8"/>
            <p:cNvSpPr/>
            <p:nvPr/>
          </p:nvSpPr>
          <p:spPr>
            <a:xfrm>
              <a:off x="2232433" y="737218"/>
              <a:ext cx="4340756" cy="4340756"/>
            </a:xfrm>
            <a:prstGeom prst="circularArrow">
              <a:avLst>
                <a:gd name="adj1" fmla="val 5085"/>
                <a:gd name="adj2" fmla="val 327528"/>
                <a:gd name="adj3" fmla="val 21272472"/>
                <a:gd name="adj4" fmla="val 162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hueOff val="0"/>
                <a:satOff val="0"/>
                <a:lumOff val="0"/>
                <a:alphaOff val="0"/>
              </a:schemeClr>
            </a:fontRef>
          </p:style>
        </p:sp>
        <p:sp>
          <p:nvSpPr>
            <p:cNvPr id="10" name="环形箭头 9"/>
            <p:cNvSpPr/>
            <p:nvPr/>
          </p:nvSpPr>
          <p:spPr>
            <a:xfrm>
              <a:off x="2232433" y="866889"/>
              <a:ext cx="4340756" cy="4340756"/>
            </a:xfrm>
            <a:prstGeom prst="circularArrow">
              <a:avLst>
                <a:gd name="adj1" fmla="val 5085"/>
                <a:gd name="adj2" fmla="val 327528"/>
                <a:gd name="adj3" fmla="val 5072472"/>
                <a:gd name="adj4" fmla="val 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hueOff val="0"/>
                <a:satOff val="0"/>
                <a:lumOff val="0"/>
                <a:alphaOff val="0"/>
              </a:schemeClr>
            </a:fontRef>
          </p:style>
        </p:sp>
        <p:sp>
          <p:nvSpPr>
            <p:cNvPr id="11" name="环形箭头 10"/>
            <p:cNvSpPr/>
            <p:nvPr/>
          </p:nvSpPr>
          <p:spPr>
            <a:xfrm>
              <a:off x="2076728" y="830890"/>
              <a:ext cx="4340756" cy="4340756"/>
            </a:xfrm>
            <a:prstGeom prst="circularArrow">
              <a:avLst>
                <a:gd name="adj1" fmla="val 5085"/>
                <a:gd name="adj2" fmla="val 327528"/>
                <a:gd name="adj3" fmla="val 10472472"/>
                <a:gd name="adj4" fmla="val 54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hueOff val="0"/>
                <a:satOff val="0"/>
                <a:lumOff val="0"/>
                <a:alphaOff val="0"/>
              </a:schemeClr>
            </a:fontRef>
          </p:style>
        </p:sp>
        <p:sp>
          <p:nvSpPr>
            <p:cNvPr id="12" name="环形箭头 11"/>
            <p:cNvSpPr/>
            <p:nvPr/>
          </p:nvSpPr>
          <p:spPr>
            <a:xfrm>
              <a:off x="2102762" y="737218"/>
              <a:ext cx="4340756" cy="4340756"/>
            </a:xfrm>
            <a:prstGeom prst="circularArrow">
              <a:avLst>
                <a:gd name="adj1" fmla="val 5085"/>
                <a:gd name="adj2" fmla="val 327528"/>
                <a:gd name="adj3" fmla="val 15872472"/>
                <a:gd name="adj4" fmla="val 108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2471542" y="976328"/>
              <a:ext cx="3862537" cy="3862537"/>
            </a:xfrm>
            <a:custGeom>
              <a:avLst/>
              <a:gdLst>
                <a:gd name="connsiteX0" fmla="*/ 1931268 w 3862537"/>
                <a:gd name="connsiteY0" fmla="*/ 0 h 3862537"/>
                <a:gd name="connsiteX1" fmla="*/ 3862537 w 3862537"/>
                <a:gd name="connsiteY1" fmla="*/ 1931269 h 3862537"/>
                <a:gd name="connsiteX2" fmla="*/ 1931269 w 3862537"/>
                <a:gd name="connsiteY2" fmla="*/ 1931269 h 3862537"/>
                <a:gd name="connsiteX3" fmla="*/ 1931268 w 3862537"/>
                <a:gd name="connsiteY3" fmla="*/ 0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8" y="0"/>
                  </a:moveTo>
                  <a:cubicBezTo>
                    <a:pt x="2997878" y="0"/>
                    <a:pt x="3862537" y="864659"/>
                    <a:pt x="3862537" y="1931269"/>
                  </a:cubicBezTo>
                  <a:lnTo>
                    <a:pt x="1931269" y="1931269"/>
                  </a:lnTo>
                  <a:cubicBezTo>
                    <a:pt x="1931269" y="1287513"/>
                    <a:pt x="1931268" y="643756"/>
                    <a:pt x="1931268" y="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2075764" tIns="825957" rIns="412113" bIns="2029781" numCol="1" spcCol="1270" anchor="ctr" anchorCtr="0">
              <a:noAutofit/>
            </a:bodyPr>
            <a:lstStyle/>
            <a:p>
              <a:pPr marL="0" lvl="0" indent="0" algn="ctr" defTabSz="889000">
                <a:lnSpc>
                  <a:spcPct val="90000"/>
                </a:lnSpc>
                <a:spcBef>
                  <a:spcPct val="0"/>
                </a:spcBef>
                <a:spcAft>
                  <a:spcPct val="35000"/>
                </a:spcAft>
              </a:pPr>
              <a:r>
                <a:rPr lang="zh-CN" altLang="en-US" sz="2000" b="1" kern="1200" dirty="0" smtClean="0"/>
                <a:t>记录系统中各作业的状况</a:t>
              </a:r>
              <a:endParaRPr lang="zh-CN" altLang="en-US" sz="2000" b="1" kern="1200" dirty="0"/>
            </a:p>
          </p:txBody>
        </p:sp>
      </p:grpSp>
      <p:pic>
        <p:nvPicPr>
          <p:cNvPr id="43" name="Picture 3" descr="图4"/>
          <p:cNvPicPr>
            <a:picLocks noChangeAspect="1" noChangeArrowheads="1"/>
          </p:cNvPicPr>
          <p:nvPr/>
        </p:nvPicPr>
        <p:blipFill rotWithShape="1">
          <a:blip r:embed="rId3">
            <a:extLst>
              <a:ext uri="{28A0092B-C50C-407E-A947-70E740481C1C}">
                <a14:useLocalDpi xmlns:a14="http://schemas.microsoft.com/office/drawing/2010/main" val="0"/>
              </a:ext>
            </a:extLst>
          </a:blip>
          <a:srcRect r="42088" b="6965"/>
          <a:stretch/>
        </p:blipFill>
        <p:spPr bwMode="auto">
          <a:xfrm>
            <a:off x="5117971" y="139431"/>
            <a:ext cx="3080522" cy="500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3" descr="图4"/>
          <p:cNvPicPr>
            <a:picLocks noChangeAspect="1" noChangeArrowheads="1"/>
          </p:cNvPicPr>
          <p:nvPr/>
        </p:nvPicPr>
        <p:blipFill rotWithShape="1">
          <a:blip r:embed="rId4">
            <a:extLst>
              <a:ext uri="{28A0092B-C50C-407E-A947-70E740481C1C}">
                <a14:useLocalDpi xmlns:a14="http://schemas.microsoft.com/office/drawing/2010/main" val="0"/>
              </a:ext>
            </a:extLst>
          </a:blip>
          <a:srcRect l="5349" r="6211"/>
          <a:stretch/>
        </p:blipFill>
        <p:spPr bwMode="auto">
          <a:xfrm>
            <a:off x="196485" y="1078042"/>
            <a:ext cx="4669495" cy="3437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933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作业调度的功能</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3" name="组合 12"/>
          <p:cNvGrpSpPr/>
          <p:nvPr/>
        </p:nvGrpSpPr>
        <p:grpSpPr>
          <a:xfrm>
            <a:off x="536700" y="800285"/>
            <a:ext cx="4496461" cy="4470427"/>
            <a:chOff x="2076728" y="737218"/>
            <a:chExt cx="4496461" cy="4470427"/>
          </a:xfrm>
        </p:grpSpPr>
        <p:sp>
          <p:nvSpPr>
            <p:cNvPr id="6" name="任意多边形 5"/>
            <p:cNvSpPr/>
            <p:nvPr/>
          </p:nvSpPr>
          <p:spPr>
            <a:xfrm>
              <a:off x="2471542" y="1105999"/>
              <a:ext cx="3862537" cy="3862537"/>
            </a:xfrm>
            <a:custGeom>
              <a:avLst/>
              <a:gdLst>
                <a:gd name="connsiteX0" fmla="*/ 3862537 w 3862537"/>
                <a:gd name="connsiteY0" fmla="*/ 1931269 h 3862537"/>
                <a:gd name="connsiteX1" fmla="*/ 1931268 w 3862537"/>
                <a:gd name="connsiteY1" fmla="*/ 3862538 h 3862537"/>
                <a:gd name="connsiteX2" fmla="*/ 1931269 w 3862537"/>
                <a:gd name="connsiteY2" fmla="*/ 1931269 h 3862537"/>
                <a:gd name="connsiteX3" fmla="*/ 3862537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3862537" y="1931269"/>
                  </a:moveTo>
                  <a:cubicBezTo>
                    <a:pt x="3862537" y="2997879"/>
                    <a:pt x="2997878" y="3862538"/>
                    <a:pt x="1931268" y="3862538"/>
                  </a:cubicBezTo>
                  <a:cubicBezTo>
                    <a:pt x="1931268" y="3218782"/>
                    <a:pt x="1931269" y="2575025"/>
                    <a:pt x="1931269" y="1931269"/>
                  </a:cubicBezTo>
                  <a:lnTo>
                    <a:pt x="3862537"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2075764" tIns="2029781" rIns="412113"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从后备队列中挑选出一部分作业投入执行</a:t>
              </a:r>
              <a:endParaRPr lang="zh-CN" altLang="en-US" sz="2000" b="1" kern="1200" dirty="0"/>
            </a:p>
          </p:txBody>
        </p:sp>
        <p:sp>
          <p:nvSpPr>
            <p:cNvPr id="7" name="任意多边形 6"/>
            <p:cNvSpPr/>
            <p:nvPr/>
          </p:nvSpPr>
          <p:spPr>
            <a:xfrm>
              <a:off x="2315838" y="1070000"/>
              <a:ext cx="3862537" cy="3862537"/>
            </a:xfrm>
            <a:custGeom>
              <a:avLst/>
              <a:gdLst>
                <a:gd name="connsiteX0" fmla="*/ 1931269 w 3862537"/>
                <a:gd name="connsiteY0" fmla="*/ 3862537 h 3862537"/>
                <a:gd name="connsiteX1" fmla="*/ 0 w 3862537"/>
                <a:gd name="connsiteY1" fmla="*/ 1931268 h 3862537"/>
                <a:gd name="connsiteX2" fmla="*/ 1931269 w 3862537"/>
                <a:gd name="connsiteY2" fmla="*/ 1931269 h 3862537"/>
                <a:gd name="connsiteX3" fmla="*/ 1931269 w 3862537"/>
                <a:gd name="connsiteY3" fmla="*/ 3862537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9" y="3862537"/>
                  </a:moveTo>
                  <a:cubicBezTo>
                    <a:pt x="864659" y="3862537"/>
                    <a:pt x="0" y="2997878"/>
                    <a:pt x="0" y="1931268"/>
                  </a:cubicBezTo>
                  <a:lnTo>
                    <a:pt x="1931269" y="1931269"/>
                  </a:lnTo>
                  <a:lnTo>
                    <a:pt x="1931269" y="38625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2113" tIns="2029781" rIns="2075764"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lvl="0" algn="ctr" defTabSz="889000">
                <a:lnSpc>
                  <a:spcPct val="90000"/>
                </a:lnSpc>
                <a:spcBef>
                  <a:spcPct val="0"/>
                </a:spcBef>
                <a:spcAft>
                  <a:spcPct val="35000"/>
                </a:spcAft>
              </a:pPr>
              <a:r>
                <a:rPr lang="zh-CN" altLang="en-US" sz="2000" b="1" kern="1200" dirty="0" smtClean="0"/>
                <a:t>为被选中作业做好执行前的准备工作</a:t>
              </a:r>
              <a:endParaRPr lang="en-US" altLang="zh-CN" sz="2000" b="1" kern="1200" dirty="0" smtClean="0"/>
            </a:p>
          </p:txBody>
        </p:sp>
        <p:sp>
          <p:nvSpPr>
            <p:cNvPr id="8" name="任意多边形 7"/>
            <p:cNvSpPr/>
            <p:nvPr/>
          </p:nvSpPr>
          <p:spPr>
            <a:xfrm>
              <a:off x="2341871" y="976328"/>
              <a:ext cx="3862537" cy="3862537"/>
            </a:xfrm>
            <a:custGeom>
              <a:avLst/>
              <a:gdLst>
                <a:gd name="connsiteX0" fmla="*/ 0 w 3862537"/>
                <a:gd name="connsiteY0" fmla="*/ 1931269 h 3862537"/>
                <a:gd name="connsiteX1" fmla="*/ 1931269 w 3862537"/>
                <a:gd name="connsiteY1" fmla="*/ 0 h 3862537"/>
                <a:gd name="connsiteX2" fmla="*/ 1931269 w 3862537"/>
                <a:gd name="connsiteY2" fmla="*/ 1931269 h 3862537"/>
                <a:gd name="connsiteX3" fmla="*/ 0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0" y="1931269"/>
                  </a:moveTo>
                  <a:cubicBezTo>
                    <a:pt x="0" y="864659"/>
                    <a:pt x="864659" y="0"/>
                    <a:pt x="1931269" y="0"/>
                  </a:cubicBezTo>
                  <a:lnTo>
                    <a:pt x="1931269" y="1931269"/>
                  </a:lnTo>
                  <a:lnTo>
                    <a:pt x="0"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2114" tIns="825957" rIns="2075763" bIns="2029781" numCol="1" spcCol="1270" anchor="ctr" anchorCtr="0">
              <a:noAutofit/>
            </a:bodyPr>
            <a:lstStyle/>
            <a:p>
              <a:pPr lvl="0" algn="ctr" defTabSz="889000">
                <a:lnSpc>
                  <a:spcPct val="90000"/>
                </a:lnSpc>
                <a:spcBef>
                  <a:spcPct val="0"/>
                </a:spcBef>
                <a:spcAft>
                  <a:spcPct val="35000"/>
                </a:spcAft>
              </a:pPr>
              <a:r>
                <a:rPr lang="zh-CN" altLang="en-US" sz="2000" b="1" kern="1200" dirty="0" smtClean="0"/>
                <a:t>作业执行结束时做善后处理工作</a:t>
              </a:r>
              <a:endParaRPr lang="zh-CN" altLang="en-US" sz="2000" b="1" kern="1200" dirty="0"/>
            </a:p>
          </p:txBody>
        </p:sp>
        <p:sp>
          <p:nvSpPr>
            <p:cNvPr id="9" name="环形箭头 8"/>
            <p:cNvSpPr/>
            <p:nvPr/>
          </p:nvSpPr>
          <p:spPr>
            <a:xfrm>
              <a:off x="2232433" y="737218"/>
              <a:ext cx="4340756" cy="4340756"/>
            </a:xfrm>
            <a:prstGeom prst="circularArrow">
              <a:avLst>
                <a:gd name="adj1" fmla="val 5085"/>
                <a:gd name="adj2" fmla="val 327528"/>
                <a:gd name="adj3" fmla="val 21272472"/>
                <a:gd name="adj4" fmla="val 162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hueOff val="0"/>
                <a:satOff val="0"/>
                <a:lumOff val="0"/>
                <a:alphaOff val="0"/>
              </a:schemeClr>
            </a:fontRef>
          </p:style>
        </p:sp>
        <p:sp>
          <p:nvSpPr>
            <p:cNvPr id="10" name="环形箭头 9"/>
            <p:cNvSpPr/>
            <p:nvPr/>
          </p:nvSpPr>
          <p:spPr>
            <a:xfrm>
              <a:off x="2232433" y="866889"/>
              <a:ext cx="4340756" cy="4340756"/>
            </a:xfrm>
            <a:prstGeom prst="circularArrow">
              <a:avLst>
                <a:gd name="adj1" fmla="val 5085"/>
                <a:gd name="adj2" fmla="val 327528"/>
                <a:gd name="adj3" fmla="val 5072472"/>
                <a:gd name="adj4" fmla="val 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hueOff val="0"/>
                <a:satOff val="0"/>
                <a:lumOff val="0"/>
                <a:alphaOff val="0"/>
              </a:schemeClr>
            </a:fontRef>
          </p:style>
        </p:sp>
        <p:sp>
          <p:nvSpPr>
            <p:cNvPr id="11" name="环形箭头 10"/>
            <p:cNvSpPr/>
            <p:nvPr/>
          </p:nvSpPr>
          <p:spPr>
            <a:xfrm>
              <a:off x="2076728" y="830890"/>
              <a:ext cx="4340756" cy="4340756"/>
            </a:xfrm>
            <a:prstGeom prst="circularArrow">
              <a:avLst>
                <a:gd name="adj1" fmla="val 5085"/>
                <a:gd name="adj2" fmla="val 327528"/>
                <a:gd name="adj3" fmla="val 10472472"/>
                <a:gd name="adj4" fmla="val 54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hueOff val="0"/>
                <a:satOff val="0"/>
                <a:lumOff val="0"/>
                <a:alphaOff val="0"/>
              </a:schemeClr>
            </a:fontRef>
          </p:style>
        </p:sp>
        <p:sp>
          <p:nvSpPr>
            <p:cNvPr id="12" name="环形箭头 11"/>
            <p:cNvSpPr/>
            <p:nvPr/>
          </p:nvSpPr>
          <p:spPr>
            <a:xfrm>
              <a:off x="2102762" y="737218"/>
              <a:ext cx="4340756" cy="4340756"/>
            </a:xfrm>
            <a:prstGeom prst="circularArrow">
              <a:avLst>
                <a:gd name="adj1" fmla="val 5085"/>
                <a:gd name="adj2" fmla="val 327528"/>
                <a:gd name="adj3" fmla="val 15872472"/>
                <a:gd name="adj4" fmla="val 108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2471542" y="976328"/>
              <a:ext cx="3862537" cy="3862537"/>
            </a:xfrm>
            <a:custGeom>
              <a:avLst/>
              <a:gdLst>
                <a:gd name="connsiteX0" fmla="*/ 1931268 w 3862537"/>
                <a:gd name="connsiteY0" fmla="*/ 0 h 3862537"/>
                <a:gd name="connsiteX1" fmla="*/ 3862537 w 3862537"/>
                <a:gd name="connsiteY1" fmla="*/ 1931269 h 3862537"/>
                <a:gd name="connsiteX2" fmla="*/ 1931269 w 3862537"/>
                <a:gd name="connsiteY2" fmla="*/ 1931269 h 3862537"/>
                <a:gd name="connsiteX3" fmla="*/ 1931268 w 3862537"/>
                <a:gd name="connsiteY3" fmla="*/ 0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8" y="0"/>
                  </a:moveTo>
                  <a:cubicBezTo>
                    <a:pt x="2997878" y="0"/>
                    <a:pt x="3862537" y="864659"/>
                    <a:pt x="3862537" y="1931269"/>
                  </a:cubicBezTo>
                  <a:lnTo>
                    <a:pt x="1931269" y="1931269"/>
                  </a:lnTo>
                  <a:cubicBezTo>
                    <a:pt x="1931269" y="1287513"/>
                    <a:pt x="1931268" y="643756"/>
                    <a:pt x="1931268" y="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2075764" tIns="825957" rIns="412113" bIns="2029781" numCol="1" spcCol="1270" anchor="ctr" anchorCtr="0">
              <a:noAutofit/>
            </a:bodyPr>
            <a:lstStyle/>
            <a:p>
              <a:pPr marL="0" lvl="0" indent="0" algn="ctr" defTabSz="889000">
                <a:lnSpc>
                  <a:spcPct val="90000"/>
                </a:lnSpc>
                <a:spcBef>
                  <a:spcPct val="0"/>
                </a:spcBef>
                <a:spcAft>
                  <a:spcPct val="35000"/>
                </a:spcAft>
              </a:pPr>
              <a:r>
                <a:rPr lang="zh-CN" altLang="en-US" sz="2000" b="1" kern="1200" dirty="0" smtClean="0"/>
                <a:t>记录系统中各作业的状况</a:t>
              </a:r>
              <a:endParaRPr lang="zh-CN" altLang="en-US" sz="2000" b="1" kern="1200" dirty="0"/>
            </a:p>
          </p:txBody>
        </p:sp>
      </p:grpSp>
      <p:pic>
        <p:nvPicPr>
          <p:cNvPr id="29" name="Picture 3" descr="图4"/>
          <p:cNvPicPr>
            <a:picLocks noChangeAspect="1" noChangeArrowheads="1"/>
          </p:cNvPicPr>
          <p:nvPr/>
        </p:nvPicPr>
        <p:blipFill rotWithShape="1">
          <a:blip r:embed="rId3">
            <a:extLst>
              <a:ext uri="{28A0092B-C50C-407E-A947-70E740481C1C}">
                <a14:useLocalDpi xmlns:a14="http://schemas.microsoft.com/office/drawing/2010/main" val="0"/>
              </a:ext>
            </a:extLst>
          </a:blip>
          <a:srcRect l="61364" t="19031" b="18350"/>
          <a:stretch/>
        </p:blipFill>
        <p:spPr bwMode="auto">
          <a:xfrm>
            <a:off x="5607185" y="191234"/>
            <a:ext cx="2943171" cy="482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3" descr="图4"/>
          <p:cNvPicPr>
            <a:picLocks noChangeAspect="1" noChangeArrowheads="1"/>
          </p:cNvPicPr>
          <p:nvPr/>
        </p:nvPicPr>
        <p:blipFill rotWithShape="1">
          <a:blip r:embed="rId4">
            <a:extLst>
              <a:ext uri="{28A0092B-C50C-407E-A947-70E740481C1C}">
                <a14:useLocalDpi xmlns:a14="http://schemas.microsoft.com/office/drawing/2010/main" val="0"/>
              </a:ext>
            </a:extLst>
          </a:blip>
          <a:srcRect l="5349" r="6211"/>
          <a:stretch/>
        </p:blipFill>
        <p:spPr bwMode="auto">
          <a:xfrm>
            <a:off x="528034" y="1107671"/>
            <a:ext cx="4669495" cy="3437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44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作业调度的目标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13" name="组合 12"/>
          <p:cNvGrpSpPr/>
          <p:nvPr/>
        </p:nvGrpSpPr>
        <p:grpSpPr>
          <a:xfrm>
            <a:off x="0" y="637706"/>
            <a:ext cx="4712485" cy="4634538"/>
            <a:chOff x="2076728" y="737218"/>
            <a:chExt cx="4496461" cy="4470427"/>
          </a:xfrm>
        </p:grpSpPr>
        <p:sp>
          <p:nvSpPr>
            <p:cNvPr id="6" name="任意多边形 5"/>
            <p:cNvSpPr/>
            <p:nvPr/>
          </p:nvSpPr>
          <p:spPr>
            <a:xfrm>
              <a:off x="2471542" y="1105999"/>
              <a:ext cx="3862537" cy="3862537"/>
            </a:xfrm>
            <a:custGeom>
              <a:avLst/>
              <a:gdLst>
                <a:gd name="connsiteX0" fmla="*/ 3862537 w 3862537"/>
                <a:gd name="connsiteY0" fmla="*/ 1931269 h 3862537"/>
                <a:gd name="connsiteX1" fmla="*/ 1931268 w 3862537"/>
                <a:gd name="connsiteY1" fmla="*/ 3862538 h 3862537"/>
                <a:gd name="connsiteX2" fmla="*/ 1931269 w 3862537"/>
                <a:gd name="connsiteY2" fmla="*/ 1931269 h 3862537"/>
                <a:gd name="connsiteX3" fmla="*/ 3862537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3862537" y="1931269"/>
                  </a:moveTo>
                  <a:cubicBezTo>
                    <a:pt x="3862537" y="2997879"/>
                    <a:pt x="2997878" y="3862538"/>
                    <a:pt x="1931268" y="3862538"/>
                  </a:cubicBezTo>
                  <a:cubicBezTo>
                    <a:pt x="1931268" y="3218782"/>
                    <a:pt x="1931269" y="2575025"/>
                    <a:pt x="1931269" y="1931269"/>
                  </a:cubicBezTo>
                  <a:lnTo>
                    <a:pt x="3862537"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2075764" tIns="2029781" rIns="412113"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algn="ctr" defTabSz="889000">
                <a:lnSpc>
                  <a:spcPct val="114000"/>
                </a:lnSpc>
                <a:spcBef>
                  <a:spcPct val="0"/>
                </a:spcBef>
                <a:spcAft>
                  <a:spcPct val="35000"/>
                </a:spcAft>
              </a:pPr>
              <a:r>
                <a:rPr lang="zh-CN" altLang="en-US" sz="2400" b="1" dirty="0"/>
                <a:t>应使设备有高的</a:t>
              </a:r>
              <a:r>
                <a:rPr lang="zh-CN" altLang="en-US" sz="2400" b="1" dirty="0" smtClean="0"/>
                <a:t>利用率</a:t>
              </a:r>
              <a:endParaRPr lang="zh-CN" altLang="en-US" sz="2400" b="1" dirty="0"/>
            </a:p>
          </p:txBody>
        </p:sp>
        <p:sp>
          <p:nvSpPr>
            <p:cNvPr id="7" name="任意多边形 6"/>
            <p:cNvSpPr/>
            <p:nvPr/>
          </p:nvSpPr>
          <p:spPr>
            <a:xfrm>
              <a:off x="2315838" y="1070000"/>
              <a:ext cx="3862537" cy="3862537"/>
            </a:xfrm>
            <a:custGeom>
              <a:avLst/>
              <a:gdLst>
                <a:gd name="connsiteX0" fmla="*/ 1931269 w 3862537"/>
                <a:gd name="connsiteY0" fmla="*/ 3862537 h 3862537"/>
                <a:gd name="connsiteX1" fmla="*/ 0 w 3862537"/>
                <a:gd name="connsiteY1" fmla="*/ 1931268 h 3862537"/>
                <a:gd name="connsiteX2" fmla="*/ 1931269 w 3862537"/>
                <a:gd name="connsiteY2" fmla="*/ 1931269 h 3862537"/>
                <a:gd name="connsiteX3" fmla="*/ 1931269 w 3862537"/>
                <a:gd name="connsiteY3" fmla="*/ 3862537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9" y="3862537"/>
                  </a:moveTo>
                  <a:cubicBezTo>
                    <a:pt x="864659" y="3862537"/>
                    <a:pt x="0" y="2997878"/>
                    <a:pt x="0" y="1931268"/>
                  </a:cubicBezTo>
                  <a:lnTo>
                    <a:pt x="1931269" y="1931269"/>
                  </a:lnTo>
                  <a:lnTo>
                    <a:pt x="1931269" y="3862537"/>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2113" tIns="2029781" rIns="2075764" bIns="825957" numCol="1" spcCol="1270" anchor="ctr" anchorCtr="0">
              <a:noAutofit/>
            </a:bodyPr>
            <a:lstStyle/>
            <a:p>
              <a:pPr lvl="0" algn="ctr" defTabSz="889000">
                <a:lnSpc>
                  <a:spcPct val="90000"/>
                </a:lnSpc>
                <a:spcBef>
                  <a:spcPct val="0"/>
                </a:spcBef>
                <a:spcAft>
                  <a:spcPct val="35000"/>
                </a:spcAft>
              </a:pPr>
              <a:endParaRPr lang="en-US" altLang="zh-CN" sz="2000" b="1" kern="1200" dirty="0" smtClean="0"/>
            </a:p>
            <a:p>
              <a:pPr algn="ctr" defTabSz="889000">
                <a:lnSpc>
                  <a:spcPct val="125000"/>
                </a:lnSpc>
                <a:spcBef>
                  <a:spcPct val="0"/>
                </a:spcBef>
                <a:spcAft>
                  <a:spcPct val="35000"/>
                </a:spcAft>
              </a:pPr>
              <a:endParaRPr lang="en-US" altLang="zh-CN" sz="2400" b="1" dirty="0"/>
            </a:p>
            <a:p>
              <a:pPr algn="ctr" defTabSz="889000">
                <a:lnSpc>
                  <a:spcPct val="114000"/>
                </a:lnSpc>
                <a:spcBef>
                  <a:spcPct val="0"/>
                </a:spcBef>
                <a:spcAft>
                  <a:spcPct val="35000"/>
                </a:spcAft>
              </a:pPr>
              <a:r>
                <a:rPr lang="zh-CN" altLang="en-US" sz="2400" b="1" dirty="0" smtClean="0"/>
                <a:t>每天</a:t>
              </a:r>
              <a:r>
                <a:rPr lang="zh-CN" altLang="en-US" sz="2400" b="1" dirty="0"/>
                <a:t>执行尽可能多的作业；</a:t>
              </a:r>
            </a:p>
            <a:p>
              <a:endParaRPr lang="zh-CN" altLang="en-US" sz="2000" dirty="0"/>
            </a:p>
          </p:txBody>
        </p:sp>
        <p:sp>
          <p:nvSpPr>
            <p:cNvPr id="8" name="任意多边形 7"/>
            <p:cNvSpPr/>
            <p:nvPr/>
          </p:nvSpPr>
          <p:spPr>
            <a:xfrm>
              <a:off x="2341871" y="976328"/>
              <a:ext cx="3862537" cy="3862537"/>
            </a:xfrm>
            <a:custGeom>
              <a:avLst/>
              <a:gdLst>
                <a:gd name="connsiteX0" fmla="*/ 0 w 3862537"/>
                <a:gd name="connsiteY0" fmla="*/ 1931269 h 3862537"/>
                <a:gd name="connsiteX1" fmla="*/ 1931269 w 3862537"/>
                <a:gd name="connsiteY1" fmla="*/ 0 h 3862537"/>
                <a:gd name="connsiteX2" fmla="*/ 1931269 w 3862537"/>
                <a:gd name="connsiteY2" fmla="*/ 1931269 h 3862537"/>
                <a:gd name="connsiteX3" fmla="*/ 0 w 3862537"/>
                <a:gd name="connsiteY3" fmla="*/ 1931269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0" y="1931269"/>
                  </a:moveTo>
                  <a:cubicBezTo>
                    <a:pt x="0" y="864659"/>
                    <a:pt x="864659" y="0"/>
                    <a:pt x="1931269" y="0"/>
                  </a:cubicBezTo>
                  <a:lnTo>
                    <a:pt x="1931269" y="1931269"/>
                  </a:lnTo>
                  <a:lnTo>
                    <a:pt x="0" y="19312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2114" tIns="825957" rIns="2075763" bIns="2029781" numCol="1" spcCol="1270" anchor="ctr" anchorCtr="0">
              <a:noAutofit/>
            </a:bodyPr>
            <a:lstStyle/>
            <a:p>
              <a:pPr algn="ctr" defTabSz="889000">
                <a:lnSpc>
                  <a:spcPct val="114000"/>
                </a:lnSpc>
                <a:spcBef>
                  <a:spcPct val="0"/>
                </a:spcBef>
                <a:spcAft>
                  <a:spcPct val="35000"/>
                </a:spcAft>
              </a:pPr>
              <a:r>
                <a:rPr lang="zh-CN" altLang="en-US" sz="2400" b="1" dirty="0"/>
                <a:t>有快的响应时间</a:t>
              </a:r>
            </a:p>
          </p:txBody>
        </p:sp>
        <p:sp>
          <p:nvSpPr>
            <p:cNvPr id="9" name="环形箭头 8"/>
            <p:cNvSpPr/>
            <p:nvPr/>
          </p:nvSpPr>
          <p:spPr>
            <a:xfrm>
              <a:off x="2232433" y="737218"/>
              <a:ext cx="4340756" cy="4340756"/>
            </a:xfrm>
            <a:prstGeom prst="circularArrow">
              <a:avLst>
                <a:gd name="adj1" fmla="val 5085"/>
                <a:gd name="adj2" fmla="val 327528"/>
                <a:gd name="adj3" fmla="val 21272472"/>
                <a:gd name="adj4" fmla="val 162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hueOff val="0"/>
                <a:satOff val="0"/>
                <a:lumOff val="0"/>
                <a:alphaOff val="0"/>
              </a:schemeClr>
            </a:fontRef>
          </p:style>
        </p:sp>
        <p:sp>
          <p:nvSpPr>
            <p:cNvPr id="10" name="环形箭头 9"/>
            <p:cNvSpPr/>
            <p:nvPr/>
          </p:nvSpPr>
          <p:spPr>
            <a:xfrm>
              <a:off x="2232433" y="866889"/>
              <a:ext cx="4340756" cy="4340756"/>
            </a:xfrm>
            <a:prstGeom prst="circularArrow">
              <a:avLst>
                <a:gd name="adj1" fmla="val 5085"/>
                <a:gd name="adj2" fmla="val 327528"/>
                <a:gd name="adj3" fmla="val 5072472"/>
                <a:gd name="adj4" fmla="val 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hueOff val="0"/>
                <a:satOff val="0"/>
                <a:lumOff val="0"/>
                <a:alphaOff val="0"/>
              </a:schemeClr>
            </a:fontRef>
          </p:style>
        </p:sp>
        <p:sp>
          <p:nvSpPr>
            <p:cNvPr id="11" name="环形箭头 10"/>
            <p:cNvSpPr/>
            <p:nvPr/>
          </p:nvSpPr>
          <p:spPr>
            <a:xfrm>
              <a:off x="2076728" y="830890"/>
              <a:ext cx="4340756" cy="4340756"/>
            </a:xfrm>
            <a:prstGeom prst="circularArrow">
              <a:avLst>
                <a:gd name="adj1" fmla="val 5085"/>
                <a:gd name="adj2" fmla="val 327528"/>
                <a:gd name="adj3" fmla="val 10472472"/>
                <a:gd name="adj4" fmla="val 54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hueOff val="0"/>
                <a:satOff val="0"/>
                <a:lumOff val="0"/>
                <a:alphaOff val="0"/>
              </a:schemeClr>
            </a:fontRef>
          </p:style>
        </p:sp>
        <p:sp>
          <p:nvSpPr>
            <p:cNvPr id="12" name="环形箭头 11"/>
            <p:cNvSpPr/>
            <p:nvPr/>
          </p:nvSpPr>
          <p:spPr>
            <a:xfrm>
              <a:off x="2102762" y="737218"/>
              <a:ext cx="4340756" cy="4340756"/>
            </a:xfrm>
            <a:prstGeom prst="circularArrow">
              <a:avLst>
                <a:gd name="adj1" fmla="val 5085"/>
                <a:gd name="adj2" fmla="val 327528"/>
                <a:gd name="adj3" fmla="val 15872472"/>
                <a:gd name="adj4" fmla="val 10800000"/>
                <a:gd name="adj5" fmla="val 5932"/>
              </a:avLst>
            </a:prstGeom>
            <a:scene3d>
              <a:camera prst="orthographicFront"/>
              <a:lightRig rig="flat" dir="t"/>
            </a:scene3d>
            <a:sp3d z="127000" prstMaterial="plastic">
              <a:bevelT w="50800" h="50800"/>
              <a:bevelB w="25400" h="2540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hueOff val="0"/>
                <a:satOff val="0"/>
                <a:lumOff val="0"/>
                <a:alphaOff val="0"/>
              </a:schemeClr>
            </a:fontRef>
          </p:style>
        </p:sp>
        <p:sp>
          <p:nvSpPr>
            <p:cNvPr id="5" name="任意多边形 4"/>
            <p:cNvSpPr/>
            <p:nvPr/>
          </p:nvSpPr>
          <p:spPr>
            <a:xfrm>
              <a:off x="2471542" y="976328"/>
              <a:ext cx="3862537" cy="3862537"/>
            </a:xfrm>
            <a:custGeom>
              <a:avLst/>
              <a:gdLst>
                <a:gd name="connsiteX0" fmla="*/ 1931268 w 3862537"/>
                <a:gd name="connsiteY0" fmla="*/ 0 h 3862537"/>
                <a:gd name="connsiteX1" fmla="*/ 3862537 w 3862537"/>
                <a:gd name="connsiteY1" fmla="*/ 1931269 h 3862537"/>
                <a:gd name="connsiteX2" fmla="*/ 1931269 w 3862537"/>
                <a:gd name="connsiteY2" fmla="*/ 1931269 h 3862537"/>
                <a:gd name="connsiteX3" fmla="*/ 1931268 w 3862537"/>
                <a:gd name="connsiteY3" fmla="*/ 0 h 3862537"/>
              </a:gdLst>
              <a:ahLst/>
              <a:cxnLst>
                <a:cxn ang="0">
                  <a:pos x="connsiteX0" y="connsiteY0"/>
                </a:cxn>
                <a:cxn ang="0">
                  <a:pos x="connsiteX1" y="connsiteY1"/>
                </a:cxn>
                <a:cxn ang="0">
                  <a:pos x="connsiteX2" y="connsiteY2"/>
                </a:cxn>
                <a:cxn ang="0">
                  <a:pos x="connsiteX3" y="connsiteY3"/>
                </a:cxn>
              </a:cxnLst>
              <a:rect l="l" t="t" r="r" b="b"/>
              <a:pathLst>
                <a:path w="3862537" h="3862537">
                  <a:moveTo>
                    <a:pt x="1931268" y="0"/>
                  </a:moveTo>
                  <a:cubicBezTo>
                    <a:pt x="2997878" y="0"/>
                    <a:pt x="3862537" y="864659"/>
                    <a:pt x="3862537" y="1931269"/>
                  </a:cubicBezTo>
                  <a:lnTo>
                    <a:pt x="1931269" y="1931269"/>
                  </a:lnTo>
                  <a:cubicBezTo>
                    <a:pt x="1931269" y="1287513"/>
                    <a:pt x="1931268" y="643756"/>
                    <a:pt x="1931268" y="0"/>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2075764" tIns="825957" rIns="412113" bIns="2029781" numCol="1" spcCol="1270" anchor="ctr" anchorCtr="0">
              <a:noAutofit/>
            </a:bodyPr>
            <a:lstStyle/>
            <a:p>
              <a:pPr algn="ctr" defTabSz="889000">
                <a:spcBef>
                  <a:spcPct val="0"/>
                </a:spcBef>
                <a:spcAft>
                  <a:spcPct val="35000"/>
                </a:spcAft>
              </a:pPr>
              <a:r>
                <a:rPr lang="zh-CN" altLang="en-US" sz="2400" b="1" dirty="0"/>
                <a:t>对所有作业应该是公平合理的</a:t>
              </a:r>
            </a:p>
          </p:txBody>
        </p:sp>
      </p:grpSp>
      <p:sp>
        <p:nvSpPr>
          <p:cNvPr id="2" name="矩形 1"/>
          <p:cNvSpPr/>
          <p:nvPr/>
        </p:nvSpPr>
        <p:spPr>
          <a:xfrm>
            <a:off x="4663994" y="1394235"/>
            <a:ext cx="3156481" cy="3117200"/>
          </a:xfrm>
          <a:prstGeom prst="rect">
            <a:avLst/>
          </a:prstGeom>
        </p:spPr>
        <p:txBody>
          <a:bodyPr wrap="square">
            <a:spAutoFit/>
          </a:bodyPr>
          <a:lstStyle/>
          <a:p>
            <a:pPr marL="0" lvl="1" algn="just">
              <a:lnSpc>
                <a:spcPct val="125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由于这些目标的相互冲突，任一调度算法要想同时满足上述目标是不可能</a:t>
            </a:r>
            <a:r>
              <a:rPr lang="zh-CN" altLang="en-US" sz="2000" b="1" dirty="0" smtClean="0">
                <a:solidFill>
                  <a:schemeClr val="bg1"/>
                </a:solidFill>
                <a:latin typeface="+mn-ea"/>
              </a:rPr>
              <a:t>的。</a:t>
            </a:r>
            <a:endParaRPr lang="en-US" altLang="zh-CN" sz="2000" b="1" dirty="0" smtClean="0">
              <a:solidFill>
                <a:schemeClr val="bg1"/>
              </a:solidFill>
              <a:latin typeface="+mn-ea"/>
            </a:endParaRPr>
          </a:p>
          <a:p>
            <a:pPr marL="0" lvl="1" algn="just">
              <a:lnSpc>
                <a:spcPct val="125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如果考虑的因素过多，调度算法就会变得非常复杂。其结果是系统开销增加，资源利用率下降。</a:t>
            </a:r>
            <a:endParaRPr lang="en-US" altLang="zh-CN" sz="2000" b="1" dirty="0">
              <a:solidFill>
                <a:schemeClr val="bg1"/>
              </a:solidFill>
              <a:latin typeface="+mn-ea"/>
            </a:endParaRPr>
          </a:p>
        </p:txBody>
      </p:sp>
    </p:spTree>
    <p:extLst>
      <p:ext uri="{BB962C8B-B14F-4D97-AF65-F5344CB8AC3E}">
        <p14:creationId xmlns:p14="http://schemas.microsoft.com/office/powerpoint/2010/main" val="348338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作业调度的目标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19622"/>
            <a:ext cx="6768752"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大多数操作系统都根据用户需要，采用兼顾某些目标的简单调度</a:t>
            </a:r>
            <a:r>
              <a:rPr lang="zh-CN" altLang="en-US" sz="2400" b="1" dirty="0" smtClean="0">
                <a:solidFill>
                  <a:schemeClr val="bg1"/>
                </a:solidFill>
                <a:latin typeface="+mn-ea"/>
              </a:rPr>
              <a:t>算法。</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不同的系统对调度目标的要求不尽相同。</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383158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作业调度的目标</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971600" y="1419622"/>
            <a:ext cx="6768752"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批处理系统</a:t>
            </a:r>
            <a:r>
              <a:rPr lang="zh-CN" altLang="en-US" sz="2400" b="1" dirty="0" smtClean="0">
                <a:solidFill>
                  <a:schemeClr val="bg1"/>
                </a:solidFill>
                <a:latin typeface="+mn-ea"/>
              </a:rPr>
              <a:t>：主要</a:t>
            </a:r>
            <a:r>
              <a:rPr lang="zh-CN" altLang="en-US" sz="2400" b="1" dirty="0">
                <a:solidFill>
                  <a:schemeClr val="bg1"/>
                </a:solidFill>
                <a:latin typeface="+mn-ea"/>
              </a:rPr>
              <a:t>用于</a:t>
            </a:r>
            <a:r>
              <a:rPr lang="zh-CN" altLang="en-US" sz="2400" b="1" dirty="0">
                <a:solidFill>
                  <a:srgbClr val="FFFF00"/>
                </a:solidFill>
                <a:latin typeface="+mn-ea"/>
              </a:rPr>
              <a:t>计算</a:t>
            </a:r>
            <a:r>
              <a:rPr lang="zh-CN" altLang="en-US" sz="2400" b="1" dirty="0">
                <a:solidFill>
                  <a:schemeClr val="bg1"/>
                </a:solidFill>
                <a:latin typeface="+mn-ea"/>
              </a:rPr>
              <a:t>，</a:t>
            </a:r>
            <a:r>
              <a:rPr lang="zh-CN" altLang="en-US" sz="2400" b="1" u="sng" dirty="0">
                <a:solidFill>
                  <a:srgbClr val="FFFF00"/>
                </a:solidFill>
                <a:latin typeface="+mn-ea"/>
              </a:rPr>
              <a:t>对于作业的周转时间要求较高</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作业</a:t>
            </a:r>
            <a:r>
              <a:rPr lang="zh-CN" altLang="en-US" sz="2400" b="1" dirty="0">
                <a:solidFill>
                  <a:schemeClr val="bg1"/>
                </a:solidFill>
                <a:latin typeface="+mn-ea"/>
              </a:rPr>
              <a:t>的</a:t>
            </a:r>
            <a:r>
              <a:rPr lang="zh-CN" altLang="en-US" sz="2400" b="1" dirty="0">
                <a:solidFill>
                  <a:srgbClr val="FFFF00"/>
                </a:solidFill>
                <a:latin typeface="+mn-ea"/>
              </a:rPr>
              <a:t>平均周转时间</a:t>
            </a:r>
            <a:r>
              <a:rPr lang="zh-CN" altLang="en-US" sz="2400" b="1" dirty="0">
                <a:solidFill>
                  <a:schemeClr val="bg1"/>
                </a:solidFill>
                <a:latin typeface="+mn-ea"/>
              </a:rPr>
              <a:t>或</a:t>
            </a:r>
            <a:r>
              <a:rPr lang="zh-CN" altLang="en-US" sz="2400" b="1" dirty="0">
                <a:solidFill>
                  <a:srgbClr val="FFFF00"/>
                </a:solidFill>
                <a:latin typeface="+mn-ea"/>
              </a:rPr>
              <a:t>平均带权周转时间</a:t>
            </a:r>
            <a:r>
              <a:rPr lang="zh-CN" altLang="en-US" sz="2400" b="1" dirty="0">
                <a:solidFill>
                  <a:schemeClr val="bg1"/>
                </a:solidFill>
                <a:latin typeface="+mn-ea"/>
              </a:rPr>
              <a:t>，被作为</a:t>
            </a:r>
            <a:r>
              <a:rPr lang="zh-CN" altLang="en-US" sz="2400" b="1" dirty="0">
                <a:solidFill>
                  <a:srgbClr val="FFFF00"/>
                </a:solidFill>
                <a:latin typeface="+mn-ea"/>
              </a:rPr>
              <a:t>衡量调度算法优劣的标准</a:t>
            </a:r>
            <a:r>
              <a:rPr lang="zh-CN" altLang="en-US" sz="2400" b="1" dirty="0" smtClean="0">
                <a:solidFill>
                  <a:schemeClr val="bg1"/>
                </a:solidFill>
                <a:latin typeface="+mn-ea"/>
              </a:rPr>
              <a:t>。</a:t>
            </a:r>
            <a:endParaRPr lang="en-US" altLang="zh-CN" sz="2400" b="1" dirty="0">
              <a:solidFill>
                <a:schemeClr val="bg1"/>
              </a:solidFill>
              <a:latin typeface="+mn-ea"/>
            </a:endParaRPr>
          </a:p>
        </p:txBody>
      </p:sp>
    </p:spTree>
    <p:extLst>
      <p:ext uri="{BB962C8B-B14F-4D97-AF65-F5344CB8AC3E}">
        <p14:creationId xmlns:p14="http://schemas.microsoft.com/office/powerpoint/2010/main" val="1162020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作业调度的目标</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173182"/>
            <a:ext cx="6768752" cy="3970318"/>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作业</a:t>
            </a:r>
            <a:r>
              <a:rPr lang="en-US" altLang="zh-CN" sz="2400" b="1" dirty="0" err="1">
                <a:solidFill>
                  <a:schemeClr val="bg1"/>
                </a:solidFill>
                <a:latin typeface="+mn-ea"/>
              </a:rPr>
              <a:t>i</a:t>
            </a:r>
            <a:r>
              <a:rPr lang="zh-CN" altLang="en-US" sz="2400" b="1" dirty="0">
                <a:solidFill>
                  <a:schemeClr val="bg1"/>
                </a:solidFill>
                <a:latin typeface="+mn-ea"/>
              </a:rPr>
              <a:t>的</a:t>
            </a:r>
            <a:r>
              <a:rPr lang="zh-CN" altLang="en-US" sz="2400" b="1" i="1" dirty="0" smtClean="0">
                <a:solidFill>
                  <a:srgbClr val="FFFF00"/>
                </a:solidFill>
                <a:latin typeface="+mn-ea"/>
              </a:rPr>
              <a:t>周转时间</a:t>
            </a:r>
            <a:r>
              <a:rPr lang="en-US" altLang="zh-CN" sz="2400" b="1" dirty="0" smtClean="0">
                <a:solidFill>
                  <a:srgbClr val="FFFF00"/>
                </a:solidFill>
                <a:latin typeface="+mn-ea"/>
              </a:rPr>
              <a:t>T</a:t>
            </a:r>
            <a:r>
              <a:rPr lang="en-US" altLang="zh-CN" sz="2400" b="1" baseline="-25000" dirty="0" smtClean="0">
                <a:solidFill>
                  <a:srgbClr val="FFFF00"/>
                </a:solidFill>
                <a:latin typeface="+mn-ea"/>
              </a:rPr>
              <a:t>i</a:t>
            </a:r>
            <a:r>
              <a:rPr lang="en-US" altLang="zh-CN" sz="2400" b="1" dirty="0" smtClean="0">
                <a:solidFill>
                  <a:srgbClr val="FFFF00"/>
                </a:solidFill>
                <a:latin typeface="+mn-ea"/>
              </a:rPr>
              <a:t>=</a:t>
            </a:r>
            <a:r>
              <a:rPr lang="en-US" altLang="zh-CN" sz="2400" b="1" dirty="0" err="1" smtClean="0">
                <a:solidFill>
                  <a:srgbClr val="FFFF00"/>
                </a:solidFill>
                <a:latin typeface="+mn-ea"/>
              </a:rPr>
              <a:t>T</a:t>
            </a:r>
            <a:r>
              <a:rPr lang="en-US" altLang="zh-CN" sz="2400" b="1" baseline="-25000" dirty="0" err="1">
                <a:solidFill>
                  <a:srgbClr val="FFFF00"/>
                </a:solidFill>
                <a:latin typeface="+mn-ea"/>
              </a:rPr>
              <a:t>ei</a:t>
            </a:r>
            <a:r>
              <a:rPr lang="en-US" altLang="zh-CN" sz="2400" b="1" dirty="0" err="1" smtClean="0">
                <a:solidFill>
                  <a:srgbClr val="FFFF00"/>
                </a:solidFill>
                <a:latin typeface="+mn-ea"/>
              </a:rPr>
              <a:t>-T</a:t>
            </a:r>
            <a:r>
              <a:rPr lang="en-US" altLang="zh-CN" sz="2400" b="1" baseline="-25000" dirty="0" err="1">
                <a:solidFill>
                  <a:srgbClr val="FFFF00"/>
                </a:solidFill>
                <a:latin typeface="+mn-ea"/>
              </a:rPr>
              <a:t>si</a:t>
            </a:r>
            <a:endParaRPr lang="en-US" altLang="zh-CN" sz="2400" b="1" baseline="-25000" dirty="0">
              <a:solidFill>
                <a:srgbClr val="FFFF00"/>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对于</a:t>
            </a:r>
            <a:r>
              <a:rPr lang="zh-CN" altLang="en-US" sz="2400" b="1" dirty="0">
                <a:solidFill>
                  <a:schemeClr val="bg1"/>
                </a:solidFill>
                <a:latin typeface="+mn-ea"/>
              </a:rPr>
              <a:t>被测定作业流所含有的</a:t>
            </a:r>
            <a:r>
              <a:rPr lang="en-US" altLang="zh-CN" sz="2400" b="1" dirty="0">
                <a:solidFill>
                  <a:schemeClr val="bg1"/>
                </a:solidFill>
                <a:latin typeface="+mn-ea"/>
              </a:rPr>
              <a:t>n</a:t>
            </a:r>
            <a:r>
              <a:rPr lang="zh-CN" altLang="en-US" sz="2400" b="1" dirty="0">
                <a:solidFill>
                  <a:schemeClr val="bg1"/>
                </a:solidFill>
                <a:latin typeface="+mn-ea"/>
              </a:rPr>
              <a:t>（</a:t>
            </a:r>
            <a:r>
              <a:rPr lang="en-US" altLang="zh-CN" sz="2400" b="1" dirty="0">
                <a:solidFill>
                  <a:schemeClr val="bg1"/>
                </a:solidFill>
                <a:latin typeface="+mn-ea"/>
              </a:rPr>
              <a:t>n&gt;=1</a:t>
            </a:r>
            <a:r>
              <a:rPr lang="zh-CN" altLang="en-US" sz="2400" b="1" dirty="0">
                <a:solidFill>
                  <a:schemeClr val="bg1"/>
                </a:solidFill>
                <a:latin typeface="+mn-ea"/>
              </a:rPr>
              <a:t>）个作业来说，其</a:t>
            </a:r>
            <a:r>
              <a:rPr lang="zh-CN" altLang="en-US" sz="2400" b="1" dirty="0">
                <a:solidFill>
                  <a:srgbClr val="FFFF00"/>
                </a:solidFill>
                <a:latin typeface="+mn-ea"/>
              </a:rPr>
              <a:t>平均周转时间</a:t>
            </a:r>
            <a:r>
              <a:rPr lang="zh-CN" altLang="en-US" sz="2400" b="1" dirty="0">
                <a:solidFill>
                  <a:schemeClr val="bg1"/>
                </a:solidFill>
                <a:latin typeface="+mn-ea"/>
              </a:rPr>
              <a:t>为</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一个作业的</a:t>
            </a:r>
            <a:r>
              <a:rPr lang="zh-CN" altLang="en-US" sz="2400" b="1" dirty="0">
                <a:solidFill>
                  <a:srgbClr val="FFFF00"/>
                </a:solidFill>
                <a:latin typeface="+mn-ea"/>
              </a:rPr>
              <a:t>周转时间</a:t>
            </a:r>
            <a:r>
              <a:rPr lang="zh-CN" altLang="en-US" sz="2400" b="1" dirty="0">
                <a:solidFill>
                  <a:schemeClr val="bg1"/>
                </a:solidFill>
                <a:latin typeface="+mn-ea"/>
              </a:rPr>
              <a:t>说明了该作业在系统内停留的时间，包含两部分：</a:t>
            </a:r>
            <a:r>
              <a:rPr lang="zh-CN" altLang="en-US" sz="2400" b="1" dirty="0" smtClean="0">
                <a:solidFill>
                  <a:srgbClr val="FFFF00"/>
                </a:solidFill>
                <a:latin typeface="+mn-ea"/>
              </a:rPr>
              <a:t>等待时间</a:t>
            </a:r>
            <a:r>
              <a:rPr lang="zh-CN" altLang="en-US" sz="2400" b="1" dirty="0" smtClean="0">
                <a:solidFill>
                  <a:schemeClr val="bg1"/>
                </a:solidFill>
                <a:latin typeface="+mn-ea"/>
              </a:rPr>
              <a:t>和</a:t>
            </a:r>
            <a:r>
              <a:rPr lang="zh-CN" altLang="en-US" sz="2400" b="1" dirty="0" smtClean="0">
                <a:solidFill>
                  <a:srgbClr val="FFFF00"/>
                </a:solidFill>
                <a:latin typeface="+mn-ea"/>
              </a:rPr>
              <a:t>执行时间</a:t>
            </a:r>
            <a:r>
              <a:rPr lang="zh-CN" altLang="en-US" sz="2400" b="1" dirty="0">
                <a:solidFill>
                  <a:schemeClr val="bg1"/>
                </a:solidFill>
                <a:latin typeface="+mn-ea"/>
              </a:rPr>
              <a:t>，即</a:t>
            </a:r>
            <a:r>
              <a:rPr lang="zh-CN" altLang="en-US" sz="2400" b="1" dirty="0" smtClean="0">
                <a:solidFill>
                  <a:schemeClr val="bg1"/>
                </a:solidFill>
                <a:latin typeface="+mn-ea"/>
              </a:rPr>
              <a:t>：</a:t>
            </a:r>
            <a:r>
              <a:rPr lang="zh-CN" altLang="en-US" sz="2400" b="1" dirty="0">
                <a:solidFill>
                  <a:schemeClr val="bg1"/>
                </a:solidFill>
                <a:latin typeface="+mn-ea"/>
              </a:rPr>
              <a:t>	</a:t>
            </a:r>
            <a:r>
              <a:rPr lang="en-US" altLang="zh-CN" sz="2400" b="1" dirty="0">
                <a:solidFill>
                  <a:srgbClr val="FFFF00"/>
                </a:solidFill>
                <a:latin typeface="+mn-ea"/>
              </a:rPr>
              <a:t>T</a:t>
            </a:r>
            <a:r>
              <a:rPr lang="en-US" altLang="zh-CN" sz="2400" b="1" baseline="-25000" dirty="0">
                <a:solidFill>
                  <a:srgbClr val="FFFF00"/>
                </a:solidFill>
                <a:latin typeface="+mn-ea"/>
              </a:rPr>
              <a:t>i</a:t>
            </a:r>
            <a:r>
              <a:rPr lang="en-US" altLang="zh-CN" sz="2400" b="1" dirty="0">
                <a:solidFill>
                  <a:srgbClr val="FFFF00"/>
                </a:solidFill>
                <a:latin typeface="+mn-ea"/>
              </a:rPr>
              <a:t>=T</a:t>
            </a:r>
            <a:r>
              <a:rPr lang="en-US" altLang="zh-CN" sz="2400" b="1" baseline="-25000" dirty="0">
                <a:solidFill>
                  <a:srgbClr val="FFFF00"/>
                </a:solidFill>
                <a:latin typeface="+mn-ea"/>
              </a:rPr>
              <a:t>wi</a:t>
            </a:r>
            <a:r>
              <a:rPr lang="zh-CN" altLang="en-US" sz="2400" b="1" dirty="0">
                <a:solidFill>
                  <a:srgbClr val="FFFF00"/>
                </a:solidFill>
                <a:latin typeface="+mn-ea"/>
              </a:rPr>
              <a:t>＋</a:t>
            </a:r>
            <a:r>
              <a:rPr lang="en-US" altLang="zh-CN" sz="2400" b="1" dirty="0">
                <a:solidFill>
                  <a:srgbClr val="FFFF00"/>
                </a:solidFill>
                <a:latin typeface="+mn-ea"/>
              </a:rPr>
              <a:t>T</a:t>
            </a:r>
            <a:r>
              <a:rPr lang="en-US" altLang="zh-CN" sz="2400" b="1" baseline="-25000" dirty="0">
                <a:solidFill>
                  <a:srgbClr val="FFFF00"/>
                </a:solidFill>
                <a:latin typeface="+mn-ea"/>
              </a:rPr>
              <a:t>ri</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3" name="线形标注 1 2"/>
          <p:cNvSpPr/>
          <p:nvPr/>
        </p:nvSpPr>
        <p:spPr>
          <a:xfrm>
            <a:off x="5004048" y="332559"/>
            <a:ext cx="2592288" cy="511548"/>
          </a:xfrm>
          <a:prstGeom prst="borderCallout1">
            <a:avLst>
              <a:gd name="adj1" fmla="val 18750"/>
              <a:gd name="adj2" fmla="val -8333"/>
              <a:gd name="adj3" fmla="val 191334"/>
              <a:gd name="adj4" fmla="val -39741"/>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err="1">
                <a:solidFill>
                  <a:schemeClr val="tx1"/>
                </a:solidFill>
                <a:latin typeface="+mn-ea"/>
              </a:rPr>
              <a:t>T</a:t>
            </a:r>
            <a:r>
              <a:rPr lang="en-US" altLang="zh-CN" b="1" baseline="-25000" dirty="0" err="1">
                <a:solidFill>
                  <a:schemeClr val="tx1"/>
                </a:solidFill>
                <a:latin typeface="+mn-ea"/>
              </a:rPr>
              <a:t>ei</a:t>
            </a:r>
            <a:r>
              <a:rPr lang="zh-CN" altLang="en-US" b="1" dirty="0">
                <a:solidFill>
                  <a:schemeClr val="tx1"/>
                </a:solidFill>
                <a:latin typeface="+mn-ea"/>
              </a:rPr>
              <a:t>为作业</a:t>
            </a:r>
            <a:r>
              <a:rPr lang="en-US" altLang="zh-CN" b="1" dirty="0" err="1">
                <a:solidFill>
                  <a:schemeClr val="tx1"/>
                </a:solidFill>
                <a:latin typeface="+mn-ea"/>
              </a:rPr>
              <a:t>i</a:t>
            </a:r>
            <a:r>
              <a:rPr lang="zh-CN" altLang="en-US" b="1" dirty="0">
                <a:solidFill>
                  <a:schemeClr val="tx1"/>
                </a:solidFill>
                <a:latin typeface="+mn-ea"/>
              </a:rPr>
              <a:t>的完成时间</a:t>
            </a:r>
            <a:endParaRPr lang="zh-CN" altLang="en-US" dirty="0">
              <a:solidFill>
                <a:schemeClr val="tx1"/>
              </a:solidFill>
            </a:endParaRPr>
          </a:p>
        </p:txBody>
      </p:sp>
      <p:sp>
        <p:nvSpPr>
          <p:cNvPr id="29" name="线形标注 1 28"/>
          <p:cNvSpPr/>
          <p:nvPr/>
        </p:nvSpPr>
        <p:spPr>
          <a:xfrm>
            <a:off x="5094910" y="999860"/>
            <a:ext cx="2520280" cy="431753"/>
          </a:xfrm>
          <a:prstGeom prst="borderCallout1">
            <a:avLst>
              <a:gd name="adj1" fmla="val 18750"/>
              <a:gd name="adj2" fmla="val -8333"/>
              <a:gd name="adj3" fmla="val 98086"/>
              <a:gd name="adj4" fmla="val -20755"/>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b="1" dirty="0" err="1">
                <a:solidFill>
                  <a:schemeClr val="tx1"/>
                </a:solidFill>
                <a:latin typeface="+mn-ea"/>
              </a:rPr>
              <a:t>T</a:t>
            </a:r>
            <a:r>
              <a:rPr lang="en-US" altLang="zh-CN" b="1" baseline="-25000" dirty="0" err="1">
                <a:solidFill>
                  <a:schemeClr val="tx1"/>
                </a:solidFill>
                <a:latin typeface="+mn-ea"/>
              </a:rPr>
              <a:t>si</a:t>
            </a:r>
            <a:r>
              <a:rPr lang="zh-CN" altLang="en-US" b="1" dirty="0">
                <a:solidFill>
                  <a:schemeClr val="tx1"/>
                </a:solidFill>
                <a:latin typeface="+mn-ea"/>
              </a:rPr>
              <a:t>为作业的提交时间</a:t>
            </a:r>
            <a:endParaRPr lang="zh-CN" altLang="en-US" dirty="0">
              <a:solidFill>
                <a:schemeClr val="tx1"/>
              </a:solidFill>
            </a:endParaRPr>
          </a:p>
        </p:txBody>
      </p:sp>
      <p:pic>
        <p:nvPicPr>
          <p:cNvPr id="4" name="图片 3"/>
          <p:cNvPicPr>
            <a:picLocks noChangeAspect="1"/>
          </p:cNvPicPr>
          <p:nvPr/>
        </p:nvPicPr>
        <p:blipFill>
          <a:blip r:embed="rId3"/>
          <a:stretch>
            <a:fillRect/>
          </a:stretch>
        </p:blipFill>
        <p:spPr>
          <a:xfrm>
            <a:off x="4266235" y="2275225"/>
            <a:ext cx="1657350" cy="581025"/>
          </a:xfrm>
          <a:prstGeom prst="rect">
            <a:avLst/>
          </a:prstGeom>
        </p:spPr>
      </p:pic>
      <p:sp>
        <p:nvSpPr>
          <p:cNvPr id="31" name="线形标注 1 30"/>
          <p:cNvSpPr/>
          <p:nvPr/>
        </p:nvSpPr>
        <p:spPr>
          <a:xfrm>
            <a:off x="3409109" y="3029572"/>
            <a:ext cx="3683172" cy="928721"/>
          </a:xfrm>
          <a:prstGeom prst="borderCallout1">
            <a:avLst>
              <a:gd name="adj1" fmla="val 18750"/>
              <a:gd name="adj2" fmla="val -8333"/>
              <a:gd name="adj3" fmla="val 119956"/>
              <a:gd name="adj4" fmla="val -27323"/>
            </a:avLst>
          </a:prstGeom>
          <a:ln w="28575"/>
        </p:spPr>
        <p:style>
          <a:lnRef idx="1">
            <a:schemeClr val="accent2"/>
          </a:lnRef>
          <a:fillRef idx="2">
            <a:schemeClr val="accent2"/>
          </a:fillRef>
          <a:effectRef idx="1">
            <a:schemeClr val="accent2"/>
          </a:effectRef>
          <a:fontRef idx="minor">
            <a:schemeClr val="dk1"/>
          </a:fontRef>
        </p:style>
        <p:txBody>
          <a:bodyPr rtlCol="0" anchor="ctr"/>
          <a:lstStyle/>
          <a:p>
            <a:r>
              <a:rPr lang="en-US" altLang="zh-CN" b="1" dirty="0"/>
              <a:t>T</a:t>
            </a:r>
            <a:r>
              <a:rPr lang="en-US" altLang="zh-CN" b="1" baseline="-25000" dirty="0"/>
              <a:t>wi</a:t>
            </a:r>
            <a:r>
              <a:rPr lang="zh-CN" altLang="en-US" b="1" dirty="0"/>
              <a:t>主要指作业</a:t>
            </a:r>
            <a:r>
              <a:rPr lang="en-US" altLang="zh-CN" b="1" dirty="0" err="1"/>
              <a:t>i</a:t>
            </a:r>
            <a:r>
              <a:rPr lang="zh-CN" altLang="en-US" b="1" dirty="0"/>
              <a:t>由后备状态到执行状态的等待时间，它不包括作业进入执行状态后的等待时间。</a:t>
            </a:r>
          </a:p>
        </p:txBody>
      </p:sp>
    </p:spTree>
    <p:extLst>
      <p:ext uri="{BB962C8B-B14F-4D97-AF65-F5344CB8AC3E}">
        <p14:creationId xmlns:p14="http://schemas.microsoft.com/office/powerpoint/2010/main" val="1758913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left)">
                                      <p:cBhvr>
                                        <p:cTn id="22" dur="500"/>
                                        <p:tgtEl>
                                          <p:spTgt spid="2">
                                            <p:txEl>
                                              <p:pRg st="1" end="1"/>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wipe(left)">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591106"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作业调度的目标</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批处理系统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44876"/>
            <a:ext cx="6768752" cy="286232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作业</a:t>
            </a:r>
            <a:r>
              <a:rPr lang="zh-CN" altLang="en-US" sz="2400" b="1" dirty="0" smtClean="0">
                <a:solidFill>
                  <a:schemeClr val="bg1"/>
                </a:solidFill>
                <a:latin typeface="+mn-ea"/>
              </a:rPr>
              <a:t>的</a:t>
            </a:r>
            <a:r>
              <a:rPr lang="zh-CN" altLang="en-US" sz="2400" b="1" i="1" dirty="0" smtClean="0">
                <a:solidFill>
                  <a:srgbClr val="FFFF00"/>
                </a:solidFill>
                <a:latin typeface="+mn-ea"/>
              </a:rPr>
              <a:t>带</a:t>
            </a:r>
            <a:r>
              <a:rPr lang="zh-CN" altLang="en-US" sz="2400" b="1" i="1" dirty="0">
                <a:solidFill>
                  <a:srgbClr val="FFFF00"/>
                </a:solidFill>
                <a:latin typeface="+mn-ea"/>
              </a:rPr>
              <a:t>权</a:t>
            </a:r>
            <a:r>
              <a:rPr lang="zh-CN" altLang="en-US" sz="2400" b="1" i="1" dirty="0" smtClean="0">
                <a:solidFill>
                  <a:srgbClr val="FFFF00"/>
                </a:solidFill>
                <a:latin typeface="+mn-ea"/>
              </a:rPr>
              <a:t>周转时间</a:t>
            </a:r>
            <a:r>
              <a:rPr lang="zh-CN" altLang="en-US" sz="2400" b="1" dirty="0" smtClean="0">
                <a:solidFill>
                  <a:schemeClr val="bg1"/>
                </a:solidFill>
                <a:latin typeface="+mn-ea"/>
              </a:rPr>
              <a:t>：是</a:t>
            </a:r>
            <a:r>
              <a:rPr lang="zh-CN" altLang="en-US" sz="2400" b="1" dirty="0">
                <a:solidFill>
                  <a:schemeClr val="bg1"/>
                </a:solidFill>
                <a:latin typeface="+mn-ea"/>
              </a:rPr>
              <a:t>作业</a:t>
            </a:r>
            <a:r>
              <a:rPr lang="zh-CN" altLang="en-US" sz="2400" b="1" dirty="0">
                <a:solidFill>
                  <a:srgbClr val="FFFF00"/>
                </a:solidFill>
                <a:latin typeface="+mn-ea"/>
              </a:rPr>
              <a:t>周转时间</a:t>
            </a:r>
            <a:r>
              <a:rPr lang="zh-CN" altLang="en-US" sz="2400" b="1" dirty="0">
                <a:solidFill>
                  <a:schemeClr val="bg1"/>
                </a:solidFill>
                <a:latin typeface="+mn-ea"/>
              </a:rPr>
              <a:t>与</a:t>
            </a:r>
            <a:r>
              <a:rPr lang="zh-CN" altLang="en-US" sz="2400" b="1" dirty="0">
                <a:solidFill>
                  <a:srgbClr val="FFFF00"/>
                </a:solidFill>
                <a:latin typeface="+mn-ea"/>
              </a:rPr>
              <a:t>作业执行时间</a:t>
            </a:r>
            <a:r>
              <a:rPr lang="zh-CN" altLang="en-US" sz="2400" b="1" dirty="0">
                <a:solidFill>
                  <a:schemeClr val="bg1"/>
                </a:solidFill>
                <a:latin typeface="+mn-ea"/>
              </a:rPr>
              <a:t>的</a:t>
            </a:r>
            <a:r>
              <a:rPr lang="zh-CN" altLang="en-US" sz="2400" b="1" dirty="0">
                <a:solidFill>
                  <a:srgbClr val="FFFF00"/>
                </a:solidFill>
                <a:latin typeface="+mn-ea"/>
              </a:rPr>
              <a:t>比</a:t>
            </a:r>
            <a:r>
              <a:rPr lang="zh-CN" altLang="en-US" sz="2400" b="1" dirty="0" smtClean="0">
                <a:solidFill>
                  <a:schemeClr val="bg1"/>
                </a:solidFill>
                <a:latin typeface="+mn-ea"/>
              </a:rPr>
              <a:t>：</a:t>
            </a:r>
            <a:r>
              <a:rPr lang="en-US" altLang="zh-CN" sz="2400" b="1" dirty="0" smtClean="0">
                <a:solidFill>
                  <a:schemeClr val="bg1"/>
                </a:solidFill>
                <a:latin typeface="+mn-ea"/>
              </a:rPr>
              <a:t>W</a:t>
            </a:r>
            <a:r>
              <a:rPr lang="en-US" altLang="zh-CN" sz="2400" b="1" baseline="-25000" dirty="0" smtClean="0">
                <a:solidFill>
                  <a:schemeClr val="bg1"/>
                </a:solidFill>
                <a:latin typeface="+mn-ea"/>
              </a:rPr>
              <a:t>i</a:t>
            </a:r>
            <a:r>
              <a:rPr lang="en-US" altLang="zh-CN" sz="2400" b="1" dirty="0" smtClean="0">
                <a:solidFill>
                  <a:schemeClr val="bg1"/>
                </a:solidFill>
                <a:latin typeface="+mn-ea"/>
              </a:rPr>
              <a:t>=T</a:t>
            </a:r>
            <a:r>
              <a:rPr lang="en-US" altLang="zh-CN" sz="2400" b="1" baseline="-25000" dirty="0" smtClean="0">
                <a:solidFill>
                  <a:schemeClr val="bg1"/>
                </a:solidFill>
                <a:latin typeface="+mn-ea"/>
              </a:rPr>
              <a:t>i</a:t>
            </a:r>
            <a:r>
              <a:rPr lang="en-US" altLang="zh-CN" sz="2400" b="1" dirty="0" smtClean="0">
                <a:solidFill>
                  <a:schemeClr val="bg1"/>
                </a:solidFill>
                <a:latin typeface="+mn-ea"/>
              </a:rPr>
              <a:t>/T</a:t>
            </a:r>
            <a:r>
              <a:rPr lang="en-US" altLang="zh-CN" sz="2400" b="1" baseline="-25000" dirty="0" smtClean="0">
                <a:solidFill>
                  <a:schemeClr val="bg1"/>
                </a:solidFill>
                <a:latin typeface="+mn-ea"/>
              </a:rPr>
              <a:t>ri</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对于被测定作业流所含有的几个作业来说，其</a:t>
            </a:r>
            <a:r>
              <a:rPr lang="zh-CN" altLang="en-US" sz="2400" b="1" dirty="0">
                <a:solidFill>
                  <a:srgbClr val="FFFF00"/>
                </a:solidFill>
                <a:latin typeface="+mn-ea"/>
              </a:rPr>
              <a:t>平均带权周转时间</a:t>
            </a:r>
            <a:r>
              <a:rPr lang="zh-CN" altLang="en-US" sz="2400" b="1" dirty="0" smtClean="0">
                <a:solidFill>
                  <a:schemeClr val="bg1"/>
                </a:solidFill>
                <a:latin typeface="+mn-ea"/>
              </a:rPr>
              <a:t>为：</a:t>
            </a:r>
            <a:endParaRPr lang="en-US" altLang="zh-CN" sz="2400" b="1" dirty="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5" name="图片 4"/>
          <p:cNvPicPr>
            <a:picLocks noChangeAspect="1"/>
          </p:cNvPicPr>
          <p:nvPr/>
        </p:nvPicPr>
        <p:blipFill>
          <a:blip r:embed="rId3"/>
          <a:stretch>
            <a:fillRect/>
          </a:stretch>
        </p:blipFill>
        <p:spPr>
          <a:xfrm>
            <a:off x="3923928" y="3003798"/>
            <a:ext cx="1733550" cy="619125"/>
          </a:xfrm>
          <a:prstGeom prst="rect">
            <a:avLst/>
          </a:prstGeom>
        </p:spPr>
      </p:pic>
    </p:spTree>
    <p:extLst>
      <p:ext uri="{BB962C8B-B14F-4D97-AF65-F5344CB8AC3E}">
        <p14:creationId xmlns:p14="http://schemas.microsoft.com/office/powerpoint/2010/main" val="9159067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17528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分时、实时系统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30224"/>
            <a:ext cx="7056784"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分时系统</a:t>
            </a:r>
            <a:r>
              <a:rPr lang="zh-CN" altLang="en-US" sz="2400" b="1" dirty="0">
                <a:solidFill>
                  <a:schemeClr val="bg1"/>
                </a:solidFill>
                <a:latin typeface="+mn-ea"/>
              </a:rPr>
              <a:t>和</a:t>
            </a:r>
            <a:r>
              <a:rPr lang="zh-CN" altLang="en-US" sz="2400" b="1" dirty="0" smtClean="0">
                <a:solidFill>
                  <a:schemeClr val="bg1"/>
                </a:solidFill>
                <a:latin typeface="+mn-ea"/>
              </a:rPr>
              <a:t>实时系统，</a:t>
            </a:r>
            <a:r>
              <a:rPr lang="zh-CN" altLang="en-US" sz="2400" b="1" dirty="0">
                <a:solidFill>
                  <a:schemeClr val="bg1"/>
                </a:solidFill>
                <a:latin typeface="+mn-ea"/>
              </a:rPr>
              <a:t>除了要保证系统吞吐量大、资源利用率高之外，还应保证有用户能够容忍的</a:t>
            </a:r>
            <a:r>
              <a:rPr lang="zh-CN" altLang="en-US" sz="2400" b="1" dirty="0" smtClean="0">
                <a:solidFill>
                  <a:schemeClr val="bg1"/>
                </a:solidFill>
                <a:latin typeface="+mn-ea"/>
              </a:rPr>
              <a:t>响应时间。因此采用</a:t>
            </a:r>
            <a:r>
              <a:rPr lang="zh-CN" altLang="en-US" sz="2400" b="1" dirty="0" smtClean="0">
                <a:solidFill>
                  <a:srgbClr val="FFFF00"/>
                </a:solidFill>
                <a:latin typeface="+mn-ea"/>
              </a:rPr>
              <a:t>平均</a:t>
            </a:r>
            <a:r>
              <a:rPr lang="zh-CN" altLang="en-US" sz="2400" b="1" dirty="0">
                <a:solidFill>
                  <a:srgbClr val="FFFF00"/>
                </a:solidFill>
                <a:latin typeface="+mn-ea"/>
              </a:rPr>
              <a:t>响应时间</a:t>
            </a:r>
            <a:r>
              <a:rPr lang="zh-CN" altLang="en-US" sz="2400" b="1" dirty="0">
                <a:solidFill>
                  <a:schemeClr val="bg1"/>
                </a:solidFill>
                <a:latin typeface="+mn-ea"/>
              </a:rPr>
              <a:t>被作为衡量调度策略优劣的标准。</a:t>
            </a:r>
            <a:endParaRPr lang="en-US" altLang="zh-CN" sz="2400" b="1" dirty="0">
              <a:solidFill>
                <a:schemeClr val="bg1"/>
              </a:solidFill>
              <a:latin typeface="+mn-ea"/>
            </a:endParaRPr>
          </a:p>
        </p:txBody>
      </p:sp>
    </p:spTree>
    <p:extLst>
      <p:ext uri="{BB962C8B-B14F-4D97-AF65-F5344CB8AC3E}">
        <p14:creationId xmlns:p14="http://schemas.microsoft.com/office/powerpoint/2010/main" val="22832027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分级调度</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作业调度</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进程调度</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zh-CN" altLang="en-US" b="1" dirty="0" smtClean="0">
                  <a:solidFill>
                    <a:srgbClr val="000000"/>
                  </a:solidFill>
                </a:rPr>
                <a:t>调度算法及算法评价</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实时系统调度算法</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99628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150000" y="150000"/>
                                    </p:animScale>
                                  </p:childTnLst>
                                </p:cTn>
                              </p:par>
                              <p:par>
                                <p:cTn id="7" presetID="10" presetClass="exit" presetSubtype="0" fill="hold" nodeType="withEffect">
                                  <p:stCondLst>
                                    <p:cond delay="0"/>
                                  </p:stCondLst>
                                  <p:childTnLst>
                                    <p:animEffect transition="out" filter="fade">
                                      <p:cBhvr>
                                        <p:cTn id="8" dur="2000"/>
                                        <p:tgtEl>
                                          <p:spTgt spid="27"/>
                                        </p:tgtEl>
                                      </p:cBhvr>
                                    </p:animEffect>
                                    <p:set>
                                      <p:cBhvr>
                                        <p:cTn id="9" dur="1" fill="hold">
                                          <p:stCondLst>
                                            <p:cond delay="1999"/>
                                          </p:stCondLst>
                                        </p:cTn>
                                        <p:tgtEl>
                                          <p:spTgt spid="27"/>
                                        </p:tgtEl>
                                        <p:attrNameLst>
                                          <p:attrName>style.visibility</p:attrName>
                                        </p:attrNameLst>
                                      </p:cBhvr>
                                      <p:to>
                                        <p:strVal val="hidden"/>
                                      </p:to>
                                    </p:set>
                                  </p:childTnLst>
                                </p:cTn>
                              </p:par>
                              <p:par>
                                <p:cTn id="10" presetID="10" presetClass="exit" presetSubtype="0" fill="hold" nodeType="withEffect">
                                  <p:stCondLst>
                                    <p:cond delay="0"/>
                                  </p:stCondLst>
                                  <p:childTnLst>
                                    <p:animEffect transition="out" filter="fade">
                                      <p:cBhvr>
                                        <p:cTn id="11" dur="2000"/>
                                        <p:tgtEl>
                                          <p:spTgt spid="32"/>
                                        </p:tgtEl>
                                      </p:cBhvr>
                                    </p:animEffect>
                                    <p:set>
                                      <p:cBhvr>
                                        <p:cTn id="12" dur="1" fill="hold">
                                          <p:stCondLst>
                                            <p:cond delay="1999"/>
                                          </p:stCondLst>
                                        </p:cTn>
                                        <p:tgtEl>
                                          <p:spTgt spid="32"/>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000"/>
                                        <p:tgtEl>
                                          <p:spTgt spid="11"/>
                                        </p:tgtEl>
                                      </p:cBhvr>
                                    </p:animEffect>
                                    <p:set>
                                      <p:cBhvr>
                                        <p:cTn id="15" dur="1" fill="hold">
                                          <p:stCondLst>
                                            <p:cond delay="1999"/>
                                          </p:stCondLst>
                                        </p:cTn>
                                        <p:tgtEl>
                                          <p:spTgt spid="11"/>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2000"/>
                                        <p:tgtEl>
                                          <p:spTgt spid="16"/>
                                        </p:tgtEl>
                                      </p:cBhvr>
                                    </p:animEffect>
                                    <p:set>
                                      <p:cBhvr>
                                        <p:cTn id="18"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进程调度的功能</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190282" y="699308"/>
            <a:ext cx="3491372" cy="4269115"/>
            <a:chOff x="987631" y="172359"/>
            <a:chExt cx="2424659" cy="3650067"/>
          </a:xfrm>
        </p:grpSpPr>
        <p:sp>
          <p:nvSpPr>
            <p:cNvPr id="30" name="任意多边形 29"/>
            <p:cNvSpPr/>
            <p:nvPr/>
          </p:nvSpPr>
          <p:spPr>
            <a:xfrm>
              <a:off x="1009152" y="172359"/>
              <a:ext cx="2259708" cy="2956746"/>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nSpc>
                  <a:spcPct val="90000"/>
                </a:lnSpc>
                <a:spcBef>
                  <a:spcPct val="0"/>
                </a:spcBef>
                <a:spcAft>
                  <a:spcPct val="15000"/>
                </a:spcAft>
                <a:buChar char="••"/>
              </a:pPr>
              <a:r>
                <a:rPr lang="zh-CN" altLang="en-US" sz="2000" b="1" dirty="0"/>
                <a:t>将系统中各进程的执行情况和状态特征记录在各进程的</a:t>
              </a:r>
              <a:r>
                <a:rPr lang="en-US" altLang="zh-CN" sz="2000" b="1" dirty="0"/>
                <a:t>PCB</a:t>
              </a:r>
              <a:r>
                <a:rPr lang="zh-CN" altLang="en-US" sz="2000" b="1" dirty="0"/>
                <a:t>表中。并且，进程管理模式根据各进程的状态特征和资源需求，将各进程的</a:t>
              </a:r>
              <a:r>
                <a:rPr lang="en-US" altLang="zh-CN" sz="2000" b="1" dirty="0"/>
                <a:t>PCB</a:t>
              </a:r>
              <a:r>
                <a:rPr lang="zh-CN" altLang="en-US" sz="2000" b="1" dirty="0"/>
                <a:t>表排成相应的队列并进行动态队列转接。进程调度模块通过</a:t>
              </a:r>
              <a:r>
                <a:rPr lang="en-US" altLang="zh-CN" sz="2000" b="1" dirty="0"/>
                <a:t>PCB</a:t>
              </a:r>
              <a:r>
                <a:rPr lang="zh-CN" altLang="en-US" sz="2000" b="1" dirty="0"/>
                <a:t>变化来掌握系统中所有进程的执行情况和状态特征，并在适当的时机从就绪队列中选择出一个进程占据处理机。</a:t>
              </a:r>
            </a:p>
          </p:txBody>
        </p:sp>
        <p:sp>
          <p:nvSpPr>
            <p:cNvPr id="31" name="任意多边形 30"/>
            <p:cNvSpPr/>
            <p:nvPr/>
          </p:nvSpPr>
          <p:spPr>
            <a:xfrm>
              <a:off x="987631" y="3128431"/>
              <a:ext cx="2281230"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记录系统中所有进程的执行情况</a:t>
              </a:r>
            </a:p>
          </p:txBody>
        </p:sp>
        <p:sp>
          <p:nvSpPr>
            <p:cNvPr id="32" name="椭圆 31"/>
            <p:cNvSpPr/>
            <p:nvPr/>
          </p:nvSpPr>
          <p:spPr>
            <a:xfrm>
              <a:off x="2826232" y="3128431"/>
              <a:ext cx="586058"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3635896" y="94934"/>
            <a:ext cx="2564578" cy="2965494"/>
            <a:chOff x="3306020" y="1455858"/>
            <a:chExt cx="2146456" cy="2486733"/>
          </a:xfrm>
        </p:grpSpPr>
        <p:sp>
          <p:nvSpPr>
            <p:cNvPr id="34" name="任意多边形 33"/>
            <p:cNvSpPr/>
            <p:nvPr/>
          </p:nvSpPr>
          <p:spPr>
            <a:xfrm>
              <a:off x="3306020" y="1455858"/>
              <a:ext cx="1982844" cy="1808628"/>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nSpc>
                  <a:spcPct val="90000"/>
                </a:lnSpc>
                <a:spcBef>
                  <a:spcPct val="0"/>
                </a:spcBef>
                <a:spcAft>
                  <a:spcPct val="15000"/>
                </a:spcAft>
                <a:buChar char="••"/>
              </a:pPr>
              <a:r>
                <a:rPr lang="zh-CN" altLang="en-US" sz="2000" b="1" dirty="0"/>
                <a:t>按照一定的策略选择一个处于就绪状态的进程，使其获得处理机执行。根据不同的系统设计目的，有各种各样的选择策略</a:t>
              </a:r>
            </a:p>
          </p:txBody>
        </p:sp>
        <p:sp>
          <p:nvSpPr>
            <p:cNvPr id="35" name="任意多边形 34"/>
            <p:cNvSpPr/>
            <p:nvPr/>
          </p:nvSpPr>
          <p:spPr>
            <a:xfrm>
              <a:off x="330602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选择占有处理机的进程</a:t>
              </a:r>
            </a:p>
          </p:txBody>
        </p:sp>
        <p:sp>
          <p:nvSpPr>
            <p:cNvPr id="36" name="椭圆 35"/>
            <p:cNvSpPr/>
            <p:nvPr/>
          </p:nvSpPr>
          <p:spPr>
            <a:xfrm>
              <a:off x="4758481" y="3248596"/>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6240582" y="225018"/>
            <a:ext cx="2896602" cy="4780998"/>
            <a:chOff x="5624409" y="-265576"/>
            <a:chExt cx="2440130" cy="4062644"/>
          </a:xfrm>
        </p:grpSpPr>
        <p:sp>
          <p:nvSpPr>
            <p:cNvPr id="38" name="任意多边形 37"/>
            <p:cNvSpPr/>
            <p:nvPr/>
          </p:nvSpPr>
          <p:spPr>
            <a:xfrm>
              <a:off x="5624409" y="-265576"/>
              <a:ext cx="2241666" cy="3413075"/>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nSpc>
                  <a:spcPct val="90000"/>
                </a:lnSpc>
                <a:spcBef>
                  <a:spcPct val="0"/>
                </a:spcBef>
                <a:spcAft>
                  <a:spcPct val="15000"/>
                </a:spcAft>
                <a:buChar char="••"/>
              </a:pPr>
              <a:r>
                <a:rPr lang="zh-CN" altLang="en-US" sz="2000" b="1" dirty="0"/>
                <a:t>当进行上下文切换时，系统要首先检查是否允许做上下文</a:t>
              </a:r>
              <a:r>
                <a:rPr lang="zh-CN" altLang="en-US" sz="2000" b="1" dirty="0" smtClean="0"/>
                <a:t>切换。</a:t>
              </a:r>
              <a:endParaRPr lang="en-US" altLang="zh-CN" sz="2000" b="1" dirty="0" smtClean="0"/>
            </a:p>
            <a:p>
              <a:pPr marL="0" lvl="4">
                <a:lnSpc>
                  <a:spcPct val="90000"/>
                </a:lnSpc>
                <a:spcBef>
                  <a:spcPct val="0"/>
                </a:spcBef>
                <a:spcAft>
                  <a:spcPct val="15000"/>
                </a:spcAft>
                <a:buChar char="••"/>
              </a:pPr>
              <a:r>
                <a:rPr lang="zh-CN" altLang="en-US" sz="2000" b="1" dirty="0" smtClean="0"/>
                <a:t>然后</a:t>
              </a:r>
              <a:r>
                <a:rPr lang="zh-CN" altLang="en-US" sz="2000" b="1" dirty="0"/>
                <a:t>，系统要保留有关被切换进程的足够信息，以便以后切换回该进程时，顺利恢复该进程的执行</a:t>
              </a:r>
              <a:r>
                <a:rPr lang="zh-CN" altLang="en-US" sz="2000" b="1" dirty="0" smtClean="0"/>
                <a:t>。</a:t>
              </a:r>
              <a:endParaRPr lang="en-US" altLang="zh-CN" sz="2000" b="1" dirty="0" smtClean="0"/>
            </a:p>
            <a:p>
              <a:pPr marL="0" lvl="4">
                <a:lnSpc>
                  <a:spcPct val="90000"/>
                </a:lnSpc>
                <a:spcBef>
                  <a:spcPct val="0"/>
                </a:spcBef>
                <a:spcAft>
                  <a:spcPct val="15000"/>
                </a:spcAft>
                <a:buChar char="••"/>
              </a:pPr>
              <a:r>
                <a:rPr lang="zh-CN" altLang="en-US" sz="2000" b="1" dirty="0" smtClean="0"/>
                <a:t>调度程序</a:t>
              </a:r>
              <a:r>
                <a:rPr lang="zh-CN" altLang="en-US" sz="2000" b="1" dirty="0"/>
                <a:t>选择一个新的处于就绪状态的进程，并装配该进程的上下文，使</a:t>
              </a:r>
              <a:r>
                <a:rPr lang="en-US" altLang="zh-CN" sz="2000" b="1" dirty="0"/>
                <a:t>CPU</a:t>
              </a:r>
              <a:r>
                <a:rPr lang="zh-CN" altLang="en-US" sz="2000" b="1" dirty="0"/>
                <a:t>的控制权转换到被选中进程中</a:t>
              </a:r>
            </a:p>
          </p:txBody>
        </p:sp>
        <p:sp>
          <p:nvSpPr>
            <p:cNvPr id="39" name="任意多边形 38"/>
            <p:cNvSpPr/>
            <p:nvPr/>
          </p:nvSpPr>
          <p:spPr>
            <a:xfrm>
              <a:off x="5624409" y="3147499"/>
              <a:ext cx="2241666"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进行进程上下文切换</a:t>
              </a:r>
            </a:p>
          </p:txBody>
        </p:sp>
        <p:sp>
          <p:nvSpPr>
            <p:cNvPr id="40" name="椭圆 39"/>
            <p:cNvSpPr/>
            <p:nvPr/>
          </p:nvSpPr>
          <p:spPr>
            <a:xfrm>
              <a:off x="7370544" y="3103073"/>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322497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down)">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down)">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17528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进程调度的时机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65820" y="825414"/>
            <a:ext cx="7056784" cy="559769"/>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如果</a:t>
            </a:r>
            <a:r>
              <a:rPr lang="en-US" altLang="zh-CN" sz="2400" b="1" dirty="0" smtClean="0">
                <a:solidFill>
                  <a:schemeClr val="bg1"/>
                </a:solidFill>
                <a:latin typeface="+mn-ea"/>
              </a:rPr>
              <a:t>CPU</a:t>
            </a:r>
            <a:r>
              <a:rPr lang="zh-CN" altLang="en-US" sz="2400" b="1" dirty="0" smtClean="0">
                <a:solidFill>
                  <a:schemeClr val="bg1"/>
                </a:solidFill>
                <a:latin typeface="+mn-ea"/>
              </a:rPr>
              <a:t>执行方式为</a:t>
            </a:r>
            <a:r>
              <a:rPr lang="zh-CN" altLang="en-US" sz="2400" b="1" i="1" dirty="0" smtClean="0">
                <a:solidFill>
                  <a:srgbClr val="FFFF00"/>
                </a:solidFill>
                <a:latin typeface="+mn-ea"/>
              </a:rPr>
              <a:t>不可剥夺方式</a:t>
            </a:r>
            <a:endParaRPr lang="en-US" altLang="zh-CN" sz="2400" b="1" i="1" dirty="0">
              <a:solidFill>
                <a:srgbClr val="FFFF00"/>
              </a:solidFill>
              <a:latin typeface="+mn-ea"/>
            </a:endParaRPr>
          </a:p>
        </p:txBody>
      </p:sp>
      <p:grpSp>
        <p:nvGrpSpPr>
          <p:cNvPr id="3" name="组合 2"/>
          <p:cNvGrpSpPr/>
          <p:nvPr/>
        </p:nvGrpSpPr>
        <p:grpSpPr>
          <a:xfrm>
            <a:off x="357158" y="1385183"/>
            <a:ext cx="7200800" cy="525261"/>
            <a:chOff x="357158" y="1385183"/>
            <a:chExt cx="7200800" cy="525261"/>
          </a:xfrm>
        </p:grpSpPr>
        <p:sp>
          <p:nvSpPr>
            <p:cNvPr id="5" name="矩形 4"/>
            <p:cNvSpPr/>
            <p:nvPr/>
          </p:nvSpPr>
          <p:spPr>
            <a:xfrm>
              <a:off x="357158" y="1579198"/>
              <a:ext cx="7200800" cy="331246"/>
            </a:xfrm>
            <a:prstGeom prst="rect">
              <a:avLst/>
            </a:pr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任意多边形 5"/>
            <p:cNvSpPr/>
            <p:nvPr/>
          </p:nvSpPr>
          <p:spPr>
            <a:xfrm>
              <a:off x="717198" y="1385183"/>
              <a:ext cx="3528392" cy="388031"/>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lvl="0" algn="l" defTabSz="266700">
                <a:lnSpc>
                  <a:spcPct val="90000"/>
                </a:lnSpc>
                <a:spcBef>
                  <a:spcPct val="0"/>
                </a:spcBef>
                <a:spcAft>
                  <a:spcPct val="35000"/>
                </a:spcAft>
              </a:pPr>
              <a:r>
                <a:rPr lang="zh-CN" altLang="en-US" sz="2000" b="1" kern="1200" dirty="0" smtClean="0"/>
                <a:t>正在执行的进程执行完毕</a:t>
              </a:r>
              <a:endParaRPr lang="zh-CN" altLang="en-US" sz="2000" b="1" kern="1200" dirty="0"/>
            </a:p>
          </p:txBody>
        </p:sp>
      </p:grpSp>
      <p:grpSp>
        <p:nvGrpSpPr>
          <p:cNvPr id="32" name="组合 31"/>
          <p:cNvGrpSpPr/>
          <p:nvPr/>
        </p:nvGrpSpPr>
        <p:grpSpPr>
          <a:xfrm>
            <a:off x="357158" y="1981426"/>
            <a:ext cx="8316416" cy="525261"/>
            <a:chOff x="357158" y="1981426"/>
            <a:chExt cx="8316416" cy="525261"/>
          </a:xfrm>
        </p:grpSpPr>
        <p:sp>
          <p:nvSpPr>
            <p:cNvPr id="7" name="矩形 6"/>
            <p:cNvSpPr/>
            <p:nvPr/>
          </p:nvSpPr>
          <p:spPr>
            <a:xfrm>
              <a:off x="357158" y="2175441"/>
              <a:ext cx="8316416" cy="331246"/>
            </a:xfrm>
            <a:prstGeom prst="rect">
              <a:avLst/>
            </a:pr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8" name="任意多边形 7"/>
            <p:cNvSpPr/>
            <p:nvPr/>
          </p:nvSpPr>
          <p:spPr>
            <a:xfrm>
              <a:off x="717198" y="1981426"/>
              <a:ext cx="7632848" cy="388031"/>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defTabSz="266700">
                <a:lnSpc>
                  <a:spcPct val="90000"/>
                </a:lnSpc>
                <a:spcBef>
                  <a:spcPct val="0"/>
                </a:spcBef>
                <a:spcAft>
                  <a:spcPct val="35000"/>
                </a:spcAft>
              </a:pPr>
              <a:r>
                <a:rPr lang="zh-CN" altLang="en-US" sz="2000" b="1" dirty="0"/>
                <a:t>执行中进程自己调用阻塞原语将自己阻塞起来进入睡眠等待状态</a:t>
              </a:r>
            </a:p>
          </p:txBody>
        </p:sp>
      </p:grpSp>
      <p:grpSp>
        <p:nvGrpSpPr>
          <p:cNvPr id="33" name="组合 32"/>
          <p:cNvGrpSpPr/>
          <p:nvPr/>
        </p:nvGrpSpPr>
        <p:grpSpPr>
          <a:xfrm>
            <a:off x="375414" y="2577668"/>
            <a:ext cx="7866112" cy="702134"/>
            <a:chOff x="375414" y="2577668"/>
            <a:chExt cx="7866112" cy="702134"/>
          </a:xfrm>
        </p:grpSpPr>
        <p:sp>
          <p:nvSpPr>
            <p:cNvPr id="9" name="矩形 8"/>
            <p:cNvSpPr/>
            <p:nvPr/>
          </p:nvSpPr>
          <p:spPr>
            <a:xfrm>
              <a:off x="375414" y="2948556"/>
              <a:ext cx="7866112" cy="331246"/>
            </a:xfrm>
            <a:prstGeom prst="rect">
              <a:avLst/>
            </a:pr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0" name="任意多边形 9"/>
            <p:cNvSpPr/>
            <p:nvPr/>
          </p:nvSpPr>
          <p:spPr>
            <a:xfrm>
              <a:off x="717198" y="2577668"/>
              <a:ext cx="6948264" cy="653028"/>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lvl="0" defTabSz="266700">
                <a:lnSpc>
                  <a:spcPct val="90000"/>
                </a:lnSpc>
                <a:spcBef>
                  <a:spcPct val="0"/>
                </a:spcBef>
                <a:spcAft>
                  <a:spcPct val="35000"/>
                </a:spcAft>
              </a:pPr>
              <a:r>
                <a:rPr lang="zh-CN" altLang="en-US" sz="2000" b="1" dirty="0"/>
                <a:t>执行中进程调用了</a:t>
              </a:r>
              <a:r>
                <a:rPr lang="en-US" altLang="zh-CN" sz="2000" b="1" dirty="0"/>
                <a:t>P</a:t>
              </a:r>
              <a:r>
                <a:rPr lang="zh-CN" altLang="en-US" sz="2000" b="1" dirty="0"/>
                <a:t>原语操作，从而因资源不足而被阻塞；或调用了</a:t>
              </a:r>
              <a:r>
                <a:rPr lang="en-US" altLang="zh-CN" sz="2000" b="1" dirty="0"/>
                <a:t>V</a:t>
              </a:r>
              <a:r>
                <a:rPr lang="zh-CN" altLang="en-US" sz="2000" b="1" dirty="0"/>
                <a:t>原语操作激活了等待资源的进程队列</a:t>
              </a:r>
            </a:p>
          </p:txBody>
        </p:sp>
      </p:grpSp>
      <p:grpSp>
        <p:nvGrpSpPr>
          <p:cNvPr id="34" name="组合 33"/>
          <p:cNvGrpSpPr/>
          <p:nvPr/>
        </p:nvGrpSpPr>
        <p:grpSpPr>
          <a:xfrm>
            <a:off x="375414" y="3352070"/>
            <a:ext cx="5777880" cy="446476"/>
            <a:chOff x="375414" y="3352070"/>
            <a:chExt cx="5777880" cy="446476"/>
          </a:xfrm>
        </p:grpSpPr>
        <p:sp>
          <p:nvSpPr>
            <p:cNvPr id="11" name="矩形 10"/>
            <p:cNvSpPr/>
            <p:nvPr/>
          </p:nvSpPr>
          <p:spPr>
            <a:xfrm>
              <a:off x="375414" y="3467300"/>
              <a:ext cx="5777880" cy="331246"/>
            </a:xfrm>
            <a:prstGeom prst="rect">
              <a:avLst/>
            </a:prstGeom>
            <a:scene3d>
              <a:camera prst="orthographicFront"/>
              <a:lightRig rig="flat" dir="t"/>
            </a:scene3d>
            <a:sp3d z="190500" extrusionH="12700" prstMaterial="plastic">
              <a:bevelT w="50800" h="50800"/>
            </a:sp3d>
          </p:spPr>
          <p:style>
            <a:lnRef idx="1">
              <a:schemeClr val="accent5">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12" name="任意多边形 11"/>
            <p:cNvSpPr/>
            <p:nvPr/>
          </p:nvSpPr>
          <p:spPr>
            <a:xfrm>
              <a:off x="750196" y="3352070"/>
              <a:ext cx="5040560" cy="388031"/>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lvl="0" algn="l" defTabSz="266700">
                <a:lnSpc>
                  <a:spcPct val="90000"/>
                </a:lnSpc>
                <a:spcBef>
                  <a:spcPct val="0"/>
                </a:spcBef>
                <a:spcAft>
                  <a:spcPct val="35000"/>
                </a:spcAft>
              </a:pPr>
              <a:r>
                <a:rPr lang="zh-CN" altLang="en-US" sz="2000" b="1" dirty="0"/>
                <a:t>执行中进程提出</a:t>
              </a:r>
              <a:r>
                <a:rPr lang="en-US" altLang="zh-CN" sz="2000" b="1" dirty="0"/>
                <a:t>I</a:t>
              </a:r>
              <a:r>
                <a:rPr lang="zh-CN" altLang="en-US" sz="2000" b="1" dirty="0"/>
                <a:t>／</a:t>
              </a:r>
              <a:r>
                <a:rPr lang="en-US" altLang="zh-CN" sz="2000" b="1" dirty="0"/>
                <a:t>O</a:t>
              </a:r>
              <a:r>
                <a:rPr lang="zh-CN" altLang="en-US" sz="2000" b="1" dirty="0"/>
                <a:t>请求后被阻塞</a:t>
              </a:r>
            </a:p>
          </p:txBody>
        </p:sp>
      </p:grpSp>
      <p:grpSp>
        <p:nvGrpSpPr>
          <p:cNvPr id="35" name="组合 34"/>
          <p:cNvGrpSpPr/>
          <p:nvPr/>
        </p:nvGrpSpPr>
        <p:grpSpPr>
          <a:xfrm>
            <a:off x="357158" y="3883544"/>
            <a:ext cx="5796136" cy="525259"/>
            <a:chOff x="357158" y="3883544"/>
            <a:chExt cx="5796136" cy="525259"/>
          </a:xfrm>
        </p:grpSpPr>
        <p:sp>
          <p:nvSpPr>
            <p:cNvPr id="13" name="矩形 12"/>
            <p:cNvSpPr/>
            <p:nvPr/>
          </p:nvSpPr>
          <p:spPr>
            <a:xfrm>
              <a:off x="357158" y="4077557"/>
              <a:ext cx="5796136" cy="331246"/>
            </a:xfrm>
            <a:prstGeom prst="rect">
              <a:avLst/>
            </a:prstGeom>
            <a:scene3d>
              <a:camera prst="orthographicFront"/>
              <a:lightRig rig="flat" dir="t"/>
            </a:scene3d>
            <a:sp3d z="190500" extrusionH="12700" prstMaterial="plastic">
              <a:bevelT w="50800" h="50800"/>
            </a:sp3d>
          </p:spPr>
          <p:style>
            <a:lnRef idx="1">
              <a:schemeClr val="accent6">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29" name="任意多边形 28"/>
            <p:cNvSpPr/>
            <p:nvPr/>
          </p:nvSpPr>
          <p:spPr>
            <a:xfrm>
              <a:off x="717198" y="3883544"/>
              <a:ext cx="5040560" cy="388031"/>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defTabSz="266700">
                <a:lnSpc>
                  <a:spcPct val="90000"/>
                </a:lnSpc>
                <a:spcBef>
                  <a:spcPct val="0"/>
                </a:spcBef>
                <a:spcAft>
                  <a:spcPct val="35000"/>
                </a:spcAft>
              </a:pPr>
              <a:r>
                <a:rPr lang="zh-CN" altLang="en-US" sz="2000" b="1" dirty="0"/>
                <a:t>在分时系统中时间片已经用完</a:t>
              </a:r>
            </a:p>
          </p:txBody>
        </p:sp>
      </p:grpSp>
      <p:grpSp>
        <p:nvGrpSpPr>
          <p:cNvPr id="36" name="组合 35"/>
          <p:cNvGrpSpPr/>
          <p:nvPr/>
        </p:nvGrpSpPr>
        <p:grpSpPr>
          <a:xfrm>
            <a:off x="357158" y="4465588"/>
            <a:ext cx="7884368" cy="625838"/>
            <a:chOff x="357158" y="4465588"/>
            <a:chExt cx="7884368" cy="625838"/>
          </a:xfrm>
        </p:grpSpPr>
        <p:sp>
          <p:nvSpPr>
            <p:cNvPr id="30" name="矩形 29"/>
            <p:cNvSpPr/>
            <p:nvPr/>
          </p:nvSpPr>
          <p:spPr>
            <a:xfrm>
              <a:off x="357158" y="4760180"/>
              <a:ext cx="7884368" cy="331246"/>
            </a:xfrm>
            <a:prstGeom prst="rect">
              <a:avLst/>
            </a:pr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31" name="任意多边形 30"/>
            <p:cNvSpPr/>
            <p:nvPr/>
          </p:nvSpPr>
          <p:spPr>
            <a:xfrm>
              <a:off x="717198" y="4465588"/>
              <a:ext cx="6840760" cy="570083"/>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defTabSz="266700">
                <a:lnSpc>
                  <a:spcPct val="90000"/>
                </a:lnSpc>
                <a:spcBef>
                  <a:spcPct val="0"/>
                </a:spcBef>
                <a:spcAft>
                  <a:spcPct val="35000"/>
                </a:spcAft>
              </a:pPr>
              <a:r>
                <a:rPr lang="zh-CN" altLang="en-US" sz="2000" b="1" dirty="0"/>
                <a:t>在执行完系统调用，在系统程序返回用户进程时，可认为系统进程执行完毕，从而可调度选择一新的用户进程执行</a:t>
              </a:r>
            </a:p>
          </p:txBody>
        </p:sp>
      </p:grpSp>
    </p:spTree>
    <p:extLst>
      <p:ext uri="{BB962C8B-B14F-4D97-AF65-F5344CB8AC3E}">
        <p14:creationId xmlns:p14="http://schemas.microsoft.com/office/powerpoint/2010/main" val="3085667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17528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进程调度的时机</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49139" y="1260810"/>
            <a:ext cx="7056784" cy="64633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如果</a:t>
            </a:r>
            <a:r>
              <a:rPr lang="en-US" altLang="zh-CN" sz="2400" b="1" dirty="0" smtClean="0">
                <a:solidFill>
                  <a:schemeClr val="bg1"/>
                </a:solidFill>
                <a:latin typeface="+mn-ea"/>
              </a:rPr>
              <a:t>CPU</a:t>
            </a:r>
            <a:r>
              <a:rPr lang="zh-CN" altLang="en-US" sz="2400" b="1" dirty="0" smtClean="0">
                <a:solidFill>
                  <a:schemeClr val="bg1"/>
                </a:solidFill>
                <a:latin typeface="+mn-ea"/>
              </a:rPr>
              <a:t>执行方式为</a:t>
            </a:r>
            <a:r>
              <a:rPr lang="zh-CN" altLang="en-US" sz="2400" b="1" i="1" dirty="0" smtClean="0">
                <a:solidFill>
                  <a:srgbClr val="FFFF00"/>
                </a:solidFill>
                <a:latin typeface="+mn-ea"/>
              </a:rPr>
              <a:t>非不可剥夺方式</a:t>
            </a:r>
            <a:endParaRPr lang="en-US" altLang="zh-CN" sz="2400" b="1" i="1" dirty="0">
              <a:solidFill>
                <a:srgbClr val="FFFF00"/>
              </a:solidFill>
              <a:latin typeface="+mn-ea"/>
            </a:endParaRPr>
          </a:p>
        </p:txBody>
      </p:sp>
      <p:grpSp>
        <p:nvGrpSpPr>
          <p:cNvPr id="32" name="组合 31"/>
          <p:cNvGrpSpPr/>
          <p:nvPr/>
        </p:nvGrpSpPr>
        <p:grpSpPr>
          <a:xfrm>
            <a:off x="844399" y="2283718"/>
            <a:ext cx="7200800" cy="941507"/>
            <a:chOff x="683568" y="1745465"/>
            <a:chExt cx="7200800" cy="941507"/>
          </a:xfrm>
        </p:grpSpPr>
        <p:sp>
          <p:nvSpPr>
            <p:cNvPr id="5" name="矩形 4"/>
            <p:cNvSpPr/>
            <p:nvPr/>
          </p:nvSpPr>
          <p:spPr>
            <a:xfrm>
              <a:off x="683568" y="2355726"/>
              <a:ext cx="7200800" cy="331246"/>
            </a:xfrm>
            <a:prstGeom prst="rect">
              <a:avLst/>
            </a:pr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sp>
        <p:sp>
          <p:nvSpPr>
            <p:cNvPr id="6" name="任意多边形 5"/>
            <p:cNvSpPr/>
            <p:nvPr/>
          </p:nvSpPr>
          <p:spPr>
            <a:xfrm>
              <a:off x="899592" y="1745465"/>
              <a:ext cx="6768752" cy="775884"/>
            </a:xfrm>
            <a:custGeom>
              <a:avLst/>
              <a:gdLst>
                <a:gd name="connsiteX0" fmla="*/ 0 w 4267200"/>
                <a:gd name="connsiteY0" fmla="*/ 29521 h 177120"/>
                <a:gd name="connsiteX1" fmla="*/ 29521 w 4267200"/>
                <a:gd name="connsiteY1" fmla="*/ 0 h 177120"/>
                <a:gd name="connsiteX2" fmla="*/ 4237679 w 4267200"/>
                <a:gd name="connsiteY2" fmla="*/ 0 h 177120"/>
                <a:gd name="connsiteX3" fmla="*/ 4267200 w 4267200"/>
                <a:gd name="connsiteY3" fmla="*/ 29521 h 177120"/>
                <a:gd name="connsiteX4" fmla="*/ 4267200 w 4267200"/>
                <a:gd name="connsiteY4" fmla="*/ 147599 h 177120"/>
                <a:gd name="connsiteX5" fmla="*/ 4237679 w 4267200"/>
                <a:gd name="connsiteY5" fmla="*/ 177120 h 177120"/>
                <a:gd name="connsiteX6" fmla="*/ 29521 w 4267200"/>
                <a:gd name="connsiteY6" fmla="*/ 177120 h 177120"/>
                <a:gd name="connsiteX7" fmla="*/ 0 w 4267200"/>
                <a:gd name="connsiteY7" fmla="*/ 147599 h 177120"/>
                <a:gd name="connsiteX8" fmla="*/ 0 w 4267200"/>
                <a:gd name="connsiteY8" fmla="*/ 29521 h 17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77120">
                  <a:moveTo>
                    <a:pt x="0" y="29521"/>
                  </a:moveTo>
                  <a:cubicBezTo>
                    <a:pt x="0" y="13217"/>
                    <a:pt x="13217" y="0"/>
                    <a:pt x="29521" y="0"/>
                  </a:cubicBezTo>
                  <a:lnTo>
                    <a:pt x="4237679" y="0"/>
                  </a:lnTo>
                  <a:cubicBezTo>
                    <a:pt x="4253983" y="0"/>
                    <a:pt x="4267200" y="13217"/>
                    <a:pt x="4267200" y="29521"/>
                  </a:cubicBezTo>
                  <a:lnTo>
                    <a:pt x="4267200" y="147599"/>
                  </a:lnTo>
                  <a:cubicBezTo>
                    <a:pt x="4267200" y="163903"/>
                    <a:pt x="4253983" y="177120"/>
                    <a:pt x="4237679" y="177120"/>
                  </a:cubicBezTo>
                  <a:lnTo>
                    <a:pt x="29521" y="177120"/>
                  </a:lnTo>
                  <a:cubicBezTo>
                    <a:pt x="13217" y="177120"/>
                    <a:pt x="0" y="163903"/>
                    <a:pt x="0" y="147599"/>
                  </a:cubicBezTo>
                  <a:lnTo>
                    <a:pt x="0" y="29521"/>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69936" tIns="8646" rIns="169936" bIns="8646" numCol="1" spcCol="1270" anchor="ctr" anchorCtr="0">
              <a:noAutofit/>
            </a:bodyPr>
            <a:lstStyle/>
            <a:p>
              <a:pPr defTabSz="266700">
                <a:lnSpc>
                  <a:spcPct val="90000"/>
                </a:lnSpc>
                <a:spcBef>
                  <a:spcPct val="0"/>
                </a:spcBef>
                <a:spcAft>
                  <a:spcPct val="35000"/>
                </a:spcAft>
              </a:pPr>
              <a:r>
                <a:rPr lang="zh-CN" altLang="en-US" sz="2000" b="1" dirty="0"/>
                <a:t>就绪队列中的某进程的优先级变得高于当前执行进程的优先级，从而也将引发进程调度</a:t>
              </a:r>
            </a:p>
          </p:txBody>
        </p:sp>
      </p:grpSp>
    </p:spTree>
    <p:extLst>
      <p:ext uri="{BB962C8B-B14F-4D97-AF65-F5344CB8AC3E}">
        <p14:creationId xmlns:p14="http://schemas.microsoft.com/office/powerpoint/2010/main" val="4172924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进程上下文切换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281469"/>
            <a:ext cx="6984776" cy="345325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i="1" dirty="0">
                <a:solidFill>
                  <a:srgbClr val="FFFF00"/>
                </a:solidFill>
                <a:latin typeface="+mn-ea"/>
              </a:rPr>
              <a:t>进程上下文</a:t>
            </a:r>
            <a:r>
              <a:rPr lang="zh-CN" altLang="en-US" sz="2400" b="1" dirty="0">
                <a:solidFill>
                  <a:schemeClr val="bg1"/>
                </a:solidFill>
                <a:latin typeface="+mn-ea"/>
              </a:rPr>
              <a:t>由</a:t>
            </a:r>
            <a:r>
              <a:rPr lang="zh-CN" altLang="en-US" sz="2400" b="1" dirty="0">
                <a:solidFill>
                  <a:srgbClr val="FFFF00"/>
                </a:solidFill>
                <a:latin typeface="+mn-ea"/>
              </a:rPr>
              <a:t>正文段</a:t>
            </a:r>
            <a:r>
              <a:rPr lang="zh-CN" altLang="en-US" sz="2400" b="1" dirty="0">
                <a:solidFill>
                  <a:schemeClr val="bg1"/>
                </a:solidFill>
                <a:latin typeface="+mn-ea"/>
              </a:rPr>
              <a:t>、</a:t>
            </a:r>
            <a:r>
              <a:rPr lang="zh-CN" altLang="en-US" sz="2400" b="1" dirty="0">
                <a:solidFill>
                  <a:srgbClr val="FFFF00"/>
                </a:solidFill>
                <a:latin typeface="+mn-ea"/>
              </a:rPr>
              <a:t>数据段</a:t>
            </a:r>
            <a:r>
              <a:rPr lang="zh-CN" altLang="en-US" sz="2400" b="1" dirty="0">
                <a:solidFill>
                  <a:schemeClr val="bg1"/>
                </a:solidFill>
                <a:latin typeface="+mn-ea"/>
              </a:rPr>
              <a:t>、</a:t>
            </a:r>
            <a:r>
              <a:rPr lang="zh-CN" altLang="en-US" sz="2400" b="1" dirty="0">
                <a:solidFill>
                  <a:srgbClr val="FFFF00"/>
                </a:solidFill>
                <a:latin typeface="+mn-ea"/>
              </a:rPr>
              <a:t>硬件寄存器的内容</a:t>
            </a:r>
            <a:r>
              <a:rPr lang="zh-CN" altLang="en-US" sz="2400" b="1" dirty="0">
                <a:solidFill>
                  <a:schemeClr val="bg1"/>
                </a:solidFill>
                <a:latin typeface="+mn-ea"/>
              </a:rPr>
              <a:t>以及</a:t>
            </a:r>
            <a:r>
              <a:rPr lang="zh-CN" altLang="en-US" sz="2400" b="1" dirty="0">
                <a:solidFill>
                  <a:srgbClr val="FFFF00"/>
                </a:solidFill>
                <a:latin typeface="+mn-ea"/>
              </a:rPr>
              <a:t>有关数据结构等组成</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硬件</a:t>
            </a:r>
            <a:r>
              <a:rPr lang="zh-CN" altLang="en-US" sz="2400" b="1" dirty="0">
                <a:solidFill>
                  <a:schemeClr val="bg1"/>
                </a:solidFill>
                <a:latin typeface="+mn-ea"/>
              </a:rPr>
              <a:t>寄存器主要包括存放</a:t>
            </a:r>
            <a:r>
              <a:rPr lang="en-US" altLang="zh-CN" sz="2400" b="1" dirty="0">
                <a:solidFill>
                  <a:schemeClr val="bg1"/>
                </a:solidFill>
                <a:latin typeface="+mn-ea"/>
              </a:rPr>
              <a:t>CPU</a:t>
            </a:r>
            <a:r>
              <a:rPr lang="zh-CN" altLang="en-US" sz="2400" b="1" dirty="0">
                <a:solidFill>
                  <a:schemeClr val="bg1"/>
                </a:solidFill>
                <a:latin typeface="+mn-ea"/>
              </a:rPr>
              <a:t>将要执行的下条指令虚拟地址的</a:t>
            </a:r>
            <a:r>
              <a:rPr lang="zh-CN" altLang="en-US" sz="2400" b="1" dirty="0">
                <a:solidFill>
                  <a:schemeClr val="accent6">
                    <a:lumMod val="40000"/>
                    <a:lumOff val="60000"/>
                  </a:schemeClr>
                </a:solidFill>
                <a:latin typeface="+mn-ea"/>
              </a:rPr>
              <a:t>程序计数器</a:t>
            </a:r>
            <a:r>
              <a:rPr lang="en-US" altLang="zh-CN" sz="2400" b="1" dirty="0">
                <a:solidFill>
                  <a:schemeClr val="accent6">
                    <a:lumMod val="40000"/>
                    <a:lumOff val="60000"/>
                  </a:schemeClr>
                </a:solidFill>
                <a:latin typeface="+mn-ea"/>
              </a:rPr>
              <a:t>PC</a:t>
            </a:r>
            <a:r>
              <a:rPr lang="zh-CN" altLang="en-US" sz="2400" b="1" dirty="0">
                <a:solidFill>
                  <a:schemeClr val="bg1"/>
                </a:solidFill>
                <a:latin typeface="+mn-ea"/>
              </a:rPr>
              <a:t>，指出机器与进程相关联的硬件状态的</a:t>
            </a:r>
            <a:r>
              <a:rPr lang="zh-CN" altLang="en-US" sz="2400" b="1" dirty="0">
                <a:solidFill>
                  <a:schemeClr val="accent5">
                    <a:lumMod val="40000"/>
                    <a:lumOff val="60000"/>
                  </a:schemeClr>
                </a:solidFill>
                <a:latin typeface="+mn-ea"/>
              </a:rPr>
              <a:t>处理机状态寄存器</a:t>
            </a:r>
            <a:r>
              <a:rPr lang="en-US" altLang="zh-CN" sz="2400" b="1" dirty="0" smtClean="0">
                <a:solidFill>
                  <a:schemeClr val="accent5">
                    <a:lumMod val="40000"/>
                    <a:lumOff val="60000"/>
                  </a:schemeClr>
                </a:solidFill>
                <a:latin typeface="+mn-ea"/>
              </a:rPr>
              <a:t>PSW</a:t>
            </a:r>
            <a:r>
              <a:rPr lang="zh-CN" altLang="en-US" sz="2400" b="1" dirty="0" smtClean="0">
                <a:solidFill>
                  <a:schemeClr val="bg1"/>
                </a:solidFill>
                <a:latin typeface="+mn-ea"/>
              </a:rPr>
              <a:t>，</a:t>
            </a:r>
            <a:r>
              <a:rPr lang="zh-CN" altLang="en-US" sz="2400" b="1" dirty="0">
                <a:solidFill>
                  <a:schemeClr val="bg1"/>
                </a:solidFill>
                <a:latin typeface="+mn-ea"/>
              </a:rPr>
              <a:t>存放过程调用（或系统调用）时所传递参数的</a:t>
            </a:r>
            <a:r>
              <a:rPr lang="zh-CN" altLang="en-US" sz="2400" b="1" dirty="0">
                <a:solidFill>
                  <a:schemeClr val="accent2">
                    <a:lumMod val="40000"/>
                    <a:lumOff val="60000"/>
                  </a:schemeClr>
                </a:solidFill>
                <a:latin typeface="+mn-ea"/>
              </a:rPr>
              <a:t>通用寄存器</a:t>
            </a:r>
            <a:r>
              <a:rPr lang="en-US" altLang="zh-CN" sz="2400" b="1" dirty="0">
                <a:solidFill>
                  <a:schemeClr val="accent2">
                    <a:lumMod val="40000"/>
                    <a:lumOff val="60000"/>
                  </a:schemeClr>
                </a:solidFill>
                <a:latin typeface="+mn-ea"/>
              </a:rPr>
              <a:t>R</a:t>
            </a:r>
            <a:r>
              <a:rPr lang="zh-CN" altLang="en-US" sz="2400" b="1" dirty="0">
                <a:solidFill>
                  <a:schemeClr val="bg1"/>
                </a:solidFill>
                <a:latin typeface="+mn-ea"/>
              </a:rPr>
              <a:t>以及</a:t>
            </a:r>
            <a:r>
              <a:rPr lang="zh-CN" altLang="en-US" sz="2400" b="1" dirty="0">
                <a:solidFill>
                  <a:schemeClr val="accent2">
                    <a:lumMod val="40000"/>
                    <a:lumOff val="60000"/>
                  </a:schemeClr>
                </a:solidFill>
                <a:latin typeface="+mn-ea"/>
              </a:rPr>
              <a:t>堆栈指针寄存器</a:t>
            </a:r>
            <a:r>
              <a:rPr lang="en-US" altLang="zh-CN" sz="2400" b="1" dirty="0">
                <a:solidFill>
                  <a:schemeClr val="accent2">
                    <a:lumMod val="40000"/>
                    <a:lumOff val="60000"/>
                  </a:schemeClr>
                </a:solidFill>
                <a:latin typeface="+mn-ea"/>
              </a:rPr>
              <a:t>S</a:t>
            </a:r>
            <a:r>
              <a:rPr lang="zh-CN" altLang="en-US" sz="2400" b="1" dirty="0">
                <a:solidFill>
                  <a:schemeClr val="bg1"/>
                </a:solidFill>
                <a:latin typeface="+mn-ea"/>
              </a:rPr>
              <a:t>等</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2487678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进程上下文切换</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数据结构</a:t>
            </a:r>
            <a:r>
              <a:rPr lang="zh-CN" altLang="en-US" sz="2400" b="1" dirty="0">
                <a:solidFill>
                  <a:schemeClr val="bg1"/>
                </a:solidFill>
                <a:latin typeface="+mn-ea"/>
              </a:rPr>
              <a:t>则包括</a:t>
            </a:r>
            <a:r>
              <a:rPr lang="en-US" altLang="zh-CN" sz="2400" b="1" dirty="0">
                <a:solidFill>
                  <a:srgbClr val="FFFF00"/>
                </a:solidFill>
                <a:latin typeface="+mn-ea"/>
              </a:rPr>
              <a:t>PCB</a:t>
            </a:r>
            <a:r>
              <a:rPr lang="zh-CN" altLang="en-US" sz="2400" b="1" dirty="0">
                <a:solidFill>
                  <a:srgbClr val="FFFF00"/>
                </a:solidFill>
                <a:latin typeface="+mn-ea"/>
              </a:rPr>
              <a:t>等在内的所有与执行该进程有关的管理和控制用表格、数组、链</a:t>
            </a:r>
            <a:r>
              <a:rPr lang="zh-CN" altLang="en-US" sz="2400" b="1" dirty="0">
                <a:solidFill>
                  <a:schemeClr val="bg1"/>
                </a:solidFill>
                <a:latin typeface="+mn-ea"/>
              </a:rPr>
              <a:t>等。在发生进程调度时，系统要做进程上下文切换。</a:t>
            </a:r>
          </a:p>
        </p:txBody>
      </p:sp>
    </p:spTree>
    <p:extLst>
      <p:ext uri="{BB962C8B-B14F-4D97-AF65-F5344CB8AC3E}">
        <p14:creationId xmlns:p14="http://schemas.microsoft.com/office/powerpoint/2010/main" val="25686846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进程上下文切换的步骤</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256533"/>
            <a:ext cx="6912768" cy="3474990"/>
          </a:xfrm>
          <a:prstGeom prst="rect">
            <a:avLst/>
          </a:prstGeom>
        </p:spPr>
        <p:txBody>
          <a:bodyPr wrap="square">
            <a:spAutoFit/>
          </a:bodyPr>
          <a:lstStyle/>
          <a:p>
            <a:pPr marL="0" lvl="1" algn="just">
              <a:lnSpc>
                <a:spcPct val="135000"/>
              </a:lnSpc>
              <a:buClr>
                <a:schemeClr val="accent6">
                  <a:lumMod val="60000"/>
                  <a:lumOff val="40000"/>
                </a:schemeClr>
              </a:buClr>
            </a:pPr>
            <a:r>
              <a:rPr lang="zh-CN" altLang="en-US" sz="2000" b="1" dirty="0" smtClean="0">
                <a:solidFill>
                  <a:schemeClr val="bg1"/>
                </a:solidFill>
                <a:latin typeface="+mn-ea"/>
              </a:rPr>
              <a:t>（</a:t>
            </a:r>
            <a:r>
              <a:rPr lang="en-US" altLang="zh-CN" sz="2000" b="1" dirty="0" smtClean="0">
                <a:solidFill>
                  <a:schemeClr val="bg1"/>
                </a:solidFill>
                <a:latin typeface="+mn-ea"/>
              </a:rPr>
              <a:t>1</a:t>
            </a:r>
            <a:r>
              <a:rPr lang="zh-CN" altLang="en-US" sz="2000" b="1" dirty="0" smtClean="0">
                <a:solidFill>
                  <a:schemeClr val="bg1"/>
                </a:solidFill>
                <a:latin typeface="+mn-ea"/>
              </a:rPr>
              <a:t>）</a:t>
            </a:r>
            <a:r>
              <a:rPr lang="zh-CN" altLang="en-US" sz="2000" b="1" dirty="0" smtClean="0">
                <a:solidFill>
                  <a:srgbClr val="FFFF00"/>
                </a:solidFill>
                <a:latin typeface="+mn-ea"/>
              </a:rPr>
              <a:t>决定</a:t>
            </a:r>
            <a:r>
              <a:rPr lang="zh-CN" altLang="en-US" sz="2000" b="1" dirty="0">
                <a:solidFill>
                  <a:srgbClr val="FFFF00"/>
                </a:solidFill>
                <a:latin typeface="+mn-ea"/>
              </a:rPr>
              <a:t>是否做上下文切换以及是否允许做上下文切换。</a:t>
            </a:r>
            <a:r>
              <a:rPr lang="zh-CN" altLang="en-US" sz="2000" b="1" dirty="0">
                <a:solidFill>
                  <a:schemeClr val="bg1"/>
                </a:solidFill>
                <a:latin typeface="+mn-ea"/>
              </a:rPr>
              <a:t>包括对进程调度原因的检查分析，以及当前执行进程的资格和</a:t>
            </a:r>
            <a:r>
              <a:rPr lang="en-US" altLang="zh-CN" sz="2000" b="1" dirty="0">
                <a:solidFill>
                  <a:schemeClr val="bg1"/>
                </a:solidFill>
                <a:latin typeface="+mn-ea"/>
              </a:rPr>
              <a:t>CPU</a:t>
            </a:r>
            <a:r>
              <a:rPr lang="zh-CN" altLang="en-US" sz="2000" b="1" dirty="0">
                <a:solidFill>
                  <a:schemeClr val="bg1"/>
                </a:solidFill>
                <a:latin typeface="+mn-ea"/>
              </a:rPr>
              <a:t>执行方式的检查等。</a:t>
            </a:r>
          </a:p>
          <a:p>
            <a:pPr marL="0" lvl="1" algn="just">
              <a:lnSpc>
                <a:spcPct val="135000"/>
              </a:lnSpc>
              <a:buClr>
                <a:schemeClr val="accent6">
                  <a:lumMod val="60000"/>
                  <a:lumOff val="40000"/>
                </a:schemeClr>
              </a:buClr>
            </a:pPr>
            <a:r>
              <a:rPr lang="zh-CN" altLang="en-US" sz="2000" b="1" dirty="0" smtClean="0">
                <a:solidFill>
                  <a:schemeClr val="bg1"/>
                </a:solidFill>
                <a:latin typeface="+mn-ea"/>
              </a:rPr>
              <a:t>（</a:t>
            </a:r>
            <a:r>
              <a:rPr lang="en-US" altLang="zh-CN" sz="2000" b="1" dirty="0" smtClean="0">
                <a:solidFill>
                  <a:schemeClr val="bg1"/>
                </a:solidFill>
                <a:latin typeface="+mn-ea"/>
              </a:rPr>
              <a:t>2</a:t>
            </a:r>
            <a:r>
              <a:rPr lang="zh-CN" altLang="en-US" sz="2000" b="1" dirty="0" smtClean="0">
                <a:solidFill>
                  <a:schemeClr val="bg1"/>
                </a:solidFill>
                <a:latin typeface="+mn-ea"/>
              </a:rPr>
              <a:t>）</a:t>
            </a:r>
            <a:r>
              <a:rPr lang="zh-CN" altLang="en-US" sz="2000" b="1" dirty="0" smtClean="0">
                <a:solidFill>
                  <a:srgbClr val="FFFF00"/>
                </a:solidFill>
                <a:latin typeface="+mn-ea"/>
              </a:rPr>
              <a:t>保存</a:t>
            </a:r>
            <a:r>
              <a:rPr lang="zh-CN" altLang="en-US" sz="2000" b="1" dirty="0">
                <a:solidFill>
                  <a:srgbClr val="FFFF00"/>
                </a:solidFill>
                <a:latin typeface="+mn-ea"/>
              </a:rPr>
              <a:t>当前执行进程的上下文。</a:t>
            </a:r>
            <a:r>
              <a:rPr lang="zh-CN" altLang="en-US" sz="2000" b="1" dirty="0">
                <a:solidFill>
                  <a:schemeClr val="bg1"/>
                </a:solidFill>
                <a:latin typeface="+mn-ea"/>
              </a:rPr>
              <a:t>这里所说的当前执行进程，实际上是指调用上下文切换程序之前的执行进程。如果上下文切换程序不是被那个当前执行进程所调用，且不属于该进程，则所保存的上下文应是先前执行进程的上下文，或称为“老”进程上下文</a:t>
            </a:r>
            <a:r>
              <a:rPr lang="zh-CN" altLang="en-US" sz="2000" b="1" dirty="0" smtClean="0">
                <a:solidFill>
                  <a:schemeClr val="bg1"/>
                </a:solidFill>
                <a:latin typeface="+mn-ea"/>
              </a:rPr>
              <a:t>。</a:t>
            </a:r>
            <a:endParaRPr lang="zh-CN" altLang="en-US" sz="2000" b="1" dirty="0">
              <a:solidFill>
                <a:schemeClr val="bg1"/>
              </a:solidFill>
              <a:latin typeface="+mn-ea"/>
            </a:endParaRPr>
          </a:p>
        </p:txBody>
      </p:sp>
    </p:spTree>
    <p:extLst>
      <p:ext uri="{BB962C8B-B14F-4D97-AF65-F5344CB8AC3E}">
        <p14:creationId xmlns:p14="http://schemas.microsoft.com/office/powerpoint/2010/main" val="3388688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进程上下文切换的步骤</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1938992"/>
          </a:xfrm>
          <a:prstGeom prst="rect">
            <a:avLst/>
          </a:prstGeom>
        </p:spPr>
        <p:txBody>
          <a:bodyPr wrap="square">
            <a:spAutoFit/>
          </a:bodyPr>
          <a:lstStyle/>
          <a:p>
            <a:pPr marL="0" lvl="1" algn="just">
              <a:lnSpc>
                <a:spcPct val="150000"/>
              </a:lnSpc>
              <a:buClr>
                <a:schemeClr val="accent6">
                  <a:lumMod val="60000"/>
                  <a:lumOff val="40000"/>
                </a:schemeClr>
              </a:buClr>
            </a:pPr>
            <a:r>
              <a:rPr lang="en-US" altLang="zh-CN" sz="2000" b="1" dirty="0" smtClean="0">
                <a:solidFill>
                  <a:schemeClr val="bg1"/>
                </a:solidFill>
                <a:latin typeface="+mn-ea"/>
              </a:rPr>
              <a:t>(</a:t>
            </a:r>
            <a:r>
              <a:rPr lang="en-US" altLang="zh-CN" sz="2000" b="1" dirty="0">
                <a:solidFill>
                  <a:schemeClr val="bg1"/>
                </a:solidFill>
                <a:latin typeface="+mn-ea"/>
              </a:rPr>
              <a:t>3) </a:t>
            </a:r>
            <a:r>
              <a:rPr lang="zh-CN" altLang="en-US" sz="2000" b="1" dirty="0">
                <a:solidFill>
                  <a:schemeClr val="bg1"/>
                </a:solidFill>
                <a:latin typeface="+mn-ea"/>
              </a:rPr>
              <a:t>使用</a:t>
            </a:r>
            <a:r>
              <a:rPr lang="en-US" altLang="zh-CN" sz="2000" b="1" dirty="0" smtClean="0">
                <a:solidFill>
                  <a:schemeClr val="bg1"/>
                </a:solidFill>
                <a:latin typeface="+mn-ea"/>
              </a:rPr>
              <a:t>4.4</a:t>
            </a:r>
            <a:r>
              <a:rPr lang="zh-CN" altLang="en-US" sz="2000" b="1" dirty="0" smtClean="0">
                <a:solidFill>
                  <a:schemeClr val="bg1"/>
                </a:solidFill>
                <a:latin typeface="+mn-ea"/>
              </a:rPr>
              <a:t>节</a:t>
            </a:r>
            <a:r>
              <a:rPr lang="zh-CN" altLang="en-US" sz="2000" b="1" dirty="0">
                <a:solidFill>
                  <a:schemeClr val="bg1"/>
                </a:solidFill>
                <a:latin typeface="+mn-ea"/>
              </a:rPr>
              <a:t>中所述进程调度算法，选择一个处于就绪状态进程。</a:t>
            </a:r>
          </a:p>
          <a:p>
            <a:pPr marL="0" lvl="1" algn="just">
              <a:lnSpc>
                <a:spcPct val="150000"/>
              </a:lnSpc>
              <a:buClr>
                <a:schemeClr val="accent6">
                  <a:lumMod val="60000"/>
                  <a:lumOff val="40000"/>
                </a:schemeClr>
              </a:buClr>
            </a:pPr>
            <a:r>
              <a:rPr lang="en-US" altLang="zh-CN" sz="2000" b="1" dirty="0">
                <a:solidFill>
                  <a:schemeClr val="bg1"/>
                </a:solidFill>
                <a:latin typeface="+mn-ea"/>
              </a:rPr>
              <a:t>(4) </a:t>
            </a:r>
            <a:r>
              <a:rPr lang="zh-CN" altLang="en-US" sz="2000" b="1" dirty="0">
                <a:solidFill>
                  <a:schemeClr val="bg1"/>
                </a:solidFill>
                <a:latin typeface="+mn-ea"/>
              </a:rPr>
              <a:t>恢复或装配所选进程的上下文，将</a:t>
            </a:r>
            <a:r>
              <a:rPr lang="en-US" altLang="zh-CN" sz="2000" b="1" dirty="0">
                <a:solidFill>
                  <a:schemeClr val="bg1"/>
                </a:solidFill>
                <a:latin typeface="+mn-ea"/>
              </a:rPr>
              <a:t>CPU</a:t>
            </a:r>
            <a:r>
              <a:rPr lang="zh-CN" altLang="en-US" sz="2000" b="1" dirty="0">
                <a:solidFill>
                  <a:schemeClr val="bg1"/>
                </a:solidFill>
                <a:latin typeface="+mn-ea"/>
              </a:rPr>
              <a:t>控制权交给所选进程。</a:t>
            </a:r>
          </a:p>
        </p:txBody>
      </p:sp>
    </p:spTree>
    <p:extLst>
      <p:ext uri="{BB962C8B-B14F-4D97-AF65-F5344CB8AC3E}">
        <p14:creationId xmlns:p14="http://schemas.microsoft.com/office/powerpoint/2010/main" val="286115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进程调度性能评价</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27584" y="1491630"/>
            <a:ext cx="691276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进程等待时间</a:t>
            </a:r>
            <a:r>
              <a:rPr lang="zh-CN" altLang="en-US" sz="2400" b="1" dirty="0">
                <a:solidFill>
                  <a:schemeClr val="bg1"/>
                </a:solidFill>
                <a:latin typeface="+mn-ea"/>
              </a:rPr>
              <a:t>的多少是要依靠</a:t>
            </a:r>
            <a:r>
              <a:rPr lang="zh-CN" altLang="en-US" sz="2400" b="1" dirty="0">
                <a:solidFill>
                  <a:srgbClr val="FFFF00"/>
                </a:solidFill>
                <a:latin typeface="+mn-ea"/>
              </a:rPr>
              <a:t>进程调度策略</a:t>
            </a:r>
            <a:r>
              <a:rPr lang="zh-CN" altLang="en-US" sz="2400" b="1" dirty="0">
                <a:solidFill>
                  <a:schemeClr val="bg1"/>
                </a:solidFill>
                <a:latin typeface="+mn-ea"/>
              </a:rPr>
              <a:t>和</a:t>
            </a:r>
            <a:r>
              <a:rPr lang="zh-CN" altLang="en-US" sz="2400" b="1" dirty="0">
                <a:solidFill>
                  <a:srgbClr val="FFFF00"/>
                </a:solidFill>
                <a:latin typeface="+mn-ea"/>
              </a:rPr>
              <a:t>等待事件何时发生</a:t>
            </a:r>
            <a:r>
              <a:rPr lang="zh-CN" altLang="en-US" sz="2400" b="1" dirty="0">
                <a:solidFill>
                  <a:schemeClr val="bg1"/>
                </a:solidFill>
                <a:latin typeface="+mn-ea"/>
              </a:rPr>
              <a:t>来决定的。因此，</a:t>
            </a:r>
            <a:r>
              <a:rPr lang="zh-CN" altLang="en-US" sz="2400" b="1" dirty="0">
                <a:solidFill>
                  <a:srgbClr val="FFFF00"/>
                </a:solidFill>
                <a:latin typeface="+mn-ea"/>
              </a:rPr>
              <a:t>进程调度性能</a:t>
            </a:r>
            <a:r>
              <a:rPr lang="zh-CN" altLang="en-US" sz="2400" b="1" dirty="0">
                <a:solidFill>
                  <a:schemeClr val="bg1"/>
                </a:solidFill>
                <a:latin typeface="+mn-ea"/>
              </a:rPr>
              <a:t>的衡量是操作系统设计的一个重要指标</a:t>
            </a:r>
          </a:p>
        </p:txBody>
      </p:sp>
    </p:spTree>
    <p:extLst>
      <p:ext uri="{BB962C8B-B14F-4D97-AF65-F5344CB8AC3E}">
        <p14:creationId xmlns:p14="http://schemas.microsoft.com/office/powerpoint/2010/main" val="361380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进程调度性能评价</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任意多边形 4"/>
          <p:cNvSpPr/>
          <p:nvPr/>
        </p:nvSpPr>
        <p:spPr>
          <a:xfrm>
            <a:off x="787487" y="2342659"/>
            <a:ext cx="1213964" cy="801687"/>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shade val="80000"/>
              <a:hueOff val="0"/>
              <a:satOff val="0"/>
              <a:lumOff val="0"/>
              <a:alphaOff val="0"/>
            </a:schemeClr>
          </a:fillRef>
          <a:effectRef idx="2">
            <a:schemeClr val="accent3">
              <a:shade val="80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lvl="0" algn="ctr" defTabSz="711200">
              <a:lnSpc>
                <a:spcPct val="90000"/>
              </a:lnSpc>
              <a:spcBef>
                <a:spcPct val="0"/>
              </a:spcBef>
              <a:spcAft>
                <a:spcPct val="35000"/>
              </a:spcAft>
            </a:pPr>
            <a:r>
              <a:rPr lang="zh-CN" altLang="en-US" sz="2400" b="1" kern="1200" dirty="0" smtClean="0"/>
              <a:t>性能衡量方法</a:t>
            </a:r>
            <a:endParaRPr lang="zh-CN" altLang="en-US" sz="2400" b="1" kern="1200" dirty="0"/>
          </a:p>
        </p:txBody>
      </p:sp>
      <p:sp>
        <p:nvSpPr>
          <p:cNvPr id="6" name="任意多边形 5"/>
          <p:cNvSpPr/>
          <p:nvPr/>
        </p:nvSpPr>
        <p:spPr>
          <a:xfrm rot="17692822">
            <a:off x="1578908" y="2014718"/>
            <a:ext cx="1524392" cy="35507"/>
          </a:xfrm>
          <a:custGeom>
            <a:avLst/>
            <a:gdLst>
              <a:gd name="connsiteX0" fmla="*/ 0 w 1524392"/>
              <a:gd name="connsiteY0" fmla="*/ 17753 h 35507"/>
              <a:gd name="connsiteX1" fmla="*/ 1524392 w 1524392"/>
              <a:gd name="connsiteY1" fmla="*/ 17753 h 35507"/>
            </a:gdLst>
            <a:ahLst/>
            <a:cxnLst>
              <a:cxn ang="0">
                <a:pos x="connsiteX0" y="connsiteY0"/>
              </a:cxn>
              <a:cxn ang="0">
                <a:pos x="connsiteX1" y="connsiteY1"/>
              </a:cxn>
            </a:cxnLst>
            <a:rect l="l" t="t" r="r" b="b"/>
            <a:pathLst>
              <a:path w="1524392" h="35507">
                <a:moveTo>
                  <a:pt x="0" y="17753"/>
                </a:moveTo>
                <a:lnTo>
                  <a:pt x="1524392" y="17753"/>
                </a:lnTo>
              </a:path>
            </a:pathLst>
          </a:custGeom>
          <a:noFill/>
          <a:scene3d>
            <a:camera prst="orthographicFront"/>
            <a:lightRig rig="flat" dir="t"/>
          </a:scene3d>
          <a:sp3d prstMaterial="matte"/>
        </p:spPr>
        <p:style>
          <a:lnRef idx="2">
            <a:schemeClr val="accent3">
              <a:tint val="99000"/>
              <a:hueOff val="0"/>
              <a:satOff val="0"/>
              <a:lumOff val="0"/>
              <a:alphaOff val="0"/>
            </a:schemeClr>
          </a:lnRef>
          <a:fillRef idx="0">
            <a:scrgbClr r="0" g="0" b="0"/>
          </a:fillRef>
          <a:effectRef idx="0">
            <a:schemeClr val="accent3">
              <a:tint val="99000"/>
              <a:hueOff val="0"/>
              <a:satOff val="0"/>
              <a:lumOff val="0"/>
              <a:alphaOff val="0"/>
            </a:schemeClr>
          </a:effectRef>
          <a:fontRef idx="minor">
            <a:schemeClr val="tx1">
              <a:hueOff val="0"/>
              <a:satOff val="0"/>
              <a:lumOff val="0"/>
              <a:alphaOff val="0"/>
            </a:schemeClr>
          </a:fontRef>
        </p:style>
        <p:txBody>
          <a:bodyPr spcFirstLastPara="0" vert="horz" wrap="square" lIns="736785" tIns="-20357" rIns="736787" bIns="-20356"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7" name="任意多边形 6"/>
          <p:cNvSpPr/>
          <p:nvPr/>
        </p:nvSpPr>
        <p:spPr>
          <a:xfrm>
            <a:off x="2661779" y="940173"/>
            <a:ext cx="1200353" cy="696899"/>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99000"/>
              <a:hueOff val="0"/>
              <a:satOff val="0"/>
              <a:lumOff val="0"/>
              <a:alphaOff val="0"/>
            </a:schemeClr>
          </a:fillRef>
          <a:effectRef idx="1">
            <a:schemeClr val="accent3">
              <a:tint val="99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zh-CN" altLang="en-US" sz="2400" b="1" dirty="0"/>
              <a:t>定性</a:t>
            </a:r>
          </a:p>
        </p:txBody>
      </p:sp>
      <p:sp>
        <p:nvSpPr>
          <p:cNvPr id="8" name="任意多边形 7"/>
          <p:cNvSpPr/>
          <p:nvPr/>
        </p:nvSpPr>
        <p:spPr>
          <a:xfrm rot="19457599">
            <a:off x="3788045" y="1092778"/>
            <a:ext cx="789824" cy="35507"/>
          </a:xfrm>
          <a:custGeom>
            <a:avLst/>
            <a:gdLst>
              <a:gd name="connsiteX0" fmla="*/ 0 w 789824"/>
              <a:gd name="connsiteY0" fmla="*/ 17753 h 35507"/>
              <a:gd name="connsiteX1" fmla="*/ 789824 w 789824"/>
              <a:gd name="connsiteY1" fmla="*/ 17753 h 35507"/>
            </a:gdLst>
            <a:ahLst/>
            <a:cxnLst>
              <a:cxn ang="0">
                <a:pos x="connsiteX0" y="connsiteY0"/>
              </a:cxn>
              <a:cxn ang="0">
                <a:pos x="connsiteX1" y="connsiteY1"/>
              </a:cxn>
            </a:cxnLst>
            <a:rect l="l" t="t" r="r" b="b"/>
            <a:pathLst>
              <a:path w="789824" h="35507">
                <a:moveTo>
                  <a:pt x="0" y="17753"/>
                </a:moveTo>
                <a:lnTo>
                  <a:pt x="789824" y="17753"/>
                </a:lnTo>
              </a:path>
            </a:pathLst>
          </a:custGeom>
          <a:noFill/>
          <a:scene3d>
            <a:camera prst="orthographicFront"/>
            <a:lightRig rig="flat" dir="t"/>
          </a:scene3d>
          <a:sp3d prstMaterial="matte"/>
        </p:spPr>
        <p:style>
          <a:lnRef idx="2">
            <a:schemeClr val="accent3">
              <a:tint val="80000"/>
              <a:hueOff val="0"/>
              <a:satOff val="0"/>
              <a:lumOff val="0"/>
              <a:alphaOff val="0"/>
            </a:schemeClr>
          </a:lnRef>
          <a:fillRef idx="0">
            <a:scrgbClr r="0" g="0" b="0"/>
          </a:fillRef>
          <a:effectRef idx="0">
            <a:schemeClr val="accent3">
              <a:tint val="80000"/>
              <a:hueOff val="0"/>
              <a:satOff val="0"/>
              <a:lumOff val="0"/>
              <a:alphaOff val="0"/>
            </a:schemeClr>
          </a:effectRef>
          <a:fontRef idx="minor">
            <a:schemeClr val="tx1">
              <a:hueOff val="0"/>
              <a:satOff val="0"/>
              <a:lumOff val="0"/>
              <a:alphaOff val="0"/>
            </a:schemeClr>
          </a:fontRef>
        </p:style>
        <p:txBody>
          <a:bodyPr spcFirstLastPara="0" vert="horz" wrap="square" lIns="387865" tIns="-1993" rIns="387867" bIns="-1992"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9" name="任意多边形 8"/>
          <p:cNvSpPr/>
          <p:nvPr/>
        </p:nvSpPr>
        <p:spPr>
          <a:xfrm>
            <a:off x="4494131" y="449771"/>
            <a:ext cx="1210004" cy="677360"/>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80000"/>
              <a:hueOff val="0"/>
              <a:satOff val="0"/>
              <a:lumOff val="0"/>
              <a:alphaOff val="0"/>
            </a:schemeClr>
          </a:fillRef>
          <a:effectRef idx="1">
            <a:schemeClr val="accent3">
              <a:tint val="80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lvl="0" algn="ctr" defTabSz="711200">
              <a:lnSpc>
                <a:spcPct val="90000"/>
              </a:lnSpc>
              <a:spcBef>
                <a:spcPct val="0"/>
              </a:spcBef>
              <a:spcAft>
                <a:spcPct val="35000"/>
              </a:spcAft>
            </a:pPr>
            <a:r>
              <a:rPr lang="zh-CN" altLang="en-US" sz="2400" b="1" dirty="0">
                <a:solidFill>
                  <a:srgbClr val="0E2D07"/>
                </a:solidFill>
              </a:rPr>
              <a:t>可靠性</a:t>
            </a:r>
          </a:p>
        </p:txBody>
      </p:sp>
      <p:sp>
        <p:nvSpPr>
          <p:cNvPr id="10" name="任意多边形 9"/>
          <p:cNvSpPr/>
          <p:nvPr/>
        </p:nvSpPr>
        <p:spPr>
          <a:xfrm rot="2142401">
            <a:off x="3788045" y="1553748"/>
            <a:ext cx="789824" cy="35507"/>
          </a:xfrm>
          <a:custGeom>
            <a:avLst/>
            <a:gdLst>
              <a:gd name="connsiteX0" fmla="*/ 0 w 789824"/>
              <a:gd name="connsiteY0" fmla="*/ 17753 h 35507"/>
              <a:gd name="connsiteX1" fmla="*/ 789824 w 789824"/>
              <a:gd name="connsiteY1" fmla="*/ 17753 h 35507"/>
            </a:gdLst>
            <a:ahLst/>
            <a:cxnLst>
              <a:cxn ang="0">
                <a:pos x="connsiteX0" y="connsiteY0"/>
              </a:cxn>
              <a:cxn ang="0">
                <a:pos x="connsiteX1" y="connsiteY1"/>
              </a:cxn>
            </a:cxnLst>
            <a:rect l="l" t="t" r="r" b="b"/>
            <a:pathLst>
              <a:path w="789824" h="35507">
                <a:moveTo>
                  <a:pt x="0" y="17753"/>
                </a:moveTo>
                <a:lnTo>
                  <a:pt x="789824" y="17753"/>
                </a:lnTo>
              </a:path>
            </a:pathLst>
          </a:custGeom>
          <a:noFill/>
          <a:scene3d>
            <a:camera prst="orthographicFront"/>
            <a:lightRig rig="flat" dir="t"/>
          </a:scene3d>
          <a:sp3d prstMaterial="matte"/>
        </p:spPr>
        <p:style>
          <a:lnRef idx="2">
            <a:schemeClr val="accent3">
              <a:tint val="80000"/>
              <a:hueOff val="0"/>
              <a:satOff val="0"/>
              <a:lumOff val="0"/>
              <a:alphaOff val="0"/>
            </a:schemeClr>
          </a:lnRef>
          <a:fillRef idx="0">
            <a:scrgbClr r="0" g="0" b="0"/>
          </a:fillRef>
          <a:effectRef idx="0">
            <a:schemeClr val="accent3">
              <a:tint val="80000"/>
              <a:hueOff val="0"/>
              <a:satOff val="0"/>
              <a:lumOff val="0"/>
              <a:alphaOff val="0"/>
            </a:schemeClr>
          </a:effectRef>
          <a:fontRef idx="minor">
            <a:schemeClr val="tx1">
              <a:hueOff val="0"/>
              <a:satOff val="0"/>
              <a:lumOff val="0"/>
              <a:alphaOff val="0"/>
            </a:schemeClr>
          </a:fontRef>
        </p:style>
        <p:txBody>
          <a:bodyPr spcFirstLastPara="0" vert="horz" wrap="square" lIns="387866" tIns="-1992" rIns="387866" bIns="-1993"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11" name="任意多边形 10"/>
          <p:cNvSpPr/>
          <p:nvPr/>
        </p:nvSpPr>
        <p:spPr>
          <a:xfrm>
            <a:off x="4494131" y="1421662"/>
            <a:ext cx="1302005" cy="598577"/>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80000"/>
              <a:hueOff val="0"/>
              <a:satOff val="0"/>
              <a:lumOff val="0"/>
              <a:alphaOff val="0"/>
            </a:schemeClr>
          </a:fillRef>
          <a:effectRef idx="1">
            <a:schemeClr val="accent3">
              <a:tint val="80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zh-CN" altLang="en-US" sz="2400" b="1" dirty="0">
                <a:solidFill>
                  <a:srgbClr val="0E2D07"/>
                </a:solidFill>
              </a:rPr>
              <a:t>简洁性</a:t>
            </a:r>
          </a:p>
        </p:txBody>
      </p:sp>
      <p:sp>
        <p:nvSpPr>
          <p:cNvPr id="12" name="任意多边形 11"/>
          <p:cNvSpPr/>
          <p:nvPr/>
        </p:nvSpPr>
        <p:spPr>
          <a:xfrm rot="2142401">
            <a:off x="1946192" y="2936659"/>
            <a:ext cx="789824" cy="35507"/>
          </a:xfrm>
          <a:custGeom>
            <a:avLst/>
            <a:gdLst>
              <a:gd name="connsiteX0" fmla="*/ 0 w 789824"/>
              <a:gd name="connsiteY0" fmla="*/ 17753 h 35507"/>
              <a:gd name="connsiteX1" fmla="*/ 789824 w 789824"/>
              <a:gd name="connsiteY1" fmla="*/ 17753 h 35507"/>
            </a:gdLst>
            <a:ahLst/>
            <a:cxnLst>
              <a:cxn ang="0">
                <a:pos x="connsiteX0" y="connsiteY0"/>
              </a:cxn>
              <a:cxn ang="0">
                <a:pos x="connsiteX1" y="connsiteY1"/>
              </a:cxn>
            </a:cxnLst>
            <a:rect l="l" t="t" r="r" b="b"/>
            <a:pathLst>
              <a:path w="789824" h="35507">
                <a:moveTo>
                  <a:pt x="0" y="17753"/>
                </a:moveTo>
                <a:lnTo>
                  <a:pt x="789824" y="17753"/>
                </a:lnTo>
              </a:path>
            </a:pathLst>
          </a:custGeom>
          <a:noFill/>
          <a:scene3d>
            <a:camera prst="orthographicFront"/>
            <a:lightRig rig="flat" dir="t"/>
          </a:scene3d>
          <a:sp3d prstMaterial="matte"/>
        </p:spPr>
        <p:style>
          <a:lnRef idx="2">
            <a:schemeClr val="accent3">
              <a:tint val="99000"/>
              <a:hueOff val="0"/>
              <a:satOff val="0"/>
              <a:lumOff val="0"/>
              <a:alphaOff val="0"/>
            </a:schemeClr>
          </a:lnRef>
          <a:fillRef idx="0">
            <a:scrgbClr r="0" g="0" b="0"/>
          </a:fillRef>
          <a:effectRef idx="0">
            <a:schemeClr val="accent3">
              <a:tint val="99000"/>
              <a:hueOff val="0"/>
              <a:satOff val="0"/>
              <a:lumOff val="0"/>
              <a:alphaOff val="0"/>
            </a:schemeClr>
          </a:effectRef>
          <a:fontRef idx="minor">
            <a:schemeClr val="tx1">
              <a:hueOff val="0"/>
              <a:satOff val="0"/>
              <a:lumOff val="0"/>
              <a:alphaOff val="0"/>
            </a:schemeClr>
          </a:fontRef>
        </p:style>
        <p:txBody>
          <a:bodyPr spcFirstLastPara="0" vert="horz" wrap="square" lIns="387866" tIns="-1992" rIns="387866" bIns="-1993"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13" name="任意多边形 12"/>
          <p:cNvSpPr/>
          <p:nvPr/>
        </p:nvSpPr>
        <p:spPr>
          <a:xfrm>
            <a:off x="2661779" y="2784055"/>
            <a:ext cx="1200353" cy="725226"/>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99000"/>
              <a:hueOff val="0"/>
              <a:satOff val="0"/>
              <a:lumOff val="0"/>
              <a:alphaOff val="0"/>
            </a:schemeClr>
          </a:fillRef>
          <a:effectRef idx="1">
            <a:schemeClr val="accent3">
              <a:tint val="99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zh-CN" altLang="en-US" sz="2400" b="1" dirty="0"/>
              <a:t>定量</a:t>
            </a:r>
          </a:p>
        </p:txBody>
      </p:sp>
      <p:sp>
        <p:nvSpPr>
          <p:cNvPr id="29" name="任意多边形 28"/>
          <p:cNvSpPr/>
          <p:nvPr/>
        </p:nvSpPr>
        <p:spPr>
          <a:xfrm rot="19457599">
            <a:off x="3788045" y="2936659"/>
            <a:ext cx="789824" cy="35507"/>
          </a:xfrm>
          <a:custGeom>
            <a:avLst/>
            <a:gdLst>
              <a:gd name="connsiteX0" fmla="*/ 0 w 789824"/>
              <a:gd name="connsiteY0" fmla="*/ 17753 h 35507"/>
              <a:gd name="connsiteX1" fmla="*/ 789824 w 789824"/>
              <a:gd name="connsiteY1" fmla="*/ 17753 h 35507"/>
            </a:gdLst>
            <a:ahLst/>
            <a:cxnLst>
              <a:cxn ang="0">
                <a:pos x="connsiteX0" y="connsiteY0"/>
              </a:cxn>
              <a:cxn ang="0">
                <a:pos x="connsiteX1" y="connsiteY1"/>
              </a:cxn>
            </a:cxnLst>
            <a:rect l="l" t="t" r="r" b="b"/>
            <a:pathLst>
              <a:path w="789824" h="35507">
                <a:moveTo>
                  <a:pt x="0" y="17753"/>
                </a:moveTo>
                <a:lnTo>
                  <a:pt x="789824" y="17753"/>
                </a:lnTo>
              </a:path>
            </a:pathLst>
          </a:custGeom>
          <a:noFill/>
          <a:scene3d>
            <a:camera prst="orthographicFront"/>
            <a:lightRig rig="flat" dir="t"/>
          </a:scene3d>
          <a:sp3d prstMaterial="matte"/>
        </p:spPr>
        <p:style>
          <a:lnRef idx="2">
            <a:schemeClr val="accent3">
              <a:tint val="80000"/>
              <a:hueOff val="0"/>
              <a:satOff val="0"/>
              <a:lumOff val="0"/>
              <a:alphaOff val="0"/>
            </a:schemeClr>
          </a:lnRef>
          <a:fillRef idx="0">
            <a:scrgbClr r="0" g="0" b="0"/>
          </a:fillRef>
          <a:effectRef idx="0">
            <a:schemeClr val="accent3">
              <a:tint val="80000"/>
              <a:hueOff val="0"/>
              <a:satOff val="0"/>
              <a:lumOff val="0"/>
              <a:alphaOff val="0"/>
            </a:schemeClr>
          </a:effectRef>
          <a:fontRef idx="minor">
            <a:schemeClr val="tx1">
              <a:hueOff val="0"/>
              <a:satOff val="0"/>
              <a:lumOff val="0"/>
              <a:alphaOff val="0"/>
            </a:schemeClr>
          </a:fontRef>
        </p:style>
        <p:txBody>
          <a:bodyPr spcFirstLastPara="0" vert="horz" wrap="square" lIns="387865" tIns="-1993" rIns="387867" bIns="-1992"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30" name="任意多边形 29"/>
          <p:cNvSpPr/>
          <p:nvPr/>
        </p:nvSpPr>
        <p:spPr>
          <a:xfrm>
            <a:off x="4529326" y="2307861"/>
            <a:ext cx="2580040" cy="658785"/>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80000"/>
              <a:hueOff val="0"/>
              <a:satOff val="0"/>
              <a:lumOff val="0"/>
              <a:alphaOff val="0"/>
            </a:schemeClr>
          </a:fillRef>
          <a:effectRef idx="1">
            <a:schemeClr val="accent3">
              <a:tint val="80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en-US" altLang="zh-CN" sz="2400" b="1" dirty="0">
                <a:solidFill>
                  <a:srgbClr val="0E2D07"/>
                </a:solidFill>
              </a:rPr>
              <a:t>CPU</a:t>
            </a:r>
            <a:r>
              <a:rPr lang="zh-CN" altLang="en-US" sz="2400" b="1" dirty="0">
                <a:solidFill>
                  <a:srgbClr val="0E2D07"/>
                </a:solidFill>
              </a:rPr>
              <a:t>的利用率评价</a:t>
            </a:r>
          </a:p>
        </p:txBody>
      </p:sp>
      <p:sp>
        <p:nvSpPr>
          <p:cNvPr id="31" name="任意多边形 30"/>
          <p:cNvSpPr/>
          <p:nvPr/>
        </p:nvSpPr>
        <p:spPr>
          <a:xfrm rot="2142401">
            <a:off x="3788045" y="3397629"/>
            <a:ext cx="789824" cy="35507"/>
          </a:xfrm>
          <a:custGeom>
            <a:avLst/>
            <a:gdLst>
              <a:gd name="connsiteX0" fmla="*/ 0 w 789824"/>
              <a:gd name="connsiteY0" fmla="*/ 17753 h 35507"/>
              <a:gd name="connsiteX1" fmla="*/ 789824 w 789824"/>
              <a:gd name="connsiteY1" fmla="*/ 17753 h 35507"/>
            </a:gdLst>
            <a:ahLst/>
            <a:cxnLst>
              <a:cxn ang="0">
                <a:pos x="connsiteX0" y="connsiteY0"/>
              </a:cxn>
              <a:cxn ang="0">
                <a:pos x="connsiteX1" y="connsiteY1"/>
              </a:cxn>
            </a:cxnLst>
            <a:rect l="l" t="t" r="r" b="b"/>
            <a:pathLst>
              <a:path w="789824" h="35507">
                <a:moveTo>
                  <a:pt x="0" y="17753"/>
                </a:moveTo>
                <a:lnTo>
                  <a:pt x="789824" y="17753"/>
                </a:lnTo>
              </a:path>
            </a:pathLst>
          </a:custGeom>
          <a:noFill/>
          <a:scene3d>
            <a:camera prst="orthographicFront"/>
            <a:lightRig rig="flat" dir="t"/>
          </a:scene3d>
          <a:sp3d prstMaterial="matte"/>
        </p:spPr>
        <p:style>
          <a:lnRef idx="2">
            <a:schemeClr val="accent3">
              <a:tint val="80000"/>
              <a:hueOff val="0"/>
              <a:satOff val="0"/>
              <a:lumOff val="0"/>
              <a:alphaOff val="0"/>
            </a:schemeClr>
          </a:lnRef>
          <a:fillRef idx="0">
            <a:scrgbClr r="0" g="0" b="0"/>
          </a:fillRef>
          <a:effectRef idx="0">
            <a:schemeClr val="accent3">
              <a:tint val="80000"/>
              <a:hueOff val="0"/>
              <a:satOff val="0"/>
              <a:lumOff val="0"/>
              <a:alphaOff val="0"/>
            </a:schemeClr>
          </a:effectRef>
          <a:fontRef idx="minor">
            <a:schemeClr val="tx1">
              <a:hueOff val="0"/>
              <a:satOff val="0"/>
              <a:lumOff val="0"/>
              <a:alphaOff val="0"/>
            </a:schemeClr>
          </a:fontRef>
        </p:style>
        <p:txBody>
          <a:bodyPr spcFirstLastPara="0" vert="horz" wrap="square" lIns="387866" tIns="-1991" rIns="387866" bIns="-1994" numCol="1" spcCol="1270" anchor="ctr" anchorCtr="0">
            <a:noAutofit/>
          </a:bodyPr>
          <a:lstStyle/>
          <a:p>
            <a:pPr lvl="0" algn="ctr" defTabSz="222250">
              <a:lnSpc>
                <a:spcPct val="90000"/>
              </a:lnSpc>
              <a:spcBef>
                <a:spcPct val="0"/>
              </a:spcBef>
              <a:spcAft>
                <a:spcPct val="35000"/>
              </a:spcAft>
            </a:pPr>
            <a:endParaRPr lang="zh-CN" altLang="en-US" sz="500" kern="1200"/>
          </a:p>
        </p:txBody>
      </p:sp>
      <p:sp>
        <p:nvSpPr>
          <p:cNvPr id="32" name="任意多边形 31"/>
          <p:cNvSpPr/>
          <p:nvPr/>
        </p:nvSpPr>
        <p:spPr>
          <a:xfrm>
            <a:off x="4529326" y="3136381"/>
            <a:ext cx="3638035" cy="801687"/>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tint val="80000"/>
              <a:hueOff val="0"/>
              <a:satOff val="0"/>
              <a:lumOff val="0"/>
              <a:alphaOff val="0"/>
            </a:schemeClr>
          </a:fillRef>
          <a:effectRef idx="1">
            <a:schemeClr val="accent3">
              <a:tint val="80000"/>
              <a:hueOff val="0"/>
              <a:satOff val="0"/>
              <a:lumOff val="0"/>
              <a:alphaOff val="0"/>
            </a:schemeClr>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zh-CN" altLang="en-US" sz="2400" b="1" dirty="0">
                <a:solidFill>
                  <a:srgbClr val="0E2D07"/>
                </a:solidFill>
              </a:rPr>
              <a:t>进程在就绪队列中的等待时间与执行时间之比等</a:t>
            </a:r>
          </a:p>
        </p:txBody>
      </p:sp>
      <p:sp>
        <p:nvSpPr>
          <p:cNvPr id="34" name="任意多边形 33"/>
          <p:cNvSpPr/>
          <p:nvPr/>
        </p:nvSpPr>
        <p:spPr>
          <a:xfrm>
            <a:off x="2411936" y="3978899"/>
            <a:ext cx="4204116" cy="691190"/>
          </a:xfrm>
          <a:custGeom>
            <a:avLst/>
            <a:gdLst>
              <a:gd name="connsiteX0" fmla="*/ 0 w 1603374"/>
              <a:gd name="connsiteY0" fmla="*/ 80169 h 801687"/>
              <a:gd name="connsiteX1" fmla="*/ 80169 w 1603374"/>
              <a:gd name="connsiteY1" fmla="*/ 0 h 801687"/>
              <a:gd name="connsiteX2" fmla="*/ 1523205 w 1603374"/>
              <a:gd name="connsiteY2" fmla="*/ 0 h 801687"/>
              <a:gd name="connsiteX3" fmla="*/ 1603374 w 1603374"/>
              <a:gd name="connsiteY3" fmla="*/ 80169 h 801687"/>
              <a:gd name="connsiteX4" fmla="*/ 1603374 w 1603374"/>
              <a:gd name="connsiteY4" fmla="*/ 721518 h 801687"/>
              <a:gd name="connsiteX5" fmla="*/ 1523205 w 1603374"/>
              <a:gd name="connsiteY5" fmla="*/ 801687 h 801687"/>
              <a:gd name="connsiteX6" fmla="*/ 80169 w 1603374"/>
              <a:gd name="connsiteY6" fmla="*/ 801687 h 801687"/>
              <a:gd name="connsiteX7" fmla="*/ 0 w 1603374"/>
              <a:gd name="connsiteY7" fmla="*/ 721518 h 801687"/>
              <a:gd name="connsiteX8" fmla="*/ 0 w 1603374"/>
              <a:gd name="connsiteY8" fmla="*/ 80169 h 80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374" h="801687">
                <a:moveTo>
                  <a:pt x="0" y="80169"/>
                </a:moveTo>
                <a:cubicBezTo>
                  <a:pt x="0" y="35893"/>
                  <a:pt x="35893" y="0"/>
                  <a:pt x="80169" y="0"/>
                </a:cubicBezTo>
                <a:lnTo>
                  <a:pt x="1523205" y="0"/>
                </a:lnTo>
                <a:cubicBezTo>
                  <a:pt x="1567481" y="0"/>
                  <a:pt x="1603374" y="35893"/>
                  <a:pt x="1603374" y="80169"/>
                </a:cubicBezTo>
                <a:lnTo>
                  <a:pt x="1603374" y="721518"/>
                </a:lnTo>
                <a:cubicBezTo>
                  <a:pt x="1603374" y="765794"/>
                  <a:pt x="1567481" y="801687"/>
                  <a:pt x="1523205" y="801687"/>
                </a:cubicBezTo>
                <a:lnTo>
                  <a:pt x="80169" y="801687"/>
                </a:lnTo>
                <a:cubicBezTo>
                  <a:pt x="35893" y="801687"/>
                  <a:pt x="0" y="765794"/>
                  <a:pt x="0" y="721518"/>
                </a:cubicBezTo>
                <a:lnTo>
                  <a:pt x="0" y="80169"/>
                </a:lnTo>
                <a:close/>
              </a:path>
            </a:pathLst>
          </a:cu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33641" tIns="33641" rIns="33641" bIns="33641" numCol="1" spcCol="1270" anchor="ctr" anchorCtr="0">
            <a:noAutofit/>
          </a:bodyPr>
          <a:lstStyle/>
          <a:p>
            <a:pPr algn="ctr" defTabSz="711200">
              <a:lnSpc>
                <a:spcPct val="90000"/>
              </a:lnSpc>
              <a:spcBef>
                <a:spcPct val="0"/>
              </a:spcBef>
              <a:spcAft>
                <a:spcPct val="35000"/>
              </a:spcAft>
            </a:pPr>
            <a:r>
              <a:rPr lang="zh-CN" altLang="en-US" sz="2400" b="1" dirty="0"/>
              <a:t>模拟或测试系统响应时间</a:t>
            </a:r>
          </a:p>
        </p:txBody>
      </p:sp>
    </p:spTree>
    <p:extLst>
      <p:ext uri="{BB962C8B-B14F-4D97-AF65-F5344CB8AC3E}">
        <p14:creationId xmlns:p14="http://schemas.microsoft.com/office/powerpoint/2010/main" val="187226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left)">
                                      <p:cBhvr>
                                        <p:cTn id="48" dur="500"/>
                                        <p:tgtEl>
                                          <p:spTgt spid="29"/>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500"/>
                                        <p:tgtEl>
                                          <p:spTgt spid="3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29" grpId="0" animBg="1"/>
      <p:bldP spid="30" grpId="0" animBg="1"/>
      <p:bldP spid="31" grpId="0" animBg="1"/>
      <p:bldP spid="32"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分级调度</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作业调度</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进程调度</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zh-CN" altLang="en-US" b="1" dirty="0" smtClean="0">
                  <a:solidFill>
                    <a:srgbClr val="000000"/>
                  </a:solidFill>
                </a:rPr>
                <a:t>调度算法及算法评价</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实时系统调度算法</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14048245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7"/>
                                        </p:tgtEl>
                                      </p:cBhvr>
                                      <p:by x="150000" y="150000"/>
                                    </p:animScale>
                                  </p:childTnLst>
                                </p:cTn>
                              </p:par>
                              <p:par>
                                <p:cTn id="7" presetID="42" presetClass="path" presetSubtype="0" accel="50000" decel="50000" fill="hold" nodeType="withEffect">
                                  <p:stCondLst>
                                    <p:cond delay="0"/>
                                  </p:stCondLst>
                                  <p:childTnLst>
                                    <p:animMotion origin="layout" path="M -3.61111E-6 1.60494E-6 L 0.00139 -0.16482 " pathEditMode="relative" rAng="0" ptsTypes="AA">
                                      <p:cBhvr>
                                        <p:cTn id="8" dur="2000" fill="hold"/>
                                        <p:tgtEl>
                                          <p:spTgt spid="27"/>
                                        </p:tgtEl>
                                        <p:attrNameLst>
                                          <p:attrName>ppt_x</p:attrName>
                                          <p:attrName>ppt_y</p:attrName>
                                        </p:attrNameLst>
                                      </p:cBhvr>
                                      <p:rCtr x="69" y="-8241"/>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32"/>
                                        </p:tgtEl>
                                      </p:cBhvr>
                                    </p:animEffect>
                                    <p:set>
                                      <p:cBhvr>
                                        <p:cTn id="14" dur="1" fill="hold">
                                          <p:stCondLst>
                                            <p:cond delay="1999"/>
                                          </p:stCondLst>
                                        </p:cTn>
                                        <p:tgtEl>
                                          <p:spTgt spid="32"/>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1"/>
                                        </p:tgtEl>
                                      </p:cBhvr>
                                    </p:animEffect>
                                    <p:set>
                                      <p:cBhvr>
                                        <p:cTn id="17" dur="1" fill="hold">
                                          <p:stCondLst>
                                            <p:cond delay="1999"/>
                                          </p:stCondLst>
                                        </p:cTn>
                                        <p:tgtEl>
                                          <p:spTgt spid="11"/>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16"/>
                                        </p:tgtEl>
                                      </p:cBhvr>
                                    </p:animEffect>
                                    <p:set>
                                      <p:cBhvr>
                                        <p:cTn id="20" dur="1" fill="hold">
                                          <p:stCondLst>
                                            <p:cond delay="1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先来先服务（</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FCFS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）调度算法</a:t>
            </a:r>
          </a:p>
        </p:txBody>
      </p:sp>
      <p:sp>
        <p:nvSpPr>
          <p:cNvPr id="2" name="矩形 1"/>
          <p:cNvSpPr/>
          <p:nvPr/>
        </p:nvSpPr>
        <p:spPr>
          <a:xfrm>
            <a:off x="755576" y="1281469"/>
            <a:ext cx="6912768" cy="166776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将用户作业和就绪进程按提交顺序或变为就绪状态的先后排成队列，并按照先来先服务的方式进行调度处理，是一种最普遍和最简单的方法。</a:t>
            </a:r>
          </a:p>
        </p:txBody>
      </p:sp>
      <p:pic>
        <p:nvPicPr>
          <p:cNvPr id="29" name="图片 28"/>
          <p:cNvPicPr>
            <a:picLocks noChangeAspect="1"/>
          </p:cNvPicPr>
          <p:nvPr/>
        </p:nvPicPr>
        <p:blipFill>
          <a:blip r:embed="rId2"/>
          <a:stretch>
            <a:fillRect/>
          </a:stretch>
        </p:blipFill>
        <p:spPr>
          <a:xfrm>
            <a:off x="755576" y="637492"/>
            <a:ext cx="7240897" cy="4333890"/>
          </a:xfrm>
          <a:prstGeom prst="rect">
            <a:avLst/>
          </a:prstGeom>
        </p:spPr>
      </p:pic>
    </p:spTree>
    <p:extLst>
      <p:ext uri="{BB962C8B-B14F-4D97-AF65-F5344CB8AC3E}">
        <p14:creationId xmlns:p14="http://schemas.microsoft.com/office/powerpoint/2010/main" val="150802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先来先服务（</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FCFS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）调度算法</a:t>
            </a:r>
          </a:p>
        </p:txBody>
      </p:sp>
      <p:sp>
        <p:nvSpPr>
          <p:cNvPr id="2" name="矩形 1"/>
          <p:cNvSpPr/>
          <p:nvPr/>
        </p:nvSpPr>
        <p:spPr>
          <a:xfrm>
            <a:off x="755576" y="1281469"/>
            <a:ext cx="6912768" cy="323646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在没有特殊理由要优先调度某类作业或进程时，从处理的角度来看，</a:t>
            </a:r>
            <a:r>
              <a:rPr lang="en-US" altLang="zh-CN" sz="2000" b="1" dirty="0">
                <a:solidFill>
                  <a:schemeClr val="bg1"/>
                </a:solidFill>
                <a:latin typeface="+mn-ea"/>
              </a:rPr>
              <a:t>FCFS</a:t>
            </a:r>
            <a:r>
              <a:rPr lang="zh-CN" altLang="en-US" sz="2000" b="1" dirty="0">
                <a:solidFill>
                  <a:schemeClr val="bg1"/>
                </a:solidFill>
                <a:latin typeface="+mn-ea"/>
              </a:rPr>
              <a:t>方式是一种最合适的方法，无论是追加还是取出一个队列元素在操作上都是最简单的。</a:t>
            </a:r>
          </a:p>
          <a:p>
            <a:pPr marL="0" lvl="1"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直观看，该算法在一般意义下是公平的。即每个作业或进程都按照它们在队列中等待时间长短来决定它们是否优先享受服务。不过对于那些执行时间较短的作业或进程来说，如果它们在某些执行时间很长的作业或进程之后到达，则它们将等待很长时间。</a:t>
            </a:r>
          </a:p>
        </p:txBody>
      </p:sp>
    </p:spTree>
    <p:extLst>
      <p:ext uri="{BB962C8B-B14F-4D97-AF65-F5344CB8AC3E}">
        <p14:creationId xmlns:p14="http://schemas.microsoft.com/office/powerpoint/2010/main" val="146857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先来先服务（</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FCFS</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）调度算法</a:t>
            </a:r>
          </a:p>
        </p:txBody>
      </p:sp>
      <p:sp>
        <p:nvSpPr>
          <p:cNvPr id="2" name="矩形 1"/>
          <p:cNvSpPr/>
          <p:nvPr/>
        </p:nvSpPr>
        <p:spPr>
          <a:xfrm>
            <a:off x="827584" y="1491630"/>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在实际操作系统中，尽管很少单独使用</a:t>
            </a:r>
            <a:r>
              <a:rPr lang="en-US" altLang="zh-CN" sz="2400" b="1" dirty="0">
                <a:solidFill>
                  <a:schemeClr val="bg1"/>
                </a:solidFill>
                <a:latin typeface="+mn-ea"/>
              </a:rPr>
              <a:t>FCFS</a:t>
            </a:r>
            <a:r>
              <a:rPr lang="zh-CN" altLang="en-US" sz="2400" b="1" dirty="0">
                <a:solidFill>
                  <a:schemeClr val="bg1"/>
                </a:solidFill>
                <a:latin typeface="+mn-ea"/>
              </a:rPr>
              <a:t>算法，但和其他一些算法配合起来，</a:t>
            </a:r>
            <a:r>
              <a:rPr lang="en-US" altLang="zh-CN" sz="2400" b="1" dirty="0">
                <a:solidFill>
                  <a:schemeClr val="bg1"/>
                </a:solidFill>
                <a:latin typeface="+mn-ea"/>
              </a:rPr>
              <a:t>FCFS</a:t>
            </a:r>
            <a:r>
              <a:rPr lang="zh-CN" altLang="en-US" sz="2400" b="1" dirty="0">
                <a:solidFill>
                  <a:schemeClr val="bg1"/>
                </a:solidFill>
                <a:latin typeface="+mn-ea"/>
              </a:rPr>
              <a:t>算法还是使用得相当多的。例如基于优先级的调度算法就是对具有同样优先级的作业或进程采用的</a:t>
            </a:r>
            <a:r>
              <a:rPr lang="en-US" altLang="zh-CN" sz="2400" b="1" dirty="0">
                <a:solidFill>
                  <a:schemeClr val="bg1"/>
                </a:solidFill>
                <a:latin typeface="+mn-ea"/>
              </a:rPr>
              <a:t>FCFS</a:t>
            </a:r>
            <a:r>
              <a:rPr lang="zh-CN" altLang="en-US" sz="2400" b="1" dirty="0">
                <a:solidFill>
                  <a:schemeClr val="bg1"/>
                </a:solidFill>
                <a:latin typeface="+mn-ea"/>
              </a:rPr>
              <a:t>方式。</a:t>
            </a:r>
          </a:p>
        </p:txBody>
      </p:sp>
    </p:spTree>
    <p:extLst>
      <p:ext uri="{BB962C8B-B14F-4D97-AF65-F5344CB8AC3E}">
        <p14:creationId xmlns:p14="http://schemas.microsoft.com/office/powerpoint/2010/main" val="287638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827584" y="1491630"/>
            <a:ext cx="6912768"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rgbClr val="FFFF00"/>
                </a:solidFill>
                <a:latin typeface="+mn-ea"/>
              </a:rPr>
              <a:t>让</a:t>
            </a:r>
            <a:r>
              <a:rPr lang="zh-CN" altLang="en-US" sz="2000" b="1" dirty="0">
                <a:solidFill>
                  <a:srgbClr val="FFFF00"/>
                </a:solidFill>
                <a:latin typeface="+mn-ea"/>
              </a:rPr>
              <a:t>每个进程在就绪队列中的等待时间与享受服务的时间成比例</a:t>
            </a:r>
            <a:r>
              <a:rPr lang="zh-CN" altLang="en-US" sz="2000" b="1" dirty="0">
                <a:solidFill>
                  <a:schemeClr val="bg1"/>
                </a:solidFill>
                <a:latin typeface="+mn-ea"/>
              </a:rPr>
              <a:t>。轮转法的基本概念是将</a:t>
            </a:r>
            <a:r>
              <a:rPr lang="en-US" altLang="zh-CN" sz="2000" b="1" dirty="0">
                <a:solidFill>
                  <a:schemeClr val="bg1"/>
                </a:solidFill>
                <a:latin typeface="+mn-ea"/>
              </a:rPr>
              <a:t>CPU</a:t>
            </a:r>
            <a:r>
              <a:rPr lang="zh-CN" altLang="en-US" sz="2000" b="1" dirty="0">
                <a:solidFill>
                  <a:schemeClr val="bg1"/>
                </a:solidFill>
                <a:latin typeface="+mn-ea"/>
              </a:rPr>
              <a:t>的处理时间分成固定大小的时间片。如果一个进程在被调度选中之后用完了系统规定的时间片，但未完成要求的任务，则它自行释放自己所占有的</a:t>
            </a:r>
            <a:r>
              <a:rPr lang="en-US" altLang="zh-CN" sz="2000" b="1" dirty="0">
                <a:solidFill>
                  <a:schemeClr val="bg1"/>
                </a:solidFill>
                <a:latin typeface="+mn-ea"/>
              </a:rPr>
              <a:t>CPU</a:t>
            </a:r>
            <a:r>
              <a:rPr lang="zh-CN" altLang="en-US" sz="2000" b="1" dirty="0">
                <a:solidFill>
                  <a:schemeClr val="bg1"/>
                </a:solidFill>
                <a:latin typeface="+mn-ea"/>
              </a:rPr>
              <a:t>而排到就绪队列的末尾，等待下一次调度。同时，进程调度程序又去调度当前就绪队列中的第一个进程或作业</a:t>
            </a:r>
          </a:p>
        </p:txBody>
      </p:sp>
      <p:pic>
        <p:nvPicPr>
          <p:cNvPr id="29" name="图片 28"/>
          <p:cNvPicPr>
            <a:picLocks noChangeAspect="1"/>
          </p:cNvPicPr>
          <p:nvPr/>
        </p:nvPicPr>
        <p:blipFill>
          <a:blip r:embed="rId2"/>
          <a:stretch>
            <a:fillRect/>
          </a:stretch>
        </p:blipFill>
        <p:spPr>
          <a:xfrm>
            <a:off x="887928" y="457487"/>
            <a:ext cx="6677025" cy="4162425"/>
          </a:xfrm>
          <a:prstGeom prst="rect">
            <a:avLst/>
          </a:prstGeom>
        </p:spPr>
      </p:pic>
    </p:spTree>
    <p:extLst>
      <p:ext uri="{BB962C8B-B14F-4D97-AF65-F5344CB8AC3E}">
        <p14:creationId xmlns:p14="http://schemas.microsoft.com/office/powerpoint/2010/main" val="141149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anim calcmode="lin" valueType="num">
                                      <p:cBhvr>
                                        <p:cTn id="13" dur="1000" fill="hold"/>
                                        <p:tgtEl>
                                          <p:spTgt spid="29"/>
                                        </p:tgtEl>
                                        <p:attrNameLst>
                                          <p:attrName>ppt_x</p:attrName>
                                        </p:attrNameLst>
                                      </p:cBhvr>
                                      <p:tavLst>
                                        <p:tav tm="0">
                                          <p:val>
                                            <p:strVal val="#ppt_x"/>
                                          </p:val>
                                        </p:tav>
                                        <p:tav tm="100000">
                                          <p:val>
                                            <p:strVal val="#ppt_x"/>
                                          </p:val>
                                        </p:tav>
                                      </p:tavLst>
                                    </p:anim>
                                    <p:anim calcmode="lin" valueType="num">
                                      <p:cBhvr>
                                        <p:cTn id="1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827584" y="1491630"/>
            <a:ext cx="6912768" cy="1754326"/>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轮转法只能用来调度分配那些可以抢占的资源。将它们随时剥夺再分配给别的进程。</a:t>
            </a:r>
            <a:r>
              <a:rPr lang="en-US" altLang="zh-CN" sz="2400" b="1" dirty="0">
                <a:solidFill>
                  <a:schemeClr val="bg1"/>
                </a:solidFill>
                <a:latin typeface="+mn-ea"/>
              </a:rPr>
              <a:t>CPU</a:t>
            </a:r>
            <a:r>
              <a:rPr lang="zh-CN" altLang="en-US" sz="2400" b="1" dirty="0">
                <a:solidFill>
                  <a:schemeClr val="bg1"/>
                </a:solidFill>
                <a:latin typeface="+mn-ea"/>
              </a:rPr>
              <a:t>是可抢占资源的一种。但如打印机等资源是不可抢占的</a:t>
            </a:r>
            <a:r>
              <a:rPr lang="zh-CN" altLang="en-US" sz="2400" b="1" dirty="0" smtClean="0">
                <a:solidFill>
                  <a:schemeClr val="bg1"/>
                </a:solidFill>
                <a:latin typeface="+mn-ea"/>
              </a:rPr>
              <a:t>。</a:t>
            </a:r>
            <a:endParaRPr lang="zh-CN" altLang="en-US" sz="2400" b="1" dirty="0">
              <a:solidFill>
                <a:schemeClr val="bg1"/>
              </a:solidFill>
              <a:latin typeface="+mn-ea"/>
            </a:endParaRPr>
          </a:p>
        </p:txBody>
      </p:sp>
    </p:spTree>
    <p:extLst>
      <p:ext uri="{BB962C8B-B14F-4D97-AF65-F5344CB8AC3E}">
        <p14:creationId xmlns:p14="http://schemas.microsoft.com/office/powerpoint/2010/main" val="283629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827584" y="1344876"/>
            <a:ext cx="6912768" cy="277576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作业调度是否可以采用论转法？</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作业调度</a:t>
            </a:r>
            <a:r>
              <a:rPr lang="zh-CN" altLang="en-US" sz="2400" b="1" dirty="0">
                <a:solidFill>
                  <a:schemeClr val="bg1"/>
                </a:solidFill>
                <a:latin typeface="+mn-ea"/>
              </a:rPr>
              <a:t>是对除了</a:t>
            </a:r>
            <a:r>
              <a:rPr lang="en-US" altLang="zh-CN" sz="2400" b="1" dirty="0">
                <a:solidFill>
                  <a:schemeClr val="bg1"/>
                </a:solidFill>
                <a:latin typeface="+mn-ea"/>
              </a:rPr>
              <a:t>CPU</a:t>
            </a:r>
            <a:r>
              <a:rPr lang="zh-CN" altLang="en-US" sz="2400" b="1" dirty="0">
                <a:solidFill>
                  <a:schemeClr val="bg1"/>
                </a:solidFill>
                <a:latin typeface="+mn-ea"/>
              </a:rPr>
              <a:t>之外的所有系统硬件资源的分配，其中包含有不可抢占资源，所以</a:t>
            </a:r>
            <a:r>
              <a:rPr lang="zh-CN" altLang="en-US" sz="2400" b="1" dirty="0">
                <a:solidFill>
                  <a:srgbClr val="FFFF00"/>
                </a:solidFill>
                <a:latin typeface="+mn-ea"/>
              </a:rPr>
              <a:t>作业调度不使用轮转法</a:t>
            </a:r>
            <a:r>
              <a:rPr lang="zh-CN" altLang="en-US" sz="2400" b="1" dirty="0">
                <a:solidFill>
                  <a:schemeClr val="bg1"/>
                </a:solidFill>
                <a:latin typeface="+mn-ea"/>
              </a:rPr>
              <a:t>。</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79858">
            <a:off x="5438495" y="1297854"/>
            <a:ext cx="1379786" cy="1248048"/>
          </a:xfrm>
          <a:prstGeom prst="rect">
            <a:avLst/>
          </a:prstGeom>
        </p:spPr>
      </p:pic>
    </p:spTree>
    <p:extLst>
      <p:ext uri="{BB962C8B-B14F-4D97-AF65-F5344CB8AC3E}">
        <p14:creationId xmlns:p14="http://schemas.microsoft.com/office/powerpoint/2010/main" val="185383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246500"/>
            <a:ext cx="6912768" cy="3344185"/>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在轮转法中，时间片长度的选取非常重要</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首先</a:t>
            </a:r>
            <a:r>
              <a:rPr lang="zh-CN" altLang="en-US" sz="2000" b="1" dirty="0">
                <a:solidFill>
                  <a:schemeClr val="bg1"/>
                </a:solidFill>
                <a:latin typeface="+mn-ea"/>
              </a:rPr>
              <a:t>，时间片长度的选择会直接影响系统开销和响应时间。如果</a:t>
            </a:r>
            <a:r>
              <a:rPr lang="zh-CN" altLang="en-US" sz="2000" b="1" dirty="0">
                <a:solidFill>
                  <a:srgbClr val="FFFF00"/>
                </a:solidFill>
                <a:latin typeface="+mn-ea"/>
              </a:rPr>
              <a:t>时间片长度过短</a:t>
            </a:r>
            <a:r>
              <a:rPr lang="zh-CN" altLang="en-US" sz="2000" b="1" dirty="0">
                <a:solidFill>
                  <a:schemeClr val="bg1"/>
                </a:solidFill>
                <a:latin typeface="+mn-ea"/>
              </a:rPr>
              <a:t>，则调度程序剥夺处理机的次数增多。这将使</a:t>
            </a:r>
            <a:r>
              <a:rPr lang="zh-CN" altLang="en-US" sz="2000" b="1" dirty="0">
                <a:solidFill>
                  <a:srgbClr val="FFFF00"/>
                </a:solidFill>
                <a:latin typeface="+mn-ea"/>
              </a:rPr>
              <a:t>进程上下文切换次数也大大增加</a:t>
            </a:r>
            <a:r>
              <a:rPr lang="zh-CN" altLang="en-US" sz="2000" b="1" dirty="0">
                <a:solidFill>
                  <a:schemeClr val="bg1"/>
                </a:solidFill>
                <a:latin typeface="+mn-ea"/>
              </a:rPr>
              <a:t>，从而加重系统开销。反过来，如果</a:t>
            </a:r>
            <a:r>
              <a:rPr lang="zh-CN" altLang="en-US" sz="2000" b="1" dirty="0">
                <a:solidFill>
                  <a:srgbClr val="FFFF00"/>
                </a:solidFill>
                <a:latin typeface="+mn-ea"/>
              </a:rPr>
              <a:t>时间片长度选择过长</a:t>
            </a:r>
            <a:r>
              <a:rPr lang="zh-CN" altLang="en-US" sz="2000" b="1" dirty="0">
                <a:solidFill>
                  <a:schemeClr val="bg1"/>
                </a:solidFill>
                <a:latin typeface="+mn-ea"/>
              </a:rPr>
              <a:t>，比方说一个时间片能保证就绪队列中所需执行时间最长的进程能执行完毕，则轮转法变成了</a:t>
            </a:r>
            <a:r>
              <a:rPr lang="zh-CN" altLang="en-US" sz="2000" b="1" dirty="0">
                <a:solidFill>
                  <a:srgbClr val="FFFF00"/>
                </a:solidFill>
                <a:latin typeface="+mn-ea"/>
              </a:rPr>
              <a:t>先来先服务法</a:t>
            </a:r>
            <a:r>
              <a:rPr lang="zh-CN" altLang="en-US" sz="2000" b="1" dirty="0">
                <a:solidFill>
                  <a:schemeClr val="bg1"/>
                </a:solidFill>
                <a:latin typeface="+mn-ea"/>
              </a:rPr>
              <a:t>。</a:t>
            </a:r>
          </a:p>
        </p:txBody>
      </p:sp>
    </p:spTree>
    <p:extLst>
      <p:ext uri="{BB962C8B-B14F-4D97-AF65-F5344CB8AC3E}">
        <p14:creationId xmlns:p14="http://schemas.microsoft.com/office/powerpoint/2010/main" val="239323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290916"/>
            <a:ext cx="6912768" cy="3291670"/>
          </a:xfrm>
          <a:prstGeom prst="rect">
            <a:avLst/>
          </a:prstGeom>
        </p:spPr>
        <p:txBody>
          <a:bodyPr wrap="square">
            <a:spAutoFit/>
          </a:bodyPr>
          <a:lstStyle/>
          <a:p>
            <a:pPr marL="0" lvl="1" algn="just">
              <a:lnSpc>
                <a:spcPct val="135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时间片长度的选择是根据系统对响应时间的要求</a:t>
            </a:r>
            <a:r>
              <a:rPr lang="en-US" altLang="zh-CN" sz="2200" b="1" dirty="0">
                <a:solidFill>
                  <a:schemeClr val="bg1"/>
                </a:solidFill>
                <a:latin typeface="+mn-ea"/>
              </a:rPr>
              <a:t>R</a:t>
            </a:r>
            <a:r>
              <a:rPr lang="zh-CN" altLang="en-US" sz="2200" b="1" dirty="0">
                <a:solidFill>
                  <a:schemeClr val="bg1"/>
                </a:solidFill>
                <a:latin typeface="+mn-ea"/>
              </a:rPr>
              <a:t>和就绪队列中所允许的最大进程数</a:t>
            </a:r>
            <a:r>
              <a:rPr lang="en-US" altLang="zh-CN" sz="2200" b="1" dirty="0" err="1">
                <a:solidFill>
                  <a:schemeClr val="bg1"/>
                </a:solidFill>
                <a:latin typeface="+mn-ea"/>
              </a:rPr>
              <a:t>Nmax</a:t>
            </a:r>
            <a:r>
              <a:rPr lang="zh-CN" altLang="en-US" sz="2200" b="1" dirty="0">
                <a:solidFill>
                  <a:schemeClr val="bg1"/>
                </a:solidFill>
                <a:latin typeface="+mn-ea"/>
              </a:rPr>
              <a:t>确定的。它可表示为</a:t>
            </a:r>
            <a:r>
              <a:rPr lang="zh-CN" altLang="en-US" sz="2200" b="1" dirty="0" smtClean="0">
                <a:solidFill>
                  <a:schemeClr val="bg1"/>
                </a:solidFill>
                <a:latin typeface="+mn-ea"/>
              </a:rPr>
              <a:t>：</a:t>
            </a:r>
            <a:r>
              <a:rPr lang="en-US" altLang="zh-CN" sz="2200" b="1" dirty="0" smtClean="0">
                <a:solidFill>
                  <a:srgbClr val="FFFF00"/>
                </a:solidFill>
                <a:latin typeface="+mn-ea"/>
              </a:rPr>
              <a:t>q=R/</a:t>
            </a:r>
            <a:r>
              <a:rPr lang="en-US" altLang="zh-CN" sz="2200" b="1" dirty="0" err="1" smtClean="0">
                <a:solidFill>
                  <a:srgbClr val="FFFF00"/>
                </a:solidFill>
                <a:latin typeface="+mn-ea"/>
              </a:rPr>
              <a:t>Nmax</a:t>
            </a:r>
            <a:endParaRPr lang="en-US" altLang="zh-CN" sz="2200" b="1" dirty="0" smtClean="0">
              <a:solidFill>
                <a:srgbClr val="FFFF00"/>
              </a:solidFill>
              <a:latin typeface="+mn-ea"/>
            </a:endParaRPr>
          </a:p>
          <a:p>
            <a:pPr marL="0" lvl="1" algn="just">
              <a:lnSpc>
                <a:spcPct val="135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若</a:t>
            </a:r>
            <a:r>
              <a:rPr lang="en-US" altLang="zh-CN" sz="2200" b="1" dirty="0" smtClean="0">
                <a:solidFill>
                  <a:schemeClr val="bg1"/>
                </a:solidFill>
                <a:latin typeface="+mn-ea"/>
              </a:rPr>
              <a:t>q</a:t>
            </a:r>
            <a:r>
              <a:rPr lang="zh-CN" altLang="en-US" sz="2200" b="1" dirty="0">
                <a:solidFill>
                  <a:schemeClr val="bg1"/>
                </a:solidFill>
                <a:latin typeface="+mn-ea"/>
              </a:rPr>
              <a:t>为</a:t>
            </a:r>
            <a:r>
              <a:rPr lang="zh-CN" altLang="en-US" sz="2200" b="1" dirty="0" smtClean="0">
                <a:solidFill>
                  <a:schemeClr val="bg1"/>
                </a:solidFill>
                <a:latin typeface="+mn-ea"/>
              </a:rPr>
              <a:t>常数，则当就绪</a:t>
            </a:r>
            <a:r>
              <a:rPr lang="zh-CN" altLang="en-US" sz="2200" b="1" dirty="0">
                <a:solidFill>
                  <a:schemeClr val="bg1"/>
                </a:solidFill>
                <a:latin typeface="+mn-ea"/>
              </a:rPr>
              <a:t>队列中的进程数发生远小于</a:t>
            </a:r>
            <a:r>
              <a:rPr lang="en-US" altLang="zh-CN" sz="2200" b="1" dirty="0" err="1">
                <a:solidFill>
                  <a:schemeClr val="bg1"/>
                </a:solidFill>
                <a:latin typeface="+mn-ea"/>
              </a:rPr>
              <a:t>Nmax</a:t>
            </a:r>
            <a:r>
              <a:rPr lang="zh-CN" altLang="en-US" sz="2200" b="1" dirty="0">
                <a:solidFill>
                  <a:schemeClr val="bg1"/>
                </a:solidFill>
                <a:latin typeface="+mn-ea"/>
              </a:rPr>
              <a:t>的变化，则响应时间</a:t>
            </a:r>
            <a:r>
              <a:rPr lang="en-US" altLang="zh-CN" sz="2200" b="1" dirty="0">
                <a:solidFill>
                  <a:schemeClr val="bg1"/>
                </a:solidFill>
                <a:latin typeface="+mn-ea"/>
              </a:rPr>
              <a:t>R</a:t>
            </a:r>
            <a:r>
              <a:rPr lang="zh-CN" altLang="en-US" sz="2200" b="1" dirty="0">
                <a:solidFill>
                  <a:schemeClr val="bg1"/>
                </a:solidFill>
                <a:latin typeface="+mn-ea"/>
              </a:rPr>
              <a:t>看上去会大大减小。但是，就系统开销来说，由于</a:t>
            </a:r>
            <a:r>
              <a:rPr lang="en-US" altLang="zh-CN" sz="2200" b="1" dirty="0">
                <a:solidFill>
                  <a:schemeClr val="bg1"/>
                </a:solidFill>
                <a:latin typeface="+mn-ea"/>
              </a:rPr>
              <a:t>q</a:t>
            </a:r>
            <a:r>
              <a:rPr lang="zh-CN" altLang="en-US" sz="2200" b="1" dirty="0">
                <a:solidFill>
                  <a:schemeClr val="bg1"/>
                </a:solidFill>
                <a:latin typeface="+mn-ea"/>
              </a:rPr>
              <a:t>值固定，从而进程上下文切换的时机不变，系统开销也不变。</a:t>
            </a:r>
            <a:endParaRPr lang="en-US" altLang="zh-CN" sz="2200" b="1" dirty="0">
              <a:solidFill>
                <a:schemeClr val="bg1"/>
              </a:solidFill>
              <a:latin typeface="+mn-ea"/>
            </a:endParaRPr>
          </a:p>
        </p:txBody>
      </p:sp>
    </p:spTree>
    <p:extLst>
      <p:ext uri="{BB962C8B-B14F-4D97-AF65-F5344CB8AC3E}">
        <p14:creationId xmlns:p14="http://schemas.microsoft.com/office/powerpoint/2010/main" val="1193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轮</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385166"/>
            <a:ext cx="6912768" cy="26987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更好的解决方法：</a:t>
            </a:r>
            <a:r>
              <a:rPr lang="zh-CN" altLang="en-US" sz="2400" b="1" dirty="0">
                <a:solidFill>
                  <a:schemeClr val="bg1"/>
                </a:solidFill>
                <a:latin typeface="+mn-ea"/>
              </a:rPr>
              <a:t>每当一轮调度开始时，系统便根据就绪队列中已有进程数目计算一次</a:t>
            </a:r>
            <a:r>
              <a:rPr lang="en-US" altLang="zh-CN" sz="2400" b="1" dirty="0">
                <a:solidFill>
                  <a:schemeClr val="bg1"/>
                </a:solidFill>
                <a:latin typeface="+mn-ea"/>
              </a:rPr>
              <a:t>q</a:t>
            </a:r>
            <a:r>
              <a:rPr lang="zh-CN" altLang="en-US" sz="2400" b="1" dirty="0">
                <a:solidFill>
                  <a:schemeClr val="bg1"/>
                </a:solidFill>
                <a:latin typeface="+mn-ea"/>
              </a:rPr>
              <a:t>值，作为新一轮调度的时间片。这种方法得到的时间片随就绪队列中的进程数变化。</a:t>
            </a:r>
          </a:p>
          <a:p>
            <a:pPr marL="0" lvl="1" algn="just">
              <a:lnSpc>
                <a:spcPct val="135000"/>
              </a:lnSpc>
              <a:buClr>
                <a:schemeClr val="accent6">
                  <a:lumMod val="60000"/>
                  <a:lumOff val="40000"/>
                </a:schemeClr>
              </a:buClr>
              <a:buFont typeface="Wingdings" panose="05000000000000000000" pitchFamily="2" charset="2"/>
              <a:buChar char="Ø"/>
            </a:pPr>
            <a:endParaRPr lang="en-US" altLang="zh-CN" sz="2200" b="1" dirty="0">
              <a:solidFill>
                <a:schemeClr val="bg1"/>
              </a:solidFill>
              <a:latin typeface="+mn-ea"/>
            </a:endParaRPr>
          </a:p>
        </p:txBody>
      </p:sp>
    </p:spTree>
    <p:extLst>
      <p:ext uri="{BB962C8B-B14F-4D97-AF65-F5344CB8AC3E}">
        <p14:creationId xmlns:p14="http://schemas.microsoft.com/office/powerpoint/2010/main" val="151736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多级反馈轮转法（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RRF</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385166"/>
            <a:ext cx="6912768" cy="33239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分析</a:t>
            </a:r>
            <a:r>
              <a:rPr lang="zh-CN" altLang="en-US" sz="2000" b="1" dirty="0">
                <a:solidFill>
                  <a:schemeClr val="bg1"/>
                </a:solidFill>
                <a:latin typeface="+mn-ea"/>
              </a:rPr>
              <a:t>：在轮转法中，加入到就绪队列进程的三种</a:t>
            </a:r>
            <a:r>
              <a:rPr lang="zh-CN" altLang="en-US" sz="2000" b="1" dirty="0" smtClean="0">
                <a:solidFill>
                  <a:schemeClr val="bg1"/>
                </a:solidFill>
                <a:latin typeface="+mn-ea"/>
              </a:rPr>
              <a:t>情况</a:t>
            </a:r>
            <a:endParaRPr lang="en-US" altLang="zh-CN" sz="2000" b="1" dirty="0" smtClean="0">
              <a:solidFill>
                <a:schemeClr val="bg1"/>
              </a:solidFill>
              <a:latin typeface="+mn-ea"/>
            </a:endParaRPr>
          </a:p>
          <a:p>
            <a:pPr marL="180975" lvl="1" algn="just">
              <a:lnSpc>
                <a:spcPct val="150000"/>
              </a:lnSpc>
              <a:buClr>
                <a:schemeClr val="accent3">
                  <a:lumMod val="60000"/>
                  <a:lumOff val="40000"/>
                </a:schemeClr>
              </a:buClr>
              <a:buFont typeface="Wingdings" panose="05000000000000000000" pitchFamily="2" charset="2"/>
              <a:buChar char="l"/>
            </a:pPr>
            <a:r>
              <a:rPr lang="zh-CN" altLang="en-US" sz="2000" b="1" dirty="0">
                <a:solidFill>
                  <a:schemeClr val="bg1"/>
                </a:solidFill>
                <a:latin typeface="+mn-ea"/>
              </a:rPr>
              <a:t>分给它的</a:t>
            </a:r>
            <a:r>
              <a:rPr lang="zh-CN" altLang="en-US" sz="2000" b="1" dirty="0">
                <a:solidFill>
                  <a:srgbClr val="FFFF00"/>
                </a:solidFill>
                <a:latin typeface="+mn-ea"/>
              </a:rPr>
              <a:t>时间片用完</a:t>
            </a:r>
            <a:r>
              <a:rPr lang="zh-CN" altLang="en-US" sz="2000" b="1" dirty="0">
                <a:solidFill>
                  <a:schemeClr val="bg1"/>
                </a:solidFill>
                <a:latin typeface="+mn-ea"/>
              </a:rPr>
              <a:t>，但进程还未完成，回到就绪队列的末尾等待下次调度去继续执行。</a:t>
            </a:r>
            <a:endParaRPr lang="en-US" altLang="zh-CN" sz="2000" b="1" dirty="0">
              <a:solidFill>
                <a:schemeClr val="bg1"/>
              </a:solidFill>
              <a:latin typeface="+mn-ea"/>
            </a:endParaRPr>
          </a:p>
          <a:p>
            <a:pPr marL="180975" lvl="1" algn="just">
              <a:lnSpc>
                <a:spcPct val="150000"/>
              </a:lnSpc>
              <a:buClr>
                <a:schemeClr val="accent3">
                  <a:lumMod val="60000"/>
                  <a:lumOff val="40000"/>
                </a:schemeClr>
              </a:buClr>
              <a:buFont typeface="Wingdings" panose="05000000000000000000" pitchFamily="2" charset="2"/>
              <a:buChar char="l"/>
            </a:pPr>
            <a:r>
              <a:rPr lang="zh-CN" altLang="en-US" sz="2000" b="1" dirty="0">
                <a:solidFill>
                  <a:schemeClr val="bg1"/>
                </a:solidFill>
                <a:latin typeface="+mn-ea"/>
              </a:rPr>
              <a:t>分给该进程的时间片并未用完，只是因为请求</a:t>
            </a:r>
            <a:r>
              <a:rPr lang="en-US" altLang="zh-CN" sz="2000" b="1" dirty="0">
                <a:solidFill>
                  <a:schemeClr val="bg1"/>
                </a:solidFill>
                <a:latin typeface="+mn-ea"/>
              </a:rPr>
              <a:t>I</a:t>
            </a:r>
            <a:r>
              <a:rPr lang="zh-CN" altLang="en-US" sz="2000" b="1" dirty="0">
                <a:solidFill>
                  <a:schemeClr val="bg1"/>
                </a:solidFill>
                <a:latin typeface="+mn-ea"/>
              </a:rPr>
              <a:t>／</a:t>
            </a:r>
            <a:r>
              <a:rPr lang="en-US" altLang="zh-CN" sz="2000" b="1" dirty="0">
                <a:solidFill>
                  <a:schemeClr val="bg1"/>
                </a:solidFill>
                <a:latin typeface="+mn-ea"/>
              </a:rPr>
              <a:t>O</a:t>
            </a:r>
            <a:r>
              <a:rPr lang="zh-CN" altLang="en-US" sz="2000" b="1" dirty="0">
                <a:solidFill>
                  <a:schemeClr val="bg1"/>
                </a:solidFill>
                <a:latin typeface="+mn-ea"/>
              </a:rPr>
              <a:t>或由于进程的互斥与同步关系而</a:t>
            </a:r>
            <a:r>
              <a:rPr lang="zh-CN" altLang="en-US" sz="2000" b="1" dirty="0">
                <a:solidFill>
                  <a:srgbClr val="FFFF00"/>
                </a:solidFill>
                <a:latin typeface="+mn-ea"/>
              </a:rPr>
              <a:t>被阻塞</a:t>
            </a:r>
            <a:r>
              <a:rPr lang="zh-CN" altLang="en-US" sz="2000" b="1" dirty="0">
                <a:solidFill>
                  <a:schemeClr val="bg1"/>
                </a:solidFill>
                <a:latin typeface="+mn-ea"/>
              </a:rPr>
              <a:t>。当阻塞解除之后再回到就绪队列。</a:t>
            </a:r>
            <a:endParaRPr lang="en-US" altLang="zh-CN" sz="2000" b="1" dirty="0">
              <a:solidFill>
                <a:schemeClr val="bg1"/>
              </a:solidFill>
              <a:latin typeface="+mn-ea"/>
            </a:endParaRPr>
          </a:p>
          <a:p>
            <a:pPr marL="180975" lvl="1" algn="just">
              <a:lnSpc>
                <a:spcPct val="150000"/>
              </a:lnSpc>
              <a:buClr>
                <a:schemeClr val="accent3">
                  <a:lumMod val="60000"/>
                  <a:lumOff val="40000"/>
                </a:schemeClr>
              </a:buClr>
              <a:buFont typeface="Wingdings" panose="05000000000000000000" pitchFamily="2" charset="2"/>
              <a:buChar char="l"/>
            </a:pPr>
            <a:r>
              <a:rPr lang="zh-CN" altLang="en-US" sz="2000" b="1" dirty="0">
                <a:solidFill>
                  <a:srgbClr val="FFFF00"/>
                </a:solidFill>
                <a:latin typeface="+mn-ea"/>
              </a:rPr>
              <a:t>新创建进程</a:t>
            </a:r>
            <a:r>
              <a:rPr lang="zh-CN" altLang="en-US" sz="2000" b="1" dirty="0">
                <a:solidFill>
                  <a:schemeClr val="bg1"/>
                </a:solidFill>
                <a:latin typeface="+mn-ea"/>
              </a:rPr>
              <a:t>进入就绪队列。</a:t>
            </a:r>
            <a:endParaRPr lang="en-US" altLang="zh-CN" sz="2000" b="1" dirty="0">
              <a:solidFill>
                <a:schemeClr val="bg1"/>
              </a:solidFill>
              <a:latin typeface="+mn-ea"/>
            </a:endParaRPr>
          </a:p>
        </p:txBody>
      </p:sp>
    </p:spTree>
    <p:extLst>
      <p:ext uri="{BB962C8B-B14F-4D97-AF65-F5344CB8AC3E}">
        <p14:creationId xmlns:p14="http://schemas.microsoft.com/office/powerpoint/2010/main" val="394729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467544" y="104297"/>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多级反馈轮转法（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RRF</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305292"/>
            <a:ext cx="6912768" cy="222176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对上述三种进程</a:t>
            </a:r>
            <a:r>
              <a:rPr lang="zh-CN" altLang="en-US" sz="2400" b="1" dirty="0">
                <a:solidFill>
                  <a:schemeClr val="bg1"/>
                </a:solidFill>
                <a:latin typeface="+mn-ea"/>
              </a:rPr>
              <a:t>区别对待，给予不同的优先级和</a:t>
            </a:r>
            <a:r>
              <a:rPr lang="zh-CN" altLang="en-US" sz="2400" b="1" dirty="0" smtClean="0">
                <a:solidFill>
                  <a:schemeClr val="bg1"/>
                </a:solidFill>
                <a:latin typeface="+mn-ea"/>
              </a:rPr>
              <a:t>时间片。</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每个</a:t>
            </a:r>
            <a:r>
              <a:rPr lang="zh-CN" altLang="en-US" sz="2400" b="1" dirty="0">
                <a:solidFill>
                  <a:schemeClr val="bg1"/>
                </a:solidFill>
                <a:latin typeface="+mn-ea"/>
              </a:rPr>
              <a:t>队列按</a:t>
            </a:r>
            <a:r>
              <a:rPr lang="en-US" altLang="zh-CN" sz="2400" b="1" dirty="0">
                <a:solidFill>
                  <a:schemeClr val="bg1"/>
                </a:solidFill>
                <a:latin typeface="+mn-ea"/>
              </a:rPr>
              <a:t>FCFS</a:t>
            </a:r>
            <a:r>
              <a:rPr lang="zh-CN" altLang="en-US" sz="2400" b="1" dirty="0">
                <a:solidFill>
                  <a:schemeClr val="bg1"/>
                </a:solidFill>
                <a:latin typeface="+mn-ea"/>
              </a:rPr>
              <a:t>原则排列，各队列之间的进程享有不同的优先级，但同一队列内优先级相同</a:t>
            </a:r>
            <a:endParaRPr lang="en-US" altLang="zh-CN" sz="2400" b="1" dirty="0">
              <a:solidFill>
                <a:schemeClr val="bg1"/>
              </a:solidFill>
              <a:latin typeface="+mn-ea"/>
            </a:endParaRPr>
          </a:p>
        </p:txBody>
      </p:sp>
      <p:pic>
        <p:nvPicPr>
          <p:cNvPr id="29" name="图片 28"/>
          <p:cNvPicPr>
            <a:picLocks noChangeAspect="1"/>
          </p:cNvPicPr>
          <p:nvPr/>
        </p:nvPicPr>
        <p:blipFill>
          <a:blip r:embed="rId2"/>
          <a:stretch>
            <a:fillRect/>
          </a:stretch>
        </p:blipFill>
        <p:spPr>
          <a:xfrm>
            <a:off x="838919" y="843240"/>
            <a:ext cx="6829425" cy="3676650"/>
          </a:xfrm>
          <a:prstGeom prst="rect">
            <a:avLst/>
          </a:prstGeom>
        </p:spPr>
      </p:pic>
    </p:spTree>
    <p:extLst>
      <p:ext uri="{BB962C8B-B14F-4D97-AF65-F5344CB8AC3E}">
        <p14:creationId xmlns:p14="http://schemas.microsoft.com/office/powerpoint/2010/main" val="244267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算法</a:t>
            </a:r>
          </a:p>
        </p:txBody>
      </p:sp>
      <p:sp>
        <p:nvSpPr>
          <p:cNvPr id="2" name="矩形 1"/>
          <p:cNvSpPr/>
          <p:nvPr/>
        </p:nvSpPr>
        <p:spPr>
          <a:xfrm>
            <a:off x="755576" y="1419622"/>
            <a:ext cx="6912768"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系统或用户按某种原则为作业或进程</a:t>
            </a:r>
            <a:r>
              <a:rPr lang="zh-CN" altLang="en-US" sz="2400" b="1" dirty="0">
                <a:solidFill>
                  <a:srgbClr val="FFFF00"/>
                </a:solidFill>
                <a:latin typeface="+mn-ea"/>
              </a:rPr>
              <a:t>指定一个优先级</a:t>
            </a:r>
            <a:r>
              <a:rPr lang="zh-CN" altLang="en-US" sz="2400" b="1" dirty="0">
                <a:solidFill>
                  <a:schemeClr val="bg1"/>
                </a:solidFill>
                <a:latin typeface="+mn-ea"/>
              </a:rPr>
              <a:t>来表示该作业或进程所享有的调度优先权</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该</a:t>
            </a:r>
            <a:r>
              <a:rPr lang="zh-CN" altLang="en-US" sz="2400" b="1" dirty="0">
                <a:solidFill>
                  <a:schemeClr val="bg1"/>
                </a:solidFill>
                <a:latin typeface="+mn-ea"/>
              </a:rPr>
              <a:t>算法的</a:t>
            </a:r>
            <a:r>
              <a:rPr lang="zh-CN" altLang="en-US" sz="2400" b="1" dirty="0">
                <a:solidFill>
                  <a:srgbClr val="FFFF00"/>
                </a:solidFill>
                <a:latin typeface="+mn-ea"/>
              </a:rPr>
              <a:t>核心</a:t>
            </a:r>
            <a:r>
              <a:rPr lang="zh-CN" altLang="en-US" sz="2400" b="1" dirty="0">
                <a:solidFill>
                  <a:schemeClr val="bg1"/>
                </a:solidFill>
                <a:latin typeface="+mn-ea"/>
              </a:rPr>
              <a:t>是</a:t>
            </a:r>
            <a:r>
              <a:rPr lang="zh-CN" altLang="en-US" sz="2400" b="1" dirty="0">
                <a:solidFill>
                  <a:srgbClr val="FFFF00"/>
                </a:solidFill>
                <a:latin typeface="+mn-ea"/>
              </a:rPr>
              <a:t>确定</a:t>
            </a:r>
            <a:r>
              <a:rPr lang="zh-CN" altLang="en-US" sz="2400" b="1" dirty="0">
                <a:solidFill>
                  <a:schemeClr val="bg1"/>
                </a:solidFill>
                <a:latin typeface="+mn-ea"/>
              </a:rPr>
              <a:t>进程或作业的</a:t>
            </a:r>
            <a:r>
              <a:rPr lang="zh-CN" altLang="en-US" sz="2400" b="1" dirty="0">
                <a:solidFill>
                  <a:srgbClr val="FFFF00"/>
                </a:solidFill>
                <a:latin typeface="+mn-ea"/>
              </a:rPr>
              <a:t>优先级</a:t>
            </a:r>
            <a:r>
              <a:rPr lang="zh-CN" altLang="en-US" sz="2400" b="1" dirty="0">
                <a:solidFill>
                  <a:schemeClr val="bg1"/>
                </a:solidFill>
                <a:latin typeface="+mn-ea"/>
              </a:rPr>
              <a:t>。</a:t>
            </a:r>
          </a:p>
        </p:txBody>
      </p:sp>
    </p:spTree>
    <p:extLst>
      <p:ext uri="{BB962C8B-B14F-4D97-AF65-F5344CB8AC3E}">
        <p14:creationId xmlns:p14="http://schemas.microsoft.com/office/powerpoint/2010/main" val="41238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优先级法调度算法</a:t>
            </a:r>
          </a:p>
        </p:txBody>
      </p:sp>
      <p:grpSp>
        <p:nvGrpSpPr>
          <p:cNvPr id="37" name="组合 36"/>
          <p:cNvGrpSpPr/>
          <p:nvPr/>
        </p:nvGrpSpPr>
        <p:grpSpPr>
          <a:xfrm>
            <a:off x="1088154" y="1344876"/>
            <a:ext cx="2751751" cy="2685679"/>
            <a:chOff x="4648810" y="926790"/>
            <a:chExt cx="1611636" cy="2685679"/>
          </a:xfrm>
        </p:grpSpPr>
        <p:sp>
          <p:nvSpPr>
            <p:cNvPr id="30" name="任意多边形 29"/>
            <p:cNvSpPr/>
            <p:nvPr/>
          </p:nvSpPr>
          <p:spPr>
            <a:xfrm>
              <a:off x="4648810"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6622584"/>
                <a:satOff val="26541"/>
                <a:lumOff val="5752"/>
                <a:alphaOff val="0"/>
              </a:schemeClr>
            </a:lnRef>
            <a:fillRef idx="1">
              <a:schemeClr val="accent5">
                <a:hueOff val="-6622584"/>
                <a:satOff val="26541"/>
                <a:lumOff val="5752"/>
                <a:alphaOff val="0"/>
              </a:schemeClr>
            </a:fillRef>
            <a:effectRef idx="0">
              <a:schemeClr val="accent5">
                <a:hueOff val="-6622584"/>
                <a:satOff val="26541"/>
                <a:lumOff val="5752"/>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静态法</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1" name="任意多边形 30"/>
            <p:cNvSpPr/>
            <p:nvPr/>
          </p:nvSpPr>
          <p:spPr>
            <a:xfrm>
              <a:off x="4648810" y="1458262"/>
              <a:ext cx="1611636" cy="2154207"/>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7160321"/>
                <a:satOff val="32169"/>
                <a:lumOff val="2211"/>
                <a:alphaOff val="0"/>
              </a:schemeClr>
            </a:lnRef>
            <a:fillRef idx="1">
              <a:schemeClr val="accent5">
                <a:tint val="40000"/>
                <a:alpha val="90000"/>
                <a:hueOff val="-7160321"/>
                <a:satOff val="32169"/>
                <a:lumOff val="2211"/>
                <a:alphaOff val="0"/>
              </a:schemeClr>
            </a:fillRef>
            <a:effectRef idx="0">
              <a:schemeClr val="accent5">
                <a:tint val="40000"/>
                <a:alpha val="90000"/>
                <a:hueOff val="-7160321"/>
                <a:satOff val="32169"/>
                <a:lumOff val="2211"/>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静态法根据作业或进程的静态特性，在作业或进程开始执行之前就确定它们的优先级，一旦开始执行之后就</a:t>
              </a:r>
              <a:r>
                <a:rPr lang="zh-CN" altLang="en-US" sz="2000" b="1" dirty="0">
                  <a:solidFill>
                    <a:srgbClr val="FF0000"/>
                  </a:solidFill>
                </a:rPr>
                <a:t>不能改变</a:t>
              </a:r>
              <a:r>
                <a:rPr lang="zh-CN" altLang="en-US" sz="2000" b="1" dirty="0"/>
                <a:t>。</a:t>
              </a:r>
            </a:p>
          </p:txBody>
        </p:sp>
      </p:grpSp>
      <p:grpSp>
        <p:nvGrpSpPr>
          <p:cNvPr id="36" name="组合 35"/>
          <p:cNvGrpSpPr/>
          <p:nvPr/>
        </p:nvGrpSpPr>
        <p:grpSpPr>
          <a:xfrm>
            <a:off x="4499992" y="1333431"/>
            <a:ext cx="3036351" cy="2722276"/>
            <a:chOff x="6486075" y="926790"/>
            <a:chExt cx="1611637" cy="2722276"/>
          </a:xfrm>
        </p:grpSpPr>
        <p:sp>
          <p:nvSpPr>
            <p:cNvPr id="32" name="任意多边形 31"/>
            <p:cNvSpPr/>
            <p:nvPr/>
          </p:nvSpPr>
          <p:spPr>
            <a:xfrm>
              <a:off x="6486076"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9933876"/>
                <a:satOff val="39811"/>
                <a:lumOff val="8628"/>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kern="1200" cap="none" spc="0"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动态法</a:t>
              </a:r>
              <a:endParaRPr lang="zh-CN" altLang="en-US" sz="2400" b="1" kern="1200"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3" name="任意多边形 32"/>
            <p:cNvSpPr/>
            <p:nvPr/>
          </p:nvSpPr>
          <p:spPr>
            <a:xfrm>
              <a:off x="6486075" y="1458261"/>
              <a:ext cx="1611636" cy="2190805"/>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它把作业或进程的静态特性和动态特性结合起来确定作业或进程的优先级，随着作业或进程的执行过程，其优先级</a:t>
              </a:r>
              <a:r>
                <a:rPr lang="zh-CN" altLang="en-US" sz="2000" b="1" dirty="0">
                  <a:solidFill>
                    <a:srgbClr val="FF0000"/>
                  </a:solidFill>
                </a:rPr>
                <a:t>不断变化</a:t>
              </a:r>
            </a:p>
          </p:txBody>
        </p:sp>
      </p:grpSp>
    </p:spTree>
    <p:extLst>
      <p:ext uri="{BB962C8B-B14F-4D97-AF65-F5344CB8AC3E}">
        <p14:creationId xmlns:p14="http://schemas.microsoft.com/office/powerpoint/2010/main" val="122436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solidFill>
                  <a:srgbClr val="006600"/>
                </a:solidFill>
                <a:effectLst>
                  <a:outerShdw blurRad="76200" dist="50800" dir="5400000" algn="tl" rotWithShape="0">
                    <a:srgbClr val="000000">
                      <a:alpha val="65000"/>
                    </a:srgbClr>
                  </a:outerShdw>
                </a:effectLst>
              </a:rPr>
              <a:t>作业</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159834"/>
            <a:ext cx="7056784" cy="3323987"/>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a:solidFill>
                  <a:schemeClr val="bg1"/>
                </a:solidFill>
                <a:latin typeface="+mn-ea"/>
              </a:rPr>
              <a:t>(1) </a:t>
            </a:r>
            <a:r>
              <a:rPr lang="zh-CN" altLang="en-US" sz="2000" b="1" dirty="0">
                <a:solidFill>
                  <a:srgbClr val="FFFF00"/>
                </a:solidFill>
                <a:latin typeface="+mn-ea"/>
              </a:rPr>
              <a:t>由用户自己根据作业的紧急程度输入一个适当的优先级</a:t>
            </a:r>
            <a:r>
              <a:rPr lang="zh-CN" altLang="en-US" sz="2000" b="1" dirty="0">
                <a:solidFill>
                  <a:schemeClr val="bg1"/>
                </a:solidFill>
                <a:latin typeface="+mn-ea"/>
              </a:rPr>
              <a:t>。为防止各用户都将自己的作业冠以高优先级，系统应对高优先级用户收取较高的费用。</a:t>
            </a:r>
          </a:p>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000" b="1" dirty="0" smtClean="0">
                <a:solidFill>
                  <a:schemeClr val="bg1"/>
                </a:solidFill>
                <a:latin typeface="+mn-ea"/>
              </a:rPr>
              <a:t>(2) </a:t>
            </a:r>
            <a:r>
              <a:rPr lang="zh-CN" altLang="en-US" sz="2000" b="1" dirty="0" smtClean="0">
                <a:solidFill>
                  <a:srgbClr val="FFFF00"/>
                </a:solidFill>
                <a:latin typeface="+mn-ea"/>
              </a:rPr>
              <a:t>由系统或操作员根据作业类型指定优先级</a:t>
            </a:r>
            <a:r>
              <a:rPr lang="zh-CN" altLang="en-US" sz="2000" b="1" dirty="0" smtClean="0">
                <a:solidFill>
                  <a:schemeClr val="bg1"/>
                </a:solidFill>
                <a:latin typeface="+mn-ea"/>
              </a:rPr>
              <a:t>。作业类型一般由用户约定或由操作员指定。例如：可将作业分为：</a:t>
            </a:r>
            <a:r>
              <a:rPr lang="en-US" altLang="zh-CN" sz="2000" b="1" dirty="0" smtClean="0">
                <a:solidFill>
                  <a:schemeClr val="bg1"/>
                </a:solidFill>
                <a:latin typeface="+mn-ea"/>
              </a:rPr>
              <a:t>I</a:t>
            </a:r>
            <a:r>
              <a:rPr lang="zh-CN" altLang="en-US" sz="2000" b="1" dirty="0">
                <a:solidFill>
                  <a:schemeClr val="bg1"/>
                </a:solidFill>
                <a:latin typeface="+mn-ea"/>
              </a:rPr>
              <a:t>／</a:t>
            </a:r>
            <a:r>
              <a:rPr lang="en-US" altLang="zh-CN" sz="2000" b="1" dirty="0">
                <a:solidFill>
                  <a:schemeClr val="bg1"/>
                </a:solidFill>
                <a:latin typeface="+mn-ea"/>
              </a:rPr>
              <a:t>O</a:t>
            </a:r>
            <a:r>
              <a:rPr lang="zh-CN" altLang="en-US" sz="2000" b="1" dirty="0">
                <a:solidFill>
                  <a:schemeClr val="bg1"/>
                </a:solidFill>
                <a:latin typeface="+mn-ea"/>
              </a:rPr>
              <a:t>繁忙的作业</a:t>
            </a:r>
            <a:r>
              <a:rPr lang="zh-CN" altLang="en-US" sz="2000" b="1" dirty="0" smtClean="0">
                <a:solidFill>
                  <a:schemeClr val="bg1"/>
                </a:solidFill>
                <a:latin typeface="+mn-ea"/>
              </a:rPr>
              <a:t>，</a:t>
            </a:r>
            <a:r>
              <a:rPr lang="en-US" altLang="zh-CN" sz="2000" b="1" dirty="0">
                <a:solidFill>
                  <a:schemeClr val="bg1"/>
                </a:solidFill>
                <a:latin typeface="+mn-ea"/>
              </a:rPr>
              <a:t>C</a:t>
            </a:r>
            <a:r>
              <a:rPr lang="en-US" altLang="zh-CN" sz="2000" b="1" dirty="0" smtClean="0">
                <a:solidFill>
                  <a:schemeClr val="bg1"/>
                </a:solidFill>
                <a:latin typeface="+mn-ea"/>
              </a:rPr>
              <a:t>PU</a:t>
            </a:r>
            <a:r>
              <a:rPr lang="zh-CN" altLang="en-US" sz="2000" b="1" dirty="0">
                <a:solidFill>
                  <a:schemeClr val="bg1"/>
                </a:solidFill>
                <a:latin typeface="+mn-ea"/>
              </a:rPr>
              <a:t>繁忙的作业</a:t>
            </a:r>
            <a:r>
              <a:rPr lang="zh-CN" altLang="en-US" sz="2000" b="1" dirty="0" smtClean="0">
                <a:solidFill>
                  <a:schemeClr val="bg1"/>
                </a:solidFill>
                <a:latin typeface="+mn-ea"/>
              </a:rPr>
              <a:t>，</a:t>
            </a:r>
            <a:r>
              <a:rPr lang="en-US" altLang="zh-CN" sz="2000" b="1" dirty="0" smtClean="0">
                <a:solidFill>
                  <a:schemeClr val="bg1"/>
                </a:solidFill>
                <a:latin typeface="+mn-ea"/>
              </a:rPr>
              <a:t>I</a:t>
            </a:r>
            <a:r>
              <a:rPr lang="zh-CN" altLang="en-US" sz="2000" b="1" dirty="0">
                <a:solidFill>
                  <a:schemeClr val="bg1"/>
                </a:solidFill>
                <a:latin typeface="+mn-ea"/>
              </a:rPr>
              <a:t>／</a:t>
            </a:r>
            <a:r>
              <a:rPr lang="en-US" altLang="zh-CN" sz="2000" b="1" dirty="0">
                <a:solidFill>
                  <a:schemeClr val="bg1"/>
                </a:solidFill>
                <a:latin typeface="+mn-ea"/>
              </a:rPr>
              <a:t>O</a:t>
            </a:r>
            <a:r>
              <a:rPr lang="zh-CN" altLang="en-US" sz="2000" b="1" dirty="0">
                <a:solidFill>
                  <a:schemeClr val="bg1"/>
                </a:solidFill>
                <a:latin typeface="+mn-ea"/>
              </a:rPr>
              <a:t>与</a:t>
            </a:r>
            <a:r>
              <a:rPr lang="en-US" altLang="zh-CN" sz="2000" b="1" dirty="0">
                <a:solidFill>
                  <a:schemeClr val="bg1"/>
                </a:solidFill>
                <a:latin typeface="+mn-ea"/>
              </a:rPr>
              <a:t>CPU</a:t>
            </a:r>
            <a:r>
              <a:rPr lang="zh-CN" altLang="en-US" sz="2000" b="1" dirty="0">
                <a:solidFill>
                  <a:schemeClr val="bg1"/>
                </a:solidFill>
                <a:latin typeface="+mn-ea"/>
              </a:rPr>
              <a:t>均衡的作业</a:t>
            </a:r>
            <a:r>
              <a:rPr lang="zh-CN" altLang="en-US" sz="2000" b="1" dirty="0" smtClean="0">
                <a:solidFill>
                  <a:schemeClr val="bg1"/>
                </a:solidFill>
                <a:latin typeface="+mn-ea"/>
              </a:rPr>
              <a:t>，一般</a:t>
            </a:r>
            <a:r>
              <a:rPr lang="zh-CN" altLang="en-US" sz="2000" b="1" dirty="0">
                <a:solidFill>
                  <a:schemeClr val="bg1"/>
                </a:solidFill>
                <a:latin typeface="+mn-ea"/>
              </a:rPr>
              <a:t>作业，等等</a:t>
            </a:r>
            <a:r>
              <a:rPr lang="zh-CN" altLang="en-US" sz="2000" b="1" dirty="0" smtClean="0">
                <a:solidFill>
                  <a:schemeClr val="bg1"/>
                </a:solidFill>
                <a:latin typeface="+mn-ea"/>
              </a:rPr>
              <a:t>。</a:t>
            </a:r>
            <a:endParaRPr lang="zh-CN" altLang="en-US" sz="2000" b="1" dirty="0">
              <a:solidFill>
                <a:schemeClr val="bg1"/>
              </a:solidFill>
              <a:latin typeface="+mn-ea"/>
            </a:endParaRPr>
          </a:p>
        </p:txBody>
      </p:sp>
    </p:spTree>
    <p:extLst>
      <p:ext uri="{BB962C8B-B14F-4D97-AF65-F5344CB8AC3E}">
        <p14:creationId xmlns:p14="http://schemas.microsoft.com/office/powerpoint/2010/main" val="195031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solidFill>
                  <a:srgbClr val="006600"/>
                </a:solidFill>
                <a:effectLst>
                  <a:outerShdw blurRad="76200" dist="50800" dir="5400000" algn="tl" rotWithShape="0">
                    <a:srgbClr val="000000">
                      <a:alpha val="65000"/>
                    </a:srgbClr>
                  </a:outerShdw>
                </a:effectLst>
              </a:rPr>
              <a:t>作业</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93968"/>
            <a:ext cx="7056784" cy="175432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a:t>
            </a:r>
            <a:r>
              <a:rPr lang="en-US" altLang="zh-CN" sz="2400" b="1" dirty="0" smtClean="0">
                <a:solidFill>
                  <a:schemeClr val="bg1"/>
                </a:solidFill>
                <a:latin typeface="+mn-ea"/>
              </a:rPr>
              <a:t>3</a:t>
            </a:r>
            <a:r>
              <a:rPr lang="zh-CN" altLang="en-US" sz="2400" b="1" dirty="0" smtClean="0">
                <a:solidFill>
                  <a:schemeClr val="bg1"/>
                </a:solidFill>
                <a:latin typeface="+mn-ea"/>
              </a:rPr>
              <a:t>）</a:t>
            </a:r>
            <a:r>
              <a:rPr lang="zh-CN" altLang="en-US" sz="2400" b="1" dirty="0" smtClean="0">
                <a:solidFill>
                  <a:srgbClr val="FFFF00"/>
                </a:solidFill>
                <a:latin typeface="+mn-ea"/>
              </a:rPr>
              <a:t>系统根据作业要求资源情况确定优先级</a:t>
            </a:r>
            <a:r>
              <a:rPr lang="zh-CN" altLang="en-US" sz="2400" b="1" dirty="0" smtClean="0">
                <a:solidFill>
                  <a:schemeClr val="bg1"/>
                </a:solidFill>
                <a:latin typeface="+mn-ea"/>
              </a:rPr>
              <a:t>。例如根据估计所需处理机时间、内存量大小、</a:t>
            </a:r>
            <a:r>
              <a:rPr lang="en-US" altLang="zh-CN" sz="2400" b="1" dirty="0" smtClean="0">
                <a:solidFill>
                  <a:schemeClr val="bg1"/>
                </a:solidFill>
                <a:latin typeface="+mn-ea"/>
              </a:rPr>
              <a:t>I</a:t>
            </a:r>
            <a:r>
              <a:rPr lang="zh-CN" altLang="en-US" sz="2400" b="1" dirty="0" smtClean="0">
                <a:solidFill>
                  <a:schemeClr val="bg1"/>
                </a:solidFill>
                <a:latin typeface="+mn-ea"/>
              </a:rPr>
              <a:t>／</a:t>
            </a:r>
            <a:r>
              <a:rPr lang="en-US" altLang="zh-CN" sz="2400" b="1" dirty="0" smtClean="0">
                <a:solidFill>
                  <a:schemeClr val="bg1"/>
                </a:solidFill>
                <a:latin typeface="+mn-ea"/>
              </a:rPr>
              <a:t>O</a:t>
            </a:r>
            <a:r>
              <a:rPr lang="zh-CN" altLang="en-US" sz="2400" b="1" dirty="0" smtClean="0">
                <a:solidFill>
                  <a:schemeClr val="bg1"/>
                </a:solidFill>
                <a:latin typeface="+mn-ea"/>
              </a:rPr>
              <a:t>设备类型及数量等，确定作业的优先级。</a:t>
            </a:r>
            <a:endParaRPr lang="zh-CN" altLang="en-US" sz="2400" b="1" dirty="0">
              <a:solidFill>
                <a:schemeClr val="bg1"/>
              </a:solidFill>
              <a:latin typeface="+mn-ea"/>
            </a:endParaRPr>
          </a:p>
        </p:txBody>
      </p:sp>
    </p:spTree>
    <p:extLst>
      <p:ext uri="{BB962C8B-B14F-4D97-AF65-F5344CB8AC3E}">
        <p14:creationId xmlns:p14="http://schemas.microsoft.com/office/powerpoint/2010/main" val="2381078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solidFill>
                  <a:srgbClr val="006600"/>
                </a:solidFill>
                <a:effectLst>
                  <a:outerShdw blurRad="76200" dist="50800" dir="5400000" algn="tl" rotWithShape="0">
                    <a:srgbClr val="000000">
                      <a:alpha val="65000"/>
                    </a:srgbClr>
                  </a:outerShdw>
                </a:effectLst>
              </a:rPr>
              <a:t>进程</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55576" y="1393968"/>
            <a:ext cx="7056784" cy="3416320"/>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en-US" altLang="zh-CN" sz="2400" b="1" dirty="0">
                <a:solidFill>
                  <a:schemeClr val="bg1"/>
                </a:solidFill>
                <a:latin typeface="+mn-ea"/>
              </a:rPr>
              <a:t>(1) </a:t>
            </a:r>
            <a:r>
              <a:rPr lang="zh-CN" altLang="en-US" sz="2400" b="1" dirty="0">
                <a:solidFill>
                  <a:srgbClr val="FFFF00"/>
                </a:solidFill>
                <a:latin typeface="+mn-ea"/>
              </a:rPr>
              <a:t>按进程的类型给予不同的优先级</a:t>
            </a:r>
            <a:r>
              <a:rPr lang="zh-CN" altLang="en-US" sz="2400" b="1" dirty="0">
                <a:solidFill>
                  <a:schemeClr val="bg1"/>
                </a:solidFill>
                <a:latin typeface="+mn-ea"/>
              </a:rPr>
              <a:t>。例如，在有些系统中，进程被划分为</a:t>
            </a:r>
            <a:r>
              <a:rPr lang="zh-CN" altLang="en-US" sz="2400" b="1" dirty="0">
                <a:solidFill>
                  <a:srgbClr val="FFFF00"/>
                </a:solidFill>
                <a:latin typeface="+mn-ea"/>
              </a:rPr>
              <a:t>系统进程</a:t>
            </a:r>
            <a:r>
              <a:rPr lang="zh-CN" altLang="en-US" sz="2400" b="1" dirty="0">
                <a:solidFill>
                  <a:schemeClr val="bg1"/>
                </a:solidFill>
                <a:latin typeface="+mn-ea"/>
              </a:rPr>
              <a:t>和</a:t>
            </a:r>
            <a:r>
              <a:rPr lang="zh-CN" altLang="en-US" sz="2400" b="1" dirty="0">
                <a:solidFill>
                  <a:srgbClr val="FFFF00"/>
                </a:solidFill>
                <a:latin typeface="+mn-ea"/>
              </a:rPr>
              <a:t>用户进程</a:t>
            </a:r>
            <a:r>
              <a:rPr lang="zh-CN" altLang="en-US" sz="2400" b="1" dirty="0">
                <a:solidFill>
                  <a:schemeClr val="bg1"/>
                </a:solidFill>
                <a:latin typeface="+mn-ea"/>
              </a:rPr>
              <a:t>。</a:t>
            </a:r>
            <a:r>
              <a:rPr lang="zh-CN" altLang="en-US" sz="2400" b="1" dirty="0">
                <a:solidFill>
                  <a:srgbClr val="FFFF00"/>
                </a:solidFill>
                <a:latin typeface="+mn-ea"/>
              </a:rPr>
              <a:t>系统进程</a:t>
            </a:r>
            <a:r>
              <a:rPr lang="zh-CN" altLang="en-US" sz="2400" b="1" dirty="0">
                <a:solidFill>
                  <a:schemeClr val="bg1"/>
                </a:solidFill>
                <a:latin typeface="+mn-ea"/>
              </a:rPr>
              <a:t>享有比用户进程</a:t>
            </a:r>
            <a:r>
              <a:rPr lang="zh-CN" altLang="en-US" sz="2400" b="1" dirty="0">
                <a:solidFill>
                  <a:srgbClr val="FFFF00"/>
                </a:solidFill>
                <a:latin typeface="+mn-ea"/>
              </a:rPr>
              <a:t>高</a:t>
            </a:r>
            <a:r>
              <a:rPr lang="zh-CN" altLang="en-US" sz="2400" b="1" dirty="0">
                <a:solidFill>
                  <a:schemeClr val="bg1"/>
                </a:solidFill>
                <a:latin typeface="+mn-ea"/>
              </a:rPr>
              <a:t>的优先级</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a:t>
            </a:r>
            <a:r>
              <a:rPr lang="en-US" altLang="zh-CN" sz="2400" b="1" dirty="0">
                <a:solidFill>
                  <a:schemeClr val="bg1"/>
                </a:solidFill>
                <a:latin typeface="+mn-ea"/>
              </a:rPr>
              <a:t>2</a:t>
            </a:r>
            <a:r>
              <a:rPr lang="zh-CN" altLang="en-US" sz="2400" b="1" dirty="0">
                <a:solidFill>
                  <a:schemeClr val="bg1"/>
                </a:solidFill>
                <a:latin typeface="+mn-ea"/>
              </a:rPr>
              <a:t>）</a:t>
            </a:r>
            <a:r>
              <a:rPr lang="zh-CN" altLang="en-US" sz="2400" b="1" dirty="0">
                <a:solidFill>
                  <a:srgbClr val="FFFF00"/>
                </a:solidFill>
                <a:latin typeface="+mn-ea"/>
              </a:rPr>
              <a:t>将作业的静态优先级作为它所属进程的优先级</a:t>
            </a:r>
            <a:r>
              <a:rPr lang="zh-CN" altLang="en-US" sz="2400" b="1" dirty="0">
                <a:solidFill>
                  <a:schemeClr val="bg1"/>
                </a:solidFill>
                <a:latin typeface="+mn-ea"/>
              </a:rPr>
              <a:t>。</a:t>
            </a: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29" name="线形标注 1 28"/>
          <p:cNvSpPr/>
          <p:nvPr/>
        </p:nvSpPr>
        <p:spPr>
          <a:xfrm>
            <a:off x="140839" y="34723"/>
            <a:ext cx="5369062" cy="1946990"/>
          </a:xfrm>
          <a:prstGeom prst="borderCallout1">
            <a:avLst>
              <a:gd name="adj1" fmla="val 39557"/>
              <a:gd name="adj2" fmla="val 101675"/>
              <a:gd name="adj3" fmla="val 110917"/>
              <a:gd name="adj4" fmla="val 104016"/>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zh-CN" altLang="en-US" sz="2000" b="1" dirty="0"/>
              <a:t>可以根据其所要完成的功能划分为不同的类型，例如，</a:t>
            </a:r>
            <a:r>
              <a:rPr lang="zh-CN" altLang="en-US" sz="2000" b="1" dirty="0">
                <a:solidFill>
                  <a:srgbClr val="FF3300"/>
                </a:solidFill>
              </a:rPr>
              <a:t>调度进程</a:t>
            </a:r>
            <a:r>
              <a:rPr lang="zh-CN" altLang="en-US" sz="2000" b="1" dirty="0"/>
              <a:t>、</a:t>
            </a:r>
            <a:r>
              <a:rPr lang="en-US" altLang="zh-CN" sz="2000" b="1" dirty="0">
                <a:solidFill>
                  <a:srgbClr val="FF3300"/>
                </a:solidFill>
              </a:rPr>
              <a:t>I</a:t>
            </a:r>
            <a:r>
              <a:rPr lang="zh-CN" altLang="en-US" sz="2000" b="1" dirty="0">
                <a:solidFill>
                  <a:srgbClr val="FF3300"/>
                </a:solidFill>
              </a:rPr>
              <a:t>／</a:t>
            </a:r>
            <a:r>
              <a:rPr lang="en-US" altLang="zh-CN" sz="2000" b="1" dirty="0">
                <a:solidFill>
                  <a:srgbClr val="FF3300"/>
                </a:solidFill>
              </a:rPr>
              <a:t>O</a:t>
            </a:r>
            <a:r>
              <a:rPr lang="zh-CN" altLang="en-US" sz="2000" b="1" dirty="0">
                <a:solidFill>
                  <a:srgbClr val="FF3300"/>
                </a:solidFill>
              </a:rPr>
              <a:t>进程</a:t>
            </a:r>
            <a:r>
              <a:rPr lang="zh-CN" altLang="en-US" sz="2000" b="1" dirty="0"/>
              <a:t>、</a:t>
            </a:r>
            <a:r>
              <a:rPr lang="zh-CN" altLang="en-US" sz="2000" b="1" dirty="0">
                <a:solidFill>
                  <a:srgbClr val="FF3300"/>
                </a:solidFill>
              </a:rPr>
              <a:t>中断处理进程</a:t>
            </a:r>
            <a:r>
              <a:rPr lang="zh-CN" altLang="en-US" sz="2000" b="1" dirty="0"/>
              <a:t>、</a:t>
            </a:r>
            <a:r>
              <a:rPr lang="zh-CN" altLang="en-US" sz="2000" b="1" dirty="0">
                <a:solidFill>
                  <a:srgbClr val="FF3300"/>
                </a:solidFill>
              </a:rPr>
              <a:t>存储管理进程</a:t>
            </a:r>
            <a:r>
              <a:rPr lang="zh-CN" altLang="en-US" sz="2000" b="1" dirty="0"/>
              <a:t>等。这些进程还可进一步划分为不同类型和赋予不同的优先级。例如，在操作系统中，对于</a:t>
            </a:r>
            <a:r>
              <a:rPr lang="zh-CN" altLang="en-US" sz="2000" b="1" dirty="0">
                <a:solidFill>
                  <a:srgbClr val="0070C0"/>
                </a:solidFill>
              </a:rPr>
              <a:t>键盘中断</a:t>
            </a:r>
            <a:r>
              <a:rPr lang="zh-CN" altLang="en-US" sz="2000" b="1" dirty="0"/>
              <a:t>的处理优先级和对于</a:t>
            </a:r>
            <a:r>
              <a:rPr lang="zh-CN" altLang="en-US" sz="2000" b="1" dirty="0">
                <a:solidFill>
                  <a:srgbClr val="0070C0"/>
                </a:solidFill>
              </a:rPr>
              <a:t>电源掉电中断</a:t>
            </a:r>
            <a:r>
              <a:rPr lang="zh-CN" altLang="en-US" sz="2000" b="1" dirty="0"/>
              <a:t>的处理优先级是不相同的。</a:t>
            </a:r>
          </a:p>
        </p:txBody>
      </p:sp>
      <p:sp>
        <p:nvSpPr>
          <p:cNvPr id="30" name="线形标注 1 29"/>
          <p:cNvSpPr/>
          <p:nvPr/>
        </p:nvSpPr>
        <p:spPr>
          <a:xfrm>
            <a:off x="2825370" y="3651870"/>
            <a:ext cx="3744416" cy="973495"/>
          </a:xfrm>
          <a:prstGeom prst="borderCallout1">
            <a:avLst>
              <a:gd name="adj1" fmla="val 39557"/>
              <a:gd name="adj2" fmla="val 101675"/>
              <a:gd name="adj3" fmla="val -121177"/>
              <a:gd name="adj4" fmla="val 110558"/>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en-US" altLang="zh-CN" sz="2000" b="1" dirty="0"/>
              <a:t>I</a:t>
            </a:r>
            <a:r>
              <a:rPr lang="zh-CN" altLang="en-US" sz="2000" b="1" dirty="0"/>
              <a:t>／</a:t>
            </a:r>
            <a:r>
              <a:rPr lang="en-US" altLang="zh-CN" sz="2000" b="1" dirty="0"/>
              <a:t>O</a:t>
            </a:r>
            <a:r>
              <a:rPr lang="zh-CN" altLang="en-US" sz="2000" b="1" dirty="0"/>
              <a:t>繁忙的进程</a:t>
            </a:r>
            <a:r>
              <a:rPr lang="zh-CN" altLang="en-US" sz="2000" b="1" dirty="0" smtClean="0"/>
              <a:t>，</a:t>
            </a:r>
            <a:r>
              <a:rPr lang="en-US" altLang="zh-CN" sz="2000" b="1" dirty="0" smtClean="0"/>
              <a:t>CPU</a:t>
            </a:r>
            <a:r>
              <a:rPr lang="zh-CN" altLang="en-US" sz="2000" b="1" dirty="0"/>
              <a:t>繁忙的进程</a:t>
            </a:r>
            <a:r>
              <a:rPr lang="zh-CN" altLang="en-US" sz="2000" b="1" dirty="0" smtClean="0"/>
              <a:t>，</a:t>
            </a:r>
            <a:r>
              <a:rPr lang="en-US" altLang="zh-CN" sz="2000" b="1" dirty="0" smtClean="0"/>
              <a:t>I</a:t>
            </a:r>
            <a:r>
              <a:rPr lang="zh-CN" altLang="en-US" sz="2000" b="1" dirty="0"/>
              <a:t>／</a:t>
            </a:r>
            <a:r>
              <a:rPr lang="en-US" altLang="zh-CN" sz="2000" b="1" dirty="0"/>
              <a:t>O</a:t>
            </a:r>
            <a:r>
              <a:rPr lang="zh-CN" altLang="en-US" sz="2000" b="1" dirty="0"/>
              <a:t>与</a:t>
            </a:r>
            <a:r>
              <a:rPr lang="en-US" altLang="zh-CN" sz="2000" b="1" dirty="0"/>
              <a:t>CPU</a:t>
            </a:r>
            <a:r>
              <a:rPr lang="zh-CN" altLang="en-US" sz="2000" b="1" dirty="0"/>
              <a:t>均衡的进程</a:t>
            </a:r>
            <a:r>
              <a:rPr lang="zh-CN" altLang="en-US" sz="2000" b="1" dirty="0" smtClean="0"/>
              <a:t>，其他</a:t>
            </a:r>
            <a:r>
              <a:rPr lang="zh-CN" altLang="en-US" sz="2000" b="1" dirty="0"/>
              <a:t>进程。</a:t>
            </a:r>
          </a:p>
        </p:txBody>
      </p:sp>
    </p:spTree>
    <p:extLst>
      <p:ext uri="{BB962C8B-B14F-4D97-AF65-F5344CB8AC3E}">
        <p14:creationId xmlns:p14="http://schemas.microsoft.com/office/powerpoint/2010/main" val="248614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down)">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left)">
                                      <p:cBhvr>
                                        <p:cTn id="2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优先级法调度算法</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进程动态优先级</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5576" y="1281469"/>
            <a:ext cx="6984776" cy="364715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chemeClr val="bg1"/>
                </a:solidFill>
                <a:latin typeface="+mn-ea"/>
              </a:rPr>
              <a:t>（</a:t>
            </a:r>
            <a:r>
              <a:rPr lang="en-US" altLang="zh-CN" sz="2200" b="1" dirty="0" smtClean="0">
                <a:solidFill>
                  <a:schemeClr val="bg1"/>
                </a:solidFill>
                <a:latin typeface="+mn-ea"/>
              </a:rPr>
              <a:t>1</a:t>
            </a:r>
            <a:r>
              <a:rPr lang="zh-CN" altLang="en-US" sz="2200" b="1" dirty="0" smtClean="0">
                <a:solidFill>
                  <a:schemeClr val="bg1"/>
                </a:solidFill>
                <a:latin typeface="+mn-ea"/>
              </a:rPr>
              <a:t>）</a:t>
            </a:r>
            <a:r>
              <a:rPr lang="zh-CN" altLang="en-US" sz="2200" b="1" dirty="0" smtClean="0">
                <a:solidFill>
                  <a:srgbClr val="FFFF00"/>
                </a:solidFill>
                <a:latin typeface="+mn-ea"/>
              </a:rPr>
              <a:t>根据</a:t>
            </a:r>
            <a:r>
              <a:rPr lang="zh-CN" altLang="en-US" sz="2200" b="1" dirty="0">
                <a:solidFill>
                  <a:srgbClr val="FFFF00"/>
                </a:solidFill>
                <a:latin typeface="+mn-ea"/>
              </a:rPr>
              <a:t>进程占有</a:t>
            </a:r>
            <a:r>
              <a:rPr lang="en-US" altLang="zh-CN" sz="2200" b="1" dirty="0">
                <a:solidFill>
                  <a:srgbClr val="FFFF00"/>
                </a:solidFill>
                <a:latin typeface="+mn-ea"/>
              </a:rPr>
              <a:t>CPU</a:t>
            </a:r>
            <a:r>
              <a:rPr lang="zh-CN" altLang="en-US" sz="2200" b="1" dirty="0">
                <a:solidFill>
                  <a:srgbClr val="FFFF00"/>
                </a:solidFill>
                <a:latin typeface="+mn-ea"/>
              </a:rPr>
              <a:t>时间的长短来决定</a:t>
            </a:r>
            <a:r>
              <a:rPr lang="zh-CN" altLang="en-US" sz="2200" b="1" dirty="0">
                <a:solidFill>
                  <a:schemeClr val="bg1"/>
                </a:solidFill>
                <a:latin typeface="+mn-ea"/>
              </a:rPr>
              <a:t>。一个进程占有处理机的</a:t>
            </a:r>
            <a:r>
              <a:rPr lang="zh-CN" altLang="en-US" sz="2200" b="1" dirty="0">
                <a:solidFill>
                  <a:schemeClr val="accent6">
                    <a:lumMod val="60000"/>
                    <a:lumOff val="40000"/>
                  </a:schemeClr>
                </a:solidFill>
                <a:latin typeface="+mn-ea"/>
              </a:rPr>
              <a:t>时间愈长</a:t>
            </a:r>
            <a:r>
              <a:rPr lang="zh-CN" altLang="en-US" sz="2200" b="1" dirty="0">
                <a:solidFill>
                  <a:schemeClr val="bg1"/>
                </a:solidFill>
                <a:latin typeface="+mn-ea"/>
              </a:rPr>
              <a:t>，则在被阻塞之后再次获得调度的优先级就越</a:t>
            </a:r>
            <a:r>
              <a:rPr lang="zh-CN" altLang="en-US" sz="2200" b="1" dirty="0">
                <a:solidFill>
                  <a:schemeClr val="accent6">
                    <a:lumMod val="60000"/>
                    <a:lumOff val="40000"/>
                  </a:schemeClr>
                </a:solidFill>
                <a:latin typeface="+mn-ea"/>
              </a:rPr>
              <a:t>低</a:t>
            </a:r>
            <a:r>
              <a:rPr lang="zh-CN" altLang="en-US" sz="2200" b="1" dirty="0">
                <a:solidFill>
                  <a:schemeClr val="bg1"/>
                </a:solidFill>
                <a:latin typeface="+mn-ea"/>
              </a:rPr>
              <a:t>，反之，其获得调度的可能性就会越大</a:t>
            </a:r>
            <a:r>
              <a:rPr lang="zh-CN" altLang="en-US" sz="2200" b="1" dirty="0" smtClean="0">
                <a:solidFill>
                  <a:schemeClr val="bg1"/>
                </a:solidFill>
                <a:latin typeface="+mn-ea"/>
              </a:rPr>
              <a:t>。</a:t>
            </a:r>
            <a:endParaRPr lang="en-US" altLang="zh-CN" sz="22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a:t>
            </a:r>
            <a:r>
              <a:rPr lang="en-US" altLang="zh-CN" sz="2200" b="1" dirty="0">
                <a:solidFill>
                  <a:schemeClr val="bg1"/>
                </a:solidFill>
                <a:latin typeface="+mn-ea"/>
              </a:rPr>
              <a:t>2</a:t>
            </a:r>
            <a:r>
              <a:rPr lang="zh-CN" altLang="en-US" sz="2200" b="1" dirty="0">
                <a:solidFill>
                  <a:schemeClr val="bg1"/>
                </a:solidFill>
                <a:latin typeface="+mn-ea"/>
              </a:rPr>
              <a:t>）</a:t>
            </a:r>
            <a:r>
              <a:rPr lang="zh-CN" altLang="en-US" sz="2200" b="1" dirty="0">
                <a:solidFill>
                  <a:srgbClr val="FFFF00"/>
                </a:solidFill>
                <a:latin typeface="+mn-ea"/>
              </a:rPr>
              <a:t>根据就绪进程等待</a:t>
            </a:r>
            <a:r>
              <a:rPr lang="en-US" altLang="zh-CN" sz="2200" b="1" dirty="0">
                <a:solidFill>
                  <a:srgbClr val="FFFF00"/>
                </a:solidFill>
                <a:latin typeface="+mn-ea"/>
              </a:rPr>
              <a:t>CPU</a:t>
            </a:r>
            <a:r>
              <a:rPr lang="zh-CN" altLang="en-US" sz="2200" b="1" dirty="0">
                <a:solidFill>
                  <a:srgbClr val="FFFF00"/>
                </a:solidFill>
                <a:latin typeface="+mn-ea"/>
              </a:rPr>
              <a:t>的时间长短来决定</a:t>
            </a:r>
            <a:r>
              <a:rPr lang="zh-CN" altLang="en-US" sz="2200" b="1" dirty="0">
                <a:solidFill>
                  <a:schemeClr val="bg1"/>
                </a:solidFill>
                <a:latin typeface="+mn-ea"/>
              </a:rPr>
              <a:t>。一个就绪进程在就绪队列中</a:t>
            </a:r>
            <a:r>
              <a:rPr lang="zh-CN" altLang="en-US" sz="2200" b="1" dirty="0">
                <a:solidFill>
                  <a:schemeClr val="accent6">
                    <a:lumMod val="60000"/>
                    <a:lumOff val="40000"/>
                  </a:schemeClr>
                </a:solidFill>
                <a:latin typeface="+mn-ea"/>
              </a:rPr>
              <a:t>等待的时间越长</a:t>
            </a:r>
            <a:r>
              <a:rPr lang="zh-CN" altLang="en-US" sz="2200" b="1" dirty="0">
                <a:solidFill>
                  <a:schemeClr val="bg1"/>
                </a:solidFill>
                <a:latin typeface="+mn-ea"/>
              </a:rPr>
              <a:t>，则它获得调度选中的优先级就越</a:t>
            </a:r>
            <a:r>
              <a:rPr lang="zh-CN" altLang="en-US" sz="2200" b="1" dirty="0">
                <a:solidFill>
                  <a:schemeClr val="accent6">
                    <a:lumMod val="60000"/>
                    <a:lumOff val="40000"/>
                  </a:schemeClr>
                </a:solidFill>
                <a:latin typeface="+mn-ea"/>
              </a:rPr>
              <a:t>高</a:t>
            </a:r>
            <a:r>
              <a:rPr lang="zh-CN" altLang="en-US" sz="22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200" b="1" dirty="0">
              <a:solidFill>
                <a:schemeClr val="bg1"/>
              </a:solidFill>
              <a:latin typeface="+mn-ea"/>
            </a:endParaRPr>
          </a:p>
        </p:txBody>
      </p:sp>
    </p:spTree>
    <p:extLst>
      <p:ext uri="{BB962C8B-B14F-4D97-AF65-F5344CB8AC3E}">
        <p14:creationId xmlns:p14="http://schemas.microsoft.com/office/powerpoint/2010/main" val="391588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线性优先级调度</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策略</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5576" y="1281469"/>
            <a:ext cx="6984776" cy="161582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smtClean="0">
                <a:solidFill>
                  <a:srgbClr val="FFFF00"/>
                </a:solidFill>
                <a:latin typeface="+mn-ea"/>
              </a:rPr>
              <a:t>新</a:t>
            </a:r>
            <a:r>
              <a:rPr lang="zh-CN" altLang="en-US" sz="2200" b="1" dirty="0">
                <a:solidFill>
                  <a:srgbClr val="FFFF00"/>
                </a:solidFill>
                <a:latin typeface="+mn-ea"/>
              </a:rPr>
              <a:t>创建</a:t>
            </a:r>
            <a:r>
              <a:rPr lang="zh-CN" altLang="en-US" sz="2200" b="1" dirty="0">
                <a:solidFill>
                  <a:schemeClr val="bg1"/>
                </a:solidFill>
                <a:latin typeface="+mn-ea"/>
              </a:rPr>
              <a:t>的进程按</a:t>
            </a:r>
            <a:r>
              <a:rPr lang="en-US" altLang="zh-CN" sz="2200" b="1" dirty="0">
                <a:solidFill>
                  <a:srgbClr val="FFFF00"/>
                </a:solidFill>
                <a:latin typeface="+mn-ea"/>
              </a:rPr>
              <a:t>FCFS</a:t>
            </a:r>
            <a:r>
              <a:rPr lang="zh-CN" altLang="en-US" sz="2200" b="1" dirty="0">
                <a:solidFill>
                  <a:srgbClr val="FFFF00"/>
                </a:solidFill>
                <a:latin typeface="+mn-ea"/>
              </a:rPr>
              <a:t>方式</a:t>
            </a:r>
            <a:r>
              <a:rPr lang="zh-CN" altLang="en-US" sz="2200" b="1" dirty="0">
                <a:solidFill>
                  <a:schemeClr val="bg1"/>
                </a:solidFill>
                <a:latin typeface="+mn-ea"/>
              </a:rPr>
              <a:t>排成</a:t>
            </a:r>
            <a:r>
              <a:rPr lang="zh-CN" altLang="en-US" sz="2200" b="1" dirty="0">
                <a:solidFill>
                  <a:srgbClr val="FFFF00"/>
                </a:solidFill>
                <a:latin typeface="+mn-ea"/>
              </a:rPr>
              <a:t>就绪队列</a:t>
            </a:r>
            <a:r>
              <a:rPr lang="zh-CN" altLang="en-US" sz="2200" b="1" dirty="0">
                <a:solidFill>
                  <a:schemeClr val="bg1"/>
                </a:solidFill>
                <a:latin typeface="+mn-ea"/>
              </a:rPr>
              <a:t>，而其他</a:t>
            </a:r>
            <a:r>
              <a:rPr lang="zh-CN" altLang="en-US" sz="2200" b="1" dirty="0">
                <a:solidFill>
                  <a:schemeClr val="accent6">
                    <a:lumMod val="40000"/>
                    <a:lumOff val="60000"/>
                  </a:schemeClr>
                </a:solidFill>
                <a:latin typeface="+mn-ea"/>
              </a:rPr>
              <a:t>已得到过时间片</a:t>
            </a:r>
            <a:r>
              <a:rPr lang="zh-CN" altLang="en-US" sz="2200" b="1" dirty="0">
                <a:solidFill>
                  <a:schemeClr val="bg1"/>
                </a:solidFill>
                <a:latin typeface="+mn-ea"/>
              </a:rPr>
              <a:t>服务的进程也按</a:t>
            </a:r>
            <a:r>
              <a:rPr lang="en-US" altLang="zh-CN" sz="2200" b="1" dirty="0">
                <a:solidFill>
                  <a:schemeClr val="accent6">
                    <a:lumMod val="40000"/>
                    <a:lumOff val="60000"/>
                  </a:schemeClr>
                </a:solidFill>
                <a:latin typeface="+mn-ea"/>
              </a:rPr>
              <a:t>FCFS</a:t>
            </a:r>
            <a:r>
              <a:rPr lang="zh-CN" altLang="en-US" sz="2200" b="1" dirty="0">
                <a:solidFill>
                  <a:schemeClr val="accent6">
                    <a:lumMod val="40000"/>
                    <a:lumOff val="60000"/>
                  </a:schemeClr>
                </a:solidFill>
                <a:latin typeface="+mn-ea"/>
              </a:rPr>
              <a:t>方式</a:t>
            </a:r>
            <a:r>
              <a:rPr lang="zh-CN" altLang="en-US" sz="2200" b="1" dirty="0">
                <a:solidFill>
                  <a:schemeClr val="bg1"/>
                </a:solidFill>
                <a:latin typeface="+mn-ea"/>
              </a:rPr>
              <a:t>排成</a:t>
            </a:r>
            <a:r>
              <a:rPr lang="zh-CN" altLang="en-US" sz="2200" b="1" dirty="0">
                <a:solidFill>
                  <a:schemeClr val="accent6">
                    <a:lumMod val="40000"/>
                    <a:lumOff val="60000"/>
                  </a:schemeClr>
                </a:solidFill>
                <a:latin typeface="+mn-ea"/>
              </a:rPr>
              <a:t>另一个就绪队列</a:t>
            </a:r>
            <a:r>
              <a:rPr lang="zh-CN" altLang="en-US" sz="2200" b="1" dirty="0">
                <a:solidFill>
                  <a:schemeClr val="bg1"/>
                </a:solidFill>
                <a:latin typeface="+mn-ea"/>
              </a:rPr>
              <a:t>或称享受服务队列</a:t>
            </a:r>
          </a:p>
        </p:txBody>
      </p:sp>
      <p:grpSp>
        <p:nvGrpSpPr>
          <p:cNvPr id="4" name="组合 3"/>
          <p:cNvGrpSpPr/>
          <p:nvPr/>
        </p:nvGrpSpPr>
        <p:grpSpPr>
          <a:xfrm>
            <a:off x="1331640" y="2817980"/>
            <a:ext cx="5861983" cy="2002701"/>
            <a:chOff x="1331640" y="2817980"/>
            <a:chExt cx="5861983" cy="2002701"/>
          </a:xfrm>
        </p:grpSpPr>
        <p:pic>
          <p:nvPicPr>
            <p:cNvPr id="29" name="Picture 4" descr="E:\操作系统教材编写\张校长教材\新版\图4.5-改.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817980"/>
              <a:ext cx="5861983" cy="2002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419872" y="2897296"/>
              <a:ext cx="720080" cy="322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rPr>
                <a:t>已享受</a:t>
              </a:r>
              <a:endParaRPr lang="zh-CN" altLang="en-US" sz="1400" b="1" dirty="0">
                <a:solidFill>
                  <a:schemeClr val="tx1"/>
                </a:solidFill>
              </a:endParaRPr>
            </a:p>
          </p:txBody>
        </p:sp>
      </p:grpSp>
    </p:spTree>
    <p:extLst>
      <p:ext uri="{BB962C8B-B14F-4D97-AF65-F5344CB8AC3E}">
        <p14:creationId xmlns:p14="http://schemas.microsoft.com/office/powerpoint/2010/main" val="422342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线性优先级调度策略</a:t>
            </a:r>
          </a:p>
        </p:txBody>
      </p:sp>
      <p:sp>
        <p:nvSpPr>
          <p:cNvPr id="3" name="矩形 2"/>
          <p:cNvSpPr/>
          <p:nvPr/>
        </p:nvSpPr>
        <p:spPr>
          <a:xfrm>
            <a:off x="683568" y="1635646"/>
            <a:ext cx="7142480" cy="3388620"/>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对于这两个不同队列中的进程，设新创建进程就绪队列中进程的优先级</a:t>
            </a:r>
            <a:r>
              <a:rPr lang="en-US" altLang="zh-CN" sz="2400" b="1" dirty="0">
                <a:solidFill>
                  <a:schemeClr val="bg1"/>
                </a:solidFill>
                <a:latin typeface="+mn-ea"/>
              </a:rPr>
              <a:t>P</a:t>
            </a:r>
            <a:r>
              <a:rPr lang="zh-CN" altLang="en-US" sz="2400" b="1" dirty="0" smtClean="0">
                <a:solidFill>
                  <a:schemeClr val="bg1"/>
                </a:solidFill>
                <a:latin typeface="+mn-ea"/>
              </a:rPr>
              <a:t>以</a:t>
            </a:r>
            <a:r>
              <a:rPr lang="en-US" altLang="zh-CN" sz="2400" b="1" dirty="0" smtClean="0">
                <a:solidFill>
                  <a:srgbClr val="FFFF00"/>
                </a:solidFill>
                <a:latin typeface="+mn-ea"/>
              </a:rPr>
              <a:t>P=a*t (</a:t>
            </a:r>
            <a:r>
              <a:rPr lang="en-US" altLang="zh-CN" sz="2400" b="1" dirty="0">
                <a:solidFill>
                  <a:srgbClr val="FFFF00"/>
                </a:solidFill>
                <a:latin typeface="+mn-ea"/>
              </a:rPr>
              <a:t>a&gt;0</a:t>
            </a:r>
            <a:r>
              <a:rPr lang="en-US" altLang="zh-CN" sz="2400" b="1" dirty="0" smtClean="0">
                <a:solidFill>
                  <a:srgbClr val="FFFF00"/>
                </a:solidFill>
                <a:latin typeface="+mn-ea"/>
              </a:rPr>
              <a:t>) </a:t>
            </a:r>
            <a:r>
              <a:rPr lang="zh-CN" altLang="en-US" sz="2400" b="1" dirty="0" smtClean="0">
                <a:solidFill>
                  <a:schemeClr val="bg1"/>
                </a:solidFill>
                <a:latin typeface="+mn-ea"/>
              </a:rPr>
              <a:t>的</a:t>
            </a:r>
            <a:r>
              <a:rPr lang="zh-CN" altLang="en-US" sz="2400" b="1" dirty="0">
                <a:solidFill>
                  <a:schemeClr val="bg1"/>
                </a:solidFill>
                <a:latin typeface="+mn-ea"/>
              </a:rPr>
              <a:t>速率增加</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享受</a:t>
            </a:r>
            <a:r>
              <a:rPr lang="zh-CN" altLang="en-US" sz="2400" b="1" dirty="0">
                <a:solidFill>
                  <a:schemeClr val="bg1"/>
                </a:solidFill>
                <a:latin typeface="+mn-ea"/>
              </a:rPr>
              <a:t>服务队列中进程的优先级</a:t>
            </a:r>
            <a:r>
              <a:rPr lang="en-US" altLang="zh-CN" sz="2400" b="1" dirty="0">
                <a:solidFill>
                  <a:schemeClr val="bg1"/>
                </a:solidFill>
                <a:latin typeface="+mn-ea"/>
              </a:rPr>
              <a:t>P</a:t>
            </a:r>
            <a:r>
              <a:rPr lang="zh-CN" altLang="en-US" sz="2400" b="1" dirty="0" smtClean="0">
                <a:solidFill>
                  <a:schemeClr val="bg1"/>
                </a:solidFill>
                <a:latin typeface="+mn-ea"/>
              </a:rPr>
              <a:t>以</a:t>
            </a:r>
            <a:r>
              <a:rPr lang="en-US" altLang="zh-CN" sz="2400" b="1" dirty="0" smtClean="0">
                <a:solidFill>
                  <a:srgbClr val="FFFF00"/>
                </a:solidFill>
                <a:latin typeface="+mn-ea"/>
              </a:rPr>
              <a:t>P=b*t (</a:t>
            </a:r>
            <a:r>
              <a:rPr lang="en-US" altLang="zh-CN" sz="2400" b="1" dirty="0">
                <a:solidFill>
                  <a:srgbClr val="FFFF00"/>
                </a:solidFill>
                <a:latin typeface="+mn-ea"/>
              </a:rPr>
              <a:t>a&gt;b&gt;0</a:t>
            </a:r>
            <a:r>
              <a:rPr lang="en-US" altLang="zh-CN" sz="2400" b="1" dirty="0" smtClean="0">
                <a:solidFill>
                  <a:srgbClr val="FFFF00"/>
                </a:solidFill>
                <a:latin typeface="+mn-ea"/>
              </a:rPr>
              <a:t>)</a:t>
            </a:r>
            <a:r>
              <a:rPr lang="zh-CN" altLang="en-US" sz="2400" b="1" dirty="0" smtClean="0">
                <a:solidFill>
                  <a:schemeClr val="bg1"/>
                </a:solidFill>
                <a:latin typeface="+mn-ea"/>
              </a:rPr>
              <a:t>的</a:t>
            </a:r>
            <a:r>
              <a:rPr lang="zh-CN" altLang="en-US" sz="2400" b="1" dirty="0">
                <a:solidFill>
                  <a:schemeClr val="bg1"/>
                </a:solidFill>
                <a:latin typeface="+mn-ea"/>
              </a:rPr>
              <a:t>速率增长</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设</a:t>
            </a:r>
            <a:r>
              <a:rPr lang="zh-CN" altLang="en-US" sz="2400" b="1" dirty="0">
                <a:solidFill>
                  <a:schemeClr val="bg1"/>
                </a:solidFill>
                <a:latin typeface="+mn-ea"/>
              </a:rPr>
              <a:t>某一进程在时刻</a:t>
            </a:r>
            <a:r>
              <a:rPr lang="en-US" altLang="zh-CN" sz="2400" b="1" dirty="0">
                <a:solidFill>
                  <a:schemeClr val="bg1"/>
                </a:solidFill>
                <a:latin typeface="+mn-ea"/>
              </a:rPr>
              <a:t>t</a:t>
            </a:r>
            <a:r>
              <a:rPr lang="en-US" altLang="zh-CN" sz="2400" b="1" baseline="-25000" dirty="0">
                <a:solidFill>
                  <a:schemeClr val="bg1"/>
                </a:solidFill>
                <a:latin typeface="+mn-ea"/>
              </a:rPr>
              <a:t>1</a:t>
            </a:r>
            <a:r>
              <a:rPr lang="zh-CN" altLang="en-US" sz="2400" b="1" dirty="0">
                <a:solidFill>
                  <a:schemeClr val="bg1"/>
                </a:solidFill>
                <a:latin typeface="+mn-ea"/>
              </a:rPr>
              <a:t>时被创建，在时刻</a:t>
            </a:r>
            <a:r>
              <a:rPr lang="en-US" altLang="zh-CN" sz="2400" b="1" dirty="0">
                <a:solidFill>
                  <a:schemeClr val="bg1"/>
                </a:solidFill>
                <a:latin typeface="+mn-ea"/>
              </a:rPr>
              <a:t>t</a:t>
            </a:r>
            <a:r>
              <a:rPr lang="zh-CN" altLang="en-US" sz="2400" b="1" dirty="0">
                <a:solidFill>
                  <a:schemeClr val="bg1"/>
                </a:solidFill>
                <a:latin typeface="+mn-ea"/>
              </a:rPr>
              <a:t>时，该进程的优先级</a:t>
            </a:r>
            <a:r>
              <a:rPr lang="zh-CN" altLang="en-US" sz="2400" b="1" dirty="0" smtClean="0">
                <a:solidFill>
                  <a:schemeClr val="bg1"/>
                </a:solidFill>
                <a:latin typeface="+mn-ea"/>
              </a:rPr>
              <a:t>为：</a:t>
            </a:r>
            <a:r>
              <a:rPr lang="en-US" altLang="zh-CN" sz="2400" b="1" dirty="0" smtClean="0">
                <a:solidFill>
                  <a:schemeClr val="bg1"/>
                </a:solidFill>
                <a:latin typeface="+mn-ea"/>
              </a:rPr>
              <a:t>P(t</a:t>
            </a:r>
            <a:r>
              <a:rPr lang="en-US" altLang="zh-CN" sz="2400" b="1" dirty="0">
                <a:solidFill>
                  <a:schemeClr val="bg1"/>
                </a:solidFill>
                <a:latin typeface="+mn-ea"/>
              </a:rPr>
              <a:t>)=a*(t-t1)  (t1&lt;t&lt;t1</a:t>
            </a:r>
            <a:r>
              <a:rPr lang="en-US" altLang="zh-CN" sz="2400" b="1" dirty="0" smtClean="0">
                <a:solidFill>
                  <a:schemeClr val="bg1"/>
                </a:solidFill>
                <a:latin typeface="+mn-ea"/>
              </a:rPr>
              <a:t>′)</a:t>
            </a:r>
          </a:p>
          <a:p>
            <a:pPr marL="0" lvl="1" algn="just">
              <a:lnSpc>
                <a:spcPct val="135000"/>
              </a:lnSpc>
              <a:buClr>
                <a:schemeClr val="accent6">
                  <a:lumMod val="60000"/>
                  <a:lumOff val="40000"/>
                </a:schemeClr>
              </a:buClr>
              <a:buFont typeface="Wingdings" panose="05000000000000000000" pitchFamily="2" charset="2"/>
              <a:buChar char="Ø"/>
            </a:pPr>
            <a:endParaRPr lang="en-US" altLang="zh-CN" sz="2000" b="1" dirty="0">
              <a:solidFill>
                <a:schemeClr val="bg1"/>
              </a:solidFill>
              <a:latin typeface="+mn-ea"/>
            </a:endParaRPr>
          </a:p>
        </p:txBody>
      </p:sp>
      <p:grpSp>
        <p:nvGrpSpPr>
          <p:cNvPr id="29" name="组合 28"/>
          <p:cNvGrpSpPr/>
          <p:nvPr/>
        </p:nvGrpSpPr>
        <p:grpSpPr>
          <a:xfrm>
            <a:off x="4031432" y="14794"/>
            <a:ext cx="5112568" cy="1735559"/>
            <a:chOff x="1331640" y="2817980"/>
            <a:chExt cx="5861983" cy="2002701"/>
          </a:xfrm>
        </p:grpSpPr>
        <p:pic>
          <p:nvPicPr>
            <p:cNvPr id="31" name="Picture 4" descr="E:\操作系统教材编写\张校长教材\新版\图4.5-改.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817980"/>
              <a:ext cx="5861983" cy="2002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p:cNvSpPr/>
            <p:nvPr/>
          </p:nvSpPr>
          <p:spPr>
            <a:xfrm>
              <a:off x="3215957" y="2897296"/>
              <a:ext cx="923996" cy="322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rPr>
                <a:t>已享受</a:t>
              </a:r>
              <a:endParaRPr lang="zh-CN" altLang="en-US" sz="1400" b="1" dirty="0">
                <a:solidFill>
                  <a:schemeClr val="tx1"/>
                </a:solidFill>
              </a:endParaRPr>
            </a:p>
          </p:txBody>
        </p:sp>
      </p:grpSp>
    </p:spTree>
    <p:extLst>
      <p:ext uri="{BB962C8B-B14F-4D97-AF65-F5344CB8AC3E}">
        <p14:creationId xmlns:p14="http://schemas.microsoft.com/office/powerpoint/2010/main" val="144525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线性优先级调度策略</a:t>
            </a:r>
          </a:p>
        </p:txBody>
      </p:sp>
      <p:sp>
        <p:nvSpPr>
          <p:cNvPr id="3" name="矩形 2"/>
          <p:cNvSpPr/>
          <p:nvPr/>
        </p:nvSpPr>
        <p:spPr>
          <a:xfrm>
            <a:off x="794456" y="1451088"/>
            <a:ext cx="6984776"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当</a:t>
            </a:r>
            <a:r>
              <a:rPr lang="zh-CN" altLang="en-US" sz="2200" b="1" dirty="0">
                <a:solidFill>
                  <a:srgbClr val="FFFF00"/>
                </a:solidFill>
                <a:latin typeface="+mn-ea"/>
              </a:rPr>
              <a:t>新创建进程</a:t>
            </a:r>
            <a:r>
              <a:rPr lang="zh-CN" altLang="en-US" sz="2200" b="1" dirty="0">
                <a:solidFill>
                  <a:schemeClr val="bg1"/>
                </a:solidFill>
                <a:latin typeface="+mn-ea"/>
              </a:rPr>
              <a:t>就绪队列中的</a:t>
            </a:r>
            <a:r>
              <a:rPr lang="zh-CN" altLang="en-US" sz="2200" b="1" dirty="0">
                <a:solidFill>
                  <a:srgbClr val="FFFF00"/>
                </a:solidFill>
                <a:latin typeface="+mn-ea"/>
              </a:rPr>
              <a:t>头一个</a:t>
            </a:r>
            <a:r>
              <a:rPr lang="zh-CN" altLang="en-US" sz="2200" b="1" dirty="0">
                <a:solidFill>
                  <a:schemeClr val="bg1"/>
                </a:solidFill>
                <a:latin typeface="+mn-ea"/>
              </a:rPr>
              <a:t>进程的优先级</a:t>
            </a:r>
            <a:r>
              <a:rPr lang="en-US" altLang="zh-CN" sz="2200" b="1" dirty="0">
                <a:solidFill>
                  <a:schemeClr val="bg1"/>
                </a:solidFill>
                <a:latin typeface="+mn-ea"/>
              </a:rPr>
              <a:t>P(t)=a*(t-t1)</a:t>
            </a:r>
            <a:r>
              <a:rPr lang="zh-CN" altLang="en-US" sz="2200" b="1" dirty="0">
                <a:solidFill>
                  <a:schemeClr val="bg1"/>
                </a:solidFill>
                <a:latin typeface="+mn-ea"/>
              </a:rPr>
              <a:t>与享受服务队列中</a:t>
            </a:r>
            <a:r>
              <a:rPr lang="zh-CN" altLang="en-US" sz="2200" b="1" dirty="0">
                <a:solidFill>
                  <a:srgbClr val="FFFF00"/>
                </a:solidFill>
                <a:latin typeface="+mn-ea"/>
              </a:rPr>
              <a:t>最后一个</a:t>
            </a:r>
            <a:r>
              <a:rPr lang="zh-CN" altLang="en-US" sz="2200" b="1" dirty="0">
                <a:solidFill>
                  <a:schemeClr val="bg1"/>
                </a:solidFill>
                <a:latin typeface="+mn-ea"/>
              </a:rPr>
              <a:t>就绪进程的优先级</a:t>
            </a:r>
            <a:r>
              <a:rPr lang="en-US" altLang="zh-CN" sz="2200" b="1" dirty="0">
                <a:solidFill>
                  <a:schemeClr val="bg1"/>
                </a:solidFill>
                <a:latin typeface="+mn-ea"/>
              </a:rPr>
              <a:t>P(t)=b*t</a:t>
            </a:r>
            <a:r>
              <a:rPr lang="zh-CN" altLang="en-US" sz="2200" b="1" dirty="0">
                <a:solidFill>
                  <a:srgbClr val="FFFF00"/>
                </a:solidFill>
                <a:latin typeface="+mn-ea"/>
              </a:rPr>
              <a:t>相等</a:t>
            </a:r>
            <a:r>
              <a:rPr lang="zh-CN" altLang="en-US" sz="2200" b="1" dirty="0">
                <a:solidFill>
                  <a:schemeClr val="bg1"/>
                </a:solidFill>
                <a:latin typeface="+mn-ea"/>
              </a:rPr>
              <a:t>时，新创建进程队列中的头一个进程可以</a:t>
            </a:r>
            <a:r>
              <a:rPr lang="zh-CN" altLang="en-US" sz="2200" b="1" dirty="0">
                <a:solidFill>
                  <a:srgbClr val="FFFF00"/>
                </a:solidFill>
                <a:latin typeface="+mn-ea"/>
              </a:rPr>
              <a:t>转入</a:t>
            </a:r>
            <a:r>
              <a:rPr lang="zh-CN" altLang="en-US" sz="2200" b="1" dirty="0">
                <a:solidFill>
                  <a:schemeClr val="bg1"/>
                </a:solidFill>
                <a:latin typeface="+mn-ea"/>
              </a:rPr>
              <a:t>享受服务进程</a:t>
            </a:r>
            <a:r>
              <a:rPr lang="zh-CN" altLang="en-US" sz="2200" b="1" dirty="0" smtClean="0">
                <a:solidFill>
                  <a:schemeClr val="bg1"/>
                </a:solidFill>
                <a:latin typeface="+mn-ea"/>
              </a:rPr>
              <a:t>队列。</a:t>
            </a:r>
            <a:endParaRPr lang="en-US" altLang="zh-CN" sz="22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当享受服务进程队列为空时，新创建进程队列的头一个进程也将移入享受服务进程队列</a:t>
            </a:r>
            <a:endParaRPr lang="en-US" altLang="zh-CN" sz="2200" b="1" dirty="0">
              <a:solidFill>
                <a:schemeClr val="bg1"/>
              </a:solidFill>
              <a:latin typeface="+mn-ea"/>
            </a:endParaRPr>
          </a:p>
        </p:txBody>
      </p:sp>
      <p:pic>
        <p:nvPicPr>
          <p:cNvPr id="29" name="Picture 3" descr="图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783982"/>
            <a:ext cx="4724267" cy="280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组合 30"/>
          <p:cNvGrpSpPr/>
          <p:nvPr/>
        </p:nvGrpSpPr>
        <p:grpSpPr>
          <a:xfrm>
            <a:off x="4139952" y="122782"/>
            <a:ext cx="4860032" cy="1392784"/>
            <a:chOff x="1331640" y="2817980"/>
            <a:chExt cx="5861983" cy="2002701"/>
          </a:xfrm>
        </p:grpSpPr>
        <p:pic>
          <p:nvPicPr>
            <p:cNvPr id="32" name="Picture 4" descr="E:\操作系统教材编写\张校长教材\新版\图4.5-改.t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817980"/>
              <a:ext cx="5861983" cy="2002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矩形 32"/>
            <p:cNvSpPr/>
            <p:nvPr/>
          </p:nvSpPr>
          <p:spPr>
            <a:xfrm>
              <a:off x="3215957" y="2897296"/>
              <a:ext cx="923996" cy="322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rPr>
                <a:t>已享受</a:t>
              </a:r>
              <a:endParaRPr lang="zh-CN" altLang="en-US" sz="1400" b="1" dirty="0">
                <a:solidFill>
                  <a:schemeClr val="tx1"/>
                </a:solidFill>
              </a:endParaRPr>
            </a:p>
          </p:txBody>
        </p:sp>
      </p:grpSp>
    </p:spTree>
    <p:extLst>
      <p:ext uri="{BB962C8B-B14F-4D97-AF65-F5344CB8AC3E}">
        <p14:creationId xmlns:p14="http://schemas.microsoft.com/office/powerpoint/2010/main" val="285458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95536" y="140834"/>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线性优先级调度策略</a:t>
            </a:r>
          </a:p>
        </p:txBody>
      </p:sp>
      <p:sp>
        <p:nvSpPr>
          <p:cNvPr id="3" name="矩形 2"/>
          <p:cNvSpPr/>
          <p:nvPr/>
        </p:nvSpPr>
        <p:spPr>
          <a:xfrm>
            <a:off x="794456" y="1451088"/>
            <a:ext cx="6984776" cy="3139321"/>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200" b="1" dirty="0">
                <a:solidFill>
                  <a:schemeClr val="bg1"/>
                </a:solidFill>
                <a:latin typeface="+mn-ea"/>
              </a:rPr>
              <a:t>在上述线性优先级调度法中，</a:t>
            </a:r>
            <a:r>
              <a:rPr lang="en-US" altLang="zh-CN" sz="2200" b="1" dirty="0">
                <a:solidFill>
                  <a:srgbClr val="FFFF00"/>
                </a:solidFill>
                <a:latin typeface="+mn-ea"/>
              </a:rPr>
              <a:t>a&gt;b&gt;0 </a:t>
            </a:r>
            <a:r>
              <a:rPr lang="zh-CN" altLang="en-US" sz="2200" b="1" dirty="0">
                <a:solidFill>
                  <a:srgbClr val="FFFF00"/>
                </a:solidFill>
                <a:latin typeface="+mn-ea"/>
              </a:rPr>
              <a:t>的条件是必要</a:t>
            </a:r>
            <a:r>
              <a:rPr lang="zh-CN" altLang="en-US" sz="2200" b="1" dirty="0">
                <a:solidFill>
                  <a:schemeClr val="bg1"/>
                </a:solidFill>
                <a:latin typeface="+mn-ea"/>
              </a:rPr>
              <a:t>的。否则，当</a:t>
            </a:r>
            <a:r>
              <a:rPr lang="en-US" altLang="zh-CN" sz="2200" b="1" dirty="0">
                <a:solidFill>
                  <a:schemeClr val="bg1"/>
                </a:solidFill>
                <a:latin typeface="+mn-ea"/>
              </a:rPr>
              <a:t>b&gt;a&gt;0 </a:t>
            </a:r>
            <a:r>
              <a:rPr lang="zh-CN" altLang="en-US" sz="2200" b="1" dirty="0">
                <a:solidFill>
                  <a:schemeClr val="bg1"/>
                </a:solidFill>
                <a:latin typeface="+mn-ea"/>
              </a:rPr>
              <a:t>时，两个不同队列中的就绪态进程的优先级将永远不会相等，从而，在享受服务进程队列中永远只有一个进程。因此，上述线性优先级调度策略退回到</a:t>
            </a:r>
            <a:r>
              <a:rPr lang="en-US" altLang="zh-CN" sz="2200" b="1" dirty="0">
                <a:solidFill>
                  <a:schemeClr val="bg1"/>
                </a:solidFill>
                <a:latin typeface="+mn-ea"/>
              </a:rPr>
              <a:t>FCFS</a:t>
            </a:r>
            <a:r>
              <a:rPr lang="zh-CN" altLang="en-US" sz="2200" b="1" dirty="0">
                <a:solidFill>
                  <a:schemeClr val="bg1"/>
                </a:solidFill>
                <a:latin typeface="+mn-ea"/>
              </a:rPr>
              <a:t>方式。另外，如果</a:t>
            </a:r>
            <a:r>
              <a:rPr lang="en-US" altLang="zh-CN" sz="2200" b="1" dirty="0">
                <a:solidFill>
                  <a:schemeClr val="bg1"/>
                </a:solidFill>
                <a:latin typeface="+mn-ea"/>
              </a:rPr>
              <a:t>a&gt;b=0</a:t>
            </a:r>
            <a:r>
              <a:rPr lang="zh-CN" altLang="en-US" sz="2200" b="1" dirty="0">
                <a:solidFill>
                  <a:schemeClr val="bg1"/>
                </a:solidFill>
                <a:latin typeface="+mn-ea"/>
              </a:rPr>
              <a:t>，则线性优先级调度策略退回到轮转法调度方式。</a:t>
            </a:r>
            <a:endParaRPr lang="en-US" altLang="zh-CN" sz="2200" b="1" dirty="0">
              <a:solidFill>
                <a:schemeClr val="bg1"/>
              </a:solidFill>
              <a:latin typeface="+mn-ea"/>
            </a:endParaRPr>
          </a:p>
        </p:txBody>
      </p:sp>
      <p:pic>
        <p:nvPicPr>
          <p:cNvPr id="29" name="Picture 3" descr="图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6408" y="-1875"/>
            <a:ext cx="2705648" cy="1607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488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最短作业优先法（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SJF)</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5576" y="1318540"/>
            <a:ext cx="6984776" cy="3323987"/>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最短作业优先法（</a:t>
            </a:r>
            <a:r>
              <a:rPr lang="en-US" altLang="zh-CN" sz="2000" b="1" dirty="0">
                <a:solidFill>
                  <a:schemeClr val="bg1"/>
                </a:solidFill>
                <a:latin typeface="+mn-ea"/>
              </a:rPr>
              <a:t>SJF</a:t>
            </a:r>
            <a:r>
              <a:rPr lang="zh-CN" altLang="en-US" sz="2000" b="1" dirty="0">
                <a:solidFill>
                  <a:schemeClr val="bg1"/>
                </a:solidFill>
                <a:latin typeface="+mn-ea"/>
              </a:rPr>
              <a:t>）就是</a:t>
            </a:r>
            <a:r>
              <a:rPr lang="zh-CN" altLang="en-US" sz="2000" b="1" dirty="0">
                <a:solidFill>
                  <a:srgbClr val="FFFF00"/>
                </a:solidFill>
                <a:latin typeface="+mn-ea"/>
              </a:rPr>
              <a:t>选择那些估计需要执行时间最短的作业投入执行</a:t>
            </a:r>
            <a:r>
              <a:rPr lang="zh-CN" altLang="en-US" sz="2000" b="1" dirty="0">
                <a:solidFill>
                  <a:schemeClr val="bg1"/>
                </a:solidFill>
                <a:latin typeface="+mn-ea"/>
              </a:rPr>
              <a:t>，为它们创建进程和分配资源。直观上来说，采用最短作业优先的调度算法，可使得系统在同一时间内处理的作业个数最多，从而吞吐量也就大于其他调度方式</a:t>
            </a:r>
            <a:r>
              <a:rPr lang="zh-CN" altLang="en-US" sz="2000" b="1" dirty="0" smtClean="0">
                <a:solidFill>
                  <a:schemeClr val="bg1"/>
                </a:solidFill>
                <a:latin typeface="+mn-ea"/>
              </a:rPr>
              <a:t>。</a:t>
            </a:r>
            <a:endParaRPr lang="en-US" altLang="zh-CN" sz="20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000" b="1" dirty="0" smtClean="0">
                <a:solidFill>
                  <a:schemeClr val="bg1"/>
                </a:solidFill>
                <a:latin typeface="+mn-ea"/>
              </a:rPr>
              <a:t>但是</a:t>
            </a:r>
            <a:r>
              <a:rPr lang="zh-CN" altLang="en-US" sz="2000" b="1" dirty="0">
                <a:solidFill>
                  <a:schemeClr val="bg1"/>
                </a:solidFill>
                <a:latin typeface="+mn-ea"/>
              </a:rPr>
              <a:t>，对于一个不断有作业进入的批处理系统来说，最短作业优先法有</a:t>
            </a:r>
            <a:r>
              <a:rPr lang="zh-CN" altLang="en-US" sz="2000" b="1" dirty="0">
                <a:solidFill>
                  <a:srgbClr val="FFFF00"/>
                </a:solidFill>
                <a:latin typeface="+mn-ea"/>
              </a:rPr>
              <a:t>可能使得那些长作业永远得不到调度执行</a:t>
            </a:r>
            <a:r>
              <a:rPr lang="zh-CN" altLang="en-US" sz="2000" b="1" dirty="0">
                <a:solidFill>
                  <a:schemeClr val="bg1"/>
                </a:solidFill>
                <a:latin typeface="+mn-ea"/>
              </a:rPr>
              <a:t>的机会。</a:t>
            </a:r>
          </a:p>
        </p:txBody>
      </p:sp>
    </p:spTree>
    <p:extLst>
      <p:ext uri="{BB962C8B-B14F-4D97-AF65-F5344CB8AC3E}">
        <p14:creationId xmlns:p14="http://schemas.microsoft.com/office/powerpoint/2010/main" val="191028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最高响应比优先法（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HRN</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827584" y="1344876"/>
            <a:ext cx="6801880"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是对</a:t>
            </a:r>
            <a:r>
              <a:rPr lang="en-US" altLang="zh-CN" sz="2400" b="1" dirty="0">
                <a:solidFill>
                  <a:srgbClr val="FFFF00"/>
                </a:solidFill>
                <a:latin typeface="+mn-ea"/>
              </a:rPr>
              <a:t>FCFS</a:t>
            </a:r>
            <a:r>
              <a:rPr lang="zh-CN" altLang="en-US" sz="2400" b="1" dirty="0">
                <a:solidFill>
                  <a:schemeClr val="bg1"/>
                </a:solidFill>
                <a:latin typeface="+mn-ea"/>
              </a:rPr>
              <a:t>方式和</a:t>
            </a:r>
            <a:r>
              <a:rPr lang="en-US" altLang="zh-CN" sz="2400" b="1" dirty="0">
                <a:solidFill>
                  <a:srgbClr val="FFFF00"/>
                </a:solidFill>
                <a:latin typeface="+mn-ea"/>
              </a:rPr>
              <a:t>SJF</a:t>
            </a:r>
            <a:r>
              <a:rPr lang="en-US" altLang="zh-CN" sz="2400" b="1" dirty="0">
                <a:solidFill>
                  <a:schemeClr val="bg1"/>
                </a:solidFill>
                <a:latin typeface="+mn-ea"/>
              </a:rPr>
              <a:t> </a:t>
            </a:r>
            <a:r>
              <a:rPr lang="zh-CN" altLang="en-US" sz="2400" b="1" dirty="0">
                <a:solidFill>
                  <a:schemeClr val="bg1"/>
                </a:solidFill>
                <a:latin typeface="+mn-ea"/>
              </a:rPr>
              <a:t>方式的一种</a:t>
            </a:r>
            <a:r>
              <a:rPr lang="zh-CN" altLang="en-US" sz="2400" b="1" dirty="0">
                <a:solidFill>
                  <a:srgbClr val="FFFF00"/>
                </a:solidFill>
                <a:latin typeface="+mn-ea"/>
              </a:rPr>
              <a:t>综合平衡</a:t>
            </a:r>
            <a:r>
              <a:rPr lang="zh-CN" altLang="en-US" sz="2400" b="1" dirty="0">
                <a:solidFill>
                  <a:schemeClr val="bg1"/>
                </a:solidFill>
                <a:latin typeface="+mn-ea"/>
              </a:rPr>
              <a:t>。</a:t>
            </a:r>
            <a:r>
              <a:rPr lang="en-US" altLang="zh-CN" sz="2400" b="1" dirty="0">
                <a:solidFill>
                  <a:schemeClr val="bg1"/>
                </a:solidFill>
                <a:latin typeface="+mn-ea"/>
              </a:rPr>
              <a:t>HRN</a:t>
            </a:r>
            <a:r>
              <a:rPr lang="zh-CN" altLang="en-US" sz="2400" b="1" dirty="0">
                <a:solidFill>
                  <a:schemeClr val="bg1"/>
                </a:solidFill>
                <a:latin typeface="+mn-ea"/>
              </a:rPr>
              <a:t>调度策略同时考虑每个作业的等待时间长短和估计需要的执行时间长短，从中选出响应比最高的作业投入执行。</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响应比</a:t>
            </a:r>
            <a:r>
              <a:rPr lang="en-US" altLang="zh-CN" sz="2400" b="1" dirty="0">
                <a:solidFill>
                  <a:schemeClr val="bg1"/>
                </a:solidFill>
                <a:latin typeface="+mn-ea"/>
              </a:rPr>
              <a:t>R</a:t>
            </a:r>
            <a:r>
              <a:rPr lang="zh-CN" altLang="en-US" sz="2400" b="1" dirty="0">
                <a:solidFill>
                  <a:schemeClr val="bg1"/>
                </a:solidFill>
                <a:latin typeface="+mn-ea"/>
              </a:rPr>
              <a:t>定义如下</a:t>
            </a:r>
            <a:r>
              <a:rPr lang="zh-CN" altLang="en-US" sz="2400" b="1" dirty="0" smtClean="0">
                <a:solidFill>
                  <a:schemeClr val="bg1"/>
                </a:solidFill>
                <a:latin typeface="+mn-ea"/>
              </a:rPr>
              <a:t>：</a:t>
            </a:r>
            <a:r>
              <a:rPr lang="en-US" altLang="zh-CN" sz="2400" b="1" dirty="0" smtClean="0">
                <a:solidFill>
                  <a:schemeClr val="bg1"/>
                </a:solidFill>
                <a:latin typeface="+mn-ea"/>
              </a:rPr>
              <a:t>R</a:t>
            </a:r>
            <a:r>
              <a:rPr lang="en-US" altLang="zh-CN" sz="2400" b="1" dirty="0">
                <a:solidFill>
                  <a:schemeClr val="bg1"/>
                </a:solidFill>
                <a:latin typeface="+mn-ea"/>
              </a:rPr>
              <a:t>=(W+T)/T=1+W/T</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
        <p:nvSpPr>
          <p:cNvPr id="29" name="线形标注 1 28"/>
          <p:cNvSpPr/>
          <p:nvPr/>
        </p:nvSpPr>
        <p:spPr>
          <a:xfrm>
            <a:off x="1907704" y="2715766"/>
            <a:ext cx="2968179" cy="871737"/>
          </a:xfrm>
          <a:prstGeom prst="borderCallout1">
            <a:avLst>
              <a:gd name="adj1" fmla="val 39557"/>
              <a:gd name="adj2" fmla="val 101675"/>
              <a:gd name="adj3" fmla="val 120675"/>
              <a:gd name="adj4" fmla="val 106165"/>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en-US" altLang="zh-CN" sz="2400" b="1" dirty="0">
                <a:solidFill>
                  <a:schemeClr val="tx1"/>
                </a:solidFill>
                <a:latin typeface="+mn-ea"/>
              </a:rPr>
              <a:t>T</a:t>
            </a:r>
            <a:r>
              <a:rPr lang="zh-CN" altLang="en-US" sz="2400" b="1" dirty="0">
                <a:solidFill>
                  <a:schemeClr val="tx1"/>
                </a:solidFill>
                <a:latin typeface="+mn-ea"/>
              </a:rPr>
              <a:t>为该作业估计需要的执行时间</a:t>
            </a:r>
          </a:p>
        </p:txBody>
      </p:sp>
      <p:sp>
        <p:nvSpPr>
          <p:cNvPr id="30" name="线形标注 1 29"/>
          <p:cNvSpPr/>
          <p:nvPr/>
        </p:nvSpPr>
        <p:spPr>
          <a:xfrm>
            <a:off x="5004048" y="4155926"/>
            <a:ext cx="2968179" cy="871737"/>
          </a:xfrm>
          <a:prstGeom prst="borderCallout1">
            <a:avLst>
              <a:gd name="adj1" fmla="val 43216"/>
              <a:gd name="adj2" fmla="val 1732"/>
              <a:gd name="adj3" fmla="val -14305"/>
              <a:gd name="adj4" fmla="val -21481"/>
            </a:avLst>
          </a:prstGeom>
          <a:ln w="28575"/>
        </p:spPr>
        <p:style>
          <a:lnRef idx="1">
            <a:schemeClr val="accent3"/>
          </a:lnRef>
          <a:fillRef idx="2">
            <a:schemeClr val="accent3"/>
          </a:fillRef>
          <a:effectRef idx="1">
            <a:schemeClr val="accent3"/>
          </a:effectRef>
          <a:fontRef idx="minor">
            <a:schemeClr val="dk1"/>
          </a:fontRef>
        </p:style>
        <p:txBody>
          <a:bodyPr rtlCol="0" anchor="ctr"/>
          <a:lstStyle/>
          <a:p>
            <a:r>
              <a:rPr lang="en-US" altLang="zh-CN" sz="2400" b="1" dirty="0">
                <a:solidFill>
                  <a:schemeClr val="tx1"/>
                </a:solidFill>
                <a:latin typeface="+mn-ea"/>
              </a:rPr>
              <a:t>W</a:t>
            </a:r>
            <a:r>
              <a:rPr lang="zh-CN" altLang="en-US" sz="2400" b="1" dirty="0">
                <a:solidFill>
                  <a:schemeClr val="tx1"/>
                </a:solidFill>
                <a:latin typeface="+mn-ea"/>
              </a:rPr>
              <a:t>为作业在后备状态队列中的等待时间</a:t>
            </a:r>
          </a:p>
        </p:txBody>
      </p:sp>
    </p:spTree>
    <p:extLst>
      <p:ext uri="{BB962C8B-B14F-4D97-AF65-F5344CB8AC3E}">
        <p14:creationId xmlns:p14="http://schemas.microsoft.com/office/powerpoint/2010/main" val="145960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down)">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最高响应比优先法（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HRN</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p>
        </p:txBody>
      </p:sp>
      <p:sp>
        <p:nvSpPr>
          <p:cNvPr id="3" name="矩形 2"/>
          <p:cNvSpPr/>
          <p:nvPr/>
        </p:nvSpPr>
        <p:spPr>
          <a:xfrm>
            <a:off x="755576" y="1750353"/>
            <a:ext cx="6984776" cy="2012859"/>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每当要进行作业调度时，系统</a:t>
            </a:r>
            <a:r>
              <a:rPr lang="zh-CN" altLang="en-US" sz="2400" b="1" dirty="0">
                <a:solidFill>
                  <a:srgbClr val="FFFF00"/>
                </a:solidFill>
                <a:latin typeface="+mn-ea"/>
              </a:rPr>
              <a:t>计算每个作业的响应比</a:t>
            </a:r>
            <a:r>
              <a:rPr lang="zh-CN" altLang="en-US" sz="2400" b="1" dirty="0">
                <a:solidFill>
                  <a:schemeClr val="bg1"/>
                </a:solidFill>
                <a:latin typeface="+mn-ea"/>
              </a:rPr>
              <a:t>，选择其中</a:t>
            </a:r>
            <a:r>
              <a:rPr lang="en-US" altLang="zh-CN" sz="2400" b="1" dirty="0">
                <a:solidFill>
                  <a:srgbClr val="FFFF00"/>
                </a:solidFill>
                <a:latin typeface="+mn-ea"/>
              </a:rPr>
              <a:t>R</a:t>
            </a:r>
            <a:r>
              <a:rPr lang="zh-CN" altLang="en-US" sz="2400" b="1" dirty="0">
                <a:solidFill>
                  <a:srgbClr val="FFFF00"/>
                </a:solidFill>
                <a:latin typeface="+mn-ea"/>
              </a:rPr>
              <a:t>最大者投入执行</a:t>
            </a:r>
            <a:r>
              <a:rPr lang="zh-CN" altLang="en-US" sz="2400" b="1" dirty="0">
                <a:solidFill>
                  <a:schemeClr val="bg1"/>
                </a:solidFill>
                <a:latin typeface="+mn-ea"/>
              </a:rPr>
              <a:t>。这样，即使是长作业，随着它等待时间的增加，</a:t>
            </a:r>
            <a:r>
              <a:rPr lang="en-US" altLang="zh-CN" sz="2400" b="1" dirty="0">
                <a:solidFill>
                  <a:schemeClr val="bg1"/>
                </a:solidFill>
                <a:latin typeface="+mn-ea"/>
              </a:rPr>
              <a:t>W/T</a:t>
            </a:r>
            <a:r>
              <a:rPr lang="zh-CN" altLang="en-US" sz="2400" b="1" dirty="0">
                <a:solidFill>
                  <a:schemeClr val="bg1"/>
                </a:solidFill>
                <a:latin typeface="+mn-ea"/>
              </a:rPr>
              <a:t>也就随着增加，也就有机会获得调度执行</a:t>
            </a:r>
            <a:r>
              <a:rPr lang="zh-CN" altLang="en-US" sz="2400" b="1" dirty="0" smtClean="0">
                <a:solidFill>
                  <a:schemeClr val="bg1"/>
                </a:solidFill>
                <a:latin typeface="+mn-ea"/>
              </a:rPr>
              <a:t>。</a:t>
            </a:r>
            <a:endParaRPr lang="en-US" altLang="zh-CN" sz="2400" b="1" dirty="0" smtClean="0">
              <a:solidFill>
                <a:schemeClr val="bg1"/>
              </a:solidFill>
              <a:latin typeface="+mn-ea"/>
            </a:endParaRPr>
          </a:p>
        </p:txBody>
      </p:sp>
    </p:spTree>
    <p:extLst>
      <p:ext uri="{BB962C8B-B14F-4D97-AF65-F5344CB8AC3E}">
        <p14:creationId xmlns:p14="http://schemas.microsoft.com/office/powerpoint/2010/main" val="255675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最高响应比优先法（</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HRN</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p>
        </p:txBody>
      </p:sp>
      <p:sp>
        <p:nvSpPr>
          <p:cNvPr id="3" name="矩形 2"/>
          <p:cNvSpPr/>
          <p:nvPr/>
        </p:nvSpPr>
        <p:spPr>
          <a:xfrm>
            <a:off x="632824" y="1312506"/>
            <a:ext cx="7128792"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这种</a:t>
            </a:r>
            <a:r>
              <a:rPr lang="zh-CN" altLang="en-US" sz="2400" b="1" dirty="0">
                <a:solidFill>
                  <a:schemeClr val="bg1"/>
                </a:solidFill>
                <a:latin typeface="+mn-ea"/>
              </a:rPr>
              <a:t>算法是介于</a:t>
            </a:r>
            <a:r>
              <a:rPr lang="en-US" altLang="zh-CN" sz="2400" b="1" dirty="0">
                <a:solidFill>
                  <a:schemeClr val="bg1"/>
                </a:solidFill>
                <a:latin typeface="+mn-ea"/>
              </a:rPr>
              <a:t>FCFS</a:t>
            </a:r>
            <a:r>
              <a:rPr lang="zh-CN" altLang="en-US" sz="2400" b="1" dirty="0">
                <a:solidFill>
                  <a:schemeClr val="bg1"/>
                </a:solidFill>
                <a:latin typeface="+mn-ea"/>
              </a:rPr>
              <a:t>和</a:t>
            </a:r>
            <a:r>
              <a:rPr lang="en-US" altLang="zh-CN" sz="2400" b="1" dirty="0">
                <a:solidFill>
                  <a:schemeClr val="bg1"/>
                </a:solidFill>
                <a:latin typeface="+mn-ea"/>
              </a:rPr>
              <a:t>SJF </a:t>
            </a:r>
            <a:r>
              <a:rPr lang="zh-CN" altLang="en-US" sz="2400" b="1" dirty="0">
                <a:solidFill>
                  <a:schemeClr val="bg1"/>
                </a:solidFill>
                <a:latin typeface="+mn-ea"/>
              </a:rPr>
              <a:t>之间的一种折中算法。由于长作业也有机会投入运行，在同一时间内处理的作业数显然要少于</a:t>
            </a:r>
            <a:r>
              <a:rPr lang="en-US" altLang="zh-CN" sz="2400" b="1" dirty="0">
                <a:solidFill>
                  <a:schemeClr val="bg1"/>
                </a:solidFill>
                <a:latin typeface="+mn-ea"/>
              </a:rPr>
              <a:t>SJF </a:t>
            </a:r>
            <a:r>
              <a:rPr lang="zh-CN" altLang="en-US" sz="2400" b="1" dirty="0">
                <a:solidFill>
                  <a:schemeClr val="bg1"/>
                </a:solidFill>
                <a:latin typeface="+mn-ea"/>
              </a:rPr>
              <a:t>法，从而采用</a:t>
            </a:r>
            <a:r>
              <a:rPr lang="en-US" altLang="zh-CN" sz="2400" b="1" dirty="0" smtClean="0">
                <a:solidFill>
                  <a:schemeClr val="bg1"/>
                </a:solidFill>
                <a:latin typeface="+mn-ea"/>
              </a:rPr>
              <a:t>HRN</a:t>
            </a:r>
            <a:r>
              <a:rPr lang="zh-CN" altLang="en-US" sz="2400" b="1" dirty="0" smtClean="0">
                <a:solidFill>
                  <a:schemeClr val="bg1"/>
                </a:solidFill>
                <a:latin typeface="+mn-ea"/>
              </a:rPr>
              <a:t>方式</a:t>
            </a:r>
            <a:r>
              <a:rPr lang="zh-CN" altLang="en-US" sz="2400" b="1" dirty="0">
                <a:solidFill>
                  <a:schemeClr val="bg1"/>
                </a:solidFill>
                <a:latin typeface="+mn-ea"/>
              </a:rPr>
              <a:t>时其</a:t>
            </a:r>
            <a:r>
              <a:rPr lang="zh-CN" altLang="en-US" sz="2400" b="1" dirty="0">
                <a:solidFill>
                  <a:srgbClr val="FFFF00"/>
                </a:solidFill>
                <a:latin typeface="+mn-ea"/>
              </a:rPr>
              <a:t>吞吐量</a:t>
            </a:r>
            <a:r>
              <a:rPr lang="zh-CN" altLang="en-US" sz="2400" b="1" dirty="0">
                <a:solidFill>
                  <a:schemeClr val="bg1"/>
                </a:solidFill>
                <a:latin typeface="+mn-ea"/>
              </a:rPr>
              <a:t>将</a:t>
            </a:r>
            <a:r>
              <a:rPr lang="zh-CN" altLang="en-US" sz="2400" b="1" dirty="0">
                <a:solidFill>
                  <a:srgbClr val="FFFF00"/>
                </a:solidFill>
                <a:latin typeface="+mn-ea"/>
              </a:rPr>
              <a:t>小</a:t>
            </a:r>
            <a:r>
              <a:rPr lang="zh-CN" altLang="en-US" sz="2400" b="1" dirty="0">
                <a:solidFill>
                  <a:schemeClr val="bg1"/>
                </a:solidFill>
                <a:latin typeface="+mn-ea"/>
              </a:rPr>
              <a:t>于采用</a:t>
            </a:r>
            <a:r>
              <a:rPr lang="en-US" altLang="zh-CN" sz="2400" b="1" dirty="0" smtClean="0">
                <a:solidFill>
                  <a:schemeClr val="bg1"/>
                </a:solidFill>
                <a:latin typeface="+mn-ea"/>
              </a:rPr>
              <a:t>SJF</a:t>
            </a:r>
            <a:r>
              <a:rPr lang="zh-CN" altLang="en-US" sz="2400" b="1" dirty="0" smtClean="0">
                <a:solidFill>
                  <a:schemeClr val="bg1"/>
                </a:solidFill>
                <a:latin typeface="+mn-ea"/>
              </a:rPr>
              <a:t>法</a:t>
            </a:r>
            <a:r>
              <a:rPr lang="zh-CN" altLang="en-US" sz="2400" b="1" dirty="0">
                <a:solidFill>
                  <a:schemeClr val="bg1"/>
                </a:solidFill>
                <a:latin typeface="+mn-ea"/>
              </a:rPr>
              <a:t>时的吞吐量。另外，由于每次调度前要计算响应比，</a:t>
            </a:r>
            <a:r>
              <a:rPr lang="zh-CN" altLang="en-US" sz="2400" b="1" dirty="0">
                <a:solidFill>
                  <a:srgbClr val="FFFF00"/>
                </a:solidFill>
                <a:latin typeface="+mn-ea"/>
              </a:rPr>
              <a:t>系统开销也要相应增加</a:t>
            </a:r>
            <a:r>
              <a:rPr lang="zh-CN" altLang="en-US" sz="2400" b="1" dirty="0">
                <a:solidFill>
                  <a:schemeClr val="bg1"/>
                </a:solidFill>
                <a:latin typeface="+mn-ea"/>
              </a:rPr>
              <a:t>。</a:t>
            </a:r>
          </a:p>
        </p:txBody>
      </p:sp>
    </p:spTree>
    <p:extLst>
      <p:ext uri="{BB962C8B-B14F-4D97-AF65-F5344CB8AC3E}">
        <p14:creationId xmlns:p14="http://schemas.microsoft.com/office/powerpoint/2010/main" val="66140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24729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处理器调度</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1026" name="Picture 2" descr="处理器调度算法"/>
          <p:cNvPicPr>
            <a:picLocks noChangeAspect="1" noChangeArrowheads="1"/>
          </p:cNvPicPr>
          <p:nvPr/>
        </p:nvPicPr>
        <p:blipFill rotWithShape="1">
          <a:blip r:embed="rId2">
            <a:extLst>
              <a:ext uri="{28A0092B-C50C-407E-A947-70E740481C1C}">
                <a14:useLocalDpi xmlns:a14="http://schemas.microsoft.com/office/drawing/2010/main" val="0"/>
              </a:ext>
            </a:extLst>
          </a:blip>
          <a:srcRect l="2279" t="2437" r="2669" b="3269"/>
          <a:stretch/>
        </p:blipFill>
        <p:spPr bwMode="auto">
          <a:xfrm>
            <a:off x="38274" y="75218"/>
            <a:ext cx="9105726" cy="5068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091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三</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种调度策略响应时间评价</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29" name="组合 28"/>
          <p:cNvGrpSpPr/>
          <p:nvPr/>
        </p:nvGrpSpPr>
        <p:grpSpPr>
          <a:xfrm>
            <a:off x="855094" y="1132344"/>
            <a:ext cx="2569351" cy="2515671"/>
            <a:chOff x="987631" y="1824011"/>
            <a:chExt cx="2186299" cy="2150883"/>
          </a:xfrm>
        </p:grpSpPr>
        <p:sp>
          <p:nvSpPr>
            <p:cNvPr id="30" name="任意多边形 29"/>
            <p:cNvSpPr/>
            <p:nvPr/>
          </p:nvSpPr>
          <p:spPr>
            <a:xfrm>
              <a:off x="987631" y="1824011"/>
              <a:ext cx="1982844" cy="1323489"/>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smtClean="0"/>
                <a:t>短作业在系统中的驻留平均时间与长作业的驻留平均时间相同，这</a:t>
              </a:r>
              <a:r>
                <a:rPr lang="zh-CN" altLang="en-US" sz="2000" b="1" dirty="0" smtClean="0">
                  <a:solidFill>
                    <a:srgbClr val="FF0000"/>
                  </a:solidFill>
                </a:rPr>
                <a:t>对短作业是不利</a:t>
              </a:r>
              <a:r>
                <a:rPr lang="zh-CN" altLang="en-US" sz="2000" b="1" dirty="0" smtClean="0"/>
                <a:t>的</a:t>
              </a:r>
              <a:endParaRPr lang="zh-CN" altLang="en-US" sz="2000" b="1" dirty="0"/>
            </a:p>
          </p:txBody>
        </p:sp>
        <p:sp>
          <p:nvSpPr>
            <p:cNvPr id="31" name="任意多边形 30"/>
            <p:cNvSpPr/>
            <p:nvPr/>
          </p:nvSpPr>
          <p:spPr>
            <a:xfrm>
              <a:off x="987631"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lvl="0" algn="ctr" defTabSz="889000">
                <a:lnSpc>
                  <a:spcPct val="90000"/>
                </a:lnSpc>
                <a:spcBef>
                  <a:spcPct val="0"/>
                </a:spcBef>
                <a:spcAft>
                  <a:spcPct val="35000"/>
                </a:spcAft>
              </a:pPr>
              <a:r>
                <a:rPr lang="en-US" altLang="zh-CN" sz="2400" b="1" kern="1200" dirty="0" smtClean="0"/>
                <a:t>FCFS</a:t>
              </a:r>
              <a:r>
                <a:rPr lang="zh-CN" altLang="en-US" sz="2400" b="1" dirty="0"/>
                <a:t>方式</a:t>
              </a:r>
              <a:endParaRPr lang="zh-CN" altLang="en-US" sz="2400" b="1" kern="1200" dirty="0"/>
            </a:p>
          </p:txBody>
        </p:sp>
        <p:sp>
          <p:nvSpPr>
            <p:cNvPr id="32" name="椭圆 31"/>
            <p:cNvSpPr/>
            <p:nvPr/>
          </p:nvSpPr>
          <p:spPr>
            <a:xfrm>
              <a:off x="2479935" y="3280899"/>
              <a:ext cx="693995" cy="693995"/>
            </a:xfrm>
            <a:prstGeom prst="ellipse">
              <a:avLst/>
            </a:pr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3" name="组合 32"/>
          <p:cNvGrpSpPr/>
          <p:nvPr/>
        </p:nvGrpSpPr>
        <p:grpSpPr>
          <a:xfrm>
            <a:off x="3620025" y="1465918"/>
            <a:ext cx="2292210" cy="3173160"/>
            <a:chOff x="3306020" y="1180621"/>
            <a:chExt cx="1918494" cy="2660873"/>
          </a:xfrm>
        </p:grpSpPr>
        <p:sp>
          <p:nvSpPr>
            <p:cNvPr id="34" name="任意多边形 33"/>
            <p:cNvSpPr/>
            <p:nvPr/>
          </p:nvSpPr>
          <p:spPr>
            <a:xfrm>
              <a:off x="3306020" y="1180621"/>
              <a:ext cx="1804213" cy="2083864"/>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smtClean="0"/>
                <a:t>所需服务时间短的顾客的响应时间小于所需服务时间长的顾客的响应时间。</a:t>
              </a:r>
              <a:endParaRPr lang="en-US" altLang="zh-CN" sz="2000" b="1" dirty="0" smtClean="0"/>
            </a:p>
            <a:p>
              <a:pPr marL="0" lvl="4" algn="just" defTabSz="577850">
                <a:lnSpc>
                  <a:spcPct val="90000"/>
                </a:lnSpc>
                <a:spcBef>
                  <a:spcPct val="0"/>
                </a:spcBef>
                <a:spcAft>
                  <a:spcPct val="15000"/>
                </a:spcAft>
                <a:buChar char="••"/>
              </a:pPr>
              <a:r>
                <a:rPr lang="zh-CN" altLang="en-US" sz="2000" b="1" dirty="0" smtClean="0"/>
                <a:t>轮转法在响应时间上要优于</a:t>
              </a:r>
              <a:r>
                <a:rPr lang="en-US" altLang="zh-CN" sz="2000" b="1" dirty="0" smtClean="0"/>
                <a:t>FCFS</a:t>
              </a:r>
              <a:r>
                <a:rPr lang="zh-CN" altLang="en-US" sz="2000" b="1" dirty="0" smtClean="0"/>
                <a:t>调度方式</a:t>
              </a:r>
              <a:endParaRPr lang="zh-CN" altLang="en-US" sz="2000" b="1" dirty="0"/>
            </a:p>
          </p:txBody>
        </p:sp>
        <p:sp>
          <p:nvSpPr>
            <p:cNvPr id="35" name="任意多边形 34"/>
            <p:cNvSpPr/>
            <p:nvPr/>
          </p:nvSpPr>
          <p:spPr>
            <a:xfrm>
              <a:off x="3306020" y="3147499"/>
              <a:ext cx="1804213"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en-US" altLang="zh-CN" sz="2400" b="1" dirty="0" smtClean="0"/>
                <a:t>RR</a:t>
              </a:r>
              <a:r>
                <a:rPr lang="zh-CN" altLang="en-US" sz="2400" b="1" dirty="0" smtClean="0"/>
                <a:t>方式  </a:t>
              </a:r>
              <a:endParaRPr lang="zh-CN" altLang="en-US" sz="2400" b="1" dirty="0"/>
            </a:p>
          </p:txBody>
        </p:sp>
        <p:sp>
          <p:nvSpPr>
            <p:cNvPr id="36" name="椭圆 35"/>
            <p:cNvSpPr/>
            <p:nvPr/>
          </p:nvSpPr>
          <p:spPr>
            <a:xfrm>
              <a:off x="4530519" y="3147499"/>
              <a:ext cx="693995" cy="693995"/>
            </a:xfrm>
            <a:prstGeom prst="ellipse">
              <a:avLst/>
            </a:pr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grpSp>
        <p:nvGrpSpPr>
          <p:cNvPr id="37" name="组合 36"/>
          <p:cNvGrpSpPr/>
          <p:nvPr/>
        </p:nvGrpSpPr>
        <p:grpSpPr>
          <a:xfrm>
            <a:off x="6156176" y="1062443"/>
            <a:ext cx="2547993" cy="2812533"/>
            <a:chOff x="5624408" y="1552646"/>
            <a:chExt cx="2146457" cy="2389945"/>
          </a:xfrm>
        </p:grpSpPr>
        <p:sp>
          <p:nvSpPr>
            <p:cNvPr id="38" name="任意多边形 37"/>
            <p:cNvSpPr/>
            <p:nvPr/>
          </p:nvSpPr>
          <p:spPr>
            <a:xfrm>
              <a:off x="5624408" y="1552646"/>
              <a:ext cx="1982843" cy="1594853"/>
            </a:xfrm>
            <a:custGeom>
              <a:avLst/>
              <a:gdLst>
                <a:gd name="connsiteX0" fmla="*/ 118412 w 1982844"/>
                <a:gd name="connsiteY0" fmla="*/ 0 h 1480151"/>
                <a:gd name="connsiteX1" fmla="*/ 1864432 w 1982844"/>
                <a:gd name="connsiteY1" fmla="*/ 0 h 1480151"/>
                <a:gd name="connsiteX2" fmla="*/ 1982844 w 1982844"/>
                <a:gd name="connsiteY2" fmla="*/ 118412 h 1480151"/>
                <a:gd name="connsiteX3" fmla="*/ 1982844 w 1982844"/>
                <a:gd name="connsiteY3" fmla="*/ 1480151 h 1480151"/>
                <a:gd name="connsiteX4" fmla="*/ 1982844 w 1982844"/>
                <a:gd name="connsiteY4" fmla="*/ 1480151 h 1480151"/>
                <a:gd name="connsiteX5" fmla="*/ 0 w 1982844"/>
                <a:gd name="connsiteY5" fmla="*/ 1480151 h 1480151"/>
                <a:gd name="connsiteX6" fmla="*/ 0 w 1982844"/>
                <a:gd name="connsiteY6" fmla="*/ 1480151 h 1480151"/>
                <a:gd name="connsiteX7" fmla="*/ 0 w 1982844"/>
                <a:gd name="connsiteY7" fmla="*/ 118412 h 1480151"/>
                <a:gd name="connsiteX8" fmla="*/ 118412 w 1982844"/>
                <a:gd name="connsiteY8" fmla="*/ 0 h 148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2844" h="1480151">
                  <a:moveTo>
                    <a:pt x="118412" y="0"/>
                  </a:moveTo>
                  <a:lnTo>
                    <a:pt x="1864432" y="0"/>
                  </a:lnTo>
                  <a:cubicBezTo>
                    <a:pt x="1929829" y="0"/>
                    <a:pt x="1982844" y="53015"/>
                    <a:pt x="1982844" y="118412"/>
                  </a:cubicBezTo>
                  <a:lnTo>
                    <a:pt x="1982844" y="1480151"/>
                  </a:lnTo>
                  <a:lnTo>
                    <a:pt x="1982844" y="1480151"/>
                  </a:lnTo>
                  <a:lnTo>
                    <a:pt x="0" y="1480151"/>
                  </a:lnTo>
                  <a:lnTo>
                    <a:pt x="0" y="1480151"/>
                  </a:lnTo>
                  <a:lnTo>
                    <a:pt x="0" y="118412"/>
                  </a:lnTo>
                  <a:cubicBezTo>
                    <a:pt x="0" y="53015"/>
                    <a:pt x="53015" y="0"/>
                    <a:pt x="118412" y="0"/>
                  </a:cubicBezTo>
                  <a:close/>
                </a:path>
              </a:pathLst>
            </a:custGeom>
            <a:scene3d>
              <a:camera prst="orthographicFront"/>
              <a:lightRig rig="flat" dir="t"/>
            </a:scene3d>
            <a:sp3d z="-190500" extrusionH="12700" prstMaterial="plastic">
              <a:bevelT w="50800" h="50800"/>
            </a:sp3d>
          </p:spPr>
          <p:style>
            <a:lnRef idx="1">
              <a:schemeClr val="accent4">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1192" tIns="84212" rIns="51192" bIns="16510" numCol="1" spcCol="1270" anchor="t" anchorCtr="0">
              <a:noAutofit/>
            </a:bodyPr>
            <a:lstStyle/>
            <a:p>
              <a:pPr marL="0" lvl="4" algn="just" defTabSz="577850">
                <a:lnSpc>
                  <a:spcPct val="90000"/>
                </a:lnSpc>
                <a:spcBef>
                  <a:spcPct val="0"/>
                </a:spcBef>
                <a:spcAft>
                  <a:spcPct val="15000"/>
                </a:spcAft>
                <a:buChar char="••"/>
              </a:pPr>
              <a:r>
                <a:rPr lang="zh-CN" altLang="en-US" sz="2000" b="1" dirty="0" smtClean="0"/>
                <a:t>对于服务时间短的顾客，其响应时间为</a:t>
              </a:r>
              <a:r>
                <a:rPr lang="en-US" altLang="zh-CN" sz="2000" b="1" dirty="0" err="1" smtClean="0"/>
                <a:t>R</a:t>
              </a:r>
              <a:r>
                <a:rPr lang="en-US" altLang="zh-CN" sz="2000" b="1" baseline="-25000" dirty="0" err="1" smtClean="0"/>
                <a:t>rr</a:t>
              </a:r>
              <a:r>
                <a:rPr lang="en-US" altLang="zh-CN" sz="2000" b="1" dirty="0" smtClean="0"/>
                <a:t>&lt;</a:t>
              </a:r>
              <a:r>
                <a:rPr lang="en-US" altLang="zh-CN" sz="2000" b="1" dirty="0" err="1" smtClean="0"/>
                <a:t>R</a:t>
              </a:r>
              <a:r>
                <a:rPr lang="en-US" altLang="zh-CN" sz="2000" b="1" baseline="-25000" dirty="0" err="1" smtClean="0"/>
                <a:t>sr</a:t>
              </a:r>
              <a:r>
                <a:rPr lang="en-US" altLang="zh-CN" sz="2000" b="1" dirty="0" smtClean="0"/>
                <a:t>&lt;</a:t>
              </a:r>
              <a:r>
                <a:rPr lang="en-US" altLang="zh-CN" sz="2000" b="1" dirty="0" err="1" smtClean="0"/>
                <a:t>R</a:t>
              </a:r>
              <a:r>
                <a:rPr lang="en-US" altLang="zh-CN" sz="2000" b="1" baseline="-25000" dirty="0" err="1" smtClean="0"/>
                <a:t>fc</a:t>
              </a:r>
              <a:endParaRPr lang="en-US" altLang="zh-CN" sz="2000" b="1" baseline="-25000" dirty="0" smtClean="0"/>
            </a:p>
            <a:p>
              <a:pPr marL="0" lvl="4" algn="just" defTabSz="577850">
                <a:lnSpc>
                  <a:spcPct val="90000"/>
                </a:lnSpc>
                <a:spcBef>
                  <a:spcPct val="0"/>
                </a:spcBef>
                <a:spcAft>
                  <a:spcPct val="15000"/>
                </a:spcAft>
                <a:buChar char="••"/>
              </a:pPr>
              <a:r>
                <a:rPr lang="zh-CN" altLang="en-US" sz="2000" b="1" dirty="0"/>
                <a:t>对于</a:t>
              </a:r>
              <a:r>
                <a:rPr lang="zh-CN" altLang="en-US" sz="2000" b="1" dirty="0" smtClean="0"/>
                <a:t>服务时间长的</a:t>
              </a:r>
              <a:r>
                <a:rPr lang="zh-CN" altLang="en-US" sz="2000" b="1" dirty="0"/>
                <a:t>顾客，其响应时间</a:t>
              </a:r>
              <a:r>
                <a:rPr lang="zh-CN" altLang="en-US" sz="2000" b="1" dirty="0" smtClean="0"/>
                <a:t>为</a:t>
              </a:r>
              <a:r>
                <a:rPr lang="en-US" altLang="zh-CN" sz="2000" b="1" dirty="0" err="1" smtClean="0"/>
                <a:t>R</a:t>
              </a:r>
              <a:r>
                <a:rPr lang="en-US" altLang="zh-CN" sz="2000" b="1" baseline="-25000" dirty="0" err="1" smtClean="0"/>
                <a:t>fc</a:t>
              </a:r>
              <a:r>
                <a:rPr lang="en-US" altLang="zh-CN" sz="2000" b="1" dirty="0" smtClean="0"/>
                <a:t>&lt;</a:t>
              </a:r>
              <a:r>
                <a:rPr lang="en-US" altLang="zh-CN" sz="2000" b="1" dirty="0" err="1" smtClean="0"/>
                <a:t>R</a:t>
              </a:r>
              <a:r>
                <a:rPr lang="en-US" altLang="zh-CN" sz="2000" b="1" baseline="-25000" dirty="0" err="1" smtClean="0"/>
                <a:t>sr</a:t>
              </a:r>
              <a:r>
                <a:rPr lang="en-US" altLang="zh-CN" sz="2000" b="1" dirty="0" smtClean="0"/>
                <a:t>&lt;</a:t>
              </a:r>
              <a:r>
                <a:rPr lang="en-US" altLang="zh-CN" sz="2000" b="1" dirty="0" err="1" smtClean="0"/>
                <a:t>R</a:t>
              </a:r>
              <a:r>
                <a:rPr lang="en-US" altLang="zh-CN" sz="2000" b="1" baseline="-25000" dirty="0" err="1" smtClean="0"/>
                <a:t>rr</a:t>
              </a:r>
              <a:endParaRPr lang="en-US" altLang="zh-CN" sz="2000" b="1" baseline="-25000" dirty="0"/>
            </a:p>
            <a:p>
              <a:pPr marL="0" lvl="4" algn="just" defTabSz="577850">
                <a:lnSpc>
                  <a:spcPct val="90000"/>
                </a:lnSpc>
                <a:spcBef>
                  <a:spcPct val="0"/>
                </a:spcBef>
                <a:spcAft>
                  <a:spcPct val="15000"/>
                </a:spcAft>
                <a:buChar char="••"/>
              </a:pPr>
              <a:endParaRPr lang="zh-CN" altLang="en-US" sz="2000" b="1" dirty="0"/>
            </a:p>
          </p:txBody>
        </p:sp>
        <p:sp>
          <p:nvSpPr>
            <p:cNvPr id="39" name="任意多边形 38"/>
            <p:cNvSpPr/>
            <p:nvPr/>
          </p:nvSpPr>
          <p:spPr>
            <a:xfrm>
              <a:off x="5624410" y="3147499"/>
              <a:ext cx="1982844" cy="636465"/>
            </a:xfrm>
            <a:custGeom>
              <a:avLst/>
              <a:gdLst>
                <a:gd name="connsiteX0" fmla="*/ 0 w 1982844"/>
                <a:gd name="connsiteY0" fmla="*/ 0 h 636465"/>
                <a:gd name="connsiteX1" fmla="*/ 1982844 w 1982844"/>
                <a:gd name="connsiteY1" fmla="*/ 0 h 636465"/>
                <a:gd name="connsiteX2" fmla="*/ 1982844 w 1982844"/>
                <a:gd name="connsiteY2" fmla="*/ 636465 h 636465"/>
                <a:gd name="connsiteX3" fmla="*/ 0 w 1982844"/>
                <a:gd name="connsiteY3" fmla="*/ 636465 h 636465"/>
                <a:gd name="connsiteX4" fmla="*/ 0 w 1982844"/>
                <a:gd name="connsiteY4" fmla="*/ 0 h 636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844" h="636465">
                  <a:moveTo>
                    <a:pt x="0" y="0"/>
                  </a:moveTo>
                  <a:lnTo>
                    <a:pt x="1982844" y="0"/>
                  </a:lnTo>
                  <a:lnTo>
                    <a:pt x="1982844" y="636465"/>
                  </a:lnTo>
                  <a:lnTo>
                    <a:pt x="0" y="636465"/>
                  </a:lnTo>
                  <a:lnTo>
                    <a:pt x="0" y="0"/>
                  </a:lnTo>
                  <a:close/>
                </a:path>
              </a:pathLst>
            </a:custGeom>
            <a:scene3d>
              <a:camera prst="orthographicFront"/>
              <a:lightRig rig="flat" dir="t"/>
            </a:scene3d>
            <a:sp3d prstMaterial="plastic">
              <a:bevelT w="120900" h="88900"/>
              <a:bevelB w="88900" h="31750" prst="angle"/>
            </a:sp3d>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76200" tIns="0" rIns="611875" bIns="0" numCol="1" spcCol="1270" anchor="ctr" anchorCtr="0">
              <a:noAutofit/>
            </a:bodyPr>
            <a:lstStyle/>
            <a:p>
              <a:pPr algn="ctr" defTabSz="889000">
                <a:lnSpc>
                  <a:spcPct val="90000"/>
                </a:lnSpc>
                <a:spcBef>
                  <a:spcPct val="0"/>
                </a:spcBef>
                <a:spcAft>
                  <a:spcPct val="35000"/>
                </a:spcAft>
              </a:pPr>
              <a:r>
                <a:rPr lang="zh-CN" altLang="en-US" sz="2400" b="1" dirty="0"/>
                <a:t>三</a:t>
              </a:r>
              <a:r>
                <a:rPr lang="zh-CN" altLang="en-US" sz="2400" b="1" dirty="0" smtClean="0"/>
                <a:t>种对比</a:t>
              </a:r>
              <a:endParaRPr lang="zh-CN" altLang="en-US" sz="2400" b="1" dirty="0"/>
            </a:p>
          </p:txBody>
        </p:sp>
        <p:sp>
          <p:nvSpPr>
            <p:cNvPr id="40" name="椭圆 39"/>
            <p:cNvSpPr/>
            <p:nvPr/>
          </p:nvSpPr>
          <p:spPr>
            <a:xfrm>
              <a:off x="7076870" y="3248596"/>
              <a:ext cx="693995" cy="693995"/>
            </a:xfrm>
            <a:prstGeom prst="ellipse">
              <a:avLst/>
            </a:prstGeom>
            <a:scene3d>
              <a:camera prst="orthographicFront"/>
              <a:lightRig rig="flat" dir="t"/>
            </a:scene3d>
            <a:sp3d z="190500" extrusionH="12700" prstMaterial="plastic">
              <a:bevelT w="50800" h="50800"/>
            </a:sp3d>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2">
              <a:schemeClr val="accent4">
                <a:tint val="40000"/>
                <a:alpha val="90000"/>
                <a:hueOff val="0"/>
                <a:satOff val="0"/>
                <a:lumOff val="0"/>
                <a:alphaOff val="0"/>
              </a:schemeClr>
            </a:effectRef>
            <a:fontRef idx="minor">
              <a:schemeClr val="dk1">
                <a:hueOff val="0"/>
                <a:satOff val="0"/>
                <a:lumOff val="0"/>
                <a:alphaOff val="0"/>
              </a:schemeClr>
            </a:fontRef>
          </p:style>
          <p:txBody>
            <a:bodyPr/>
            <a:lstStyle/>
            <a:p>
              <a:pPr algn="ctr"/>
              <a:r>
                <a:rPr lang="en-US" altLang="zh-CN" sz="3200" b="1" dirty="0" smtClean="0">
                  <a:ln w="6600">
                    <a:solidFill>
                      <a:schemeClr val="accent2"/>
                    </a:solidFill>
                    <a:prstDash val="solid"/>
                  </a:ln>
                  <a:solidFill>
                    <a:srgbClr val="FFFFFF"/>
                  </a:solidFill>
                  <a:effectLst>
                    <a:outerShdw dist="38100" dir="2700000" algn="tl" rotWithShape="0">
                      <a:schemeClr val="accent2"/>
                    </a:outerShdw>
                  </a:effectLst>
                </a:rPr>
                <a:t>3</a:t>
              </a:r>
              <a:endParaRPr lang="zh-CN" altLang="en-US" sz="3200" b="1" dirty="0">
                <a:ln w="6600">
                  <a:solidFill>
                    <a:schemeClr val="accent2"/>
                  </a:solidFill>
                  <a:prstDash val="solid"/>
                </a:ln>
                <a:solidFill>
                  <a:srgbClr val="FFFFFF"/>
                </a:solidFill>
                <a:effectLst>
                  <a:outerShdw dist="38100" dir="2700000" algn="tl" rotWithShape="0">
                    <a:schemeClr val="accent2"/>
                  </a:outerShdw>
                </a:effectLst>
              </a:endParaRPr>
            </a:p>
          </p:txBody>
        </p:sp>
      </p:grpSp>
    </p:spTree>
    <p:extLst>
      <p:ext uri="{BB962C8B-B14F-4D97-AF65-F5344CB8AC3E}">
        <p14:creationId xmlns:p14="http://schemas.microsoft.com/office/powerpoint/2010/main" val="1600442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down)">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down)">
                                      <p:cBhvr>
                                        <p:cTn id="1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683568" y="783826"/>
            <a:ext cx="4320480" cy="3939540"/>
          </a:xfrm>
          <a:prstGeom prst="rect">
            <a:avLst/>
          </a:prstGeom>
        </p:spPr>
        <p:txBody>
          <a:bodyPr wrap="square">
            <a:spAutoFit/>
          </a:bodyPr>
          <a:lstStyle/>
          <a:p>
            <a:endParaRPr lang="zh-CN" altLang="en-US" sz="1600" dirty="0">
              <a:solidFill>
                <a:srgbClr val="000000"/>
              </a:solidFill>
              <a:latin typeface="FangSong" panose="02010609060101010101" pitchFamily="49" charset="-122"/>
              <a:ea typeface="FangSong" panose="02010609060101010101" pitchFamily="49" charset="-122"/>
            </a:endParaRP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假定要在一台处理机上</a:t>
            </a:r>
            <a:r>
              <a:rPr lang="zh-CN" altLang="en-US" sz="2000" b="1" dirty="0" smtClean="0">
                <a:solidFill>
                  <a:schemeClr val="bg1"/>
                </a:solidFill>
                <a:latin typeface="+mn-ea"/>
              </a:rPr>
              <a:t>执行右表</a:t>
            </a:r>
            <a:r>
              <a:rPr lang="zh-CN" altLang="en-US" sz="2000" b="1" dirty="0">
                <a:solidFill>
                  <a:schemeClr val="bg1"/>
                </a:solidFill>
                <a:latin typeface="+mn-ea"/>
              </a:rPr>
              <a:t>中所示的作业，且假定这些作业在时刻</a:t>
            </a:r>
            <a:r>
              <a:rPr lang="en-US" altLang="zh-CN" sz="2000" b="1" dirty="0">
                <a:solidFill>
                  <a:schemeClr val="bg1"/>
                </a:solidFill>
                <a:latin typeface="+mn-ea"/>
              </a:rPr>
              <a:t>0</a:t>
            </a:r>
            <a:r>
              <a:rPr lang="zh-CN" altLang="en-US" sz="2000" b="1" dirty="0">
                <a:solidFill>
                  <a:schemeClr val="bg1"/>
                </a:solidFill>
                <a:latin typeface="+mn-ea"/>
              </a:rPr>
              <a:t>以</a:t>
            </a:r>
            <a:r>
              <a:rPr lang="en-US" altLang="zh-CN" sz="2000" b="1" dirty="0">
                <a:solidFill>
                  <a:schemeClr val="bg1"/>
                </a:solidFill>
                <a:latin typeface="+mn-ea"/>
              </a:rPr>
              <a:t>1</a:t>
            </a:r>
            <a:r>
              <a:rPr lang="zh-CN" altLang="en-US" sz="2000" b="1" dirty="0">
                <a:solidFill>
                  <a:schemeClr val="bg1"/>
                </a:solidFill>
                <a:latin typeface="+mn-ea"/>
              </a:rPr>
              <a:t>、</a:t>
            </a:r>
            <a:r>
              <a:rPr lang="en-US" altLang="zh-CN" sz="2000" b="1" dirty="0">
                <a:solidFill>
                  <a:schemeClr val="bg1"/>
                </a:solidFill>
                <a:latin typeface="+mn-ea"/>
              </a:rPr>
              <a:t>2</a:t>
            </a:r>
            <a:r>
              <a:rPr lang="zh-CN" altLang="en-US" sz="2000" b="1" dirty="0">
                <a:solidFill>
                  <a:schemeClr val="bg1"/>
                </a:solidFill>
                <a:latin typeface="+mn-ea"/>
              </a:rPr>
              <a:t>、</a:t>
            </a:r>
            <a:r>
              <a:rPr lang="en-US" altLang="zh-CN" sz="2000" b="1" dirty="0">
                <a:solidFill>
                  <a:schemeClr val="bg1"/>
                </a:solidFill>
                <a:latin typeface="+mn-ea"/>
              </a:rPr>
              <a:t>3</a:t>
            </a:r>
            <a:r>
              <a:rPr lang="zh-CN" altLang="en-US" sz="2000" b="1" dirty="0">
                <a:solidFill>
                  <a:schemeClr val="bg1"/>
                </a:solidFill>
                <a:latin typeface="+mn-ea"/>
              </a:rPr>
              <a:t>、</a:t>
            </a:r>
            <a:r>
              <a:rPr lang="en-US" altLang="zh-CN" sz="2000" b="1" dirty="0">
                <a:solidFill>
                  <a:schemeClr val="bg1"/>
                </a:solidFill>
                <a:latin typeface="+mn-ea"/>
              </a:rPr>
              <a:t>4</a:t>
            </a:r>
            <a:r>
              <a:rPr lang="zh-CN" altLang="en-US" sz="2000" b="1" dirty="0">
                <a:solidFill>
                  <a:schemeClr val="bg1"/>
                </a:solidFill>
                <a:latin typeface="+mn-ea"/>
              </a:rPr>
              <a:t>、</a:t>
            </a:r>
            <a:r>
              <a:rPr lang="en-US" altLang="zh-CN" sz="2000" b="1" dirty="0">
                <a:solidFill>
                  <a:schemeClr val="bg1"/>
                </a:solidFill>
                <a:latin typeface="+mn-ea"/>
              </a:rPr>
              <a:t>5</a:t>
            </a:r>
            <a:r>
              <a:rPr lang="zh-CN" altLang="en-US" sz="2000" b="1" dirty="0">
                <a:solidFill>
                  <a:schemeClr val="bg1"/>
                </a:solidFill>
                <a:latin typeface="+mn-ea"/>
              </a:rPr>
              <a:t>的顺序到达，说明分别使用</a:t>
            </a:r>
            <a:r>
              <a:rPr lang="en-US" altLang="zh-CN" sz="2000" b="1" dirty="0">
                <a:solidFill>
                  <a:schemeClr val="bg1"/>
                </a:solidFill>
                <a:latin typeface="+mn-ea"/>
              </a:rPr>
              <a:t>FCFS</a:t>
            </a:r>
            <a:r>
              <a:rPr lang="zh-CN" altLang="en-US" sz="2000" b="1" dirty="0">
                <a:solidFill>
                  <a:schemeClr val="bg1"/>
                </a:solidFill>
                <a:latin typeface="+mn-ea"/>
              </a:rPr>
              <a:t>、</a:t>
            </a:r>
            <a:r>
              <a:rPr lang="en-US" altLang="zh-CN" sz="2000" b="1" dirty="0">
                <a:solidFill>
                  <a:schemeClr val="bg1"/>
                </a:solidFill>
                <a:latin typeface="+mn-ea"/>
              </a:rPr>
              <a:t>RR</a:t>
            </a:r>
            <a:r>
              <a:rPr lang="zh-CN" altLang="en-US" sz="2000" b="1" dirty="0">
                <a:solidFill>
                  <a:schemeClr val="bg1"/>
                </a:solidFill>
                <a:latin typeface="+mn-ea"/>
              </a:rPr>
              <a:t>（时间片</a:t>
            </a:r>
            <a:r>
              <a:rPr lang="en-US" altLang="zh-CN" sz="2000" b="1" dirty="0">
                <a:solidFill>
                  <a:schemeClr val="bg1"/>
                </a:solidFill>
                <a:latin typeface="+mn-ea"/>
              </a:rPr>
              <a:t>=1</a:t>
            </a:r>
            <a:r>
              <a:rPr lang="zh-CN" altLang="en-US" sz="2000" b="1" dirty="0">
                <a:solidFill>
                  <a:schemeClr val="bg1"/>
                </a:solidFill>
                <a:latin typeface="+mn-ea"/>
              </a:rPr>
              <a:t>）、</a:t>
            </a:r>
            <a:r>
              <a:rPr lang="en-US" altLang="zh-CN" sz="2000" b="1" dirty="0">
                <a:solidFill>
                  <a:schemeClr val="bg1"/>
                </a:solidFill>
                <a:latin typeface="+mn-ea"/>
              </a:rPr>
              <a:t>SJF</a:t>
            </a:r>
            <a:r>
              <a:rPr lang="zh-CN" altLang="en-US" sz="2000" b="1" dirty="0">
                <a:solidFill>
                  <a:schemeClr val="bg1"/>
                </a:solidFill>
                <a:latin typeface="+mn-ea"/>
              </a:rPr>
              <a:t>以及非剥夺优先级调度算法时，这些作业的执行情况。（优先级的高低顺序依次为</a:t>
            </a:r>
            <a:r>
              <a:rPr lang="en-US" altLang="zh-CN" sz="2000" b="1" dirty="0">
                <a:solidFill>
                  <a:schemeClr val="bg1"/>
                </a:solidFill>
                <a:latin typeface="+mn-ea"/>
              </a:rPr>
              <a:t>1</a:t>
            </a:r>
            <a:r>
              <a:rPr lang="zh-CN" altLang="en-US" sz="2000" b="1" dirty="0">
                <a:solidFill>
                  <a:schemeClr val="bg1"/>
                </a:solidFill>
                <a:latin typeface="+mn-ea"/>
              </a:rPr>
              <a:t>到</a:t>
            </a:r>
            <a:r>
              <a:rPr lang="en-US" altLang="zh-CN" sz="2000" b="1" dirty="0">
                <a:solidFill>
                  <a:schemeClr val="bg1"/>
                </a:solidFill>
                <a:latin typeface="+mn-ea"/>
              </a:rPr>
              <a:t>5</a:t>
            </a:r>
            <a:r>
              <a:rPr lang="zh-CN" altLang="en-US" sz="2000" b="1" dirty="0">
                <a:solidFill>
                  <a:schemeClr val="bg1"/>
                </a:solidFill>
                <a:latin typeface="+mn-ea"/>
              </a:rPr>
              <a:t>），同时针对以上每种调度算法，给出平均周转时间和平均带权周转时间。 </a:t>
            </a:r>
          </a:p>
        </p:txBody>
      </p:sp>
      <p:pic>
        <p:nvPicPr>
          <p:cNvPr id="3" name="图片 2"/>
          <p:cNvPicPr>
            <a:picLocks noChangeAspect="1"/>
          </p:cNvPicPr>
          <p:nvPr/>
        </p:nvPicPr>
        <p:blipFill>
          <a:blip r:embed="rId2"/>
          <a:stretch>
            <a:fillRect/>
          </a:stretch>
        </p:blipFill>
        <p:spPr>
          <a:xfrm>
            <a:off x="5220072" y="1419623"/>
            <a:ext cx="2952328" cy="2699624"/>
          </a:xfrm>
          <a:prstGeom prst="rect">
            <a:avLst/>
          </a:prstGeom>
        </p:spPr>
      </p:pic>
    </p:spTree>
    <p:extLst>
      <p:ext uri="{BB962C8B-B14F-4D97-AF65-F5344CB8AC3E}">
        <p14:creationId xmlns:p14="http://schemas.microsoft.com/office/powerpoint/2010/main" val="33125793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6879138"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练习</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709478" y="699179"/>
            <a:ext cx="5544616" cy="738664"/>
          </a:xfrm>
          <a:prstGeom prst="rect">
            <a:avLst/>
          </a:prstGeom>
        </p:spPr>
        <p:txBody>
          <a:bodyPr wrap="square">
            <a:spAutoFit/>
          </a:bodyPr>
          <a:lstStyle/>
          <a:p>
            <a:endParaRPr lang="zh-CN" altLang="en-US" sz="1600" dirty="0">
              <a:solidFill>
                <a:srgbClr val="000000"/>
              </a:solidFill>
              <a:latin typeface="FangSong" panose="02010609060101010101" pitchFamily="49" charset="-122"/>
              <a:ea typeface="FangSong" panose="02010609060101010101" pitchFamily="49" charset="-122"/>
            </a:endParaRPr>
          </a:p>
          <a:p>
            <a:pPr marL="0" lvl="1" indent="-285750" algn="just">
              <a:lnSpc>
                <a:spcPct val="130000"/>
              </a:lnSpc>
              <a:buClr>
                <a:schemeClr val="accent6">
                  <a:lumMod val="60000"/>
                  <a:lumOff val="40000"/>
                </a:schemeClr>
              </a:buClr>
              <a:buFont typeface="Wingdings" panose="05000000000000000000" pitchFamily="2" charset="2"/>
              <a:buChar char="Ø"/>
            </a:pPr>
            <a:r>
              <a:rPr lang="zh-CN" altLang="en-US" sz="2000" b="1" dirty="0">
                <a:solidFill>
                  <a:schemeClr val="bg1"/>
                </a:solidFill>
                <a:latin typeface="+mn-ea"/>
              </a:rPr>
              <a:t>解：作业执行情况可以用甘特图来表示</a:t>
            </a:r>
          </a:p>
        </p:txBody>
      </p:sp>
      <p:pic>
        <p:nvPicPr>
          <p:cNvPr id="3" name="图片 2"/>
          <p:cNvPicPr>
            <a:picLocks noChangeAspect="1"/>
          </p:cNvPicPr>
          <p:nvPr/>
        </p:nvPicPr>
        <p:blipFill>
          <a:blip r:embed="rId2"/>
          <a:stretch>
            <a:fillRect/>
          </a:stretch>
        </p:blipFill>
        <p:spPr>
          <a:xfrm>
            <a:off x="6638287" y="1311206"/>
            <a:ext cx="2486369" cy="2273549"/>
          </a:xfrm>
          <a:prstGeom prst="rect">
            <a:avLst/>
          </a:prstGeom>
        </p:spPr>
      </p:pic>
      <p:pic>
        <p:nvPicPr>
          <p:cNvPr id="4" name="图片 3"/>
          <p:cNvPicPr>
            <a:picLocks noChangeAspect="1"/>
          </p:cNvPicPr>
          <p:nvPr/>
        </p:nvPicPr>
        <p:blipFill>
          <a:blip r:embed="rId3"/>
          <a:stretch>
            <a:fillRect/>
          </a:stretch>
        </p:blipFill>
        <p:spPr>
          <a:xfrm>
            <a:off x="575778" y="341264"/>
            <a:ext cx="5737533" cy="1880410"/>
          </a:xfrm>
          <a:prstGeom prst="rect">
            <a:avLst/>
          </a:prstGeom>
        </p:spPr>
      </p:pic>
      <p:pic>
        <p:nvPicPr>
          <p:cNvPr id="5" name="图片 4"/>
          <p:cNvPicPr>
            <a:picLocks noChangeAspect="1"/>
          </p:cNvPicPr>
          <p:nvPr/>
        </p:nvPicPr>
        <p:blipFill>
          <a:blip r:embed="rId4"/>
          <a:stretch>
            <a:fillRect/>
          </a:stretch>
        </p:blipFill>
        <p:spPr>
          <a:xfrm>
            <a:off x="12243" y="2579589"/>
            <a:ext cx="6864601" cy="2484218"/>
          </a:xfrm>
          <a:prstGeom prst="rect">
            <a:avLst/>
          </a:prstGeom>
        </p:spPr>
      </p:pic>
    </p:spTree>
    <p:extLst>
      <p:ext uri="{BB962C8B-B14F-4D97-AF65-F5344CB8AC3E}">
        <p14:creationId xmlns:p14="http://schemas.microsoft.com/office/powerpoint/2010/main" val="31985199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6"/>
          <p:cNvGrpSpPr/>
          <p:nvPr/>
        </p:nvGrpSpPr>
        <p:grpSpPr>
          <a:xfrm>
            <a:off x="755575" y="483518"/>
            <a:ext cx="1704073" cy="840074"/>
            <a:chOff x="728489" y="483518"/>
            <a:chExt cx="1704073" cy="840074"/>
          </a:xfrm>
        </p:grpSpPr>
        <p:pic>
          <p:nvPicPr>
            <p:cNvPr id="78" name="图片 77" descr="贴贴子4张（空）.png"/>
            <p:cNvPicPr>
              <a:picLocks noChangeAspect="1"/>
            </p:cNvPicPr>
            <p:nvPr/>
          </p:nvPicPr>
          <p:blipFill>
            <a:blip r:embed="rId3" cstate="print"/>
            <a:srcRect t="33018" r="77449" b="52860"/>
            <a:stretch>
              <a:fillRect/>
            </a:stretch>
          </p:blipFill>
          <p:spPr>
            <a:xfrm>
              <a:off x="728489" y="483518"/>
              <a:ext cx="1512166" cy="615496"/>
            </a:xfrm>
            <a:prstGeom prst="rect">
              <a:avLst/>
            </a:prstGeom>
          </p:spPr>
        </p:pic>
        <p:sp>
          <p:nvSpPr>
            <p:cNvPr id="79" name="TextBox 78"/>
            <p:cNvSpPr txBox="1"/>
            <p:nvPr/>
          </p:nvSpPr>
          <p:spPr>
            <a:xfrm>
              <a:off x="1187623" y="73148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O</a:t>
              </a:r>
              <a:endParaRPr lang="zh-CN" altLang="en-US" dirty="0">
                <a:latin typeface="微软雅黑" pitchFamily="34" charset="-122"/>
                <a:ea typeface="微软雅黑" pitchFamily="34" charset="-122"/>
              </a:endParaRPr>
            </a:p>
          </p:txBody>
        </p:sp>
        <p:pic>
          <p:nvPicPr>
            <p:cNvPr id="80" name="图片 79" descr="贴贴子4张（空）.png"/>
            <p:cNvPicPr>
              <a:picLocks/>
            </p:cNvPicPr>
            <p:nvPr/>
          </p:nvPicPr>
          <p:blipFill>
            <a:blip r:embed="rId3" cstate="print"/>
            <a:srcRect l="6702" t="47905" r="86794" b="38897"/>
            <a:stretch>
              <a:fillRect/>
            </a:stretch>
          </p:blipFill>
          <p:spPr>
            <a:xfrm rot="21420000">
              <a:off x="2000563" y="731480"/>
              <a:ext cx="431999" cy="592112"/>
            </a:xfrm>
            <a:prstGeom prst="rect">
              <a:avLst/>
            </a:prstGeom>
          </p:spPr>
        </p:pic>
        <p:sp>
          <p:nvSpPr>
            <p:cNvPr id="81" name="TextBox 80"/>
            <p:cNvSpPr txBox="1"/>
            <p:nvPr/>
          </p:nvSpPr>
          <p:spPr>
            <a:xfrm rot="599039">
              <a:off x="1667521" y="755371"/>
              <a:ext cx="352179" cy="36933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S</a:t>
              </a:r>
              <a:endParaRPr lang="zh-CN" altLang="en-US" dirty="0">
                <a:latin typeface="微软雅黑" pitchFamily="34" charset="-122"/>
                <a:ea typeface="微软雅黑" pitchFamily="34" charset="-122"/>
              </a:endParaRPr>
            </a:p>
          </p:txBody>
        </p:sp>
        <p:sp>
          <p:nvSpPr>
            <p:cNvPr id="82" name="TextBox 81"/>
            <p:cNvSpPr txBox="1"/>
            <p:nvPr/>
          </p:nvSpPr>
          <p:spPr>
            <a:xfrm rot="20890714">
              <a:off x="2046654" y="743345"/>
              <a:ext cx="352179" cy="384721"/>
            </a:xfrm>
            <a:prstGeom prst="rect">
              <a:avLst/>
            </a:prstGeom>
            <a:noFill/>
          </p:spPr>
          <p:txBody>
            <a:bodyPr wrap="square" rtlCol="0">
              <a:spAutoFit/>
            </a:bodyPr>
            <a:lstStyle/>
            <a:p>
              <a:r>
                <a:rPr lang="en-US" altLang="zh-CN" dirty="0">
                  <a:latin typeface="微软雅黑" pitchFamily="34" charset="-122"/>
                  <a:ea typeface="微软雅黑" pitchFamily="34" charset="-122"/>
                </a:rPr>
                <a:t>Y</a:t>
              </a:r>
              <a:endParaRPr lang="zh-CN" altLang="en-US" dirty="0">
                <a:latin typeface="微软雅黑" pitchFamily="34" charset="-122"/>
                <a:ea typeface="微软雅黑" pitchFamily="34" charset="-122"/>
              </a:endParaRPr>
            </a:p>
          </p:txBody>
        </p:sp>
      </p:grpSp>
      <p:pic>
        <p:nvPicPr>
          <p:cNvPr id="1026" name="Picture 2"/>
          <p:cNvPicPr>
            <a:picLocks noChangeAspect="1" noChangeArrowheads="1"/>
          </p:cNvPicPr>
          <p:nvPr/>
        </p:nvPicPr>
        <p:blipFill>
          <a:blip r:embed="rId4" cstate="print"/>
          <a:srcRect/>
          <a:stretch>
            <a:fillRect/>
          </a:stretch>
        </p:blipFill>
        <p:spPr bwMode="auto">
          <a:xfrm>
            <a:off x="2027867" y="598012"/>
            <a:ext cx="504056" cy="492055"/>
          </a:xfrm>
          <a:prstGeom prst="rect">
            <a:avLst/>
          </a:prstGeom>
          <a:noFill/>
          <a:ln w="9525">
            <a:noFill/>
            <a:miter lim="800000"/>
            <a:headEnd/>
            <a:tailEnd/>
          </a:ln>
        </p:spPr>
      </p:pic>
      <p:grpSp>
        <p:nvGrpSpPr>
          <p:cNvPr id="11" name="Group 46"/>
          <p:cNvGrpSpPr>
            <a:grpSpLocks/>
          </p:cNvGrpSpPr>
          <p:nvPr/>
        </p:nvGrpSpPr>
        <p:grpSpPr bwMode="auto">
          <a:xfrm>
            <a:off x="2229644" y="573247"/>
            <a:ext cx="4724400" cy="685800"/>
            <a:chOff x="1296" y="1824"/>
            <a:chExt cx="2976" cy="432"/>
          </a:xfrm>
        </p:grpSpPr>
        <p:sp>
          <p:nvSpPr>
            <p:cNvPr id="12"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headEnd/>
              <a:tailEnd/>
            </a:ln>
            <a:effectLst/>
          </p:spPr>
          <p:txBody>
            <a:bodyPr wrap="none" anchor="ctr"/>
            <a:lstStyle/>
            <a:p>
              <a:endParaRPr lang="zh-CN" altLang="en-US"/>
            </a:p>
          </p:txBody>
        </p:sp>
        <p:sp>
          <p:nvSpPr>
            <p:cNvPr id="13"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p:spPr>
          <p:txBody>
            <a:bodyPr wrap="none" anchor="ctr"/>
            <a:lstStyle/>
            <a:p>
              <a:endParaRPr lang="zh-CN" altLang="en-US"/>
            </a:p>
          </p:txBody>
        </p:sp>
        <p:sp>
          <p:nvSpPr>
            <p:cNvPr id="14" name="Text Box 49"/>
            <p:cNvSpPr txBox="1">
              <a:spLocks noChangeArrowheads="1"/>
            </p:cNvSpPr>
            <p:nvPr/>
          </p:nvSpPr>
          <p:spPr bwMode="gray">
            <a:xfrm>
              <a:off x="1760" y="1942"/>
              <a:ext cx="2160" cy="233"/>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分级调度</a:t>
              </a:r>
              <a:endParaRPr lang="en-US" altLang="zh-CN" b="1" dirty="0">
                <a:solidFill>
                  <a:srgbClr val="000000"/>
                </a:solidFill>
                <a:ea typeface="宋体" pitchFamily="2" charset="-122"/>
              </a:endParaRPr>
            </a:p>
          </p:txBody>
        </p:sp>
        <p:sp>
          <p:nvSpPr>
            <p:cNvPr id="15" name="Text Box 5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1</a:t>
              </a:r>
            </a:p>
          </p:txBody>
        </p:sp>
      </p:grpSp>
      <p:grpSp>
        <p:nvGrpSpPr>
          <p:cNvPr id="16" name="Group 51"/>
          <p:cNvGrpSpPr>
            <a:grpSpLocks/>
          </p:cNvGrpSpPr>
          <p:nvPr/>
        </p:nvGrpSpPr>
        <p:grpSpPr bwMode="auto">
          <a:xfrm>
            <a:off x="2267744" y="1347614"/>
            <a:ext cx="4724400" cy="685800"/>
            <a:chOff x="1296" y="1824"/>
            <a:chExt cx="2976" cy="432"/>
          </a:xfrm>
        </p:grpSpPr>
        <p:sp>
          <p:nvSpPr>
            <p:cNvPr id="17"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headEnd/>
              <a:tailEnd/>
            </a:ln>
            <a:effectLst/>
          </p:spPr>
          <p:txBody>
            <a:bodyPr wrap="none" anchor="ctr"/>
            <a:lstStyle/>
            <a:p>
              <a:endParaRPr lang="zh-CN" altLang="en-US"/>
            </a:p>
          </p:txBody>
        </p:sp>
        <p:sp>
          <p:nvSpPr>
            <p:cNvPr id="18"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p:spPr>
          <p:txBody>
            <a:bodyPr wrap="none" anchor="ctr"/>
            <a:lstStyle/>
            <a:p>
              <a:endParaRPr lang="zh-CN" altLang="en-US"/>
            </a:p>
          </p:txBody>
        </p:sp>
        <p:sp>
          <p:nvSpPr>
            <p:cNvPr id="19" name="Text Box 54"/>
            <p:cNvSpPr txBox="1">
              <a:spLocks noChangeArrowheads="1"/>
            </p:cNvSpPr>
            <p:nvPr/>
          </p:nvSpPr>
          <p:spPr bwMode="gray">
            <a:xfrm>
              <a:off x="1680" y="1934"/>
              <a:ext cx="2160" cy="231"/>
            </a:xfrm>
            <a:prstGeom prst="rect">
              <a:avLst/>
            </a:prstGeom>
            <a:noFill/>
            <a:ln w="9525" algn="ctr">
              <a:noFill/>
              <a:miter lim="800000"/>
              <a:headEnd/>
              <a:tailEnd/>
            </a:ln>
            <a:effectLst/>
          </p:spPr>
          <p:txBody>
            <a:bodyPr>
              <a:spAutoFit/>
            </a:bodyPr>
            <a:lstStyle/>
            <a:p>
              <a:pPr eaLnBrk="0" hangingPunct="0"/>
              <a:r>
                <a:rPr lang="zh-CN" altLang="en-US" b="1" dirty="0" smtClean="0">
                  <a:solidFill>
                    <a:srgbClr val="000000"/>
                  </a:solidFill>
                </a:rPr>
                <a:t>                           作业调度</a:t>
              </a:r>
              <a:endParaRPr lang="en-US" altLang="zh-CN" b="1" dirty="0">
                <a:solidFill>
                  <a:srgbClr val="000000"/>
                </a:solidFill>
              </a:endParaRPr>
            </a:p>
          </p:txBody>
        </p:sp>
        <p:sp>
          <p:nvSpPr>
            <p:cNvPr id="21" name="Text Box 5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2</a:t>
              </a:r>
            </a:p>
          </p:txBody>
        </p:sp>
      </p:grpSp>
      <p:grpSp>
        <p:nvGrpSpPr>
          <p:cNvPr id="22" name="Group 56"/>
          <p:cNvGrpSpPr>
            <a:grpSpLocks/>
          </p:cNvGrpSpPr>
          <p:nvPr/>
        </p:nvGrpSpPr>
        <p:grpSpPr bwMode="auto">
          <a:xfrm>
            <a:off x="2267744" y="2139702"/>
            <a:ext cx="4724400" cy="685800"/>
            <a:chOff x="1296" y="1824"/>
            <a:chExt cx="2976" cy="432"/>
          </a:xfrm>
        </p:grpSpPr>
        <p:sp>
          <p:nvSpPr>
            <p:cNvPr id="23"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endParaRPr lang="zh-CN" altLang="en-US"/>
            </a:p>
          </p:txBody>
        </p:sp>
        <p:sp>
          <p:nvSpPr>
            <p:cNvPr id="24"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p:spPr>
          <p:txBody>
            <a:bodyPr wrap="none" anchor="ctr"/>
            <a:lstStyle/>
            <a:p>
              <a:endParaRPr lang="zh-CN" altLang="en-US"/>
            </a:p>
          </p:txBody>
        </p:sp>
        <p:sp>
          <p:nvSpPr>
            <p:cNvPr id="25" name="Text Box 59"/>
            <p:cNvSpPr txBox="1">
              <a:spLocks noChangeArrowheads="1"/>
            </p:cNvSpPr>
            <p:nvPr/>
          </p:nvSpPr>
          <p:spPr bwMode="gray">
            <a:xfrm>
              <a:off x="1824" y="192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进程调度</a:t>
              </a:r>
              <a:endParaRPr lang="en-US" altLang="zh-CN" b="1" dirty="0">
                <a:solidFill>
                  <a:srgbClr val="000000"/>
                </a:solidFill>
              </a:endParaRPr>
            </a:p>
          </p:txBody>
        </p:sp>
        <p:sp>
          <p:nvSpPr>
            <p:cNvPr id="26" name="Text Box 60"/>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3</a:t>
              </a:r>
            </a:p>
          </p:txBody>
        </p:sp>
      </p:grpSp>
      <p:grpSp>
        <p:nvGrpSpPr>
          <p:cNvPr id="27" name="Group 61"/>
          <p:cNvGrpSpPr>
            <a:grpSpLocks/>
          </p:cNvGrpSpPr>
          <p:nvPr/>
        </p:nvGrpSpPr>
        <p:grpSpPr bwMode="auto">
          <a:xfrm>
            <a:off x="2267744" y="2931790"/>
            <a:ext cx="4724400" cy="685800"/>
            <a:chOff x="1296" y="1824"/>
            <a:chExt cx="2976" cy="432"/>
          </a:xfrm>
        </p:grpSpPr>
        <p:sp>
          <p:nvSpPr>
            <p:cNvPr id="28"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endParaRPr lang="zh-CN" altLang="en-US"/>
            </a:p>
          </p:txBody>
        </p:sp>
        <p:sp>
          <p:nvSpPr>
            <p:cNvPr id="29"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p:spPr>
          <p:txBody>
            <a:bodyPr wrap="none" anchor="ctr"/>
            <a:lstStyle/>
            <a:p>
              <a:endParaRPr lang="zh-CN" altLang="en-US"/>
            </a:p>
          </p:txBody>
        </p:sp>
        <p:sp>
          <p:nvSpPr>
            <p:cNvPr id="30" name="Text Box 64"/>
            <p:cNvSpPr txBox="1">
              <a:spLocks noChangeArrowheads="1"/>
            </p:cNvSpPr>
            <p:nvPr/>
          </p:nvSpPr>
          <p:spPr bwMode="gray">
            <a:xfrm>
              <a:off x="1871" y="1930"/>
              <a:ext cx="2247" cy="233"/>
            </a:xfrm>
            <a:prstGeom prst="rect">
              <a:avLst/>
            </a:prstGeom>
            <a:noFill/>
            <a:ln w="9525" algn="ctr">
              <a:noFill/>
              <a:miter lim="800000"/>
              <a:headEnd/>
              <a:tailEnd/>
            </a:ln>
            <a:effectLst/>
          </p:spPr>
          <p:txBody>
            <a:bodyPr wrap="square">
              <a:spAutoFit/>
            </a:bodyPr>
            <a:lstStyle/>
            <a:p>
              <a:pPr algn="ctr" eaLnBrk="0" hangingPunct="0"/>
              <a:r>
                <a:rPr lang="zh-CN" altLang="en-US" b="1" dirty="0" smtClean="0">
                  <a:solidFill>
                    <a:srgbClr val="000000"/>
                  </a:solidFill>
                </a:rPr>
                <a:t>调度算法及算法评价</a:t>
              </a:r>
              <a:endParaRPr lang="en-US" altLang="zh-CN" b="1" dirty="0">
                <a:solidFill>
                  <a:srgbClr val="000000"/>
                </a:solidFill>
              </a:endParaRPr>
            </a:p>
          </p:txBody>
        </p:sp>
        <p:sp>
          <p:nvSpPr>
            <p:cNvPr id="31" name="Text Box 65"/>
            <p:cNvSpPr txBox="1">
              <a:spLocks noChangeArrowheads="1"/>
            </p:cNvSpPr>
            <p:nvPr/>
          </p:nvSpPr>
          <p:spPr bwMode="gray">
            <a:xfrm>
              <a:off x="1393" y="1886"/>
              <a:ext cx="223" cy="288"/>
            </a:xfrm>
            <a:prstGeom prst="rect">
              <a:avLst/>
            </a:prstGeom>
            <a:noFill/>
            <a:ln w="9525" algn="ctr">
              <a:noFill/>
              <a:miter lim="800000"/>
              <a:headEnd/>
              <a:tailEnd/>
            </a:ln>
            <a:effectLst/>
          </p:spPr>
          <p:txBody>
            <a:bodyPr wrap="none">
              <a:spAutoFit/>
            </a:bodyPr>
            <a:lstStyle/>
            <a:p>
              <a:pPr algn="ctr" eaLnBrk="0" hangingPunct="0"/>
              <a:r>
                <a:rPr lang="en-US" altLang="zh-CN" sz="2400">
                  <a:solidFill>
                    <a:schemeClr val="bg1"/>
                  </a:solidFill>
                  <a:ea typeface="宋体" pitchFamily="2" charset="-122"/>
                </a:rPr>
                <a:t>4</a:t>
              </a:r>
            </a:p>
          </p:txBody>
        </p:sp>
      </p:grpSp>
      <p:grpSp>
        <p:nvGrpSpPr>
          <p:cNvPr id="32" name="Group 51"/>
          <p:cNvGrpSpPr>
            <a:grpSpLocks/>
          </p:cNvGrpSpPr>
          <p:nvPr/>
        </p:nvGrpSpPr>
        <p:grpSpPr bwMode="auto">
          <a:xfrm>
            <a:off x="2279895" y="3734902"/>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50000" r="50000" b="50000"/>
              </a:path>
              <a:tileRect/>
            </a:gradFill>
            <a:ln>
              <a:solidFill>
                <a:schemeClr val="bg1"/>
              </a:solidFill>
              <a:headEnd/>
              <a:tailEnd/>
            </a:ln>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p>
          </p:txBody>
        </p:sp>
        <p:sp>
          <p:nvSpPr>
            <p:cNvPr id="34" name="AutoShape 53"/>
            <p:cNvSpPr>
              <a:spLocks noChangeArrowheads="1"/>
            </p:cNvSpPr>
            <p:nvPr/>
          </p:nvSpPr>
          <p:spPr bwMode="gray">
            <a:xfrm>
              <a:off x="1296" y="1824"/>
              <a:ext cx="432" cy="432"/>
            </a:xfrm>
            <a:prstGeom prst="diamond">
              <a:avLst/>
            </a:prstGeom>
            <a:ln w="19050">
              <a:solidFill>
                <a:schemeClr val="bg1"/>
              </a:solidFill>
              <a:headEnd/>
              <a:tailEnd/>
            </a:ln>
          </p:spPr>
          <p:style>
            <a:lnRef idx="1">
              <a:schemeClr val="accent3"/>
            </a:lnRef>
            <a:fillRef idx="3">
              <a:schemeClr val="accent3"/>
            </a:fillRef>
            <a:effectRef idx="2">
              <a:schemeClr val="accent3"/>
            </a:effectRef>
            <a:fontRef idx="minor">
              <a:schemeClr val="lt1"/>
            </a:fontRef>
          </p:style>
          <p:txBody>
            <a:bodyPr wrap="none" anchor="ctr"/>
            <a:lstStyle/>
            <a:p>
              <a:endParaRPr lang="zh-CN" altLang="en-US"/>
            </a:p>
          </p:txBody>
        </p:sp>
        <p:sp>
          <p:nvSpPr>
            <p:cNvPr id="35" name="Text Box 54"/>
            <p:cNvSpPr txBox="1">
              <a:spLocks noChangeArrowheads="1"/>
            </p:cNvSpPr>
            <p:nvPr/>
          </p:nvSpPr>
          <p:spPr bwMode="gray">
            <a:xfrm>
              <a:off x="1850" y="1934"/>
              <a:ext cx="2160" cy="233"/>
            </a:xfrm>
            <a:prstGeom prst="rect">
              <a:avLst/>
            </a:prstGeom>
            <a:noFill/>
            <a:ln w="9525" algn="ctr">
              <a:noFill/>
              <a:miter lim="800000"/>
              <a:headEnd/>
              <a:tailEnd/>
            </a:ln>
            <a:effectLst/>
          </p:spPr>
          <p:txBody>
            <a:bodyPr>
              <a:spAutoFit/>
            </a:bodyPr>
            <a:lstStyle/>
            <a:p>
              <a:pPr algn="ctr" eaLnBrk="0" hangingPunct="0"/>
              <a:r>
                <a:rPr lang="zh-CN" altLang="en-US" b="1" dirty="0" smtClean="0">
                  <a:solidFill>
                    <a:srgbClr val="000000"/>
                  </a:solidFill>
                </a:rPr>
                <a:t>实时系统调度算法</a:t>
              </a:r>
              <a:endParaRPr lang="en-US" altLang="zh-CN" b="1" dirty="0">
                <a:solidFill>
                  <a:srgbClr val="000000"/>
                </a:solidFill>
                <a:ea typeface="宋体" pitchFamily="2" charset="-122"/>
              </a:endParaRPr>
            </a:p>
          </p:txBody>
        </p:sp>
        <p:sp>
          <p:nvSpPr>
            <p:cNvPr id="36" name="Text Box 55"/>
            <p:cNvSpPr txBox="1">
              <a:spLocks noChangeArrowheads="1"/>
            </p:cNvSpPr>
            <p:nvPr/>
          </p:nvSpPr>
          <p:spPr bwMode="gray">
            <a:xfrm>
              <a:off x="1421" y="1892"/>
              <a:ext cx="214" cy="291"/>
            </a:xfrm>
            <a:prstGeom prst="rect">
              <a:avLst/>
            </a:prstGeom>
            <a:noFill/>
            <a:ln w="9525" algn="ctr">
              <a:noFill/>
              <a:miter lim="800000"/>
              <a:headEnd/>
              <a:tailEnd/>
            </a:ln>
            <a:effectLst/>
          </p:spPr>
          <p:txBody>
            <a:bodyPr wrap="none">
              <a:spAutoFit/>
            </a:bodyPr>
            <a:lstStyle/>
            <a:p>
              <a:pPr algn="ctr" eaLnBrk="0" hangingPunct="0"/>
              <a:r>
                <a:rPr lang="en-US" altLang="zh-CN" sz="2400" dirty="0" smtClean="0">
                  <a:solidFill>
                    <a:schemeClr val="bg1"/>
                  </a:solidFill>
                  <a:ea typeface="宋体" pitchFamily="2" charset="-122"/>
                </a:rPr>
                <a:t>5</a:t>
              </a:r>
              <a:endParaRPr lang="en-US" altLang="zh-CN" sz="2400" dirty="0">
                <a:solidFill>
                  <a:schemeClr val="bg1"/>
                </a:solidFill>
                <a:ea typeface="宋体" pitchFamily="2" charset="-122"/>
              </a:endParaRPr>
            </a:p>
          </p:txBody>
        </p:sp>
      </p:grpSp>
    </p:spTree>
    <p:extLst>
      <p:ext uri="{BB962C8B-B14F-4D97-AF65-F5344CB8AC3E}">
        <p14:creationId xmlns:p14="http://schemas.microsoft.com/office/powerpoint/2010/main" val="325874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2"/>
                                        </p:tgtEl>
                                      </p:cBhvr>
                                      <p:by x="150000" y="150000"/>
                                    </p:animScale>
                                  </p:childTnLst>
                                </p:cTn>
                              </p:par>
                              <p:par>
                                <p:cTn id="7" presetID="42" presetClass="path" presetSubtype="0" accel="50000" decel="50000" fill="hold" nodeType="withEffect">
                                  <p:stCondLst>
                                    <p:cond delay="0"/>
                                  </p:stCondLst>
                                  <p:childTnLst>
                                    <p:animMotion origin="layout" path="M 1.11111E-6 -1.23457E-6 L 0.00017 -0.32099 " pathEditMode="relative" rAng="0" ptsTypes="AA">
                                      <p:cBhvr>
                                        <p:cTn id="8" dur="2000" fill="hold"/>
                                        <p:tgtEl>
                                          <p:spTgt spid="32"/>
                                        </p:tgtEl>
                                        <p:attrNameLst>
                                          <p:attrName>ppt_x</p:attrName>
                                          <p:attrName>ppt_y</p:attrName>
                                        </p:attrNameLst>
                                      </p:cBhvr>
                                      <p:rCtr x="0" y="-16049"/>
                                    </p:animMotion>
                                  </p:childTnLst>
                                </p:cTn>
                              </p:par>
                              <p:par>
                                <p:cTn id="9" presetID="10" presetClass="exit" presetSubtype="0" fill="hold" nodeType="withEffect">
                                  <p:stCondLst>
                                    <p:cond delay="0"/>
                                  </p:stCondLst>
                                  <p:childTnLst>
                                    <p:animEffect transition="out" filter="fade">
                                      <p:cBhvr>
                                        <p:cTn id="10" dur="2000"/>
                                        <p:tgtEl>
                                          <p:spTgt spid="22"/>
                                        </p:tgtEl>
                                      </p:cBhvr>
                                    </p:animEffect>
                                    <p:set>
                                      <p:cBhvr>
                                        <p:cTn id="11" dur="1" fill="hold">
                                          <p:stCondLst>
                                            <p:cond delay="1999"/>
                                          </p:stCondLst>
                                        </p:cTn>
                                        <p:tgtEl>
                                          <p:spTgt spid="22"/>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2000"/>
                                        <p:tgtEl>
                                          <p:spTgt spid="11"/>
                                        </p:tgtEl>
                                      </p:cBhvr>
                                    </p:animEffect>
                                    <p:set>
                                      <p:cBhvr>
                                        <p:cTn id="14" dur="1" fill="hold">
                                          <p:stCondLst>
                                            <p:cond delay="1999"/>
                                          </p:stCondLst>
                                        </p:cTn>
                                        <p:tgtEl>
                                          <p:spTgt spid="11"/>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2000"/>
                                        <p:tgtEl>
                                          <p:spTgt spid="16"/>
                                        </p:tgtEl>
                                      </p:cBhvr>
                                    </p:animEffect>
                                    <p:set>
                                      <p:cBhvr>
                                        <p:cTn id="17" dur="1" fill="hold">
                                          <p:stCondLst>
                                            <p:cond delay="1999"/>
                                          </p:stCondLst>
                                        </p:cTn>
                                        <p:tgtEl>
                                          <p:spTgt spid="16"/>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2000"/>
                                        <p:tgtEl>
                                          <p:spTgt spid="27"/>
                                        </p:tgtEl>
                                      </p:cBhvr>
                                    </p:animEffect>
                                    <p:set>
                                      <p:cBhvr>
                                        <p:cTn id="20" dur="1" fill="hold">
                                          <p:stCondLst>
                                            <p:cond delay="19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实时系统</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4" name="组合 33"/>
          <p:cNvGrpSpPr/>
          <p:nvPr/>
        </p:nvGrpSpPr>
        <p:grpSpPr>
          <a:xfrm>
            <a:off x="323528" y="844107"/>
            <a:ext cx="3317838" cy="2951778"/>
            <a:chOff x="974280" y="926790"/>
            <a:chExt cx="1616340" cy="2426929"/>
          </a:xfrm>
        </p:grpSpPr>
        <p:sp>
          <p:nvSpPr>
            <p:cNvPr id="10" name="任意多边形 9"/>
            <p:cNvSpPr/>
            <p:nvPr/>
          </p:nvSpPr>
          <p:spPr>
            <a:xfrm>
              <a:off x="974280" y="926790"/>
              <a:ext cx="1611636" cy="650797"/>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800">
                <a:spcBef>
                  <a:spcPct val="0"/>
                </a:spcBef>
              </a:pPr>
              <a:r>
                <a:rPr lang="zh-CN" altLang="en-US" sz="2400" b="1" dirty="0" smtClean="0">
                  <a:ln w="22225">
                    <a:solidFill>
                      <a:schemeClr val="accent2"/>
                    </a:solidFill>
                    <a:prstDash val="solid"/>
                  </a:ln>
                  <a:solidFill>
                    <a:schemeClr val="accent2">
                      <a:lumMod val="40000"/>
                      <a:lumOff val="60000"/>
                    </a:schemeClr>
                  </a:solidFill>
                </a:rPr>
                <a:t>实时系统与</a:t>
              </a:r>
              <a:endParaRPr lang="en-US" altLang="zh-CN" sz="2400" b="1" dirty="0" smtClean="0">
                <a:ln w="22225">
                  <a:solidFill>
                    <a:schemeClr val="accent2"/>
                  </a:solidFill>
                  <a:prstDash val="solid"/>
                </a:ln>
                <a:solidFill>
                  <a:schemeClr val="accent2">
                    <a:lumMod val="40000"/>
                    <a:lumOff val="60000"/>
                  </a:schemeClr>
                </a:solidFill>
              </a:endParaRPr>
            </a:p>
            <a:p>
              <a:pPr algn="ctr" defTabSz="1066800">
                <a:spcBef>
                  <a:spcPct val="0"/>
                </a:spcBef>
              </a:pPr>
              <a:r>
                <a:rPr lang="zh-CN" altLang="en-US" sz="2400" b="1" dirty="0" smtClean="0">
                  <a:ln w="22225">
                    <a:solidFill>
                      <a:schemeClr val="accent2"/>
                    </a:solidFill>
                    <a:prstDash val="solid"/>
                  </a:ln>
                  <a:solidFill>
                    <a:schemeClr val="accent2">
                      <a:lumMod val="40000"/>
                      <a:lumOff val="60000"/>
                    </a:schemeClr>
                  </a:solidFill>
                </a:rPr>
                <a:t>其他系统的区别</a:t>
              </a:r>
              <a:endParaRPr lang="zh-CN" altLang="en-US" sz="2400" b="1" dirty="0">
                <a:ln w="22225">
                  <a:solidFill>
                    <a:schemeClr val="accent2"/>
                  </a:solidFill>
                  <a:prstDash val="solid"/>
                </a:ln>
                <a:solidFill>
                  <a:schemeClr val="accent2">
                    <a:lumMod val="40000"/>
                    <a:lumOff val="60000"/>
                  </a:schemeClr>
                </a:solidFill>
              </a:endParaRPr>
            </a:p>
          </p:txBody>
        </p:sp>
        <p:sp>
          <p:nvSpPr>
            <p:cNvPr id="11" name="任意多边形 10"/>
            <p:cNvSpPr/>
            <p:nvPr/>
          </p:nvSpPr>
          <p:spPr>
            <a:xfrm>
              <a:off x="978984" y="1577587"/>
              <a:ext cx="1611636" cy="1776132"/>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其处理和控制的正确性不仅仅取决于计算的逻辑结果，而且取决于计算和处理结果产生的</a:t>
              </a:r>
              <a:r>
                <a:rPr lang="zh-CN" altLang="en-US" sz="2000" b="1" dirty="0" smtClean="0"/>
                <a:t>时间。</a:t>
              </a:r>
              <a:endParaRPr lang="en-US" altLang="zh-CN" sz="2000" b="1" dirty="0"/>
            </a:p>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它所处理的外部任务可分为周期性的与非周期性的两大类</a:t>
              </a:r>
            </a:p>
          </p:txBody>
        </p:sp>
      </p:grpSp>
      <p:grpSp>
        <p:nvGrpSpPr>
          <p:cNvPr id="35" name="组合 34"/>
          <p:cNvGrpSpPr/>
          <p:nvPr/>
        </p:nvGrpSpPr>
        <p:grpSpPr>
          <a:xfrm>
            <a:off x="3779912" y="247315"/>
            <a:ext cx="2016224" cy="1388331"/>
            <a:chOff x="2811545" y="926790"/>
            <a:chExt cx="1611636" cy="1388331"/>
          </a:xfrm>
        </p:grpSpPr>
        <p:sp>
          <p:nvSpPr>
            <p:cNvPr id="12" name="任意多边形 11"/>
            <p:cNvSpPr/>
            <p:nvPr/>
          </p:nvSpPr>
          <p:spPr>
            <a:xfrm>
              <a:off x="2811545" y="926790"/>
              <a:ext cx="1611636" cy="414418"/>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3311292"/>
                <a:satOff val="13270"/>
                <a:lumOff val="2876"/>
                <a:alphaOff val="0"/>
              </a:schemeClr>
            </a:lnRef>
            <a:fillRef idx="1">
              <a:schemeClr val="accent5">
                <a:hueOff val="-3311292"/>
                <a:satOff val="13270"/>
                <a:lumOff val="2876"/>
                <a:alphaOff val="0"/>
              </a:schemeClr>
            </a:fillRef>
            <a:effectRef idx="0">
              <a:schemeClr val="accent5">
                <a:hueOff val="-3311292"/>
                <a:satOff val="13270"/>
                <a:lumOff val="2876"/>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dirty="0" smtClean="0">
                  <a:ln w="22225">
                    <a:solidFill>
                      <a:schemeClr val="accent2"/>
                    </a:solidFill>
                    <a:prstDash val="solid"/>
                  </a:ln>
                  <a:solidFill>
                    <a:schemeClr val="accent2">
                      <a:lumMod val="40000"/>
                      <a:lumOff val="60000"/>
                    </a:schemeClr>
                  </a:solidFill>
                </a:rPr>
                <a:t>硬实时任务</a:t>
              </a:r>
              <a:endParaRPr lang="zh-CN" altLang="en-US" sz="2400" b="1" dirty="0">
                <a:ln w="22225">
                  <a:solidFill>
                    <a:schemeClr val="accent2"/>
                  </a:solidFill>
                  <a:prstDash val="solid"/>
                </a:ln>
                <a:solidFill>
                  <a:schemeClr val="accent2">
                    <a:lumMod val="40000"/>
                    <a:lumOff val="60000"/>
                  </a:schemeClr>
                </a:solidFill>
              </a:endParaRPr>
            </a:p>
          </p:txBody>
        </p:sp>
        <p:sp>
          <p:nvSpPr>
            <p:cNvPr id="13" name="任意多边形 12"/>
            <p:cNvSpPr/>
            <p:nvPr/>
          </p:nvSpPr>
          <p:spPr>
            <a:xfrm>
              <a:off x="2811545" y="1314159"/>
              <a:ext cx="1611636" cy="1000962"/>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3580161"/>
                <a:satOff val="16084"/>
                <a:lumOff val="1106"/>
                <a:alphaOff val="0"/>
              </a:schemeClr>
            </a:lnRef>
            <a:fillRef idx="1">
              <a:schemeClr val="accent5">
                <a:tint val="40000"/>
                <a:alpha val="90000"/>
                <a:hueOff val="-3580161"/>
                <a:satOff val="16084"/>
                <a:lumOff val="1106"/>
                <a:alphaOff val="0"/>
              </a:schemeClr>
            </a:fillRef>
            <a:effectRef idx="0">
              <a:schemeClr val="accent5">
                <a:tint val="40000"/>
                <a:alpha val="90000"/>
                <a:hueOff val="-3580161"/>
                <a:satOff val="16084"/>
                <a:lumOff val="1106"/>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要求系统必须完全满足任务的时限</a:t>
              </a:r>
              <a:r>
                <a:rPr lang="zh-CN" altLang="en-US" sz="2000" b="1" dirty="0" smtClean="0"/>
                <a:t>要求。</a:t>
              </a:r>
              <a:endParaRPr lang="zh-CN" altLang="en-US" sz="2000" b="1" dirty="0"/>
            </a:p>
          </p:txBody>
        </p:sp>
      </p:grpSp>
      <p:grpSp>
        <p:nvGrpSpPr>
          <p:cNvPr id="37" name="组合 36"/>
          <p:cNvGrpSpPr/>
          <p:nvPr/>
        </p:nvGrpSpPr>
        <p:grpSpPr>
          <a:xfrm>
            <a:off x="5940152" y="267494"/>
            <a:ext cx="3114044" cy="1368152"/>
            <a:chOff x="4585992" y="926790"/>
            <a:chExt cx="1611637" cy="1798411"/>
          </a:xfrm>
        </p:grpSpPr>
        <p:sp>
          <p:nvSpPr>
            <p:cNvPr id="30" name="任意多边形 29"/>
            <p:cNvSpPr/>
            <p:nvPr/>
          </p:nvSpPr>
          <p:spPr>
            <a:xfrm>
              <a:off x="4585992" y="926790"/>
              <a:ext cx="1611636" cy="531472"/>
            </a:xfrm>
            <a:custGeom>
              <a:avLst/>
              <a:gdLst>
                <a:gd name="connsiteX0" fmla="*/ 0 w 1611636"/>
                <a:gd name="connsiteY0" fmla="*/ 0 h 531472"/>
                <a:gd name="connsiteX1" fmla="*/ 1611636 w 1611636"/>
                <a:gd name="connsiteY1" fmla="*/ 0 h 531472"/>
                <a:gd name="connsiteX2" fmla="*/ 1611636 w 1611636"/>
                <a:gd name="connsiteY2" fmla="*/ 531472 h 531472"/>
                <a:gd name="connsiteX3" fmla="*/ 0 w 1611636"/>
                <a:gd name="connsiteY3" fmla="*/ 531472 h 531472"/>
                <a:gd name="connsiteX4" fmla="*/ 0 w 1611636"/>
                <a:gd name="connsiteY4" fmla="*/ 0 h 531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531472">
                  <a:moveTo>
                    <a:pt x="0" y="0"/>
                  </a:moveTo>
                  <a:lnTo>
                    <a:pt x="1611636" y="0"/>
                  </a:lnTo>
                  <a:lnTo>
                    <a:pt x="1611636" y="531472"/>
                  </a:lnTo>
                  <a:lnTo>
                    <a:pt x="0" y="531472"/>
                  </a:lnTo>
                  <a:lnTo>
                    <a:pt x="0" y="0"/>
                  </a:lnTo>
                  <a:close/>
                </a:path>
              </a:pathLst>
            </a:custGeom>
            <a:scene3d>
              <a:camera prst="orthographicFront"/>
              <a:lightRig rig="threePt" dir="t"/>
            </a:scene3d>
            <a:sp3d>
              <a:bevelT/>
            </a:sp3d>
          </p:spPr>
          <p:style>
            <a:lnRef idx="2">
              <a:schemeClr val="accent5">
                <a:hueOff val="-6622584"/>
                <a:satOff val="26541"/>
                <a:lumOff val="5752"/>
                <a:alphaOff val="0"/>
              </a:schemeClr>
            </a:lnRef>
            <a:fillRef idx="1">
              <a:schemeClr val="accent5">
                <a:hueOff val="-6622584"/>
                <a:satOff val="26541"/>
                <a:lumOff val="5752"/>
                <a:alphaOff val="0"/>
              </a:schemeClr>
            </a:fillRef>
            <a:effectRef idx="0">
              <a:schemeClr val="accent5">
                <a:hueOff val="-6622584"/>
                <a:satOff val="26541"/>
                <a:lumOff val="5752"/>
                <a:alphaOff val="0"/>
              </a:schemeClr>
            </a:effectRef>
            <a:fontRef idx="minor">
              <a:schemeClr val="lt1"/>
            </a:fontRef>
          </p:style>
          <p:txBody>
            <a:bodyPr spcFirstLastPara="0" vert="horz" wrap="square" lIns="170688" tIns="97536" rIns="170688" bIns="97536" numCol="1" spcCol="1270" anchor="ctr" anchorCtr="0">
              <a:noAutofit/>
            </a:bodyPr>
            <a:lstStyle/>
            <a:p>
              <a:pPr algn="ctr" defTabSz="1066800">
                <a:lnSpc>
                  <a:spcPct val="90000"/>
                </a:lnSpc>
                <a:spcBef>
                  <a:spcPct val="0"/>
                </a:spcBef>
                <a:spcAft>
                  <a:spcPct val="35000"/>
                </a:spcAft>
              </a:pPr>
              <a:r>
                <a:rPr lang="zh-CN" altLang="en-US" sz="2400" b="1" dirty="0" smtClean="0">
                  <a:ln w="22225">
                    <a:solidFill>
                      <a:schemeClr val="accent2"/>
                    </a:solidFill>
                    <a:prstDash val="solid"/>
                  </a:ln>
                  <a:solidFill>
                    <a:schemeClr val="accent2">
                      <a:lumMod val="40000"/>
                      <a:lumOff val="60000"/>
                    </a:schemeClr>
                  </a:solidFill>
                </a:rPr>
                <a:t>软实时任务</a:t>
              </a:r>
              <a:endParaRPr lang="zh-CN" altLang="en-US" sz="2400" b="1" dirty="0">
                <a:ln w="22225">
                  <a:solidFill>
                    <a:schemeClr val="accent2"/>
                  </a:solidFill>
                  <a:prstDash val="solid"/>
                </a:ln>
                <a:solidFill>
                  <a:schemeClr val="accent2">
                    <a:lumMod val="40000"/>
                    <a:lumOff val="60000"/>
                  </a:schemeClr>
                </a:solidFill>
              </a:endParaRPr>
            </a:p>
          </p:txBody>
        </p:sp>
        <p:sp>
          <p:nvSpPr>
            <p:cNvPr id="31" name="任意多边形 30"/>
            <p:cNvSpPr/>
            <p:nvPr/>
          </p:nvSpPr>
          <p:spPr>
            <a:xfrm>
              <a:off x="4585993" y="1458261"/>
              <a:ext cx="1611636" cy="1266940"/>
            </a:xfrm>
            <a:custGeom>
              <a:avLst/>
              <a:gdLst>
                <a:gd name="connsiteX0" fmla="*/ 0 w 1611636"/>
                <a:gd name="connsiteY0" fmla="*/ 0 h 3170474"/>
                <a:gd name="connsiteX1" fmla="*/ 1611636 w 1611636"/>
                <a:gd name="connsiteY1" fmla="*/ 0 h 3170474"/>
                <a:gd name="connsiteX2" fmla="*/ 1611636 w 1611636"/>
                <a:gd name="connsiteY2" fmla="*/ 3170474 h 3170474"/>
                <a:gd name="connsiteX3" fmla="*/ 0 w 1611636"/>
                <a:gd name="connsiteY3" fmla="*/ 3170474 h 3170474"/>
                <a:gd name="connsiteX4" fmla="*/ 0 w 1611636"/>
                <a:gd name="connsiteY4" fmla="*/ 0 h 317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1636" h="3170474">
                  <a:moveTo>
                    <a:pt x="0" y="0"/>
                  </a:moveTo>
                  <a:lnTo>
                    <a:pt x="1611636" y="0"/>
                  </a:lnTo>
                  <a:lnTo>
                    <a:pt x="1611636" y="3170474"/>
                  </a:lnTo>
                  <a:lnTo>
                    <a:pt x="0" y="3170474"/>
                  </a:lnTo>
                  <a:lnTo>
                    <a:pt x="0" y="0"/>
                  </a:lnTo>
                  <a:close/>
                </a:path>
              </a:pathLst>
            </a:custGeom>
            <a:scene3d>
              <a:camera prst="orthographicFront"/>
              <a:lightRig rig="threePt" dir="t"/>
            </a:scene3d>
            <a:sp3d>
              <a:bevelT/>
            </a:sp3d>
          </p:spPr>
          <p:style>
            <a:lnRef idx="2">
              <a:schemeClr val="accent5">
                <a:tint val="40000"/>
                <a:alpha val="90000"/>
                <a:hueOff val="-7160321"/>
                <a:satOff val="32169"/>
                <a:lumOff val="2211"/>
                <a:alphaOff val="0"/>
              </a:schemeClr>
            </a:lnRef>
            <a:fillRef idx="1">
              <a:schemeClr val="accent5">
                <a:tint val="40000"/>
                <a:alpha val="90000"/>
                <a:hueOff val="-7160321"/>
                <a:satOff val="32169"/>
                <a:lumOff val="2211"/>
                <a:alphaOff val="0"/>
              </a:schemeClr>
            </a:fillRef>
            <a:effectRef idx="0">
              <a:schemeClr val="accent5">
                <a:tint val="40000"/>
                <a:alpha val="90000"/>
                <a:hueOff val="-7160321"/>
                <a:satOff val="32169"/>
                <a:lumOff val="2211"/>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允许系统对任务的时限要求有一定的延迟，其时限要求只是一个相对</a:t>
              </a:r>
              <a:r>
                <a:rPr lang="zh-CN" altLang="en-US" sz="2000" b="1" dirty="0" smtClean="0"/>
                <a:t>条件。</a:t>
              </a:r>
              <a:endParaRPr lang="zh-CN" altLang="en-US" sz="2000" b="1" dirty="0"/>
            </a:p>
          </p:txBody>
        </p:sp>
      </p:grpSp>
      <p:grpSp>
        <p:nvGrpSpPr>
          <p:cNvPr id="29" name="组合 28"/>
          <p:cNvGrpSpPr/>
          <p:nvPr/>
        </p:nvGrpSpPr>
        <p:grpSpPr>
          <a:xfrm>
            <a:off x="4010215" y="1894369"/>
            <a:ext cx="1654303" cy="2693605"/>
            <a:chOff x="1213630" y="1107671"/>
            <a:chExt cx="1654303" cy="2693605"/>
          </a:xfrm>
        </p:grpSpPr>
        <p:sp>
          <p:nvSpPr>
            <p:cNvPr id="32" name="任意多边形 31"/>
            <p:cNvSpPr/>
            <p:nvPr/>
          </p:nvSpPr>
          <p:spPr>
            <a:xfrm>
              <a:off x="1463928" y="1631281"/>
              <a:ext cx="1404005" cy="2169995"/>
            </a:xfrm>
            <a:custGeom>
              <a:avLst/>
              <a:gdLst>
                <a:gd name="connsiteX0" fmla="*/ 0 w 2177654"/>
                <a:gd name="connsiteY0" fmla="*/ 0 h 2740731"/>
                <a:gd name="connsiteX1" fmla="*/ 2177654 w 2177654"/>
                <a:gd name="connsiteY1" fmla="*/ 0 h 2740731"/>
                <a:gd name="connsiteX2" fmla="*/ 2177654 w 2177654"/>
                <a:gd name="connsiteY2" fmla="*/ 2740731 h 2740731"/>
                <a:gd name="connsiteX3" fmla="*/ 0 w 2177654"/>
                <a:gd name="connsiteY3" fmla="*/ 2740731 h 2740731"/>
                <a:gd name="connsiteX4" fmla="*/ 0 w 2177654"/>
                <a:gd name="connsiteY4" fmla="*/ 0 h 274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7654" h="2740731">
                  <a:moveTo>
                    <a:pt x="0" y="0"/>
                  </a:moveTo>
                  <a:lnTo>
                    <a:pt x="2177654" y="0"/>
                  </a:lnTo>
                  <a:lnTo>
                    <a:pt x="2177654" y="2740731"/>
                  </a:lnTo>
                  <a:lnTo>
                    <a:pt x="0" y="2740731"/>
                  </a:lnTo>
                  <a:lnTo>
                    <a:pt x="0" y="0"/>
                  </a:lnTo>
                  <a:close/>
                </a:path>
              </a:pathLst>
            </a:custGeom>
            <a:scene3d>
              <a:camera prst="orthographicFront"/>
              <a:lightRig rig="flat" dir="t"/>
            </a:scene3d>
            <a:sp3d z="-190500" extrusionH="12700" prstMaterial="plastic">
              <a:bevelT w="50800" h="50800"/>
            </a:sp3d>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2">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348425" tIns="170688" rIns="170688" bIns="170688" numCol="1" spcCol="1270" anchor="ctr"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只要求在周期</a:t>
              </a:r>
              <a:r>
                <a:rPr lang="en-US" altLang="zh-CN" sz="2000" b="1" dirty="0"/>
                <a:t>T</a:t>
              </a:r>
              <a:r>
                <a:rPr lang="zh-CN" altLang="en-US" sz="2000" b="1" dirty="0"/>
                <a:t>内完成或开始进行处理</a:t>
              </a:r>
            </a:p>
          </p:txBody>
        </p:sp>
        <p:sp>
          <p:nvSpPr>
            <p:cNvPr id="33" name="任意多边形 32"/>
            <p:cNvSpPr/>
            <p:nvPr/>
          </p:nvSpPr>
          <p:spPr>
            <a:xfrm>
              <a:off x="1213630" y="1107671"/>
              <a:ext cx="909543" cy="892137"/>
            </a:xfrm>
            <a:custGeom>
              <a:avLst/>
              <a:gdLst>
                <a:gd name="connsiteX0" fmla="*/ 0 w 862109"/>
                <a:gd name="connsiteY0" fmla="*/ 431055 h 862109"/>
                <a:gd name="connsiteX1" fmla="*/ 431055 w 862109"/>
                <a:gd name="connsiteY1" fmla="*/ 0 h 862109"/>
                <a:gd name="connsiteX2" fmla="*/ 862110 w 862109"/>
                <a:gd name="connsiteY2" fmla="*/ 431055 h 862109"/>
                <a:gd name="connsiteX3" fmla="*/ 431055 w 862109"/>
                <a:gd name="connsiteY3" fmla="*/ 862110 h 862109"/>
                <a:gd name="connsiteX4" fmla="*/ 0 w 862109"/>
                <a:gd name="connsiteY4" fmla="*/ 431055 h 86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109" h="862109">
                  <a:moveTo>
                    <a:pt x="0" y="431055"/>
                  </a:moveTo>
                  <a:cubicBezTo>
                    <a:pt x="0" y="192990"/>
                    <a:pt x="192990" y="0"/>
                    <a:pt x="431055" y="0"/>
                  </a:cubicBezTo>
                  <a:cubicBezTo>
                    <a:pt x="669120" y="0"/>
                    <a:pt x="862110" y="192990"/>
                    <a:pt x="862110" y="431055"/>
                  </a:cubicBezTo>
                  <a:cubicBezTo>
                    <a:pt x="862110" y="669120"/>
                    <a:pt x="669120" y="862110"/>
                    <a:pt x="431055" y="862110"/>
                  </a:cubicBezTo>
                  <a:cubicBezTo>
                    <a:pt x="192990" y="862110"/>
                    <a:pt x="0" y="669120"/>
                    <a:pt x="0" y="43105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26253" tIns="126253" rIns="126253" bIns="126253" numCol="1" spcCol="1270" anchor="ctr" anchorCtr="0">
              <a:noAutofit/>
            </a:bodyPr>
            <a:lstStyle/>
            <a:p>
              <a:pPr lvl="0" algn="ctr" defTabSz="1066800">
                <a:lnSpc>
                  <a:spcPct val="90000"/>
                </a:lnSpc>
                <a:spcBef>
                  <a:spcPct val="0"/>
                </a:spcBef>
                <a:spcAft>
                  <a:spcPct val="35000"/>
                </a:spcAft>
              </a:pPr>
              <a:r>
                <a:rPr lang="zh-CN" altLang="en-US" sz="2400" b="1" kern="1200" dirty="0" smtClean="0"/>
                <a:t>周期性</a:t>
              </a:r>
              <a:endParaRPr lang="zh-CN" altLang="en-US" sz="2400" b="1" kern="1200" dirty="0"/>
            </a:p>
          </p:txBody>
        </p:sp>
      </p:grpSp>
      <p:grpSp>
        <p:nvGrpSpPr>
          <p:cNvPr id="36" name="组合 35"/>
          <p:cNvGrpSpPr/>
          <p:nvPr/>
        </p:nvGrpSpPr>
        <p:grpSpPr>
          <a:xfrm>
            <a:off x="6133824" y="1966377"/>
            <a:ext cx="1822552" cy="2621597"/>
            <a:chOff x="3337239" y="1107671"/>
            <a:chExt cx="1822552" cy="2621597"/>
          </a:xfrm>
        </p:grpSpPr>
        <p:sp>
          <p:nvSpPr>
            <p:cNvPr id="38" name="任意多边形 37"/>
            <p:cNvSpPr/>
            <p:nvPr/>
          </p:nvSpPr>
          <p:spPr>
            <a:xfrm>
              <a:off x="3792010" y="1517041"/>
              <a:ext cx="1367781" cy="2212227"/>
            </a:xfrm>
            <a:custGeom>
              <a:avLst/>
              <a:gdLst>
                <a:gd name="connsiteX0" fmla="*/ 0 w 1150749"/>
                <a:gd name="connsiteY0" fmla="*/ 0 h 2638640"/>
                <a:gd name="connsiteX1" fmla="*/ 1150749 w 1150749"/>
                <a:gd name="connsiteY1" fmla="*/ 0 h 2638640"/>
                <a:gd name="connsiteX2" fmla="*/ 1150749 w 1150749"/>
                <a:gd name="connsiteY2" fmla="*/ 2638640 h 2638640"/>
                <a:gd name="connsiteX3" fmla="*/ 0 w 1150749"/>
                <a:gd name="connsiteY3" fmla="*/ 2638640 h 2638640"/>
                <a:gd name="connsiteX4" fmla="*/ 0 w 1150749"/>
                <a:gd name="connsiteY4" fmla="*/ 0 h 263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749" h="2638640">
                  <a:moveTo>
                    <a:pt x="0" y="0"/>
                  </a:moveTo>
                  <a:lnTo>
                    <a:pt x="1150749" y="0"/>
                  </a:lnTo>
                  <a:lnTo>
                    <a:pt x="1150749" y="2638640"/>
                  </a:lnTo>
                  <a:lnTo>
                    <a:pt x="0" y="2638640"/>
                  </a:lnTo>
                  <a:lnTo>
                    <a:pt x="0" y="0"/>
                  </a:lnTo>
                  <a:close/>
                </a:path>
              </a:pathLst>
            </a:custGeom>
            <a:scene3d>
              <a:camera prst="orthographicFront"/>
              <a:lightRig rig="flat" dir="t"/>
            </a:scene3d>
            <a:sp3d z="-190500" extrusionH="12700" prstMaterial="plastic">
              <a:bevelT w="50800" h="50800"/>
            </a:sp3d>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2">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184120" tIns="120904" rIns="120904" bIns="120904" numCol="1" spcCol="1270" anchor="ctr" anchorCtr="0">
              <a:noAutofit/>
            </a:bodyPr>
            <a:lstStyle/>
            <a:p>
              <a:pPr marL="0" lvl="1" defTabSz="622300">
                <a:lnSpc>
                  <a:spcPct val="90000"/>
                </a:lnSpc>
                <a:spcBef>
                  <a:spcPct val="0"/>
                </a:spcBef>
                <a:spcAft>
                  <a:spcPct val="15000"/>
                </a:spcAft>
                <a:buClr>
                  <a:srgbClr val="002060"/>
                </a:buClr>
                <a:buFont typeface="Wingdings" panose="05000000000000000000" pitchFamily="2" charset="2"/>
                <a:buChar char="Ø"/>
              </a:pPr>
              <a:r>
                <a:rPr lang="zh-CN" altLang="en-US" sz="2000" b="1" dirty="0"/>
                <a:t>存在有一个完成或开始进行处理时限</a:t>
              </a:r>
            </a:p>
          </p:txBody>
        </p:sp>
        <p:sp>
          <p:nvSpPr>
            <p:cNvPr id="39" name="任意多边形 38"/>
            <p:cNvSpPr/>
            <p:nvPr/>
          </p:nvSpPr>
          <p:spPr>
            <a:xfrm>
              <a:off x="3337239" y="1107671"/>
              <a:ext cx="909543" cy="892137"/>
            </a:xfrm>
            <a:custGeom>
              <a:avLst/>
              <a:gdLst>
                <a:gd name="connsiteX0" fmla="*/ 0 w 862109"/>
                <a:gd name="connsiteY0" fmla="*/ 431055 h 862109"/>
                <a:gd name="connsiteX1" fmla="*/ 431055 w 862109"/>
                <a:gd name="connsiteY1" fmla="*/ 0 h 862109"/>
                <a:gd name="connsiteX2" fmla="*/ 862110 w 862109"/>
                <a:gd name="connsiteY2" fmla="*/ 431055 h 862109"/>
                <a:gd name="connsiteX3" fmla="*/ 431055 w 862109"/>
                <a:gd name="connsiteY3" fmla="*/ 862110 h 862109"/>
                <a:gd name="connsiteX4" fmla="*/ 0 w 862109"/>
                <a:gd name="connsiteY4" fmla="*/ 431055 h 862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109" h="862109">
                  <a:moveTo>
                    <a:pt x="0" y="431055"/>
                  </a:moveTo>
                  <a:cubicBezTo>
                    <a:pt x="0" y="192990"/>
                    <a:pt x="192990" y="0"/>
                    <a:pt x="431055" y="0"/>
                  </a:cubicBezTo>
                  <a:cubicBezTo>
                    <a:pt x="669120" y="0"/>
                    <a:pt x="862110" y="192990"/>
                    <a:pt x="862110" y="431055"/>
                  </a:cubicBezTo>
                  <a:cubicBezTo>
                    <a:pt x="862110" y="669120"/>
                    <a:pt x="669120" y="862110"/>
                    <a:pt x="431055" y="862110"/>
                  </a:cubicBezTo>
                  <a:cubicBezTo>
                    <a:pt x="192990" y="862110"/>
                    <a:pt x="0" y="669120"/>
                    <a:pt x="0" y="431055"/>
                  </a:cubicBezTo>
                  <a:close/>
                </a:path>
              </a:pathLst>
            </a:custGeom>
            <a:scene3d>
              <a:camera prst="orthographicFront"/>
              <a:lightRig rig="flat" dir="t"/>
            </a:scene3d>
            <a:sp3d prstMaterial="plastic">
              <a:bevelT w="120900" h="88900"/>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26253" tIns="126253" rIns="126253" bIns="126253" numCol="1" spcCol="1270" anchor="ctr" anchorCtr="0">
              <a:noAutofit/>
            </a:bodyPr>
            <a:lstStyle/>
            <a:p>
              <a:pPr lvl="0" algn="ctr" defTabSz="1066800">
                <a:lnSpc>
                  <a:spcPct val="90000"/>
                </a:lnSpc>
                <a:spcBef>
                  <a:spcPct val="0"/>
                </a:spcBef>
                <a:spcAft>
                  <a:spcPct val="35000"/>
                </a:spcAft>
              </a:pPr>
              <a:r>
                <a:rPr lang="zh-CN" altLang="en-US" sz="2400" b="1" kern="1200" dirty="0" smtClean="0"/>
                <a:t>非周期性</a:t>
              </a:r>
              <a:endParaRPr lang="zh-CN" altLang="en-US" sz="2400" b="1" kern="1200" dirty="0"/>
            </a:p>
          </p:txBody>
        </p:sp>
      </p:grpSp>
    </p:spTree>
    <p:extLst>
      <p:ext uri="{BB962C8B-B14F-4D97-AF65-F5344CB8AC3E}">
        <p14:creationId xmlns:p14="http://schemas.microsoft.com/office/powerpoint/2010/main" val="4276211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up)">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up)">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5307360"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spcBef>
                <a:spcPct val="0"/>
              </a:spcBef>
              <a:defRPr/>
            </a:pP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实时系统的特点</a:t>
            </a:r>
            <a:endParaRPr lang="ko-KR"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nvGrpSpPr>
          <p:cNvPr id="3" name="组合 2"/>
          <p:cNvGrpSpPr/>
          <p:nvPr/>
        </p:nvGrpSpPr>
        <p:grpSpPr>
          <a:xfrm>
            <a:off x="1331640" y="843558"/>
            <a:ext cx="5734338" cy="4100535"/>
            <a:chOff x="1403648" y="973933"/>
            <a:chExt cx="5734338" cy="4100535"/>
          </a:xfrm>
        </p:grpSpPr>
        <p:sp>
          <p:nvSpPr>
            <p:cNvPr id="4" name="任意多边形 3"/>
            <p:cNvSpPr/>
            <p:nvPr/>
          </p:nvSpPr>
          <p:spPr>
            <a:xfrm>
              <a:off x="3803579" y="973933"/>
              <a:ext cx="1334988" cy="867742"/>
            </a:xfrm>
            <a:custGeom>
              <a:avLst/>
              <a:gdLst>
                <a:gd name="connsiteX0" fmla="*/ 0 w 1334988"/>
                <a:gd name="connsiteY0" fmla="*/ 144627 h 867742"/>
                <a:gd name="connsiteX1" fmla="*/ 144627 w 1334988"/>
                <a:gd name="connsiteY1" fmla="*/ 0 h 867742"/>
                <a:gd name="connsiteX2" fmla="*/ 1190361 w 1334988"/>
                <a:gd name="connsiteY2" fmla="*/ 0 h 867742"/>
                <a:gd name="connsiteX3" fmla="*/ 1334988 w 1334988"/>
                <a:gd name="connsiteY3" fmla="*/ 144627 h 867742"/>
                <a:gd name="connsiteX4" fmla="*/ 1334988 w 1334988"/>
                <a:gd name="connsiteY4" fmla="*/ 723115 h 867742"/>
                <a:gd name="connsiteX5" fmla="*/ 1190361 w 1334988"/>
                <a:gd name="connsiteY5" fmla="*/ 867742 h 867742"/>
                <a:gd name="connsiteX6" fmla="*/ 144627 w 1334988"/>
                <a:gd name="connsiteY6" fmla="*/ 867742 h 867742"/>
                <a:gd name="connsiteX7" fmla="*/ 0 w 1334988"/>
                <a:gd name="connsiteY7" fmla="*/ 723115 h 867742"/>
                <a:gd name="connsiteX8" fmla="*/ 0 w 1334988"/>
                <a:gd name="connsiteY8" fmla="*/ 144627 h 86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988" h="867742">
                  <a:moveTo>
                    <a:pt x="0" y="144627"/>
                  </a:moveTo>
                  <a:cubicBezTo>
                    <a:pt x="0" y="64752"/>
                    <a:pt x="64752" y="0"/>
                    <a:pt x="144627" y="0"/>
                  </a:cubicBezTo>
                  <a:lnTo>
                    <a:pt x="1190361" y="0"/>
                  </a:lnTo>
                  <a:cubicBezTo>
                    <a:pt x="1270236" y="0"/>
                    <a:pt x="1334988" y="64752"/>
                    <a:pt x="1334988" y="144627"/>
                  </a:cubicBezTo>
                  <a:lnTo>
                    <a:pt x="1334988" y="723115"/>
                  </a:lnTo>
                  <a:cubicBezTo>
                    <a:pt x="1334988" y="802990"/>
                    <a:pt x="1270236" y="867742"/>
                    <a:pt x="1190361" y="867742"/>
                  </a:cubicBezTo>
                  <a:lnTo>
                    <a:pt x="144627" y="867742"/>
                  </a:lnTo>
                  <a:cubicBezTo>
                    <a:pt x="64752" y="867742"/>
                    <a:pt x="0" y="802990"/>
                    <a:pt x="0" y="723115"/>
                  </a:cubicBezTo>
                  <a:lnTo>
                    <a:pt x="0" y="144627"/>
                  </a:lnTo>
                  <a:close/>
                </a:path>
              </a:pathLst>
            </a:custGeom>
            <a:ln w="57150"/>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33800" tIns="133800" rIns="133800" bIns="133800" numCol="1" spcCol="1270" anchor="ctr" anchorCtr="0">
              <a:noAutofit/>
            </a:bodyPr>
            <a:lstStyle/>
            <a:p>
              <a:pPr lvl="0" algn="ctr" defTabSz="1066800">
                <a:lnSpc>
                  <a:spcPct val="90000"/>
                </a:lnSpc>
                <a:spcBef>
                  <a:spcPct val="0"/>
                </a:spcBef>
                <a:spcAft>
                  <a:spcPct val="35000"/>
                </a:spcAft>
              </a:pPr>
              <a:r>
                <a:rPr lang="zh-CN" altLang="en-US" sz="2400" b="1" kern="1200" dirty="0" smtClean="0"/>
                <a:t>有限等待时间</a:t>
              </a:r>
              <a:endParaRPr lang="zh-CN" altLang="en-US" sz="2400" b="1" kern="1200" dirty="0"/>
            </a:p>
          </p:txBody>
        </p:sp>
        <p:sp>
          <p:nvSpPr>
            <p:cNvPr id="5" name="任意多边形 4"/>
            <p:cNvSpPr/>
            <p:nvPr/>
          </p:nvSpPr>
          <p:spPr>
            <a:xfrm>
              <a:off x="3183275" y="1609280"/>
              <a:ext cx="3465188" cy="3465188"/>
            </a:xfrm>
            <a:custGeom>
              <a:avLst/>
              <a:gdLst/>
              <a:ahLst/>
              <a:cxnLst/>
              <a:rect l="0" t="0" r="0" b="0"/>
              <a:pathLst>
                <a:path>
                  <a:moveTo>
                    <a:pt x="2096707" y="38692"/>
                  </a:moveTo>
                  <a:arcTo wR="1732594" hR="1732594" stAng="16927886" swAng="864759"/>
                </a:path>
              </a:pathLst>
            </a:custGeom>
            <a:noFill/>
            <a:ln w="57150">
              <a:tailEnd type="arrow"/>
            </a:ln>
            <a:scene3d>
              <a:camera prst="orthographicFront"/>
              <a:lightRig rig="threePt" dir="t">
                <a:rot lat="0" lon="0" rev="7500000"/>
              </a:lightRig>
            </a:scene3d>
            <a:sp3d z="-40000" prstMaterial="matte"/>
          </p:spPr>
          <p:style>
            <a:lnRef idx="1">
              <a:schemeClr val="accent5">
                <a:hueOff val="0"/>
                <a:satOff val="0"/>
                <a:lumOff val="0"/>
                <a:alphaOff val="0"/>
              </a:schemeClr>
            </a:lnRef>
            <a:fillRef idx="0">
              <a:scrgbClr r="0" g="0" b="0"/>
            </a:fillRef>
            <a:effectRef idx="0">
              <a:scrgbClr r="0" g="0" b="0"/>
            </a:effectRef>
            <a:fontRef idx="minor">
              <a:schemeClr val="tx1">
                <a:hueOff val="0"/>
                <a:satOff val="0"/>
                <a:lumOff val="0"/>
                <a:alphaOff val="0"/>
              </a:schemeClr>
            </a:fontRef>
          </p:style>
        </p:sp>
        <p:sp>
          <p:nvSpPr>
            <p:cNvPr id="6" name="任意多边形 5"/>
            <p:cNvSpPr/>
            <p:nvPr/>
          </p:nvSpPr>
          <p:spPr>
            <a:xfrm>
              <a:off x="5467383" y="1943631"/>
              <a:ext cx="1670603" cy="867742"/>
            </a:xfrm>
            <a:custGeom>
              <a:avLst/>
              <a:gdLst>
                <a:gd name="connsiteX0" fmla="*/ 0 w 1334988"/>
                <a:gd name="connsiteY0" fmla="*/ 144627 h 867742"/>
                <a:gd name="connsiteX1" fmla="*/ 144627 w 1334988"/>
                <a:gd name="connsiteY1" fmla="*/ 0 h 867742"/>
                <a:gd name="connsiteX2" fmla="*/ 1190361 w 1334988"/>
                <a:gd name="connsiteY2" fmla="*/ 0 h 867742"/>
                <a:gd name="connsiteX3" fmla="*/ 1334988 w 1334988"/>
                <a:gd name="connsiteY3" fmla="*/ 144627 h 867742"/>
                <a:gd name="connsiteX4" fmla="*/ 1334988 w 1334988"/>
                <a:gd name="connsiteY4" fmla="*/ 723115 h 867742"/>
                <a:gd name="connsiteX5" fmla="*/ 1190361 w 1334988"/>
                <a:gd name="connsiteY5" fmla="*/ 867742 h 867742"/>
                <a:gd name="connsiteX6" fmla="*/ 144627 w 1334988"/>
                <a:gd name="connsiteY6" fmla="*/ 867742 h 867742"/>
                <a:gd name="connsiteX7" fmla="*/ 0 w 1334988"/>
                <a:gd name="connsiteY7" fmla="*/ 723115 h 867742"/>
                <a:gd name="connsiteX8" fmla="*/ 0 w 1334988"/>
                <a:gd name="connsiteY8" fmla="*/ 144627 h 86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988" h="867742">
                  <a:moveTo>
                    <a:pt x="0" y="144627"/>
                  </a:moveTo>
                  <a:cubicBezTo>
                    <a:pt x="0" y="64752"/>
                    <a:pt x="64752" y="0"/>
                    <a:pt x="144627" y="0"/>
                  </a:cubicBezTo>
                  <a:lnTo>
                    <a:pt x="1190361" y="0"/>
                  </a:lnTo>
                  <a:cubicBezTo>
                    <a:pt x="1270236" y="0"/>
                    <a:pt x="1334988" y="64752"/>
                    <a:pt x="1334988" y="144627"/>
                  </a:cubicBezTo>
                  <a:lnTo>
                    <a:pt x="1334988" y="723115"/>
                  </a:lnTo>
                  <a:cubicBezTo>
                    <a:pt x="1334988" y="802990"/>
                    <a:pt x="1270236" y="867742"/>
                    <a:pt x="1190361" y="867742"/>
                  </a:cubicBezTo>
                  <a:lnTo>
                    <a:pt x="144627" y="867742"/>
                  </a:lnTo>
                  <a:cubicBezTo>
                    <a:pt x="64752" y="867742"/>
                    <a:pt x="0" y="802990"/>
                    <a:pt x="0" y="723115"/>
                  </a:cubicBezTo>
                  <a:lnTo>
                    <a:pt x="0" y="144627"/>
                  </a:lnTo>
                  <a:close/>
                </a:path>
              </a:pathLst>
            </a:custGeom>
            <a:ln w="57150"/>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2483469"/>
                <a:satOff val="9953"/>
                <a:lumOff val="2157"/>
                <a:alphaOff val="0"/>
              </a:schemeClr>
            </a:fillRef>
            <a:effectRef idx="2">
              <a:schemeClr val="accent5">
                <a:hueOff val="-2483469"/>
                <a:satOff val="9953"/>
                <a:lumOff val="2157"/>
                <a:alphaOff val="0"/>
              </a:schemeClr>
            </a:effectRef>
            <a:fontRef idx="minor">
              <a:schemeClr val="lt1"/>
            </a:fontRef>
          </p:style>
          <p:txBody>
            <a:bodyPr spcFirstLastPara="0" vert="horz" wrap="square" lIns="133800" tIns="133800" rIns="133800" bIns="133800" numCol="1" spcCol="1270" anchor="ctr" anchorCtr="0">
              <a:noAutofit/>
            </a:bodyPr>
            <a:lstStyle/>
            <a:p>
              <a:pPr lvl="0" algn="ctr" defTabSz="1066800">
                <a:lnSpc>
                  <a:spcPct val="90000"/>
                </a:lnSpc>
                <a:spcBef>
                  <a:spcPct val="0"/>
                </a:spcBef>
                <a:spcAft>
                  <a:spcPct val="35000"/>
                </a:spcAft>
              </a:pPr>
              <a:r>
                <a:rPr lang="zh-CN" altLang="en-US" sz="2400" b="1" kern="1200" dirty="0" smtClean="0"/>
                <a:t>有限响应时间</a:t>
              </a:r>
              <a:endParaRPr lang="zh-CN" altLang="en-US" sz="2400" b="1" kern="1200" dirty="0"/>
            </a:p>
          </p:txBody>
        </p:sp>
        <p:sp>
          <p:nvSpPr>
            <p:cNvPr id="7" name="任意多边形 6"/>
            <p:cNvSpPr/>
            <p:nvPr/>
          </p:nvSpPr>
          <p:spPr>
            <a:xfrm>
              <a:off x="2647045" y="1097974"/>
              <a:ext cx="3465188" cy="3465188"/>
            </a:xfrm>
            <a:custGeom>
              <a:avLst/>
              <a:gdLst/>
              <a:ahLst/>
              <a:cxnLst/>
              <a:rect l="0" t="0" r="0" b="0"/>
              <a:pathLst>
                <a:path>
                  <a:moveTo>
                    <a:pt x="3461025" y="1852639"/>
                  </a:moveTo>
                  <a:arcTo wR="1732594" hR="1732594" stAng="21838381" swAng="1359213"/>
                </a:path>
              </a:pathLst>
            </a:custGeom>
            <a:noFill/>
            <a:ln w="57150">
              <a:tailEnd type="arrow"/>
            </a:ln>
            <a:scene3d>
              <a:camera prst="orthographicFront"/>
              <a:lightRig rig="threePt" dir="t">
                <a:rot lat="0" lon="0" rev="7500000"/>
              </a:lightRig>
            </a:scene3d>
            <a:sp3d z="-40000" prstMaterial="matte"/>
          </p:spPr>
          <p:style>
            <a:lnRef idx="1">
              <a:schemeClr val="accent5">
                <a:hueOff val="-2483469"/>
                <a:satOff val="9953"/>
                <a:lumOff val="2157"/>
                <a:alphaOff val="0"/>
              </a:schemeClr>
            </a:lnRef>
            <a:fillRef idx="0">
              <a:scrgbClr r="0" g="0" b="0"/>
            </a:fillRef>
            <a:effectRef idx="0">
              <a:scrgbClr r="0" g="0" b="0"/>
            </a:effectRef>
            <a:fontRef idx="minor">
              <a:schemeClr val="tx1">
                <a:hueOff val="0"/>
                <a:satOff val="0"/>
                <a:lumOff val="0"/>
                <a:alphaOff val="0"/>
              </a:schemeClr>
            </a:fontRef>
          </p:style>
        </p:sp>
        <p:sp>
          <p:nvSpPr>
            <p:cNvPr id="8" name="任意多边形 7"/>
            <p:cNvSpPr/>
            <p:nvPr/>
          </p:nvSpPr>
          <p:spPr>
            <a:xfrm>
              <a:off x="4730539" y="3798396"/>
              <a:ext cx="1334988" cy="867742"/>
            </a:xfrm>
            <a:custGeom>
              <a:avLst/>
              <a:gdLst>
                <a:gd name="connsiteX0" fmla="*/ 0 w 1334988"/>
                <a:gd name="connsiteY0" fmla="*/ 144627 h 867742"/>
                <a:gd name="connsiteX1" fmla="*/ 144627 w 1334988"/>
                <a:gd name="connsiteY1" fmla="*/ 0 h 867742"/>
                <a:gd name="connsiteX2" fmla="*/ 1190361 w 1334988"/>
                <a:gd name="connsiteY2" fmla="*/ 0 h 867742"/>
                <a:gd name="connsiteX3" fmla="*/ 1334988 w 1334988"/>
                <a:gd name="connsiteY3" fmla="*/ 144627 h 867742"/>
                <a:gd name="connsiteX4" fmla="*/ 1334988 w 1334988"/>
                <a:gd name="connsiteY4" fmla="*/ 723115 h 867742"/>
                <a:gd name="connsiteX5" fmla="*/ 1190361 w 1334988"/>
                <a:gd name="connsiteY5" fmla="*/ 867742 h 867742"/>
                <a:gd name="connsiteX6" fmla="*/ 144627 w 1334988"/>
                <a:gd name="connsiteY6" fmla="*/ 867742 h 867742"/>
                <a:gd name="connsiteX7" fmla="*/ 0 w 1334988"/>
                <a:gd name="connsiteY7" fmla="*/ 723115 h 867742"/>
                <a:gd name="connsiteX8" fmla="*/ 0 w 1334988"/>
                <a:gd name="connsiteY8" fmla="*/ 144627 h 86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988" h="867742">
                  <a:moveTo>
                    <a:pt x="0" y="144627"/>
                  </a:moveTo>
                  <a:cubicBezTo>
                    <a:pt x="0" y="64752"/>
                    <a:pt x="64752" y="0"/>
                    <a:pt x="144627" y="0"/>
                  </a:cubicBezTo>
                  <a:lnTo>
                    <a:pt x="1190361" y="0"/>
                  </a:lnTo>
                  <a:cubicBezTo>
                    <a:pt x="1270236" y="0"/>
                    <a:pt x="1334988" y="64752"/>
                    <a:pt x="1334988" y="144627"/>
                  </a:cubicBezTo>
                  <a:lnTo>
                    <a:pt x="1334988" y="723115"/>
                  </a:lnTo>
                  <a:cubicBezTo>
                    <a:pt x="1334988" y="802990"/>
                    <a:pt x="1270236" y="867742"/>
                    <a:pt x="1190361" y="867742"/>
                  </a:cubicBezTo>
                  <a:lnTo>
                    <a:pt x="144627" y="867742"/>
                  </a:lnTo>
                  <a:cubicBezTo>
                    <a:pt x="64752" y="867742"/>
                    <a:pt x="0" y="802990"/>
                    <a:pt x="0" y="723115"/>
                  </a:cubicBezTo>
                  <a:lnTo>
                    <a:pt x="0" y="144627"/>
                  </a:lnTo>
                  <a:close/>
                </a:path>
              </a:pathLst>
            </a:custGeom>
            <a:ln w="57150"/>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4966938"/>
                <a:satOff val="19906"/>
                <a:lumOff val="4314"/>
                <a:alphaOff val="0"/>
              </a:schemeClr>
            </a:fillRef>
            <a:effectRef idx="2">
              <a:schemeClr val="accent5">
                <a:hueOff val="-4966938"/>
                <a:satOff val="19906"/>
                <a:lumOff val="4314"/>
                <a:alphaOff val="0"/>
              </a:schemeClr>
            </a:effectRef>
            <a:fontRef idx="minor">
              <a:schemeClr val="lt1"/>
            </a:fontRef>
          </p:style>
          <p:txBody>
            <a:bodyPr spcFirstLastPara="0" vert="horz" wrap="square" lIns="133800" tIns="133800" rIns="133800" bIns="13380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tx1"/>
                  </a:solidFill>
                </a:rPr>
                <a:t>用户控制</a:t>
              </a:r>
              <a:endParaRPr lang="zh-CN" altLang="en-US" sz="2400" b="1" kern="1200" dirty="0">
                <a:solidFill>
                  <a:schemeClr val="tx1"/>
                </a:solidFill>
              </a:endParaRPr>
            </a:p>
          </p:txBody>
        </p:sp>
        <p:sp>
          <p:nvSpPr>
            <p:cNvPr id="9" name="任意多边形 8"/>
            <p:cNvSpPr/>
            <p:nvPr/>
          </p:nvSpPr>
          <p:spPr>
            <a:xfrm>
              <a:off x="2647045" y="1097974"/>
              <a:ext cx="3465188" cy="3465188"/>
            </a:xfrm>
            <a:custGeom>
              <a:avLst/>
              <a:gdLst/>
              <a:ahLst/>
              <a:cxnLst/>
              <a:rect l="0" t="0" r="0" b="0"/>
              <a:pathLst>
                <a:path>
                  <a:moveTo>
                    <a:pt x="1945042" y="3452114"/>
                  </a:moveTo>
                  <a:arcTo wR="1732594" hR="1732594" stAng="4977406" swAng="845189"/>
                </a:path>
              </a:pathLst>
            </a:custGeom>
            <a:noFill/>
            <a:ln w="57150">
              <a:tailEnd type="arrow"/>
            </a:ln>
            <a:scene3d>
              <a:camera prst="orthographicFront"/>
              <a:lightRig rig="threePt" dir="t">
                <a:rot lat="0" lon="0" rev="7500000"/>
              </a:lightRig>
            </a:scene3d>
            <a:sp3d z="-40000" prstMaterial="matte"/>
          </p:spPr>
          <p:style>
            <a:lnRef idx="1">
              <a:schemeClr val="accent5">
                <a:hueOff val="-4966938"/>
                <a:satOff val="19906"/>
                <a:lumOff val="4314"/>
                <a:alphaOff val="0"/>
              </a:schemeClr>
            </a:lnRef>
            <a:fillRef idx="0">
              <a:scrgbClr r="0" g="0" b="0"/>
            </a:fillRef>
            <a:effectRef idx="0">
              <a:scrgbClr r="0" g="0" b="0"/>
            </a:effectRef>
            <a:fontRef idx="minor">
              <a:schemeClr val="tx1">
                <a:hueOff val="0"/>
                <a:satOff val="0"/>
                <a:lumOff val="0"/>
                <a:alphaOff val="0"/>
              </a:schemeClr>
            </a:fontRef>
          </p:style>
        </p:sp>
        <p:sp>
          <p:nvSpPr>
            <p:cNvPr id="40" name="任意多边形 39"/>
            <p:cNvSpPr/>
            <p:nvPr/>
          </p:nvSpPr>
          <p:spPr>
            <a:xfrm>
              <a:off x="2693752" y="3798396"/>
              <a:ext cx="1334988" cy="867742"/>
            </a:xfrm>
            <a:custGeom>
              <a:avLst/>
              <a:gdLst>
                <a:gd name="connsiteX0" fmla="*/ 0 w 1334988"/>
                <a:gd name="connsiteY0" fmla="*/ 144627 h 867742"/>
                <a:gd name="connsiteX1" fmla="*/ 144627 w 1334988"/>
                <a:gd name="connsiteY1" fmla="*/ 0 h 867742"/>
                <a:gd name="connsiteX2" fmla="*/ 1190361 w 1334988"/>
                <a:gd name="connsiteY2" fmla="*/ 0 h 867742"/>
                <a:gd name="connsiteX3" fmla="*/ 1334988 w 1334988"/>
                <a:gd name="connsiteY3" fmla="*/ 144627 h 867742"/>
                <a:gd name="connsiteX4" fmla="*/ 1334988 w 1334988"/>
                <a:gd name="connsiteY4" fmla="*/ 723115 h 867742"/>
                <a:gd name="connsiteX5" fmla="*/ 1190361 w 1334988"/>
                <a:gd name="connsiteY5" fmla="*/ 867742 h 867742"/>
                <a:gd name="connsiteX6" fmla="*/ 144627 w 1334988"/>
                <a:gd name="connsiteY6" fmla="*/ 867742 h 867742"/>
                <a:gd name="connsiteX7" fmla="*/ 0 w 1334988"/>
                <a:gd name="connsiteY7" fmla="*/ 723115 h 867742"/>
                <a:gd name="connsiteX8" fmla="*/ 0 w 1334988"/>
                <a:gd name="connsiteY8" fmla="*/ 144627 h 86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988" h="867742">
                  <a:moveTo>
                    <a:pt x="0" y="144627"/>
                  </a:moveTo>
                  <a:cubicBezTo>
                    <a:pt x="0" y="64752"/>
                    <a:pt x="64752" y="0"/>
                    <a:pt x="144627" y="0"/>
                  </a:cubicBezTo>
                  <a:lnTo>
                    <a:pt x="1190361" y="0"/>
                  </a:lnTo>
                  <a:cubicBezTo>
                    <a:pt x="1270236" y="0"/>
                    <a:pt x="1334988" y="64752"/>
                    <a:pt x="1334988" y="144627"/>
                  </a:cubicBezTo>
                  <a:lnTo>
                    <a:pt x="1334988" y="723115"/>
                  </a:lnTo>
                  <a:cubicBezTo>
                    <a:pt x="1334988" y="802990"/>
                    <a:pt x="1270236" y="867742"/>
                    <a:pt x="1190361" y="867742"/>
                  </a:cubicBezTo>
                  <a:lnTo>
                    <a:pt x="144627" y="867742"/>
                  </a:lnTo>
                  <a:cubicBezTo>
                    <a:pt x="64752" y="867742"/>
                    <a:pt x="0" y="802990"/>
                    <a:pt x="0" y="723115"/>
                  </a:cubicBezTo>
                  <a:lnTo>
                    <a:pt x="0" y="144627"/>
                  </a:lnTo>
                  <a:close/>
                </a:path>
              </a:pathLst>
            </a:custGeom>
            <a:ln w="57150"/>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7450407"/>
                <a:satOff val="29858"/>
                <a:lumOff val="6471"/>
                <a:alphaOff val="0"/>
              </a:schemeClr>
            </a:fillRef>
            <a:effectRef idx="2">
              <a:schemeClr val="accent5">
                <a:hueOff val="-7450407"/>
                <a:satOff val="29858"/>
                <a:lumOff val="6471"/>
                <a:alphaOff val="0"/>
              </a:schemeClr>
            </a:effectRef>
            <a:fontRef idx="minor">
              <a:schemeClr val="lt1"/>
            </a:fontRef>
          </p:style>
          <p:txBody>
            <a:bodyPr spcFirstLastPara="0" vert="horz" wrap="square" lIns="133800" tIns="133800" rIns="133800" bIns="13380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chemeClr val="tx1"/>
                  </a:solidFill>
                </a:rPr>
                <a:t>可靠性高</a:t>
              </a:r>
              <a:endParaRPr lang="zh-CN" altLang="en-US" sz="2400" b="1" kern="1200" dirty="0">
                <a:solidFill>
                  <a:schemeClr val="tx1"/>
                </a:solidFill>
              </a:endParaRPr>
            </a:p>
          </p:txBody>
        </p:sp>
        <p:sp>
          <p:nvSpPr>
            <p:cNvPr id="41" name="任意多边形 40"/>
            <p:cNvSpPr/>
            <p:nvPr/>
          </p:nvSpPr>
          <p:spPr>
            <a:xfrm>
              <a:off x="2647045" y="1097974"/>
              <a:ext cx="3465188" cy="3465188"/>
            </a:xfrm>
            <a:custGeom>
              <a:avLst/>
              <a:gdLst/>
              <a:ahLst/>
              <a:cxnLst/>
              <a:rect l="0" t="0" r="0" b="0"/>
              <a:pathLst>
                <a:path>
                  <a:moveTo>
                    <a:pt x="183747" y="2509097"/>
                  </a:moveTo>
                  <a:arcTo wR="1732594" hR="1732594" stAng="9202406" swAng="1359213"/>
                </a:path>
              </a:pathLst>
            </a:custGeom>
            <a:noFill/>
            <a:ln w="57150">
              <a:tailEnd type="arrow"/>
            </a:ln>
            <a:scene3d>
              <a:camera prst="orthographicFront"/>
              <a:lightRig rig="threePt" dir="t">
                <a:rot lat="0" lon="0" rev="7500000"/>
              </a:lightRig>
            </a:scene3d>
            <a:sp3d z="-40000" prstMaterial="matte"/>
          </p:spPr>
          <p:style>
            <a:lnRef idx="1">
              <a:schemeClr val="accent5">
                <a:hueOff val="-7450407"/>
                <a:satOff val="29858"/>
                <a:lumOff val="6471"/>
                <a:alphaOff val="0"/>
              </a:schemeClr>
            </a:lnRef>
            <a:fillRef idx="0">
              <a:scrgbClr r="0" g="0" b="0"/>
            </a:fillRef>
            <a:effectRef idx="0">
              <a:scrgbClr r="0" g="0" b="0"/>
            </a:effectRef>
            <a:fontRef idx="minor">
              <a:schemeClr val="tx1">
                <a:hueOff val="0"/>
                <a:satOff val="0"/>
                <a:lumOff val="0"/>
                <a:alphaOff val="0"/>
              </a:schemeClr>
            </a:fontRef>
          </p:style>
        </p:sp>
        <p:sp>
          <p:nvSpPr>
            <p:cNvPr id="42" name="任意多边形 41"/>
            <p:cNvSpPr/>
            <p:nvPr/>
          </p:nvSpPr>
          <p:spPr>
            <a:xfrm>
              <a:off x="1403648" y="1861296"/>
              <a:ext cx="1995690" cy="867742"/>
            </a:xfrm>
            <a:custGeom>
              <a:avLst/>
              <a:gdLst>
                <a:gd name="connsiteX0" fmla="*/ 0 w 1334988"/>
                <a:gd name="connsiteY0" fmla="*/ 144627 h 867742"/>
                <a:gd name="connsiteX1" fmla="*/ 144627 w 1334988"/>
                <a:gd name="connsiteY1" fmla="*/ 0 h 867742"/>
                <a:gd name="connsiteX2" fmla="*/ 1190361 w 1334988"/>
                <a:gd name="connsiteY2" fmla="*/ 0 h 867742"/>
                <a:gd name="connsiteX3" fmla="*/ 1334988 w 1334988"/>
                <a:gd name="connsiteY3" fmla="*/ 144627 h 867742"/>
                <a:gd name="connsiteX4" fmla="*/ 1334988 w 1334988"/>
                <a:gd name="connsiteY4" fmla="*/ 723115 h 867742"/>
                <a:gd name="connsiteX5" fmla="*/ 1190361 w 1334988"/>
                <a:gd name="connsiteY5" fmla="*/ 867742 h 867742"/>
                <a:gd name="connsiteX6" fmla="*/ 144627 w 1334988"/>
                <a:gd name="connsiteY6" fmla="*/ 867742 h 867742"/>
                <a:gd name="connsiteX7" fmla="*/ 0 w 1334988"/>
                <a:gd name="connsiteY7" fmla="*/ 723115 h 867742"/>
                <a:gd name="connsiteX8" fmla="*/ 0 w 1334988"/>
                <a:gd name="connsiteY8" fmla="*/ 144627 h 86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988" h="867742">
                  <a:moveTo>
                    <a:pt x="0" y="144627"/>
                  </a:moveTo>
                  <a:cubicBezTo>
                    <a:pt x="0" y="64752"/>
                    <a:pt x="64752" y="0"/>
                    <a:pt x="144627" y="0"/>
                  </a:cubicBezTo>
                  <a:lnTo>
                    <a:pt x="1190361" y="0"/>
                  </a:lnTo>
                  <a:cubicBezTo>
                    <a:pt x="1270236" y="0"/>
                    <a:pt x="1334988" y="64752"/>
                    <a:pt x="1334988" y="144627"/>
                  </a:cubicBezTo>
                  <a:lnTo>
                    <a:pt x="1334988" y="723115"/>
                  </a:lnTo>
                  <a:cubicBezTo>
                    <a:pt x="1334988" y="802990"/>
                    <a:pt x="1270236" y="867742"/>
                    <a:pt x="1190361" y="867742"/>
                  </a:cubicBezTo>
                  <a:lnTo>
                    <a:pt x="144627" y="867742"/>
                  </a:lnTo>
                  <a:cubicBezTo>
                    <a:pt x="64752" y="867742"/>
                    <a:pt x="0" y="802990"/>
                    <a:pt x="0" y="723115"/>
                  </a:cubicBezTo>
                  <a:lnTo>
                    <a:pt x="0" y="144627"/>
                  </a:lnTo>
                  <a:close/>
                </a:path>
              </a:pathLst>
            </a:custGeom>
            <a:ln w="57150"/>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9933876"/>
                <a:satOff val="39811"/>
                <a:lumOff val="8628"/>
                <a:alphaOff val="0"/>
              </a:schemeClr>
            </a:fillRef>
            <a:effectRef idx="2">
              <a:schemeClr val="accent5">
                <a:hueOff val="-9933876"/>
                <a:satOff val="39811"/>
                <a:lumOff val="8628"/>
                <a:alphaOff val="0"/>
              </a:schemeClr>
            </a:effectRef>
            <a:fontRef idx="minor">
              <a:schemeClr val="lt1"/>
            </a:fontRef>
          </p:style>
          <p:txBody>
            <a:bodyPr spcFirstLastPara="0" vert="horz" wrap="square" lIns="133800" tIns="133800" rIns="133800" bIns="133800" numCol="1" spcCol="1270" anchor="ctr" anchorCtr="0">
              <a:noAutofit/>
            </a:bodyPr>
            <a:lstStyle/>
            <a:p>
              <a:pPr lvl="0" algn="ctr" defTabSz="1066800">
                <a:lnSpc>
                  <a:spcPct val="90000"/>
                </a:lnSpc>
                <a:spcBef>
                  <a:spcPct val="0"/>
                </a:spcBef>
                <a:spcAft>
                  <a:spcPct val="35000"/>
                </a:spcAft>
              </a:pPr>
              <a:r>
                <a:rPr lang="zh-CN" altLang="en-US" sz="2400" b="1" kern="1200" dirty="0" smtClean="0"/>
                <a:t>系统出错处理能力强</a:t>
              </a:r>
              <a:endParaRPr lang="zh-CN" altLang="en-US" sz="2400" b="1" kern="1200" dirty="0"/>
            </a:p>
          </p:txBody>
        </p:sp>
        <p:sp>
          <p:nvSpPr>
            <p:cNvPr id="43" name="任意多边形 42"/>
            <p:cNvSpPr/>
            <p:nvPr/>
          </p:nvSpPr>
          <p:spPr>
            <a:xfrm>
              <a:off x="2246886" y="1517479"/>
              <a:ext cx="3465188" cy="3465188"/>
            </a:xfrm>
            <a:custGeom>
              <a:avLst/>
              <a:gdLst/>
              <a:ahLst/>
              <a:cxnLst/>
              <a:rect l="0" t="0" r="0" b="0"/>
              <a:pathLst>
                <a:path>
                  <a:moveTo>
                    <a:pt x="850200" y="241532"/>
                  </a:moveTo>
                  <a:arcTo wR="1732594" hR="1732594" stAng="14363005" swAng="1121125"/>
                </a:path>
              </a:pathLst>
            </a:custGeom>
            <a:noFill/>
            <a:ln w="57150">
              <a:tailEnd type="arrow"/>
            </a:ln>
            <a:scene3d>
              <a:camera prst="orthographicFront"/>
              <a:lightRig rig="threePt" dir="t">
                <a:rot lat="0" lon="0" rev="7500000"/>
              </a:lightRig>
            </a:scene3d>
            <a:sp3d z="-40000" prstMaterial="matte"/>
          </p:spPr>
          <p:style>
            <a:lnRef idx="1">
              <a:schemeClr val="accent5">
                <a:hueOff val="-9933876"/>
                <a:satOff val="39811"/>
                <a:lumOff val="8628"/>
                <a:alphaOff val="0"/>
              </a:schemeClr>
            </a:lnRef>
            <a:fillRef idx="0">
              <a:scrgbClr r="0" g="0" b="0"/>
            </a:fillRef>
            <a:effectRef idx="0">
              <a:scrgbClr r="0" g="0" b="0"/>
            </a:effectRef>
            <a:fontRef idx="minor">
              <a:schemeClr val="tx1">
                <a:hueOff val="0"/>
                <a:satOff val="0"/>
                <a:lumOff val="0"/>
                <a:alphaOff val="0"/>
              </a:schemeClr>
            </a:fontRef>
          </p:style>
        </p:sp>
      </p:grpSp>
    </p:spTree>
    <p:extLst>
      <p:ext uri="{BB962C8B-B14F-4D97-AF65-F5344CB8AC3E}">
        <p14:creationId xmlns:p14="http://schemas.microsoft.com/office/powerpoint/2010/main" val="129719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实时操作系统需具备的能力</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任意多边形 4"/>
          <p:cNvSpPr/>
          <p:nvPr/>
        </p:nvSpPr>
        <p:spPr>
          <a:xfrm>
            <a:off x="676099" y="956686"/>
            <a:ext cx="4736306" cy="430573"/>
          </a:xfrm>
          <a:custGeom>
            <a:avLst/>
            <a:gdLst>
              <a:gd name="connsiteX0" fmla="*/ 0 w 4736306"/>
              <a:gd name="connsiteY0" fmla="*/ 0 h 430573"/>
              <a:gd name="connsiteX1" fmla="*/ 4736306 w 4736306"/>
              <a:gd name="connsiteY1" fmla="*/ 0 h 430573"/>
              <a:gd name="connsiteX2" fmla="*/ 4736306 w 4736306"/>
              <a:gd name="connsiteY2" fmla="*/ 430573 h 430573"/>
              <a:gd name="connsiteX3" fmla="*/ 0 w 4736306"/>
              <a:gd name="connsiteY3" fmla="*/ 430573 h 430573"/>
              <a:gd name="connsiteX4" fmla="*/ 0 w 4736306"/>
              <a:gd name="connsiteY4" fmla="*/ 0 h 430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306" h="430573">
                <a:moveTo>
                  <a:pt x="0" y="0"/>
                </a:moveTo>
                <a:lnTo>
                  <a:pt x="4736306" y="0"/>
                </a:lnTo>
                <a:lnTo>
                  <a:pt x="4736306" y="430573"/>
                </a:lnTo>
                <a:lnTo>
                  <a:pt x="0" y="4305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72390" rIns="72390" bIns="72390" numCol="1" spcCol="1270" anchor="b" anchorCtr="0">
            <a:noAutofit/>
          </a:bodyPr>
          <a:lstStyle/>
          <a:p>
            <a:pPr lvl="0" algn="l" defTabSz="844550">
              <a:lnSpc>
                <a:spcPct val="90000"/>
              </a:lnSpc>
              <a:spcBef>
                <a:spcPct val="0"/>
              </a:spcBef>
              <a:spcAft>
                <a:spcPct val="35000"/>
              </a:spcAft>
            </a:pPr>
            <a:r>
              <a:rPr lang="zh-CN" altLang="en-US" sz="2400" b="1" kern="1200" dirty="0" smtClean="0">
                <a:solidFill>
                  <a:srgbClr val="FFFF00"/>
                </a:solidFill>
              </a:rPr>
              <a:t>很快的进程或线程切换速度</a:t>
            </a:r>
            <a:endParaRPr lang="zh-CN" altLang="en-US" sz="2400" b="1" kern="1200" dirty="0">
              <a:solidFill>
                <a:srgbClr val="FFFF00"/>
              </a:solidFill>
            </a:endParaRPr>
          </a:p>
        </p:txBody>
      </p:sp>
      <p:sp>
        <p:nvSpPr>
          <p:cNvPr id="29" name="任意多边形 28"/>
          <p:cNvSpPr/>
          <p:nvPr/>
        </p:nvSpPr>
        <p:spPr>
          <a:xfrm>
            <a:off x="683568" y="2593701"/>
            <a:ext cx="4736306" cy="430573"/>
          </a:xfrm>
          <a:custGeom>
            <a:avLst/>
            <a:gdLst>
              <a:gd name="connsiteX0" fmla="*/ 0 w 4736306"/>
              <a:gd name="connsiteY0" fmla="*/ 0 h 430573"/>
              <a:gd name="connsiteX1" fmla="*/ 4736306 w 4736306"/>
              <a:gd name="connsiteY1" fmla="*/ 0 h 430573"/>
              <a:gd name="connsiteX2" fmla="*/ 4736306 w 4736306"/>
              <a:gd name="connsiteY2" fmla="*/ 430573 h 430573"/>
              <a:gd name="connsiteX3" fmla="*/ 0 w 4736306"/>
              <a:gd name="connsiteY3" fmla="*/ 430573 h 430573"/>
              <a:gd name="connsiteX4" fmla="*/ 0 w 4736306"/>
              <a:gd name="connsiteY4" fmla="*/ 0 h 430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306" h="430573">
                <a:moveTo>
                  <a:pt x="0" y="0"/>
                </a:moveTo>
                <a:lnTo>
                  <a:pt x="4736306" y="0"/>
                </a:lnTo>
                <a:lnTo>
                  <a:pt x="4736306" y="430573"/>
                </a:lnTo>
                <a:lnTo>
                  <a:pt x="0" y="4305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72390" rIns="72390" bIns="72390" numCol="1" spcCol="1270" anchor="b" anchorCtr="0">
            <a:noAutofit/>
          </a:bodyPr>
          <a:lstStyle/>
          <a:p>
            <a:pPr lvl="0" algn="l" defTabSz="844550">
              <a:lnSpc>
                <a:spcPct val="90000"/>
              </a:lnSpc>
              <a:spcBef>
                <a:spcPct val="0"/>
              </a:spcBef>
              <a:spcAft>
                <a:spcPct val="35000"/>
              </a:spcAft>
            </a:pPr>
            <a:r>
              <a:rPr lang="zh-CN" altLang="en-US" sz="2400" b="1" dirty="0">
                <a:solidFill>
                  <a:srgbClr val="FFFF00"/>
                </a:solidFill>
              </a:rPr>
              <a:t>快速的外部中断响应能力</a:t>
            </a:r>
          </a:p>
        </p:txBody>
      </p:sp>
      <p:grpSp>
        <p:nvGrpSpPr>
          <p:cNvPr id="58" name="组合 57"/>
          <p:cNvGrpSpPr/>
          <p:nvPr/>
        </p:nvGrpSpPr>
        <p:grpSpPr>
          <a:xfrm>
            <a:off x="665538" y="3044544"/>
            <a:ext cx="3042366" cy="555794"/>
            <a:chOff x="665538" y="3044544"/>
            <a:chExt cx="3042366" cy="555794"/>
          </a:xfrm>
        </p:grpSpPr>
        <p:sp>
          <p:nvSpPr>
            <p:cNvPr id="30" name="燕尾形 29"/>
            <p:cNvSpPr/>
            <p:nvPr/>
          </p:nvSpPr>
          <p:spPr>
            <a:xfrm>
              <a:off x="665539" y="3044544"/>
              <a:ext cx="1044696" cy="555794"/>
            </a:xfrm>
            <a:prstGeom prst="chevron">
              <a:avLst>
                <a:gd name="adj" fmla="val 706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1" name="燕尾形 30"/>
            <p:cNvSpPr/>
            <p:nvPr/>
          </p:nvSpPr>
          <p:spPr>
            <a:xfrm>
              <a:off x="1331253" y="3044544"/>
              <a:ext cx="1044696" cy="555794"/>
            </a:xfrm>
            <a:prstGeom prst="chevron">
              <a:avLst>
                <a:gd name="adj" fmla="val 706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32" name="燕尾形 31"/>
            <p:cNvSpPr/>
            <p:nvPr/>
          </p:nvSpPr>
          <p:spPr>
            <a:xfrm>
              <a:off x="1997493" y="3044544"/>
              <a:ext cx="1044696" cy="555794"/>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33" name="燕尾形 32"/>
            <p:cNvSpPr/>
            <p:nvPr/>
          </p:nvSpPr>
          <p:spPr>
            <a:xfrm>
              <a:off x="2663208" y="3044544"/>
              <a:ext cx="1044696" cy="555794"/>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37" name="任意多边形 36"/>
            <p:cNvSpPr/>
            <p:nvPr/>
          </p:nvSpPr>
          <p:spPr>
            <a:xfrm>
              <a:off x="665538" y="3132254"/>
              <a:ext cx="2376651" cy="342861"/>
            </a:xfrm>
            <a:custGeom>
              <a:avLst/>
              <a:gdLst>
                <a:gd name="connsiteX0" fmla="*/ 0 w 4797878"/>
                <a:gd name="connsiteY0" fmla="*/ 0 h 701675"/>
                <a:gd name="connsiteX1" fmla="*/ 4797878 w 4797878"/>
                <a:gd name="connsiteY1" fmla="*/ 0 h 701675"/>
                <a:gd name="connsiteX2" fmla="*/ 4797878 w 4797878"/>
                <a:gd name="connsiteY2" fmla="*/ 701675 h 701675"/>
                <a:gd name="connsiteX3" fmla="*/ 0 w 4797878"/>
                <a:gd name="connsiteY3" fmla="*/ 701675 h 701675"/>
                <a:gd name="connsiteX4" fmla="*/ 0 w 4797878"/>
                <a:gd name="connsiteY4" fmla="*/ 0 h 70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878" h="701675">
                  <a:moveTo>
                    <a:pt x="0" y="0"/>
                  </a:moveTo>
                  <a:lnTo>
                    <a:pt x="4797878" y="0"/>
                  </a:lnTo>
                  <a:lnTo>
                    <a:pt x="4797878" y="701675"/>
                  </a:lnTo>
                  <a:lnTo>
                    <a:pt x="0" y="701675"/>
                  </a:lnTo>
                  <a:lnTo>
                    <a:pt x="0" y="0"/>
                  </a:lnTo>
                  <a:close/>
                </a:path>
              </a:pathLst>
            </a:custGeom>
          </p:spPr>
          <p:style>
            <a:lnRef idx="2">
              <a:schemeClr val="accent3">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5560" tIns="35560" rIns="35560" bIns="35560" numCol="1" spcCol="1270" anchor="ctr" anchorCtr="0">
              <a:noAutofit/>
            </a:bodyPr>
            <a:lstStyle/>
            <a:p>
              <a:pPr defTabSz="622300">
                <a:lnSpc>
                  <a:spcPct val="90000"/>
                </a:lnSpc>
                <a:spcBef>
                  <a:spcPct val="0"/>
                </a:spcBef>
                <a:spcAft>
                  <a:spcPct val="35000"/>
                </a:spcAft>
              </a:pPr>
              <a:r>
                <a:rPr lang="zh-CN" altLang="en-US" sz="2000" b="1" dirty="0" smtClean="0"/>
                <a:t>第</a:t>
              </a:r>
              <a:r>
                <a:rPr lang="zh-CN" altLang="en-US" sz="2000" b="1" dirty="0"/>
                <a:t>七</a:t>
              </a:r>
              <a:r>
                <a:rPr lang="zh-CN" altLang="en-US" sz="2000" b="1" dirty="0" smtClean="0"/>
                <a:t>章</a:t>
              </a:r>
              <a:r>
                <a:rPr lang="zh-CN" altLang="en-US" sz="2000" b="1" dirty="0"/>
                <a:t>详细学习</a:t>
              </a:r>
            </a:p>
          </p:txBody>
        </p:sp>
      </p:grpSp>
      <p:sp>
        <p:nvSpPr>
          <p:cNvPr id="38" name="任意多边形 37"/>
          <p:cNvSpPr/>
          <p:nvPr/>
        </p:nvSpPr>
        <p:spPr>
          <a:xfrm>
            <a:off x="676099" y="3712356"/>
            <a:ext cx="6336704" cy="430573"/>
          </a:xfrm>
          <a:custGeom>
            <a:avLst/>
            <a:gdLst>
              <a:gd name="connsiteX0" fmla="*/ 0 w 4736306"/>
              <a:gd name="connsiteY0" fmla="*/ 0 h 430573"/>
              <a:gd name="connsiteX1" fmla="*/ 4736306 w 4736306"/>
              <a:gd name="connsiteY1" fmla="*/ 0 h 430573"/>
              <a:gd name="connsiteX2" fmla="*/ 4736306 w 4736306"/>
              <a:gd name="connsiteY2" fmla="*/ 430573 h 430573"/>
              <a:gd name="connsiteX3" fmla="*/ 0 w 4736306"/>
              <a:gd name="connsiteY3" fmla="*/ 430573 h 430573"/>
              <a:gd name="connsiteX4" fmla="*/ 0 w 4736306"/>
              <a:gd name="connsiteY4" fmla="*/ 0 h 430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6306" h="430573">
                <a:moveTo>
                  <a:pt x="0" y="0"/>
                </a:moveTo>
                <a:lnTo>
                  <a:pt x="4736306" y="0"/>
                </a:lnTo>
                <a:lnTo>
                  <a:pt x="4736306" y="430573"/>
                </a:lnTo>
                <a:lnTo>
                  <a:pt x="0" y="43057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72390" rIns="72390" bIns="72390" numCol="1" spcCol="1270" anchor="b" anchorCtr="0">
            <a:noAutofit/>
          </a:bodyPr>
          <a:lstStyle/>
          <a:p>
            <a:pPr defTabSz="844550">
              <a:lnSpc>
                <a:spcPct val="90000"/>
              </a:lnSpc>
              <a:spcBef>
                <a:spcPct val="0"/>
              </a:spcBef>
              <a:spcAft>
                <a:spcPct val="35000"/>
              </a:spcAft>
            </a:pPr>
            <a:r>
              <a:rPr lang="zh-CN" altLang="en-US" sz="2400" b="1" dirty="0">
                <a:solidFill>
                  <a:srgbClr val="FFFF00"/>
                </a:solidFill>
              </a:rPr>
              <a:t>基于优先级的随时抢先式调度策略</a:t>
            </a:r>
          </a:p>
        </p:txBody>
      </p:sp>
      <p:grpSp>
        <p:nvGrpSpPr>
          <p:cNvPr id="59" name="组合 58"/>
          <p:cNvGrpSpPr/>
          <p:nvPr/>
        </p:nvGrpSpPr>
        <p:grpSpPr>
          <a:xfrm>
            <a:off x="251520" y="4142929"/>
            <a:ext cx="8842941" cy="918953"/>
            <a:chOff x="251520" y="4142929"/>
            <a:chExt cx="8842941" cy="918953"/>
          </a:xfrm>
        </p:grpSpPr>
        <p:sp>
          <p:nvSpPr>
            <p:cNvPr id="55" name="燕尾形 54"/>
            <p:cNvSpPr/>
            <p:nvPr/>
          </p:nvSpPr>
          <p:spPr>
            <a:xfrm>
              <a:off x="7156819" y="4148051"/>
              <a:ext cx="1260720" cy="877093"/>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56" name="燕尾形 55"/>
            <p:cNvSpPr/>
            <p:nvPr/>
          </p:nvSpPr>
          <p:spPr>
            <a:xfrm>
              <a:off x="7833741" y="4142929"/>
              <a:ext cx="1260720" cy="877093"/>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51" name="燕尾形 50"/>
            <p:cNvSpPr/>
            <p:nvPr/>
          </p:nvSpPr>
          <p:spPr>
            <a:xfrm>
              <a:off x="4913097" y="4142929"/>
              <a:ext cx="1436098" cy="895719"/>
            </a:xfrm>
            <a:prstGeom prst="chevron">
              <a:avLst>
                <a:gd name="adj" fmla="val 706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53" name="燕尾形 52"/>
            <p:cNvSpPr/>
            <p:nvPr/>
          </p:nvSpPr>
          <p:spPr>
            <a:xfrm>
              <a:off x="5689782" y="4146328"/>
              <a:ext cx="1370370" cy="915554"/>
            </a:xfrm>
            <a:prstGeom prst="chevron">
              <a:avLst>
                <a:gd name="adj" fmla="val 706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54" name="燕尾形 53"/>
            <p:cNvSpPr/>
            <p:nvPr/>
          </p:nvSpPr>
          <p:spPr>
            <a:xfrm>
              <a:off x="6455783" y="4142930"/>
              <a:ext cx="1296600" cy="899722"/>
            </a:xfrm>
            <a:prstGeom prst="chevron">
              <a:avLst>
                <a:gd name="adj" fmla="val 706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9" name="燕尾形 38"/>
            <p:cNvSpPr/>
            <p:nvPr/>
          </p:nvSpPr>
          <p:spPr>
            <a:xfrm>
              <a:off x="251520" y="4142929"/>
              <a:ext cx="1260720" cy="877093"/>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40" name="燕尾形 39"/>
            <p:cNvSpPr/>
            <p:nvPr/>
          </p:nvSpPr>
          <p:spPr>
            <a:xfrm>
              <a:off x="917234" y="4142929"/>
              <a:ext cx="1260720" cy="877093"/>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41" name="燕尾形 40"/>
            <p:cNvSpPr/>
            <p:nvPr/>
          </p:nvSpPr>
          <p:spPr>
            <a:xfrm>
              <a:off x="1583474" y="4142929"/>
              <a:ext cx="1260720" cy="877093"/>
            </a:xfrm>
            <a:prstGeom prst="chevron">
              <a:avLst>
                <a:gd name="adj" fmla="val 706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42" name="燕尾形 41"/>
            <p:cNvSpPr/>
            <p:nvPr/>
          </p:nvSpPr>
          <p:spPr>
            <a:xfrm>
              <a:off x="2249189" y="4142929"/>
              <a:ext cx="1260720" cy="877093"/>
            </a:xfrm>
            <a:prstGeom prst="chevron">
              <a:avLst>
                <a:gd name="adj" fmla="val 706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43" name="燕尾形 42"/>
            <p:cNvSpPr/>
            <p:nvPr/>
          </p:nvSpPr>
          <p:spPr>
            <a:xfrm>
              <a:off x="2915429" y="4142929"/>
              <a:ext cx="1260720" cy="877093"/>
            </a:xfrm>
            <a:prstGeom prst="chevron">
              <a:avLst>
                <a:gd name="adj" fmla="val 706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44" name="燕尾形 43"/>
            <p:cNvSpPr/>
            <p:nvPr/>
          </p:nvSpPr>
          <p:spPr>
            <a:xfrm>
              <a:off x="3581143" y="4142929"/>
              <a:ext cx="1260720" cy="877093"/>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46" name="燕尾形 45"/>
            <p:cNvSpPr/>
            <p:nvPr/>
          </p:nvSpPr>
          <p:spPr>
            <a:xfrm>
              <a:off x="4247384" y="4142929"/>
              <a:ext cx="1260720" cy="877093"/>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47" name="任意多边形 46"/>
            <p:cNvSpPr/>
            <p:nvPr/>
          </p:nvSpPr>
          <p:spPr>
            <a:xfrm>
              <a:off x="307755" y="4230638"/>
              <a:ext cx="8512715" cy="701675"/>
            </a:xfrm>
            <a:custGeom>
              <a:avLst/>
              <a:gdLst>
                <a:gd name="connsiteX0" fmla="*/ 0 w 4797878"/>
                <a:gd name="connsiteY0" fmla="*/ 0 h 701675"/>
                <a:gd name="connsiteX1" fmla="*/ 4797878 w 4797878"/>
                <a:gd name="connsiteY1" fmla="*/ 0 h 701675"/>
                <a:gd name="connsiteX2" fmla="*/ 4797878 w 4797878"/>
                <a:gd name="connsiteY2" fmla="*/ 701675 h 701675"/>
                <a:gd name="connsiteX3" fmla="*/ 0 w 4797878"/>
                <a:gd name="connsiteY3" fmla="*/ 701675 h 701675"/>
                <a:gd name="connsiteX4" fmla="*/ 0 w 4797878"/>
                <a:gd name="connsiteY4" fmla="*/ 0 h 70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878" h="701675">
                  <a:moveTo>
                    <a:pt x="0" y="0"/>
                  </a:moveTo>
                  <a:lnTo>
                    <a:pt x="4797878" y="0"/>
                  </a:lnTo>
                  <a:lnTo>
                    <a:pt x="4797878" y="701675"/>
                  </a:lnTo>
                  <a:lnTo>
                    <a:pt x="0" y="701675"/>
                  </a:lnTo>
                  <a:lnTo>
                    <a:pt x="0" y="0"/>
                  </a:lnTo>
                  <a:close/>
                </a:path>
              </a:pathLst>
            </a:cu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5560" tIns="35560" rIns="35560" bIns="35560" numCol="1" spcCol="1270" anchor="ctr" anchorCtr="0">
              <a:noAutofit/>
            </a:bodyPr>
            <a:lstStyle/>
            <a:p>
              <a:pPr defTabSz="622300">
                <a:lnSpc>
                  <a:spcPct val="90000"/>
                </a:lnSpc>
                <a:spcBef>
                  <a:spcPct val="0"/>
                </a:spcBef>
                <a:spcAft>
                  <a:spcPct val="35000"/>
                </a:spcAft>
              </a:pPr>
              <a:r>
                <a:rPr lang="zh-CN" altLang="en-US" b="1" dirty="0"/>
                <a:t>① 优先级</a:t>
              </a:r>
              <a:r>
                <a:rPr lang="en-US" altLang="zh-CN" b="1" dirty="0"/>
                <a:t>+</a:t>
              </a:r>
              <a:r>
                <a:rPr lang="zh-CN" altLang="en-US" b="1" dirty="0"/>
                <a:t>时间片轮转调度策略</a:t>
              </a:r>
              <a:r>
                <a:rPr lang="zh-CN" altLang="en-US" b="1" dirty="0" smtClean="0"/>
                <a:t>；          ② </a:t>
              </a:r>
              <a:r>
                <a:rPr lang="zh-CN" altLang="en-US" b="1" dirty="0"/>
                <a:t>基于优先级的非抢先式调度策略；</a:t>
              </a:r>
            </a:p>
            <a:p>
              <a:pPr defTabSz="622300">
                <a:lnSpc>
                  <a:spcPct val="90000"/>
                </a:lnSpc>
                <a:spcBef>
                  <a:spcPct val="0"/>
                </a:spcBef>
                <a:spcAft>
                  <a:spcPct val="35000"/>
                </a:spcAft>
              </a:pPr>
              <a:r>
                <a:rPr lang="zh-CN" altLang="en-US" b="1" dirty="0"/>
                <a:t>③ 基于优先级的固定点抢先式调度策略</a:t>
              </a:r>
              <a:r>
                <a:rPr lang="zh-CN" altLang="en-US" b="1" dirty="0" smtClean="0"/>
                <a:t>；④ </a:t>
              </a:r>
              <a:r>
                <a:rPr lang="zh-CN" altLang="en-US" b="1" dirty="0"/>
                <a:t>基于优先级的随时抢先式调度策略。</a:t>
              </a:r>
            </a:p>
          </p:txBody>
        </p:sp>
      </p:grpSp>
      <p:grpSp>
        <p:nvGrpSpPr>
          <p:cNvPr id="57" name="组合 56"/>
          <p:cNvGrpSpPr/>
          <p:nvPr/>
        </p:nvGrpSpPr>
        <p:grpSpPr>
          <a:xfrm>
            <a:off x="586701" y="1387259"/>
            <a:ext cx="7297667" cy="1132961"/>
            <a:chOff x="586701" y="1387259"/>
            <a:chExt cx="7297667" cy="1132961"/>
          </a:xfrm>
        </p:grpSpPr>
        <p:sp>
          <p:nvSpPr>
            <p:cNvPr id="50" name="燕尾形 49"/>
            <p:cNvSpPr/>
            <p:nvPr/>
          </p:nvSpPr>
          <p:spPr>
            <a:xfrm>
              <a:off x="6419349" y="1387259"/>
              <a:ext cx="1465019" cy="1132960"/>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49" name="燕尾形 48"/>
            <p:cNvSpPr/>
            <p:nvPr/>
          </p:nvSpPr>
          <p:spPr>
            <a:xfrm>
              <a:off x="5843285" y="1387259"/>
              <a:ext cx="1401722" cy="1132960"/>
            </a:xfrm>
            <a:prstGeom prst="chevron">
              <a:avLst>
                <a:gd name="adj" fmla="val 706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48" name="燕尾形 47"/>
            <p:cNvSpPr/>
            <p:nvPr/>
          </p:nvSpPr>
          <p:spPr>
            <a:xfrm>
              <a:off x="5248279" y="1387259"/>
              <a:ext cx="1365804" cy="1132960"/>
            </a:xfrm>
            <a:prstGeom prst="chevron">
              <a:avLst>
                <a:gd name="adj" fmla="val 706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6" name="燕尾形 5"/>
            <p:cNvSpPr/>
            <p:nvPr/>
          </p:nvSpPr>
          <p:spPr>
            <a:xfrm>
              <a:off x="586701" y="1387260"/>
              <a:ext cx="1436098" cy="1132960"/>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7" name="燕尾形 6"/>
            <p:cNvSpPr/>
            <p:nvPr/>
          </p:nvSpPr>
          <p:spPr>
            <a:xfrm>
              <a:off x="1252415" y="1387260"/>
              <a:ext cx="1436098" cy="1132960"/>
            </a:xfrm>
            <a:prstGeom prst="chevron">
              <a:avLst>
                <a:gd name="adj" fmla="val 706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8" name="燕尾形 7"/>
            <p:cNvSpPr/>
            <p:nvPr/>
          </p:nvSpPr>
          <p:spPr>
            <a:xfrm>
              <a:off x="1918655" y="1387260"/>
              <a:ext cx="1436098" cy="1132960"/>
            </a:xfrm>
            <a:prstGeom prst="chevron">
              <a:avLst>
                <a:gd name="adj" fmla="val 706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9" name="燕尾形 8"/>
            <p:cNvSpPr/>
            <p:nvPr/>
          </p:nvSpPr>
          <p:spPr>
            <a:xfrm>
              <a:off x="2584370" y="1387260"/>
              <a:ext cx="1436098" cy="1132960"/>
            </a:xfrm>
            <a:prstGeom prst="chevron">
              <a:avLst>
                <a:gd name="adj" fmla="val 706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0" name="燕尾形 9"/>
            <p:cNvSpPr/>
            <p:nvPr/>
          </p:nvSpPr>
          <p:spPr>
            <a:xfrm>
              <a:off x="3250610" y="1387260"/>
              <a:ext cx="1436098" cy="1132960"/>
            </a:xfrm>
            <a:prstGeom prst="chevron">
              <a:avLst>
                <a:gd name="adj" fmla="val 706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燕尾形 10"/>
            <p:cNvSpPr/>
            <p:nvPr/>
          </p:nvSpPr>
          <p:spPr>
            <a:xfrm>
              <a:off x="3916324" y="1387260"/>
              <a:ext cx="1436098" cy="1132960"/>
            </a:xfrm>
            <a:prstGeom prst="chevron">
              <a:avLst>
                <a:gd name="adj" fmla="val 706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2" name="燕尾形 11"/>
            <p:cNvSpPr/>
            <p:nvPr/>
          </p:nvSpPr>
          <p:spPr>
            <a:xfrm>
              <a:off x="4582565" y="1387260"/>
              <a:ext cx="1436098" cy="1132960"/>
            </a:xfrm>
            <a:prstGeom prst="chevron">
              <a:avLst>
                <a:gd name="adj" fmla="val 706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3" name="任意多边形 12"/>
            <p:cNvSpPr/>
            <p:nvPr/>
          </p:nvSpPr>
          <p:spPr>
            <a:xfrm>
              <a:off x="586701" y="1474970"/>
              <a:ext cx="6867566" cy="898656"/>
            </a:xfrm>
            <a:custGeom>
              <a:avLst/>
              <a:gdLst>
                <a:gd name="connsiteX0" fmla="*/ 0 w 4797878"/>
                <a:gd name="connsiteY0" fmla="*/ 0 h 701675"/>
                <a:gd name="connsiteX1" fmla="*/ 4797878 w 4797878"/>
                <a:gd name="connsiteY1" fmla="*/ 0 h 701675"/>
                <a:gd name="connsiteX2" fmla="*/ 4797878 w 4797878"/>
                <a:gd name="connsiteY2" fmla="*/ 701675 h 701675"/>
                <a:gd name="connsiteX3" fmla="*/ 0 w 4797878"/>
                <a:gd name="connsiteY3" fmla="*/ 701675 h 701675"/>
                <a:gd name="connsiteX4" fmla="*/ 0 w 4797878"/>
                <a:gd name="connsiteY4" fmla="*/ 0 h 70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7878" h="701675">
                  <a:moveTo>
                    <a:pt x="0" y="0"/>
                  </a:moveTo>
                  <a:lnTo>
                    <a:pt x="4797878" y="0"/>
                  </a:lnTo>
                  <a:lnTo>
                    <a:pt x="4797878" y="701675"/>
                  </a:lnTo>
                  <a:lnTo>
                    <a:pt x="0" y="701675"/>
                  </a:lnTo>
                  <a:lnTo>
                    <a:pt x="0" y="0"/>
                  </a:lnTo>
                  <a:close/>
                </a:path>
              </a:pathLst>
            </a:custGeom>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5560" tIns="35560" rIns="35560" bIns="35560" numCol="1" spcCol="1270" anchor="ctr" anchorCtr="0">
              <a:noAutofit/>
            </a:bodyPr>
            <a:lstStyle/>
            <a:p>
              <a:pPr lvl="0" algn="l" defTabSz="622300">
                <a:lnSpc>
                  <a:spcPct val="90000"/>
                </a:lnSpc>
                <a:spcBef>
                  <a:spcPct val="0"/>
                </a:spcBef>
                <a:spcAft>
                  <a:spcPct val="35000"/>
                </a:spcAft>
              </a:pPr>
              <a:r>
                <a:rPr lang="zh-CN" altLang="en-US" sz="2000" b="1" kern="1200" dirty="0" smtClean="0"/>
                <a:t>进程或线程切换速度是实时系统设计的核心。调度算法的设计原则是满足所有硬实时任务的处理时限和尽可能多地满足软实时任务的处理时限。</a:t>
              </a:r>
              <a:endParaRPr lang="zh-CN" altLang="en-US" sz="2000" b="1" kern="1200" dirty="0"/>
            </a:p>
          </p:txBody>
        </p:sp>
      </p:grpSp>
      <p:sp>
        <p:nvSpPr>
          <p:cNvPr id="60" name="文本框 59"/>
          <p:cNvSpPr txBox="1"/>
          <p:nvPr/>
        </p:nvSpPr>
        <p:spPr>
          <a:xfrm>
            <a:off x="1835855" y="4083918"/>
            <a:ext cx="720080" cy="707886"/>
          </a:xfrm>
          <a:prstGeom prst="rect">
            <a:avLst/>
          </a:prstGeom>
          <a:noFill/>
        </p:spPr>
        <p:txBody>
          <a:bodyPr wrap="square" rtlCol="0">
            <a:spAutoFit/>
          </a:bodyPr>
          <a:lstStyle/>
          <a:p>
            <a:r>
              <a:rPr lang="zh-CN" altLang="en-US" sz="4000" dirty="0" smtClean="0">
                <a:solidFill>
                  <a:srgbClr val="FF0000"/>
                </a:solidFill>
                <a:sym typeface="Wingdings 2" panose="05020102010507070707" pitchFamily="18" charset="2"/>
              </a:rPr>
              <a:t></a:t>
            </a:r>
            <a:endParaRPr lang="zh-CN" altLang="en-US" sz="4000" dirty="0">
              <a:solidFill>
                <a:srgbClr val="FF0000"/>
              </a:solidFill>
            </a:endParaRPr>
          </a:p>
        </p:txBody>
      </p:sp>
      <p:sp>
        <p:nvSpPr>
          <p:cNvPr id="61" name="文本框 60"/>
          <p:cNvSpPr txBox="1"/>
          <p:nvPr/>
        </p:nvSpPr>
        <p:spPr>
          <a:xfrm>
            <a:off x="5757282" y="4083918"/>
            <a:ext cx="720080" cy="707886"/>
          </a:xfrm>
          <a:prstGeom prst="rect">
            <a:avLst/>
          </a:prstGeom>
          <a:noFill/>
        </p:spPr>
        <p:txBody>
          <a:bodyPr wrap="square" rtlCol="0">
            <a:spAutoFit/>
          </a:bodyPr>
          <a:lstStyle/>
          <a:p>
            <a:r>
              <a:rPr lang="zh-CN" altLang="en-US" sz="4000" dirty="0" smtClean="0">
                <a:solidFill>
                  <a:srgbClr val="FF0000"/>
                </a:solidFill>
                <a:sym typeface="Wingdings 2" panose="05020102010507070707" pitchFamily="18" charset="2"/>
              </a:rPr>
              <a:t></a:t>
            </a:r>
            <a:endParaRPr lang="zh-CN" altLang="en-US" sz="4000" dirty="0">
              <a:solidFill>
                <a:srgbClr val="FF0000"/>
              </a:solidFill>
            </a:endParaRPr>
          </a:p>
        </p:txBody>
      </p:sp>
    </p:spTree>
    <p:extLst>
      <p:ext uri="{BB962C8B-B14F-4D97-AF65-F5344CB8AC3E}">
        <p14:creationId xmlns:p14="http://schemas.microsoft.com/office/powerpoint/2010/main" val="379012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wipe(left)">
                                      <p:cBhvr>
                                        <p:cTn id="27" dur="500"/>
                                        <p:tgtEl>
                                          <p:spTgt spid="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wipe(left)">
                                      <p:cBhvr>
                                        <p:cTn id="32" dur="500"/>
                                        <p:tgtEl>
                                          <p:spTgt spid="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p:bldP spid="38" grpId="0"/>
      <p:bldP spid="60" grpId="0"/>
      <p:bldP spid="6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实时调度算法的分类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2411609" y="1007815"/>
            <a:ext cx="3413760" cy="3413760"/>
          </a:xfrm>
          <a:custGeom>
            <a:avLst/>
            <a:gdLst>
              <a:gd name="connsiteX0" fmla="*/ 1706880 w 3413760"/>
              <a:gd name="connsiteY0" fmla="*/ 0 h 3413760"/>
              <a:gd name="connsiteX1" fmla="*/ 3413760 w 3413760"/>
              <a:gd name="connsiteY1" fmla="*/ 1706880 h 3413760"/>
              <a:gd name="connsiteX2" fmla="*/ 1706880 w 3413760"/>
              <a:gd name="connsiteY2" fmla="*/ 1706880 h 3413760"/>
              <a:gd name="connsiteX3" fmla="*/ 1706880 w 3413760"/>
              <a:gd name="connsiteY3" fmla="*/ 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0"/>
                </a:moveTo>
                <a:cubicBezTo>
                  <a:pt x="2649564" y="0"/>
                  <a:pt x="3413760" y="764196"/>
                  <a:pt x="3413760" y="1706880"/>
                </a:cubicBezTo>
                <a:lnTo>
                  <a:pt x="1706880" y="1706880"/>
                </a:lnTo>
                <a:lnTo>
                  <a:pt x="1706880" y="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770025" tIns="655675" rIns="432155" bIns="1790345" numCol="1" spcCol="1270" anchor="ctr" anchorCtr="0">
            <a:noAutofit/>
          </a:bodyPr>
          <a:lstStyle/>
          <a:p>
            <a:pPr algn="ctr" defTabSz="1066800">
              <a:lnSpc>
                <a:spcPct val="90000"/>
              </a:lnSpc>
              <a:spcBef>
                <a:spcPct val="0"/>
              </a:spcBef>
              <a:spcAft>
                <a:spcPct val="35000"/>
              </a:spcAft>
            </a:pPr>
            <a:r>
              <a:rPr lang="zh-CN" altLang="en-US" sz="2400" b="1" dirty="0"/>
              <a:t>静态表格驱动类</a:t>
            </a:r>
          </a:p>
        </p:txBody>
      </p:sp>
      <p:sp>
        <p:nvSpPr>
          <p:cNvPr id="34" name="任意多边形 33"/>
          <p:cNvSpPr/>
          <p:nvPr/>
        </p:nvSpPr>
        <p:spPr>
          <a:xfrm>
            <a:off x="2416888" y="1151680"/>
            <a:ext cx="3413760" cy="3413760"/>
          </a:xfrm>
          <a:custGeom>
            <a:avLst/>
            <a:gdLst>
              <a:gd name="connsiteX0" fmla="*/ 3413760 w 3413760"/>
              <a:gd name="connsiteY0" fmla="*/ 1706880 h 3413760"/>
              <a:gd name="connsiteX1" fmla="*/ 1706880 w 3413760"/>
              <a:gd name="connsiteY1" fmla="*/ 3413760 h 3413760"/>
              <a:gd name="connsiteX2" fmla="*/ 1706880 w 3413760"/>
              <a:gd name="connsiteY2" fmla="*/ 1706880 h 3413760"/>
              <a:gd name="connsiteX3" fmla="*/ 341376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3413760" y="1706880"/>
                </a:moveTo>
                <a:cubicBezTo>
                  <a:pt x="3413760" y="2649564"/>
                  <a:pt x="2649564" y="3413760"/>
                  <a:pt x="1706880" y="3413760"/>
                </a:cubicBezTo>
                <a:lnTo>
                  <a:pt x="1706880" y="1706880"/>
                </a:lnTo>
                <a:lnTo>
                  <a:pt x="341376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791970" tIns="1791970" rIns="410210" bIns="654050" numCol="1" spcCol="1270" anchor="ctr" anchorCtr="0">
            <a:noAutofit/>
          </a:bodyPr>
          <a:lstStyle/>
          <a:p>
            <a:pPr algn="ctr" defTabSz="1066800">
              <a:lnSpc>
                <a:spcPct val="90000"/>
              </a:lnSpc>
              <a:spcBef>
                <a:spcPct val="0"/>
              </a:spcBef>
              <a:spcAft>
                <a:spcPct val="35000"/>
              </a:spcAft>
            </a:pPr>
            <a:r>
              <a:rPr lang="zh-CN" altLang="en-US" sz="2000" b="1" dirty="0"/>
              <a:t>静态优先级驱动抢先式调度算法类</a:t>
            </a:r>
          </a:p>
        </p:txBody>
      </p:sp>
      <p:sp>
        <p:nvSpPr>
          <p:cNvPr id="35" name="任意多边形 34"/>
          <p:cNvSpPr/>
          <p:nvPr/>
        </p:nvSpPr>
        <p:spPr>
          <a:xfrm>
            <a:off x="2267744" y="1151680"/>
            <a:ext cx="3413760" cy="3413760"/>
          </a:xfrm>
          <a:custGeom>
            <a:avLst/>
            <a:gdLst>
              <a:gd name="connsiteX0" fmla="*/ 1706880 w 3413760"/>
              <a:gd name="connsiteY0" fmla="*/ 3413760 h 3413760"/>
              <a:gd name="connsiteX1" fmla="*/ 0 w 3413760"/>
              <a:gd name="connsiteY1" fmla="*/ 1706880 h 3413760"/>
              <a:gd name="connsiteX2" fmla="*/ 1706880 w 3413760"/>
              <a:gd name="connsiteY2" fmla="*/ 1706880 h 3413760"/>
              <a:gd name="connsiteX3" fmla="*/ 1706880 w 3413760"/>
              <a:gd name="connsiteY3" fmla="*/ 341376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3413760"/>
                </a:moveTo>
                <a:cubicBezTo>
                  <a:pt x="764196" y="3413760"/>
                  <a:pt x="0" y="2649564"/>
                  <a:pt x="0" y="1706880"/>
                </a:cubicBezTo>
                <a:lnTo>
                  <a:pt x="1706880" y="1706880"/>
                </a:lnTo>
                <a:lnTo>
                  <a:pt x="1706880" y="341376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0210" tIns="1791970" rIns="1791970" bIns="654050" numCol="1" spcCol="1270" anchor="ctr" anchorCtr="0">
            <a:noAutofit/>
          </a:bodyPr>
          <a:lstStyle/>
          <a:p>
            <a:pPr algn="ctr" defTabSz="1066800">
              <a:lnSpc>
                <a:spcPct val="90000"/>
              </a:lnSpc>
              <a:spcBef>
                <a:spcPct val="0"/>
              </a:spcBef>
              <a:spcAft>
                <a:spcPct val="35000"/>
              </a:spcAft>
            </a:pPr>
            <a:r>
              <a:rPr lang="zh-CN" altLang="en-US" sz="2400" b="1" dirty="0"/>
              <a:t>动态计划调度算法类</a:t>
            </a:r>
          </a:p>
        </p:txBody>
      </p:sp>
      <p:sp>
        <p:nvSpPr>
          <p:cNvPr id="36" name="任意多边形 35"/>
          <p:cNvSpPr/>
          <p:nvPr/>
        </p:nvSpPr>
        <p:spPr>
          <a:xfrm>
            <a:off x="2267744" y="1015166"/>
            <a:ext cx="3413760" cy="3413760"/>
          </a:xfrm>
          <a:custGeom>
            <a:avLst/>
            <a:gdLst>
              <a:gd name="connsiteX0" fmla="*/ 0 w 3413760"/>
              <a:gd name="connsiteY0" fmla="*/ 1706880 h 3413760"/>
              <a:gd name="connsiteX1" fmla="*/ 1706880 w 3413760"/>
              <a:gd name="connsiteY1" fmla="*/ 0 h 3413760"/>
              <a:gd name="connsiteX2" fmla="*/ 1706880 w 3413760"/>
              <a:gd name="connsiteY2" fmla="*/ 1706880 h 3413760"/>
              <a:gd name="connsiteX3" fmla="*/ 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0" y="1706880"/>
                </a:moveTo>
                <a:cubicBezTo>
                  <a:pt x="0" y="764196"/>
                  <a:pt x="764196" y="0"/>
                  <a:pt x="1706880" y="0"/>
                </a:cubicBezTo>
                <a:lnTo>
                  <a:pt x="1706880" y="1706880"/>
                </a:lnTo>
                <a:lnTo>
                  <a:pt x="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0210" tIns="654050" rIns="1791970" bIns="1791970" numCol="1" spcCol="1270" anchor="ctr" anchorCtr="0">
            <a:noAutofit/>
          </a:bodyPr>
          <a:lstStyle/>
          <a:p>
            <a:pPr algn="ctr" defTabSz="1066800">
              <a:lnSpc>
                <a:spcPct val="90000"/>
              </a:lnSpc>
              <a:spcBef>
                <a:spcPct val="0"/>
              </a:spcBef>
              <a:spcAft>
                <a:spcPct val="35000"/>
              </a:spcAft>
            </a:pPr>
            <a:r>
              <a:rPr lang="zh-CN" altLang="en-US" sz="2400" b="1" dirty="0"/>
              <a:t>尽力而为调度算法类</a:t>
            </a:r>
          </a:p>
        </p:txBody>
      </p:sp>
    </p:spTree>
    <p:extLst>
      <p:ext uri="{BB962C8B-B14F-4D97-AF65-F5344CB8AC3E}">
        <p14:creationId xmlns:p14="http://schemas.microsoft.com/office/powerpoint/2010/main" val="24606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34"/>
                                        </p:tgtEl>
                                      </p:cBhvr>
                                    </p:animEffect>
                                    <p:set>
                                      <p:cBhvr>
                                        <p:cTn id="27" dur="1" fill="hold">
                                          <p:stCondLst>
                                            <p:cond delay="499"/>
                                          </p:stCondLst>
                                        </p:cTn>
                                        <p:tgtEl>
                                          <p:spTgt spid="34"/>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500"/>
                                        <p:tgtEl>
                                          <p:spTgt spid="35"/>
                                        </p:tgtEl>
                                      </p:cBhvr>
                                    </p:animEffect>
                                    <p:set>
                                      <p:cBhvr>
                                        <p:cTn id="30" dur="1" fill="hold">
                                          <p:stCondLst>
                                            <p:cond delay="499"/>
                                          </p:stCondLst>
                                        </p:cTn>
                                        <p:tgtEl>
                                          <p:spTgt spid="35"/>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500"/>
                                        <p:tgtEl>
                                          <p:spTgt spid="36"/>
                                        </p:tgtEl>
                                      </p:cBhvr>
                                    </p:animEffect>
                                    <p:set>
                                      <p:cBhvr>
                                        <p:cTn id="33"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 grpId="0" animBg="1"/>
      <p:bldP spid="34" grpId="1" animBg="1"/>
      <p:bldP spid="35" grpId="0" animBg="1"/>
      <p:bldP spid="35" grpId="1" animBg="1"/>
      <p:bldP spid="36" grpId="0" animBg="1"/>
      <p:bldP spid="36"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静态表格驱动类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611560" y="1229306"/>
            <a:ext cx="7272808" cy="3416320"/>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rgbClr val="FFFF00"/>
                </a:solidFill>
                <a:latin typeface="+mn-ea"/>
              </a:rPr>
              <a:t>静态表格驱动类</a:t>
            </a:r>
            <a:r>
              <a:rPr lang="zh-CN" altLang="en-US" sz="2400" b="1" dirty="0">
                <a:solidFill>
                  <a:schemeClr val="bg1"/>
                </a:solidFill>
                <a:latin typeface="+mn-ea"/>
              </a:rPr>
              <a:t>的实时调度算法，对可能的调度条件和参数进行静态分析，并将分析结果作为实际调度结果。这类调度方法多用于调度处理周期性</a:t>
            </a:r>
            <a:r>
              <a:rPr lang="zh-CN" altLang="en-US" sz="2400" b="1" dirty="0" smtClean="0">
                <a:solidFill>
                  <a:schemeClr val="bg1"/>
                </a:solidFill>
                <a:latin typeface="+mn-ea"/>
              </a:rPr>
              <a:t>任务。</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最早</a:t>
            </a:r>
            <a:r>
              <a:rPr lang="zh-CN" altLang="en-US" sz="2400" b="1" dirty="0">
                <a:solidFill>
                  <a:srgbClr val="FFFF00"/>
                </a:solidFill>
                <a:latin typeface="+mn-ea"/>
              </a:rPr>
              <a:t>时限优先法</a:t>
            </a:r>
            <a:r>
              <a:rPr lang="zh-CN" altLang="en-US" sz="2400" b="1" dirty="0">
                <a:solidFill>
                  <a:schemeClr val="bg1"/>
                </a:solidFill>
                <a:latin typeface="+mn-ea"/>
              </a:rPr>
              <a:t>是比较</a:t>
            </a:r>
            <a:r>
              <a:rPr lang="zh-CN" altLang="en-US" sz="2400" b="1" dirty="0">
                <a:solidFill>
                  <a:srgbClr val="FFFF00"/>
                </a:solidFill>
                <a:latin typeface="+mn-ea"/>
              </a:rPr>
              <a:t>典型</a:t>
            </a:r>
            <a:r>
              <a:rPr lang="zh-CN" altLang="en-US" sz="2400" b="1" dirty="0">
                <a:solidFill>
                  <a:schemeClr val="bg1"/>
                </a:solidFill>
                <a:latin typeface="+mn-ea"/>
              </a:rPr>
              <a:t>的</a:t>
            </a:r>
            <a:r>
              <a:rPr lang="zh-CN" altLang="en-US" sz="2400" b="1" dirty="0">
                <a:solidFill>
                  <a:srgbClr val="FFFF00"/>
                </a:solidFill>
                <a:latin typeface="+mn-ea"/>
              </a:rPr>
              <a:t>静态表格驱动算法</a:t>
            </a:r>
            <a:r>
              <a:rPr lang="zh-CN" altLang="en-US" sz="2400" b="1" dirty="0">
                <a:solidFill>
                  <a:schemeClr val="bg1"/>
                </a:solidFill>
                <a:latin typeface="+mn-ea"/>
              </a:rPr>
              <a:t>。这里，最早时限优先法是优先调度时限最早的任务获得处理机的调度方法。</a:t>
            </a:r>
          </a:p>
        </p:txBody>
      </p:sp>
      <p:sp>
        <p:nvSpPr>
          <p:cNvPr id="2" name="线形标注 2 1"/>
          <p:cNvSpPr/>
          <p:nvPr/>
        </p:nvSpPr>
        <p:spPr>
          <a:xfrm>
            <a:off x="4788024" y="264147"/>
            <a:ext cx="2952328" cy="1062053"/>
          </a:xfrm>
          <a:prstGeom prst="borderCallout2">
            <a:avLst>
              <a:gd name="adj1" fmla="val 18750"/>
              <a:gd name="adj2" fmla="val -8333"/>
              <a:gd name="adj3" fmla="val 18750"/>
              <a:gd name="adj4" fmla="val -16667"/>
              <a:gd name="adj5" fmla="val 159553"/>
              <a:gd name="adj6" fmla="val -58192"/>
            </a:avLst>
          </a:prstGeom>
          <a:ln w="38100"/>
        </p:spPr>
        <p:style>
          <a:lnRef idx="1">
            <a:schemeClr val="accent4"/>
          </a:lnRef>
          <a:fillRef idx="2">
            <a:schemeClr val="accent4"/>
          </a:fillRef>
          <a:effectRef idx="1">
            <a:schemeClr val="accent4"/>
          </a:effectRef>
          <a:fontRef idx="minor">
            <a:schemeClr val="dk1"/>
          </a:fontRef>
        </p:style>
        <p:txBody>
          <a:bodyPr rtlCol="0" anchor="ctr"/>
          <a:lstStyle/>
          <a:p>
            <a:pPr algn="just"/>
            <a:r>
              <a:rPr lang="zh-CN" altLang="en-US" sz="2000" b="1" dirty="0">
                <a:solidFill>
                  <a:schemeClr val="tx1"/>
                </a:solidFill>
                <a:latin typeface="+mn-ea"/>
              </a:rPr>
              <a:t>其主要分析参数为</a:t>
            </a:r>
            <a:r>
              <a:rPr lang="zh-CN" altLang="en-US" sz="2000" b="1" dirty="0">
                <a:solidFill>
                  <a:srgbClr val="FF0000"/>
                </a:solidFill>
                <a:latin typeface="+mn-ea"/>
              </a:rPr>
              <a:t>周期</a:t>
            </a:r>
            <a:r>
              <a:rPr lang="zh-CN" altLang="en-US" sz="2000" b="1" dirty="0">
                <a:solidFill>
                  <a:schemeClr val="tx1"/>
                </a:solidFill>
                <a:latin typeface="+mn-ea"/>
              </a:rPr>
              <a:t>，</a:t>
            </a:r>
            <a:r>
              <a:rPr lang="zh-CN" altLang="en-US" sz="2000" b="1" dirty="0">
                <a:solidFill>
                  <a:srgbClr val="FF0000"/>
                </a:solidFill>
                <a:latin typeface="+mn-ea"/>
              </a:rPr>
              <a:t>执行时间</a:t>
            </a:r>
            <a:r>
              <a:rPr lang="zh-CN" altLang="en-US" sz="2000" b="1" dirty="0">
                <a:solidFill>
                  <a:schemeClr val="tx1"/>
                </a:solidFill>
                <a:latin typeface="+mn-ea"/>
              </a:rPr>
              <a:t>、</a:t>
            </a:r>
            <a:r>
              <a:rPr lang="zh-CN" altLang="en-US" sz="2000" b="1" dirty="0" smtClean="0">
                <a:solidFill>
                  <a:srgbClr val="FF0000"/>
                </a:solidFill>
                <a:latin typeface="+mn-ea"/>
              </a:rPr>
              <a:t>周期执行</a:t>
            </a:r>
            <a:r>
              <a:rPr lang="zh-CN" altLang="en-US" sz="2000" b="1" dirty="0">
                <a:solidFill>
                  <a:srgbClr val="FF0000"/>
                </a:solidFill>
                <a:latin typeface="+mn-ea"/>
              </a:rPr>
              <a:t>结束时限</a:t>
            </a:r>
            <a:r>
              <a:rPr lang="zh-CN" altLang="en-US" sz="2000" b="1" dirty="0">
                <a:solidFill>
                  <a:schemeClr val="tx1"/>
                </a:solidFill>
                <a:latin typeface="+mn-ea"/>
              </a:rPr>
              <a:t>和</a:t>
            </a:r>
            <a:r>
              <a:rPr lang="zh-CN" altLang="en-US" sz="2000" b="1" dirty="0">
                <a:solidFill>
                  <a:srgbClr val="FF0000"/>
                </a:solidFill>
                <a:latin typeface="+mn-ea"/>
              </a:rPr>
              <a:t>任务优先级</a:t>
            </a:r>
            <a:r>
              <a:rPr lang="zh-CN" altLang="en-US" sz="2000" b="1" dirty="0">
                <a:solidFill>
                  <a:schemeClr val="tx1"/>
                </a:solidFill>
                <a:latin typeface="+mn-ea"/>
              </a:rPr>
              <a:t>等</a:t>
            </a:r>
            <a:endParaRPr lang="zh-CN" altLang="en-US" sz="2000" b="1" dirty="0">
              <a:solidFill>
                <a:schemeClr val="tx1"/>
              </a:solidFill>
            </a:endParaRPr>
          </a:p>
        </p:txBody>
      </p:sp>
    </p:spTree>
    <p:extLst>
      <p:ext uri="{BB962C8B-B14F-4D97-AF65-F5344CB8AC3E}">
        <p14:creationId xmlns:p14="http://schemas.microsoft.com/office/powerpoint/2010/main" val="344814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静态表格驱动类</a:t>
            </a:r>
            <a:r>
              <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时限优先调度算法</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5328946" y="1532951"/>
            <a:ext cx="2104235" cy="2308324"/>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时限调度算法所需要的相关输入信息</a:t>
            </a:r>
            <a:r>
              <a:rPr lang="zh-CN" altLang="en-US" sz="2400" b="1" dirty="0" smtClean="0">
                <a:solidFill>
                  <a:schemeClr val="bg1"/>
                </a:solidFill>
                <a:latin typeface="+mn-ea"/>
              </a:rPr>
              <a:t>包括</a:t>
            </a:r>
            <a:r>
              <a:rPr lang="zh-CN" altLang="en-US" sz="2400" b="1" dirty="0">
                <a:solidFill>
                  <a:schemeClr val="bg1"/>
                </a:solidFill>
                <a:latin typeface="+mn-ea"/>
              </a:rPr>
              <a:t>左面</a:t>
            </a:r>
            <a:r>
              <a:rPr lang="zh-CN" altLang="en-US" sz="2400" b="1" dirty="0" smtClean="0">
                <a:solidFill>
                  <a:schemeClr val="bg1"/>
                </a:solidFill>
                <a:latin typeface="+mn-ea"/>
              </a:rPr>
              <a:t>几种</a:t>
            </a:r>
            <a:r>
              <a:rPr lang="zh-CN" altLang="en-US" sz="2400" b="1" dirty="0">
                <a:solidFill>
                  <a:schemeClr val="bg1"/>
                </a:solidFill>
                <a:latin typeface="+mn-ea"/>
              </a:rPr>
              <a:t>：</a:t>
            </a:r>
          </a:p>
        </p:txBody>
      </p:sp>
      <p:grpSp>
        <p:nvGrpSpPr>
          <p:cNvPr id="4" name="组合 3"/>
          <p:cNvGrpSpPr/>
          <p:nvPr/>
        </p:nvGrpSpPr>
        <p:grpSpPr>
          <a:xfrm>
            <a:off x="799015" y="1015376"/>
            <a:ext cx="5083892" cy="4009262"/>
            <a:chOff x="1248652" y="1062966"/>
            <a:chExt cx="5083892" cy="4009262"/>
          </a:xfrm>
        </p:grpSpPr>
        <p:sp>
          <p:nvSpPr>
            <p:cNvPr id="5" name="直角上箭头 4"/>
            <p:cNvSpPr/>
            <p:nvPr/>
          </p:nvSpPr>
          <p:spPr>
            <a:xfrm rot="5400000">
              <a:off x="1384892" y="1633001"/>
              <a:ext cx="514230" cy="585433"/>
            </a:xfrm>
            <a:prstGeom prst="bentUpArrow">
              <a:avLst>
                <a:gd name="adj1" fmla="val 32840"/>
                <a:gd name="adj2" fmla="val 25000"/>
                <a:gd name="adj3" fmla="val 35780"/>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0"/>
                <a:satOff val="0"/>
                <a:lumOff val="0"/>
                <a:alphaOff val="0"/>
              </a:schemeClr>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6" name="任意多边形 5"/>
            <p:cNvSpPr/>
            <p:nvPr/>
          </p:nvSpPr>
          <p:spPr>
            <a:xfrm>
              <a:off x="1248652" y="1062966"/>
              <a:ext cx="4366166"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67685" tIns="67685" rIns="67685" bIns="67685" numCol="1" spcCol="1270" anchor="ctr" anchorCtr="0">
              <a:noAutofit/>
            </a:bodyPr>
            <a:lstStyle/>
            <a:p>
              <a:pPr algn="ctr" defTabSz="1066800">
                <a:lnSpc>
                  <a:spcPct val="90000"/>
                </a:lnSpc>
                <a:spcBef>
                  <a:spcPct val="0"/>
                </a:spcBef>
                <a:spcAft>
                  <a:spcPct val="35000"/>
                </a:spcAft>
              </a:pPr>
              <a:r>
                <a:rPr lang="zh-CN" altLang="en-US" sz="2400" b="1" dirty="0"/>
                <a:t>任务就绪时间或事件到达时间</a:t>
              </a:r>
            </a:p>
          </p:txBody>
        </p:sp>
        <p:sp>
          <p:nvSpPr>
            <p:cNvPr id="7" name="任意多边形 6"/>
            <p:cNvSpPr/>
            <p:nvPr/>
          </p:nvSpPr>
          <p:spPr>
            <a:xfrm>
              <a:off x="2114315" y="1120756"/>
              <a:ext cx="629600" cy="489743"/>
            </a:xfrm>
            <a:custGeom>
              <a:avLst/>
              <a:gdLst>
                <a:gd name="connsiteX0" fmla="*/ 0 w 629600"/>
                <a:gd name="connsiteY0" fmla="*/ 0 h 489743"/>
                <a:gd name="connsiteX1" fmla="*/ 629600 w 629600"/>
                <a:gd name="connsiteY1" fmla="*/ 0 h 489743"/>
                <a:gd name="connsiteX2" fmla="*/ 629600 w 629600"/>
                <a:gd name="connsiteY2" fmla="*/ 489743 h 489743"/>
                <a:gd name="connsiteX3" fmla="*/ 0 w 629600"/>
                <a:gd name="connsiteY3" fmla="*/ 489743 h 489743"/>
                <a:gd name="connsiteX4" fmla="*/ 0 w 629600"/>
                <a:gd name="connsiteY4" fmla="*/ 0 h 489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600" h="489743">
                  <a:moveTo>
                    <a:pt x="0" y="0"/>
                  </a:moveTo>
                  <a:lnTo>
                    <a:pt x="629600" y="0"/>
                  </a:lnTo>
                  <a:lnTo>
                    <a:pt x="629600" y="489743"/>
                  </a:lnTo>
                  <a:lnTo>
                    <a:pt x="0" y="48974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endParaRPr lang="zh-CN" altLang="en-US" sz="800" kern="1200"/>
            </a:p>
          </p:txBody>
        </p:sp>
        <p:sp>
          <p:nvSpPr>
            <p:cNvPr id="8" name="直角上箭头 7"/>
            <p:cNvSpPr/>
            <p:nvPr/>
          </p:nvSpPr>
          <p:spPr>
            <a:xfrm rot="5400000">
              <a:off x="2102618" y="2313667"/>
              <a:ext cx="514230" cy="585433"/>
            </a:xfrm>
            <a:prstGeom prst="bentUpArrow">
              <a:avLst>
                <a:gd name="adj1" fmla="val 32840"/>
                <a:gd name="adj2" fmla="val 25000"/>
                <a:gd name="adj3" fmla="val 35780"/>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981348"/>
                <a:satOff val="4941"/>
                <a:lumOff val="3181"/>
                <a:alphaOff val="0"/>
              </a:schemeClr>
            </a:fillRef>
            <a:effectRef idx="0">
              <a:schemeClr val="accent4">
                <a:tint val="50000"/>
                <a:hueOff val="-981348"/>
                <a:satOff val="4941"/>
                <a:lumOff val="3181"/>
                <a:alphaOff val="0"/>
              </a:schemeClr>
            </a:effectRef>
            <a:fontRef idx="minor">
              <a:schemeClr val="lt1">
                <a:hueOff val="0"/>
                <a:satOff val="0"/>
                <a:lumOff val="0"/>
                <a:alphaOff val="0"/>
              </a:schemeClr>
            </a:fontRef>
          </p:style>
        </p:sp>
        <p:sp>
          <p:nvSpPr>
            <p:cNvPr id="9" name="任意多边形 8"/>
            <p:cNvSpPr/>
            <p:nvPr/>
          </p:nvSpPr>
          <p:spPr>
            <a:xfrm>
              <a:off x="1966378" y="1743632"/>
              <a:ext cx="1885542"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892954"/>
                <a:satOff val="5380"/>
                <a:lumOff val="431"/>
                <a:alphaOff val="0"/>
              </a:schemeClr>
            </a:fillRef>
            <a:effectRef idx="2">
              <a:schemeClr val="accent4">
                <a:hueOff val="-892954"/>
                <a:satOff val="5380"/>
                <a:lumOff val="431"/>
                <a:alphaOff val="0"/>
              </a:schemeClr>
            </a:effectRef>
            <a:fontRef idx="minor">
              <a:schemeClr val="lt1"/>
            </a:fontRef>
          </p:style>
          <p:txBody>
            <a:bodyPr spcFirstLastPara="0" vert="horz" wrap="square" lIns="67685" tIns="67685" rIns="67685" bIns="67685" numCol="1" spcCol="1270" anchor="ctr" anchorCtr="0">
              <a:noAutofit/>
            </a:bodyPr>
            <a:lstStyle/>
            <a:p>
              <a:pPr lvl="0" algn="ctr" defTabSz="444500">
                <a:lnSpc>
                  <a:spcPct val="90000"/>
                </a:lnSpc>
                <a:spcBef>
                  <a:spcPct val="0"/>
                </a:spcBef>
                <a:spcAft>
                  <a:spcPct val="35000"/>
                </a:spcAft>
              </a:pPr>
              <a:r>
                <a:rPr lang="zh-CN" altLang="en-US" sz="2400" b="1" dirty="0"/>
                <a:t>开始时限</a:t>
              </a:r>
            </a:p>
          </p:txBody>
        </p:sp>
        <p:sp>
          <p:nvSpPr>
            <p:cNvPr id="10" name="任意多边形 9"/>
            <p:cNvSpPr/>
            <p:nvPr/>
          </p:nvSpPr>
          <p:spPr>
            <a:xfrm>
              <a:off x="2832041" y="1801421"/>
              <a:ext cx="629600" cy="489743"/>
            </a:xfrm>
            <a:custGeom>
              <a:avLst/>
              <a:gdLst>
                <a:gd name="connsiteX0" fmla="*/ 0 w 629600"/>
                <a:gd name="connsiteY0" fmla="*/ 0 h 489743"/>
                <a:gd name="connsiteX1" fmla="*/ 629600 w 629600"/>
                <a:gd name="connsiteY1" fmla="*/ 0 h 489743"/>
                <a:gd name="connsiteX2" fmla="*/ 629600 w 629600"/>
                <a:gd name="connsiteY2" fmla="*/ 489743 h 489743"/>
                <a:gd name="connsiteX3" fmla="*/ 0 w 629600"/>
                <a:gd name="connsiteY3" fmla="*/ 489743 h 489743"/>
                <a:gd name="connsiteX4" fmla="*/ 0 w 629600"/>
                <a:gd name="connsiteY4" fmla="*/ 0 h 489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600" h="489743">
                  <a:moveTo>
                    <a:pt x="0" y="0"/>
                  </a:moveTo>
                  <a:lnTo>
                    <a:pt x="629600" y="0"/>
                  </a:lnTo>
                  <a:lnTo>
                    <a:pt x="629600" y="489743"/>
                  </a:lnTo>
                  <a:lnTo>
                    <a:pt x="0" y="48974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8100" tIns="38100" rIns="38100" bIns="38100" numCol="1" spcCol="1270" anchor="ctr" anchorCtr="0">
              <a:noAutofit/>
            </a:bodyPr>
            <a:lstStyle/>
            <a:p>
              <a:pPr marL="57150" lvl="1" indent="-57150" algn="l" defTabSz="355600">
                <a:lnSpc>
                  <a:spcPct val="90000"/>
                </a:lnSpc>
                <a:spcBef>
                  <a:spcPct val="0"/>
                </a:spcBef>
                <a:spcAft>
                  <a:spcPct val="15000"/>
                </a:spcAft>
                <a:buChar char="••"/>
              </a:pPr>
              <a:endParaRPr lang="zh-CN" altLang="en-US" sz="800" kern="1200"/>
            </a:p>
          </p:txBody>
        </p:sp>
        <p:sp>
          <p:nvSpPr>
            <p:cNvPr id="11" name="直角上箭头 10"/>
            <p:cNvSpPr/>
            <p:nvPr/>
          </p:nvSpPr>
          <p:spPr>
            <a:xfrm rot="5400000">
              <a:off x="2820344" y="2994332"/>
              <a:ext cx="514230" cy="585433"/>
            </a:xfrm>
            <a:prstGeom prst="bentUpArrow">
              <a:avLst>
                <a:gd name="adj1" fmla="val 32840"/>
                <a:gd name="adj2" fmla="val 25000"/>
                <a:gd name="adj3" fmla="val 35780"/>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1962696"/>
                <a:satOff val="9881"/>
                <a:lumOff val="6361"/>
                <a:alphaOff val="0"/>
              </a:schemeClr>
            </a:fillRef>
            <a:effectRef idx="0">
              <a:schemeClr val="accent4">
                <a:tint val="50000"/>
                <a:hueOff val="-1962696"/>
                <a:satOff val="9881"/>
                <a:lumOff val="6361"/>
                <a:alphaOff val="0"/>
              </a:schemeClr>
            </a:effectRef>
            <a:fontRef idx="minor">
              <a:schemeClr val="lt1">
                <a:hueOff val="0"/>
                <a:satOff val="0"/>
                <a:lumOff val="0"/>
                <a:alphaOff val="0"/>
              </a:schemeClr>
            </a:fontRef>
          </p:style>
        </p:sp>
        <p:sp>
          <p:nvSpPr>
            <p:cNvPr id="12" name="任意多边形 11"/>
            <p:cNvSpPr/>
            <p:nvPr/>
          </p:nvSpPr>
          <p:spPr>
            <a:xfrm>
              <a:off x="2668276" y="2419276"/>
              <a:ext cx="1831715"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1785908"/>
                <a:satOff val="10760"/>
                <a:lumOff val="862"/>
                <a:alphaOff val="0"/>
              </a:schemeClr>
            </a:fillRef>
            <a:effectRef idx="2">
              <a:schemeClr val="accent4">
                <a:hueOff val="-1785908"/>
                <a:satOff val="10760"/>
                <a:lumOff val="862"/>
                <a:alphaOff val="0"/>
              </a:schemeClr>
            </a:effectRef>
            <a:fontRef idx="minor">
              <a:schemeClr val="lt1"/>
            </a:fontRef>
          </p:style>
          <p:txBody>
            <a:bodyPr spcFirstLastPara="0" vert="horz" wrap="square" lIns="67685" tIns="67685" rIns="67685" bIns="67685" numCol="1" spcCol="1270" anchor="ctr" anchorCtr="0">
              <a:noAutofit/>
            </a:bodyPr>
            <a:lstStyle/>
            <a:p>
              <a:pPr lvl="0" algn="ctr" defTabSz="444500">
                <a:lnSpc>
                  <a:spcPct val="90000"/>
                </a:lnSpc>
                <a:spcBef>
                  <a:spcPct val="0"/>
                </a:spcBef>
                <a:spcAft>
                  <a:spcPct val="35000"/>
                </a:spcAft>
              </a:pPr>
              <a:r>
                <a:rPr lang="zh-CN" altLang="en-US" sz="2400" b="1" dirty="0"/>
                <a:t>完成时限</a:t>
              </a:r>
            </a:p>
          </p:txBody>
        </p:sp>
        <p:sp>
          <p:nvSpPr>
            <p:cNvPr id="13" name="矩形 12"/>
            <p:cNvSpPr/>
            <p:nvPr/>
          </p:nvSpPr>
          <p:spPr>
            <a:xfrm>
              <a:off x="3549767" y="2482087"/>
              <a:ext cx="629600" cy="48974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直角上箭头 28"/>
            <p:cNvSpPr/>
            <p:nvPr/>
          </p:nvSpPr>
          <p:spPr>
            <a:xfrm rot="5400000">
              <a:off x="3538070" y="3674998"/>
              <a:ext cx="514230" cy="585433"/>
            </a:xfrm>
            <a:prstGeom prst="bentUpArrow">
              <a:avLst>
                <a:gd name="adj1" fmla="val 32840"/>
                <a:gd name="adj2" fmla="val 25000"/>
                <a:gd name="adj3" fmla="val 35780"/>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2944044"/>
                <a:satOff val="14822"/>
                <a:lumOff val="9542"/>
                <a:alphaOff val="0"/>
              </a:schemeClr>
            </a:fillRef>
            <a:effectRef idx="0">
              <a:schemeClr val="accent4">
                <a:tint val="50000"/>
                <a:hueOff val="-2944044"/>
                <a:satOff val="14822"/>
                <a:lumOff val="9542"/>
                <a:alphaOff val="0"/>
              </a:schemeClr>
            </a:effectRef>
            <a:fontRef idx="minor">
              <a:schemeClr val="lt1">
                <a:hueOff val="0"/>
                <a:satOff val="0"/>
                <a:lumOff val="0"/>
                <a:alphaOff val="0"/>
              </a:schemeClr>
            </a:fontRef>
          </p:style>
        </p:sp>
        <p:sp>
          <p:nvSpPr>
            <p:cNvPr id="30" name="任意多边形 29"/>
            <p:cNvSpPr/>
            <p:nvPr/>
          </p:nvSpPr>
          <p:spPr>
            <a:xfrm>
              <a:off x="3401830" y="3104962"/>
              <a:ext cx="1495262"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2678862"/>
                <a:satOff val="16139"/>
                <a:lumOff val="1294"/>
                <a:alphaOff val="0"/>
              </a:schemeClr>
            </a:fillRef>
            <a:effectRef idx="2">
              <a:schemeClr val="accent4">
                <a:hueOff val="-2678862"/>
                <a:satOff val="16139"/>
                <a:lumOff val="1294"/>
                <a:alphaOff val="0"/>
              </a:schemeClr>
            </a:effectRef>
            <a:fontRef idx="minor">
              <a:schemeClr val="lt1"/>
            </a:fontRef>
          </p:style>
          <p:txBody>
            <a:bodyPr spcFirstLastPara="0" vert="horz" wrap="square" lIns="67685" tIns="67685" rIns="67685" bIns="67685" numCol="1" spcCol="1270" anchor="ctr" anchorCtr="0">
              <a:noAutofit/>
            </a:bodyPr>
            <a:lstStyle/>
            <a:p>
              <a:pPr lvl="0" algn="ctr" defTabSz="444500">
                <a:lnSpc>
                  <a:spcPct val="90000"/>
                </a:lnSpc>
                <a:spcBef>
                  <a:spcPct val="0"/>
                </a:spcBef>
                <a:spcAft>
                  <a:spcPct val="35000"/>
                </a:spcAft>
              </a:pPr>
              <a:r>
                <a:rPr lang="zh-CN" altLang="en-US" sz="2400" b="1" dirty="0"/>
                <a:t>处理时间</a:t>
              </a:r>
            </a:p>
          </p:txBody>
        </p:sp>
        <p:sp>
          <p:nvSpPr>
            <p:cNvPr id="31" name="矩形 30"/>
            <p:cNvSpPr/>
            <p:nvPr/>
          </p:nvSpPr>
          <p:spPr>
            <a:xfrm>
              <a:off x="4267492" y="3162752"/>
              <a:ext cx="629600" cy="48974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直角上箭头 31"/>
            <p:cNvSpPr/>
            <p:nvPr/>
          </p:nvSpPr>
          <p:spPr>
            <a:xfrm rot="5400000">
              <a:off x="4255796" y="4355663"/>
              <a:ext cx="514230" cy="585433"/>
            </a:xfrm>
            <a:prstGeom prst="bentUpArrow">
              <a:avLst>
                <a:gd name="adj1" fmla="val 32840"/>
                <a:gd name="adj2" fmla="val 25000"/>
                <a:gd name="adj3" fmla="val 35780"/>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3925392"/>
                <a:satOff val="19763"/>
                <a:lumOff val="12722"/>
                <a:alphaOff val="0"/>
              </a:schemeClr>
            </a:fillRef>
            <a:effectRef idx="0">
              <a:schemeClr val="accent4">
                <a:tint val="50000"/>
                <a:hueOff val="-3925392"/>
                <a:satOff val="19763"/>
                <a:lumOff val="12722"/>
                <a:alphaOff val="0"/>
              </a:schemeClr>
            </a:effectRef>
            <a:fontRef idx="minor">
              <a:schemeClr val="lt1">
                <a:hueOff val="0"/>
                <a:satOff val="0"/>
                <a:lumOff val="0"/>
                <a:alphaOff val="0"/>
              </a:schemeClr>
            </a:fontRef>
          </p:style>
        </p:sp>
        <p:sp>
          <p:nvSpPr>
            <p:cNvPr id="33" name="任意多边形 32"/>
            <p:cNvSpPr/>
            <p:nvPr/>
          </p:nvSpPr>
          <p:spPr>
            <a:xfrm>
              <a:off x="4119556" y="3785628"/>
              <a:ext cx="1495262"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3571816"/>
                <a:satOff val="21519"/>
                <a:lumOff val="1725"/>
                <a:alphaOff val="0"/>
              </a:schemeClr>
            </a:fillRef>
            <a:effectRef idx="2">
              <a:schemeClr val="accent4">
                <a:hueOff val="-3571816"/>
                <a:satOff val="21519"/>
                <a:lumOff val="1725"/>
                <a:alphaOff val="0"/>
              </a:schemeClr>
            </a:effectRef>
            <a:fontRef idx="minor">
              <a:schemeClr val="lt1"/>
            </a:fontRef>
          </p:style>
          <p:txBody>
            <a:bodyPr spcFirstLastPara="0" vert="horz" wrap="square" lIns="67685" tIns="67685" rIns="67685" bIns="67685" numCol="1" spcCol="1270" anchor="ctr" anchorCtr="0">
              <a:noAutofit/>
            </a:bodyPr>
            <a:lstStyle/>
            <a:p>
              <a:pPr lvl="0" algn="ctr" defTabSz="444500">
                <a:lnSpc>
                  <a:spcPct val="90000"/>
                </a:lnSpc>
                <a:spcBef>
                  <a:spcPct val="0"/>
                </a:spcBef>
                <a:spcAft>
                  <a:spcPct val="35000"/>
                </a:spcAft>
              </a:pPr>
              <a:r>
                <a:rPr lang="zh-CN" altLang="en-US" sz="2400" b="1" dirty="0">
                  <a:solidFill>
                    <a:schemeClr val="tx1"/>
                  </a:solidFill>
                </a:rPr>
                <a:t>资源需求</a:t>
              </a:r>
            </a:p>
          </p:txBody>
        </p:sp>
        <p:sp>
          <p:nvSpPr>
            <p:cNvPr id="34" name="矩形 33"/>
            <p:cNvSpPr/>
            <p:nvPr/>
          </p:nvSpPr>
          <p:spPr>
            <a:xfrm>
              <a:off x="4985218" y="3843418"/>
              <a:ext cx="629600" cy="48974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任意多边形 34"/>
            <p:cNvSpPr/>
            <p:nvPr/>
          </p:nvSpPr>
          <p:spPr>
            <a:xfrm>
              <a:off x="4837282" y="4466293"/>
              <a:ext cx="1495262" cy="605935"/>
            </a:xfrm>
            <a:custGeom>
              <a:avLst/>
              <a:gdLst>
                <a:gd name="connsiteX0" fmla="*/ 0 w 865662"/>
                <a:gd name="connsiteY0" fmla="*/ 101009 h 605935"/>
                <a:gd name="connsiteX1" fmla="*/ 101009 w 865662"/>
                <a:gd name="connsiteY1" fmla="*/ 0 h 605935"/>
                <a:gd name="connsiteX2" fmla="*/ 764653 w 865662"/>
                <a:gd name="connsiteY2" fmla="*/ 0 h 605935"/>
                <a:gd name="connsiteX3" fmla="*/ 865662 w 865662"/>
                <a:gd name="connsiteY3" fmla="*/ 101009 h 605935"/>
                <a:gd name="connsiteX4" fmla="*/ 865662 w 865662"/>
                <a:gd name="connsiteY4" fmla="*/ 504926 h 605935"/>
                <a:gd name="connsiteX5" fmla="*/ 764653 w 865662"/>
                <a:gd name="connsiteY5" fmla="*/ 605935 h 605935"/>
                <a:gd name="connsiteX6" fmla="*/ 101009 w 865662"/>
                <a:gd name="connsiteY6" fmla="*/ 605935 h 605935"/>
                <a:gd name="connsiteX7" fmla="*/ 0 w 865662"/>
                <a:gd name="connsiteY7" fmla="*/ 504926 h 605935"/>
                <a:gd name="connsiteX8" fmla="*/ 0 w 865662"/>
                <a:gd name="connsiteY8" fmla="*/ 101009 h 60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5662" h="605935">
                  <a:moveTo>
                    <a:pt x="0" y="101009"/>
                  </a:moveTo>
                  <a:cubicBezTo>
                    <a:pt x="0" y="45223"/>
                    <a:pt x="45223" y="0"/>
                    <a:pt x="101009" y="0"/>
                  </a:cubicBezTo>
                  <a:lnTo>
                    <a:pt x="764653" y="0"/>
                  </a:lnTo>
                  <a:cubicBezTo>
                    <a:pt x="820439" y="0"/>
                    <a:pt x="865662" y="45223"/>
                    <a:pt x="865662" y="101009"/>
                  </a:cubicBezTo>
                  <a:lnTo>
                    <a:pt x="865662" y="504926"/>
                  </a:lnTo>
                  <a:cubicBezTo>
                    <a:pt x="865662" y="560712"/>
                    <a:pt x="820439" y="605935"/>
                    <a:pt x="764653" y="605935"/>
                  </a:cubicBezTo>
                  <a:lnTo>
                    <a:pt x="101009" y="605935"/>
                  </a:lnTo>
                  <a:cubicBezTo>
                    <a:pt x="45223" y="605935"/>
                    <a:pt x="0" y="560712"/>
                    <a:pt x="0" y="504926"/>
                  </a:cubicBezTo>
                  <a:lnTo>
                    <a:pt x="0" y="101009"/>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4464770"/>
                <a:satOff val="26899"/>
                <a:lumOff val="2156"/>
                <a:alphaOff val="0"/>
              </a:schemeClr>
            </a:fillRef>
            <a:effectRef idx="2">
              <a:schemeClr val="accent4">
                <a:hueOff val="-4464770"/>
                <a:satOff val="26899"/>
                <a:lumOff val="2156"/>
                <a:alphaOff val="0"/>
              </a:schemeClr>
            </a:effectRef>
            <a:fontRef idx="minor">
              <a:schemeClr val="lt1"/>
            </a:fontRef>
          </p:style>
          <p:txBody>
            <a:bodyPr spcFirstLastPara="0" vert="horz" wrap="square" lIns="67685" tIns="67685" rIns="67685" bIns="67685" numCol="1" spcCol="1270" anchor="ctr" anchorCtr="0">
              <a:noAutofit/>
            </a:bodyPr>
            <a:lstStyle/>
            <a:p>
              <a:pPr lvl="0" algn="ctr" defTabSz="444500">
                <a:lnSpc>
                  <a:spcPct val="90000"/>
                </a:lnSpc>
                <a:spcBef>
                  <a:spcPct val="0"/>
                </a:spcBef>
                <a:spcAft>
                  <a:spcPct val="35000"/>
                </a:spcAft>
              </a:pPr>
              <a:r>
                <a:rPr lang="zh-CN" altLang="en-US" sz="2400" b="1" dirty="0">
                  <a:solidFill>
                    <a:schemeClr val="tx1"/>
                  </a:solidFill>
                </a:rPr>
                <a:t>优先级</a:t>
              </a:r>
            </a:p>
          </p:txBody>
        </p:sp>
        <p:sp>
          <p:nvSpPr>
            <p:cNvPr id="36" name="任意多边形 35"/>
            <p:cNvSpPr/>
            <p:nvPr/>
          </p:nvSpPr>
          <p:spPr>
            <a:xfrm>
              <a:off x="5702944" y="4524083"/>
              <a:ext cx="629600" cy="489743"/>
            </a:xfrm>
            <a:custGeom>
              <a:avLst/>
              <a:gdLst>
                <a:gd name="connsiteX0" fmla="*/ 0 w 629600"/>
                <a:gd name="connsiteY0" fmla="*/ 0 h 489743"/>
                <a:gd name="connsiteX1" fmla="*/ 629600 w 629600"/>
                <a:gd name="connsiteY1" fmla="*/ 0 h 489743"/>
                <a:gd name="connsiteX2" fmla="*/ 629600 w 629600"/>
                <a:gd name="connsiteY2" fmla="*/ 489743 h 489743"/>
                <a:gd name="connsiteX3" fmla="*/ 0 w 629600"/>
                <a:gd name="connsiteY3" fmla="*/ 489743 h 489743"/>
                <a:gd name="connsiteX4" fmla="*/ 0 w 629600"/>
                <a:gd name="connsiteY4" fmla="*/ 0 h 489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600" h="489743">
                  <a:moveTo>
                    <a:pt x="0" y="0"/>
                  </a:moveTo>
                  <a:lnTo>
                    <a:pt x="629600" y="0"/>
                  </a:lnTo>
                  <a:lnTo>
                    <a:pt x="629600" y="489743"/>
                  </a:lnTo>
                  <a:lnTo>
                    <a:pt x="0" y="48974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4770" tIns="64770" rIns="64770" bIns="64770" numCol="1" spcCol="1270" anchor="ctr" anchorCtr="0">
              <a:noAutofit/>
            </a:bodyPr>
            <a:lstStyle/>
            <a:p>
              <a:pPr marL="114300" lvl="1" indent="-114300" algn="l" defTabSz="577850">
                <a:lnSpc>
                  <a:spcPct val="90000"/>
                </a:lnSpc>
                <a:spcBef>
                  <a:spcPct val="0"/>
                </a:spcBef>
                <a:spcAft>
                  <a:spcPct val="15000"/>
                </a:spcAft>
                <a:buChar char="••"/>
              </a:pPr>
              <a:endParaRPr lang="zh-CN" altLang="en-US" sz="1300" kern="1200"/>
            </a:p>
          </p:txBody>
        </p:sp>
      </p:grpSp>
    </p:spTree>
    <p:extLst>
      <p:ext uri="{BB962C8B-B14F-4D97-AF65-F5344CB8AC3E}">
        <p14:creationId xmlns:p14="http://schemas.microsoft.com/office/powerpoint/2010/main" val="180696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静态表格驱动类</a:t>
            </a:r>
            <a:r>
              <a:rPr lang="en-US" altLang="zh-CN"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t>
            </a:r>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时限调度算法</a:t>
            </a:r>
          </a:p>
          <a:p>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3" name="矩形 2"/>
          <p:cNvSpPr/>
          <p:nvPr/>
        </p:nvSpPr>
        <p:spPr>
          <a:xfrm>
            <a:off x="755576" y="1275606"/>
            <a:ext cx="6984776" cy="3453253"/>
          </a:xfrm>
          <a:prstGeom prst="rect">
            <a:avLst/>
          </a:prstGeom>
        </p:spPr>
        <p:txBody>
          <a:bodyPr wrap="square">
            <a:spAutoFit/>
          </a:bodyPr>
          <a:lstStyle/>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时限调度算法的基本思想是：按用户的时限要求顺序设置优先级，优先级高者占据处理机，也就是说，</a:t>
            </a:r>
            <a:r>
              <a:rPr lang="zh-CN" altLang="en-US" sz="2400" b="1" dirty="0">
                <a:solidFill>
                  <a:srgbClr val="FFFF00"/>
                </a:solidFill>
                <a:latin typeface="+mn-ea"/>
              </a:rPr>
              <a:t>时限要求最近的任务优先占有处理机</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30000"/>
              </a:lnSpc>
              <a:buClr>
                <a:schemeClr val="accent6">
                  <a:lumMod val="60000"/>
                  <a:lumOff val="40000"/>
                </a:schemeClr>
              </a:buClr>
              <a:buFont typeface="Wingdings" panose="05000000000000000000" pitchFamily="2" charset="2"/>
              <a:buChar char="Ø"/>
            </a:pPr>
            <a:r>
              <a:rPr lang="zh-CN" altLang="en-US" sz="2400" b="1" dirty="0" smtClean="0">
                <a:solidFill>
                  <a:schemeClr val="bg1"/>
                </a:solidFill>
                <a:latin typeface="+mn-ea"/>
              </a:rPr>
              <a:t>时限</a:t>
            </a:r>
            <a:r>
              <a:rPr lang="zh-CN" altLang="en-US" sz="2400" b="1" dirty="0">
                <a:solidFill>
                  <a:schemeClr val="bg1"/>
                </a:solidFill>
                <a:latin typeface="+mn-ea"/>
              </a:rPr>
              <a:t>调度是</a:t>
            </a:r>
            <a:r>
              <a:rPr lang="zh-CN" altLang="en-US" sz="2400" b="1" dirty="0">
                <a:solidFill>
                  <a:srgbClr val="FFFF00"/>
                </a:solidFill>
                <a:latin typeface="+mn-ea"/>
              </a:rPr>
              <a:t>抢先式</a:t>
            </a:r>
            <a:r>
              <a:rPr lang="zh-CN" altLang="en-US" sz="2400" b="1" dirty="0">
                <a:solidFill>
                  <a:schemeClr val="bg1"/>
                </a:solidFill>
                <a:latin typeface="+mn-ea"/>
              </a:rPr>
              <a:t>的。抢先式时限调度算法必须把新到达任务的时限要求和当前正在执行任务的时限要求进行比较，如果新到达任务的时限要求更近，则应执行新到达的任务。</a:t>
            </a:r>
          </a:p>
        </p:txBody>
      </p:sp>
    </p:spTree>
    <p:extLst>
      <p:ext uri="{BB962C8B-B14F-4D97-AF65-F5344CB8AC3E}">
        <p14:creationId xmlns:p14="http://schemas.microsoft.com/office/powerpoint/2010/main" val="259018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7868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时限调度算法调度周期性实时任务的例子</a:t>
            </a:r>
          </a:p>
        </p:txBody>
      </p:sp>
      <p:sp>
        <p:nvSpPr>
          <p:cNvPr id="3" name="矩形 2"/>
          <p:cNvSpPr/>
          <p:nvPr/>
        </p:nvSpPr>
        <p:spPr>
          <a:xfrm>
            <a:off x="755576" y="1281469"/>
            <a:ext cx="6984776" cy="2862322"/>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设实时系统从两个不同的数据源</a:t>
            </a:r>
            <a:r>
              <a:rPr lang="en-US" altLang="zh-CN" sz="2400" b="1" dirty="0">
                <a:solidFill>
                  <a:schemeClr val="bg1"/>
                </a:solidFill>
                <a:latin typeface="+mn-ea"/>
              </a:rPr>
              <a:t>DA</a:t>
            </a:r>
            <a:r>
              <a:rPr lang="zh-CN" altLang="en-US" sz="2400" b="1" dirty="0">
                <a:solidFill>
                  <a:schemeClr val="bg1"/>
                </a:solidFill>
                <a:latin typeface="+mn-ea"/>
              </a:rPr>
              <a:t>和</a:t>
            </a:r>
            <a:r>
              <a:rPr lang="en-US" altLang="zh-CN" sz="2400" b="1" dirty="0" smtClean="0">
                <a:solidFill>
                  <a:schemeClr val="bg1"/>
                </a:solidFill>
                <a:latin typeface="+mn-ea"/>
              </a:rPr>
              <a:t>DB</a:t>
            </a:r>
            <a:r>
              <a:rPr lang="zh-CN" altLang="en-US" sz="2400" b="1" dirty="0" smtClean="0">
                <a:solidFill>
                  <a:schemeClr val="bg1"/>
                </a:solidFill>
                <a:latin typeface="+mn-ea"/>
              </a:rPr>
              <a:t>周期性</a:t>
            </a:r>
            <a:r>
              <a:rPr lang="zh-CN" altLang="en-US" sz="2400" b="1" dirty="0">
                <a:solidFill>
                  <a:schemeClr val="bg1"/>
                </a:solidFill>
                <a:latin typeface="+mn-ea"/>
              </a:rPr>
              <a:t>地收集数据并进行处理，其中</a:t>
            </a:r>
            <a:r>
              <a:rPr lang="en-US" altLang="zh-CN" sz="2400" b="1" dirty="0">
                <a:solidFill>
                  <a:schemeClr val="bg1"/>
                </a:solidFill>
                <a:latin typeface="+mn-ea"/>
              </a:rPr>
              <a:t>DA</a:t>
            </a:r>
            <a:r>
              <a:rPr lang="zh-CN" altLang="en-US" sz="2400" b="1" dirty="0">
                <a:solidFill>
                  <a:schemeClr val="bg1"/>
                </a:solidFill>
                <a:latin typeface="+mn-ea"/>
              </a:rPr>
              <a:t>的时限要求以</a:t>
            </a:r>
            <a:r>
              <a:rPr lang="en-US" altLang="zh-CN" sz="2400" b="1" dirty="0" smtClean="0">
                <a:solidFill>
                  <a:schemeClr val="bg1"/>
                </a:solidFill>
                <a:latin typeface="+mn-ea"/>
              </a:rPr>
              <a:t>30ms</a:t>
            </a:r>
            <a:r>
              <a:rPr lang="zh-CN" altLang="en-US" sz="2400" b="1" dirty="0">
                <a:solidFill>
                  <a:schemeClr val="bg1"/>
                </a:solidFill>
                <a:latin typeface="+mn-ea"/>
              </a:rPr>
              <a:t>为周期，</a:t>
            </a:r>
            <a:r>
              <a:rPr lang="en-US" altLang="zh-CN" sz="2400" b="1" dirty="0">
                <a:solidFill>
                  <a:schemeClr val="bg1"/>
                </a:solidFill>
                <a:latin typeface="+mn-ea"/>
              </a:rPr>
              <a:t>DB</a:t>
            </a:r>
            <a:r>
              <a:rPr lang="zh-CN" altLang="en-US" sz="2400" b="1" dirty="0">
                <a:solidFill>
                  <a:schemeClr val="bg1"/>
                </a:solidFill>
                <a:latin typeface="+mn-ea"/>
              </a:rPr>
              <a:t>的时限要求以</a:t>
            </a:r>
            <a:r>
              <a:rPr lang="en-US" altLang="zh-CN" sz="2400" b="1" dirty="0" smtClean="0">
                <a:solidFill>
                  <a:schemeClr val="bg1"/>
                </a:solidFill>
                <a:latin typeface="+mn-ea"/>
              </a:rPr>
              <a:t>75ms</a:t>
            </a:r>
            <a:r>
              <a:rPr lang="zh-CN" altLang="en-US" sz="2400" b="1" dirty="0">
                <a:solidFill>
                  <a:schemeClr val="bg1"/>
                </a:solidFill>
                <a:latin typeface="+mn-ea"/>
              </a:rPr>
              <a:t>为周期。设</a:t>
            </a:r>
            <a:r>
              <a:rPr lang="en-US" altLang="zh-CN" sz="2400" b="1" dirty="0">
                <a:solidFill>
                  <a:schemeClr val="bg1"/>
                </a:solidFill>
                <a:latin typeface="+mn-ea"/>
              </a:rPr>
              <a:t>DA</a:t>
            </a:r>
            <a:r>
              <a:rPr lang="zh-CN" altLang="en-US" sz="2400" b="1" dirty="0">
                <a:solidFill>
                  <a:schemeClr val="bg1"/>
                </a:solidFill>
                <a:latin typeface="+mn-ea"/>
              </a:rPr>
              <a:t>所需处理时限为</a:t>
            </a:r>
            <a:r>
              <a:rPr lang="en-US" altLang="zh-CN" sz="2400" b="1" dirty="0" smtClean="0">
                <a:solidFill>
                  <a:schemeClr val="bg1"/>
                </a:solidFill>
                <a:latin typeface="+mn-ea"/>
              </a:rPr>
              <a:t>15ms</a:t>
            </a:r>
            <a:r>
              <a:rPr lang="zh-CN" altLang="en-US" sz="2400" b="1" dirty="0">
                <a:solidFill>
                  <a:schemeClr val="bg1"/>
                </a:solidFill>
                <a:latin typeface="+mn-ea"/>
              </a:rPr>
              <a:t>，</a:t>
            </a:r>
            <a:r>
              <a:rPr lang="en-US" altLang="zh-CN" sz="2400" b="1" dirty="0">
                <a:solidFill>
                  <a:schemeClr val="bg1"/>
                </a:solidFill>
                <a:latin typeface="+mn-ea"/>
              </a:rPr>
              <a:t>DB</a:t>
            </a:r>
            <a:r>
              <a:rPr lang="zh-CN" altLang="en-US" sz="2400" b="1" dirty="0">
                <a:solidFill>
                  <a:schemeClr val="bg1"/>
                </a:solidFill>
                <a:latin typeface="+mn-ea"/>
              </a:rPr>
              <a:t>所需处理时限为</a:t>
            </a:r>
            <a:r>
              <a:rPr lang="en-US" altLang="zh-CN" sz="2400" b="1" dirty="0" smtClean="0">
                <a:solidFill>
                  <a:schemeClr val="bg1"/>
                </a:solidFill>
                <a:latin typeface="+mn-ea"/>
              </a:rPr>
              <a:t>38ms</a:t>
            </a:r>
            <a:r>
              <a:rPr lang="zh-CN" altLang="en-US" sz="2400" b="1" dirty="0">
                <a:solidFill>
                  <a:schemeClr val="bg1"/>
                </a:solidFill>
                <a:latin typeface="+mn-ea"/>
              </a:rPr>
              <a:t>，则与</a:t>
            </a:r>
            <a:r>
              <a:rPr lang="en-US" altLang="zh-CN" sz="2400" b="1" dirty="0">
                <a:solidFill>
                  <a:schemeClr val="bg1"/>
                </a:solidFill>
                <a:latin typeface="+mn-ea"/>
              </a:rPr>
              <a:t>DA</a:t>
            </a:r>
            <a:r>
              <a:rPr lang="zh-CN" altLang="en-US" sz="2400" b="1" dirty="0">
                <a:solidFill>
                  <a:schemeClr val="bg1"/>
                </a:solidFill>
                <a:latin typeface="+mn-ea"/>
              </a:rPr>
              <a:t>和</a:t>
            </a:r>
            <a:r>
              <a:rPr lang="en-US" altLang="zh-CN" sz="2400" b="1" dirty="0">
                <a:solidFill>
                  <a:schemeClr val="bg1"/>
                </a:solidFill>
                <a:latin typeface="+mn-ea"/>
              </a:rPr>
              <a:t>DB</a:t>
            </a:r>
            <a:r>
              <a:rPr lang="zh-CN" altLang="en-US" sz="2400" b="1" dirty="0">
                <a:solidFill>
                  <a:schemeClr val="bg1"/>
                </a:solidFill>
                <a:latin typeface="+mn-ea"/>
              </a:rPr>
              <a:t>有关进程的事件发生时限（就绪时限）</a:t>
            </a:r>
          </a:p>
        </p:txBody>
      </p:sp>
      <p:pic>
        <p:nvPicPr>
          <p:cNvPr id="2" name="图片 1"/>
          <p:cNvPicPr>
            <a:picLocks noChangeAspect="1"/>
          </p:cNvPicPr>
          <p:nvPr/>
        </p:nvPicPr>
        <p:blipFill>
          <a:blip r:embed="rId2"/>
          <a:stretch>
            <a:fillRect/>
          </a:stretch>
        </p:blipFill>
        <p:spPr>
          <a:xfrm>
            <a:off x="934856" y="600838"/>
            <a:ext cx="6532948" cy="4370909"/>
          </a:xfrm>
          <a:prstGeom prst="rect">
            <a:avLst/>
          </a:prstGeom>
        </p:spPr>
      </p:pic>
    </p:spTree>
    <p:extLst>
      <p:ext uri="{BB962C8B-B14F-4D97-AF65-F5344CB8AC3E}">
        <p14:creationId xmlns:p14="http://schemas.microsoft.com/office/powerpoint/2010/main" val="695364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78684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时限调度算法调度周期性实时任务的例子</a:t>
            </a:r>
          </a:p>
        </p:txBody>
      </p:sp>
      <p:sp>
        <p:nvSpPr>
          <p:cNvPr id="3" name="矩形 2"/>
          <p:cNvSpPr/>
          <p:nvPr/>
        </p:nvSpPr>
        <p:spPr>
          <a:xfrm>
            <a:off x="771178" y="969946"/>
            <a:ext cx="3999828" cy="2308324"/>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如果使用时限调度算法，并按</a:t>
            </a:r>
            <a:r>
              <a:rPr lang="zh-CN" altLang="en-US" sz="2400" b="1" dirty="0">
                <a:solidFill>
                  <a:srgbClr val="FFFF00"/>
                </a:solidFill>
                <a:latin typeface="+mn-ea"/>
              </a:rPr>
              <a:t>最近结束时限</a:t>
            </a:r>
            <a:r>
              <a:rPr lang="zh-CN" altLang="en-US" sz="2400" b="1" dirty="0">
                <a:solidFill>
                  <a:schemeClr val="bg1"/>
                </a:solidFill>
                <a:latin typeface="+mn-ea"/>
              </a:rPr>
              <a:t>优先级最高的方法进行排列</a:t>
            </a:r>
            <a:r>
              <a:rPr lang="zh-CN" altLang="en-US" sz="2400" b="1" dirty="0" smtClean="0">
                <a:solidFill>
                  <a:schemeClr val="bg1"/>
                </a:solidFill>
                <a:latin typeface="+mn-ea"/>
              </a:rPr>
              <a:t>，则各</a:t>
            </a:r>
            <a:r>
              <a:rPr lang="zh-CN" altLang="en-US" sz="2400" b="1" dirty="0">
                <a:solidFill>
                  <a:schemeClr val="bg1"/>
                </a:solidFill>
                <a:latin typeface="+mn-ea"/>
              </a:rPr>
              <a:t>进程的调度顺序和相对</a:t>
            </a:r>
            <a:r>
              <a:rPr lang="zh-CN" altLang="en-US" sz="2400" b="1" dirty="0" smtClean="0">
                <a:solidFill>
                  <a:schemeClr val="bg1"/>
                </a:solidFill>
                <a:latin typeface="+mn-ea"/>
              </a:rPr>
              <a:t>时间为：</a:t>
            </a:r>
            <a:endParaRPr lang="zh-CN" altLang="en-US" sz="2400" b="1" dirty="0">
              <a:solidFill>
                <a:schemeClr val="bg1"/>
              </a:solidFill>
              <a:latin typeface="+mn-ea"/>
            </a:endParaRPr>
          </a:p>
        </p:txBody>
      </p:sp>
      <p:pic>
        <p:nvPicPr>
          <p:cNvPr id="2" name="图片 1"/>
          <p:cNvPicPr>
            <a:picLocks noChangeAspect="1"/>
          </p:cNvPicPr>
          <p:nvPr/>
        </p:nvPicPr>
        <p:blipFill>
          <a:blip r:embed="rId2"/>
          <a:stretch>
            <a:fillRect/>
          </a:stretch>
        </p:blipFill>
        <p:spPr>
          <a:xfrm>
            <a:off x="5148064" y="0"/>
            <a:ext cx="3832275" cy="2564007"/>
          </a:xfrm>
          <a:prstGeom prst="rect">
            <a:avLst/>
          </a:prstGeom>
        </p:spPr>
      </p:pic>
      <p:grpSp>
        <p:nvGrpSpPr>
          <p:cNvPr id="5" name="组合 4"/>
          <p:cNvGrpSpPr/>
          <p:nvPr/>
        </p:nvGrpSpPr>
        <p:grpSpPr>
          <a:xfrm>
            <a:off x="971600" y="3272025"/>
            <a:ext cx="6552728" cy="1265437"/>
            <a:chOff x="971600" y="3272025"/>
            <a:chExt cx="6552728" cy="1265437"/>
          </a:xfrm>
        </p:grpSpPr>
        <p:pic>
          <p:nvPicPr>
            <p:cNvPr id="29" name="Picture 3" descr="图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272025"/>
              <a:ext cx="6552728" cy="12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4750579" y="3627744"/>
              <a:ext cx="597330" cy="276999"/>
            </a:xfrm>
            <a:prstGeom prst="rect">
              <a:avLst/>
            </a:prstGeom>
            <a:solidFill>
              <a:schemeClr val="bg1"/>
            </a:solidFill>
            <a:ln>
              <a:solidFill>
                <a:schemeClr val="bg1"/>
              </a:solidFill>
            </a:ln>
          </p:spPr>
          <p:txBody>
            <a:bodyPr wrap="square" rtlCol="0">
              <a:spAutoFit/>
            </a:bodyPr>
            <a:lstStyle/>
            <a:p>
              <a:r>
                <a:rPr lang="en-US" altLang="zh-CN" sz="1200" b="1" dirty="0" smtClean="0">
                  <a:solidFill>
                    <a:srgbClr val="FF0000"/>
                  </a:solidFill>
                  <a:latin typeface="Times New Roman" panose="02020603050405020304" pitchFamily="18" charset="0"/>
                  <a:cs typeface="Times New Roman" panose="02020603050405020304" pitchFamily="18" charset="0"/>
                </a:rPr>
                <a:t>DB(2)</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sp>
          <p:nvSpPr>
            <p:cNvPr id="30" name="文本框 29"/>
            <p:cNvSpPr txBox="1"/>
            <p:nvPr/>
          </p:nvSpPr>
          <p:spPr>
            <a:xfrm>
              <a:off x="4067944" y="4076830"/>
              <a:ext cx="360040" cy="276999"/>
            </a:xfrm>
            <a:prstGeom prst="rect">
              <a:avLst/>
            </a:prstGeom>
            <a:noFill/>
            <a:ln>
              <a:solidFill>
                <a:schemeClr val="bg1"/>
              </a:solidFill>
            </a:ln>
          </p:spPr>
          <p:txBody>
            <a:bodyPr wrap="square" rtlCol="0">
              <a:spAutoFit/>
            </a:bodyPr>
            <a:lstStyle/>
            <a:p>
              <a:r>
                <a:rPr lang="en-US" altLang="zh-CN" sz="1200" b="1" dirty="0" smtClean="0">
                  <a:solidFill>
                    <a:srgbClr val="FF0000"/>
                  </a:solidFill>
                  <a:latin typeface="Times New Roman" panose="02020603050405020304" pitchFamily="18" charset="0"/>
                  <a:cs typeface="Times New Roman" panose="02020603050405020304" pitchFamily="18" charset="0"/>
                </a:rPr>
                <a:t>68</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sp>
          <p:nvSpPr>
            <p:cNvPr id="31" name="文本框 30"/>
            <p:cNvSpPr txBox="1"/>
            <p:nvPr/>
          </p:nvSpPr>
          <p:spPr>
            <a:xfrm>
              <a:off x="4663442" y="4073939"/>
              <a:ext cx="360040" cy="276999"/>
            </a:xfrm>
            <a:prstGeom prst="rect">
              <a:avLst/>
            </a:prstGeom>
            <a:noFill/>
            <a:ln>
              <a:solidFill>
                <a:schemeClr val="bg1"/>
              </a:solidFill>
            </a:ln>
          </p:spPr>
          <p:txBody>
            <a:bodyPr wrap="square" rtlCol="0">
              <a:spAutoFit/>
            </a:bodyPr>
            <a:lstStyle/>
            <a:p>
              <a:r>
                <a:rPr lang="en-US" altLang="zh-CN" sz="1200" b="1" dirty="0" smtClean="0">
                  <a:solidFill>
                    <a:srgbClr val="FF0000"/>
                  </a:solidFill>
                  <a:latin typeface="Times New Roman" panose="02020603050405020304" pitchFamily="18" charset="0"/>
                  <a:cs typeface="Times New Roman" panose="02020603050405020304" pitchFamily="18" charset="0"/>
                </a:rPr>
                <a:t>83</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8552616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实时调度算法的分类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2411609" y="1007815"/>
            <a:ext cx="3413760" cy="3413760"/>
          </a:xfrm>
          <a:custGeom>
            <a:avLst/>
            <a:gdLst>
              <a:gd name="connsiteX0" fmla="*/ 1706880 w 3413760"/>
              <a:gd name="connsiteY0" fmla="*/ 0 h 3413760"/>
              <a:gd name="connsiteX1" fmla="*/ 3413760 w 3413760"/>
              <a:gd name="connsiteY1" fmla="*/ 1706880 h 3413760"/>
              <a:gd name="connsiteX2" fmla="*/ 1706880 w 3413760"/>
              <a:gd name="connsiteY2" fmla="*/ 1706880 h 3413760"/>
              <a:gd name="connsiteX3" fmla="*/ 1706880 w 3413760"/>
              <a:gd name="connsiteY3" fmla="*/ 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0"/>
                </a:moveTo>
                <a:cubicBezTo>
                  <a:pt x="2649564" y="0"/>
                  <a:pt x="3413760" y="764196"/>
                  <a:pt x="3413760" y="1706880"/>
                </a:cubicBezTo>
                <a:lnTo>
                  <a:pt x="1706880" y="1706880"/>
                </a:lnTo>
                <a:lnTo>
                  <a:pt x="1706880" y="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770025" tIns="655675" rIns="432155" bIns="1790345" numCol="1" spcCol="1270" anchor="ctr" anchorCtr="0">
            <a:noAutofit/>
          </a:bodyPr>
          <a:lstStyle/>
          <a:p>
            <a:pPr algn="ctr" defTabSz="1066800">
              <a:lnSpc>
                <a:spcPct val="90000"/>
              </a:lnSpc>
              <a:spcBef>
                <a:spcPct val="0"/>
              </a:spcBef>
              <a:spcAft>
                <a:spcPct val="35000"/>
              </a:spcAft>
            </a:pPr>
            <a:r>
              <a:rPr lang="zh-CN" altLang="en-US" sz="2400" b="1" dirty="0"/>
              <a:t>静态表格驱动类</a:t>
            </a:r>
          </a:p>
        </p:txBody>
      </p:sp>
      <p:sp>
        <p:nvSpPr>
          <p:cNvPr id="34" name="任意多边形 33"/>
          <p:cNvSpPr/>
          <p:nvPr/>
        </p:nvSpPr>
        <p:spPr>
          <a:xfrm>
            <a:off x="2416888" y="1151680"/>
            <a:ext cx="3413760" cy="3413760"/>
          </a:xfrm>
          <a:custGeom>
            <a:avLst/>
            <a:gdLst>
              <a:gd name="connsiteX0" fmla="*/ 3413760 w 3413760"/>
              <a:gd name="connsiteY0" fmla="*/ 1706880 h 3413760"/>
              <a:gd name="connsiteX1" fmla="*/ 1706880 w 3413760"/>
              <a:gd name="connsiteY1" fmla="*/ 3413760 h 3413760"/>
              <a:gd name="connsiteX2" fmla="*/ 1706880 w 3413760"/>
              <a:gd name="connsiteY2" fmla="*/ 1706880 h 3413760"/>
              <a:gd name="connsiteX3" fmla="*/ 341376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3413760" y="1706880"/>
                </a:moveTo>
                <a:cubicBezTo>
                  <a:pt x="3413760" y="2649564"/>
                  <a:pt x="2649564" y="3413760"/>
                  <a:pt x="1706880" y="3413760"/>
                </a:cubicBezTo>
                <a:lnTo>
                  <a:pt x="1706880" y="1706880"/>
                </a:lnTo>
                <a:lnTo>
                  <a:pt x="341376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791970" tIns="1791970" rIns="410210" bIns="654050" numCol="1" spcCol="1270" anchor="ctr" anchorCtr="0">
            <a:noAutofit/>
          </a:bodyPr>
          <a:lstStyle/>
          <a:p>
            <a:pPr algn="ctr" defTabSz="1066800">
              <a:lnSpc>
                <a:spcPct val="90000"/>
              </a:lnSpc>
              <a:spcBef>
                <a:spcPct val="0"/>
              </a:spcBef>
              <a:spcAft>
                <a:spcPct val="35000"/>
              </a:spcAft>
            </a:pPr>
            <a:r>
              <a:rPr lang="zh-CN" altLang="en-US" sz="2000" b="1" dirty="0"/>
              <a:t>静态优先级驱动抢先式调度算法类</a:t>
            </a:r>
          </a:p>
        </p:txBody>
      </p:sp>
      <p:sp>
        <p:nvSpPr>
          <p:cNvPr id="35" name="任意多边形 34"/>
          <p:cNvSpPr/>
          <p:nvPr/>
        </p:nvSpPr>
        <p:spPr>
          <a:xfrm>
            <a:off x="2267744" y="1151680"/>
            <a:ext cx="3413760" cy="3413760"/>
          </a:xfrm>
          <a:custGeom>
            <a:avLst/>
            <a:gdLst>
              <a:gd name="connsiteX0" fmla="*/ 1706880 w 3413760"/>
              <a:gd name="connsiteY0" fmla="*/ 3413760 h 3413760"/>
              <a:gd name="connsiteX1" fmla="*/ 0 w 3413760"/>
              <a:gd name="connsiteY1" fmla="*/ 1706880 h 3413760"/>
              <a:gd name="connsiteX2" fmla="*/ 1706880 w 3413760"/>
              <a:gd name="connsiteY2" fmla="*/ 1706880 h 3413760"/>
              <a:gd name="connsiteX3" fmla="*/ 1706880 w 3413760"/>
              <a:gd name="connsiteY3" fmla="*/ 341376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3413760"/>
                </a:moveTo>
                <a:cubicBezTo>
                  <a:pt x="764196" y="3413760"/>
                  <a:pt x="0" y="2649564"/>
                  <a:pt x="0" y="1706880"/>
                </a:cubicBezTo>
                <a:lnTo>
                  <a:pt x="1706880" y="1706880"/>
                </a:lnTo>
                <a:lnTo>
                  <a:pt x="1706880" y="341376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0210" tIns="1791970" rIns="1791970" bIns="654050" numCol="1" spcCol="1270" anchor="ctr" anchorCtr="0">
            <a:noAutofit/>
          </a:bodyPr>
          <a:lstStyle/>
          <a:p>
            <a:pPr algn="ctr" defTabSz="1066800">
              <a:lnSpc>
                <a:spcPct val="90000"/>
              </a:lnSpc>
              <a:spcBef>
                <a:spcPct val="0"/>
              </a:spcBef>
              <a:spcAft>
                <a:spcPct val="35000"/>
              </a:spcAft>
            </a:pPr>
            <a:r>
              <a:rPr lang="zh-CN" altLang="en-US" sz="2400" b="1" dirty="0"/>
              <a:t>动态计划调度算法类</a:t>
            </a:r>
          </a:p>
        </p:txBody>
      </p:sp>
      <p:sp>
        <p:nvSpPr>
          <p:cNvPr id="36" name="任意多边形 35"/>
          <p:cNvSpPr/>
          <p:nvPr/>
        </p:nvSpPr>
        <p:spPr>
          <a:xfrm>
            <a:off x="2267744" y="1015166"/>
            <a:ext cx="3413760" cy="3413760"/>
          </a:xfrm>
          <a:custGeom>
            <a:avLst/>
            <a:gdLst>
              <a:gd name="connsiteX0" fmla="*/ 0 w 3413760"/>
              <a:gd name="connsiteY0" fmla="*/ 1706880 h 3413760"/>
              <a:gd name="connsiteX1" fmla="*/ 1706880 w 3413760"/>
              <a:gd name="connsiteY1" fmla="*/ 0 h 3413760"/>
              <a:gd name="connsiteX2" fmla="*/ 1706880 w 3413760"/>
              <a:gd name="connsiteY2" fmla="*/ 1706880 h 3413760"/>
              <a:gd name="connsiteX3" fmla="*/ 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0" y="1706880"/>
                </a:moveTo>
                <a:cubicBezTo>
                  <a:pt x="0" y="764196"/>
                  <a:pt x="764196" y="0"/>
                  <a:pt x="1706880" y="0"/>
                </a:cubicBezTo>
                <a:lnTo>
                  <a:pt x="1706880" y="1706880"/>
                </a:lnTo>
                <a:lnTo>
                  <a:pt x="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0210" tIns="654050" rIns="1791970" bIns="1791970" numCol="1" spcCol="1270" anchor="ctr" anchorCtr="0">
            <a:noAutofit/>
          </a:bodyPr>
          <a:lstStyle/>
          <a:p>
            <a:pPr algn="ctr" defTabSz="1066800">
              <a:lnSpc>
                <a:spcPct val="90000"/>
              </a:lnSpc>
              <a:spcBef>
                <a:spcPct val="0"/>
              </a:spcBef>
              <a:spcAft>
                <a:spcPct val="35000"/>
              </a:spcAft>
            </a:pPr>
            <a:r>
              <a:rPr lang="zh-CN" altLang="en-US" sz="2400" b="1" dirty="0"/>
              <a:t>尽力而为调度算法类</a:t>
            </a:r>
          </a:p>
        </p:txBody>
      </p:sp>
    </p:spTree>
    <p:extLst>
      <p:ext uri="{BB962C8B-B14F-4D97-AF65-F5344CB8AC3E}">
        <p14:creationId xmlns:p14="http://schemas.microsoft.com/office/powerpoint/2010/main" val="28518490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6"/>
                                        </p:tgtEl>
                                      </p:cBhvr>
                                    </p:animEffect>
                                    <p:set>
                                      <p:cBhvr>
                                        <p:cTn id="10" dur="1" fill="hold">
                                          <p:stCondLst>
                                            <p:cond delay="499"/>
                                          </p:stCondLst>
                                        </p:cTn>
                                        <p:tgtEl>
                                          <p:spTgt spid="36"/>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5"/>
                                        </p:tgtEl>
                                      </p:cBhvr>
                                    </p:animEffect>
                                    <p:set>
                                      <p:cBhvr>
                                        <p:cTn id="13"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5" grpId="0" animBg="1"/>
      <p:bldP spid="3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8" y="142858"/>
            <a:ext cx="8535322"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静态优先级驱动抢先式调度算法类</a:t>
            </a:r>
          </a:p>
        </p:txBody>
      </p:sp>
      <p:sp>
        <p:nvSpPr>
          <p:cNvPr id="3" name="矩形 2"/>
          <p:cNvSpPr/>
          <p:nvPr/>
        </p:nvSpPr>
        <p:spPr>
          <a:xfrm>
            <a:off x="755576" y="1397106"/>
            <a:ext cx="6984776" cy="332975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该类算法也进行静态分析，不过，它们的静态分析不直接产生调度结果，而只用来指定任务的优先级</a:t>
            </a:r>
            <a:r>
              <a:rPr lang="zh-CN" altLang="en-US" sz="2400" b="1" dirty="0" smtClean="0">
                <a:solidFill>
                  <a:schemeClr val="bg1"/>
                </a:solidFill>
                <a:latin typeface="+mn-ea"/>
              </a:rPr>
              <a:t>。</a:t>
            </a:r>
            <a:endParaRPr lang="en-US" altLang="zh-CN" sz="2400" b="1" dirty="0" smtClean="0">
              <a:solidFill>
                <a:schemeClr val="bg1"/>
              </a:solidFill>
              <a:latin typeface="+mn-ea"/>
            </a:endParaRP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smtClean="0">
                <a:solidFill>
                  <a:srgbClr val="FFFF00"/>
                </a:solidFill>
                <a:latin typeface="+mn-ea"/>
              </a:rPr>
              <a:t>频率</a:t>
            </a:r>
            <a:r>
              <a:rPr lang="zh-CN" altLang="en-US" sz="2400" b="1" dirty="0">
                <a:solidFill>
                  <a:srgbClr val="FFFF00"/>
                </a:solidFill>
                <a:latin typeface="+mn-ea"/>
              </a:rPr>
              <a:t>单调调度算法</a:t>
            </a:r>
            <a:r>
              <a:rPr lang="zh-CN" altLang="en-US" sz="2400" b="1" dirty="0">
                <a:solidFill>
                  <a:schemeClr val="bg1"/>
                </a:solidFill>
                <a:latin typeface="+mn-ea"/>
              </a:rPr>
              <a:t>就是一种静态优先级驱动的抢先式调度算法。</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extLst>
      <p:ext uri="{BB962C8B-B14F-4D97-AF65-F5344CB8AC3E}">
        <p14:creationId xmlns:p14="http://schemas.microsoft.com/office/powerpoint/2010/main" val="184516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03491" y="-6369"/>
            <a:ext cx="8535322" cy="1254248"/>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静态优先级驱动抢先式调度算法</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类</a:t>
            </a:r>
            <a:endPar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r>
              <a:rPr lang="en-US" altLang="zh-CN"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36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n-ea"/>
              </a:rPr>
              <a:t>频率单调调度算法</a:t>
            </a:r>
            <a:endPar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矩形 2"/>
          <p:cNvSpPr/>
          <p:nvPr/>
        </p:nvSpPr>
        <p:spPr>
          <a:xfrm>
            <a:off x="755576" y="1397106"/>
            <a:ext cx="6984776" cy="286232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频率单调调度算法是一种被广泛用于</a:t>
            </a:r>
            <a:r>
              <a:rPr lang="zh-CN" altLang="en-US" sz="2400" b="1" dirty="0">
                <a:solidFill>
                  <a:srgbClr val="FFFF00"/>
                </a:solidFill>
                <a:latin typeface="+mn-ea"/>
              </a:rPr>
              <a:t>多周期性实时处理</a:t>
            </a:r>
            <a:r>
              <a:rPr lang="zh-CN" altLang="en-US" sz="2400" b="1" dirty="0">
                <a:solidFill>
                  <a:schemeClr val="bg1"/>
                </a:solidFill>
                <a:latin typeface="+mn-ea"/>
              </a:rPr>
              <a:t>的调度算法。</a:t>
            </a:r>
          </a:p>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频率单调调度算法的基本原理是</a:t>
            </a:r>
            <a:r>
              <a:rPr lang="zh-CN" altLang="en-US" sz="2400" b="1" dirty="0">
                <a:solidFill>
                  <a:srgbClr val="FFFF00"/>
                </a:solidFill>
                <a:latin typeface="+mn-ea"/>
              </a:rPr>
              <a:t>频率越低（周期越长）的任务的优先级越</a:t>
            </a:r>
            <a:r>
              <a:rPr lang="zh-CN" altLang="en-US" sz="2400" b="1" dirty="0">
                <a:solidFill>
                  <a:schemeClr val="bg1"/>
                </a:solidFill>
                <a:latin typeface="+mn-ea"/>
              </a:rPr>
              <a:t>低。</a:t>
            </a:r>
          </a:p>
          <a:p>
            <a:pPr marL="0" lvl="1"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spTree>
    <p:extLst>
      <p:ext uri="{BB962C8B-B14F-4D97-AF65-F5344CB8AC3E}">
        <p14:creationId xmlns:p14="http://schemas.microsoft.com/office/powerpoint/2010/main" val="308113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03491" y="-6369"/>
            <a:ext cx="8535322" cy="1254248"/>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静态优先级驱动抢先式调度算法</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类</a:t>
            </a:r>
            <a:endPar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r>
              <a:rPr lang="en-US" altLang="zh-CN"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36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n-ea"/>
              </a:rPr>
              <a:t>频率单调调度算法</a:t>
            </a:r>
            <a:endPar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矩形 2"/>
          <p:cNvSpPr/>
          <p:nvPr/>
        </p:nvSpPr>
        <p:spPr>
          <a:xfrm>
            <a:off x="755576" y="1275606"/>
            <a:ext cx="6984776" cy="3329758"/>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设任务周期问题，任务的执行时间为</a:t>
            </a:r>
            <a:r>
              <a:rPr lang="en-US" altLang="zh-CN" sz="2400" b="1" dirty="0">
                <a:solidFill>
                  <a:schemeClr val="bg1"/>
                </a:solidFill>
                <a:latin typeface="+mn-ea"/>
              </a:rPr>
              <a:t>C</a:t>
            </a:r>
            <a:r>
              <a:rPr lang="zh-CN" altLang="en-US" sz="2400" b="1" dirty="0">
                <a:solidFill>
                  <a:schemeClr val="bg1"/>
                </a:solidFill>
                <a:latin typeface="+mn-ea"/>
              </a:rPr>
              <a:t>，则使用频率单调调度算法的必要条件是</a:t>
            </a:r>
            <a:r>
              <a:rPr lang="en-US" altLang="zh-CN" sz="2400" b="1" dirty="0">
                <a:solidFill>
                  <a:schemeClr val="bg1"/>
                </a:solidFill>
                <a:latin typeface="+mn-ea"/>
              </a:rPr>
              <a:t>C≤ T</a:t>
            </a:r>
            <a:r>
              <a:rPr lang="zh-CN" altLang="en-US" sz="2400" b="1" dirty="0">
                <a:solidFill>
                  <a:schemeClr val="bg1"/>
                </a:solidFill>
                <a:latin typeface="+mn-ea"/>
              </a:rPr>
              <a:t>。</a:t>
            </a:r>
          </a:p>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已经证明，对于</a:t>
            </a:r>
            <a:r>
              <a:rPr lang="en-US" altLang="zh-CN" sz="2400" b="1" dirty="0">
                <a:solidFill>
                  <a:schemeClr val="bg1"/>
                </a:solidFill>
                <a:latin typeface="+mn-ea"/>
              </a:rPr>
              <a:t>n(n≥1)</a:t>
            </a:r>
            <a:r>
              <a:rPr lang="zh-CN" altLang="en-US" sz="2400" b="1" dirty="0">
                <a:solidFill>
                  <a:schemeClr val="bg1"/>
                </a:solidFill>
                <a:latin typeface="+mn-ea"/>
              </a:rPr>
              <a:t>个周期的不同任务来说，设每个周期为</a:t>
            </a:r>
            <a:r>
              <a:rPr lang="en-US" altLang="zh-CN" sz="2400" b="1" dirty="0">
                <a:solidFill>
                  <a:schemeClr val="bg1"/>
                </a:solidFill>
                <a:latin typeface="+mn-ea"/>
              </a:rPr>
              <a:t>T</a:t>
            </a:r>
            <a:r>
              <a:rPr lang="en-US" altLang="zh-CN" sz="2400" b="1" baseline="-25000" dirty="0">
                <a:solidFill>
                  <a:schemeClr val="bg1"/>
                </a:solidFill>
                <a:latin typeface="+mn-ea"/>
              </a:rPr>
              <a:t>i</a:t>
            </a:r>
            <a:r>
              <a:rPr lang="zh-CN" altLang="en-US" sz="2400" b="1" dirty="0">
                <a:solidFill>
                  <a:schemeClr val="bg1"/>
                </a:solidFill>
                <a:latin typeface="+mn-ea"/>
              </a:rPr>
              <a:t>，其相应任务的执行时间为</a:t>
            </a:r>
            <a:r>
              <a:rPr lang="en-US" altLang="zh-CN" sz="2400" b="1" dirty="0">
                <a:solidFill>
                  <a:schemeClr val="bg1"/>
                </a:solidFill>
                <a:latin typeface="+mn-ea"/>
              </a:rPr>
              <a:t>C</a:t>
            </a:r>
            <a:r>
              <a:rPr lang="en-US" altLang="zh-CN" sz="2400" b="1" baseline="-25000" dirty="0">
                <a:solidFill>
                  <a:schemeClr val="bg1"/>
                </a:solidFill>
                <a:latin typeface="+mn-ea"/>
              </a:rPr>
              <a:t>i</a:t>
            </a:r>
            <a:r>
              <a:rPr lang="zh-CN" altLang="en-US" sz="2400" b="1" dirty="0">
                <a:solidFill>
                  <a:schemeClr val="bg1"/>
                </a:solidFill>
                <a:latin typeface="+mn-ea"/>
              </a:rPr>
              <a:t>，则使用频率单调调度算法的充分条件</a:t>
            </a:r>
            <a:r>
              <a:rPr lang="zh-CN" altLang="en-US" sz="2400" b="1" dirty="0" smtClean="0">
                <a:solidFill>
                  <a:schemeClr val="bg1"/>
                </a:solidFill>
                <a:latin typeface="+mn-ea"/>
              </a:rPr>
              <a:t>是：</a:t>
            </a:r>
            <a:endParaRPr lang="zh-CN" altLang="en-US" sz="2400" b="1" dirty="0">
              <a:solidFill>
                <a:schemeClr val="bg1"/>
              </a:solidFill>
              <a:latin typeface="+mn-ea"/>
            </a:endParaRPr>
          </a:p>
          <a:p>
            <a:pPr marL="0" lvl="1" indent="-285750" algn="just">
              <a:lnSpc>
                <a:spcPct val="150000"/>
              </a:lnSpc>
              <a:buClr>
                <a:schemeClr val="accent6">
                  <a:lumMod val="60000"/>
                  <a:lumOff val="40000"/>
                </a:schemeClr>
              </a:buClr>
              <a:buFont typeface="Wingdings" panose="05000000000000000000" pitchFamily="2" charset="2"/>
              <a:buChar char="Ø"/>
            </a:pPr>
            <a:endParaRPr lang="zh-CN" altLang="en-US" sz="2400" b="1" dirty="0">
              <a:solidFill>
                <a:schemeClr val="bg1"/>
              </a:solidFill>
              <a:latin typeface="+mn-ea"/>
            </a:endParaRPr>
          </a:p>
        </p:txBody>
      </p:sp>
      <p:pic>
        <p:nvPicPr>
          <p:cNvPr id="2" name="图片 1"/>
          <p:cNvPicPr>
            <a:picLocks noChangeAspect="1"/>
          </p:cNvPicPr>
          <p:nvPr/>
        </p:nvPicPr>
        <p:blipFill>
          <a:blip r:embed="rId2"/>
          <a:stretch>
            <a:fillRect/>
          </a:stretch>
        </p:blipFill>
        <p:spPr>
          <a:xfrm>
            <a:off x="2219139" y="4083918"/>
            <a:ext cx="4057650" cy="752475"/>
          </a:xfrm>
          <a:prstGeom prst="rect">
            <a:avLst/>
          </a:prstGeom>
        </p:spPr>
      </p:pic>
    </p:spTree>
    <p:extLst>
      <p:ext uri="{BB962C8B-B14F-4D97-AF65-F5344CB8AC3E}">
        <p14:creationId xmlns:p14="http://schemas.microsoft.com/office/powerpoint/2010/main" val="1773717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03491" y="-6369"/>
            <a:ext cx="8535322" cy="1254248"/>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静态优先级驱动抢先式调度算法</a:t>
            </a:r>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类</a:t>
            </a:r>
            <a:endParaRPr lang="en-US" altLang="zh-CN"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r>
              <a:rPr lang="en-US" altLang="zh-CN"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en-US" altLang="zh-CN" sz="36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a:t>
            </a:r>
            <a:r>
              <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n-ea"/>
              </a:rPr>
              <a:t>频率单调调度算法</a:t>
            </a:r>
            <a:endParaRPr lang="zh-CN" altLang="en-US" sz="36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矩形 2"/>
          <p:cNvSpPr/>
          <p:nvPr/>
        </p:nvSpPr>
        <p:spPr>
          <a:xfrm>
            <a:off x="755576" y="1275606"/>
            <a:ext cx="6984776" cy="1113766"/>
          </a:xfrm>
          <a:prstGeom prst="rect">
            <a:avLst/>
          </a:prstGeom>
        </p:spPr>
        <p:txBody>
          <a:bodyPr wrap="square">
            <a:spAutoFit/>
          </a:bodyPr>
          <a:lstStyle/>
          <a:p>
            <a:pPr marL="0" lvl="1"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例如，对于由</a:t>
            </a:r>
            <a:r>
              <a:rPr lang="en-US" altLang="zh-CN" sz="2400" b="1" dirty="0">
                <a:solidFill>
                  <a:schemeClr val="bg1"/>
                </a:solidFill>
                <a:latin typeface="+mn-ea"/>
              </a:rPr>
              <a:t>3</a:t>
            </a:r>
            <a:r>
              <a:rPr lang="zh-CN" altLang="en-US" sz="2400" b="1" dirty="0">
                <a:solidFill>
                  <a:schemeClr val="bg1"/>
                </a:solidFill>
                <a:latin typeface="+mn-ea"/>
              </a:rPr>
              <a:t>个周期组成的实时任务序列来说，其执行时间与周期之比应是：</a:t>
            </a:r>
          </a:p>
        </p:txBody>
      </p:sp>
      <p:pic>
        <p:nvPicPr>
          <p:cNvPr id="4" name="图片 3"/>
          <p:cNvPicPr>
            <a:picLocks noChangeAspect="1"/>
          </p:cNvPicPr>
          <p:nvPr/>
        </p:nvPicPr>
        <p:blipFill>
          <a:blip r:embed="rId2"/>
          <a:stretch>
            <a:fillRect/>
          </a:stretch>
        </p:blipFill>
        <p:spPr>
          <a:xfrm>
            <a:off x="2339752" y="2484169"/>
            <a:ext cx="3495675" cy="752475"/>
          </a:xfrm>
          <a:prstGeom prst="rect">
            <a:avLst/>
          </a:prstGeom>
        </p:spPr>
      </p:pic>
      <p:sp>
        <p:nvSpPr>
          <p:cNvPr id="5" name="矩形 4"/>
          <p:cNvSpPr/>
          <p:nvPr/>
        </p:nvSpPr>
        <p:spPr>
          <a:xfrm>
            <a:off x="755576" y="3361057"/>
            <a:ext cx="6984776" cy="1200329"/>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如果进程执行时间与周期比之和大于</a:t>
            </a:r>
            <a:r>
              <a:rPr lang="en-US" altLang="zh-CN" sz="2400" b="1" dirty="0">
                <a:solidFill>
                  <a:schemeClr val="bg1"/>
                </a:solidFill>
                <a:latin typeface="+mn-ea"/>
              </a:rPr>
              <a:t>n(2</a:t>
            </a:r>
            <a:r>
              <a:rPr lang="en-US" altLang="zh-CN" sz="2400" b="1" baseline="30000" dirty="0">
                <a:solidFill>
                  <a:schemeClr val="bg1"/>
                </a:solidFill>
                <a:latin typeface="+mn-ea"/>
              </a:rPr>
              <a:t>1/n</a:t>
            </a:r>
            <a:r>
              <a:rPr lang="en-US" altLang="zh-CN" sz="2400" b="1" dirty="0">
                <a:solidFill>
                  <a:schemeClr val="bg1"/>
                </a:solidFill>
                <a:latin typeface="+mn-ea"/>
              </a:rPr>
              <a:t>-1)</a:t>
            </a:r>
            <a:r>
              <a:rPr lang="zh-CN" altLang="en-US" sz="2400" b="1" dirty="0">
                <a:solidFill>
                  <a:schemeClr val="bg1"/>
                </a:solidFill>
                <a:latin typeface="+mn-ea"/>
              </a:rPr>
              <a:t>，则用户所要求的时限无法保证。</a:t>
            </a:r>
          </a:p>
        </p:txBody>
      </p:sp>
    </p:spTree>
    <p:extLst>
      <p:ext uri="{BB962C8B-B14F-4D97-AF65-F5344CB8AC3E}">
        <p14:creationId xmlns:p14="http://schemas.microsoft.com/office/powerpoint/2010/main" val="248218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实时调度算法的分类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2411609" y="1007815"/>
            <a:ext cx="3413760" cy="3413760"/>
          </a:xfrm>
          <a:custGeom>
            <a:avLst/>
            <a:gdLst>
              <a:gd name="connsiteX0" fmla="*/ 1706880 w 3413760"/>
              <a:gd name="connsiteY0" fmla="*/ 0 h 3413760"/>
              <a:gd name="connsiteX1" fmla="*/ 3413760 w 3413760"/>
              <a:gd name="connsiteY1" fmla="*/ 1706880 h 3413760"/>
              <a:gd name="connsiteX2" fmla="*/ 1706880 w 3413760"/>
              <a:gd name="connsiteY2" fmla="*/ 1706880 h 3413760"/>
              <a:gd name="connsiteX3" fmla="*/ 1706880 w 3413760"/>
              <a:gd name="connsiteY3" fmla="*/ 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0"/>
                </a:moveTo>
                <a:cubicBezTo>
                  <a:pt x="2649564" y="0"/>
                  <a:pt x="3413760" y="764196"/>
                  <a:pt x="3413760" y="1706880"/>
                </a:cubicBezTo>
                <a:lnTo>
                  <a:pt x="1706880" y="1706880"/>
                </a:lnTo>
                <a:lnTo>
                  <a:pt x="1706880" y="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770025" tIns="655675" rIns="432155" bIns="1790345" numCol="1" spcCol="1270" anchor="ctr" anchorCtr="0">
            <a:noAutofit/>
          </a:bodyPr>
          <a:lstStyle/>
          <a:p>
            <a:pPr algn="ctr" defTabSz="1066800">
              <a:lnSpc>
                <a:spcPct val="90000"/>
              </a:lnSpc>
              <a:spcBef>
                <a:spcPct val="0"/>
              </a:spcBef>
              <a:spcAft>
                <a:spcPct val="35000"/>
              </a:spcAft>
            </a:pPr>
            <a:r>
              <a:rPr lang="zh-CN" altLang="en-US" sz="2400" b="1" dirty="0"/>
              <a:t>静态表格驱动类</a:t>
            </a:r>
          </a:p>
        </p:txBody>
      </p:sp>
      <p:sp>
        <p:nvSpPr>
          <p:cNvPr id="34" name="任意多边形 33"/>
          <p:cNvSpPr/>
          <p:nvPr/>
        </p:nvSpPr>
        <p:spPr>
          <a:xfrm>
            <a:off x="2416888" y="1151680"/>
            <a:ext cx="3413760" cy="3413760"/>
          </a:xfrm>
          <a:custGeom>
            <a:avLst/>
            <a:gdLst>
              <a:gd name="connsiteX0" fmla="*/ 3413760 w 3413760"/>
              <a:gd name="connsiteY0" fmla="*/ 1706880 h 3413760"/>
              <a:gd name="connsiteX1" fmla="*/ 1706880 w 3413760"/>
              <a:gd name="connsiteY1" fmla="*/ 3413760 h 3413760"/>
              <a:gd name="connsiteX2" fmla="*/ 1706880 w 3413760"/>
              <a:gd name="connsiteY2" fmla="*/ 1706880 h 3413760"/>
              <a:gd name="connsiteX3" fmla="*/ 341376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3413760" y="1706880"/>
                </a:moveTo>
                <a:cubicBezTo>
                  <a:pt x="3413760" y="2649564"/>
                  <a:pt x="2649564" y="3413760"/>
                  <a:pt x="1706880" y="3413760"/>
                </a:cubicBezTo>
                <a:lnTo>
                  <a:pt x="1706880" y="1706880"/>
                </a:lnTo>
                <a:lnTo>
                  <a:pt x="341376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791970" tIns="1791970" rIns="410210" bIns="654050" numCol="1" spcCol="1270" anchor="ctr" anchorCtr="0">
            <a:noAutofit/>
          </a:bodyPr>
          <a:lstStyle/>
          <a:p>
            <a:pPr algn="ctr" defTabSz="1066800">
              <a:lnSpc>
                <a:spcPct val="90000"/>
              </a:lnSpc>
              <a:spcBef>
                <a:spcPct val="0"/>
              </a:spcBef>
              <a:spcAft>
                <a:spcPct val="35000"/>
              </a:spcAft>
            </a:pPr>
            <a:r>
              <a:rPr lang="zh-CN" altLang="en-US" sz="2000" b="1" dirty="0"/>
              <a:t>静态优先级驱动抢先式调度算法类</a:t>
            </a:r>
          </a:p>
        </p:txBody>
      </p:sp>
      <p:sp>
        <p:nvSpPr>
          <p:cNvPr id="35" name="任意多边形 34"/>
          <p:cNvSpPr/>
          <p:nvPr/>
        </p:nvSpPr>
        <p:spPr>
          <a:xfrm>
            <a:off x="2267744" y="1151680"/>
            <a:ext cx="3413760" cy="3413760"/>
          </a:xfrm>
          <a:custGeom>
            <a:avLst/>
            <a:gdLst>
              <a:gd name="connsiteX0" fmla="*/ 1706880 w 3413760"/>
              <a:gd name="connsiteY0" fmla="*/ 3413760 h 3413760"/>
              <a:gd name="connsiteX1" fmla="*/ 0 w 3413760"/>
              <a:gd name="connsiteY1" fmla="*/ 1706880 h 3413760"/>
              <a:gd name="connsiteX2" fmla="*/ 1706880 w 3413760"/>
              <a:gd name="connsiteY2" fmla="*/ 1706880 h 3413760"/>
              <a:gd name="connsiteX3" fmla="*/ 1706880 w 3413760"/>
              <a:gd name="connsiteY3" fmla="*/ 341376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3413760"/>
                </a:moveTo>
                <a:cubicBezTo>
                  <a:pt x="764196" y="3413760"/>
                  <a:pt x="0" y="2649564"/>
                  <a:pt x="0" y="1706880"/>
                </a:cubicBezTo>
                <a:lnTo>
                  <a:pt x="1706880" y="1706880"/>
                </a:lnTo>
                <a:lnTo>
                  <a:pt x="1706880" y="341376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0210" tIns="1791970" rIns="1791970" bIns="654050" numCol="1" spcCol="1270" anchor="ctr" anchorCtr="0">
            <a:noAutofit/>
          </a:bodyPr>
          <a:lstStyle/>
          <a:p>
            <a:pPr algn="ctr" defTabSz="1066800">
              <a:lnSpc>
                <a:spcPct val="90000"/>
              </a:lnSpc>
              <a:spcBef>
                <a:spcPct val="0"/>
              </a:spcBef>
              <a:spcAft>
                <a:spcPct val="35000"/>
              </a:spcAft>
            </a:pPr>
            <a:r>
              <a:rPr lang="zh-CN" altLang="en-US" sz="2400" b="1" dirty="0"/>
              <a:t>动态计划调度算法类</a:t>
            </a:r>
          </a:p>
        </p:txBody>
      </p:sp>
      <p:sp>
        <p:nvSpPr>
          <p:cNvPr id="36" name="任意多边形 35"/>
          <p:cNvSpPr/>
          <p:nvPr/>
        </p:nvSpPr>
        <p:spPr>
          <a:xfrm>
            <a:off x="2267744" y="1015166"/>
            <a:ext cx="3413760" cy="3413760"/>
          </a:xfrm>
          <a:custGeom>
            <a:avLst/>
            <a:gdLst>
              <a:gd name="connsiteX0" fmla="*/ 0 w 3413760"/>
              <a:gd name="connsiteY0" fmla="*/ 1706880 h 3413760"/>
              <a:gd name="connsiteX1" fmla="*/ 1706880 w 3413760"/>
              <a:gd name="connsiteY1" fmla="*/ 0 h 3413760"/>
              <a:gd name="connsiteX2" fmla="*/ 1706880 w 3413760"/>
              <a:gd name="connsiteY2" fmla="*/ 1706880 h 3413760"/>
              <a:gd name="connsiteX3" fmla="*/ 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0" y="1706880"/>
                </a:moveTo>
                <a:cubicBezTo>
                  <a:pt x="0" y="764196"/>
                  <a:pt x="764196" y="0"/>
                  <a:pt x="1706880" y="0"/>
                </a:cubicBezTo>
                <a:lnTo>
                  <a:pt x="1706880" y="1706880"/>
                </a:lnTo>
                <a:lnTo>
                  <a:pt x="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0210" tIns="654050" rIns="1791970" bIns="1791970" numCol="1" spcCol="1270" anchor="ctr" anchorCtr="0">
            <a:noAutofit/>
          </a:bodyPr>
          <a:lstStyle/>
          <a:p>
            <a:pPr algn="ctr" defTabSz="1066800">
              <a:lnSpc>
                <a:spcPct val="90000"/>
              </a:lnSpc>
              <a:spcBef>
                <a:spcPct val="0"/>
              </a:spcBef>
              <a:spcAft>
                <a:spcPct val="35000"/>
              </a:spcAft>
            </a:pPr>
            <a:r>
              <a:rPr lang="zh-CN" altLang="en-US" sz="2400" b="1" dirty="0"/>
              <a:t>尽力而为调度算法类</a:t>
            </a:r>
          </a:p>
        </p:txBody>
      </p:sp>
    </p:spTree>
    <p:extLst>
      <p:ext uri="{BB962C8B-B14F-4D97-AF65-F5344CB8AC3E}">
        <p14:creationId xmlns:p14="http://schemas.microsoft.com/office/powerpoint/2010/main" val="162242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4"/>
                                        </p:tgtEl>
                                      </p:cBhvr>
                                    </p:animEffect>
                                    <p:set>
                                      <p:cBhvr>
                                        <p:cTn id="7" dur="1" fill="hold">
                                          <p:stCondLst>
                                            <p:cond delay="499"/>
                                          </p:stCondLst>
                                        </p:cTn>
                                        <p:tgtEl>
                                          <p:spTgt spid="34"/>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 grpId="0" animBg="1"/>
      <p:bldP spid="3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64401" y="137825"/>
            <a:ext cx="8535322" cy="1254248"/>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动态计划调度算法类</a:t>
            </a:r>
          </a:p>
        </p:txBody>
      </p:sp>
      <p:sp>
        <p:nvSpPr>
          <p:cNvPr id="3" name="矩形 2"/>
          <p:cNvSpPr/>
          <p:nvPr/>
        </p:nvSpPr>
        <p:spPr>
          <a:xfrm>
            <a:off x="755576" y="1392073"/>
            <a:ext cx="6984776" cy="222176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动态计划调度算法在调度任务执行之前排出调度计划，并分析计划的调度结果是否使得任务所要求的处理时限得到满足。如果能够满足，则按调度计划执行，否则修改调度计划。</a:t>
            </a:r>
          </a:p>
        </p:txBody>
      </p:sp>
    </p:spTree>
    <p:extLst>
      <p:ext uri="{BB962C8B-B14F-4D97-AF65-F5344CB8AC3E}">
        <p14:creationId xmlns:p14="http://schemas.microsoft.com/office/powerpoint/2010/main" val="49812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实时调度算法的分类</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4" name="任意多边形 3"/>
          <p:cNvSpPr/>
          <p:nvPr/>
        </p:nvSpPr>
        <p:spPr>
          <a:xfrm>
            <a:off x="2411609" y="1007815"/>
            <a:ext cx="3413760" cy="3413760"/>
          </a:xfrm>
          <a:custGeom>
            <a:avLst/>
            <a:gdLst>
              <a:gd name="connsiteX0" fmla="*/ 1706880 w 3413760"/>
              <a:gd name="connsiteY0" fmla="*/ 0 h 3413760"/>
              <a:gd name="connsiteX1" fmla="*/ 3413760 w 3413760"/>
              <a:gd name="connsiteY1" fmla="*/ 1706880 h 3413760"/>
              <a:gd name="connsiteX2" fmla="*/ 1706880 w 3413760"/>
              <a:gd name="connsiteY2" fmla="*/ 1706880 h 3413760"/>
              <a:gd name="connsiteX3" fmla="*/ 1706880 w 3413760"/>
              <a:gd name="connsiteY3" fmla="*/ 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0"/>
                </a:moveTo>
                <a:cubicBezTo>
                  <a:pt x="2649564" y="0"/>
                  <a:pt x="3413760" y="764196"/>
                  <a:pt x="3413760" y="1706880"/>
                </a:cubicBezTo>
                <a:lnTo>
                  <a:pt x="1706880" y="1706880"/>
                </a:lnTo>
                <a:lnTo>
                  <a:pt x="1706880" y="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770025" tIns="655675" rIns="432155" bIns="1790345" numCol="1" spcCol="1270" anchor="ctr" anchorCtr="0">
            <a:noAutofit/>
          </a:bodyPr>
          <a:lstStyle/>
          <a:p>
            <a:pPr algn="ctr" defTabSz="1066800">
              <a:lnSpc>
                <a:spcPct val="90000"/>
              </a:lnSpc>
              <a:spcBef>
                <a:spcPct val="0"/>
              </a:spcBef>
              <a:spcAft>
                <a:spcPct val="35000"/>
              </a:spcAft>
            </a:pPr>
            <a:r>
              <a:rPr lang="zh-CN" altLang="en-US" sz="2400" b="1" dirty="0"/>
              <a:t>静态表格驱动类</a:t>
            </a:r>
          </a:p>
        </p:txBody>
      </p:sp>
      <p:sp>
        <p:nvSpPr>
          <p:cNvPr id="34" name="任意多边形 33"/>
          <p:cNvSpPr/>
          <p:nvPr/>
        </p:nvSpPr>
        <p:spPr>
          <a:xfrm>
            <a:off x="2416888" y="1151680"/>
            <a:ext cx="3413760" cy="3413760"/>
          </a:xfrm>
          <a:custGeom>
            <a:avLst/>
            <a:gdLst>
              <a:gd name="connsiteX0" fmla="*/ 3413760 w 3413760"/>
              <a:gd name="connsiteY0" fmla="*/ 1706880 h 3413760"/>
              <a:gd name="connsiteX1" fmla="*/ 1706880 w 3413760"/>
              <a:gd name="connsiteY1" fmla="*/ 3413760 h 3413760"/>
              <a:gd name="connsiteX2" fmla="*/ 1706880 w 3413760"/>
              <a:gd name="connsiteY2" fmla="*/ 1706880 h 3413760"/>
              <a:gd name="connsiteX3" fmla="*/ 341376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3413760" y="1706880"/>
                </a:moveTo>
                <a:cubicBezTo>
                  <a:pt x="3413760" y="2649564"/>
                  <a:pt x="2649564" y="3413760"/>
                  <a:pt x="1706880" y="3413760"/>
                </a:cubicBezTo>
                <a:lnTo>
                  <a:pt x="1706880" y="1706880"/>
                </a:lnTo>
                <a:lnTo>
                  <a:pt x="341376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791970" tIns="1791970" rIns="410210" bIns="654050" numCol="1" spcCol="1270" anchor="ctr" anchorCtr="0">
            <a:noAutofit/>
          </a:bodyPr>
          <a:lstStyle/>
          <a:p>
            <a:pPr algn="ctr" defTabSz="1066800">
              <a:lnSpc>
                <a:spcPct val="90000"/>
              </a:lnSpc>
              <a:spcBef>
                <a:spcPct val="0"/>
              </a:spcBef>
              <a:spcAft>
                <a:spcPct val="35000"/>
              </a:spcAft>
            </a:pPr>
            <a:r>
              <a:rPr lang="zh-CN" altLang="en-US" sz="2000" b="1" dirty="0"/>
              <a:t>静态优先级驱动抢先式调度算法类</a:t>
            </a:r>
          </a:p>
        </p:txBody>
      </p:sp>
      <p:sp>
        <p:nvSpPr>
          <p:cNvPr id="35" name="任意多边形 34"/>
          <p:cNvSpPr/>
          <p:nvPr/>
        </p:nvSpPr>
        <p:spPr>
          <a:xfrm>
            <a:off x="2267744" y="1151680"/>
            <a:ext cx="3413760" cy="3413760"/>
          </a:xfrm>
          <a:custGeom>
            <a:avLst/>
            <a:gdLst>
              <a:gd name="connsiteX0" fmla="*/ 1706880 w 3413760"/>
              <a:gd name="connsiteY0" fmla="*/ 3413760 h 3413760"/>
              <a:gd name="connsiteX1" fmla="*/ 0 w 3413760"/>
              <a:gd name="connsiteY1" fmla="*/ 1706880 h 3413760"/>
              <a:gd name="connsiteX2" fmla="*/ 1706880 w 3413760"/>
              <a:gd name="connsiteY2" fmla="*/ 1706880 h 3413760"/>
              <a:gd name="connsiteX3" fmla="*/ 1706880 w 3413760"/>
              <a:gd name="connsiteY3" fmla="*/ 341376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1706880" y="3413760"/>
                </a:moveTo>
                <a:cubicBezTo>
                  <a:pt x="764196" y="3413760"/>
                  <a:pt x="0" y="2649564"/>
                  <a:pt x="0" y="1706880"/>
                </a:cubicBezTo>
                <a:lnTo>
                  <a:pt x="1706880" y="1706880"/>
                </a:lnTo>
                <a:lnTo>
                  <a:pt x="1706880" y="341376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10210" tIns="1791970" rIns="1791970" bIns="654050" numCol="1" spcCol="1270" anchor="ctr" anchorCtr="0">
            <a:noAutofit/>
          </a:bodyPr>
          <a:lstStyle/>
          <a:p>
            <a:pPr algn="ctr" defTabSz="1066800">
              <a:lnSpc>
                <a:spcPct val="90000"/>
              </a:lnSpc>
              <a:spcBef>
                <a:spcPct val="0"/>
              </a:spcBef>
              <a:spcAft>
                <a:spcPct val="35000"/>
              </a:spcAft>
            </a:pPr>
            <a:r>
              <a:rPr lang="zh-CN" altLang="en-US" sz="2400" b="1" dirty="0"/>
              <a:t>动态计划调度算法类</a:t>
            </a:r>
          </a:p>
        </p:txBody>
      </p:sp>
      <p:sp>
        <p:nvSpPr>
          <p:cNvPr id="36" name="任意多边形 35"/>
          <p:cNvSpPr/>
          <p:nvPr/>
        </p:nvSpPr>
        <p:spPr>
          <a:xfrm>
            <a:off x="2267744" y="1015166"/>
            <a:ext cx="3413760" cy="3413760"/>
          </a:xfrm>
          <a:custGeom>
            <a:avLst/>
            <a:gdLst>
              <a:gd name="connsiteX0" fmla="*/ 0 w 3413760"/>
              <a:gd name="connsiteY0" fmla="*/ 1706880 h 3413760"/>
              <a:gd name="connsiteX1" fmla="*/ 1706880 w 3413760"/>
              <a:gd name="connsiteY1" fmla="*/ 0 h 3413760"/>
              <a:gd name="connsiteX2" fmla="*/ 1706880 w 3413760"/>
              <a:gd name="connsiteY2" fmla="*/ 1706880 h 3413760"/>
              <a:gd name="connsiteX3" fmla="*/ 0 w 3413760"/>
              <a:gd name="connsiteY3" fmla="*/ 1706880 h 3413760"/>
            </a:gdLst>
            <a:ahLst/>
            <a:cxnLst>
              <a:cxn ang="0">
                <a:pos x="connsiteX0" y="connsiteY0"/>
              </a:cxn>
              <a:cxn ang="0">
                <a:pos x="connsiteX1" y="connsiteY1"/>
              </a:cxn>
              <a:cxn ang="0">
                <a:pos x="connsiteX2" y="connsiteY2"/>
              </a:cxn>
              <a:cxn ang="0">
                <a:pos x="connsiteX3" y="connsiteY3"/>
              </a:cxn>
            </a:cxnLst>
            <a:rect l="l" t="t" r="r" b="b"/>
            <a:pathLst>
              <a:path w="3413760" h="3413760">
                <a:moveTo>
                  <a:pt x="0" y="1706880"/>
                </a:moveTo>
                <a:cubicBezTo>
                  <a:pt x="0" y="764196"/>
                  <a:pt x="764196" y="0"/>
                  <a:pt x="1706880" y="0"/>
                </a:cubicBezTo>
                <a:lnTo>
                  <a:pt x="1706880" y="1706880"/>
                </a:lnTo>
                <a:lnTo>
                  <a:pt x="0" y="1706880"/>
                </a:ln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10210" tIns="654050" rIns="1791970" bIns="1791970" numCol="1" spcCol="1270" anchor="ctr" anchorCtr="0">
            <a:noAutofit/>
          </a:bodyPr>
          <a:lstStyle/>
          <a:p>
            <a:pPr algn="ctr" defTabSz="1066800">
              <a:lnSpc>
                <a:spcPct val="90000"/>
              </a:lnSpc>
              <a:spcBef>
                <a:spcPct val="0"/>
              </a:spcBef>
              <a:spcAft>
                <a:spcPct val="35000"/>
              </a:spcAft>
            </a:pPr>
            <a:r>
              <a:rPr lang="zh-CN" altLang="en-US" sz="2400" b="1" dirty="0"/>
              <a:t>尽力而为调度算法类</a:t>
            </a:r>
          </a:p>
        </p:txBody>
      </p:sp>
    </p:spTree>
    <p:extLst>
      <p:ext uri="{BB962C8B-B14F-4D97-AF65-F5344CB8AC3E}">
        <p14:creationId xmlns:p14="http://schemas.microsoft.com/office/powerpoint/2010/main" val="255716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5"/>
                                        </p:tgtEl>
                                      </p:cBhvr>
                                    </p:animEffect>
                                    <p:set>
                                      <p:cBhvr>
                                        <p:cTn id="7" dur="1" fill="hold">
                                          <p:stCondLst>
                                            <p:cond delay="499"/>
                                          </p:stCondLst>
                                        </p:cTn>
                                        <p:tgtEl>
                                          <p:spTgt spid="3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4"/>
                                        </p:tgtEl>
                                      </p:cBhvr>
                                    </p:animEffect>
                                    <p:set>
                                      <p:cBhvr>
                                        <p:cTn id="10" dur="1" fill="hold">
                                          <p:stCondLst>
                                            <p:cond delay="499"/>
                                          </p:stCondLst>
                                        </p:cTn>
                                        <p:tgtEl>
                                          <p:spTgt spid="3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4" grpId="0" animBg="1"/>
      <p:bldP spid="3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564401" y="137825"/>
            <a:ext cx="8535322" cy="1254248"/>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尽力而为调度算法类</a:t>
            </a:r>
          </a:p>
        </p:txBody>
      </p:sp>
      <p:sp>
        <p:nvSpPr>
          <p:cNvPr id="3" name="矩形 2"/>
          <p:cNvSpPr/>
          <p:nvPr/>
        </p:nvSpPr>
        <p:spPr>
          <a:xfrm>
            <a:off x="755576" y="1392073"/>
            <a:ext cx="6984776" cy="2221762"/>
          </a:xfrm>
          <a:prstGeom prst="rect">
            <a:avLst/>
          </a:prstGeom>
        </p:spPr>
        <p:txBody>
          <a:bodyPr wrap="square">
            <a:spAutoFit/>
          </a:bodyPr>
          <a:lstStyle/>
          <a:p>
            <a:pPr marL="0" lvl="1" indent="-285750" algn="just">
              <a:lnSpc>
                <a:spcPct val="150000"/>
              </a:lnSpc>
              <a:buClr>
                <a:schemeClr val="accent6">
                  <a:lumMod val="60000"/>
                  <a:lumOff val="40000"/>
                </a:schemeClr>
              </a:buClr>
              <a:buFont typeface="Wingdings" panose="05000000000000000000" pitchFamily="2" charset="2"/>
              <a:buChar char="Ø"/>
            </a:pPr>
            <a:r>
              <a:rPr lang="zh-CN" altLang="en-US" sz="2400" b="1" dirty="0">
                <a:solidFill>
                  <a:schemeClr val="bg1"/>
                </a:solidFill>
                <a:latin typeface="+mn-ea"/>
              </a:rPr>
              <a:t>这一类算法不进行可能性分析，只对到达的事件和相关任务指定相应的优先级，并进行调度。尽力而为调度方式开销较小，实现容易。但是，该算法不一定满足用户要求的处理时限。</a:t>
            </a:r>
          </a:p>
        </p:txBody>
      </p:sp>
    </p:spTree>
    <p:extLst>
      <p:ext uri="{BB962C8B-B14F-4D97-AF65-F5344CB8AC3E}">
        <p14:creationId xmlns:p14="http://schemas.microsoft.com/office/powerpoint/2010/main" val="105536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52736" y="-272593"/>
            <a:ext cx="1049178" cy="873431"/>
          </a:xfrm>
          <a:prstGeom prst="ellipse">
            <a:avLst/>
          </a:prstGeom>
          <a:gradFill>
            <a:gsLst>
              <a:gs pos="69000">
                <a:sysClr val="window" lastClr="FFFFFF">
                  <a:alpha val="0"/>
                </a:sysClr>
              </a:gs>
              <a:gs pos="0">
                <a:srgbClr val="F79646">
                  <a:lumMod val="75000"/>
                </a:srgbClr>
              </a:gs>
            </a:gsLst>
            <a:path path="circle">
              <a:fillToRect l="50000" t="50000" r="50000" b="50000"/>
            </a:path>
          </a:gradFill>
          <a:ln w="25400" cap="flat" cmpd="sng" algn="ctr">
            <a:noFill/>
            <a:prstDash val="solid"/>
          </a:ln>
          <a:effectLst/>
          <a:scene3d>
            <a:camera prst="orthographicFront">
              <a:rot lat="0" lon="2400000" rev="0"/>
            </a:camera>
            <a:lightRig rig="twoPt" dir="t"/>
          </a:scene3d>
          <a:sp3d z="495300" prstMaterial="softEdge">
            <a:bevelT w="495300" h="495300"/>
            <a:bevelB w="495300" h="4953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5" name="椭圆 14"/>
          <p:cNvSpPr/>
          <p:nvPr/>
        </p:nvSpPr>
        <p:spPr>
          <a:xfrm>
            <a:off x="-6176185" y="225017"/>
            <a:ext cx="524589" cy="436716"/>
          </a:xfrm>
          <a:prstGeom prst="ellipse">
            <a:avLst/>
          </a:prstGeom>
          <a:gradFill>
            <a:gsLst>
              <a:gs pos="86000">
                <a:sysClr val="window" lastClr="FFFFFF">
                  <a:alpha val="0"/>
                </a:sysClr>
              </a:gs>
              <a:gs pos="0">
                <a:srgbClr val="CCCC00"/>
              </a:gs>
            </a:gsLst>
            <a:path path="circle">
              <a:fillToRect l="50000" t="50000" r="50000" b="50000"/>
            </a:path>
          </a:gradFill>
          <a:ln w="25400" cap="flat" cmpd="sng" algn="ctr">
            <a:noFill/>
            <a:prstDash val="solid"/>
          </a:ln>
          <a:effectLst/>
          <a:scene3d>
            <a:camera prst="orthographicFront">
              <a:rot lat="0" lon="3000000" rev="0"/>
            </a:camera>
            <a:lightRig rig="twoPt" dir="t"/>
          </a:scene3d>
          <a:sp3d z="317500" prstMaterial="softEdge">
            <a:bevelT w="311150" h="311150"/>
            <a:bevelB w="311150" h="31115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6" name="[动画大师]_Oval 47"/>
          <p:cNvSpPr/>
          <p:nvPr/>
        </p:nvSpPr>
        <p:spPr>
          <a:xfrm>
            <a:off x="-4077721" y="939400"/>
            <a:ext cx="974129" cy="810953"/>
          </a:xfrm>
          <a:prstGeom prst="ellipse">
            <a:avLst/>
          </a:prstGeom>
          <a:gradFill>
            <a:gsLst>
              <a:gs pos="74000">
                <a:sysClr val="window" lastClr="FFFFFF">
                  <a:alpha val="0"/>
                </a:sysClr>
              </a:gs>
              <a:gs pos="0">
                <a:srgbClr val="00B0F0"/>
              </a:gs>
            </a:gsLst>
            <a:path path="circle">
              <a:fillToRect l="50000" t="50000" r="50000" b="50000"/>
            </a:path>
          </a:gradFill>
          <a:ln w="25400" cap="flat" cmpd="sng" algn="ctr">
            <a:noFill/>
            <a:prstDash val="solid"/>
          </a:ln>
          <a:effectLst/>
          <a:scene3d>
            <a:camera prst="orthographicFront">
              <a:rot lat="0" lon="1200000" rev="0"/>
            </a:camera>
            <a:lightRig rig="twoPt" dir="t"/>
          </a:scene3d>
          <a:sp3d z="476250" prstMaterial="softEdge">
            <a:bevelT w="482600" h="482600"/>
            <a:bevelB w="482600" h="4826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7" name="椭圆 16"/>
          <p:cNvSpPr/>
          <p:nvPr/>
        </p:nvSpPr>
        <p:spPr>
          <a:xfrm>
            <a:off x="-5651596" y="357569"/>
            <a:ext cx="292219" cy="243269"/>
          </a:xfrm>
          <a:prstGeom prst="ellipse">
            <a:avLst/>
          </a:prstGeom>
          <a:gradFill flip="none" rotWithShape="1">
            <a:gsLst>
              <a:gs pos="2800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8" name="椭圆 17"/>
          <p:cNvSpPr/>
          <p:nvPr/>
        </p:nvSpPr>
        <p:spPr>
          <a:xfrm>
            <a:off x="-5735496" y="600838"/>
            <a:ext cx="292219" cy="243269"/>
          </a:xfrm>
          <a:prstGeom prst="ellipse">
            <a:avLst/>
          </a:prstGeom>
          <a:gradFill flip="none" rotWithShape="1">
            <a:gsLst>
              <a:gs pos="2400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19" name="椭圆 18"/>
          <p:cNvSpPr/>
          <p:nvPr/>
        </p:nvSpPr>
        <p:spPr>
          <a:xfrm>
            <a:off x="-5241897" y="772107"/>
            <a:ext cx="292219" cy="243269"/>
          </a:xfrm>
          <a:prstGeom prst="ellipse">
            <a:avLst/>
          </a:prstGeom>
          <a:gradFill flip="none" rotWithShape="1">
            <a:gsLst>
              <a:gs pos="22000">
                <a:sysClr val="window" lastClr="FFFFFF">
                  <a:alpha val="0"/>
                </a:sysClr>
              </a:gs>
              <a:gs pos="0">
                <a:srgbClr val="CC0066"/>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0" name="椭圆 19"/>
          <p:cNvSpPr/>
          <p:nvPr/>
        </p:nvSpPr>
        <p:spPr>
          <a:xfrm>
            <a:off x="-4932136" y="1038200"/>
            <a:ext cx="292219" cy="243269"/>
          </a:xfrm>
          <a:prstGeom prst="ellipse">
            <a:avLst/>
          </a:prstGeom>
          <a:gradFill flip="none" rotWithShape="1">
            <a:gsLst>
              <a:gs pos="40000">
                <a:sysClr val="window" lastClr="FFFFFF">
                  <a:alpha val="0"/>
                </a:sysClr>
              </a:gs>
              <a:gs pos="0">
                <a:srgbClr val="0070C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1" name="椭圆 20"/>
          <p:cNvSpPr/>
          <p:nvPr/>
        </p:nvSpPr>
        <p:spPr>
          <a:xfrm>
            <a:off x="-3103592" y="764949"/>
            <a:ext cx="292219" cy="243269"/>
          </a:xfrm>
          <a:prstGeom prst="ellipse">
            <a:avLst/>
          </a:prstGeom>
          <a:gradFill flip="none" rotWithShape="1">
            <a:gsLst>
              <a:gs pos="46000">
                <a:sysClr val="window" lastClr="FFFFFF">
                  <a:alpha val="0"/>
                </a:sysClr>
              </a:gs>
              <a:gs pos="0">
                <a:srgbClr val="00B0F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2" name="椭圆 21"/>
          <p:cNvSpPr/>
          <p:nvPr/>
        </p:nvSpPr>
        <p:spPr>
          <a:xfrm>
            <a:off x="-2198846" y="600838"/>
            <a:ext cx="292219" cy="243269"/>
          </a:xfrm>
          <a:prstGeom prst="ellipse">
            <a:avLst/>
          </a:prstGeom>
          <a:gradFill flip="none" rotWithShape="1">
            <a:gsLst>
              <a:gs pos="71250">
                <a:sysClr val="window" lastClr="FFFFFF">
                  <a:alpha val="0"/>
                </a:sysClr>
              </a:gs>
              <a:gs pos="0">
                <a:srgbClr val="CCCC00"/>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3" name="椭圆 22"/>
          <p:cNvSpPr/>
          <p:nvPr/>
        </p:nvSpPr>
        <p:spPr>
          <a:xfrm>
            <a:off x="-1379942" y="-544772"/>
            <a:ext cx="292219" cy="243269"/>
          </a:xfrm>
          <a:prstGeom prst="ellipse">
            <a:avLst/>
          </a:prstGeom>
          <a:gradFill flip="none" rotWithShape="1">
            <a:gsLst>
              <a:gs pos="71250">
                <a:sysClr val="window" lastClr="FFFFFF">
                  <a:alpha val="0"/>
                </a:sysClr>
              </a:gs>
              <a:gs pos="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4" name="椭圆 23"/>
          <p:cNvSpPr/>
          <p:nvPr/>
        </p:nvSpPr>
        <p:spPr>
          <a:xfrm>
            <a:off x="-5662239" y="605985"/>
            <a:ext cx="156754" cy="130496"/>
          </a:xfrm>
          <a:prstGeom prst="ellipse">
            <a:avLst/>
          </a:prstGeom>
          <a:solidFill>
            <a:srgbClr val="00B0F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5" name="椭圆 24"/>
          <p:cNvSpPr/>
          <p:nvPr/>
        </p:nvSpPr>
        <p:spPr>
          <a:xfrm>
            <a:off x="-5323809" y="940808"/>
            <a:ext cx="116987" cy="97391"/>
          </a:xfrm>
          <a:prstGeom prst="ellipse">
            <a:avLst/>
          </a:prstGeom>
          <a:solidFill>
            <a:srgbClr val="0070C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6" name="椭圆 25"/>
          <p:cNvSpPr/>
          <p:nvPr/>
        </p:nvSpPr>
        <p:spPr>
          <a:xfrm>
            <a:off x="-4786027" y="986037"/>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7" name="[动画大师]_Oval 27"/>
          <p:cNvSpPr/>
          <p:nvPr/>
        </p:nvSpPr>
        <p:spPr>
          <a:xfrm>
            <a:off x="-3003151" y="819174"/>
            <a:ext cx="292219" cy="243269"/>
          </a:xfrm>
          <a:prstGeom prst="ellipse">
            <a:avLst/>
          </a:prstGeom>
          <a:solidFill>
            <a:srgbClr val="F79646">
              <a:lumMod val="750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28" name="椭圆 27"/>
          <p:cNvSpPr/>
          <p:nvPr/>
        </p:nvSpPr>
        <p:spPr>
          <a:xfrm>
            <a:off x="-2344954" y="373462"/>
            <a:ext cx="292219" cy="243269"/>
          </a:xfrm>
          <a:prstGeom prst="ellipse">
            <a:avLst/>
          </a:prstGeom>
          <a:solidFill>
            <a:srgbClr val="CCCC00">
              <a:alpha val="2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Segoe UI"/>
              <a:ea typeface="微软雅黑"/>
            </a:endParaRPr>
          </a:p>
        </p:txBody>
      </p:sp>
      <p:sp>
        <p:nvSpPr>
          <p:cNvPr id="45" name="제목 1"/>
          <p:cNvSpPr txBox="1">
            <a:spLocks/>
          </p:cNvSpPr>
          <p:nvPr/>
        </p:nvSpPr>
        <p:spPr>
          <a:xfrm>
            <a:off x="357156" y="142858"/>
            <a:ext cx="8319299" cy="566936"/>
          </a:xfrm>
          <a:prstGeom prst="rect">
            <a:avLst/>
          </a:prstGeo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zh-CN" altLang="en-US" sz="3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作业</a:t>
            </a:r>
            <a:endParaRPr lang="zh-CN" altLang="en-US" sz="36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2" name="矩形 1"/>
          <p:cNvSpPr/>
          <p:nvPr/>
        </p:nvSpPr>
        <p:spPr>
          <a:xfrm>
            <a:off x="899592" y="1563638"/>
            <a:ext cx="6984777" cy="2492990"/>
          </a:xfrm>
          <a:prstGeom prst="rect">
            <a:avLst/>
          </a:prstGeom>
        </p:spPr>
        <p:txBody>
          <a:bodyPr wrap="square">
            <a:spAutoFit/>
          </a:bodyPr>
          <a:lstStyle/>
          <a:p>
            <a:pPr>
              <a:lnSpc>
                <a:spcPct val="150000"/>
              </a:lnSpc>
              <a:spcBef>
                <a:spcPct val="0"/>
              </a:spcBef>
              <a:buClr>
                <a:schemeClr val="accent6">
                  <a:lumMod val="40000"/>
                  <a:lumOff val="60000"/>
                </a:schemeClr>
              </a:buClr>
              <a:buFont typeface="Wingdings" panose="05000000000000000000" pitchFamily="2" charset="2"/>
              <a:buChar char="Ø"/>
            </a:pPr>
            <a:r>
              <a:rPr lang="zh-CN" altLang="en-US" sz="2800" b="1" dirty="0" smtClean="0">
                <a:solidFill>
                  <a:schemeClr val="bg1"/>
                </a:solidFill>
                <a:latin typeface="+mn-ea"/>
              </a:rPr>
              <a:t>课后</a:t>
            </a:r>
            <a:r>
              <a:rPr lang="zh-CN" altLang="en-US" sz="2800" b="1" dirty="0">
                <a:solidFill>
                  <a:schemeClr val="bg1"/>
                </a:solidFill>
                <a:latin typeface="+mn-ea"/>
              </a:rPr>
              <a:t>认真复习</a:t>
            </a:r>
            <a:r>
              <a:rPr lang="zh-CN" altLang="en-US" sz="2800" b="1" dirty="0" smtClean="0">
                <a:solidFill>
                  <a:schemeClr val="bg1"/>
                </a:solidFill>
                <a:latin typeface="+mn-ea"/>
              </a:rPr>
              <a:t>第四章，下周一进行</a:t>
            </a:r>
            <a:r>
              <a:rPr lang="zh-CN" altLang="en-US" sz="2800" b="1" dirty="0">
                <a:solidFill>
                  <a:schemeClr val="bg1"/>
                </a:solidFill>
                <a:latin typeface="+mn-ea"/>
              </a:rPr>
              <a:t>第三</a:t>
            </a:r>
            <a:r>
              <a:rPr lang="zh-CN" altLang="en-US" sz="2800" b="1" dirty="0" smtClean="0">
                <a:solidFill>
                  <a:schemeClr val="bg1"/>
                </a:solidFill>
                <a:latin typeface="+mn-ea"/>
              </a:rPr>
              <a:t>章</a:t>
            </a:r>
            <a:r>
              <a:rPr lang="en-US" altLang="zh-CN" sz="2800" b="1" dirty="0" smtClean="0">
                <a:solidFill>
                  <a:schemeClr val="bg1"/>
                </a:solidFill>
                <a:latin typeface="+mn-ea"/>
              </a:rPr>
              <a:t>+</a:t>
            </a:r>
            <a:r>
              <a:rPr lang="zh-CN" altLang="en-US" sz="2800" b="1" dirty="0" smtClean="0">
                <a:solidFill>
                  <a:schemeClr val="bg1"/>
                </a:solidFill>
                <a:latin typeface="+mn-ea"/>
              </a:rPr>
              <a:t>第四章节</a:t>
            </a:r>
            <a:r>
              <a:rPr lang="zh-CN" altLang="en-US" sz="2800" b="1" dirty="0">
                <a:solidFill>
                  <a:schemeClr val="bg1"/>
                </a:solidFill>
                <a:latin typeface="+mn-ea"/>
              </a:rPr>
              <a:t>测试</a:t>
            </a:r>
            <a:endParaRPr lang="en-US" altLang="zh-CN" sz="2800" b="1" dirty="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endParaRPr lang="zh-CN" altLang="en-US" sz="2800" b="1" dirty="0">
              <a:solidFill>
                <a:schemeClr val="bg1"/>
              </a:solidFill>
              <a:latin typeface="+mn-ea"/>
            </a:endParaRPr>
          </a:p>
          <a:p>
            <a:pPr>
              <a:lnSpc>
                <a:spcPct val="150000"/>
              </a:lnSpc>
              <a:spcBef>
                <a:spcPct val="0"/>
              </a:spcBef>
              <a:buClr>
                <a:schemeClr val="accent6">
                  <a:lumMod val="40000"/>
                  <a:lumOff val="60000"/>
                </a:schemeClr>
              </a:buClr>
              <a:buFont typeface="Wingdings" panose="05000000000000000000" pitchFamily="2" charset="2"/>
              <a:buChar char="Ø"/>
            </a:pPr>
            <a:endParaRPr lang="zh-CN" altLang="en-US" sz="2000" b="1" dirty="0">
              <a:solidFill>
                <a:schemeClr val="bg1"/>
              </a:solidFill>
              <a:latin typeface="+mn-ea"/>
            </a:endParaRPr>
          </a:p>
        </p:txBody>
      </p:sp>
    </p:spTree>
    <p:extLst>
      <p:ext uri="{BB962C8B-B14F-4D97-AF65-F5344CB8AC3E}">
        <p14:creationId xmlns:p14="http://schemas.microsoft.com/office/powerpoint/2010/main" val="718374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2" cstate="print">
            <a:clrChange>
              <a:clrFrom>
                <a:srgbClr val="F5F5F2">
                  <a:alpha val="80000"/>
                </a:srgbClr>
              </a:clrFrom>
              <a:clrTo>
                <a:srgbClr val="F5F5F2">
                  <a:alpha val="0"/>
                </a:srgbClr>
              </a:clrTo>
            </a:clrChange>
            <a:extLst>
              <a:ext uri="{BEBA8EAE-BF5A-486C-A8C5-ECC9F3942E4B}">
                <a14:imgProps xmlns:a14="http://schemas.microsoft.com/office/drawing/2010/main">
                  <a14:imgLayer r:embed="rId3">
                    <a14:imgEffect>
                      <a14:artisticPastelsSmooth/>
                    </a14:imgEffect>
                  </a14:imgLayer>
                </a14:imgProps>
              </a:ext>
            </a:extLst>
          </a:blip>
          <a:srcRect/>
          <a:stretch>
            <a:fillRect/>
          </a:stretch>
        </p:blipFill>
        <p:spPr bwMode="auto">
          <a:xfrm rot="21163559">
            <a:off x="2670789" y="1565488"/>
            <a:ext cx="3498851" cy="901700"/>
          </a:xfrm>
          <a:prstGeom prst="rect">
            <a:avLst/>
          </a:prstGeom>
          <a:noFill/>
          <a:ln w="9525">
            <a:noFill/>
            <a:miter lim="800000"/>
            <a:headEnd/>
            <a:tailEnd/>
          </a:ln>
          <a:effectLst/>
        </p:spPr>
      </p:pic>
      <p:grpSp>
        <p:nvGrpSpPr>
          <p:cNvPr id="10" name="组合 27"/>
          <p:cNvGrpSpPr/>
          <p:nvPr/>
        </p:nvGrpSpPr>
        <p:grpSpPr>
          <a:xfrm>
            <a:off x="763792" y="475567"/>
            <a:ext cx="1704074" cy="840074"/>
            <a:chOff x="728490" y="483518"/>
            <a:chExt cx="1704075" cy="840074"/>
          </a:xfrm>
        </p:grpSpPr>
        <p:pic>
          <p:nvPicPr>
            <p:cNvPr id="11" name="图片 10" descr="贴贴子4张（空）.png"/>
            <p:cNvPicPr>
              <a:picLocks noChangeAspect="1"/>
            </p:cNvPicPr>
            <p:nvPr/>
          </p:nvPicPr>
          <p:blipFill>
            <a:blip r:embed="rId4" cstate="print"/>
            <a:srcRect t="33018" r="77449" b="52860"/>
            <a:stretch>
              <a:fillRect/>
            </a:stretch>
          </p:blipFill>
          <p:spPr>
            <a:xfrm>
              <a:off x="728490" y="483518"/>
              <a:ext cx="1512168" cy="615496"/>
            </a:xfrm>
            <a:prstGeom prst="rect">
              <a:avLst/>
            </a:prstGeom>
          </p:spPr>
        </p:pic>
        <p:sp>
          <p:nvSpPr>
            <p:cNvPr id="12" name="TextBox 11"/>
            <p:cNvSpPr txBox="1"/>
            <p:nvPr/>
          </p:nvSpPr>
          <p:spPr>
            <a:xfrm>
              <a:off x="1187623" y="731481"/>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O</a:t>
              </a:r>
              <a:endParaRPr lang="zh-CN" altLang="en-US" sz="1900" dirty="0">
                <a:solidFill>
                  <a:prstClr val="black"/>
                </a:solidFill>
                <a:latin typeface="微软雅黑" pitchFamily="34" charset="-122"/>
                <a:ea typeface="微软雅黑" pitchFamily="34" charset="-122"/>
              </a:endParaRPr>
            </a:p>
          </p:txBody>
        </p:sp>
        <p:pic>
          <p:nvPicPr>
            <p:cNvPr id="13" name="图片 12" descr="贴贴子4张（空）.png"/>
            <p:cNvPicPr>
              <a:picLocks/>
            </p:cNvPicPr>
            <p:nvPr/>
          </p:nvPicPr>
          <p:blipFill>
            <a:blip r:embed="rId4" cstate="print"/>
            <a:srcRect l="6702" t="47905" r="86794" b="38897"/>
            <a:stretch>
              <a:fillRect/>
            </a:stretch>
          </p:blipFill>
          <p:spPr>
            <a:xfrm rot="-180000">
              <a:off x="2000565" y="731480"/>
              <a:ext cx="432000" cy="592112"/>
            </a:xfrm>
            <a:prstGeom prst="rect">
              <a:avLst/>
            </a:prstGeom>
          </p:spPr>
        </p:pic>
        <p:sp>
          <p:nvSpPr>
            <p:cNvPr id="14" name="TextBox 13"/>
            <p:cNvSpPr txBox="1"/>
            <p:nvPr/>
          </p:nvSpPr>
          <p:spPr>
            <a:xfrm rot="599039">
              <a:off x="1667523" y="747677"/>
              <a:ext cx="352179" cy="384721"/>
            </a:xfrm>
            <a:prstGeom prst="rect">
              <a:avLst/>
            </a:prstGeom>
            <a:noFill/>
          </p:spPr>
          <p:txBody>
            <a:bodyPr wrap="square" rtlCol="0">
              <a:spAutoFit/>
            </a:bodyPr>
            <a:lstStyle/>
            <a:p>
              <a:pPr defTabSz="914399"/>
              <a:r>
                <a:rPr lang="en-US" altLang="zh-CN" sz="1900" dirty="0" smtClean="0">
                  <a:solidFill>
                    <a:prstClr val="black"/>
                  </a:solidFill>
                  <a:latin typeface="微软雅黑" pitchFamily="34" charset="-122"/>
                  <a:ea typeface="微软雅黑" pitchFamily="34" charset="-122"/>
                </a:rPr>
                <a:t>S</a:t>
              </a:r>
              <a:endParaRPr lang="zh-CN" altLang="en-US" sz="1900" dirty="0">
                <a:solidFill>
                  <a:prstClr val="black"/>
                </a:solidFill>
                <a:latin typeface="微软雅黑" pitchFamily="34" charset="-122"/>
                <a:ea typeface="微软雅黑" pitchFamily="34" charset="-122"/>
              </a:endParaRPr>
            </a:p>
          </p:txBody>
        </p:sp>
        <p:sp>
          <p:nvSpPr>
            <p:cNvPr id="15" name="TextBox 14"/>
            <p:cNvSpPr txBox="1"/>
            <p:nvPr/>
          </p:nvSpPr>
          <p:spPr>
            <a:xfrm rot="20890714">
              <a:off x="2046654" y="743345"/>
              <a:ext cx="352179" cy="384721"/>
            </a:xfrm>
            <a:prstGeom prst="rect">
              <a:avLst/>
            </a:prstGeom>
            <a:noFill/>
          </p:spPr>
          <p:txBody>
            <a:bodyPr wrap="square" rtlCol="0">
              <a:spAutoFit/>
            </a:bodyPr>
            <a:lstStyle/>
            <a:p>
              <a:pPr defTabSz="914399"/>
              <a:r>
                <a:rPr lang="en-US" altLang="zh-CN" sz="1900" dirty="0">
                  <a:solidFill>
                    <a:prstClr val="black"/>
                  </a:solidFill>
                  <a:latin typeface="微软雅黑" pitchFamily="34" charset="-122"/>
                  <a:ea typeface="微软雅黑" pitchFamily="34" charset="-122"/>
                </a:rPr>
                <a:t>Y</a:t>
              </a:r>
              <a:endParaRPr lang="zh-CN" altLang="en-US" sz="1900" dirty="0">
                <a:solidFill>
                  <a:prstClr val="black"/>
                </a:solidFill>
                <a:latin typeface="微软雅黑" pitchFamily="34" charset="-122"/>
                <a:ea typeface="微软雅黑" pitchFamily="34" charset="-122"/>
              </a:endParaRPr>
            </a:p>
          </p:txBody>
        </p:sp>
      </p:grpSp>
      <p:sp>
        <p:nvSpPr>
          <p:cNvPr id="17" name="矩形 16"/>
          <p:cNvSpPr/>
          <p:nvPr/>
        </p:nvSpPr>
        <p:spPr>
          <a:xfrm rot="20036968">
            <a:off x="6164792" y="2110566"/>
            <a:ext cx="1432894" cy="338553"/>
          </a:xfrm>
          <a:prstGeom prst="rect">
            <a:avLst/>
          </a:prstGeom>
        </p:spPr>
        <p:txBody>
          <a:bodyPr wrap="none" lIns="91441" tIns="45721" rIns="91441" bIns="45721">
            <a:spAutoFit/>
          </a:bodyPr>
          <a:lstStyle/>
          <a:p>
            <a:pPr defTabSz="914399"/>
            <a:r>
              <a:rPr lang="en-US" altLang="zh-CN" sz="1600" dirty="0">
                <a:solidFill>
                  <a:prstClr val="white">
                    <a:lumMod val="75000"/>
                  </a:prstClr>
                </a:solidFill>
                <a:latin typeface="Arial" pitchFamily="34" charset="0"/>
                <a:ea typeface="微软雅黑"/>
                <a:cs typeface="Arial" pitchFamily="34" charset="0"/>
              </a:rPr>
              <a:t>THANK</a:t>
            </a:r>
            <a:r>
              <a:rPr lang="zh-CN" altLang="en-US" sz="1600" dirty="0">
                <a:solidFill>
                  <a:prstClr val="white">
                    <a:lumMod val="75000"/>
                  </a:prstClr>
                </a:solidFill>
                <a:latin typeface="Arial" pitchFamily="34" charset="0"/>
                <a:ea typeface="微软雅黑"/>
                <a:cs typeface="Arial" pitchFamily="34" charset="0"/>
              </a:rPr>
              <a:t> </a:t>
            </a:r>
            <a:r>
              <a:rPr lang="en-US" altLang="zh-CN" sz="1600" dirty="0">
                <a:solidFill>
                  <a:prstClr val="white">
                    <a:lumMod val="75000"/>
                  </a:prstClr>
                </a:solidFill>
                <a:latin typeface="Arial" pitchFamily="34" charset="0"/>
                <a:ea typeface="微软雅黑"/>
                <a:cs typeface="Arial" pitchFamily="34" charset="0"/>
              </a:rPr>
              <a:t>YOU!</a:t>
            </a:r>
            <a:endParaRPr lang="zh-CN" altLang="en-US" sz="1600" dirty="0">
              <a:solidFill>
                <a:prstClr val="white">
                  <a:lumMod val="75000"/>
                </a:prstClr>
              </a:solidFill>
              <a:latin typeface="Arial" pitchFamily="34" charset="0"/>
              <a:ea typeface="微软雅黑"/>
              <a:cs typeface="Arial" pitchFamily="34" charset="0"/>
            </a:endParaRPr>
          </a:p>
        </p:txBody>
      </p:sp>
      <p:pic>
        <p:nvPicPr>
          <p:cNvPr id="16" name="Picture 2"/>
          <p:cNvPicPr>
            <a:picLocks noChangeAspect="1" noChangeArrowheads="1"/>
          </p:cNvPicPr>
          <p:nvPr/>
        </p:nvPicPr>
        <p:blipFill>
          <a:blip r:embed="rId5" cstate="print"/>
          <a:srcRect/>
          <a:stretch>
            <a:fillRect/>
          </a:stretch>
        </p:blipFill>
        <p:spPr bwMode="auto">
          <a:xfrm>
            <a:off x="2027867" y="598012"/>
            <a:ext cx="504056" cy="492055"/>
          </a:xfrm>
          <a:prstGeom prst="rect">
            <a:avLst/>
          </a:prstGeom>
          <a:noFill/>
          <a:ln w="9525">
            <a:noFill/>
            <a:miter lim="800000"/>
            <a:headEnd/>
            <a:tailEnd/>
          </a:ln>
        </p:spPr>
      </p:pic>
    </p:spTree>
    <p:extLst>
      <p:ext uri="{BB962C8B-B14F-4D97-AF65-F5344CB8AC3E}">
        <p14:creationId xmlns:p14="http://schemas.microsoft.com/office/powerpoint/2010/main" val="28050002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8660</TotalTime>
  <Words>5179</Words>
  <Application>Microsoft Office PowerPoint</Application>
  <PresentationFormat>全屏显示(16:9)</PresentationFormat>
  <Paragraphs>450</Paragraphs>
  <Slides>86</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86</vt:i4>
      </vt:variant>
    </vt:vector>
  </HeadingPairs>
  <TitlesOfParts>
    <vt:vector size="99" baseType="lpstr">
      <vt:lpstr>FangSong</vt:lpstr>
      <vt:lpstr>맑은 고딕</vt:lpstr>
      <vt:lpstr>方正特粗光辉简体</vt:lpstr>
      <vt:lpstr>黑体</vt:lpstr>
      <vt:lpstr>宋体</vt:lpstr>
      <vt:lpstr>微软雅黑</vt:lpstr>
      <vt:lpstr>Arial</vt:lpstr>
      <vt:lpstr>Calibri</vt:lpstr>
      <vt:lpstr>Segoe UI</vt:lpstr>
      <vt:lpstr>Times New Roman</vt:lpstr>
      <vt:lpstr>Wingdings</vt:lpstr>
      <vt:lpstr>Wingdings 2</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qian gao</cp:lastModifiedBy>
  <cp:revision>884</cp:revision>
  <dcterms:created xsi:type="dcterms:W3CDTF">2014-04-24T10:36:34Z</dcterms:created>
  <dcterms:modified xsi:type="dcterms:W3CDTF">2025-11-02T14:11:09Z</dcterms:modified>
</cp:coreProperties>
</file>