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sldIdLst>
    <p:sldId id="256" r:id="rId2"/>
    <p:sldId id="505" r:id="rId3"/>
    <p:sldId id="448" r:id="rId4"/>
    <p:sldId id="449" r:id="rId5"/>
    <p:sldId id="452" r:id="rId6"/>
    <p:sldId id="453" r:id="rId7"/>
    <p:sldId id="286" r:id="rId8"/>
    <p:sldId id="462" r:id="rId9"/>
    <p:sldId id="463" r:id="rId10"/>
    <p:sldId id="464" r:id="rId11"/>
    <p:sldId id="465" r:id="rId12"/>
    <p:sldId id="466" r:id="rId13"/>
    <p:sldId id="467" r:id="rId14"/>
    <p:sldId id="468" r:id="rId15"/>
    <p:sldId id="454" r:id="rId16"/>
    <p:sldId id="376" r:id="rId17"/>
    <p:sldId id="287" r:id="rId18"/>
    <p:sldId id="491" r:id="rId19"/>
    <p:sldId id="490" r:id="rId20"/>
    <p:sldId id="482" r:id="rId21"/>
    <p:sldId id="455" r:id="rId22"/>
    <p:sldId id="288" r:id="rId23"/>
    <p:sldId id="289" r:id="rId24"/>
    <p:sldId id="371" r:id="rId25"/>
    <p:sldId id="489" r:id="rId26"/>
    <p:sldId id="372" r:id="rId27"/>
    <p:sldId id="262" r:id="rId28"/>
    <p:sldId id="291" r:id="rId29"/>
    <p:sldId id="470" r:id="rId30"/>
    <p:sldId id="469" r:id="rId31"/>
    <p:sldId id="471" r:id="rId32"/>
    <p:sldId id="472" r:id="rId33"/>
    <p:sldId id="459" r:id="rId34"/>
    <p:sldId id="379" r:id="rId35"/>
    <p:sldId id="381" r:id="rId36"/>
    <p:sldId id="383" r:id="rId37"/>
    <p:sldId id="382" r:id="rId38"/>
    <p:sldId id="384" r:id="rId39"/>
    <p:sldId id="385" r:id="rId40"/>
    <p:sldId id="386" r:id="rId41"/>
    <p:sldId id="387" r:id="rId42"/>
    <p:sldId id="388" r:id="rId43"/>
    <p:sldId id="389" r:id="rId44"/>
    <p:sldId id="390" r:id="rId45"/>
    <p:sldId id="473" r:id="rId46"/>
    <p:sldId id="474" r:id="rId47"/>
    <p:sldId id="475" r:id="rId48"/>
    <p:sldId id="392" r:id="rId49"/>
    <p:sldId id="393" r:id="rId50"/>
    <p:sldId id="476" r:id="rId51"/>
    <p:sldId id="400" r:id="rId52"/>
    <p:sldId id="477" r:id="rId53"/>
    <p:sldId id="394" r:id="rId54"/>
    <p:sldId id="401" r:id="rId55"/>
    <p:sldId id="395" r:id="rId56"/>
    <p:sldId id="402" r:id="rId57"/>
    <p:sldId id="396" r:id="rId58"/>
    <p:sldId id="397" r:id="rId59"/>
    <p:sldId id="479" r:id="rId60"/>
    <p:sldId id="478" r:id="rId61"/>
    <p:sldId id="398" r:id="rId62"/>
    <p:sldId id="507" r:id="rId63"/>
    <p:sldId id="480" r:id="rId64"/>
    <p:sldId id="481" r:id="rId65"/>
    <p:sldId id="506" r:id="rId66"/>
    <p:sldId id="508" r:id="rId67"/>
    <p:sldId id="509" r:id="rId68"/>
    <p:sldId id="399" r:id="rId69"/>
    <p:sldId id="270" r:id="rId70"/>
    <p:sldId id="405" r:id="rId71"/>
    <p:sldId id="407" r:id="rId72"/>
    <p:sldId id="404" r:id="rId73"/>
    <p:sldId id="409" r:id="rId74"/>
    <p:sldId id="410" r:id="rId75"/>
    <p:sldId id="408" r:id="rId76"/>
    <p:sldId id="411" r:id="rId77"/>
    <p:sldId id="413" r:id="rId78"/>
    <p:sldId id="414" r:id="rId79"/>
    <p:sldId id="412" r:id="rId80"/>
    <p:sldId id="415" r:id="rId81"/>
    <p:sldId id="416" r:id="rId82"/>
    <p:sldId id="417" r:id="rId83"/>
    <p:sldId id="418" r:id="rId84"/>
    <p:sldId id="419" r:id="rId85"/>
    <p:sldId id="420" r:id="rId86"/>
    <p:sldId id="421" r:id="rId87"/>
    <p:sldId id="422" r:id="rId88"/>
    <p:sldId id="423" r:id="rId89"/>
    <p:sldId id="424" r:id="rId90"/>
    <p:sldId id="425" r:id="rId91"/>
    <p:sldId id="426" r:id="rId92"/>
    <p:sldId id="432" r:id="rId93"/>
    <p:sldId id="433" r:id="rId94"/>
    <p:sldId id="436" r:id="rId95"/>
    <p:sldId id="434" r:id="rId96"/>
    <p:sldId id="435" r:id="rId97"/>
    <p:sldId id="446" r:id="rId98"/>
    <p:sldId id="438" r:id="rId99"/>
    <p:sldId id="439" r:id="rId100"/>
    <p:sldId id="440" r:id="rId101"/>
    <p:sldId id="441" r:id="rId102"/>
    <p:sldId id="443" r:id="rId103"/>
    <p:sldId id="442" r:id="rId104"/>
    <p:sldId id="444" r:id="rId105"/>
    <p:sldId id="510" r:id="rId106"/>
    <p:sldId id="445" r:id="rId107"/>
    <p:sldId id="483" r:id="rId108"/>
    <p:sldId id="511" r:id="rId109"/>
    <p:sldId id="496" r:id="rId110"/>
    <p:sldId id="497" r:id="rId111"/>
    <p:sldId id="498" r:id="rId112"/>
    <p:sldId id="499" r:id="rId113"/>
    <p:sldId id="500" r:id="rId114"/>
    <p:sldId id="495" r:id="rId115"/>
    <p:sldId id="484" r:id="rId116"/>
    <p:sldId id="485" r:id="rId117"/>
    <p:sldId id="486" r:id="rId118"/>
    <p:sldId id="487" r:id="rId119"/>
    <p:sldId id="488" r:id="rId120"/>
    <p:sldId id="492" r:id="rId121"/>
    <p:sldId id="494" r:id="rId122"/>
    <p:sldId id="493" r:id="rId123"/>
    <p:sldId id="427" r:id="rId124"/>
    <p:sldId id="428" r:id="rId125"/>
    <p:sldId id="429" r:id="rId126"/>
    <p:sldId id="403" r:id="rId127"/>
    <p:sldId id="301" r:id="rId128"/>
    <p:sldId id="430" r:id="rId129"/>
    <p:sldId id="431" r:id="rId130"/>
    <p:sldId id="260" r:id="rId13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5050"/>
    <a:srgbClr val="008000"/>
    <a:srgbClr val="33CC33"/>
    <a:srgbClr val="8FCF49"/>
    <a:srgbClr val="BCE292"/>
    <a:srgbClr val="006600"/>
    <a:srgbClr val="0E2D07"/>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27" autoAdjust="0"/>
  </p:normalViewPr>
  <p:slideViewPr>
    <p:cSldViewPr>
      <p:cViewPr varScale="1">
        <p:scale>
          <a:sx n="138" d="100"/>
          <a:sy n="138" d="100"/>
        </p:scale>
        <p:origin x="792"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80A121-E33B-4CAD-8A7C-27E0E78B2A52}" type="doc">
      <dgm:prSet loTypeId="urn:microsoft.com/office/officeart/2005/8/layout/funnel1" loCatId="relationship" qsTypeId="urn:microsoft.com/office/officeart/2005/8/quickstyle/simple1" qsCatId="simple" csTypeId="urn:microsoft.com/office/officeart/2005/8/colors/colorful5" csCatId="colorful" phldr="1"/>
      <dgm:spPr/>
      <dgm:t>
        <a:bodyPr/>
        <a:lstStyle/>
        <a:p>
          <a:endParaRPr lang="zh-CN" altLang="en-US"/>
        </a:p>
      </dgm:t>
    </dgm:pt>
    <dgm:pt modelId="{0EAAE1DF-61BC-4021-9B2C-C546582CB16D}">
      <dgm:prSet phldrT="[文本]"/>
      <dgm:spPr/>
      <dgm:t>
        <a:bodyPr/>
        <a:lstStyle/>
        <a:p>
          <a:r>
            <a:rPr lang="zh-CN" altLang="en-US" b="1" dirty="0" smtClean="0">
              <a:solidFill>
                <a:schemeClr val="bg1"/>
              </a:solidFill>
            </a:rPr>
            <a:t>联机批处理</a:t>
          </a:r>
          <a:endParaRPr lang="zh-CN" altLang="en-US" b="1" dirty="0">
            <a:solidFill>
              <a:schemeClr val="bg1"/>
            </a:solidFill>
          </a:endParaRPr>
        </a:p>
      </dgm:t>
    </dgm:pt>
    <dgm:pt modelId="{F8F1EAE7-4496-4465-B9EA-62A5A2A9D611}" type="sibTrans" cxnId="{F9A9F1AA-2D39-45A0-A1D3-5046C32A85C0}">
      <dgm:prSet/>
      <dgm:spPr/>
      <dgm:t>
        <a:bodyPr/>
        <a:lstStyle/>
        <a:p>
          <a:endParaRPr lang="zh-CN" altLang="en-US"/>
        </a:p>
      </dgm:t>
    </dgm:pt>
    <dgm:pt modelId="{39B4E657-A8BE-44D0-98DD-8619EB5CFA0E}" type="parTrans" cxnId="{F9A9F1AA-2D39-45A0-A1D3-5046C32A85C0}">
      <dgm:prSet/>
      <dgm:spPr/>
      <dgm:t>
        <a:bodyPr/>
        <a:lstStyle/>
        <a:p>
          <a:endParaRPr lang="zh-CN" altLang="en-US"/>
        </a:p>
      </dgm:t>
    </dgm:pt>
    <dgm:pt modelId="{8DAE7CFE-F417-4C3C-83FD-648D43EDFE9F}">
      <dgm:prSet phldrT="[文本]"/>
      <dgm:spPr/>
      <dgm:t>
        <a:bodyPr/>
        <a:lstStyle/>
        <a:p>
          <a:r>
            <a:rPr lang="zh-CN" altLang="en-US" b="1" dirty="0" smtClean="0">
              <a:solidFill>
                <a:schemeClr val="bg1"/>
              </a:solidFill>
            </a:rPr>
            <a:t>脱机批处理</a:t>
          </a:r>
          <a:endParaRPr lang="zh-CN" altLang="en-US" b="1" dirty="0">
            <a:solidFill>
              <a:schemeClr val="bg1"/>
            </a:solidFill>
          </a:endParaRPr>
        </a:p>
      </dgm:t>
    </dgm:pt>
    <dgm:pt modelId="{3BFB67CC-58BA-4980-8E35-E5A8BDCC298A}" type="sibTrans" cxnId="{3C1B9EC9-FE23-4BB4-9696-4B206ED8FADE}">
      <dgm:prSet/>
      <dgm:spPr/>
      <dgm:t>
        <a:bodyPr/>
        <a:lstStyle/>
        <a:p>
          <a:endParaRPr lang="zh-CN" altLang="en-US"/>
        </a:p>
      </dgm:t>
    </dgm:pt>
    <dgm:pt modelId="{C5BAE6FF-6570-4472-8AC0-5DA7F3946551}" type="parTrans" cxnId="{3C1B9EC9-FE23-4BB4-9696-4B206ED8FADE}">
      <dgm:prSet/>
      <dgm:spPr/>
      <dgm:t>
        <a:bodyPr/>
        <a:lstStyle/>
        <a:p>
          <a:endParaRPr lang="zh-CN" altLang="en-US"/>
        </a:p>
      </dgm:t>
    </dgm:pt>
    <dgm:pt modelId="{AE97DEB5-CFB1-4EC6-9A18-AE5EB64AA10D}">
      <dgm:prSet phldrT="[文本]" phldr="1"/>
      <dgm:spPr/>
      <dgm:t>
        <a:bodyPr/>
        <a:lstStyle/>
        <a:p>
          <a:endParaRPr lang="zh-CN" altLang="en-US" dirty="0"/>
        </a:p>
      </dgm:t>
    </dgm:pt>
    <dgm:pt modelId="{BDE3CA23-62E1-4BF9-B8A6-97A9D11FB591}" type="sibTrans" cxnId="{315182D5-D1A0-4976-A3B0-89CC059787E8}">
      <dgm:prSet/>
      <dgm:spPr/>
      <dgm:t>
        <a:bodyPr/>
        <a:lstStyle/>
        <a:p>
          <a:endParaRPr lang="zh-CN" altLang="en-US"/>
        </a:p>
      </dgm:t>
    </dgm:pt>
    <dgm:pt modelId="{16E558A7-DFB9-4DFA-BAA9-8B08CD20F7C5}" type="parTrans" cxnId="{315182D5-D1A0-4976-A3B0-89CC059787E8}">
      <dgm:prSet/>
      <dgm:spPr/>
      <dgm:t>
        <a:bodyPr/>
        <a:lstStyle/>
        <a:p>
          <a:endParaRPr lang="zh-CN" altLang="en-US"/>
        </a:p>
      </dgm:t>
    </dgm:pt>
    <dgm:pt modelId="{4F09A500-3947-4425-89D0-6CB616A4CCA1}" type="pres">
      <dgm:prSet presAssocID="{8C80A121-E33B-4CAD-8A7C-27E0E78B2A52}" presName="Name0" presStyleCnt="0">
        <dgm:presLayoutVars>
          <dgm:chMax val="4"/>
          <dgm:resizeHandles val="exact"/>
        </dgm:presLayoutVars>
      </dgm:prSet>
      <dgm:spPr/>
      <dgm:t>
        <a:bodyPr/>
        <a:lstStyle/>
        <a:p>
          <a:endParaRPr lang="zh-CN" altLang="en-US"/>
        </a:p>
      </dgm:t>
    </dgm:pt>
    <dgm:pt modelId="{2DB72807-CE10-434B-8222-269A75D2D400}" type="pres">
      <dgm:prSet presAssocID="{8C80A121-E33B-4CAD-8A7C-27E0E78B2A52}" presName="ellipse" presStyleLbl="trBgShp" presStyleIdx="0" presStyleCnt="1"/>
      <dgm:spPr/>
    </dgm:pt>
    <dgm:pt modelId="{C324FCF7-8CF4-49A0-9755-63C5CBD55528}" type="pres">
      <dgm:prSet presAssocID="{8C80A121-E33B-4CAD-8A7C-27E0E78B2A52}" presName="arrow1" presStyleLbl="fgShp" presStyleIdx="0" presStyleCnt="1"/>
      <dgm:spPr/>
    </dgm:pt>
    <dgm:pt modelId="{EC1F3EDE-82F9-49DD-85C5-06625663ED5D}" type="pres">
      <dgm:prSet presAssocID="{8C80A121-E33B-4CAD-8A7C-27E0E78B2A52}" presName="rectangle" presStyleLbl="revTx" presStyleIdx="0" presStyleCnt="1" custLinFactNeighborX="8580" custLinFactNeighborY="4092">
        <dgm:presLayoutVars>
          <dgm:bulletEnabled val="1"/>
        </dgm:presLayoutVars>
      </dgm:prSet>
      <dgm:spPr/>
      <dgm:t>
        <a:bodyPr/>
        <a:lstStyle/>
        <a:p>
          <a:endParaRPr lang="zh-CN" altLang="en-US"/>
        </a:p>
      </dgm:t>
    </dgm:pt>
    <dgm:pt modelId="{E5A888D2-DCBC-4D07-9C9E-309289499464}" type="pres">
      <dgm:prSet presAssocID="{8DAE7CFE-F417-4C3C-83FD-648D43EDFE9F}" presName="item1" presStyleLbl="node1" presStyleIdx="0" presStyleCnt="2">
        <dgm:presLayoutVars>
          <dgm:bulletEnabled val="1"/>
        </dgm:presLayoutVars>
      </dgm:prSet>
      <dgm:spPr/>
      <dgm:t>
        <a:bodyPr/>
        <a:lstStyle/>
        <a:p>
          <a:endParaRPr lang="zh-CN" altLang="en-US"/>
        </a:p>
      </dgm:t>
    </dgm:pt>
    <dgm:pt modelId="{C29F8DE9-A3FA-477B-AA4F-79C38E808378}" type="pres">
      <dgm:prSet presAssocID="{AE97DEB5-CFB1-4EC6-9A18-AE5EB64AA10D}" presName="item2" presStyleLbl="node1" presStyleIdx="1" presStyleCnt="2">
        <dgm:presLayoutVars>
          <dgm:bulletEnabled val="1"/>
        </dgm:presLayoutVars>
      </dgm:prSet>
      <dgm:spPr/>
      <dgm:t>
        <a:bodyPr/>
        <a:lstStyle/>
        <a:p>
          <a:endParaRPr lang="zh-CN" altLang="en-US"/>
        </a:p>
      </dgm:t>
    </dgm:pt>
    <dgm:pt modelId="{F4BC659E-C60E-47E8-B885-1A528D8395FA}" type="pres">
      <dgm:prSet presAssocID="{8C80A121-E33B-4CAD-8A7C-27E0E78B2A52}" presName="funnel" presStyleLbl="trAlignAcc1" presStyleIdx="0" presStyleCnt="1"/>
      <dgm:spPr/>
    </dgm:pt>
  </dgm:ptLst>
  <dgm:cxnLst>
    <dgm:cxn modelId="{9F099581-551C-46A3-B0D1-B1ACDC615AD5}" type="presOf" srcId="{8DAE7CFE-F417-4C3C-83FD-648D43EDFE9F}" destId="{E5A888D2-DCBC-4D07-9C9E-309289499464}" srcOrd="0" destOrd="0" presId="urn:microsoft.com/office/officeart/2005/8/layout/funnel1"/>
    <dgm:cxn modelId="{16750161-6BA3-4572-8FAC-57F0413993F9}" type="presOf" srcId="{0EAAE1DF-61BC-4021-9B2C-C546582CB16D}" destId="{C29F8DE9-A3FA-477B-AA4F-79C38E808378}" srcOrd="0" destOrd="0" presId="urn:microsoft.com/office/officeart/2005/8/layout/funnel1"/>
    <dgm:cxn modelId="{CD03B49A-10C5-46A7-AFE4-6A7AD406C3E3}" type="presOf" srcId="{AE97DEB5-CFB1-4EC6-9A18-AE5EB64AA10D}" destId="{EC1F3EDE-82F9-49DD-85C5-06625663ED5D}" srcOrd="0" destOrd="0" presId="urn:microsoft.com/office/officeart/2005/8/layout/funnel1"/>
    <dgm:cxn modelId="{3C1B9EC9-FE23-4BB4-9696-4B206ED8FADE}" srcId="{8C80A121-E33B-4CAD-8A7C-27E0E78B2A52}" destId="{8DAE7CFE-F417-4C3C-83FD-648D43EDFE9F}" srcOrd="1" destOrd="0" parTransId="{C5BAE6FF-6570-4472-8AC0-5DA7F3946551}" sibTransId="{3BFB67CC-58BA-4980-8E35-E5A8BDCC298A}"/>
    <dgm:cxn modelId="{89205D81-7C4B-4C28-A3C4-6FE6E197E39E}" type="presOf" srcId="{8C80A121-E33B-4CAD-8A7C-27E0E78B2A52}" destId="{4F09A500-3947-4425-89D0-6CB616A4CCA1}" srcOrd="0" destOrd="0" presId="urn:microsoft.com/office/officeart/2005/8/layout/funnel1"/>
    <dgm:cxn modelId="{315182D5-D1A0-4976-A3B0-89CC059787E8}" srcId="{8C80A121-E33B-4CAD-8A7C-27E0E78B2A52}" destId="{AE97DEB5-CFB1-4EC6-9A18-AE5EB64AA10D}" srcOrd="2" destOrd="0" parTransId="{16E558A7-DFB9-4DFA-BAA9-8B08CD20F7C5}" sibTransId="{BDE3CA23-62E1-4BF9-B8A6-97A9D11FB591}"/>
    <dgm:cxn modelId="{F9A9F1AA-2D39-45A0-A1D3-5046C32A85C0}" srcId="{8C80A121-E33B-4CAD-8A7C-27E0E78B2A52}" destId="{0EAAE1DF-61BC-4021-9B2C-C546582CB16D}" srcOrd="0" destOrd="0" parTransId="{39B4E657-A8BE-44D0-98DD-8619EB5CFA0E}" sibTransId="{F8F1EAE7-4496-4465-B9EA-62A5A2A9D611}"/>
    <dgm:cxn modelId="{0F0B38C3-4C9A-4EFC-A526-6C92815A2DA9}" type="presParOf" srcId="{4F09A500-3947-4425-89D0-6CB616A4CCA1}" destId="{2DB72807-CE10-434B-8222-269A75D2D400}" srcOrd="0" destOrd="0" presId="urn:microsoft.com/office/officeart/2005/8/layout/funnel1"/>
    <dgm:cxn modelId="{17AAA4E7-1F3A-45C2-AF84-B217F3A58B31}" type="presParOf" srcId="{4F09A500-3947-4425-89D0-6CB616A4CCA1}" destId="{C324FCF7-8CF4-49A0-9755-63C5CBD55528}" srcOrd="1" destOrd="0" presId="urn:microsoft.com/office/officeart/2005/8/layout/funnel1"/>
    <dgm:cxn modelId="{AF40AF8F-527D-4362-94D7-1C085DFF254C}" type="presParOf" srcId="{4F09A500-3947-4425-89D0-6CB616A4CCA1}" destId="{EC1F3EDE-82F9-49DD-85C5-06625663ED5D}" srcOrd="2" destOrd="0" presId="urn:microsoft.com/office/officeart/2005/8/layout/funnel1"/>
    <dgm:cxn modelId="{DF8561FE-3ED2-44B6-9488-FF7ABA239E81}" type="presParOf" srcId="{4F09A500-3947-4425-89D0-6CB616A4CCA1}" destId="{E5A888D2-DCBC-4D07-9C9E-309289499464}" srcOrd="3" destOrd="0" presId="urn:microsoft.com/office/officeart/2005/8/layout/funnel1"/>
    <dgm:cxn modelId="{C8DA40CD-A56C-4050-B20F-1A5F2DED230D}" type="presParOf" srcId="{4F09A500-3947-4425-89D0-6CB616A4CCA1}" destId="{C29F8DE9-A3FA-477B-AA4F-79C38E808378}" srcOrd="4" destOrd="0" presId="urn:microsoft.com/office/officeart/2005/8/layout/funnel1"/>
    <dgm:cxn modelId="{3F1E3971-C07E-471D-9144-A4D89EEE3720}" type="presParOf" srcId="{4F09A500-3947-4425-89D0-6CB616A4CCA1}" destId="{F4BC659E-C60E-47E8-B885-1A528D8395FA}" srcOrd="5"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861F93-5F58-4A20-91B5-06D0372A3A10}" type="doc">
      <dgm:prSet loTypeId="urn:microsoft.com/office/officeart/2005/8/layout/hList3" loCatId="list" qsTypeId="urn:microsoft.com/office/officeart/2005/8/quickstyle/simple1" qsCatId="simple" csTypeId="urn:microsoft.com/office/officeart/2005/8/colors/colorful3" csCatId="colorful" phldr="1"/>
      <dgm:spPr/>
      <dgm:t>
        <a:bodyPr/>
        <a:lstStyle/>
        <a:p>
          <a:endParaRPr lang="zh-CN" altLang="en-US"/>
        </a:p>
      </dgm:t>
    </dgm:pt>
    <dgm:pt modelId="{5D717144-5D1E-43DE-A7EF-6715D80892C8}">
      <dgm:prSet phldrT="[文本]" custT="1"/>
      <dgm:spPr/>
      <dgm:t>
        <a:bodyPr/>
        <a:lstStyle/>
        <a:p>
          <a:r>
            <a:rPr lang="zh-CN" altLang="en-US" sz="2800" b="1" dirty="0" smtClean="0"/>
            <a:t>特征</a:t>
          </a:r>
          <a:endParaRPr lang="zh-CN" altLang="en-US" sz="2800" b="1" dirty="0"/>
        </a:p>
      </dgm:t>
    </dgm:pt>
    <dgm:pt modelId="{C0118CCE-5A6C-4E4C-890B-E4823A59E9A9}" type="parTrans" cxnId="{DDA8B0F1-9946-4311-B2B7-A4557D374A99}">
      <dgm:prSet/>
      <dgm:spPr/>
      <dgm:t>
        <a:bodyPr/>
        <a:lstStyle/>
        <a:p>
          <a:endParaRPr lang="zh-CN" altLang="en-US"/>
        </a:p>
      </dgm:t>
    </dgm:pt>
    <dgm:pt modelId="{1AE092C8-9917-4A82-8460-AEFF86AB57FE}" type="sibTrans" cxnId="{DDA8B0F1-9946-4311-B2B7-A4557D374A99}">
      <dgm:prSet/>
      <dgm:spPr/>
      <dgm:t>
        <a:bodyPr/>
        <a:lstStyle/>
        <a:p>
          <a:endParaRPr lang="zh-CN" altLang="en-US"/>
        </a:p>
      </dgm:t>
    </dgm:pt>
    <dgm:pt modelId="{0703B943-C6C2-4B07-99BA-0239F7DA518A}">
      <dgm:prSet phldrT="[文本]" custT="1"/>
      <dgm:spPr/>
      <dgm:t>
        <a:bodyPr/>
        <a:lstStyle/>
        <a:p>
          <a:r>
            <a:rPr lang="zh-CN" altLang="en-US" sz="2400" b="1" dirty="0" smtClean="0"/>
            <a:t>计算机网络是一个互联的计算机系统的群体</a:t>
          </a:r>
          <a:endParaRPr lang="zh-CN" altLang="en-US" sz="2400" b="1" dirty="0"/>
        </a:p>
      </dgm:t>
    </dgm:pt>
    <dgm:pt modelId="{982FEA84-759A-40BB-BE07-231A8FDE5ED8}" type="parTrans" cxnId="{21AE79F2-C1F4-430E-AAA9-A08E97ABD247}">
      <dgm:prSet/>
      <dgm:spPr/>
      <dgm:t>
        <a:bodyPr/>
        <a:lstStyle/>
        <a:p>
          <a:endParaRPr lang="zh-CN" altLang="en-US"/>
        </a:p>
      </dgm:t>
    </dgm:pt>
    <dgm:pt modelId="{5CCF6609-79AC-4F78-9158-A1B978A2AD56}" type="sibTrans" cxnId="{21AE79F2-C1F4-430E-AAA9-A08E97ABD247}">
      <dgm:prSet/>
      <dgm:spPr/>
      <dgm:t>
        <a:bodyPr/>
        <a:lstStyle/>
        <a:p>
          <a:endParaRPr lang="zh-CN" altLang="en-US"/>
        </a:p>
      </dgm:t>
    </dgm:pt>
    <dgm:pt modelId="{BB758106-8AC3-4F7A-A199-5A54D20F06CC}">
      <dgm:prSet phldrT="[文本]" custT="1"/>
      <dgm:spPr/>
      <dgm:t>
        <a:bodyPr/>
        <a:lstStyle/>
        <a:p>
          <a:r>
            <a:rPr lang="zh-CN" altLang="en-US" sz="2400" b="1" dirty="0" smtClean="0"/>
            <a:t>这些计算机是自治的</a:t>
          </a:r>
          <a:endParaRPr lang="zh-CN" altLang="en-US" sz="2400" b="1" dirty="0"/>
        </a:p>
      </dgm:t>
    </dgm:pt>
    <dgm:pt modelId="{C4E4002E-E538-44BC-8376-46FF6B8CA333}" type="parTrans" cxnId="{630853CA-6C68-44CA-8EEE-979A69C411F0}">
      <dgm:prSet/>
      <dgm:spPr/>
      <dgm:t>
        <a:bodyPr/>
        <a:lstStyle/>
        <a:p>
          <a:endParaRPr lang="zh-CN" altLang="en-US"/>
        </a:p>
      </dgm:t>
    </dgm:pt>
    <dgm:pt modelId="{175AB615-5FB8-46B9-824C-1ED7556E6F89}" type="sibTrans" cxnId="{630853CA-6C68-44CA-8EEE-979A69C411F0}">
      <dgm:prSet/>
      <dgm:spPr/>
      <dgm:t>
        <a:bodyPr/>
        <a:lstStyle/>
        <a:p>
          <a:endParaRPr lang="zh-CN" altLang="en-US"/>
        </a:p>
      </dgm:t>
    </dgm:pt>
    <dgm:pt modelId="{8CE67492-42D6-4707-9F6A-7760CDD34B0A}">
      <dgm:prSet phldrT="[文本]"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sz="2400" b="1" dirty="0" smtClean="0"/>
            <a:t>系统互连要通过通信设施（硬件和软件）来实现</a:t>
          </a:r>
          <a:endParaRPr lang="zh-CN" altLang="en-US" sz="2400" b="1" dirty="0"/>
        </a:p>
      </dgm:t>
    </dgm:pt>
    <dgm:pt modelId="{82E63830-B510-40A2-91E8-A9107102375F}" type="parTrans" cxnId="{32BD5B28-4292-4116-80C5-F6E34D791C8B}">
      <dgm:prSet/>
      <dgm:spPr/>
      <dgm:t>
        <a:bodyPr/>
        <a:lstStyle/>
        <a:p>
          <a:endParaRPr lang="zh-CN" altLang="en-US"/>
        </a:p>
      </dgm:t>
    </dgm:pt>
    <dgm:pt modelId="{CD8A113C-4D82-4FAF-AC59-C73884C9E148}" type="sibTrans" cxnId="{32BD5B28-4292-4116-80C5-F6E34D791C8B}">
      <dgm:prSet/>
      <dgm:spPr/>
      <dgm:t>
        <a:bodyPr/>
        <a:lstStyle/>
        <a:p>
          <a:endParaRPr lang="zh-CN" altLang="en-US"/>
        </a:p>
      </dgm:t>
    </dgm:pt>
    <dgm:pt modelId="{2014340D-BBC3-42FE-B7BB-161745B46752}">
      <dgm:prSet phldrT="[文本]"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sz="2400" b="1" dirty="0" smtClean="0"/>
            <a:t>系统通过通信设施执行信息交换、资源共享、互操作协作处理</a:t>
          </a:r>
        </a:p>
        <a:p>
          <a:pPr defTabSz="1244600">
            <a:lnSpc>
              <a:spcPct val="90000"/>
            </a:lnSpc>
            <a:spcBef>
              <a:spcPct val="0"/>
            </a:spcBef>
            <a:spcAft>
              <a:spcPct val="35000"/>
            </a:spcAft>
          </a:pPr>
          <a:endParaRPr lang="zh-CN" altLang="en-US" sz="1800" dirty="0"/>
        </a:p>
      </dgm:t>
    </dgm:pt>
    <dgm:pt modelId="{581A8DBF-B855-4D94-AB4F-BC7D1D511A0B}" type="parTrans" cxnId="{303FE521-0BCF-4044-9666-FF7F9F0183CA}">
      <dgm:prSet/>
      <dgm:spPr/>
      <dgm:t>
        <a:bodyPr/>
        <a:lstStyle/>
        <a:p>
          <a:endParaRPr lang="zh-CN" altLang="en-US"/>
        </a:p>
      </dgm:t>
    </dgm:pt>
    <dgm:pt modelId="{6B45282C-7EF6-45AF-B3FC-60ACB0B05F4D}" type="sibTrans" cxnId="{303FE521-0BCF-4044-9666-FF7F9F0183CA}">
      <dgm:prSet/>
      <dgm:spPr/>
      <dgm:t>
        <a:bodyPr/>
        <a:lstStyle/>
        <a:p>
          <a:endParaRPr lang="zh-CN" altLang="en-US"/>
        </a:p>
      </dgm:t>
    </dgm:pt>
    <dgm:pt modelId="{5AA1D62A-BD7A-4862-A680-A43A6E72F478}" type="pres">
      <dgm:prSet presAssocID="{D0861F93-5F58-4A20-91B5-06D0372A3A10}" presName="composite" presStyleCnt="0">
        <dgm:presLayoutVars>
          <dgm:chMax val="1"/>
          <dgm:dir/>
          <dgm:resizeHandles val="exact"/>
        </dgm:presLayoutVars>
      </dgm:prSet>
      <dgm:spPr/>
      <dgm:t>
        <a:bodyPr/>
        <a:lstStyle/>
        <a:p>
          <a:endParaRPr lang="zh-CN" altLang="en-US"/>
        </a:p>
      </dgm:t>
    </dgm:pt>
    <dgm:pt modelId="{9F4B8DF5-5F2B-42B5-9B25-868166E4A7AF}" type="pres">
      <dgm:prSet presAssocID="{5D717144-5D1E-43DE-A7EF-6715D80892C8}" presName="roof" presStyleLbl="dkBgShp" presStyleIdx="0" presStyleCnt="2" custLinFactNeighborY="2957"/>
      <dgm:spPr/>
      <dgm:t>
        <a:bodyPr/>
        <a:lstStyle/>
        <a:p>
          <a:endParaRPr lang="zh-CN" altLang="en-US"/>
        </a:p>
      </dgm:t>
    </dgm:pt>
    <dgm:pt modelId="{30DF4384-2335-4400-9B11-8C81F34BC788}" type="pres">
      <dgm:prSet presAssocID="{5D717144-5D1E-43DE-A7EF-6715D80892C8}" presName="pillars" presStyleCnt="0"/>
      <dgm:spPr/>
    </dgm:pt>
    <dgm:pt modelId="{53D08FEA-E20F-4753-880A-A15D42E4E221}" type="pres">
      <dgm:prSet presAssocID="{5D717144-5D1E-43DE-A7EF-6715D80892C8}" presName="pillar1" presStyleLbl="node1" presStyleIdx="0" presStyleCnt="4" custScaleX="80405" custScaleY="111509" custLinFactNeighborX="-101" custLinFactNeighborY="-3336">
        <dgm:presLayoutVars>
          <dgm:bulletEnabled val="1"/>
        </dgm:presLayoutVars>
      </dgm:prSet>
      <dgm:spPr/>
      <dgm:t>
        <a:bodyPr/>
        <a:lstStyle/>
        <a:p>
          <a:endParaRPr lang="zh-CN" altLang="en-US"/>
        </a:p>
      </dgm:t>
    </dgm:pt>
    <dgm:pt modelId="{F8588ADA-ACC3-4991-BC4F-3E3728221545}" type="pres">
      <dgm:prSet presAssocID="{BB758106-8AC3-4F7A-A199-5A54D20F06CC}" presName="pillarX" presStyleLbl="node1" presStyleIdx="1" presStyleCnt="4" custScaleX="46372" custScaleY="117738">
        <dgm:presLayoutVars>
          <dgm:bulletEnabled val="1"/>
        </dgm:presLayoutVars>
      </dgm:prSet>
      <dgm:spPr/>
      <dgm:t>
        <a:bodyPr/>
        <a:lstStyle/>
        <a:p>
          <a:endParaRPr lang="zh-CN" altLang="en-US"/>
        </a:p>
      </dgm:t>
    </dgm:pt>
    <dgm:pt modelId="{AEE07AF6-8B8D-4EA1-884C-52E744A41E91}" type="pres">
      <dgm:prSet presAssocID="{8CE67492-42D6-4707-9F6A-7760CDD34B0A}" presName="pillarX" presStyleLbl="node1" presStyleIdx="2" presStyleCnt="4" custScaleX="71563" custScaleY="117738">
        <dgm:presLayoutVars>
          <dgm:bulletEnabled val="1"/>
        </dgm:presLayoutVars>
      </dgm:prSet>
      <dgm:spPr/>
      <dgm:t>
        <a:bodyPr/>
        <a:lstStyle/>
        <a:p>
          <a:endParaRPr lang="zh-CN" altLang="en-US"/>
        </a:p>
      </dgm:t>
    </dgm:pt>
    <dgm:pt modelId="{4D37E6E3-D31C-4C1C-B3DD-38AFD94DAAE7}" type="pres">
      <dgm:prSet presAssocID="{2014340D-BBC3-42FE-B7BB-161745B46752}" presName="pillarX" presStyleLbl="node1" presStyleIdx="3" presStyleCnt="4" custScaleY="117738">
        <dgm:presLayoutVars>
          <dgm:bulletEnabled val="1"/>
        </dgm:presLayoutVars>
      </dgm:prSet>
      <dgm:spPr/>
      <dgm:t>
        <a:bodyPr/>
        <a:lstStyle/>
        <a:p>
          <a:endParaRPr lang="zh-CN" altLang="en-US"/>
        </a:p>
      </dgm:t>
    </dgm:pt>
    <dgm:pt modelId="{A9A779A1-AA75-49D6-9AA6-6D65EBE3FD8C}" type="pres">
      <dgm:prSet presAssocID="{5D717144-5D1E-43DE-A7EF-6715D80892C8}" presName="base" presStyleLbl="dkBgShp" presStyleIdx="1" presStyleCnt="2"/>
      <dgm:spPr/>
    </dgm:pt>
  </dgm:ptLst>
  <dgm:cxnLst>
    <dgm:cxn modelId="{303FE521-0BCF-4044-9666-FF7F9F0183CA}" srcId="{5D717144-5D1E-43DE-A7EF-6715D80892C8}" destId="{2014340D-BBC3-42FE-B7BB-161745B46752}" srcOrd="3" destOrd="0" parTransId="{581A8DBF-B855-4D94-AB4F-BC7D1D511A0B}" sibTransId="{6B45282C-7EF6-45AF-B3FC-60ACB0B05F4D}"/>
    <dgm:cxn modelId="{32BD5B28-4292-4116-80C5-F6E34D791C8B}" srcId="{5D717144-5D1E-43DE-A7EF-6715D80892C8}" destId="{8CE67492-42D6-4707-9F6A-7760CDD34B0A}" srcOrd="2" destOrd="0" parTransId="{82E63830-B510-40A2-91E8-A9107102375F}" sibTransId="{CD8A113C-4D82-4FAF-AC59-C73884C9E148}"/>
    <dgm:cxn modelId="{DDA8B0F1-9946-4311-B2B7-A4557D374A99}" srcId="{D0861F93-5F58-4A20-91B5-06D0372A3A10}" destId="{5D717144-5D1E-43DE-A7EF-6715D80892C8}" srcOrd="0" destOrd="0" parTransId="{C0118CCE-5A6C-4E4C-890B-E4823A59E9A9}" sibTransId="{1AE092C8-9917-4A82-8460-AEFF86AB57FE}"/>
    <dgm:cxn modelId="{21AE79F2-C1F4-430E-AAA9-A08E97ABD247}" srcId="{5D717144-5D1E-43DE-A7EF-6715D80892C8}" destId="{0703B943-C6C2-4B07-99BA-0239F7DA518A}" srcOrd="0" destOrd="0" parTransId="{982FEA84-759A-40BB-BE07-231A8FDE5ED8}" sibTransId="{5CCF6609-79AC-4F78-9158-A1B978A2AD56}"/>
    <dgm:cxn modelId="{8AA06802-FBA8-476A-A00B-36BC1BF5908D}" type="presOf" srcId="{D0861F93-5F58-4A20-91B5-06D0372A3A10}" destId="{5AA1D62A-BD7A-4862-A680-A43A6E72F478}" srcOrd="0" destOrd="0" presId="urn:microsoft.com/office/officeart/2005/8/layout/hList3"/>
    <dgm:cxn modelId="{84EA5A01-7A9A-43FA-A0F1-199718E253CF}" type="presOf" srcId="{BB758106-8AC3-4F7A-A199-5A54D20F06CC}" destId="{F8588ADA-ACC3-4991-BC4F-3E3728221545}" srcOrd="0" destOrd="0" presId="urn:microsoft.com/office/officeart/2005/8/layout/hList3"/>
    <dgm:cxn modelId="{4B0F4E06-E75E-40A6-B39E-B80A56546563}" type="presOf" srcId="{8CE67492-42D6-4707-9F6A-7760CDD34B0A}" destId="{AEE07AF6-8B8D-4EA1-884C-52E744A41E91}" srcOrd="0" destOrd="0" presId="urn:microsoft.com/office/officeart/2005/8/layout/hList3"/>
    <dgm:cxn modelId="{FC22E92E-1D6D-4459-BF83-D5477C6144FF}" type="presOf" srcId="{5D717144-5D1E-43DE-A7EF-6715D80892C8}" destId="{9F4B8DF5-5F2B-42B5-9B25-868166E4A7AF}" srcOrd="0" destOrd="0" presId="urn:microsoft.com/office/officeart/2005/8/layout/hList3"/>
    <dgm:cxn modelId="{630853CA-6C68-44CA-8EEE-979A69C411F0}" srcId="{5D717144-5D1E-43DE-A7EF-6715D80892C8}" destId="{BB758106-8AC3-4F7A-A199-5A54D20F06CC}" srcOrd="1" destOrd="0" parTransId="{C4E4002E-E538-44BC-8376-46FF6B8CA333}" sibTransId="{175AB615-5FB8-46B9-824C-1ED7556E6F89}"/>
    <dgm:cxn modelId="{608DEDAE-DFA8-4E42-8125-86767A22AF23}" type="presOf" srcId="{2014340D-BBC3-42FE-B7BB-161745B46752}" destId="{4D37E6E3-D31C-4C1C-B3DD-38AFD94DAAE7}" srcOrd="0" destOrd="0" presId="urn:microsoft.com/office/officeart/2005/8/layout/hList3"/>
    <dgm:cxn modelId="{224D96C9-1303-4651-971B-3CC3013598E7}" type="presOf" srcId="{0703B943-C6C2-4B07-99BA-0239F7DA518A}" destId="{53D08FEA-E20F-4753-880A-A15D42E4E221}" srcOrd="0" destOrd="0" presId="urn:microsoft.com/office/officeart/2005/8/layout/hList3"/>
    <dgm:cxn modelId="{1E7D8E90-6F0C-47C1-801C-F00E7A6F4FA4}" type="presParOf" srcId="{5AA1D62A-BD7A-4862-A680-A43A6E72F478}" destId="{9F4B8DF5-5F2B-42B5-9B25-868166E4A7AF}" srcOrd="0" destOrd="0" presId="urn:microsoft.com/office/officeart/2005/8/layout/hList3"/>
    <dgm:cxn modelId="{668F9CBA-4D11-402F-B7ED-05A9CB4F7353}" type="presParOf" srcId="{5AA1D62A-BD7A-4862-A680-A43A6E72F478}" destId="{30DF4384-2335-4400-9B11-8C81F34BC788}" srcOrd="1" destOrd="0" presId="urn:microsoft.com/office/officeart/2005/8/layout/hList3"/>
    <dgm:cxn modelId="{F22C91DB-A9B4-485C-90BA-4B824D006EBC}" type="presParOf" srcId="{30DF4384-2335-4400-9B11-8C81F34BC788}" destId="{53D08FEA-E20F-4753-880A-A15D42E4E221}" srcOrd="0" destOrd="0" presId="urn:microsoft.com/office/officeart/2005/8/layout/hList3"/>
    <dgm:cxn modelId="{76E3EEA4-F751-443C-8711-DAD5E1B0E584}" type="presParOf" srcId="{30DF4384-2335-4400-9B11-8C81F34BC788}" destId="{F8588ADA-ACC3-4991-BC4F-3E3728221545}" srcOrd="1" destOrd="0" presId="urn:microsoft.com/office/officeart/2005/8/layout/hList3"/>
    <dgm:cxn modelId="{008987F6-8B8A-452F-99E0-B896BB2BE92B}" type="presParOf" srcId="{30DF4384-2335-4400-9B11-8C81F34BC788}" destId="{AEE07AF6-8B8D-4EA1-884C-52E744A41E91}" srcOrd="2" destOrd="0" presId="urn:microsoft.com/office/officeart/2005/8/layout/hList3"/>
    <dgm:cxn modelId="{409812DA-CBA6-435B-A22D-C479DA829064}" type="presParOf" srcId="{30DF4384-2335-4400-9B11-8C81F34BC788}" destId="{4D37E6E3-D31C-4C1C-B3DD-38AFD94DAAE7}" srcOrd="3" destOrd="0" presId="urn:microsoft.com/office/officeart/2005/8/layout/hList3"/>
    <dgm:cxn modelId="{8B8484BF-0B38-4B6C-B62E-2F69395FA22C}" type="presParOf" srcId="{5AA1D62A-BD7A-4862-A680-A43A6E72F478}" destId="{A9A779A1-AA75-49D6-9AA6-6D65EBE3FD8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C5CF0C-C5DD-4149-87D1-6D6047FDC8DA}" type="doc">
      <dgm:prSet loTypeId="urn:microsoft.com/office/officeart/2005/8/layout/cycle8" loCatId="cycle" qsTypeId="urn:microsoft.com/office/officeart/2005/8/quickstyle/3d1" qsCatId="3D" csTypeId="urn:microsoft.com/office/officeart/2005/8/colors/colorful2" csCatId="colorful" phldr="1"/>
      <dgm:spPr/>
    </dgm:pt>
    <dgm:pt modelId="{6E09CD8C-229B-483E-B202-5AC3EA990B6D}">
      <dgm:prSet phldrT="[文本]"/>
      <dgm:spPr/>
      <dgm:t>
        <a:bodyPr/>
        <a:lstStyle/>
        <a:p>
          <a:r>
            <a:rPr lang="zh-CN" altLang="en-US" b="1" dirty="0" smtClean="0"/>
            <a:t>处理机管理</a:t>
          </a:r>
          <a:endParaRPr lang="zh-CN" altLang="en-US" b="1" dirty="0"/>
        </a:p>
      </dgm:t>
    </dgm:pt>
    <dgm:pt modelId="{04B54778-4C0B-4231-9872-59E7362F305F}" type="parTrans" cxnId="{86D9C215-1314-4CC0-ADA4-0B842540E8B4}">
      <dgm:prSet/>
      <dgm:spPr/>
      <dgm:t>
        <a:bodyPr/>
        <a:lstStyle/>
        <a:p>
          <a:endParaRPr lang="zh-CN" altLang="en-US"/>
        </a:p>
      </dgm:t>
    </dgm:pt>
    <dgm:pt modelId="{6060658D-9FC2-4E49-8166-945598906831}" type="sibTrans" cxnId="{86D9C215-1314-4CC0-ADA4-0B842540E8B4}">
      <dgm:prSet/>
      <dgm:spPr/>
      <dgm:t>
        <a:bodyPr/>
        <a:lstStyle/>
        <a:p>
          <a:endParaRPr lang="zh-CN" altLang="en-US"/>
        </a:p>
      </dgm:t>
    </dgm:pt>
    <dgm:pt modelId="{35658C78-831C-4E2D-9DBE-67A93635C89E}">
      <dgm:prSet phldrT="[文本]"/>
      <dgm:spPr/>
      <dgm:t>
        <a:bodyPr/>
        <a:lstStyle/>
        <a:p>
          <a:r>
            <a:rPr lang="zh-CN" altLang="en-US" b="1" dirty="0" smtClean="0"/>
            <a:t>存储管理</a:t>
          </a:r>
          <a:endParaRPr lang="zh-CN" altLang="en-US" b="1" dirty="0"/>
        </a:p>
      </dgm:t>
    </dgm:pt>
    <dgm:pt modelId="{30DC2846-0A51-4808-9E20-E759D60930E5}" type="parTrans" cxnId="{AFFD8D7C-354D-434C-9BB3-D7A1B9CB28CC}">
      <dgm:prSet/>
      <dgm:spPr/>
      <dgm:t>
        <a:bodyPr/>
        <a:lstStyle/>
        <a:p>
          <a:endParaRPr lang="zh-CN" altLang="en-US"/>
        </a:p>
      </dgm:t>
    </dgm:pt>
    <dgm:pt modelId="{311364B9-0A54-4A29-A241-EC98B769E5BD}" type="sibTrans" cxnId="{AFFD8D7C-354D-434C-9BB3-D7A1B9CB28CC}">
      <dgm:prSet/>
      <dgm:spPr/>
      <dgm:t>
        <a:bodyPr/>
        <a:lstStyle/>
        <a:p>
          <a:endParaRPr lang="zh-CN" altLang="en-US"/>
        </a:p>
      </dgm:t>
    </dgm:pt>
    <dgm:pt modelId="{61F70E04-908C-4B97-AF83-0884F1BDD5BF}">
      <dgm:prSet phldrT="[文本]"/>
      <dgm:spPr/>
      <dgm:t>
        <a:bodyPr/>
        <a:lstStyle/>
        <a:p>
          <a:r>
            <a:rPr lang="zh-CN" altLang="en-US" b="1" dirty="0" smtClean="0"/>
            <a:t>设备管理</a:t>
          </a:r>
          <a:endParaRPr lang="zh-CN" altLang="en-US" b="1" dirty="0"/>
        </a:p>
      </dgm:t>
    </dgm:pt>
    <dgm:pt modelId="{5A174314-1823-476B-8B85-03A4B482483D}" type="parTrans" cxnId="{8B64C804-C153-4287-BCC0-9C1710934742}">
      <dgm:prSet/>
      <dgm:spPr/>
      <dgm:t>
        <a:bodyPr/>
        <a:lstStyle/>
        <a:p>
          <a:endParaRPr lang="zh-CN" altLang="en-US"/>
        </a:p>
      </dgm:t>
    </dgm:pt>
    <dgm:pt modelId="{31BBFEBA-7B03-431C-BC9C-36C7CE7E4A17}" type="sibTrans" cxnId="{8B64C804-C153-4287-BCC0-9C1710934742}">
      <dgm:prSet/>
      <dgm:spPr/>
      <dgm:t>
        <a:bodyPr/>
        <a:lstStyle/>
        <a:p>
          <a:endParaRPr lang="zh-CN" altLang="en-US"/>
        </a:p>
      </dgm:t>
    </dgm:pt>
    <dgm:pt modelId="{D57E0D16-1D02-4EFB-9F60-03EF3D699C25}">
      <dgm:prSet phldrT="[文本]"/>
      <dgm:spPr/>
      <dgm:t>
        <a:bodyPr/>
        <a:lstStyle/>
        <a:p>
          <a:r>
            <a:rPr lang="zh-CN" altLang="en-US" b="1" dirty="0" smtClean="0"/>
            <a:t>信息文件管理</a:t>
          </a:r>
          <a:endParaRPr lang="zh-CN" altLang="en-US" b="1" dirty="0"/>
        </a:p>
      </dgm:t>
    </dgm:pt>
    <dgm:pt modelId="{89976143-7824-409E-B75A-D15C48E37CF8}" type="parTrans" cxnId="{884335EF-EBC2-4F1F-8DAB-80E2AC331BA0}">
      <dgm:prSet/>
      <dgm:spPr/>
      <dgm:t>
        <a:bodyPr/>
        <a:lstStyle/>
        <a:p>
          <a:endParaRPr lang="zh-CN" altLang="en-US"/>
        </a:p>
      </dgm:t>
    </dgm:pt>
    <dgm:pt modelId="{6D9A3D02-7482-48D9-8A32-1A6D3290B4CB}" type="sibTrans" cxnId="{884335EF-EBC2-4F1F-8DAB-80E2AC331BA0}">
      <dgm:prSet/>
      <dgm:spPr/>
      <dgm:t>
        <a:bodyPr/>
        <a:lstStyle/>
        <a:p>
          <a:endParaRPr lang="zh-CN" altLang="en-US"/>
        </a:p>
      </dgm:t>
    </dgm:pt>
    <dgm:pt modelId="{196FBCEC-F08F-410C-879F-EC16ED2D5822}" type="pres">
      <dgm:prSet presAssocID="{22C5CF0C-C5DD-4149-87D1-6D6047FDC8DA}" presName="compositeShape" presStyleCnt="0">
        <dgm:presLayoutVars>
          <dgm:chMax val="7"/>
          <dgm:dir/>
          <dgm:resizeHandles val="exact"/>
        </dgm:presLayoutVars>
      </dgm:prSet>
      <dgm:spPr/>
    </dgm:pt>
    <dgm:pt modelId="{4828225D-3479-49E2-8FD3-2218873449A9}" type="pres">
      <dgm:prSet presAssocID="{22C5CF0C-C5DD-4149-87D1-6D6047FDC8DA}" presName="wedge1" presStyleLbl="node1" presStyleIdx="0" presStyleCnt="4"/>
      <dgm:spPr/>
      <dgm:t>
        <a:bodyPr/>
        <a:lstStyle/>
        <a:p>
          <a:endParaRPr lang="zh-CN" altLang="en-US"/>
        </a:p>
      </dgm:t>
    </dgm:pt>
    <dgm:pt modelId="{F5F88E90-28A8-42E8-9F76-BD878D84744C}" type="pres">
      <dgm:prSet presAssocID="{22C5CF0C-C5DD-4149-87D1-6D6047FDC8DA}" presName="dummy1a" presStyleCnt="0"/>
      <dgm:spPr/>
    </dgm:pt>
    <dgm:pt modelId="{87A435EF-4658-4BA7-A797-A45832DC16B6}" type="pres">
      <dgm:prSet presAssocID="{22C5CF0C-C5DD-4149-87D1-6D6047FDC8DA}" presName="dummy1b" presStyleCnt="0"/>
      <dgm:spPr/>
    </dgm:pt>
    <dgm:pt modelId="{EE0C21D7-4B37-4BE3-B814-37D347FE3DC3}" type="pres">
      <dgm:prSet presAssocID="{22C5CF0C-C5DD-4149-87D1-6D6047FDC8DA}" presName="wedge1Tx" presStyleLbl="node1" presStyleIdx="0" presStyleCnt="4">
        <dgm:presLayoutVars>
          <dgm:chMax val="0"/>
          <dgm:chPref val="0"/>
          <dgm:bulletEnabled val="1"/>
        </dgm:presLayoutVars>
      </dgm:prSet>
      <dgm:spPr/>
      <dgm:t>
        <a:bodyPr/>
        <a:lstStyle/>
        <a:p>
          <a:endParaRPr lang="zh-CN" altLang="en-US"/>
        </a:p>
      </dgm:t>
    </dgm:pt>
    <dgm:pt modelId="{EF3F31C9-3C5C-491A-873D-B73D5EF29D55}" type="pres">
      <dgm:prSet presAssocID="{22C5CF0C-C5DD-4149-87D1-6D6047FDC8DA}" presName="wedge2" presStyleLbl="node1" presStyleIdx="1" presStyleCnt="4"/>
      <dgm:spPr/>
      <dgm:t>
        <a:bodyPr/>
        <a:lstStyle/>
        <a:p>
          <a:endParaRPr lang="zh-CN" altLang="en-US"/>
        </a:p>
      </dgm:t>
    </dgm:pt>
    <dgm:pt modelId="{89E0ECEC-C01F-4E64-8B41-E1A60CFA1BE1}" type="pres">
      <dgm:prSet presAssocID="{22C5CF0C-C5DD-4149-87D1-6D6047FDC8DA}" presName="dummy2a" presStyleCnt="0"/>
      <dgm:spPr/>
    </dgm:pt>
    <dgm:pt modelId="{764DAFA5-294F-4004-8AEF-9439C2B50DED}" type="pres">
      <dgm:prSet presAssocID="{22C5CF0C-C5DD-4149-87D1-6D6047FDC8DA}" presName="dummy2b" presStyleCnt="0"/>
      <dgm:spPr/>
    </dgm:pt>
    <dgm:pt modelId="{1D3A2DA4-F466-4C29-B6EE-6405C7CAAAB1}" type="pres">
      <dgm:prSet presAssocID="{22C5CF0C-C5DD-4149-87D1-6D6047FDC8DA}" presName="wedge2Tx" presStyleLbl="node1" presStyleIdx="1" presStyleCnt="4">
        <dgm:presLayoutVars>
          <dgm:chMax val="0"/>
          <dgm:chPref val="0"/>
          <dgm:bulletEnabled val="1"/>
        </dgm:presLayoutVars>
      </dgm:prSet>
      <dgm:spPr/>
      <dgm:t>
        <a:bodyPr/>
        <a:lstStyle/>
        <a:p>
          <a:endParaRPr lang="zh-CN" altLang="en-US"/>
        </a:p>
      </dgm:t>
    </dgm:pt>
    <dgm:pt modelId="{400A8AA0-DB84-4953-835C-0B31851D2529}" type="pres">
      <dgm:prSet presAssocID="{22C5CF0C-C5DD-4149-87D1-6D6047FDC8DA}" presName="wedge3" presStyleLbl="node1" presStyleIdx="2" presStyleCnt="4"/>
      <dgm:spPr/>
      <dgm:t>
        <a:bodyPr/>
        <a:lstStyle/>
        <a:p>
          <a:endParaRPr lang="zh-CN" altLang="en-US"/>
        </a:p>
      </dgm:t>
    </dgm:pt>
    <dgm:pt modelId="{BB178E25-6B97-471B-B741-2B77DEE48379}" type="pres">
      <dgm:prSet presAssocID="{22C5CF0C-C5DD-4149-87D1-6D6047FDC8DA}" presName="dummy3a" presStyleCnt="0"/>
      <dgm:spPr/>
    </dgm:pt>
    <dgm:pt modelId="{C168ED83-A919-4DC7-8434-80C45D1884A3}" type="pres">
      <dgm:prSet presAssocID="{22C5CF0C-C5DD-4149-87D1-6D6047FDC8DA}" presName="dummy3b" presStyleCnt="0"/>
      <dgm:spPr/>
    </dgm:pt>
    <dgm:pt modelId="{37E39561-2F71-4ADD-BB09-23ACBD965871}" type="pres">
      <dgm:prSet presAssocID="{22C5CF0C-C5DD-4149-87D1-6D6047FDC8DA}" presName="wedge3Tx" presStyleLbl="node1" presStyleIdx="2" presStyleCnt="4">
        <dgm:presLayoutVars>
          <dgm:chMax val="0"/>
          <dgm:chPref val="0"/>
          <dgm:bulletEnabled val="1"/>
        </dgm:presLayoutVars>
      </dgm:prSet>
      <dgm:spPr/>
      <dgm:t>
        <a:bodyPr/>
        <a:lstStyle/>
        <a:p>
          <a:endParaRPr lang="zh-CN" altLang="en-US"/>
        </a:p>
      </dgm:t>
    </dgm:pt>
    <dgm:pt modelId="{9F516822-AE73-4AA9-A30E-B431DAC7C9ED}" type="pres">
      <dgm:prSet presAssocID="{22C5CF0C-C5DD-4149-87D1-6D6047FDC8DA}" presName="wedge4" presStyleLbl="node1" presStyleIdx="3" presStyleCnt="4"/>
      <dgm:spPr/>
      <dgm:t>
        <a:bodyPr/>
        <a:lstStyle/>
        <a:p>
          <a:endParaRPr lang="zh-CN" altLang="en-US"/>
        </a:p>
      </dgm:t>
    </dgm:pt>
    <dgm:pt modelId="{CEF73F12-75C0-46A9-BE03-D1904EFB4FC7}" type="pres">
      <dgm:prSet presAssocID="{22C5CF0C-C5DD-4149-87D1-6D6047FDC8DA}" presName="dummy4a" presStyleCnt="0"/>
      <dgm:spPr/>
    </dgm:pt>
    <dgm:pt modelId="{DA8C19C9-D334-4F5D-B91D-8B359BA33C8A}" type="pres">
      <dgm:prSet presAssocID="{22C5CF0C-C5DD-4149-87D1-6D6047FDC8DA}" presName="dummy4b" presStyleCnt="0"/>
      <dgm:spPr/>
    </dgm:pt>
    <dgm:pt modelId="{698816B1-5B50-45BA-B2C2-60F571BFE1D3}" type="pres">
      <dgm:prSet presAssocID="{22C5CF0C-C5DD-4149-87D1-6D6047FDC8DA}" presName="wedge4Tx" presStyleLbl="node1" presStyleIdx="3" presStyleCnt="4">
        <dgm:presLayoutVars>
          <dgm:chMax val="0"/>
          <dgm:chPref val="0"/>
          <dgm:bulletEnabled val="1"/>
        </dgm:presLayoutVars>
      </dgm:prSet>
      <dgm:spPr/>
      <dgm:t>
        <a:bodyPr/>
        <a:lstStyle/>
        <a:p>
          <a:endParaRPr lang="zh-CN" altLang="en-US"/>
        </a:p>
      </dgm:t>
    </dgm:pt>
    <dgm:pt modelId="{B2A60A98-D376-41A6-A1FD-F6E5DDCF464D}" type="pres">
      <dgm:prSet presAssocID="{6060658D-9FC2-4E49-8166-945598906831}" presName="arrowWedge1" presStyleLbl="fgSibTrans2D1" presStyleIdx="0" presStyleCnt="4"/>
      <dgm:spPr/>
    </dgm:pt>
    <dgm:pt modelId="{4952ED4E-2F29-40B5-92BB-6C4244383116}" type="pres">
      <dgm:prSet presAssocID="{311364B9-0A54-4A29-A241-EC98B769E5BD}" presName="arrowWedge2" presStyleLbl="fgSibTrans2D1" presStyleIdx="1" presStyleCnt="4"/>
      <dgm:spPr/>
    </dgm:pt>
    <dgm:pt modelId="{8042750E-EC2C-4DE6-AF8C-22B1ED80D072}" type="pres">
      <dgm:prSet presAssocID="{31BBFEBA-7B03-431C-BC9C-36C7CE7E4A17}" presName="arrowWedge3" presStyleLbl="fgSibTrans2D1" presStyleIdx="2" presStyleCnt="4"/>
      <dgm:spPr/>
    </dgm:pt>
    <dgm:pt modelId="{01424F24-22EE-4A16-999A-2747E0D3ADF6}" type="pres">
      <dgm:prSet presAssocID="{6D9A3D02-7482-48D9-8A32-1A6D3290B4CB}" presName="arrowWedge4" presStyleLbl="fgSibTrans2D1" presStyleIdx="3" presStyleCnt="4"/>
      <dgm:spPr/>
    </dgm:pt>
  </dgm:ptLst>
  <dgm:cxnLst>
    <dgm:cxn modelId="{884335EF-EBC2-4F1F-8DAB-80E2AC331BA0}" srcId="{22C5CF0C-C5DD-4149-87D1-6D6047FDC8DA}" destId="{D57E0D16-1D02-4EFB-9F60-03EF3D699C25}" srcOrd="3" destOrd="0" parTransId="{89976143-7824-409E-B75A-D15C48E37CF8}" sibTransId="{6D9A3D02-7482-48D9-8A32-1A6D3290B4CB}"/>
    <dgm:cxn modelId="{BBAA629A-4BB6-4BEC-9601-904A737C5DA7}" type="presOf" srcId="{35658C78-831C-4E2D-9DBE-67A93635C89E}" destId="{1D3A2DA4-F466-4C29-B6EE-6405C7CAAAB1}" srcOrd="1" destOrd="0" presId="urn:microsoft.com/office/officeart/2005/8/layout/cycle8"/>
    <dgm:cxn modelId="{AB1E7217-399D-4381-83AA-8668CBC050DC}" type="presOf" srcId="{6E09CD8C-229B-483E-B202-5AC3EA990B6D}" destId="{EE0C21D7-4B37-4BE3-B814-37D347FE3DC3}" srcOrd="1" destOrd="0" presId="urn:microsoft.com/office/officeart/2005/8/layout/cycle8"/>
    <dgm:cxn modelId="{8B64C804-C153-4287-BCC0-9C1710934742}" srcId="{22C5CF0C-C5DD-4149-87D1-6D6047FDC8DA}" destId="{61F70E04-908C-4B97-AF83-0884F1BDD5BF}" srcOrd="2" destOrd="0" parTransId="{5A174314-1823-476B-8B85-03A4B482483D}" sibTransId="{31BBFEBA-7B03-431C-BC9C-36C7CE7E4A17}"/>
    <dgm:cxn modelId="{F829FFC0-4189-4F4F-A8A3-3DADB1140E6F}" type="presOf" srcId="{35658C78-831C-4E2D-9DBE-67A93635C89E}" destId="{EF3F31C9-3C5C-491A-873D-B73D5EF29D55}" srcOrd="0" destOrd="0" presId="urn:microsoft.com/office/officeart/2005/8/layout/cycle8"/>
    <dgm:cxn modelId="{352D3593-33B0-4FC3-8FB0-2128A194C808}" type="presOf" srcId="{22C5CF0C-C5DD-4149-87D1-6D6047FDC8DA}" destId="{196FBCEC-F08F-410C-879F-EC16ED2D5822}" srcOrd="0" destOrd="0" presId="urn:microsoft.com/office/officeart/2005/8/layout/cycle8"/>
    <dgm:cxn modelId="{AFFD8D7C-354D-434C-9BB3-D7A1B9CB28CC}" srcId="{22C5CF0C-C5DD-4149-87D1-6D6047FDC8DA}" destId="{35658C78-831C-4E2D-9DBE-67A93635C89E}" srcOrd="1" destOrd="0" parTransId="{30DC2846-0A51-4808-9E20-E759D60930E5}" sibTransId="{311364B9-0A54-4A29-A241-EC98B769E5BD}"/>
    <dgm:cxn modelId="{F3038F7D-0C3E-48A9-BCE3-745A786D2931}" type="presOf" srcId="{61F70E04-908C-4B97-AF83-0884F1BDD5BF}" destId="{400A8AA0-DB84-4953-835C-0B31851D2529}" srcOrd="0" destOrd="0" presId="urn:microsoft.com/office/officeart/2005/8/layout/cycle8"/>
    <dgm:cxn modelId="{B3AF5643-C5FC-4E9E-8C28-B53383A14AAC}" type="presOf" srcId="{61F70E04-908C-4B97-AF83-0884F1BDD5BF}" destId="{37E39561-2F71-4ADD-BB09-23ACBD965871}" srcOrd="1" destOrd="0" presId="urn:microsoft.com/office/officeart/2005/8/layout/cycle8"/>
    <dgm:cxn modelId="{DC485CDB-FC26-484C-8993-1FB893CA6B31}" type="presOf" srcId="{6E09CD8C-229B-483E-B202-5AC3EA990B6D}" destId="{4828225D-3479-49E2-8FD3-2218873449A9}" srcOrd="0" destOrd="0" presId="urn:microsoft.com/office/officeart/2005/8/layout/cycle8"/>
    <dgm:cxn modelId="{B34FAD72-A923-4FCA-B325-B86D1A42C9AF}" type="presOf" srcId="{D57E0D16-1D02-4EFB-9F60-03EF3D699C25}" destId="{9F516822-AE73-4AA9-A30E-B431DAC7C9ED}" srcOrd="0" destOrd="0" presId="urn:microsoft.com/office/officeart/2005/8/layout/cycle8"/>
    <dgm:cxn modelId="{86D9C215-1314-4CC0-ADA4-0B842540E8B4}" srcId="{22C5CF0C-C5DD-4149-87D1-6D6047FDC8DA}" destId="{6E09CD8C-229B-483E-B202-5AC3EA990B6D}" srcOrd="0" destOrd="0" parTransId="{04B54778-4C0B-4231-9872-59E7362F305F}" sibTransId="{6060658D-9FC2-4E49-8166-945598906831}"/>
    <dgm:cxn modelId="{B92C0843-7F31-443B-8179-10F97E05FECB}" type="presOf" srcId="{D57E0D16-1D02-4EFB-9F60-03EF3D699C25}" destId="{698816B1-5B50-45BA-B2C2-60F571BFE1D3}" srcOrd="1" destOrd="0" presId="urn:microsoft.com/office/officeart/2005/8/layout/cycle8"/>
    <dgm:cxn modelId="{534A79C4-82CE-433F-8B21-A5315ABBB72B}" type="presParOf" srcId="{196FBCEC-F08F-410C-879F-EC16ED2D5822}" destId="{4828225D-3479-49E2-8FD3-2218873449A9}" srcOrd="0" destOrd="0" presId="urn:microsoft.com/office/officeart/2005/8/layout/cycle8"/>
    <dgm:cxn modelId="{F2474FAA-CCED-4F3B-AB84-CADF5F96ECF8}" type="presParOf" srcId="{196FBCEC-F08F-410C-879F-EC16ED2D5822}" destId="{F5F88E90-28A8-42E8-9F76-BD878D84744C}" srcOrd="1" destOrd="0" presId="urn:microsoft.com/office/officeart/2005/8/layout/cycle8"/>
    <dgm:cxn modelId="{A4B6E369-C5BF-4279-AD9C-7F7E1C1243B9}" type="presParOf" srcId="{196FBCEC-F08F-410C-879F-EC16ED2D5822}" destId="{87A435EF-4658-4BA7-A797-A45832DC16B6}" srcOrd="2" destOrd="0" presId="urn:microsoft.com/office/officeart/2005/8/layout/cycle8"/>
    <dgm:cxn modelId="{7A3E9868-EC00-4C17-AF3C-24821840A145}" type="presParOf" srcId="{196FBCEC-F08F-410C-879F-EC16ED2D5822}" destId="{EE0C21D7-4B37-4BE3-B814-37D347FE3DC3}" srcOrd="3" destOrd="0" presId="urn:microsoft.com/office/officeart/2005/8/layout/cycle8"/>
    <dgm:cxn modelId="{800B9650-543E-452C-85DA-5FFFD578CB29}" type="presParOf" srcId="{196FBCEC-F08F-410C-879F-EC16ED2D5822}" destId="{EF3F31C9-3C5C-491A-873D-B73D5EF29D55}" srcOrd="4" destOrd="0" presId="urn:microsoft.com/office/officeart/2005/8/layout/cycle8"/>
    <dgm:cxn modelId="{A5A5DC0C-48B0-4AB0-934B-04DAB3971505}" type="presParOf" srcId="{196FBCEC-F08F-410C-879F-EC16ED2D5822}" destId="{89E0ECEC-C01F-4E64-8B41-E1A60CFA1BE1}" srcOrd="5" destOrd="0" presId="urn:microsoft.com/office/officeart/2005/8/layout/cycle8"/>
    <dgm:cxn modelId="{D15DF93A-B0EB-420B-8443-F544D232662B}" type="presParOf" srcId="{196FBCEC-F08F-410C-879F-EC16ED2D5822}" destId="{764DAFA5-294F-4004-8AEF-9439C2B50DED}" srcOrd="6" destOrd="0" presId="urn:microsoft.com/office/officeart/2005/8/layout/cycle8"/>
    <dgm:cxn modelId="{F9278F1F-1D3B-42E1-9522-F110AB0AE826}" type="presParOf" srcId="{196FBCEC-F08F-410C-879F-EC16ED2D5822}" destId="{1D3A2DA4-F466-4C29-B6EE-6405C7CAAAB1}" srcOrd="7" destOrd="0" presId="urn:microsoft.com/office/officeart/2005/8/layout/cycle8"/>
    <dgm:cxn modelId="{917D1C03-EB53-4B77-A4F8-3A4585590D8D}" type="presParOf" srcId="{196FBCEC-F08F-410C-879F-EC16ED2D5822}" destId="{400A8AA0-DB84-4953-835C-0B31851D2529}" srcOrd="8" destOrd="0" presId="urn:microsoft.com/office/officeart/2005/8/layout/cycle8"/>
    <dgm:cxn modelId="{7272FA99-E80E-4CDA-A468-42621AF83FB9}" type="presParOf" srcId="{196FBCEC-F08F-410C-879F-EC16ED2D5822}" destId="{BB178E25-6B97-471B-B741-2B77DEE48379}" srcOrd="9" destOrd="0" presId="urn:microsoft.com/office/officeart/2005/8/layout/cycle8"/>
    <dgm:cxn modelId="{0ACA1F25-1FD3-4F24-94FA-BCF4144D1DB2}" type="presParOf" srcId="{196FBCEC-F08F-410C-879F-EC16ED2D5822}" destId="{C168ED83-A919-4DC7-8434-80C45D1884A3}" srcOrd="10" destOrd="0" presId="urn:microsoft.com/office/officeart/2005/8/layout/cycle8"/>
    <dgm:cxn modelId="{B34CDBC1-8DE5-4374-8D7E-5BB1549A7134}" type="presParOf" srcId="{196FBCEC-F08F-410C-879F-EC16ED2D5822}" destId="{37E39561-2F71-4ADD-BB09-23ACBD965871}" srcOrd="11" destOrd="0" presId="urn:microsoft.com/office/officeart/2005/8/layout/cycle8"/>
    <dgm:cxn modelId="{DC4BACE6-3C59-45B8-820F-C4E05A950EE4}" type="presParOf" srcId="{196FBCEC-F08F-410C-879F-EC16ED2D5822}" destId="{9F516822-AE73-4AA9-A30E-B431DAC7C9ED}" srcOrd="12" destOrd="0" presId="urn:microsoft.com/office/officeart/2005/8/layout/cycle8"/>
    <dgm:cxn modelId="{AA4B78C1-08FC-46C9-A2B5-7A40D7558E7D}" type="presParOf" srcId="{196FBCEC-F08F-410C-879F-EC16ED2D5822}" destId="{CEF73F12-75C0-46A9-BE03-D1904EFB4FC7}" srcOrd="13" destOrd="0" presId="urn:microsoft.com/office/officeart/2005/8/layout/cycle8"/>
    <dgm:cxn modelId="{5BE25A5D-7D45-4EEC-9FD2-1E70172B1DE1}" type="presParOf" srcId="{196FBCEC-F08F-410C-879F-EC16ED2D5822}" destId="{DA8C19C9-D334-4F5D-B91D-8B359BA33C8A}" srcOrd="14" destOrd="0" presId="urn:microsoft.com/office/officeart/2005/8/layout/cycle8"/>
    <dgm:cxn modelId="{22CABEE9-9A0A-4DBE-98AA-2ADBE045A9F2}" type="presParOf" srcId="{196FBCEC-F08F-410C-879F-EC16ED2D5822}" destId="{698816B1-5B50-45BA-B2C2-60F571BFE1D3}" srcOrd="15" destOrd="0" presId="urn:microsoft.com/office/officeart/2005/8/layout/cycle8"/>
    <dgm:cxn modelId="{E90A7CFF-EB96-4793-8E6E-F131B33D8EE3}" type="presParOf" srcId="{196FBCEC-F08F-410C-879F-EC16ED2D5822}" destId="{B2A60A98-D376-41A6-A1FD-F6E5DDCF464D}" srcOrd="16" destOrd="0" presId="urn:microsoft.com/office/officeart/2005/8/layout/cycle8"/>
    <dgm:cxn modelId="{4C7D3771-9D29-4A5C-A61C-281A25FE5960}" type="presParOf" srcId="{196FBCEC-F08F-410C-879F-EC16ED2D5822}" destId="{4952ED4E-2F29-40B5-92BB-6C4244383116}" srcOrd="17" destOrd="0" presId="urn:microsoft.com/office/officeart/2005/8/layout/cycle8"/>
    <dgm:cxn modelId="{0F707AAA-DD23-46AC-B45C-F0D67E9E83D1}" type="presParOf" srcId="{196FBCEC-F08F-410C-879F-EC16ED2D5822}" destId="{8042750E-EC2C-4DE6-AF8C-22B1ED80D072}" srcOrd="18" destOrd="0" presId="urn:microsoft.com/office/officeart/2005/8/layout/cycle8"/>
    <dgm:cxn modelId="{BE639B61-6289-43F6-B406-B39FE15196B0}" type="presParOf" srcId="{196FBCEC-F08F-410C-879F-EC16ED2D5822}" destId="{01424F24-22EE-4A16-999A-2747E0D3ADF6}"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72807-CE10-434B-8222-269A75D2D400}">
      <dsp:nvSpPr>
        <dsp:cNvPr id="0" name=""/>
        <dsp:cNvSpPr/>
      </dsp:nvSpPr>
      <dsp:spPr>
        <a:xfrm>
          <a:off x="1014589" y="125004"/>
          <a:ext cx="2480860" cy="861570"/>
        </a:xfrm>
        <a:prstGeom prst="ellipse">
          <a:avLst/>
        </a:prstGeom>
        <a:solidFill>
          <a:schemeClr val="accent5">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24FCF7-8CF4-49A0-9755-63C5CBD55528}">
      <dsp:nvSpPr>
        <dsp:cNvPr id="0" name=""/>
        <dsp:cNvSpPr/>
      </dsp:nvSpPr>
      <dsp:spPr>
        <a:xfrm>
          <a:off x="2018472" y="2234697"/>
          <a:ext cx="480786" cy="307703"/>
        </a:xfrm>
        <a:prstGeom prst="downArrow">
          <a:avLst/>
        </a:prstGeom>
        <a:solidFill>
          <a:schemeClr val="accent5">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1F3EDE-82F9-49DD-85C5-06625663ED5D}">
      <dsp:nvSpPr>
        <dsp:cNvPr id="0" name=""/>
        <dsp:cNvSpPr/>
      </dsp:nvSpPr>
      <dsp:spPr>
        <a:xfrm>
          <a:off x="1302984" y="2500091"/>
          <a:ext cx="2307777" cy="576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endParaRPr lang="zh-CN" altLang="en-US" sz="1900" kern="1200" dirty="0"/>
        </a:p>
      </dsp:txBody>
      <dsp:txXfrm>
        <a:off x="1302984" y="2500091"/>
        <a:ext cx="2307777" cy="576944"/>
      </dsp:txXfrm>
    </dsp:sp>
    <dsp:sp modelId="{E5A888D2-DCBC-4D07-9C9E-309289499464}">
      <dsp:nvSpPr>
        <dsp:cNvPr id="0" name=""/>
        <dsp:cNvSpPr/>
      </dsp:nvSpPr>
      <dsp:spPr>
        <a:xfrm>
          <a:off x="1916545" y="1053115"/>
          <a:ext cx="865416" cy="865416"/>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b="1" kern="1200" dirty="0" smtClean="0">
              <a:solidFill>
                <a:schemeClr val="bg1"/>
              </a:solidFill>
            </a:rPr>
            <a:t>脱机批处理</a:t>
          </a:r>
          <a:endParaRPr lang="zh-CN" altLang="en-US" sz="1500" b="1" kern="1200" dirty="0">
            <a:solidFill>
              <a:schemeClr val="bg1"/>
            </a:solidFill>
          </a:endParaRPr>
        </a:p>
      </dsp:txBody>
      <dsp:txXfrm>
        <a:off x="2043282" y="1179852"/>
        <a:ext cx="611942" cy="611942"/>
      </dsp:txXfrm>
    </dsp:sp>
    <dsp:sp modelId="{C29F8DE9-A3FA-477B-AA4F-79C38E808378}">
      <dsp:nvSpPr>
        <dsp:cNvPr id="0" name=""/>
        <dsp:cNvSpPr/>
      </dsp:nvSpPr>
      <dsp:spPr>
        <a:xfrm>
          <a:off x="1297292" y="403860"/>
          <a:ext cx="865416" cy="865416"/>
        </a:xfrm>
        <a:prstGeom prst="ellipse">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b="1" kern="1200" dirty="0" smtClean="0">
              <a:solidFill>
                <a:schemeClr val="bg1"/>
              </a:solidFill>
            </a:rPr>
            <a:t>联机批处理</a:t>
          </a:r>
          <a:endParaRPr lang="zh-CN" altLang="en-US" sz="1500" b="1" kern="1200" dirty="0">
            <a:solidFill>
              <a:schemeClr val="bg1"/>
            </a:solidFill>
          </a:endParaRPr>
        </a:p>
      </dsp:txBody>
      <dsp:txXfrm>
        <a:off x="1424029" y="530597"/>
        <a:ext cx="611942" cy="611942"/>
      </dsp:txXfrm>
    </dsp:sp>
    <dsp:sp modelId="{F4BC659E-C60E-47E8-B885-1A528D8395FA}">
      <dsp:nvSpPr>
        <dsp:cNvPr id="0" name=""/>
        <dsp:cNvSpPr/>
      </dsp:nvSpPr>
      <dsp:spPr>
        <a:xfrm>
          <a:off x="912662" y="19231"/>
          <a:ext cx="2692406" cy="2153925"/>
        </a:xfrm>
        <a:prstGeom prst="funnel">
          <a:avLst/>
        </a:prstGeom>
        <a:solidFill>
          <a:schemeClr val="lt1">
            <a:alpha val="4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4B8DF5-5F2B-42B5-9B25-868166E4A7AF}">
      <dsp:nvSpPr>
        <dsp:cNvPr id="0" name=""/>
        <dsp:cNvSpPr/>
      </dsp:nvSpPr>
      <dsp:spPr>
        <a:xfrm>
          <a:off x="0" y="32552"/>
          <a:ext cx="6336703" cy="1100864"/>
        </a:xfrm>
        <a:prstGeom prst="rect">
          <a:avLst/>
        </a:prstGeom>
        <a:solidFill>
          <a:schemeClr val="accent3">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zh-CN" altLang="en-US" sz="2800" b="1" kern="1200" dirty="0" smtClean="0"/>
            <a:t>特征</a:t>
          </a:r>
          <a:endParaRPr lang="zh-CN" altLang="en-US" sz="2800" b="1" kern="1200" dirty="0"/>
        </a:p>
      </dsp:txBody>
      <dsp:txXfrm>
        <a:off x="0" y="32552"/>
        <a:ext cx="6336703" cy="1100864"/>
      </dsp:txXfrm>
    </dsp:sp>
    <dsp:sp modelId="{53D08FEA-E20F-4753-880A-A15D42E4E221}">
      <dsp:nvSpPr>
        <dsp:cNvPr id="0" name=""/>
        <dsp:cNvSpPr/>
      </dsp:nvSpPr>
      <dsp:spPr>
        <a:xfrm>
          <a:off x="2" y="890708"/>
          <a:ext cx="1706634" cy="257788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b="1" kern="1200" dirty="0" smtClean="0"/>
            <a:t>计算机网络是一个互联的计算机系统的群体</a:t>
          </a:r>
          <a:endParaRPr lang="zh-CN" altLang="en-US" sz="2400" b="1" kern="1200" dirty="0"/>
        </a:p>
      </dsp:txBody>
      <dsp:txXfrm>
        <a:off x="2" y="890708"/>
        <a:ext cx="1706634" cy="2577881"/>
      </dsp:txXfrm>
    </dsp:sp>
    <dsp:sp modelId="{F8588ADA-ACC3-4991-BC4F-3E3728221545}">
      <dsp:nvSpPr>
        <dsp:cNvPr id="0" name=""/>
        <dsp:cNvSpPr/>
      </dsp:nvSpPr>
      <dsp:spPr>
        <a:xfrm>
          <a:off x="1708781" y="895829"/>
          <a:ext cx="984268" cy="2721884"/>
        </a:xfrm>
        <a:prstGeom prst="rec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b="1" kern="1200" dirty="0" smtClean="0"/>
            <a:t>这些计算机是自治的</a:t>
          </a:r>
          <a:endParaRPr lang="zh-CN" altLang="en-US" sz="2400" b="1" kern="1200" dirty="0"/>
        </a:p>
      </dsp:txBody>
      <dsp:txXfrm>
        <a:off x="1708781" y="895829"/>
        <a:ext cx="984268" cy="2721884"/>
      </dsp:txXfrm>
    </dsp:sp>
    <dsp:sp modelId="{AEE07AF6-8B8D-4EA1-884C-52E744A41E91}">
      <dsp:nvSpPr>
        <dsp:cNvPr id="0" name=""/>
        <dsp:cNvSpPr/>
      </dsp:nvSpPr>
      <dsp:spPr>
        <a:xfrm>
          <a:off x="2693049" y="895829"/>
          <a:ext cx="1518959" cy="2721884"/>
        </a:xfrm>
        <a:prstGeom prst="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2400" b="1" kern="1200" dirty="0" smtClean="0"/>
            <a:t>系统互连要通过通信设施（硬件和软件）来实现</a:t>
          </a:r>
          <a:endParaRPr lang="zh-CN" altLang="en-US" sz="2400" b="1" kern="1200" dirty="0"/>
        </a:p>
      </dsp:txBody>
      <dsp:txXfrm>
        <a:off x="2693049" y="895829"/>
        <a:ext cx="1518959" cy="2721884"/>
      </dsp:txXfrm>
    </dsp:sp>
    <dsp:sp modelId="{4D37E6E3-D31C-4C1C-B3DD-38AFD94DAAE7}">
      <dsp:nvSpPr>
        <dsp:cNvPr id="0" name=""/>
        <dsp:cNvSpPr/>
      </dsp:nvSpPr>
      <dsp:spPr>
        <a:xfrm>
          <a:off x="4212009" y="895829"/>
          <a:ext cx="2122548" cy="2721884"/>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2400" b="1" kern="1200" dirty="0" smtClean="0"/>
            <a:t>系统通过通信设施执行信息交换、资源共享、互操作协作处理</a:t>
          </a:r>
        </a:p>
        <a:p>
          <a:pPr lvl="0" algn="ctr" defTabSz="1244600">
            <a:lnSpc>
              <a:spcPct val="90000"/>
            </a:lnSpc>
            <a:spcBef>
              <a:spcPct val="0"/>
            </a:spcBef>
            <a:spcAft>
              <a:spcPct val="35000"/>
            </a:spcAft>
          </a:pPr>
          <a:endParaRPr lang="zh-CN" altLang="en-US" sz="1800" kern="1200" dirty="0"/>
        </a:p>
      </dsp:txBody>
      <dsp:txXfrm>
        <a:off x="4212009" y="895829"/>
        <a:ext cx="2122548" cy="2721884"/>
      </dsp:txXfrm>
    </dsp:sp>
    <dsp:sp modelId="{A9A779A1-AA75-49D6-9AA6-6D65EBE3FD8C}">
      <dsp:nvSpPr>
        <dsp:cNvPr id="0" name=""/>
        <dsp:cNvSpPr/>
      </dsp:nvSpPr>
      <dsp:spPr>
        <a:xfrm>
          <a:off x="0" y="3412678"/>
          <a:ext cx="6336703" cy="256868"/>
        </a:xfrm>
        <a:prstGeom prst="rect">
          <a:avLst/>
        </a:prstGeom>
        <a:solidFill>
          <a:schemeClr val="accent3">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8225D-3479-49E2-8FD3-2218873449A9}">
      <dsp:nvSpPr>
        <dsp:cNvPr id="0" name=""/>
        <dsp:cNvSpPr/>
      </dsp:nvSpPr>
      <dsp:spPr>
        <a:xfrm>
          <a:off x="1278481" y="168999"/>
          <a:ext cx="2383601" cy="2383601"/>
        </a:xfrm>
        <a:prstGeom prst="pie">
          <a:avLst>
            <a:gd name="adj1" fmla="val 162000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t>处理机管理</a:t>
          </a:r>
          <a:endParaRPr lang="zh-CN" altLang="en-US" sz="2000" b="1" kern="1200" dirty="0"/>
        </a:p>
      </dsp:txBody>
      <dsp:txXfrm>
        <a:off x="2543776" y="663029"/>
        <a:ext cx="879662" cy="652652"/>
      </dsp:txXfrm>
    </dsp:sp>
    <dsp:sp modelId="{EF3F31C9-3C5C-491A-873D-B73D5EF29D55}">
      <dsp:nvSpPr>
        <dsp:cNvPr id="0" name=""/>
        <dsp:cNvSpPr/>
      </dsp:nvSpPr>
      <dsp:spPr>
        <a:xfrm>
          <a:off x="1278481" y="249020"/>
          <a:ext cx="2383601" cy="2383601"/>
        </a:xfrm>
        <a:prstGeom prst="pie">
          <a:avLst>
            <a:gd name="adj1" fmla="val 0"/>
            <a:gd name="adj2" fmla="val 5400000"/>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t>存储管理</a:t>
          </a:r>
          <a:endParaRPr lang="zh-CN" altLang="en-US" sz="2000" b="1" kern="1200" dirty="0"/>
        </a:p>
      </dsp:txBody>
      <dsp:txXfrm>
        <a:off x="2543776" y="1485939"/>
        <a:ext cx="879662" cy="652652"/>
      </dsp:txXfrm>
    </dsp:sp>
    <dsp:sp modelId="{400A8AA0-DB84-4953-835C-0B31851D2529}">
      <dsp:nvSpPr>
        <dsp:cNvPr id="0" name=""/>
        <dsp:cNvSpPr/>
      </dsp:nvSpPr>
      <dsp:spPr>
        <a:xfrm>
          <a:off x="1198460" y="249020"/>
          <a:ext cx="2383601" cy="2383601"/>
        </a:xfrm>
        <a:prstGeom prst="pie">
          <a:avLst>
            <a:gd name="adj1" fmla="val 5400000"/>
            <a:gd name="adj2" fmla="val 10800000"/>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t>设备管理</a:t>
          </a:r>
          <a:endParaRPr lang="zh-CN" altLang="en-US" sz="2000" b="1" kern="1200" dirty="0"/>
        </a:p>
      </dsp:txBody>
      <dsp:txXfrm>
        <a:off x="1437104" y="1485939"/>
        <a:ext cx="879662" cy="652652"/>
      </dsp:txXfrm>
    </dsp:sp>
    <dsp:sp modelId="{9F516822-AE73-4AA9-A30E-B431DAC7C9ED}">
      <dsp:nvSpPr>
        <dsp:cNvPr id="0" name=""/>
        <dsp:cNvSpPr/>
      </dsp:nvSpPr>
      <dsp:spPr>
        <a:xfrm>
          <a:off x="1198460" y="168999"/>
          <a:ext cx="2383601" cy="2383601"/>
        </a:xfrm>
        <a:prstGeom prst="pie">
          <a:avLst>
            <a:gd name="adj1" fmla="val 10800000"/>
            <a:gd name="adj2" fmla="val 1620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t>信息文件管理</a:t>
          </a:r>
          <a:endParaRPr lang="zh-CN" altLang="en-US" sz="2000" b="1" kern="1200" dirty="0"/>
        </a:p>
      </dsp:txBody>
      <dsp:txXfrm>
        <a:off x="1437104" y="663029"/>
        <a:ext cx="879662" cy="652652"/>
      </dsp:txXfrm>
    </dsp:sp>
    <dsp:sp modelId="{B2A60A98-D376-41A6-A1FD-F6E5DDCF464D}">
      <dsp:nvSpPr>
        <dsp:cNvPr id="0" name=""/>
        <dsp:cNvSpPr/>
      </dsp:nvSpPr>
      <dsp:spPr>
        <a:xfrm>
          <a:off x="1130925" y="21442"/>
          <a:ext cx="2678714" cy="2678714"/>
        </a:xfrm>
        <a:prstGeom prst="circularArrow">
          <a:avLst>
            <a:gd name="adj1" fmla="val 5085"/>
            <a:gd name="adj2" fmla="val 327528"/>
            <a:gd name="adj3" fmla="val 21272472"/>
            <a:gd name="adj4" fmla="val 16200000"/>
            <a:gd name="adj5" fmla="val 5932"/>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4952ED4E-2F29-40B5-92BB-6C4244383116}">
      <dsp:nvSpPr>
        <dsp:cNvPr id="0" name=""/>
        <dsp:cNvSpPr/>
      </dsp:nvSpPr>
      <dsp:spPr>
        <a:xfrm>
          <a:off x="1130925" y="101463"/>
          <a:ext cx="2678714" cy="2678714"/>
        </a:xfrm>
        <a:prstGeom prst="circularArrow">
          <a:avLst>
            <a:gd name="adj1" fmla="val 5085"/>
            <a:gd name="adj2" fmla="val 327528"/>
            <a:gd name="adj3" fmla="val 5072472"/>
            <a:gd name="adj4" fmla="val 0"/>
            <a:gd name="adj5" fmla="val 5932"/>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8042750E-EC2C-4DE6-AF8C-22B1ED80D072}">
      <dsp:nvSpPr>
        <dsp:cNvPr id="0" name=""/>
        <dsp:cNvSpPr/>
      </dsp:nvSpPr>
      <dsp:spPr>
        <a:xfrm>
          <a:off x="1050904" y="101463"/>
          <a:ext cx="2678714" cy="2678714"/>
        </a:xfrm>
        <a:prstGeom prst="circularArrow">
          <a:avLst>
            <a:gd name="adj1" fmla="val 5085"/>
            <a:gd name="adj2" fmla="val 327528"/>
            <a:gd name="adj3" fmla="val 10472472"/>
            <a:gd name="adj4" fmla="val 5400000"/>
            <a:gd name="adj5" fmla="val 5932"/>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01424F24-22EE-4A16-999A-2747E0D3ADF6}">
      <dsp:nvSpPr>
        <dsp:cNvPr id="0" name=""/>
        <dsp:cNvSpPr/>
      </dsp:nvSpPr>
      <dsp:spPr>
        <a:xfrm>
          <a:off x="1050904" y="21442"/>
          <a:ext cx="2678714" cy="2678714"/>
        </a:xfrm>
        <a:prstGeom prst="circularArrow">
          <a:avLst>
            <a:gd name="adj1" fmla="val 5085"/>
            <a:gd name="adj2" fmla="val 327528"/>
            <a:gd name="adj3" fmla="val 15872472"/>
            <a:gd name="adj4" fmla="val 10800000"/>
            <a:gd name="adj5" fmla="val 5932"/>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E70C7-2C26-4505-8578-4D978357873D}" type="datetimeFigureOut">
              <a:rPr lang="zh-CN" altLang="en-US" smtClean="0"/>
              <a:pPr/>
              <a:t>2025/09/21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63B0A5-B27C-4FBD-B1E5-E777625DAE14}" type="slidenum">
              <a:rPr lang="zh-CN" altLang="en-US" smtClean="0"/>
              <a:pPr/>
              <a:t>‹#›</a:t>
            </a:fld>
            <a:endParaRPr lang="zh-CN" altLang="en-US"/>
          </a:p>
        </p:txBody>
      </p:sp>
    </p:spTree>
    <p:extLst>
      <p:ext uri="{BB962C8B-B14F-4D97-AF65-F5344CB8AC3E}">
        <p14:creationId xmlns:p14="http://schemas.microsoft.com/office/powerpoint/2010/main" val="8828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a:t>
            </a:fld>
            <a:endParaRPr lang="zh-CN" altLang="en-US"/>
          </a:p>
        </p:txBody>
      </p:sp>
    </p:spTree>
    <p:extLst>
      <p:ext uri="{BB962C8B-B14F-4D97-AF65-F5344CB8AC3E}">
        <p14:creationId xmlns:p14="http://schemas.microsoft.com/office/powerpoint/2010/main" val="332705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a:t>
            </a:fld>
            <a:endParaRPr lang="zh-CN" altLang="en-US"/>
          </a:p>
        </p:txBody>
      </p:sp>
    </p:spTree>
    <p:extLst>
      <p:ext uri="{BB962C8B-B14F-4D97-AF65-F5344CB8AC3E}">
        <p14:creationId xmlns:p14="http://schemas.microsoft.com/office/powerpoint/2010/main" val="247387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b="1" dirty="0" smtClean="0">
                <a:solidFill>
                  <a:schemeClr val="bg1"/>
                </a:solidFill>
                <a:latin typeface="宋体" pitchFamily="2" charset="-122"/>
                <a:ea typeface="+mn-ea"/>
              </a:rPr>
              <a:t>使学生在深刻理解计算机系统整体概念的基础之上，掌握操作系统的</a:t>
            </a:r>
            <a:r>
              <a:rPr lang="zh-CN" altLang="zh-CN" sz="1200" b="1" dirty="0" smtClean="0">
                <a:solidFill>
                  <a:srgbClr val="FFFF00"/>
                </a:solidFill>
                <a:latin typeface="宋体" pitchFamily="2" charset="-122"/>
                <a:ea typeface="+mn-ea"/>
              </a:rPr>
              <a:t>基本内容</a:t>
            </a:r>
            <a:r>
              <a:rPr lang="zh-CN" altLang="zh-CN" sz="1200" b="1" dirty="0" smtClean="0">
                <a:solidFill>
                  <a:schemeClr val="bg1"/>
                </a:solidFill>
                <a:latin typeface="宋体" pitchFamily="2" charset="-122"/>
                <a:ea typeface="+mn-ea"/>
              </a:rPr>
              <a:t>、</a:t>
            </a:r>
            <a:r>
              <a:rPr lang="zh-CN" altLang="zh-CN" sz="1200" b="1" dirty="0" smtClean="0">
                <a:solidFill>
                  <a:srgbClr val="FFFF00"/>
                </a:solidFill>
                <a:latin typeface="宋体" pitchFamily="2" charset="-122"/>
                <a:ea typeface="+mn-ea"/>
              </a:rPr>
              <a:t>关键模型</a:t>
            </a:r>
            <a:r>
              <a:rPr lang="zh-CN" altLang="zh-CN" sz="1200" b="1" dirty="0" smtClean="0">
                <a:solidFill>
                  <a:schemeClr val="bg1"/>
                </a:solidFill>
                <a:latin typeface="宋体" pitchFamily="2" charset="-122"/>
                <a:ea typeface="+mn-ea"/>
              </a:rPr>
              <a:t>与</a:t>
            </a:r>
            <a:r>
              <a:rPr lang="zh-CN" altLang="zh-CN" sz="1200" b="1" dirty="0" smtClean="0">
                <a:solidFill>
                  <a:srgbClr val="FFFF00"/>
                </a:solidFill>
                <a:latin typeface="宋体" pitchFamily="2" charset="-122"/>
                <a:ea typeface="+mn-ea"/>
              </a:rPr>
              <a:t>算法</a:t>
            </a:r>
            <a:r>
              <a:rPr lang="zh-CN" altLang="zh-CN" sz="1200" b="1" dirty="0" smtClean="0">
                <a:solidFill>
                  <a:schemeClr val="bg1"/>
                </a:solidFill>
                <a:latin typeface="宋体" pitchFamily="2" charset="-122"/>
                <a:ea typeface="+mn-ea"/>
              </a:rPr>
              <a:t>和具体应用实现方式，掌握操作系统对计算机系统中各种软硬件资源的管理和控制功能。从而使学生具备一定的系统结构设计和系统软件开发技能</a:t>
            </a:r>
            <a:endParaRPr lang="en-US" altLang="zh-CN" sz="1200" b="1" dirty="0" smtClean="0">
              <a:solidFill>
                <a:schemeClr val="bg1"/>
              </a:solidFill>
              <a:latin typeface="宋体" pitchFamily="2" charset="-122"/>
              <a:ea typeface="+mn-ea"/>
            </a:endParaRPr>
          </a:p>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a:t>
            </a:fld>
            <a:endParaRPr lang="zh-CN" altLang="en-US"/>
          </a:p>
        </p:txBody>
      </p:sp>
    </p:spTree>
    <p:extLst>
      <p:ext uri="{BB962C8B-B14F-4D97-AF65-F5344CB8AC3E}">
        <p14:creationId xmlns:p14="http://schemas.microsoft.com/office/powerpoint/2010/main" val="3811383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Linux</a:t>
            </a:r>
            <a:r>
              <a:rPr lang="zh-CN" altLang="en-US" dirty="0" smtClean="0"/>
              <a:t>操作员，</a:t>
            </a:r>
            <a:r>
              <a:rPr lang="en-US" altLang="zh-CN" dirty="0" smtClean="0"/>
              <a:t>Linus</a:t>
            </a:r>
            <a:r>
              <a:rPr lang="zh-CN" altLang="en-US" dirty="0" smtClean="0"/>
              <a:t>网络管理员</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a:t>
            </a:fld>
            <a:endParaRPr lang="zh-CN" altLang="en-US"/>
          </a:p>
        </p:txBody>
      </p:sp>
    </p:spTree>
    <p:extLst>
      <p:ext uri="{BB962C8B-B14F-4D97-AF65-F5344CB8AC3E}">
        <p14:creationId xmlns:p14="http://schemas.microsoft.com/office/powerpoint/2010/main" val="2798665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5</a:t>
            </a:fld>
            <a:endParaRPr lang="zh-CN" altLang="en-US"/>
          </a:p>
        </p:txBody>
      </p:sp>
    </p:spTree>
    <p:extLst>
      <p:ext uri="{BB962C8B-B14F-4D97-AF65-F5344CB8AC3E}">
        <p14:creationId xmlns:p14="http://schemas.microsoft.com/office/powerpoint/2010/main" val="485450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a:t>
            </a:fld>
            <a:endParaRPr lang="zh-CN" altLang="en-US"/>
          </a:p>
        </p:txBody>
      </p:sp>
    </p:spTree>
    <p:extLst>
      <p:ext uri="{BB962C8B-B14F-4D97-AF65-F5344CB8AC3E}">
        <p14:creationId xmlns:p14="http://schemas.microsoft.com/office/powerpoint/2010/main" val="901232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7</a:t>
            </a:fld>
            <a:endParaRPr lang="zh-CN" altLang="en-US"/>
          </a:p>
        </p:txBody>
      </p:sp>
    </p:spTree>
    <p:extLst>
      <p:ext uri="{BB962C8B-B14F-4D97-AF65-F5344CB8AC3E}">
        <p14:creationId xmlns:p14="http://schemas.microsoft.com/office/powerpoint/2010/main" val="3208471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CMU </a:t>
            </a:r>
            <a:r>
              <a:rPr lang="zh-CN" altLang="en-US" dirty="0" smtClean="0"/>
              <a:t>第三个层次</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12</a:t>
            </a:fld>
            <a:endParaRPr lang="zh-CN" altLang="en-US"/>
          </a:p>
        </p:txBody>
      </p:sp>
    </p:spTree>
    <p:extLst>
      <p:ext uri="{BB962C8B-B14F-4D97-AF65-F5344CB8AC3E}">
        <p14:creationId xmlns:p14="http://schemas.microsoft.com/office/powerpoint/2010/main" val="3219640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15</a:t>
            </a:fld>
            <a:endParaRPr lang="zh-CN" altLang="en-US"/>
          </a:p>
        </p:txBody>
      </p:sp>
    </p:spTree>
    <p:extLst>
      <p:ext uri="{BB962C8B-B14F-4D97-AF65-F5344CB8AC3E}">
        <p14:creationId xmlns:p14="http://schemas.microsoft.com/office/powerpoint/2010/main" val="604193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16</a:t>
            </a:fld>
            <a:endParaRPr lang="zh-CN" altLang="en-US"/>
          </a:p>
        </p:txBody>
      </p:sp>
    </p:spTree>
    <p:extLst>
      <p:ext uri="{BB962C8B-B14F-4D97-AF65-F5344CB8AC3E}">
        <p14:creationId xmlns:p14="http://schemas.microsoft.com/office/powerpoint/2010/main" val="1163160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17</a:t>
            </a:fld>
            <a:endParaRPr lang="zh-CN" altLang="en-US"/>
          </a:p>
        </p:txBody>
      </p:sp>
    </p:spTree>
    <p:extLst>
      <p:ext uri="{BB962C8B-B14F-4D97-AF65-F5344CB8AC3E}">
        <p14:creationId xmlns:p14="http://schemas.microsoft.com/office/powerpoint/2010/main" val="3825511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20</a:t>
            </a:fld>
            <a:endParaRPr lang="zh-CN" altLang="en-US"/>
          </a:p>
        </p:txBody>
      </p:sp>
    </p:spTree>
    <p:extLst>
      <p:ext uri="{BB962C8B-B14F-4D97-AF65-F5344CB8AC3E}">
        <p14:creationId xmlns:p14="http://schemas.microsoft.com/office/powerpoint/2010/main" val="3162730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21</a:t>
            </a:fld>
            <a:endParaRPr lang="zh-CN" altLang="en-US"/>
          </a:p>
        </p:txBody>
      </p:sp>
    </p:spTree>
    <p:extLst>
      <p:ext uri="{BB962C8B-B14F-4D97-AF65-F5344CB8AC3E}">
        <p14:creationId xmlns:p14="http://schemas.microsoft.com/office/powerpoint/2010/main" val="3989318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22</a:t>
            </a:fld>
            <a:endParaRPr lang="zh-CN" altLang="en-US"/>
          </a:p>
        </p:txBody>
      </p:sp>
    </p:spTree>
    <p:extLst>
      <p:ext uri="{BB962C8B-B14F-4D97-AF65-F5344CB8AC3E}">
        <p14:creationId xmlns:p14="http://schemas.microsoft.com/office/powerpoint/2010/main" val="2089754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23</a:t>
            </a:fld>
            <a:endParaRPr lang="zh-CN" altLang="en-US"/>
          </a:p>
        </p:txBody>
      </p:sp>
    </p:spTree>
    <p:extLst>
      <p:ext uri="{BB962C8B-B14F-4D97-AF65-F5344CB8AC3E}">
        <p14:creationId xmlns:p14="http://schemas.microsoft.com/office/powerpoint/2010/main" val="1385423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24</a:t>
            </a:fld>
            <a:endParaRPr lang="zh-CN" altLang="en-US"/>
          </a:p>
        </p:txBody>
      </p:sp>
    </p:spTree>
    <p:extLst>
      <p:ext uri="{BB962C8B-B14F-4D97-AF65-F5344CB8AC3E}">
        <p14:creationId xmlns:p14="http://schemas.microsoft.com/office/powerpoint/2010/main" val="3115502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25</a:t>
            </a:fld>
            <a:endParaRPr lang="zh-CN" altLang="en-US"/>
          </a:p>
        </p:txBody>
      </p:sp>
    </p:spTree>
    <p:extLst>
      <p:ext uri="{BB962C8B-B14F-4D97-AF65-F5344CB8AC3E}">
        <p14:creationId xmlns:p14="http://schemas.microsoft.com/office/powerpoint/2010/main" val="3091225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26</a:t>
            </a:fld>
            <a:endParaRPr lang="zh-CN" altLang="en-US"/>
          </a:p>
        </p:txBody>
      </p:sp>
    </p:spTree>
    <p:extLst>
      <p:ext uri="{BB962C8B-B14F-4D97-AF65-F5344CB8AC3E}">
        <p14:creationId xmlns:p14="http://schemas.microsoft.com/office/powerpoint/2010/main" val="2579883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27</a:t>
            </a:fld>
            <a:endParaRPr lang="zh-CN" altLang="en-US"/>
          </a:p>
        </p:txBody>
      </p:sp>
    </p:spTree>
    <p:extLst>
      <p:ext uri="{BB962C8B-B14F-4D97-AF65-F5344CB8AC3E}">
        <p14:creationId xmlns:p14="http://schemas.microsoft.com/office/powerpoint/2010/main" val="944575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28</a:t>
            </a:fld>
            <a:endParaRPr lang="zh-CN" altLang="en-US"/>
          </a:p>
        </p:txBody>
      </p:sp>
    </p:spTree>
    <p:extLst>
      <p:ext uri="{BB962C8B-B14F-4D97-AF65-F5344CB8AC3E}">
        <p14:creationId xmlns:p14="http://schemas.microsoft.com/office/powerpoint/2010/main" val="2307355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摩尔定律：每</a:t>
            </a:r>
            <a:r>
              <a:rPr lang="en-US" altLang="zh-CN" dirty="0" smtClean="0"/>
              <a:t>18</a:t>
            </a:r>
            <a:r>
              <a:rPr lang="zh-CN" altLang="en-US" dirty="0" smtClean="0"/>
              <a:t>个月，硬件价格下降</a:t>
            </a:r>
            <a:r>
              <a:rPr lang="en-US" altLang="zh-CN" dirty="0" smtClean="0"/>
              <a:t>50%</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47</a:t>
            </a:fld>
            <a:endParaRPr lang="zh-CN" altLang="en-US"/>
          </a:p>
        </p:txBody>
      </p:sp>
    </p:spTree>
    <p:extLst>
      <p:ext uri="{BB962C8B-B14F-4D97-AF65-F5344CB8AC3E}">
        <p14:creationId xmlns:p14="http://schemas.microsoft.com/office/powerpoint/2010/main" val="37953300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49</a:t>
            </a:fld>
            <a:endParaRPr lang="zh-CN" altLang="en-US"/>
          </a:p>
        </p:txBody>
      </p:sp>
    </p:spTree>
    <p:extLst>
      <p:ext uri="{BB962C8B-B14F-4D97-AF65-F5344CB8AC3E}">
        <p14:creationId xmlns:p14="http://schemas.microsoft.com/office/powerpoint/2010/main" val="28806199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50</a:t>
            </a:fld>
            <a:endParaRPr lang="zh-CN" altLang="en-US"/>
          </a:p>
        </p:txBody>
      </p:sp>
    </p:spTree>
    <p:extLst>
      <p:ext uri="{BB962C8B-B14F-4D97-AF65-F5344CB8AC3E}">
        <p14:creationId xmlns:p14="http://schemas.microsoft.com/office/powerpoint/2010/main" val="22397589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59</a:t>
            </a:fld>
            <a:endParaRPr lang="zh-CN" altLang="en-US"/>
          </a:p>
        </p:txBody>
      </p:sp>
    </p:spTree>
    <p:extLst>
      <p:ext uri="{BB962C8B-B14F-4D97-AF65-F5344CB8AC3E}">
        <p14:creationId xmlns:p14="http://schemas.microsoft.com/office/powerpoint/2010/main" val="2620842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60</a:t>
            </a:fld>
            <a:endParaRPr lang="zh-CN" altLang="en-US"/>
          </a:p>
        </p:txBody>
      </p:sp>
    </p:spTree>
    <p:extLst>
      <p:ext uri="{BB962C8B-B14F-4D97-AF65-F5344CB8AC3E}">
        <p14:creationId xmlns:p14="http://schemas.microsoft.com/office/powerpoint/2010/main" val="4062901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68</a:t>
            </a:fld>
            <a:endParaRPr lang="zh-CN" altLang="en-US"/>
          </a:p>
        </p:txBody>
      </p:sp>
    </p:spTree>
    <p:extLst>
      <p:ext uri="{BB962C8B-B14F-4D97-AF65-F5344CB8AC3E}">
        <p14:creationId xmlns:p14="http://schemas.microsoft.com/office/powerpoint/2010/main" val="18952746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82</a:t>
            </a:fld>
            <a:endParaRPr lang="zh-CN" altLang="en-US"/>
          </a:p>
        </p:txBody>
      </p:sp>
    </p:spTree>
    <p:extLst>
      <p:ext uri="{BB962C8B-B14F-4D97-AF65-F5344CB8AC3E}">
        <p14:creationId xmlns:p14="http://schemas.microsoft.com/office/powerpoint/2010/main" val="1719009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90</a:t>
            </a:fld>
            <a:endParaRPr lang="zh-CN" altLang="en-US"/>
          </a:p>
        </p:txBody>
      </p:sp>
    </p:spTree>
    <p:extLst>
      <p:ext uri="{BB962C8B-B14F-4D97-AF65-F5344CB8AC3E}">
        <p14:creationId xmlns:p14="http://schemas.microsoft.com/office/powerpoint/2010/main" val="3676930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123</a:t>
            </a:fld>
            <a:endParaRPr lang="zh-CN" altLang="en-US"/>
          </a:p>
        </p:txBody>
      </p:sp>
    </p:spTree>
    <p:extLst>
      <p:ext uri="{BB962C8B-B14F-4D97-AF65-F5344CB8AC3E}">
        <p14:creationId xmlns:p14="http://schemas.microsoft.com/office/powerpoint/2010/main" val="427825543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7" name="组合 16"/>
          <p:cNvGrpSpPr/>
          <p:nvPr userDrawn="1"/>
        </p:nvGrpSpPr>
        <p:grpSpPr>
          <a:xfrm>
            <a:off x="-11499" y="0"/>
            <a:ext cx="9174890" cy="5143500"/>
            <a:chOff x="-11499" y="0"/>
            <a:chExt cx="2891224" cy="1620838"/>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61" y="7637"/>
              <a:ext cx="2709804" cy="1443102"/>
            </a:xfrm>
            <a:prstGeom prst="rect">
              <a:avLst/>
            </a:prstGeom>
          </p:spPr>
        </p:pic>
        <p:pic>
          <p:nvPicPr>
            <p:cNvPr id="8" name="图片 7"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pic>
          <p:nvPicPr>
            <p:cNvPr id="9" name="图片 8" descr="桌子.png"/>
            <p:cNvPicPr>
              <a:picLocks noChangeAspect="1"/>
            </p:cNvPicPr>
            <p:nvPr userDrawn="1"/>
          </p:nvPicPr>
          <p:blipFill>
            <a:blip r:embed="rId4" cstate="print"/>
            <a:srcRect t="80530" r="40938"/>
            <a:stretch>
              <a:fillRect/>
            </a:stretch>
          </p:blipFill>
          <p:spPr>
            <a:xfrm>
              <a:off x="-11499" y="1353415"/>
              <a:ext cx="1247264" cy="267423"/>
            </a:xfrm>
            <a:prstGeom prst="rect">
              <a:avLst/>
            </a:prstGeom>
          </p:spPr>
        </p:pic>
        <p:pic>
          <p:nvPicPr>
            <p:cNvPr id="10" name="图片 9" descr="粉笔画.png"/>
            <p:cNvPicPr>
              <a:picLocks noChangeAspect="1"/>
            </p:cNvPicPr>
            <p:nvPr userDrawn="1"/>
          </p:nvPicPr>
          <p:blipFill>
            <a:blip r:embed="rId5" cstate="print"/>
            <a:srcRect l="49934" t="39179" b="17915"/>
            <a:stretch>
              <a:fillRect/>
            </a:stretch>
          </p:blipFill>
          <p:spPr>
            <a:xfrm>
              <a:off x="1632621" y="799729"/>
              <a:ext cx="1057298" cy="589321"/>
            </a:xfrm>
            <a:prstGeom prst="rect">
              <a:avLst/>
            </a:prstGeom>
          </p:spPr>
        </p:pic>
        <p:pic>
          <p:nvPicPr>
            <p:cNvPr id="11" name="图片 10" descr="书本.png"/>
            <p:cNvPicPr>
              <a:picLocks noChangeAspect="1"/>
            </p:cNvPicPr>
            <p:nvPr userDrawn="1"/>
          </p:nvPicPr>
          <p:blipFill>
            <a:blip r:embed="rId6" cstate="print"/>
            <a:stretch>
              <a:fillRect/>
            </a:stretch>
          </p:blipFill>
          <p:spPr>
            <a:xfrm>
              <a:off x="135905" y="1264247"/>
              <a:ext cx="331633" cy="283611"/>
            </a:xfrm>
            <a:prstGeom prst="rect">
              <a:avLst/>
            </a:prstGeom>
          </p:spPr>
        </p:pic>
        <p:pic>
          <p:nvPicPr>
            <p:cNvPr id="12" name="图片 11" descr="钟.PNG"/>
            <p:cNvPicPr>
              <a:picLocks noChangeAspect="1"/>
            </p:cNvPicPr>
            <p:nvPr userDrawn="1"/>
          </p:nvPicPr>
          <p:blipFill>
            <a:blip r:embed="rId7" cstate="print"/>
            <a:stretch>
              <a:fillRect/>
            </a:stretch>
          </p:blipFill>
          <p:spPr>
            <a:xfrm>
              <a:off x="586523" y="1346308"/>
              <a:ext cx="168944" cy="161364"/>
            </a:xfrm>
            <a:prstGeom prst="rect">
              <a:avLst/>
            </a:prstGeom>
          </p:spPr>
        </p:pic>
        <p:pic>
          <p:nvPicPr>
            <p:cNvPr id="13" name="图片 12" descr="铅笔筒.PNG"/>
            <p:cNvPicPr>
              <a:picLocks noChangeAspect="1"/>
            </p:cNvPicPr>
            <p:nvPr userDrawn="1"/>
          </p:nvPicPr>
          <p:blipFill>
            <a:blip r:embed="rId8" cstate="print"/>
            <a:stretch>
              <a:fillRect/>
            </a:stretch>
          </p:blipFill>
          <p:spPr>
            <a:xfrm>
              <a:off x="447336" y="1270428"/>
              <a:ext cx="223659" cy="242046"/>
            </a:xfrm>
            <a:prstGeom prst="rect">
              <a:avLst/>
            </a:prstGeom>
          </p:spPr>
        </p:pic>
        <p:pic>
          <p:nvPicPr>
            <p:cNvPr id="14" name="图片 13" descr="眼镜.PNG"/>
            <p:cNvPicPr>
              <a:picLocks noChangeAspect="1"/>
            </p:cNvPicPr>
            <p:nvPr userDrawn="1"/>
          </p:nvPicPr>
          <p:blipFill>
            <a:blip r:embed="rId9" cstate="print"/>
            <a:stretch>
              <a:fillRect/>
            </a:stretch>
          </p:blipFill>
          <p:spPr>
            <a:xfrm>
              <a:off x="818232" y="1467966"/>
              <a:ext cx="172083" cy="79411"/>
            </a:xfrm>
            <a:prstGeom prst="rect">
              <a:avLst/>
            </a:prstGeom>
          </p:spPr>
        </p:pic>
        <p:pic>
          <p:nvPicPr>
            <p:cNvPr id="15" name="图片 14" descr="贴贴子4张（空）.png"/>
            <p:cNvPicPr>
              <a:picLocks noChangeAspect="1"/>
            </p:cNvPicPr>
            <p:nvPr userDrawn="1"/>
          </p:nvPicPr>
          <p:blipFill>
            <a:blip r:embed="rId10" cstate="print"/>
            <a:srcRect t="33018" r="77449" b="52860"/>
            <a:stretch>
              <a:fillRect/>
            </a:stretch>
          </p:blipFill>
          <p:spPr>
            <a:xfrm>
              <a:off x="229424" y="152368"/>
              <a:ext cx="476228" cy="193957"/>
            </a:xfrm>
            <a:prstGeom prst="rect">
              <a:avLst/>
            </a:prstGeom>
          </p:spPr>
        </p:pic>
        <p:pic>
          <p:nvPicPr>
            <p:cNvPr id="16" name="图片 15" descr="贴贴子4张（空）.png"/>
            <p:cNvPicPr>
              <a:picLocks/>
            </p:cNvPicPr>
            <p:nvPr userDrawn="1"/>
          </p:nvPicPr>
          <p:blipFill>
            <a:blip r:embed="rId10" cstate="print"/>
            <a:srcRect l="6702" t="47905" r="86794" b="38897"/>
            <a:stretch>
              <a:fillRect/>
            </a:stretch>
          </p:blipFill>
          <p:spPr>
            <a:xfrm rot="21420000">
              <a:off x="630039" y="230507"/>
              <a:ext cx="136050" cy="18658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p:cNvGrpSpPr/>
          <p:nvPr userDrawn="1"/>
        </p:nvGrpSpPr>
        <p:grpSpPr>
          <a:xfrm>
            <a:off x="13811" y="-236562"/>
            <a:ext cx="9238709" cy="5353378"/>
            <a:chOff x="-7497" y="-117332"/>
            <a:chExt cx="3007002" cy="1742410"/>
          </a:xfrm>
        </p:grpSpPr>
        <p:pic>
          <p:nvPicPr>
            <p:cNvPr id="7" name="图片 6"/>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7497" y="129677"/>
              <a:ext cx="2808011" cy="1495401"/>
            </a:xfrm>
            <a:prstGeom prst="rect">
              <a:avLst/>
            </a:prstGeom>
          </p:spPr>
        </p:pic>
        <p:pic>
          <p:nvPicPr>
            <p:cNvPr id="8" name="图片 7" descr="照片夹.png"/>
            <p:cNvPicPr>
              <a:picLocks noChangeAspect="1"/>
            </p:cNvPicPr>
            <p:nvPr userDrawn="1"/>
          </p:nvPicPr>
          <p:blipFill>
            <a:blip r:embed="rId3" cstate="print"/>
            <a:srcRect r="66645" b="79232"/>
            <a:stretch>
              <a:fillRect/>
            </a:stretch>
          </p:blipFill>
          <p:spPr>
            <a:xfrm flipH="1">
              <a:off x="1530573" y="-117332"/>
              <a:ext cx="1468932" cy="594851"/>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59328" y="-7204"/>
            <a:ext cx="9100573" cy="5243250"/>
            <a:chOff x="43427" y="0"/>
            <a:chExt cx="2836298" cy="1634119"/>
          </a:xfrm>
        </p:grpSpPr>
        <p:pic>
          <p:nvPicPr>
            <p:cNvPr id="9" name="图片 8"/>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43427" y="152903"/>
              <a:ext cx="2781373" cy="1481216"/>
            </a:xfrm>
            <a:prstGeom prst="rect">
              <a:avLst/>
            </a:prstGeom>
          </p:spPr>
        </p:pic>
        <p:pic>
          <p:nvPicPr>
            <p:cNvPr id="10" name="图片 9"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12" name="组合 11"/>
          <p:cNvGrpSpPr/>
          <p:nvPr userDrawn="1"/>
        </p:nvGrpSpPr>
        <p:grpSpPr>
          <a:xfrm>
            <a:off x="-11499" y="0"/>
            <a:ext cx="9174890" cy="5143500"/>
            <a:chOff x="-11499" y="0"/>
            <a:chExt cx="2891224" cy="1620838"/>
          </a:xfrm>
        </p:grpSpPr>
        <p:pic>
          <p:nvPicPr>
            <p:cNvPr id="10" name="图片 9"/>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11499" y="0"/>
              <a:ext cx="2890797" cy="1620838"/>
            </a:xfrm>
            <a:prstGeom prst="rect">
              <a:avLst/>
            </a:prstGeom>
          </p:spPr>
        </p:pic>
        <p:pic>
          <p:nvPicPr>
            <p:cNvPr id="11" name="图片 10"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95767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jpg"/>
          <p:cNvPicPr>
            <a:picLocks noChangeAspect="1"/>
          </p:cNvPicPr>
          <p:nvPr/>
        </p:nvPicPr>
        <p:blipFill>
          <a:blip r:embed="rId7" cstate="print"/>
          <a:srcRect r="2304" b="7492"/>
          <a:stretch>
            <a:fillRect/>
          </a:stretch>
        </p:blipFill>
        <p:spPr>
          <a:xfrm>
            <a:off x="-11499" y="0"/>
            <a:ext cx="917489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hyperlink" Target="http://www.bookschina.com/Books/allbook/allauthor.asp?stype=author&amp;sbook=%D5%C5%D2%A2%D1%A7"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1357290" y="1307333"/>
            <a:ext cx="6357982" cy="1200331"/>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ctr" defTabSz="914399"/>
            <a:r>
              <a:rPr lang="zh-CN" altLang="en-US" sz="7200" b="1" dirty="0" smtClean="0">
                <a:ln w="50800"/>
                <a:solidFill>
                  <a:schemeClr val="bg1">
                    <a:shade val="50000"/>
                  </a:schemeClr>
                </a:solidFill>
                <a:latin typeface="黑体" pitchFamily="49" charset="-122"/>
                <a:ea typeface="黑体" pitchFamily="49" charset="-122"/>
              </a:rPr>
              <a:t>操作系统</a:t>
            </a:r>
            <a:endParaRPr lang="zh-CN" altLang="en-US" sz="7200" b="1" dirty="0">
              <a:ln w="50800"/>
              <a:solidFill>
                <a:schemeClr val="bg1">
                  <a:shade val="50000"/>
                </a:schemeClr>
              </a:solidFill>
              <a:latin typeface="黑体" pitchFamily="49" charset="-122"/>
              <a:ea typeface="黑体" pitchFamily="49" charset="-122"/>
            </a:endParaRPr>
          </a:p>
        </p:txBody>
      </p:sp>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196" t="12599" r="196" b="17401"/>
          <a:stretch/>
        </p:blipFill>
        <p:spPr>
          <a:xfrm>
            <a:off x="219425" y="1457060"/>
            <a:ext cx="2891664" cy="3600400"/>
          </a:xfrm>
          <a:prstGeom prst="rect">
            <a:avLst/>
          </a:prstGeom>
        </p:spPr>
      </p:pic>
      <p:pic>
        <p:nvPicPr>
          <p:cNvPr id="6" name="图片 5"/>
          <p:cNvPicPr>
            <a:picLocks noChangeAspect="1"/>
          </p:cNvPicPr>
          <p:nvPr/>
        </p:nvPicPr>
        <p:blipFill>
          <a:blip r:embed="rId6"/>
          <a:stretch>
            <a:fillRect/>
          </a:stretch>
        </p:blipFill>
        <p:spPr>
          <a:xfrm>
            <a:off x="3580444" y="2427734"/>
            <a:ext cx="2428875" cy="2524125"/>
          </a:xfrm>
          <a:prstGeom prst="rect">
            <a:avLst/>
          </a:prstGeom>
        </p:spPr>
      </p:pic>
      <p:pic>
        <p:nvPicPr>
          <p:cNvPr id="8" name="图片 7"/>
          <p:cNvPicPr>
            <a:picLocks noChangeAspect="1"/>
          </p:cNvPicPr>
          <p:nvPr/>
        </p:nvPicPr>
        <p:blipFill>
          <a:blip r:embed="rId7"/>
          <a:stretch>
            <a:fillRect/>
          </a:stretch>
        </p:blipFill>
        <p:spPr>
          <a:xfrm>
            <a:off x="6451085" y="3003798"/>
            <a:ext cx="2528373" cy="1667812"/>
          </a:xfrm>
          <a:prstGeom prst="rect">
            <a:avLst/>
          </a:prstGeom>
        </p:spPr>
      </p:pic>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p:cTn id="7" dur="500" decel="50000" fill="hold">
                                          <p:stCondLst>
                                            <p:cond delay="0"/>
                                          </p:stCondLst>
                                        </p:cTn>
                                        <p:tgtEl>
                                          <p:spTgt spid="20">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0">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339752" y="1851670"/>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开学第一课</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19681264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제목 1"/>
          <p:cNvSpPr txBox="1">
            <a:spLocks/>
          </p:cNvSpPr>
          <p:nvPr/>
        </p:nvSpPr>
        <p:spPr>
          <a:xfrm>
            <a:off x="732985" y="132606"/>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课程定位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14" name="任意多边形 13"/>
          <p:cNvSpPr/>
          <p:nvPr/>
        </p:nvSpPr>
        <p:spPr>
          <a:xfrm>
            <a:off x="5449991" y="472102"/>
            <a:ext cx="945395" cy="936104"/>
          </a:xfrm>
          <a:custGeom>
            <a:avLst/>
            <a:gdLst>
              <a:gd name="connsiteX0" fmla="*/ 0 w 1171575"/>
              <a:gd name="connsiteY0" fmla="*/ 585788 h 1171575"/>
              <a:gd name="connsiteX1" fmla="*/ 585788 w 1171575"/>
              <a:gd name="connsiteY1" fmla="*/ 0 h 1171575"/>
              <a:gd name="connsiteX2" fmla="*/ 1171576 w 1171575"/>
              <a:gd name="connsiteY2" fmla="*/ 585788 h 1171575"/>
              <a:gd name="connsiteX3" fmla="*/ 585788 w 1171575"/>
              <a:gd name="connsiteY3" fmla="*/ 1171576 h 1171575"/>
              <a:gd name="connsiteX4" fmla="*/ 0 w 1171575"/>
              <a:gd name="connsiteY4" fmla="*/ 585788 h 117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575" h="1171575">
                <a:moveTo>
                  <a:pt x="0" y="585788"/>
                </a:moveTo>
                <a:cubicBezTo>
                  <a:pt x="0" y="262266"/>
                  <a:pt x="262266" y="0"/>
                  <a:pt x="585788" y="0"/>
                </a:cubicBezTo>
                <a:cubicBezTo>
                  <a:pt x="909310" y="0"/>
                  <a:pt x="1171576" y="262266"/>
                  <a:pt x="1171576" y="585788"/>
                </a:cubicBezTo>
                <a:cubicBezTo>
                  <a:pt x="1171576" y="909310"/>
                  <a:pt x="909310" y="1171576"/>
                  <a:pt x="585788" y="1171576"/>
                </a:cubicBezTo>
                <a:cubicBezTo>
                  <a:pt x="262266" y="1171576"/>
                  <a:pt x="0" y="909310"/>
                  <a:pt x="0" y="5857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186813" tIns="186813" rIns="186813" bIns="186813" numCol="1" spcCol="1270" anchor="ctr" anchorCtr="0">
            <a:noAutofit/>
          </a:bodyPr>
          <a:lstStyle/>
          <a:p>
            <a:pPr lvl="0" algn="ctr" defTabSz="1066800">
              <a:lnSpc>
                <a:spcPct val="90000"/>
              </a:lnSpc>
              <a:spcBef>
                <a:spcPct val="0"/>
              </a:spcBef>
              <a:spcAft>
                <a:spcPct val="35000"/>
              </a:spcAft>
            </a:pPr>
            <a:r>
              <a:rPr lang="zh-CN" altLang="en-US" sz="2000" b="1" kern="1200" dirty="0" smtClean="0">
                <a:solidFill>
                  <a:schemeClr val="bg1"/>
                </a:solidFill>
              </a:rPr>
              <a:t>基本知识</a:t>
            </a:r>
            <a:endParaRPr lang="zh-CN" altLang="en-US" sz="2000" b="1" kern="1200" dirty="0">
              <a:solidFill>
                <a:schemeClr val="bg1"/>
              </a:solidFill>
            </a:endParaRPr>
          </a:p>
        </p:txBody>
      </p:sp>
      <p:sp>
        <p:nvSpPr>
          <p:cNvPr id="16" name="任意多边形 15"/>
          <p:cNvSpPr/>
          <p:nvPr/>
        </p:nvSpPr>
        <p:spPr>
          <a:xfrm>
            <a:off x="5428536" y="1514635"/>
            <a:ext cx="1025324" cy="992386"/>
          </a:xfrm>
          <a:custGeom>
            <a:avLst/>
            <a:gdLst>
              <a:gd name="connsiteX0" fmla="*/ 0 w 1394045"/>
              <a:gd name="connsiteY0" fmla="*/ 697023 h 1394045"/>
              <a:gd name="connsiteX1" fmla="*/ 697023 w 1394045"/>
              <a:gd name="connsiteY1" fmla="*/ 0 h 1394045"/>
              <a:gd name="connsiteX2" fmla="*/ 1394046 w 1394045"/>
              <a:gd name="connsiteY2" fmla="*/ 697023 h 1394045"/>
              <a:gd name="connsiteX3" fmla="*/ 697023 w 1394045"/>
              <a:gd name="connsiteY3" fmla="*/ 1394046 h 1394045"/>
              <a:gd name="connsiteX4" fmla="*/ 0 w 1394045"/>
              <a:gd name="connsiteY4" fmla="*/ 697023 h 1394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045" h="1394045">
                <a:moveTo>
                  <a:pt x="0" y="697023"/>
                </a:moveTo>
                <a:cubicBezTo>
                  <a:pt x="0" y="312068"/>
                  <a:pt x="312068" y="0"/>
                  <a:pt x="697023" y="0"/>
                </a:cubicBezTo>
                <a:cubicBezTo>
                  <a:pt x="1081978" y="0"/>
                  <a:pt x="1394046" y="312068"/>
                  <a:pt x="1394046" y="697023"/>
                </a:cubicBezTo>
                <a:cubicBezTo>
                  <a:pt x="1394046" y="1081978"/>
                  <a:pt x="1081978" y="1394046"/>
                  <a:pt x="697023" y="1394046"/>
                </a:cubicBezTo>
                <a:cubicBezTo>
                  <a:pt x="312068" y="1394046"/>
                  <a:pt x="0" y="1081978"/>
                  <a:pt x="0" y="697023"/>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219393" tIns="219393" rIns="219393" bIns="219393" numCol="1" spcCol="1270" anchor="ctr" anchorCtr="0">
            <a:noAutofit/>
          </a:bodyPr>
          <a:lstStyle/>
          <a:p>
            <a:pPr lvl="0" algn="ctr" defTabSz="1066800">
              <a:lnSpc>
                <a:spcPct val="90000"/>
              </a:lnSpc>
              <a:spcBef>
                <a:spcPct val="0"/>
              </a:spcBef>
              <a:spcAft>
                <a:spcPct val="35000"/>
              </a:spcAft>
            </a:pPr>
            <a:r>
              <a:rPr lang="zh-CN" altLang="en-US" sz="2000" b="1" kern="1200" dirty="0" smtClean="0">
                <a:solidFill>
                  <a:schemeClr val="tx1"/>
                </a:solidFill>
              </a:rPr>
              <a:t>关键模型</a:t>
            </a:r>
            <a:endParaRPr lang="zh-CN" altLang="en-US" sz="2000" b="1" kern="1200" dirty="0">
              <a:solidFill>
                <a:schemeClr val="tx1"/>
              </a:solidFill>
            </a:endParaRPr>
          </a:p>
        </p:txBody>
      </p:sp>
      <p:sp>
        <p:nvSpPr>
          <p:cNvPr id="18" name="任意多边形 17"/>
          <p:cNvSpPr/>
          <p:nvPr/>
        </p:nvSpPr>
        <p:spPr>
          <a:xfrm>
            <a:off x="5473592" y="3783951"/>
            <a:ext cx="1463752" cy="1463752"/>
          </a:xfrm>
          <a:custGeom>
            <a:avLst/>
            <a:gdLst>
              <a:gd name="connsiteX0" fmla="*/ 0 w 1171575"/>
              <a:gd name="connsiteY0" fmla="*/ 585788 h 1171575"/>
              <a:gd name="connsiteX1" fmla="*/ 585788 w 1171575"/>
              <a:gd name="connsiteY1" fmla="*/ 0 h 1171575"/>
              <a:gd name="connsiteX2" fmla="*/ 1171576 w 1171575"/>
              <a:gd name="connsiteY2" fmla="*/ 585788 h 1171575"/>
              <a:gd name="connsiteX3" fmla="*/ 585788 w 1171575"/>
              <a:gd name="connsiteY3" fmla="*/ 1171576 h 1171575"/>
              <a:gd name="connsiteX4" fmla="*/ 0 w 1171575"/>
              <a:gd name="connsiteY4" fmla="*/ 585788 h 117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575" h="1171575">
                <a:moveTo>
                  <a:pt x="0" y="585788"/>
                </a:moveTo>
                <a:cubicBezTo>
                  <a:pt x="0" y="262266"/>
                  <a:pt x="262266" y="0"/>
                  <a:pt x="585788" y="0"/>
                </a:cubicBezTo>
                <a:cubicBezTo>
                  <a:pt x="909310" y="0"/>
                  <a:pt x="1171576" y="262266"/>
                  <a:pt x="1171576" y="585788"/>
                </a:cubicBezTo>
                <a:cubicBezTo>
                  <a:pt x="1171576" y="909310"/>
                  <a:pt x="909310" y="1171576"/>
                  <a:pt x="585788" y="1171576"/>
                </a:cubicBezTo>
                <a:cubicBezTo>
                  <a:pt x="262266" y="1171576"/>
                  <a:pt x="0" y="909310"/>
                  <a:pt x="0" y="585788"/>
                </a:cubicBezTo>
                <a:close/>
              </a:path>
            </a:pathLst>
          </a:custGeom>
        </p:spPr>
        <p:style>
          <a:lnRef idx="0">
            <a:schemeClr val="accent5"/>
          </a:lnRef>
          <a:fillRef idx="3">
            <a:schemeClr val="accent5"/>
          </a:fillRef>
          <a:effectRef idx="3">
            <a:schemeClr val="accent5"/>
          </a:effectRef>
          <a:fontRef idx="minor">
            <a:schemeClr val="lt1"/>
          </a:fontRef>
        </p:style>
        <p:txBody>
          <a:bodyPr spcFirstLastPara="0" vert="horz" wrap="square" lIns="186813" tIns="186813" rIns="186813" bIns="186813" numCol="1" spcCol="1270" anchor="ctr" anchorCtr="0">
            <a:noAutofit/>
          </a:bodyPr>
          <a:lstStyle/>
          <a:p>
            <a:pPr lvl="0" algn="ctr" defTabSz="1066800">
              <a:lnSpc>
                <a:spcPct val="90000"/>
              </a:lnSpc>
              <a:spcBef>
                <a:spcPct val="0"/>
              </a:spcBef>
              <a:spcAft>
                <a:spcPct val="35000"/>
              </a:spcAft>
            </a:pPr>
            <a:r>
              <a:rPr lang="zh-CN" altLang="en-US" sz="2000" b="1" dirty="0">
                <a:solidFill>
                  <a:schemeClr val="bg1"/>
                </a:solidFill>
              </a:rPr>
              <a:t>硬软件资源的管理和控制功能</a:t>
            </a:r>
          </a:p>
        </p:txBody>
      </p:sp>
      <p:grpSp>
        <p:nvGrpSpPr>
          <p:cNvPr id="20" name="组合 19"/>
          <p:cNvGrpSpPr/>
          <p:nvPr/>
        </p:nvGrpSpPr>
        <p:grpSpPr>
          <a:xfrm>
            <a:off x="827167" y="2133599"/>
            <a:ext cx="1396814" cy="1407596"/>
            <a:chOff x="861098" y="1707653"/>
            <a:chExt cx="1995836" cy="2011242"/>
          </a:xfrm>
        </p:grpSpPr>
        <p:sp>
          <p:nvSpPr>
            <p:cNvPr id="13" name="椭圆 12"/>
            <p:cNvSpPr/>
            <p:nvPr/>
          </p:nvSpPr>
          <p:spPr>
            <a:xfrm rot="5400000">
              <a:off x="853395" y="1715356"/>
              <a:ext cx="2011242" cy="1995836"/>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7" name="TextBox 6"/>
            <p:cNvSpPr txBox="1"/>
            <p:nvPr/>
          </p:nvSpPr>
          <p:spPr>
            <a:xfrm>
              <a:off x="902082" y="2111130"/>
              <a:ext cx="1944216" cy="523222"/>
            </a:xfrm>
            <a:prstGeom prst="rect">
              <a:avLst/>
            </a:prstGeom>
            <a:noFill/>
          </p:spPr>
          <p:txBody>
            <a:bodyPr wrap="square" rtlCol="0">
              <a:spAutoFit/>
            </a:bodyPr>
            <a:lstStyle/>
            <a:p>
              <a:pPr algn="ctr"/>
              <a:r>
                <a:rPr lang="zh-CN" altLang="en-US" sz="2800" b="1" dirty="0" smtClean="0">
                  <a:solidFill>
                    <a:schemeClr val="bg1"/>
                  </a:solidFill>
                </a:rPr>
                <a:t>操作系统</a:t>
              </a:r>
              <a:endParaRPr lang="zh-CN" altLang="en-US" sz="2800" b="1" dirty="0">
                <a:solidFill>
                  <a:schemeClr val="bg1"/>
                </a:solidFill>
              </a:endParaRPr>
            </a:p>
          </p:txBody>
        </p:sp>
      </p:grpSp>
      <p:cxnSp>
        <p:nvCxnSpPr>
          <p:cNvPr id="24" name="直接连接符 23"/>
          <p:cNvCxnSpPr>
            <a:stCxn id="3" idx="3"/>
          </p:cNvCxnSpPr>
          <p:nvPr/>
        </p:nvCxnSpPr>
        <p:spPr>
          <a:xfrm flipV="1">
            <a:off x="3486436" y="1042794"/>
            <a:ext cx="1963555" cy="1725433"/>
          </a:xfrm>
          <a:prstGeom prst="line">
            <a:avLst/>
          </a:prstGeom>
        </p:spPr>
        <p:style>
          <a:lnRef idx="3">
            <a:schemeClr val="accent3"/>
          </a:lnRef>
          <a:fillRef idx="0">
            <a:schemeClr val="accent3"/>
          </a:fillRef>
          <a:effectRef idx="2">
            <a:schemeClr val="accent3"/>
          </a:effectRef>
          <a:fontRef idx="minor">
            <a:schemeClr val="tx1"/>
          </a:fontRef>
        </p:style>
      </p:cxnSp>
      <p:cxnSp>
        <p:nvCxnSpPr>
          <p:cNvPr id="26" name="直接连接符 25"/>
          <p:cNvCxnSpPr>
            <a:stCxn id="3" idx="3"/>
          </p:cNvCxnSpPr>
          <p:nvPr/>
        </p:nvCxnSpPr>
        <p:spPr>
          <a:xfrm flipV="1">
            <a:off x="3486436" y="2039909"/>
            <a:ext cx="1954943" cy="728318"/>
          </a:xfrm>
          <a:prstGeom prst="line">
            <a:avLst/>
          </a:prstGeom>
        </p:spPr>
        <p:style>
          <a:lnRef idx="3">
            <a:schemeClr val="accent3"/>
          </a:lnRef>
          <a:fillRef idx="0">
            <a:schemeClr val="accent3"/>
          </a:fillRef>
          <a:effectRef idx="2">
            <a:schemeClr val="accent3"/>
          </a:effectRef>
          <a:fontRef idx="minor">
            <a:schemeClr val="tx1"/>
          </a:fontRef>
        </p:style>
      </p:cxnSp>
      <p:cxnSp>
        <p:nvCxnSpPr>
          <p:cNvPr id="28" name="直接连接符 27"/>
          <p:cNvCxnSpPr>
            <a:stCxn id="3" idx="3"/>
            <a:endCxn id="18" idx="0"/>
          </p:cNvCxnSpPr>
          <p:nvPr/>
        </p:nvCxnSpPr>
        <p:spPr>
          <a:xfrm>
            <a:off x="3486436" y="2768227"/>
            <a:ext cx="1987156" cy="1747601"/>
          </a:xfrm>
          <a:prstGeom prst="line">
            <a:avLst/>
          </a:prstGeom>
        </p:spPr>
        <p:style>
          <a:lnRef idx="3">
            <a:schemeClr val="accent3"/>
          </a:lnRef>
          <a:fillRef idx="0">
            <a:schemeClr val="accent3"/>
          </a:fillRef>
          <a:effectRef idx="2">
            <a:schemeClr val="accent3"/>
          </a:effectRef>
          <a:fontRef idx="minor">
            <a:schemeClr val="tx1"/>
          </a:fontRef>
        </p:style>
      </p:cxnSp>
      <p:grpSp>
        <p:nvGrpSpPr>
          <p:cNvPr id="2" name="组合 1"/>
          <p:cNvGrpSpPr/>
          <p:nvPr/>
        </p:nvGrpSpPr>
        <p:grpSpPr>
          <a:xfrm>
            <a:off x="2263912" y="1347613"/>
            <a:ext cx="1222524" cy="2841227"/>
            <a:chOff x="2263912" y="1347613"/>
            <a:chExt cx="1222524" cy="2841227"/>
          </a:xfrm>
        </p:grpSpPr>
        <p:sp>
          <p:nvSpPr>
            <p:cNvPr id="21" name="任意多边形 20"/>
            <p:cNvSpPr/>
            <p:nvPr/>
          </p:nvSpPr>
          <p:spPr>
            <a:xfrm>
              <a:off x="2263912" y="2743349"/>
              <a:ext cx="690705" cy="205284"/>
            </a:xfrm>
            <a:custGeom>
              <a:avLst/>
              <a:gdLst/>
              <a:ahLst/>
              <a:cxnLst/>
              <a:rect l="0" t="0" r="0" b="0"/>
              <a:pathLst>
                <a:path>
                  <a:moveTo>
                    <a:pt x="0" y="28828"/>
                  </a:moveTo>
                  <a:lnTo>
                    <a:pt x="546785" y="28828"/>
                  </a:lnTo>
                </a:path>
              </a:pathLst>
            </a:custGeom>
            <a:noFill/>
            <a:ln w="57150">
              <a:solidFill>
                <a:schemeClr val="accent6">
                  <a:lumMod val="40000"/>
                  <a:lumOff val="60000"/>
                </a:schemeClr>
              </a:solidFill>
            </a:ln>
            <a:scene3d>
              <a:camera prst="orthographicFront"/>
              <a:lightRig rig="flat" dir="t"/>
            </a:scene3d>
            <a:sp3d prstMaterial="matte"/>
          </p:spPr>
          <p:style>
            <a:lnRef idx="2">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3" name="圆角矩形 2"/>
            <p:cNvSpPr/>
            <p:nvPr/>
          </p:nvSpPr>
          <p:spPr>
            <a:xfrm>
              <a:off x="2756029" y="1347613"/>
              <a:ext cx="730407" cy="28412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smtClean="0"/>
                <a:t>系统结构设计和</a:t>
              </a:r>
              <a:endParaRPr lang="en-US" altLang="zh-CN" b="1" dirty="0" smtClean="0"/>
            </a:p>
            <a:p>
              <a:pPr algn="ctr"/>
              <a:r>
                <a:rPr lang="zh-CN" altLang="en-US" b="1" dirty="0" smtClean="0"/>
                <a:t>系统软件开发技能</a:t>
              </a:r>
              <a:endParaRPr lang="zh-CN" altLang="en-US" b="1" dirty="0"/>
            </a:p>
          </p:txBody>
        </p:sp>
      </p:grpSp>
      <p:cxnSp>
        <p:nvCxnSpPr>
          <p:cNvPr id="33" name="直接连接符 32"/>
          <p:cNvCxnSpPr>
            <a:stCxn id="3" idx="3"/>
          </p:cNvCxnSpPr>
          <p:nvPr/>
        </p:nvCxnSpPr>
        <p:spPr>
          <a:xfrm>
            <a:off x="3486436" y="2768227"/>
            <a:ext cx="1946331" cy="428105"/>
          </a:xfrm>
          <a:prstGeom prst="line">
            <a:avLst/>
          </a:prstGeom>
        </p:spPr>
        <p:style>
          <a:lnRef idx="3">
            <a:schemeClr val="accent3"/>
          </a:lnRef>
          <a:fillRef idx="0">
            <a:schemeClr val="accent3"/>
          </a:fillRef>
          <a:effectRef idx="2">
            <a:schemeClr val="accent3"/>
          </a:effectRef>
          <a:fontRef idx="minor">
            <a:schemeClr val="tx1"/>
          </a:fontRef>
        </p:style>
      </p:cxnSp>
      <p:sp>
        <p:nvSpPr>
          <p:cNvPr id="34" name="任意多边形 33"/>
          <p:cNvSpPr/>
          <p:nvPr/>
        </p:nvSpPr>
        <p:spPr>
          <a:xfrm>
            <a:off x="5474087" y="2638303"/>
            <a:ext cx="1014366" cy="1014366"/>
          </a:xfrm>
          <a:custGeom>
            <a:avLst/>
            <a:gdLst>
              <a:gd name="connsiteX0" fmla="*/ 0 w 1171575"/>
              <a:gd name="connsiteY0" fmla="*/ 585788 h 1171575"/>
              <a:gd name="connsiteX1" fmla="*/ 585788 w 1171575"/>
              <a:gd name="connsiteY1" fmla="*/ 0 h 1171575"/>
              <a:gd name="connsiteX2" fmla="*/ 1171576 w 1171575"/>
              <a:gd name="connsiteY2" fmla="*/ 585788 h 1171575"/>
              <a:gd name="connsiteX3" fmla="*/ 585788 w 1171575"/>
              <a:gd name="connsiteY3" fmla="*/ 1171576 h 1171575"/>
              <a:gd name="connsiteX4" fmla="*/ 0 w 1171575"/>
              <a:gd name="connsiteY4" fmla="*/ 585788 h 117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575" h="1171575">
                <a:moveTo>
                  <a:pt x="0" y="585788"/>
                </a:moveTo>
                <a:cubicBezTo>
                  <a:pt x="0" y="262266"/>
                  <a:pt x="262266" y="0"/>
                  <a:pt x="585788" y="0"/>
                </a:cubicBezTo>
                <a:cubicBezTo>
                  <a:pt x="909310" y="0"/>
                  <a:pt x="1171576" y="262266"/>
                  <a:pt x="1171576" y="585788"/>
                </a:cubicBezTo>
                <a:cubicBezTo>
                  <a:pt x="1171576" y="909310"/>
                  <a:pt x="909310" y="1171576"/>
                  <a:pt x="585788" y="1171576"/>
                </a:cubicBezTo>
                <a:cubicBezTo>
                  <a:pt x="262266" y="1171576"/>
                  <a:pt x="0" y="909310"/>
                  <a:pt x="0" y="5857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186813" tIns="186813" rIns="186813" bIns="186813" numCol="1" spcCol="1270" anchor="ctr" anchorCtr="0">
            <a:noAutofit/>
          </a:bodyPr>
          <a:lstStyle/>
          <a:p>
            <a:pPr lvl="0" algn="ctr" defTabSz="1066800">
              <a:lnSpc>
                <a:spcPct val="90000"/>
              </a:lnSpc>
              <a:spcBef>
                <a:spcPct val="0"/>
              </a:spcBef>
              <a:spcAft>
                <a:spcPct val="35000"/>
              </a:spcAft>
            </a:pPr>
            <a:r>
              <a:rPr lang="zh-CN" altLang="en-US" sz="2400" b="1" kern="1200" dirty="0" smtClean="0"/>
              <a:t>算法</a:t>
            </a:r>
            <a:endParaRPr lang="zh-CN" altLang="en-US" sz="2400" b="1" kern="1200" dirty="0"/>
          </a:p>
        </p:txBody>
      </p:sp>
    </p:spTree>
    <p:extLst>
      <p:ext uri="{BB962C8B-B14F-4D97-AF65-F5344CB8AC3E}">
        <p14:creationId xmlns:p14="http://schemas.microsoft.com/office/powerpoint/2010/main" val="82465315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left)">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제목 1"/>
          <p:cNvSpPr txBox="1">
            <a:spLocks/>
          </p:cNvSpPr>
          <p:nvPr/>
        </p:nvSpPr>
        <p:spPr>
          <a:xfrm>
            <a:off x="679806" y="110833"/>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课程定位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5" name="空心弧 4"/>
          <p:cNvSpPr/>
          <p:nvPr/>
        </p:nvSpPr>
        <p:spPr>
          <a:xfrm>
            <a:off x="4147175" y="922789"/>
            <a:ext cx="3438649" cy="3438649"/>
          </a:xfrm>
          <a:prstGeom prst="blockArc">
            <a:avLst>
              <a:gd name="adj1" fmla="val 10800000"/>
              <a:gd name="adj2" fmla="val 16200000"/>
              <a:gd name="adj3" fmla="val 4644"/>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dk1">
              <a:hueOff val="0"/>
              <a:satOff val="0"/>
              <a:lumOff val="0"/>
              <a:alphaOff val="0"/>
            </a:schemeClr>
          </a:fontRef>
        </p:style>
      </p:sp>
      <p:sp>
        <p:nvSpPr>
          <p:cNvPr id="6" name="空心弧 5"/>
          <p:cNvSpPr/>
          <p:nvPr/>
        </p:nvSpPr>
        <p:spPr>
          <a:xfrm>
            <a:off x="4147175" y="922789"/>
            <a:ext cx="3438649" cy="3438649"/>
          </a:xfrm>
          <a:prstGeom prst="blockArc">
            <a:avLst>
              <a:gd name="adj1" fmla="val 5400000"/>
              <a:gd name="adj2" fmla="val 10800000"/>
              <a:gd name="adj3" fmla="val 4644"/>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dk1">
              <a:hueOff val="0"/>
              <a:satOff val="0"/>
              <a:lumOff val="0"/>
              <a:alphaOff val="0"/>
            </a:schemeClr>
          </a:fontRef>
        </p:style>
      </p:sp>
      <p:sp>
        <p:nvSpPr>
          <p:cNvPr id="7" name="空心弧 6"/>
          <p:cNvSpPr/>
          <p:nvPr/>
        </p:nvSpPr>
        <p:spPr>
          <a:xfrm>
            <a:off x="4147175" y="922789"/>
            <a:ext cx="3438649" cy="3438649"/>
          </a:xfrm>
          <a:prstGeom prst="blockArc">
            <a:avLst>
              <a:gd name="adj1" fmla="val 0"/>
              <a:gd name="adj2" fmla="val 5400000"/>
              <a:gd name="adj3" fmla="val 4644"/>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dk1">
              <a:hueOff val="0"/>
              <a:satOff val="0"/>
              <a:lumOff val="0"/>
              <a:alphaOff val="0"/>
            </a:schemeClr>
          </a:fontRef>
        </p:style>
      </p:sp>
      <p:sp>
        <p:nvSpPr>
          <p:cNvPr id="8" name="空心弧 7"/>
          <p:cNvSpPr/>
          <p:nvPr/>
        </p:nvSpPr>
        <p:spPr>
          <a:xfrm>
            <a:off x="4147175" y="922789"/>
            <a:ext cx="3438649" cy="3438649"/>
          </a:xfrm>
          <a:prstGeom prst="blockArc">
            <a:avLst>
              <a:gd name="adj1" fmla="val 16200000"/>
              <a:gd name="adj2" fmla="val 0"/>
              <a:gd name="adj3" fmla="val 4644"/>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dk1">
              <a:hueOff val="0"/>
              <a:satOff val="0"/>
              <a:lumOff val="0"/>
              <a:alphaOff val="0"/>
            </a:schemeClr>
          </a:fontRef>
        </p:style>
      </p:sp>
      <p:sp>
        <p:nvSpPr>
          <p:cNvPr id="9" name="任意多边形 8"/>
          <p:cNvSpPr/>
          <p:nvPr/>
        </p:nvSpPr>
        <p:spPr>
          <a:xfrm>
            <a:off x="5074368" y="1849982"/>
            <a:ext cx="1584263" cy="1584263"/>
          </a:xfrm>
          <a:custGeom>
            <a:avLst/>
            <a:gdLst>
              <a:gd name="connsiteX0" fmla="*/ 0 w 1584263"/>
              <a:gd name="connsiteY0" fmla="*/ 792132 h 1584263"/>
              <a:gd name="connsiteX1" fmla="*/ 792132 w 1584263"/>
              <a:gd name="connsiteY1" fmla="*/ 0 h 1584263"/>
              <a:gd name="connsiteX2" fmla="*/ 1584264 w 1584263"/>
              <a:gd name="connsiteY2" fmla="*/ 792132 h 1584263"/>
              <a:gd name="connsiteX3" fmla="*/ 792132 w 1584263"/>
              <a:gd name="connsiteY3" fmla="*/ 1584264 h 1584263"/>
              <a:gd name="connsiteX4" fmla="*/ 0 w 1584263"/>
              <a:gd name="connsiteY4" fmla="*/ 792132 h 1584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263" h="1584263">
                <a:moveTo>
                  <a:pt x="0" y="792132"/>
                </a:moveTo>
                <a:cubicBezTo>
                  <a:pt x="0" y="354650"/>
                  <a:pt x="354650" y="0"/>
                  <a:pt x="792132" y="0"/>
                </a:cubicBezTo>
                <a:cubicBezTo>
                  <a:pt x="1229614" y="0"/>
                  <a:pt x="1584264" y="354650"/>
                  <a:pt x="1584264" y="792132"/>
                </a:cubicBezTo>
                <a:cubicBezTo>
                  <a:pt x="1584264" y="1229614"/>
                  <a:pt x="1229614" y="1584264"/>
                  <a:pt x="792132" y="1584264"/>
                </a:cubicBezTo>
                <a:cubicBezTo>
                  <a:pt x="354650" y="1584264"/>
                  <a:pt x="0" y="1229614"/>
                  <a:pt x="0" y="792132"/>
                </a:cubicBez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75190" tIns="275190" rIns="275190" bIns="275190" numCol="1" spcCol="1270" anchor="ctr" anchorCtr="0">
            <a:noAutofit/>
            <a:scene3d>
              <a:camera prst="orthographicFront"/>
              <a:lightRig rig="flat" dir="tl">
                <a:rot lat="0" lon="0" rev="6600000"/>
              </a:lightRig>
            </a:scene3d>
            <a:sp3d extrusionH="25400" contourW="8890">
              <a:bevelT w="38100" h="31750"/>
              <a:contourClr>
                <a:schemeClr val="accent2">
                  <a:shade val="75000"/>
                </a:schemeClr>
              </a:contourClr>
            </a:sp3d>
          </a:bodyPr>
          <a:lstStyle/>
          <a:p>
            <a:pPr lvl="0" algn="ctr" defTabSz="1511300">
              <a:lnSpc>
                <a:spcPct val="90000"/>
              </a:lnSpc>
              <a:spcBef>
                <a:spcPct val="0"/>
              </a:spcBef>
              <a:spcAft>
                <a:spcPct val="35000"/>
              </a:spcAft>
            </a:pPr>
            <a:r>
              <a:rPr lang="zh-CN" altLang="en-US" sz="3400" b="1" kern="1200" cap="none" spc="0" dirty="0" smtClean="0">
                <a:ln w="11430">
                  <a:solidFill>
                    <a:srgbClr val="FF3300"/>
                  </a:solidFill>
                </a:ln>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课程定位</a:t>
            </a:r>
            <a:endParaRPr lang="zh-CN" altLang="en-US" sz="3400" b="1" kern="1200" cap="none" spc="0" dirty="0">
              <a:ln w="11430">
                <a:solidFill>
                  <a:srgbClr val="FF3300"/>
                </a:solidFill>
              </a:ln>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任意多边形 9"/>
          <p:cNvSpPr/>
          <p:nvPr/>
        </p:nvSpPr>
        <p:spPr>
          <a:xfrm>
            <a:off x="5148064" y="188058"/>
            <a:ext cx="1285024" cy="1285024"/>
          </a:xfrm>
          <a:custGeom>
            <a:avLst/>
            <a:gdLst>
              <a:gd name="connsiteX0" fmla="*/ 0 w 1108984"/>
              <a:gd name="connsiteY0" fmla="*/ 554492 h 1108984"/>
              <a:gd name="connsiteX1" fmla="*/ 554492 w 1108984"/>
              <a:gd name="connsiteY1" fmla="*/ 0 h 1108984"/>
              <a:gd name="connsiteX2" fmla="*/ 1108984 w 1108984"/>
              <a:gd name="connsiteY2" fmla="*/ 554492 h 1108984"/>
              <a:gd name="connsiteX3" fmla="*/ 554492 w 1108984"/>
              <a:gd name="connsiteY3" fmla="*/ 1108984 h 1108984"/>
              <a:gd name="connsiteX4" fmla="*/ 0 w 1108984"/>
              <a:gd name="connsiteY4" fmla="*/ 554492 h 1108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984" h="1108984">
                <a:moveTo>
                  <a:pt x="0" y="554492"/>
                </a:moveTo>
                <a:cubicBezTo>
                  <a:pt x="0" y="248255"/>
                  <a:pt x="248255" y="0"/>
                  <a:pt x="554492" y="0"/>
                </a:cubicBezTo>
                <a:cubicBezTo>
                  <a:pt x="860729" y="0"/>
                  <a:pt x="1108984" y="248255"/>
                  <a:pt x="1108984" y="554492"/>
                </a:cubicBezTo>
                <a:cubicBezTo>
                  <a:pt x="1108984" y="860729"/>
                  <a:pt x="860729" y="1108984"/>
                  <a:pt x="554492" y="1108984"/>
                </a:cubicBezTo>
                <a:cubicBezTo>
                  <a:pt x="248255" y="1108984"/>
                  <a:pt x="0" y="860729"/>
                  <a:pt x="0" y="554492"/>
                </a:cubicBezTo>
                <a:close/>
              </a:path>
            </a:pathLst>
          </a:custGeom>
        </p:spPr>
        <p:style>
          <a:lnRef idx="1">
            <a:schemeClr val="accent6"/>
          </a:lnRef>
          <a:fillRef idx="2">
            <a:schemeClr val="accent6"/>
          </a:fillRef>
          <a:effectRef idx="1">
            <a:schemeClr val="accent6"/>
          </a:effectRef>
          <a:fontRef idx="minor">
            <a:schemeClr val="dk1"/>
          </a:fontRef>
        </p:style>
        <p:txBody>
          <a:bodyPr spcFirstLastPara="0" vert="horz" wrap="square" lIns="187807" tIns="187807" rIns="187807" bIns="187807" numCol="1" spcCol="1270" anchor="ctr" anchorCtr="0">
            <a:noAutofit/>
          </a:bodyPr>
          <a:lstStyle/>
          <a:p>
            <a:pPr lvl="0" algn="ctr" defTabSz="889000">
              <a:lnSpc>
                <a:spcPct val="90000"/>
              </a:lnSpc>
              <a:spcBef>
                <a:spcPct val="0"/>
              </a:spcBef>
              <a:spcAft>
                <a:spcPct val="35000"/>
              </a:spcAft>
            </a:pPr>
            <a:r>
              <a:rPr lang="zh-CN" altLang="en-US" sz="2000" b="1" kern="1200" dirty="0" smtClean="0"/>
              <a:t>核心课程和基础课程</a:t>
            </a:r>
            <a:endParaRPr lang="zh-CN" altLang="en-US" sz="2000" b="1" kern="1200" dirty="0"/>
          </a:p>
        </p:txBody>
      </p:sp>
      <p:sp>
        <p:nvSpPr>
          <p:cNvPr id="11" name="任意多边形 10"/>
          <p:cNvSpPr/>
          <p:nvPr/>
        </p:nvSpPr>
        <p:spPr>
          <a:xfrm>
            <a:off x="6991408" y="2087621"/>
            <a:ext cx="1108984" cy="1108984"/>
          </a:xfrm>
          <a:custGeom>
            <a:avLst/>
            <a:gdLst>
              <a:gd name="connsiteX0" fmla="*/ 0 w 1108984"/>
              <a:gd name="connsiteY0" fmla="*/ 554492 h 1108984"/>
              <a:gd name="connsiteX1" fmla="*/ 554492 w 1108984"/>
              <a:gd name="connsiteY1" fmla="*/ 0 h 1108984"/>
              <a:gd name="connsiteX2" fmla="*/ 1108984 w 1108984"/>
              <a:gd name="connsiteY2" fmla="*/ 554492 h 1108984"/>
              <a:gd name="connsiteX3" fmla="*/ 554492 w 1108984"/>
              <a:gd name="connsiteY3" fmla="*/ 1108984 h 1108984"/>
              <a:gd name="connsiteX4" fmla="*/ 0 w 1108984"/>
              <a:gd name="connsiteY4" fmla="*/ 554492 h 1108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984" h="1108984">
                <a:moveTo>
                  <a:pt x="0" y="554492"/>
                </a:moveTo>
                <a:cubicBezTo>
                  <a:pt x="0" y="248255"/>
                  <a:pt x="248255" y="0"/>
                  <a:pt x="554492" y="0"/>
                </a:cubicBezTo>
                <a:cubicBezTo>
                  <a:pt x="860729" y="0"/>
                  <a:pt x="1108984" y="248255"/>
                  <a:pt x="1108984" y="554492"/>
                </a:cubicBezTo>
                <a:cubicBezTo>
                  <a:pt x="1108984" y="860729"/>
                  <a:pt x="860729" y="1108984"/>
                  <a:pt x="554492" y="1108984"/>
                </a:cubicBezTo>
                <a:cubicBezTo>
                  <a:pt x="248255" y="1108984"/>
                  <a:pt x="0" y="860729"/>
                  <a:pt x="0" y="554492"/>
                </a:cubicBezTo>
                <a:close/>
              </a:path>
            </a:pathLst>
          </a:custGeom>
        </p:spPr>
        <p:style>
          <a:lnRef idx="1">
            <a:schemeClr val="accent6"/>
          </a:lnRef>
          <a:fillRef idx="2">
            <a:schemeClr val="accent6"/>
          </a:fillRef>
          <a:effectRef idx="1">
            <a:schemeClr val="accent6"/>
          </a:effectRef>
          <a:fontRef idx="minor">
            <a:schemeClr val="dk1"/>
          </a:fontRef>
        </p:style>
        <p:txBody>
          <a:bodyPr spcFirstLastPara="0" vert="horz" wrap="square" lIns="187807" tIns="187807" rIns="187807" bIns="187807" numCol="1" spcCol="1270" anchor="ctr" anchorCtr="0">
            <a:noAutofit/>
          </a:bodyPr>
          <a:lstStyle/>
          <a:p>
            <a:pPr lvl="0" algn="ctr" defTabSz="889000">
              <a:lnSpc>
                <a:spcPct val="90000"/>
              </a:lnSpc>
              <a:spcBef>
                <a:spcPct val="0"/>
              </a:spcBef>
              <a:spcAft>
                <a:spcPct val="35000"/>
              </a:spcAft>
            </a:pPr>
            <a:r>
              <a:rPr lang="zh-CN" altLang="en-US" sz="2400" b="1" dirty="0"/>
              <a:t>升学</a:t>
            </a:r>
          </a:p>
        </p:txBody>
      </p:sp>
      <p:sp>
        <p:nvSpPr>
          <p:cNvPr id="13" name="任意多边形 12"/>
          <p:cNvSpPr/>
          <p:nvPr/>
        </p:nvSpPr>
        <p:spPr>
          <a:xfrm>
            <a:off x="5148064" y="3603079"/>
            <a:ext cx="1272927" cy="1272927"/>
          </a:xfrm>
          <a:custGeom>
            <a:avLst/>
            <a:gdLst>
              <a:gd name="connsiteX0" fmla="*/ 0 w 1108984"/>
              <a:gd name="connsiteY0" fmla="*/ 554492 h 1108984"/>
              <a:gd name="connsiteX1" fmla="*/ 554492 w 1108984"/>
              <a:gd name="connsiteY1" fmla="*/ 0 h 1108984"/>
              <a:gd name="connsiteX2" fmla="*/ 1108984 w 1108984"/>
              <a:gd name="connsiteY2" fmla="*/ 554492 h 1108984"/>
              <a:gd name="connsiteX3" fmla="*/ 554492 w 1108984"/>
              <a:gd name="connsiteY3" fmla="*/ 1108984 h 1108984"/>
              <a:gd name="connsiteX4" fmla="*/ 0 w 1108984"/>
              <a:gd name="connsiteY4" fmla="*/ 554492 h 1108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984" h="1108984">
                <a:moveTo>
                  <a:pt x="0" y="554492"/>
                </a:moveTo>
                <a:cubicBezTo>
                  <a:pt x="0" y="248255"/>
                  <a:pt x="248255" y="0"/>
                  <a:pt x="554492" y="0"/>
                </a:cubicBezTo>
                <a:cubicBezTo>
                  <a:pt x="860729" y="0"/>
                  <a:pt x="1108984" y="248255"/>
                  <a:pt x="1108984" y="554492"/>
                </a:cubicBezTo>
                <a:cubicBezTo>
                  <a:pt x="1108984" y="860729"/>
                  <a:pt x="860729" y="1108984"/>
                  <a:pt x="554492" y="1108984"/>
                </a:cubicBezTo>
                <a:cubicBezTo>
                  <a:pt x="248255" y="1108984"/>
                  <a:pt x="0" y="860729"/>
                  <a:pt x="0" y="554492"/>
                </a:cubicBezTo>
                <a:close/>
              </a:path>
            </a:pathLst>
          </a:custGeom>
        </p:spPr>
        <p:style>
          <a:lnRef idx="1">
            <a:schemeClr val="accent6"/>
          </a:lnRef>
          <a:fillRef idx="2">
            <a:schemeClr val="accent6"/>
          </a:fillRef>
          <a:effectRef idx="1">
            <a:schemeClr val="accent6"/>
          </a:effectRef>
          <a:fontRef idx="minor">
            <a:schemeClr val="dk1"/>
          </a:fontRef>
        </p:style>
        <p:txBody>
          <a:bodyPr spcFirstLastPara="0" vert="horz" wrap="square" lIns="187807" tIns="187807" rIns="187807" bIns="187807" numCol="1" spcCol="1270" anchor="ctr" anchorCtr="0">
            <a:noAutofit/>
          </a:bodyPr>
          <a:lstStyle/>
          <a:p>
            <a:pPr algn="ctr" defTabSz="889000">
              <a:lnSpc>
                <a:spcPct val="90000"/>
              </a:lnSpc>
              <a:spcBef>
                <a:spcPct val="0"/>
              </a:spcBef>
              <a:spcAft>
                <a:spcPct val="35000"/>
              </a:spcAft>
            </a:pPr>
            <a:r>
              <a:rPr lang="zh-CN" altLang="en-US" sz="2400" b="1" dirty="0"/>
              <a:t>认证考试</a:t>
            </a:r>
          </a:p>
        </p:txBody>
      </p:sp>
      <p:sp>
        <p:nvSpPr>
          <p:cNvPr id="14" name="任意多边形 13"/>
          <p:cNvSpPr/>
          <p:nvPr/>
        </p:nvSpPr>
        <p:spPr>
          <a:xfrm>
            <a:off x="3632606" y="2087621"/>
            <a:ext cx="1108984" cy="1108984"/>
          </a:xfrm>
          <a:custGeom>
            <a:avLst/>
            <a:gdLst>
              <a:gd name="connsiteX0" fmla="*/ 0 w 1108984"/>
              <a:gd name="connsiteY0" fmla="*/ 554492 h 1108984"/>
              <a:gd name="connsiteX1" fmla="*/ 554492 w 1108984"/>
              <a:gd name="connsiteY1" fmla="*/ 0 h 1108984"/>
              <a:gd name="connsiteX2" fmla="*/ 1108984 w 1108984"/>
              <a:gd name="connsiteY2" fmla="*/ 554492 h 1108984"/>
              <a:gd name="connsiteX3" fmla="*/ 554492 w 1108984"/>
              <a:gd name="connsiteY3" fmla="*/ 1108984 h 1108984"/>
              <a:gd name="connsiteX4" fmla="*/ 0 w 1108984"/>
              <a:gd name="connsiteY4" fmla="*/ 554492 h 1108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984" h="1108984">
                <a:moveTo>
                  <a:pt x="0" y="554492"/>
                </a:moveTo>
                <a:cubicBezTo>
                  <a:pt x="0" y="248255"/>
                  <a:pt x="248255" y="0"/>
                  <a:pt x="554492" y="0"/>
                </a:cubicBezTo>
                <a:cubicBezTo>
                  <a:pt x="860729" y="0"/>
                  <a:pt x="1108984" y="248255"/>
                  <a:pt x="1108984" y="554492"/>
                </a:cubicBezTo>
                <a:cubicBezTo>
                  <a:pt x="1108984" y="860729"/>
                  <a:pt x="860729" y="1108984"/>
                  <a:pt x="554492" y="1108984"/>
                </a:cubicBezTo>
                <a:cubicBezTo>
                  <a:pt x="248255" y="1108984"/>
                  <a:pt x="0" y="860729"/>
                  <a:pt x="0" y="554492"/>
                </a:cubicBezTo>
                <a:close/>
              </a:path>
            </a:pathLst>
          </a:custGeom>
        </p:spPr>
        <p:style>
          <a:lnRef idx="1">
            <a:schemeClr val="accent6"/>
          </a:lnRef>
          <a:fillRef idx="2">
            <a:schemeClr val="accent6"/>
          </a:fillRef>
          <a:effectRef idx="1">
            <a:schemeClr val="accent6"/>
          </a:effectRef>
          <a:fontRef idx="minor">
            <a:schemeClr val="dk1"/>
          </a:fontRef>
        </p:style>
        <p:txBody>
          <a:bodyPr spcFirstLastPara="0" vert="horz" wrap="square" lIns="187807" tIns="187807" rIns="187807" bIns="187807" numCol="1" spcCol="1270" anchor="ctr" anchorCtr="0">
            <a:noAutofit/>
          </a:bodyPr>
          <a:lstStyle/>
          <a:p>
            <a:pPr lvl="0" algn="ctr" defTabSz="889000">
              <a:lnSpc>
                <a:spcPct val="90000"/>
              </a:lnSpc>
              <a:spcBef>
                <a:spcPct val="0"/>
              </a:spcBef>
              <a:spcAft>
                <a:spcPct val="35000"/>
              </a:spcAft>
            </a:pPr>
            <a:r>
              <a:rPr lang="zh-CN" altLang="en-US" sz="2400" b="1" dirty="0" smtClean="0"/>
              <a:t>就业</a:t>
            </a:r>
            <a:endParaRPr lang="zh-CN" altLang="en-US" sz="2400" b="1" kern="1200" dirty="0"/>
          </a:p>
        </p:txBody>
      </p:sp>
      <p:sp>
        <p:nvSpPr>
          <p:cNvPr id="15" name="TextBox 14"/>
          <p:cNvSpPr txBox="1"/>
          <p:nvPr/>
        </p:nvSpPr>
        <p:spPr>
          <a:xfrm>
            <a:off x="704801" y="1203598"/>
            <a:ext cx="2787080" cy="3554819"/>
          </a:xfrm>
          <a:prstGeom prst="rect">
            <a:avLst/>
          </a:prstGeom>
          <a:noFill/>
        </p:spPr>
        <p:txBody>
          <a:bodyPr wrap="square" rtlCol="0">
            <a:spAutoFit/>
          </a:bodyPr>
          <a:lstStyle/>
          <a:p>
            <a:pPr>
              <a:lnSpc>
                <a:spcPct val="125000"/>
              </a:lnSpc>
              <a:buClr>
                <a:schemeClr val="accent2">
                  <a:lumMod val="20000"/>
                  <a:lumOff val="80000"/>
                </a:schemeClr>
              </a:buClr>
              <a:buFont typeface="Wingdings" pitchFamily="2" charset="2"/>
              <a:buChar char="Ø"/>
            </a:pPr>
            <a:r>
              <a:rPr lang="zh-CN" altLang="en-US" sz="2000" b="1" dirty="0">
                <a:solidFill>
                  <a:schemeClr val="bg1"/>
                </a:solidFill>
                <a:latin typeface="宋体" pitchFamily="2" charset="-122"/>
              </a:rPr>
              <a:t>操作系统的课程同时强调通过操作实践和编程实践来进一步加深对课程内容的理解</a:t>
            </a:r>
            <a:r>
              <a:rPr lang="zh-CN" altLang="en-US" sz="2000" b="1" dirty="0" smtClean="0">
                <a:solidFill>
                  <a:schemeClr val="bg1"/>
                </a:solidFill>
                <a:latin typeface="宋体" pitchFamily="2" charset="-122"/>
              </a:rPr>
              <a:t>。</a:t>
            </a:r>
            <a:endParaRPr lang="en-US" altLang="zh-CN" sz="2000" b="1" dirty="0" smtClean="0">
              <a:solidFill>
                <a:schemeClr val="bg1"/>
              </a:solidFill>
              <a:latin typeface="宋体" pitchFamily="2" charset="-122"/>
            </a:endParaRPr>
          </a:p>
          <a:p>
            <a:pPr>
              <a:lnSpc>
                <a:spcPct val="125000"/>
              </a:lnSpc>
              <a:buClr>
                <a:schemeClr val="accent2">
                  <a:lumMod val="20000"/>
                  <a:lumOff val="80000"/>
                </a:schemeClr>
              </a:buClr>
              <a:buFont typeface="Wingdings" pitchFamily="2" charset="2"/>
              <a:buChar char="Ø"/>
            </a:pPr>
            <a:r>
              <a:rPr lang="zh-CN" altLang="zh-CN" sz="2000" b="1" dirty="0" smtClean="0">
                <a:solidFill>
                  <a:schemeClr val="bg1"/>
                </a:solidFill>
                <a:latin typeface="宋体" pitchFamily="2" charset="-122"/>
              </a:rPr>
              <a:t>为</a:t>
            </a:r>
            <a:r>
              <a:rPr lang="zh-CN" altLang="zh-CN" sz="2000" b="1" dirty="0">
                <a:solidFill>
                  <a:schemeClr val="bg1"/>
                </a:solidFill>
                <a:latin typeface="宋体" pitchFamily="2" charset="-122"/>
              </a:rPr>
              <a:t>以后从事计算机软硬件的研究和开发工作提供必要的知识方法基础和实践技能基础。</a:t>
            </a:r>
            <a:endParaRPr lang="en-US" altLang="zh-CN" sz="2000" b="1" dirty="0">
              <a:solidFill>
                <a:schemeClr val="bg1"/>
              </a:solidFill>
              <a:latin typeface="宋体" pitchFamily="2" charset="-122"/>
            </a:endParaRPr>
          </a:p>
          <a:p>
            <a:pPr>
              <a:lnSpc>
                <a:spcPct val="125000"/>
              </a:lnSpc>
              <a:buClr>
                <a:schemeClr val="accent2">
                  <a:lumMod val="20000"/>
                  <a:lumOff val="80000"/>
                </a:schemeClr>
              </a:buClr>
              <a:buFont typeface="Wingdings" pitchFamily="2" charset="2"/>
              <a:buChar char="Ø"/>
            </a:pPr>
            <a:endParaRPr lang="zh-CN" altLang="zh-CN" sz="2000" b="1" dirty="0">
              <a:solidFill>
                <a:schemeClr val="bg1"/>
              </a:solidFill>
              <a:latin typeface="宋体" pitchFamily="2" charset="-122"/>
              <a:ea typeface="宋体" pitchFamily="2" charset="-122"/>
            </a:endParaRPr>
          </a:p>
        </p:txBody>
      </p:sp>
      <p:pic>
        <p:nvPicPr>
          <p:cNvPr id="3" name="图片 2"/>
          <p:cNvPicPr>
            <a:picLocks noChangeAspect="1"/>
          </p:cNvPicPr>
          <p:nvPr/>
        </p:nvPicPr>
        <p:blipFill>
          <a:blip r:embed="rId3"/>
          <a:stretch>
            <a:fillRect/>
          </a:stretch>
        </p:blipFill>
        <p:spPr>
          <a:xfrm>
            <a:off x="4001622" y="68907"/>
            <a:ext cx="4314794" cy="5064707"/>
          </a:xfrm>
          <a:prstGeom prst="rect">
            <a:avLst/>
          </a:prstGeom>
        </p:spPr>
      </p:pic>
    </p:spTree>
    <p:extLst>
      <p:ext uri="{BB962C8B-B14F-4D97-AF65-F5344CB8AC3E}">
        <p14:creationId xmlns:p14="http://schemas.microsoft.com/office/powerpoint/2010/main" val="18845327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left)">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Effect transition="in" filter="wipe(left)">
                                      <p:cBhvr>
                                        <p:cTn id="42" dur="500"/>
                                        <p:tgtEl>
                                          <p:spTgt spid="1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down)">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제목 1"/>
          <p:cNvSpPr txBox="1">
            <a:spLocks/>
          </p:cNvSpPr>
          <p:nvPr/>
        </p:nvSpPr>
        <p:spPr>
          <a:xfrm>
            <a:off x="564686" y="74843"/>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先修课程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10" name="任意多边形 9"/>
          <p:cNvSpPr/>
          <p:nvPr/>
        </p:nvSpPr>
        <p:spPr>
          <a:xfrm>
            <a:off x="1596115" y="1758530"/>
            <a:ext cx="1407526" cy="1407685"/>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en-US" altLang="zh-CN" sz="2400" b="1" dirty="0">
                <a:solidFill>
                  <a:schemeClr val="bg1"/>
                </a:solidFill>
                <a:latin typeface="华文楷体" pitchFamily="2" charset="-122"/>
                <a:ea typeface="华文楷体" pitchFamily="2" charset="-122"/>
              </a:rPr>
              <a:t>Linux</a:t>
            </a:r>
            <a:r>
              <a:rPr lang="zh-CN" altLang="en-US" sz="2400" b="1" dirty="0">
                <a:solidFill>
                  <a:schemeClr val="bg1"/>
                </a:solidFill>
                <a:latin typeface="华文楷体" pitchFamily="2" charset="-122"/>
                <a:ea typeface="华文楷体" pitchFamily="2" charset="-122"/>
              </a:rPr>
              <a:t>高级程序设计</a:t>
            </a:r>
          </a:p>
        </p:txBody>
      </p:sp>
      <p:sp>
        <p:nvSpPr>
          <p:cNvPr id="14" name="任意多边形 13"/>
          <p:cNvSpPr/>
          <p:nvPr/>
        </p:nvSpPr>
        <p:spPr>
          <a:xfrm>
            <a:off x="5368615" y="1738017"/>
            <a:ext cx="1147601" cy="1147731"/>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数据结构</a:t>
            </a:r>
            <a:endParaRPr lang="en-US" altLang="zh-CN" sz="2400" b="1" dirty="0">
              <a:solidFill>
                <a:schemeClr val="bg1"/>
              </a:solidFill>
              <a:latin typeface="华文楷体" pitchFamily="2" charset="-122"/>
              <a:ea typeface="华文楷体" pitchFamily="2" charset="-122"/>
            </a:endParaRPr>
          </a:p>
        </p:txBody>
      </p:sp>
      <p:sp>
        <p:nvSpPr>
          <p:cNvPr id="20" name="任意多边形 19"/>
          <p:cNvSpPr/>
          <p:nvPr/>
        </p:nvSpPr>
        <p:spPr>
          <a:xfrm>
            <a:off x="5823818" y="3434052"/>
            <a:ext cx="1124446" cy="1124574"/>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数据库原理</a:t>
            </a:r>
            <a:endParaRPr lang="zh-CN" altLang="en-US" sz="2400" b="1" dirty="0">
              <a:solidFill>
                <a:schemeClr val="bg1"/>
              </a:solidFill>
              <a:latin typeface="华文楷体" pitchFamily="2" charset="-122"/>
              <a:ea typeface="华文楷体" pitchFamily="2" charset="-122"/>
            </a:endParaRPr>
          </a:p>
        </p:txBody>
      </p:sp>
      <p:sp>
        <p:nvSpPr>
          <p:cNvPr id="22" name="任意多边形 21"/>
          <p:cNvSpPr/>
          <p:nvPr/>
        </p:nvSpPr>
        <p:spPr>
          <a:xfrm>
            <a:off x="2309998" y="3748784"/>
            <a:ext cx="1109733" cy="1109859"/>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计算机网络</a:t>
            </a:r>
            <a:endParaRPr lang="zh-CN" altLang="en-US" sz="2400" b="1" dirty="0">
              <a:solidFill>
                <a:schemeClr val="bg1"/>
              </a:solidFill>
              <a:latin typeface="华文楷体" pitchFamily="2" charset="-122"/>
              <a:ea typeface="华文楷体" pitchFamily="2" charset="-122"/>
            </a:endParaRPr>
          </a:p>
        </p:txBody>
      </p:sp>
      <p:sp>
        <p:nvSpPr>
          <p:cNvPr id="24" name="任意多边形 23"/>
          <p:cNvSpPr/>
          <p:nvPr/>
        </p:nvSpPr>
        <p:spPr>
          <a:xfrm>
            <a:off x="3666976" y="830204"/>
            <a:ext cx="1269391" cy="1269535"/>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lvl="0" algn="ctr" defTabSz="622300">
              <a:lnSpc>
                <a:spcPct val="90000"/>
              </a:lnSpc>
              <a:spcBef>
                <a:spcPct val="0"/>
              </a:spcBef>
              <a:spcAft>
                <a:spcPct val="35000"/>
              </a:spcAft>
            </a:pPr>
            <a:r>
              <a:rPr lang="zh-CN" altLang="en-US" sz="2400" b="1" kern="1200" dirty="0" smtClean="0">
                <a:solidFill>
                  <a:schemeClr val="bg1"/>
                </a:solidFill>
                <a:latin typeface="华文楷体" pitchFamily="2" charset="-122"/>
                <a:ea typeface="华文楷体" pitchFamily="2" charset="-122"/>
              </a:rPr>
              <a:t>程序设计基础</a:t>
            </a:r>
            <a:endParaRPr lang="zh-CN" altLang="en-US" sz="2400" b="1" kern="1200" dirty="0">
              <a:solidFill>
                <a:schemeClr val="bg1"/>
              </a:solidFill>
            </a:endParaRPr>
          </a:p>
        </p:txBody>
      </p:sp>
      <p:grpSp>
        <p:nvGrpSpPr>
          <p:cNvPr id="2" name="组合 1"/>
          <p:cNvGrpSpPr/>
          <p:nvPr/>
        </p:nvGrpSpPr>
        <p:grpSpPr>
          <a:xfrm>
            <a:off x="1907704" y="1369903"/>
            <a:ext cx="3835037" cy="3247023"/>
            <a:chOff x="1907704" y="1369903"/>
            <a:chExt cx="3835037" cy="3247023"/>
          </a:xfrm>
        </p:grpSpPr>
        <p:sp>
          <p:nvSpPr>
            <p:cNvPr id="4" name="任意多边形 3"/>
            <p:cNvSpPr/>
            <p:nvPr/>
          </p:nvSpPr>
          <p:spPr>
            <a:xfrm>
              <a:off x="3244028" y="2456403"/>
              <a:ext cx="1611262" cy="1597072"/>
            </a:xfrm>
            <a:custGeom>
              <a:avLst/>
              <a:gdLst>
                <a:gd name="connsiteX0" fmla="*/ 0 w 1331373"/>
                <a:gd name="connsiteY0" fmla="*/ 659824 h 1319648"/>
                <a:gd name="connsiteX1" fmla="*/ 665687 w 1331373"/>
                <a:gd name="connsiteY1" fmla="*/ 0 h 1319648"/>
                <a:gd name="connsiteX2" fmla="*/ 1331374 w 1331373"/>
                <a:gd name="connsiteY2" fmla="*/ 659824 h 1319648"/>
                <a:gd name="connsiteX3" fmla="*/ 665687 w 1331373"/>
                <a:gd name="connsiteY3" fmla="*/ 1319648 h 1319648"/>
                <a:gd name="connsiteX4" fmla="*/ 0 w 1331373"/>
                <a:gd name="connsiteY4" fmla="*/ 659824 h 1319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373" h="1319648">
                  <a:moveTo>
                    <a:pt x="0" y="659824"/>
                  </a:moveTo>
                  <a:cubicBezTo>
                    <a:pt x="0" y="295413"/>
                    <a:pt x="298038" y="0"/>
                    <a:pt x="665687" y="0"/>
                  </a:cubicBezTo>
                  <a:cubicBezTo>
                    <a:pt x="1033336" y="0"/>
                    <a:pt x="1331374" y="295413"/>
                    <a:pt x="1331374" y="659824"/>
                  </a:cubicBezTo>
                  <a:cubicBezTo>
                    <a:pt x="1331374" y="1024235"/>
                    <a:pt x="1033336" y="1319648"/>
                    <a:pt x="665687" y="1319648"/>
                  </a:cubicBezTo>
                  <a:cubicBezTo>
                    <a:pt x="298038" y="1319648"/>
                    <a:pt x="0" y="1024235"/>
                    <a:pt x="0" y="65982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271175" tIns="269458" rIns="271175" bIns="269458" numCol="1" spcCol="1270" anchor="ctr" anchorCtr="0">
              <a:noAutofit/>
            </a:bodyPr>
            <a:lstStyle/>
            <a:p>
              <a:pPr lvl="0" algn="ctr" defTabSz="889000">
                <a:lnSpc>
                  <a:spcPct val="90000"/>
                </a:lnSpc>
                <a:spcBef>
                  <a:spcPct val="0"/>
                </a:spcBef>
                <a:spcAft>
                  <a:spcPct val="35000"/>
                </a:spcAft>
              </a:pPr>
              <a:r>
                <a:rPr lang="zh-CN" altLang="en-US" sz="2400" b="1" kern="1200" dirty="0" smtClean="0">
                  <a:latin typeface="宋体" pitchFamily="2" charset="-122"/>
                  <a:ea typeface="宋体" pitchFamily="2" charset="-122"/>
                </a:rPr>
                <a:t>操作系统</a:t>
              </a:r>
              <a:endParaRPr lang="zh-CN" altLang="en-US" sz="2400" kern="1200" dirty="0"/>
            </a:p>
          </p:txBody>
        </p:sp>
        <p:sp>
          <p:nvSpPr>
            <p:cNvPr id="5" name="椭圆 4"/>
            <p:cNvSpPr/>
            <p:nvPr/>
          </p:nvSpPr>
          <p:spPr>
            <a:xfrm>
              <a:off x="3475029" y="4147534"/>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6" name="椭圆 5"/>
            <p:cNvSpPr/>
            <p:nvPr/>
          </p:nvSpPr>
          <p:spPr>
            <a:xfrm>
              <a:off x="5277281" y="2909580"/>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7" name="椭圆 6"/>
            <p:cNvSpPr/>
            <p:nvPr/>
          </p:nvSpPr>
          <p:spPr>
            <a:xfrm>
              <a:off x="4360037" y="4351803"/>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8" name="椭圆 7"/>
            <p:cNvSpPr/>
            <p:nvPr/>
          </p:nvSpPr>
          <p:spPr>
            <a:xfrm>
              <a:off x="3528754" y="2210810"/>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9" name="椭圆 8"/>
            <p:cNvSpPr/>
            <p:nvPr/>
          </p:nvSpPr>
          <p:spPr>
            <a:xfrm>
              <a:off x="2924585" y="3309181"/>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sp>
        <p:sp>
          <p:nvSpPr>
            <p:cNvPr id="11" name="椭圆 10"/>
            <p:cNvSpPr/>
            <p:nvPr/>
          </p:nvSpPr>
          <p:spPr>
            <a:xfrm>
              <a:off x="3834014" y="2219321"/>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13" name="椭圆 12"/>
            <p:cNvSpPr/>
            <p:nvPr/>
          </p:nvSpPr>
          <p:spPr>
            <a:xfrm>
              <a:off x="1964168" y="3317479"/>
              <a:ext cx="478647" cy="478755"/>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17" name="椭圆 16"/>
            <p:cNvSpPr/>
            <p:nvPr/>
          </p:nvSpPr>
          <p:spPr>
            <a:xfrm>
              <a:off x="4936367" y="2585728"/>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sp>
        <p:sp>
          <p:nvSpPr>
            <p:cNvPr id="18" name="椭圆 17"/>
            <p:cNvSpPr/>
            <p:nvPr/>
          </p:nvSpPr>
          <p:spPr>
            <a:xfrm>
              <a:off x="1907704" y="4194346"/>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9" name="椭圆 18"/>
            <p:cNvSpPr/>
            <p:nvPr/>
          </p:nvSpPr>
          <p:spPr>
            <a:xfrm>
              <a:off x="3820338" y="3921136"/>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21" name="椭圆 20"/>
            <p:cNvSpPr/>
            <p:nvPr/>
          </p:nvSpPr>
          <p:spPr>
            <a:xfrm>
              <a:off x="5550794" y="3556857"/>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23" name="椭圆 22"/>
            <p:cNvSpPr/>
            <p:nvPr/>
          </p:nvSpPr>
          <p:spPr>
            <a:xfrm>
              <a:off x="3909718" y="4386273"/>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25" name="椭圆 24"/>
            <p:cNvSpPr/>
            <p:nvPr/>
          </p:nvSpPr>
          <p:spPr>
            <a:xfrm>
              <a:off x="3122393" y="1889557"/>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26" name="椭圆 25"/>
            <p:cNvSpPr/>
            <p:nvPr/>
          </p:nvSpPr>
          <p:spPr>
            <a:xfrm>
              <a:off x="5009630" y="1369903"/>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grpSp>
    </p:spTree>
    <p:extLst>
      <p:ext uri="{BB962C8B-B14F-4D97-AF65-F5344CB8AC3E}">
        <p14:creationId xmlns:p14="http://schemas.microsoft.com/office/powerpoint/2010/main" val="747684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20" grpId="0" animBg="1"/>
      <p:bldP spid="22"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제목 1"/>
          <p:cNvSpPr txBox="1">
            <a:spLocks/>
          </p:cNvSpPr>
          <p:nvPr/>
        </p:nvSpPr>
        <p:spPr>
          <a:xfrm>
            <a:off x="564686" y="74843"/>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后继及同步课程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10" name="任意多边形 9"/>
          <p:cNvSpPr/>
          <p:nvPr/>
        </p:nvSpPr>
        <p:spPr>
          <a:xfrm>
            <a:off x="1596115" y="1758530"/>
            <a:ext cx="1407526" cy="1407685"/>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人工智能相关课程</a:t>
            </a:r>
            <a:endParaRPr lang="zh-CN" altLang="en-US" sz="2400" b="1" dirty="0">
              <a:solidFill>
                <a:schemeClr val="bg1"/>
              </a:solidFill>
              <a:latin typeface="华文楷体" pitchFamily="2" charset="-122"/>
              <a:ea typeface="华文楷体" pitchFamily="2" charset="-122"/>
            </a:endParaRPr>
          </a:p>
        </p:txBody>
      </p:sp>
      <p:sp>
        <p:nvSpPr>
          <p:cNvPr id="20" name="任意多边形 19"/>
          <p:cNvSpPr/>
          <p:nvPr/>
        </p:nvSpPr>
        <p:spPr>
          <a:xfrm>
            <a:off x="4855290" y="3772570"/>
            <a:ext cx="1124446" cy="1124574"/>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框架编程技术</a:t>
            </a:r>
            <a:endParaRPr lang="zh-CN" altLang="en-US" sz="2400" b="1" dirty="0">
              <a:solidFill>
                <a:schemeClr val="bg1"/>
              </a:solidFill>
              <a:latin typeface="华文楷体" pitchFamily="2" charset="-122"/>
              <a:ea typeface="华文楷体" pitchFamily="2" charset="-122"/>
            </a:endParaRPr>
          </a:p>
        </p:txBody>
      </p:sp>
      <p:sp>
        <p:nvSpPr>
          <p:cNvPr id="22" name="任意多边形 21"/>
          <p:cNvSpPr/>
          <p:nvPr/>
        </p:nvSpPr>
        <p:spPr>
          <a:xfrm>
            <a:off x="2309998" y="3748784"/>
            <a:ext cx="1109733" cy="1109859"/>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网络操作系统</a:t>
            </a:r>
            <a:endParaRPr lang="zh-CN" altLang="en-US" sz="2400" b="1" dirty="0">
              <a:solidFill>
                <a:schemeClr val="bg1"/>
              </a:solidFill>
              <a:latin typeface="华文楷体" pitchFamily="2" charset="-122"/>
              <a:ea typeface="华文楷体" pitchFamily="2" charset="-122"/>
            </a:endParaRPr>
          </a:p>
        </p:txBody>
      </p:sp>
      <p:sp>
        <p:nvSpPr>
          <p:cNvPr id="24" name="任意多边形 23"/>
          <p:cNvSpPr/>
          <p:nvPr/>
        </p:nvSpPr>
        <p:spPr>
          <a:xfrm>
            <a:off x="3123746" y="650431"/>
            <a:ext cx="1325471" cy="1325621"/>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lvl="0" algn="ctr" defTabSz="622300">
              <a:lnSpc>
                <a:spcPct val="90000"/>
              </a:lnSpc>
              <a:spcBef>
                <a:spcPct val="0"/>
              </a:spcBef>
              <a:spcAft>
                <a:spcPct val="35000"/>
              </a:spcAft>
            </a:pPr>
            <a:r>
              <a:rPr lang="zh-CN" altLang="en-US" sz="2400" b="1" kern="1200" dirty="0" smtClean="0">
                <a:solidFill>
                  <a:schemeClr val="bg1"/>
                </a:solidFill>
                <a:latin typeface="华文楷体" pitchFamily="2" charset="-122"/>
                <a:ea typeface="华文楷体" pitchFamily="2" charset="-122"/>
              </a:rPr>
              <a:t>计算机组成原理</a:t>
            </a:r>
            <a:endParaRPr lang="zh-CN" altLang="en-US" sz="2400" b="1" kern="1200" dirty="0">
              <a:solidFill>
                <a:schemeClr val="bg1"/>
              </a:solidFill>
            </a:endParaRPr>
          </a:p>
        </p:txBody>
      </p:sp>
      <p:grpSp>
        <p:nvGrpSpPr>
          <p:cNvPr id="2" name="组合 1"/>
          <p:cNvGrpSpPr/>
          <p:nvPr/>
        </p:nvGrpSpPr>
        <p:grpSpPr>
          <a:xfrm>
            <a:off x="1907704" y="1889557"/>
            <a:ext cx="3835037" cy="2727369"/>
            <a:chOff x="1907704" y="1889557"/>
            <a:chExt cx="3835037" cy="2727369"/>
          </a:xfrm>
        </p:grpSpPr>
        <p:sp>
          <p:nvSpPr>
            <p:cNvPr id="4" name="任意多边形 3"/>
            <p:cNvSpPr/>
            <p:nvPr/>
          </p:nvSpPr>
          <p:spPr>
            <a:xfrm>
              <a:off x="3244028" y="2456403"/>
              <a:ext cx="1611262" cy="1597072"/>
            </a:xfrm>
            <a:custGeom>
              <a:avLst/>
              <a:gdLst>
                <a:gd name="connsiteX0" fmla="*/ 0 w 1331373"/>
                <a:gd name="connsiteY0" fmla="*/ 659824 h 1319648"/>
                <a:gd name="connsiteX1" fmla="*/ 665687 w 1331373"/>
                <a:gd name="connsiteY1" fmla="*/ 0 h 1319648"/>
                <a:gd name="connsiteX2" fmla="*/ 1331374 w 1331373"/>
                <a:gd name="connsiteY2" fmla="*/ 659824 h 1319648"/>
                <a:gd name="connsiteX3" fmla="*/ 665687 w 1331373"/>
                <a:gd name="connsiteY3" fmla="*/ 1319648 h 1319648"/>
                <a:gd name="connsiteX4" fmla="*/ 0 w 1331373"/>
                <a:gd name="connsiteY4" fmla="*/ 659824 h 1319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373" h="1319648">
                  <a:moveTo>
                    <a:pt x="0" y="659824"/>
                  </a:moveTo>
                  <a:cubicBezTo>
                    <a:pt x="0" y="295413"/>
                    <a:pt x="298038" y="0"/>
                    <a:pt x="665687" y="0"/>
                  </a:cubicBezTo>
                  <a:cubicBezTo>
                    <a:pt x="1033336" y="0"/>
                    <a:pt x="1331374" y="295413"/>
                    <a:pt x="1331374" y="659824"/>
                  </a:cubicBezTo>
                  <a:cubicBezTo>
                    <a:pt x="1331374" y="1024235"/>
                    <a:pt x="1033336" y="1319648"/>
                    <a:pt x="665687" y="1319648"/>
                  </a:cubicBezTo>
                  <a:cubicBezTo>
                    <a:pt x="298038" y="1319648"/>
                    <a:pt x="0" y="1024235"/>
                    <a:pt x="0" y="65982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271175" tIns="269458" rIns="271175" bIns="269458" numCol="1" spcCol="1270" anchor="ctr" anchorCtr="0">
              <a:noAutofit/>
            </a:bodyPr>
            <a:lstStyle/>
            <a:p>
              <a:pPr lvl="0" algn="ctr" defTabSz="889000">
                <a:lnSpc>
                  <a:spcPct val="90000"/>
                </a:lnSpc>
                <a:spcBef>
                  <a:spcPct val="0"/>
                </a:spcBef>
                <a:spcAft>
                  <a:spcPct val="35000"/>
                </a:spcAft>
              </a:pPr>
              <a:r>
                <a:rPr lang="zh-CN" altLang="en-US" sz="2400" b="1" kern="1200" dirty="0" smtClean="0">
                  <a:latin typeface="宋体" pitchFamily="2" charset="-122"/>
                  <a:ea typeface="宋体" pitchFamily="2" charset="-122"/>
                </a:rPr>
                <a:t>操作系统</a:t>
              </a:r>
              <a:endParaRPr lang="zh-CN" altLang="en-US" sz="2400" kern="1200" dirty="0"/>
            </a:p>
          </p:txBody>
        </p:sp>
        <p:sp>
          <p:nvSpPr>
            <p:cNvPr id="5" name="椭圆 4"/>
            <p:cNvSpPr/>
            <p:nvPr/>
          </p:nvSpPr>
          <p:spPr>
            <a:xfrm>
              <a:off x="3475029" y="4147534"/>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6" name="椭圆 5"/>
            <p:cNvSpPr/>
            <p:nvPr/>
          </p:nvSpPr>
          <p:spPr>
            <a:xfrm>
              <a:off x="5277281" y="2909580"/>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7" name="椭圆 6"/>
            <p:cNvSpPr/>
            <p:nvPr/>
          </p:nvSpPr>
          <p:spPr>
            <a:xfrm>
              <a:off x="4360037" y="4351803"/>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8" name="椭圆 7"/>
            <p:cNvSpPr/>
            <p:nvPr/>
          </p:nvSpPr>
          <p:spPr>
            <a:xfrm>
              <a:off x="3528754" y="2210810"/>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9" name="椭圆 8"/>
            <p:cNvSpPr/>
            <p:nvPr/>
          </p:nvSpPr>
          <p:spPr>
            <a:xfrm>
              <a:off x="2924585" y="3309181"/>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sp>
        <p:sp>
          <p:nvSpPr>
            <p:cNvPr id="11" name="椭圆 10"/>
            <p:cNvSpPr/>
            <p:nvPr/>
          </p:nvSpPr>
          <p:spPr>
            <a:xfrm>
              <a:off x="3834014" y="2219321"/>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13" name="椭圆 12"/>
            <p:cNvSpPr/>
            <p:nvPr/>
          </p:nvSpPr>
          <p:spPr>
            <a:xfrm>
              <a:off x="1964168" y="3317479"/>
              <a:ext cx="478647" cy="478755"/>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17" name="椭圆 16"/>
            <p:cNvSpPr/>
            <p:nvPr/>
          </p:nvSpPr>
          <p:spPr>
            <a:xfrm>
              <a:off x="4936367" y="2585728"/>
              <a:ext cx="264721" cy="265123"/>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sp>
        <p:sp>
          <p:nvSpPr>
            <p:cNvPr id="18" name="椭圆 17"/>
            <p:cNvSpPr/>
            <p:nvPr/>
          </p:nvSpPr>
          <p:spPr>
            <a:xfrm>
              <a:off x="1907704" y="4194346"/>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9" name="椭圆 18"/>
            <p:cNvSpPr/>
            <p:nvPr/>
          </p:nvSpPr>
          <p:spPr>
            <a:xfrm>
              <a:off x="3820338" y="3921136"/>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21" name="椭圆 20"/>
            <p:cNvSpPr/>
            <p:nvPr/>
          </p:nvSpPr>
          <p:spPr>
            <a:xfrm>
              <a:off x="5550794" y="3556857"/>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23" name="椭圆 22"/>
            <p:cNvSpPr/>
            <p:nvPr/>
          </p:nvSpPr>
          <p:spPr>
            <a:xfrm>
              <a:off x="3909718" y="4386273"/>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25" name="椭圆 24"/>
            <p:cNvSpPr/>
            <p:nvPr/>
          </p:nvSpPr>
          <p:spPr>
            <a:xfrm>
              <a:off x="3122393" y="1889557"/>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26" name="椭圆 25"/>
            <p:cNvSpPr/>
            <p:nvPr/>
          </p:nvSpPr>
          <p:spPr>
            <a:xfrm>
              <a:off x="4595309" y="2012640"/>
              <a:ext cx="191947" cy="191927"/>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grpSp>
      <p:sp>
        <p:nvSpPr>
          <p:cNvPr id="27" name="任意多边形 26"/>
          <p:cNvSpPr/>
          <p:nvPr/>
        </p:nvSpPr>
        <p:spPr>
          <a:xfrm>
            <a:off x="5354894" y="1509213"/>
            <a:ext cx="1371982" cy="1372137"/>
          </a:xfrm>
          <a:custGeom>
            <a:avLst/>
            <a:gdLst>
              <a:gd name="connsiteX0" fmla="*/ 0 w 968039"/>
              <a:gd name="connsiteY0" fmla="*/ 484075 h 968149"/>
              <a:gd name="connsiteX1" fmla="*/ 484020 w 968039"/>
              <a:gd name="connsiteY1" fmla="*/ 0 h 968149"/>
              <a:gd name="connsiteX2" fmla="*/ 968040 w 968039"/>
              <a:gd name="connsiteY2" fmla="*/ 484075 h 968149"/>
              <a:gd name="connsiteX3" fmla="*/ 484020 w 968039"/>
              <a:gd name="connsiteY3" fmla="*/ 968150 h 968149"/>
              <a:gd name="connsiteX4" fmla="*/ 0 w 968039"/>
              <a:gd name="connsiteY4" fmla="*/ 484075 h 968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39" h="968149">
                <a:moveTo>
                  <a:pt x="0" y="484075"/>
                </a:moveTo>
                <a:cubicBezTo>
                  <a:pt x="0" y="216728"/>
                  <a:pt x="216703" y="0"/>
                  <a:pt x="484020" y="0"/>
                </a:cubicBezTo>
                <a:cubicBezTo>
                  <a:pt x="751337" y="0"/>
                  <a:pt x="968040" y="216728"/>
                  <a:pt x="968040" y="484075"/>
                </a:cubicBezTo>
                <a:cubicBezTo>
                  <a:pt x="968040" y="751422"/>
                  <a:pt x="751337" y="968150"/>
                  <a:pt x="484020" y="968150"/>
                </a:cubicBezTo>
                <a:cubicBezTo>
                  <a:pt x="216703" y="968150"/>
                  <a:pt x="0" y="751422"/>
                  <a:pt x="0" y="4840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95106" tIns="195122" rIns="195106" bIns="195122" numCol="1" spcCol="1270" anchor="ctr" anchorCtr="0">
            <a:noAutofit/>
          </a:bodyPr>
          <a:lstStyle/>
          <a:p>
            <a:pPr algn="ctr" defTabSz="622300">
              <a:lnSpc>
                <a:spcPct val="90000"/>
              </a:lnSpc>
              <a:spcBef>
                <a:spcPct val="0"/>
              </a:spcBef>
              <a:spcAft>
                <a:spcPct val="35000"/>
              </a:spcAft>
            </a:pPr>
            <a:r>
              <a:rPr lang="zh-CN" altLang="en-US" sz="2400" b="1" dirty="0" smtClean="0">
                <a:solidFill>
                  <a:schemeClr val="bg1"/>
                </a:solidFill>
                <a:latin typeface="华文楷体" pitchFamily="2" charset="-122"/>
                <a:ea typeface="华文楷体" pitchFamily="2" charset="-122"/>
              </a:rPr>
              <a:t>嵌入式操作系统</a:t>
            </a:r>
            <a:endParaRPr lang="zh-CN" altLang="en-US" sz="2400" b="1" dirty="0">
              <a:solidFill>
                <a:schemeClr val="bg1"/>
              </a:solidFill>
              <a:latin typeface="华文楷体" pitchFamily="2" charset="-122"/>
              <a:ea typeface="华文楷体" pitchFamily="2" charset="-122"/>
            </a:endParaRPr>
          </a:p>
        </p:txBody>
      </p:sp>
    </p:spTree>
    <p:extLst>
      <p:ext uri="{BB962C8B-B14F-4D97-AF65-F5344CB8AC3E}">
        <p14:creationId xmlns:p14="http://schemas.microsoft.com/office/powerpoint/2010/main" val="160243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2" grpId="0" animBg="1"/>
      <p:bldP spid="24"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1072678" y="1234415"/>
            <a:ext cx="6955706" cy="2492992"/>
          </a:xfrm>
          <a:prstGeom prst="rect">
            <a:avLst/>
          </a:prstGeom>
        </p:spPr>
        <p:txBody>
          <a:bodyPr wrap="square" lIns="91441" tIns="45721" rIns="91441" bIns="45721">
            <a:spAutoFit/>
          </a:bodyPr>
          <a:lstStyle/>
          <a:p>
            <a:pPr>
              <a:lnSpc>
                <a:spcPct val="130000"/>
              </a:lnSpc>
              <a:buClr>
                <a:srgbClr val="FFCCFF"/>
              </a:buClr>
              <a:buFont typeface="Wingdings" pitchFamily="2" charset="2"/>
              <a:buChar char="Ø"/>
            </a:pPr>
            <a:r>
              <a:rPr lang="zh-CN" altLang="zh-CN" sz="2400" b="1" dirty="0">
                <a:solidFill>
                  <a:srgbClr val="FFFF00"/>
                </a:solidFill>
                <a:latin typeface="宋体" pitchFamily="2" charset="-122"/>
                <a:ea typeface="宋体" pitchFamily="2" charset="-122"/>
              </a:rPr>
              <a:t>操作系统</a:t>
            </a:r>
            <a:r>
              <a:rPr lang="zh-CN" altLang="zh-CN" sz="2400" b="1" dirty="0">
                <a:solidFill>
                  <a:schemeClr val="bg1"/>
                </a:solidFill>
                <a:latin typeface="宋体" pitchFamily="2" charset="-122"/>
                <a:ea typeface="宋体" pitchFamily="2" charset="-122"/>
              </a:rPr>
              <a:t>是计算机系统的基本组成部分，是整个计算机系统的</a:t>
            </a:r>
            <a:r>
              <a:rPr lang="zh-CN" altLang="zh-CN" sz="2400" b="1" dirty="0">
                <a:solidFill>
                  <a:srgbClr val="FFFF00"/>
                </a:solidFill>
                <a:latin typeface="宋体" pitchFamily="2" charset="-122"/>
                <a:ea typeface="宋体" pitchFamily="2" charset="-122"/>
              </a:rPr>
              <a:t>基础</a:t>
            </a:r>
            <a:r>
              <a:rPr lang="zh-CN" altLang="zh-CN" sz="2400" b="1" dirty="0">
                <a:solidFill>
                  <a:schemeClr val="bg1"/>
                </a:solidFill>
                <a:latin typeface="宋体" pitchFamily="2" charset="-122"/>
                <a:ea typeface="宋体" pitchFamily="2" charset="-122"/>
              </a:rPr>
              <a:t>和</a:t>
            </a:r>
            <a:r>
              <a:rPr lang="zh-CN" altLang="zh-CN" sz="2400" b="1" dirty="0">
                <a:solidFill>
                  <a:srgbClr val="FFFF00"/>
                </a:solidFill>
                <a:latin typeface="宋体" pitchFamily="2" charset="-122"/>
                <a:ea typeface="宋体" pitchFamily="2" charset="-122"/>
              </a:rPr>
              <a:t>核心</a:t>
            </a:r>
            <a:r>
              <a:rPr lang="zh-CN" altLang="zh-CN" sz="2400" b="1" dirty="0" smtClean="0">
                <a:solidFill>
                  <a:schemeClr val="bg1"/>
                </a:solidFill>
                <a:latin typeface="宋体" pitchFamily="2" charset="-122"/>
                <a:ea typeface="宋体" pitchFamily="2" charset="-122"/>
              </a:rPr>
              <a:t>。</a:t>
            </a:r>
            <a:endParaRPr lang="en-US" altLang="zh-CN" sz="2400" b="1" dirty="0" smtClean="0">
              <a:solidFill>
                <a:schemeClr val="bg1"/>
              </a:solidFill>
              <a:latin typeface="宋体" pitchFamily="2" charset="-122"/>
              <a:ea typeface="宋体" pitchFamily="2" charset="-122"/>
            </a:endParaRPr>
          </a:p>
          <a:p>
            <a:pPr>
              <a:lnSpc>
                <a:spcPct val="130000"/>
              </a:lnSpc>
              <a:buClr>
                <a:srgbClr val="FFCCFF"/>
              </a:buClr>
              <a:buFont typeface="Wingdings" pitchFamily="2" charset="2"/>
              <a:buChar char="Ø"/>
            </a:pPr>
            <a:r>
              <a:rPr lang="zh-CN" altLang="en-US" sz="2400" b="1" dirty="0">
                <a:solidFill>
                  <a:schemeClr val="bg1"/>
                </a:solidFill>
                <a:latin typeface="宋体" pitchFamily="2" charset="-122"/>
                <a:ea typeface="宋体" pitchFamily="2" charset="-122"/>
              </a:rPr>
              <a:t>它</a:t>
            </a:r>
            <a:r>
              <a:rPr lang="zh-CN" altLang="zh-CN" sz="2400" b="1" u="sng" dirty="0" smtClean="0">
                <a:solidFill>
                  <a:srgbClr val="FFFF00"/>
                </a:solidFill>
                <a:latin typeface="宋体" pitchFamily="2" charset="-122"/>
                <a:ea typeface="宋体" pitchFamily="2" charset="-122"/>
              </a:rPr>
              <a:t>对</a:t>
            </a:r>
            <a:r>
              <a:rPr lang="zh-CN" altLang="zh-CN" sz="2400" b="1" u="sng" dirty="0">
                <a:solidFill>
                  <a:srgbClr val="FFFF00"/>
                </a:solidFill>
                <a:latin typeface="宋体" pitchFamily="2" charset="-122"/>
                <a:ea typeface="宋体" pitchFamily="2" charset="-122"/>
              </a:rPr>
              <a:t>下</a:t>
            </a:r>
            <a:r>
              <a:rPr lang="zh-CN" altLang="zh-CN" sz="2400" b="1" dirty="0">
                <a:solidFill>
                  <a:srgbClr val="FFFF00"/>
                </a:solidFill>
                <a:latin typeface="宋体" pitchFamily="2" charset="-122"/>
                <a:ea typeface="宋体" pitchFamily="2" charset="-122"/>
              </a:rPr>
              <a:t>操纵硬件</a:t>
            </a:r>
            <a:r>
              <a:rPr lang="zh-CN" altLang="zh-CN" sz="2400" b="1" dirty="0">
                <a:solidFill>
                  <a:schemeClr val="bg1"/>
                </a:solidFill>
                <a:latin typeface="宋体" pitchFamily="2" charset="-122"/>
                <a:ea typeface="宋体" pitchFamily="2" charset="-122"/>
              </a:rPr>
              <a:t>的动作，</a:t>
            </a:r>
            <a:r>
              <a:rPr lang="zh-CN" altLang="zh-CN" sz="2400" b="1" dirty="0">
                <a:solidFill>
                  <a:srgbClr val="FFFF00"/>
                </a:solidFill>
                <a:latin typeface="宋体" pitchFamily="2" charset="-122"/>
                <a:ea typeface="宋体" pitchFamily="2" charset="-122"/>
              </a:rPr>
              <a:t>控制</a:t>
            </a:r>
            <a:r>
              <a:rPr lang="zh-CN" altLang="zh-CN" sz="2400" b="1" dirty="0">
                <a:solidFill>
                  <a:schemeClr val="bg1"/>
                </a:solidFill>
                <a:latin typeface="宋体" pitchFamily="2" charset="-122"/>
                <a:ea typeface="宋体" pitchFamily="2" charset="-122"/>
              </a:rPr>
              <a:t>各种</a:t>
            </a:r>
            <a:r>
              <a:rPr lang="zh-CN" altLang="zh-CN" sz="2400" b="1" dirty="0">
                <a:solidFill>
                  <a:srgbClr val="FFFF00"/>
                </a:solidFill>
                <a:latin typeface="宋体" pitchFamily="2" charset="-122"/>
                <a:ea typeface="宋体" pitchFamily="2" charset="-122"/>
              </a:rPr>
              <a:t>资源</a:t>
            </a:r>
            <a:r>
              <a:rPr lang="zh-CN" altLang="zh-CN" sz="2400" b="1" dirty="0">
                <a:solidFill>
                  <a:schemeClr val="bg1"/>
                </a:solidFill>
                <a:latin typeface="宋体" pitchFamily="2" charset="-122"/>
                <a:ea typeface="宋体" pitchFamily="2" charset="-122"/>
              </a:rPr>
              <a:t>的</a:t>
            </a:r>
            <a:r>
              <a:rPr lang="zh-CN" altLang="zh-CN" sz="2400" b="1" dirty="0">
                <a:solidFill>
                  <a:srgbClr val="FFFF00"/>
                </a:solidFill>
                <a:latin typeface="宋体" pitchFamily="2" charset="-122"/>
                <a:ea typeface="宋体" pitchFamily="2" charset="-122"/>
              </a:rPr>
              <a:t>分配</a:t>
            </a:r>
            <a:r>
              <a:rPr lang="zh-CN" altLang="zh-CN" sz="2400" b="1" dirty="0">
                <a:solidFill>
                  <a:schemeClr val="bg1"/>
                </a:solidFill>
                <a:latin typeface="宋体" pitchFamily="2" charset="-122"/>
                <a:ea typeface="宋体" pitchFamily="2" charset="-122"/>
              </a:rPr>
              <a:t>与使用，</a:t>
            </a:r>
            <a:r>
              <a:rPr lang="zh-CN" altLang="zh-CN" sz="2400" b="1" dirty="0">
                <a:solidFill>
                  <a:srgbClr val="FFFF00"/>
                </a:solidFill>
                <a:latin typeface="宋体" pitchFamily="2" charset="-122"/>
                <a:ea typeface="宋体" pitchFamily="2" charset="-122"/>
              </a:rPr>
              <a:t>扩充硬件</a:t>
            </a:r>
            <a:r>
              <a:rPr lang="zh-CN" altLang="zh-CN" sz="2400" b="1" dirty="0">
                <a:solidFill>
                  <a:schemeClr val="bg1"/>
                </a:solidFill>
                <a:latin typeface="宋体" pitchFamily="2" charset="-122"/>
                <a:ea typeface="宋体" pitchFamily="2" charset="-122"/>
              </a:rPr>
              <a:t>的功能；</a:t>
            </a:r>
            <a:r>
              <a:rPr lang="zh-CN" altLang="zh-CN" sz="2400" b="1" u="sng" dirty="0">
                <a:solidFill>
                  <a:srgbClr val="FFFF00"/>
                </a:solidFill>
                <a:latin typeface="宋体" pitchFamily="2" charset="-122"/>
                <a:ea typeface="宋体" pitchFamily="2" charset="-122"/>
              </a:rPr>
              <a:t>对上</a:t>
            </a:r>
            <a:r>
              <a:rPr lang="zh-CN" altLang="zh-CN" sz="2400" b="1" dirty="0">
                <a:solidFill>
                  <a:schemeClr val="bg1"/>
                </a:solidFill>
                <a:latin typeface="宋体" pitchFamily="2" charset="-122"/>
                <a:ea typeface="宋体" pitchFamily="2" charset="-122"/>
              </a:rPr>
              <a:t>为</a:t>
            </a:r>
            <a:r>
              <a:rPr lang="zh-CN" altLang="zh-CN" sz="2400" b="1" dirty="0">
                <a:solidFill>
                  <a:srgbClr val="FFFF00"/>
                </a:solidFill>
                <a:latin typeface="宋体" pitchFamily="2" charset="-122"/>
                <a:ea typeface="宋体" pitchFamily="2" charset="-122"/>
              </a:rPr>
              <a:t>用户程序</a:t>
            </a:r>
            <a:r>
              <a:rPr lang="zh-CN" altLang="zh-CN" sz="2400" b="1" dirty="0">
                <a:solidFill>
                  <a:schemeClr val="bg1"/>
                </a:solidFill>
                <a:latin typeface="宋体" pitchFamily="2" charset="-122"/>
                <a:ea typeface="宋体" pitchFamily="2" charset="-122"/>
              </a:rPr>
              <a:t>和</a:t>
            </a:r>
            <a:r>
              <a:rPr lang="zh-CN" altLang="zh-CN" sz="2400" b="1" dirty="0">
                <a:solidFill>
                  <a:srgbClr val="FFFF00"/>
                </a:solidFill>
                <a:latin typeface="宋体" pitchFamily="2" charset="-122"/>
                <a:ea typeface="宋体" pitchFamily="2" charset="-122"/>
              </a:rPr>
              <a:t>其他软件、工具</a:t>
            </a:r>
            <a:r>
              <a:rPr lang="zh-CN" altLang="zh-CN" sz="2400" b="1" dirty="0">
                <a:solidFill>
                  <a:schemeClr val="bg1"/>
                </a:solidFill>
                <a:latin typeface="宋体" pitchFamily="2" charset="-122"/>
                <a:ea typeface="宋体" pitchFamily="2" charset="-122"/>
              </a:rPr>
              <a:t>提供</a:t>
            </a:r>
            <a:r>
              <a:rPr lang="zh-CN" altLang="zh-CN" sz="2400" b="1" dirty="0">
                <a:solidFill>
                  <a:srgbClr val="FFFF00"/>
                </a:solidFill>
                <a:latin typeface="宋体" pitchFamily="2" charset="-122"/>
                <a:ea typeface="宋体" pitchFamily="2" charset="-122"/>
              </a:rPr>
              <a:t>环境</a:t>
            </a:r>
            <a:r>
              <a:rPr lang="zh-CN" altLang="zh-CN" sz="2400" b="1" dirty="0">
                <a:solidFill>
                  <a:schemeClr val="bg1"/>
                </a:solidFill>
                <a:latin typeface="宋体" pitchFamily="2" charset="-122"/>
                <a:ea typeface="宋体" pitchFamily="2" charset="-122"/>
              </a:rPr>
              <a:t>和</a:t>
            </a:r>
            <a:r>
              <a:rPr lang="zh-CN" altLang="zh-CN" sz="2400" b="1" dirty="0">
                <a:solidFill>
                  <a:srgbClr val="FFFF00"/>
                </a:solidFill>
                <a:latin typeface="宋体" pitchFamily="2" charset="-122"/>
                <a:ea typeface="宋体" pitchFamily="2" charset="-122"/>
              </a:rPr>
              <a:t>服务</a:t>
            </a:r>
            <a:r>
              <a:rPr lang="zh-CN" altLang="zh-CN" sz="2400" b="1" dirty="0">
                <a:solidFill>
                  <a:schemeClr val="bg1"/>
                </a:solidFill>
                <a:latin typeface="宋体" pitchFamily="2" charset="-122"/>
                <a:ea typeface="宋体" pitchFamily="2" charset="-122"/>
              </a:rPr>
              <a:t>，方便用户的使用。</a:t>
            </a: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55777" y="424282"/>
            <a:ext cx="3730736"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课程简介</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什么是操作系统？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2" name="图片 1"/>
          <p:cNvPicPr>
            <a:picLocks noChangeAspect="1"/>
          </p:cNvPicPr>
          <p:nvPr/>
        </p:nvPicPr>
        <p:blipFill>
          <a:blip r:embed="rId2"/>
          <a:stretch>
            <a:fillRect/>
          </a:stretch>
        </p:blipFill>
        <p:spPr>
          <a:xfrm>
            <a:off x="755555" y="600838"/>
            <a:ext cx="7264648" cy="4384815"/>
          </a:xfrm>
          <a:prstGeom prst="rect">
            <a:avLst/>
          </a:prstGeom>
        </p:spPr>
      </p:pic>
      <p:sp>
        <p:nvSpPr>
          <p:cNvPr id="3" name="矩形 2"/>
          <p:cNvSpPr/>
          <p:nvPr/>
        </p:nvSpPr>
        <p:spPr>
          <a:xfrm>
            <a:off x="5652120" y="3244001"/>
            <a:ext cx="2271776" cy="923330"/>
          </a:xfrm>
          <a:prstGeom prst="rect">
            <a:avLst/>
          </a:prstGeom>
          <a:noFill/>
        </p:spPr>
        <p:txBody>
          <a:bodyPr wrap="none" lIns="91440" tIns="45720" rIns="91440" bIns="45720">
            <a:spAutoFit/>
          </a:bodyPr>
          <a:lstStyle/>
          <a:p>
            <a:pPr algn="ctr"/>
            <a:r>
              <a:rPr lang="zh-CN" altLang="en-US" sz="5400" b="1"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计算机</a:t>
            </a:r>
            <a:endParaRPr lang="zh-CN" alt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0" name="矩形 29"/>
          <p:cNvSpPr/>
          <p:nvPr/>
        </p:nvSpPr>
        <p:spPr>
          <a:xfrm>
            <a:off x="5748426" y="4097523"/>
            <a:ext cx="2271777" cy="523220"/>
          </a:xfrm>
          <a:prstGeom prst="rect">
            <a:avLst/>
          </a:prstGeom>
          <a:noFill/>
        </p:spPr>
        <p:txBody>
          <a:bodyPr wrap="square" lIns="91440" tIns="45720" rIns="91440" bIns="45720">
            <a:spAutoFit/>
          </a:bodyPr>
          <a:lstStyle/>
          <a:p>
            <a:pPr algn="ctr"/>
            <a:r>
              <a:rPr lang="zh-CN" altLang="en-US" sz="2800" b="1" dirty="0" smtClean="0">
                <a:ln w="22225">
                  <a:solidFill>
                    <a:schemeClr val="accent2"/>
                  </a:solidFill>
                  <a:prstDash val="solid"/>
                </a:ln>
                <a:solidFill>
                  <a:schemeClr val="accent2">
                    <a:lumMod val="40000"/>
                    <a:lumOff val="60000"/>
                  </a:schemeClr>
                </a:solidFill>
                <a:latin typeface="华文行楷" panose="02010800040101010101" pitchFamily="2" charset="-122"/>
                <a:ea typeface="华文行楷" panose="02010800040101010101" pitchFamily="2" charset="-122"/>
              </a:rPr>
              <a:t>吃饭的东西</a:t>
            </a:r>
            <a:endParaRPr lang="zh-CN" alt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448542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计算机专业要干什么？</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9" name="Text Box 114"/>
          <p:cNvSpPr txBox="1">
            <a:spLocks noChangeArrowheads="1"/>
          </p:cNvSpPr>
          <p:nvPr/>
        </p:nvSpPr>
        <p:spPr bwMode="auto">
          <a:xfrm>
            <a:off x="693970" y="965320"/>
            <a:ext cx="6858048" cy="559769"/>
          </a:xfrm>
          <a:prstGeom prst="rect">
            <a:avLst/>
          </a:prstGeom>
          <a:noFill/>
          <a:ln w="9525">
            <a:noFill/>
            <a:miter lim="800000"/>
            <a:headEnd/>
            <a:tailEnd/>
          </a:ln>
        </p:spPr>
        <p:txBody>
          <a:bodyPr wrap="square">
            <a:spAutoFit/>
          </a:bodyPr>
          <a:lstStyle/>
          <a:p>
            <a:pPr marL="0" lvl="1">
              <a:lnSpc>
                <a:spcPct val="150000"/>
              </a:lnSpc>
            </a:pPr>
            <a:r>
              <a:rPr lang="zh-CN" altLang="en-US" sz="2400" b="1" dirty="0" smtClean="0">
                <a:solidFill>
                  <a:schemeClr val="bg1"/>
                </a:solidFill>
                <a:latin typeface="+mn-ea"/>
              </a:rPr>
              <a:t>计算机可以帮助我们解决很多实际问题。</a:t>
            </a:r>
            <a:endParaRPr lang="zh-CN" altLang="en-US" sz="2400" b="1" dirty="0">
              <a:solidFill>
                <a:schemeClr val="bg1"/>
              </a:solidFill>
              <a:latin typeface="+mn-ea"/>
            </a:endParaRPr>
          </a:p>
        </p:txBody>
      </p:sp>
      <p:pic>
        <p:nvPicPr>
          <p:cNvPr id="4" name="图片 3"/>
          <p:cNvPicPr>
            <a:picLocks noChangeAspect="1"/>
          </p:cNvPicPr>
          <p:nvPr/>
        </p:nvPicPr>
        <p:blipFill>
          <a:blip r:embed="rId2"/>
          <a:stretch>
            <a:fillRect/>
          </a:stretch>
        </p:blipFill>
        <p:spPr>
          <a:xfrm>
            <a:off x="642910" y="1635646"/>
            <a:ext cx="7605419" cy="3154953"/>
          </a:xfrm>
          <a:prstGeom prst="rect">
            <a:avLst/>
          </a:prstGeom>
        </p:spPr>
      </p:pic>
    </p:spTree>
    <p:extLst>
      <p:ext uri="{BB962C8B-B14F-4D97-AF65-F5344CB8AC3E}">
        <p14:creationId xmlns:p14="http://schemas.microsoft.com/office/powerpoint/2010/main" val="3383481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计算机硬件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裸机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9" name="Text Box 114"/>
          <p:cNvSpPr txBox="1">
            <a:spLocks noChangeArrowheads="1"/>
          </p:cNvSpPr>
          <p:nvPr/>
        </p:nvSpPr>
        <p:spPr bwMode="auto">
          <a:xfrm>
            <a:off x="857224" y="1186208"/>
            <a:ext cx="6858048" cy="1113766"/>
          </a:xfrm>
          <a:prstGeom prst="rect">
            <a:avLst/>
          </a:prstGeom>
          <a:noFill/>
          <a:ln w="9525">
            <a:noFill/>
            <a:miter lim="800000"/>
            <a:headEnd/>
            <a:tailEnd/>
          </a:ln>
        </p:spPr>
        <p:txBody>
          <a:bodyPr wrap="square">
            <a:spAutoFit/>
          </a:bodyPr>
          <a:lstStyle/>
          <a:p>
            <a:pPr marL="342900" lvl="1" indent="-342900">
              <a:lnSpc>
                <a:spcPct val="150000"/>
              </a:lnSpc>
              <a:buClr>
                <a:srgbClr val="FFFF00"/>
              </a:buClr>
              <a:buFont typeface="Wingdings" panose="05000000000000000000" pitchFamily="2" charset="2"/>
              <a:buChar char="u"/>
            </a:pPr>
            <a:r>
              <a:rPr lang="zh-CN" altLang="en-US" sz="2400" b="1" dirty="0" smtClean="0">
                <a:solidFill>
                  <a:schemeClr val="bg1"/>
                </a:solidFill>
                <a:latin typeface="+mn-ea"/>
              </a:rPr>
              <a:t>对于用户来说：</a:t>
            </a:r>
            <a:r>
              <a:rPr lang="en-US" altLang="zh-CN" sz="2400" b="1" dirty="0" err="1" smtClean="0">
                <a:solidFill>
                  <a:schemeClr val="bg1"/>
                </a:solidFill>
                <a:latin typeface="+mn-ea"/>
              </a:rPr>
              <a:t>cout</a:t>
            </a:r>
            <a:r>
              <a:rPr lang="en-US" altLang="zh-CN" sz="2400" b="1" dirty="0" smtClean="0">
                <a:solidFill>
                  <a:schemeClr val="bg1"/>
                </a:solidFill>
                <a:latin typeface="+mn-ea"/>
              </a:rPr>
              <a:t>&lt;&lt;</a:t>
            </a:r>
            <a:r>
              <a:rPr lang="zh-CN" altLang="en-US" sz="2400" b="1" dirty="0" smtClean="0">
                <a:solidFill>
                  <a:schemeClr val="bg1"/>
                </a:solidFill>
                <a:latin typeface="+mn-ea"/>
              </a:rPr>
              <a:t>“</a:t>
            </a:r>
            <a:r>
              <a:rPr lang="en-US" altLang="zh-CN" sz="2400" b="1" dirty="0" smtClean="0">
                <a:solidFill>
                  <a:schemeClr val="bg1"/>
                </a:solidFill>
                <a:latin typeface="+mn-ea"/>
              </a:rPr>
              <a:t>hello</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342900" lvl="1" indent="-342900">
              <a:lnSpc>
                <a:spcPct val="150000"/>
              </a:lnSpc>
              <a:buClr>
                <a:srgbClr val="FFFF00"/>
              </a:buClr>
              <a:buFont typeface="Wingdings" panose="05000000000000000000" pitchFamily="2" charset="2"/>
              <a:buChar char="u"/>
            </a:pPr>
            <a:r>
              <a:rPr lang="zh-CN" altLang="en-US" sz="2400" b="1" dirty="0" smtClean="0">
                <a:solidFill>
                  <a:schemeClr val="bg1"/>
                </a:solidFill>
                <a:latin typeface="+mn-ea"/>
              </a:rPr>
              <a:t>原因在于：我们给计算机穿上了衣服</a:t>
            </a:r>
            <a:endParaRPr lang="zh-CN" altLang="en-US" sz="2400" b="1" dirty="0">
              <a:solidFill>
                <a:schemeClr val="bg1"/>
              </a:solidFill>
              <a:latin typeface="+mn-ea"/>
            </a:endParaRPr>
          </a:p>
        </p:txBody>
      </p:sp>
      <p:pic>
        <p:nvPicPr>
          <p:cNvPr id="2" name="图片 1"/>
          <p:cNvPicPr>
            <a:picLocks noChangeAspect="1"/>
          </p:cNvPicPr>
          <p:nvPr/>
        </p:nvPicPr>
        <p:blipFill>
          <a:blip r:embed="rId2"/>
          <a:stretch>
            <a:fillRect/>
          </a:stretch>
        </p:blipFill>
        <p:spPr>
          <a:xfrm>
            <a:off x="1417069" y="2355726"/>
            <a:ext cx="5738357" cy="2667231"/>
          </a:xfrm>
          <a:prstGeom prst="rect">
            <a:avLst/>
          </a:prstGeom>
        </p:spPr>
      </p:pic>
    </p:spTree>
    <p:extLst>
      <p:ext uri="{BB962C8B-B14F-4D97-AF65-F5344CB8AC3E}">
        <p14:creationId xmlns:p14="http://schemas.microsoft.com/office/powerpoint/2010/main" val="3498863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什么是操作系统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29" name="Picture 3" descr="JXJ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281469"/>
            <a:ext cx="66294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4860032" y="3219822"/>
            <a:ext cx="1810888" cy="864096"/>
            <a:chOff x="4860032" y="3219822"/>
            <a:chExt cx="1810888" cy="864096"/>
          </a:xfrm>
        </p:grpSpPr>
        <p:sp>
          <p:nvSpPr>
            <p:cNvPr id="2" name="右弧形箭头 1"/>
            <p:cNvSpPr/>
            <p:nvPr/>
          </p:nvSpPr>
          <p:spPr>
            <a:xfrm>
              <a:off x="4860032" y="3219822"/>
              <a:ext cx="360040" cy="864096"/>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solidFill>
                  <a:schemeClr val="tx1"/>
                </a:solidFill>
              </a:endParaRPr>
            </a:p>
          </p:txBody>
        </p:sp>
        <p:sp>
          <p:nvSpPr>
            <p:cNvPr id="3" name="文本框 2"/>
            <p:cNvSpPr txBox="1"/>
            <p:nvPr/>
          </p:nvSpPr>
          <p:spPr>
            <a:xfrm>
              <a:off x="5086744" y="3714586"/>
              <a:ext cx="1584176" cy="369332"/>
            </a:xfrm>
            <a:prstGeom prst="rect">
              <a:avLst/>
            </a:prstGeom>
            <a:noFill/>
          </p:spPr>
          <p:txBody>
            <a:bodyPr wrap="square" rtlCol="0">
              <a:spAutoFit/>
            </a:bodyPr>
            <a:lstStyle/>
            <a:p>
              <a:r>
                <a:rPr lang="zh-CN" altLang="en-US" b="1" dirty="0" smtClean="0">
                  <a:solidFill>
                    <a:srgbClr val="FF0000"/>
                  </a:solidFill>
                </a:rPr>
                <a:t>资源管理功能</a:t>
              </a:r>
              <a:endParaRPr lang="zh-CN" altLang="en-US" b="1" dirty="0">
                <a:solidFill>
                  <a:srgbClr val="FF0000"/>
                </a:solidFill>
              </a:endParaRPr>
            </a:p>
          </p:txBody>
        </p:sp>
      </p:grpSp>
      <p:grpSp>
        <p:nvGrpSpPr>
          <p:cNvPr id="7" name="组合 6"/>
          <p:cNvGrpSpPr/>
          <p:nvPr/>
        </p:nvGrpSpPr>
        <p:grpSpPr>
          <a:xfrm>
            <a:off x="5015655" y="2256433"/>
            <a:ext cx="2364657" cy="930782"/>
            <a:chOff x="5015655" y="2256433"/>
            <a:chExt cx="2364657" cy="930782"/>
          </a:xfrm>
        </p:grpSpPr>
        <p:sp>
          <p:nvSpPr>
            <p:cNvPr id="5" name="下弧形箭头 4"/>
            <p:cNvSpPr/>
            <p:nvPr/>
          </p:nvSpPr>
          <p:spPr>
            <a:xfrm rot="17117018">
              <a:off x="4736406" y="2535682"/>
              <a:ext cx="930782" cy="372284"/>
            </a:xfrm>
            <a:prstGeom prst="curved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solidFill>
                  <a:schemeClr val="tx1"/>
                </a:solidFill>
              </a:endParaRPr>
            </a:p>
          </p:txBody>
        </p:sp>
        <p:sp>
          <p:nvSpPr>
            <p:cNvPr id="6" name="文本框 5"/>
            <p:cNvSpPr txBox="1"/>
            <p:nvPr/>
          </p:nvSpPr>
          <p:spPr>
            <a:xfrm>
              <a:off x="5504032" y="2427734"/>
              <a:ext cx="1876280" cy="646331"/>
            </a:xfrm>
            <a:prstGeom prst="rect">
              <a:avLst/>
            </a:prstGeom>
            <a:noFill/>
          </p:spPr>
          <p:txBody>
            <a:bodyPr wrap="square" rtlCol="0">
              <a:spAutoFit/>
            </a:bodyPr>
            <a:lstStyle/>
            <a:p>
              <a:r>
                <a:rPr lang="zh-CN" altLang="en-US" b="1" dirty="0">
                  <a:solidFill>
                    <a:srgbClr val="FF0000"/>
                  </a:solidFill>
                </a:rPr>
                <a:t>方便用户的各种服务功能</a:t>
              </a:r>
            </a:p>
          </p:txBody>
        </p:sp>
      </p:grpSp>
      <p:sp>
        <p:nvSpPr>
          <p:cNvPr id="8" name="线形标注 1 7"/>
          <p:cNvSpPr/>
          <p:nvPr/>
        </p:nvSpPr>
        <p:spPr>
          <a:xfrm>
            <a:off x="571472" y="232320"/>
            <a:ext cx="5042627" cy="1350985"/>
          </a:xfrm>
          <a:prstGeom prst="borderCallout1">
            <a:avLst>
              <a:gd name="adj1" fmla="val 24542"/>
              <a:gd name="adj2" fmla="val 101753"/>
              <a:gd name="adj3" fmla="val 165499"/>
              <a:gd name="adj4" fmla="val 116958"/>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smtClean="0"/>
              <a:t>从用户的观点看：为用户提供服务，构建一个用户和计算机之间的和谐交互环境良好的用户界面；用户无需了解有关硬件和系统软件的细节；可靠和安全的服务管理</a:t>
            </a:r>
            <a:endParaRPr lang="zh-CN" altLang="en-US" sz="2000" b="1" dirty="0"/>
          </a:p>
        </p:txBody>
      </p:sp>
      <p:sp>
        <p:nvSpPr>
          <p:cNvPr id="31" name="线形标注 1 30"/>
          <p:cNvSpPr/>
          <p:nvPr/>
        </p:nvSpPr>
        <p:spPr>
          <a:xfrm>
            <a:off x="376657" y="1479487"/>
            <a:ext cx="5042627" cy="1245571"/>
          </a:xfrm>
          <a:prstGeom prst="borderCallout1">
            <a:avLst>
              <a:gd name="adj1" fmla="val 24542"/>
              <a:gd name="adj2" fmla="val 101753"/>
              <a:gd name="adj3" fmla="val 165499"/>
              <a:gd name="adj4" fmla="val 116958"/>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smtClean="0"/>
              <a:t>从系统管理人员的观点看：合理的组织计算机工作流程，管理和分配计算机硬件及软件资源</a:t>
            </a:r>
            <a:endParaRPr lang="zh-CN" altLang="en-US" sz="2000" b="1" dirty="0"/>
          </a:p>
        </p:txBody>
      </p:sp>
      <p:sp>
        <p:nvSpPr>
          <p:cNvPr id="9" name="矩形 8"/>
          <p:cNvSpPr/>
          <p:nvPr/>
        </p:nvSpPr>
        <p:spPr>
          <a:xfrm>
            <a:off x="1619672" y="535277"/>
            <a:ext cx="5256584" cy="1215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b="1" dirty="0" smtClean="0"/>
              <a:t>从发展的观点看：为计算机系统的功能扩展提供支撑平台，</a:t>
            </a:r>
            <a:r>
              <a:rPr lang="zh-CN" altLang="en-US" sz="2000" b="1" dirty="0"/>
              <a:t>使</a:t>
            </a:r>
            <a:r>
              <a:rPr lang="zh-CN" altLang="en-US" sz="2000" b="1" dirty="0" smtClean="0"/>
              <a:t>之在追加新的服务时更加容易并却不影响原有的服务与功能</a:t>
            </a:r>
            <a:endParaRPr lang="zh-CN" altLang="en-US" sz="2000" b="1" dirty="0"/>
          </a:p>
        </p:txBody>
      </p:sp>
      <p:sp>
        <p:nvSpPr>
          <p:cNvPr id="10" name="线形标注 1 9"/>
          <p:cNvSpPr/>
          <p:nvPr/>
        </p:nvSpPr>
        <p:spPr>
          <a:xfrm>
            <a:off x="7236296" y="206711"/>
            <a:ext cx="1897986" cy="936104"/>
          </a:xfrm>
          <a:prstGeom prst="borderCallout1">
            <a:avLst>
              <a:gd name="adj1" fmla="val 18750"/>
              <a:gd name="adj2" fmla="val -8333"/>
              <a:gd name="adj3" fmla="val 308359"/>
              <a:gd name="adj4" fmla="val -12695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smtClean="0"/>
              <a:t>在计算机外面包了一层软件，穿上了衣服</a:t>
            </a:r>
            <a:endParaRPr lang="zh-CN" altLang="en-US" b="1" dirty="0"/>
          </a:p>
        </p:txBody>
      </p:sp>
      <p:sp>
        <p:nvSpPr>
          <p:cNvPr id="11" name="矩形 10"/>
          <p:cNvSpPr/>
          <p:nvPr/>
        </p:nvSpPr>
        <p:spPr>
          <a:xfrm>
            <a:off x="7844465" y="1264941"/>
            <a:ext cx="936104" cy="4198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b="1" dirty="0" smtClean="0"/>
              <a:t>CPU</a:t>
            </a:r>
            <a:endParaRPr lang="zh-CN" altLang="en-US" b="1" dirty="0"/>
          </a:p>
        </p:txBody>
      </p:sp>
      <p:sp>
        <p:nvSpPr>
          <p:cNvPr id="32" name="矩形 31"/>
          <p:cNvSpPr/>
          <p:nvPr/>
        </p:nvSpPr>
        <p:spPr>
          <a:xfrm>
            <a:off x="7832967" y="1847127"/>
            <a:ext cx="936104" cy="4198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b="1" dirty="0" smtClean="0"/>
              <a:t>内存</a:t>
            </a:r>
            <a:endParaRPr lang="zh-CN" altLang="en-US" b="1" dirty="0"/>
          </a:p>
        </p:txBody>
      </p:sp>
      <p:sp>
        <p:nvSpPr>
          <p:cNvPr id="33" name="矩形 32"/>
          <p:cNvSpPr/>
          <p:nvPr/>
        </p:nvSpPr>
        <p:spPr>
          <a:xfrm>
            <a:off x="7844465" y="2429313"/>
            <a:ext cx="936104" cy="4198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b="1" dirty="0" smtClean="0"/>
              <a:t>终端</a:t>
            </a:r>
            <a:endParaRPr lang="zh-CN" altLang="en-US" b="1" dirty="0"/>
          </a:p>
        </p:txBody>
      </p:sp>
      <p:sp>
        <p:nvSpPr>
          <p:cNvPr id="34" name="矩形 33"/>
          <p:cNvSpPr/>
          <p:nvPr/>
        </p:nvSpPr>
        <p:spPr>
          <a:xfrm>
            <a:off x="7844465" y="3011499"/>
            <a:ext cx="936104" cy="4198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b="1" dirty="0" smtClean="0"/>
              <a:t>磁盘</a:t>
            </a:r>
            <a:endParaRPr lang="zh-CN" altLang="en-US" b="1" dirty="0"/>
          </a:p>
        </p:txBody>
      </p:sp>
      <p:sp>
        <p:nvSpPr>
          <p:cNvPr id="35" name="矩形 34"/>
          <p:cNvSpPr/>
          <p:nvPr/>
        </p:nvSpPr>
        <p:spPr>
          <a:xfrm>
            <a:off x="7844465" y="3560903"/>
            <a:ext cx="936104" cy="4198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b="1" dirty="0" smtClean="0"/>
              <a:t>文件</a:t>
            </a:r>
            <a:endParaRPr lang="zh-CN" altLang="en-US" b="1" dirty="0"/>
          </a:p>
        </p:txBody>
      </p:sp>
      <p:sp>
        <p:nvSpPr>
          <p:cNvPr id="36" name="矩形 35"/>
          <p:cNvSpPr/>
          <p:nvPr/>
        </p:nvSpPr>
        <p:spPr>
          <a:xfrm>
            <a:off x="7832967" y="4110307"/>
            <a:ext cx="936104" cy="41980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b="1" dirty="0" smtClean="0"/>
              <a:t>网络</a:t>
            </a:r>
            <a:endParaRPr lang="zh-CN" altLang="en-US" b="1" dirty="0"/>
          </a:p>
        </p:txBody>
      </p:sp>
      <p:sp>
        <p:nvSpPr>
          <p:cNvPr id="37" name="矩形 36"/>
          <p:cNvSpPr/>
          <p:nvPr/>
        </p:nvSpPr>
        <p:spPr>
          <a:xfrm>
            <a:off x="7832967" y="4679208"/>
            <a:ext cx="936104" cy="41980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b="1" dirty="0" smtClean="0"/>
              <a:t>电源</a:t>
            </a:r>
            <a:endParaRPr lang="zh-CN" altLang="en-US" b="1" dirty="0"/>
          </a:p>
        </p:txBody>
      </p:sp>
    </p:spTree>
    <p:extLst>
      <p:ext uri="{BB962C8B-B14F-4D97-AF65-F5344CB8AC3E}">
        <p14:creationId xmlns:p14="http://schemas.microsoft.com/office/powerpoint/2010/main" val="3671133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heel(1)">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righ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8"/>
                                        </p:tgtEl>
                                      </p:cBhvr>
                                    </p:animEffect>
                                    <p:set>
                                      <p:cBhvr>
                                        <p:cTn id="60" dur="1" fill="hold">
                                          <p:stCondLst>
                                            <p:cond delay="499"/>
                                          </p:stCondLst>
                                        </p:cTn>
                                        <p:tgtEl>
                                          <p:spTgt spid="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wipe(right)">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31"/>
                                        </p:tgtEl>
                                      </p:cBhvr>
                                    </p:animEffect>
                                    <p:set>
                                      <p:cBhvr>
                                        <p:cTn id="70" dur="1" fill="hold">
                                          <p:stCondLst>
                                            <p:cond delay="499"/>
                                          </p:stCondLst>
                                        </p:cTn>
                                        <p:tgtEl>
                                          <p:spTgt spid="3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31" grpId="0" animBg="1"/>
      <p:bldP spid="31" grpId="1" animBg="1"/>
      <p:bldP spid="9" grpId="0" animBg="1"/>
      <p:bldP spid="10" grpId="0" animBg="1"/>
      <p:bldP spid="11" grpId="0" animBg="1"/>
      <p:bldP spid="32" grpId="0" animBg="1"/>
      <p:bldP spid="33" grpId="0" animBg="1"/>
      <p:bldP spid="34" grpId="0" animBg="1"/>
      <p:bldP spid="35"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操作系统的学习层次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2" name="图片 1"/>
          <p:cNvPicPr>
            <a:picLocks noChangeAspect="1"/>
          </p:cNvPicPr>
          <p:nvPr/>
        </p:nvPicPr>
        <p:blipFill>
          <a:blip r:embed="rId3"/>
          <a:stretch>
            <a:fillRect/>
          </a:stretch>
        </p:blipFill>
        <p:spPr>
          <a:xfrm>
            <a:off x="286950" y="132859"/>
            <a:ext cx="8619606" cy="5020517"/>
          </a:xfrm>
          <a:prstGeom prst="rect">
            <a:avLst/>
          </a:prstGeom>
        </p:spPr>
      </p:pic>
      <p:sp>
        <p:nvSpPr>
          <p:cNvPr id="3" name="线形标注 1 2"/>
          <p:cNvSpPr/>
          <p:nvPr/>
        </p:nvSpPr>
        <p:spPr>
          <a:xfrm>
            <a:off x="5076056" y="443375"/>
            <a:ext cx="2160240" cy="1713450"/>
          </a:xfrm>
          <a:prstGeom prst="borderCallout1">
            <a:avLst>
              <a:gd name="adj1" fmla="val 18750"/>
              <a:gd name="adj2" fmla="val -8333"/>
              <a:gd name="adj3" fmla="val 136877"/>
              <a:gd name="adj4" fmla="val -63839"/>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b="1" dirty="0" smtClean="0"/>
              <a:t>改操作系统，知道操作系统背后的事情，知道操作系统是如何用代码实现的</a:t>
            </a:r>
            <a:endParaRPr lang="zh-CN" altLang="en-US" sz="2000" b="1" dirty="0"/>
          </a:p>
        </p:txBody>
      </p:sp>
    </p:spTree>
    <p:extLst>
      <p:ext uri="{BB962C8B-B14F-4D97-AF65-F5344CB8AC3E}">
        <p14:creationId xmlns:p14="http://schemas.microsoft.com/office/powerpoint/2010/main" val="6329683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操作系统的学习层次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grpSp>
        <p:nvGrpSpPr>
          <p:cNvPr id="6" name="组合 5"/>
          <p:cNvGrpSpPr/>
          <p:nvPr/>
        </p:nvGrpSpPr>
        <p:grpSpPr>
          <a:xfrm>
            <a:off x="107504" y="1038199"/>
            <a:ext cx="8695173" cy="3593967"/>
            <a:chOff x="140839" y="839471"/>
            <a:chExt cx="8695173" cy="3593967"/>
          </a:xfrm>
        </p:grpSpPr>
        <p:pic>
          <p:nvPicPr>
            <p:cNvPr id="4" name="图片 3"/>
            <p:cNvPicPr>
              <a:picLocks noChangeAspect="1"/>
            </p:cNvPicPr>
            <p:nvPr/>
          </p:nvPicPr>
          <p:blipFill>
            <a:blip r:embed="rId2"/>
            <a:stretch>
              <a:fillRect/>
            </a:stretch>
          </p:blipFill>
          <p:spPr>
            <a:xfrm>
              <a:off x="140839" y="844107"/>
              <a:ext cx="8695173" cy="3589331"/>
            </a:xfrm>
            <a:prstGeom prst="rect">
              <a:avLst/>
            </a:prstGeom>
          </p:spPr>
        </p:pic>
        <p:pic>
          <p:nvPicPr>
            <p:cNvPr id="5" name="图片 4"/>
            <p:cNvPicPr>
              <a:picLocks noChangeAspect="1"/>
            </p:cNvPicPr>
            <p:nvPr/>
          </p:nvPicPr>
          <p:blipFill>
            <a:blip r:embed="rId3"/>
            <a:stretch>
              <a:fillRect/>
            </a:stretch>
          </p:blipFill>
          <p:spPr>
            <a:xfrm>
              <a:off x="6938468" y="839471"/>
              <a:ext cx="1897544" cy="441998"/>
            </a:xfrm>
            <a:prstGeom prst="rect">
              <a:avLst/>
            </a:prstGeom>
          </p:spPr>
        </p:pic>
      </p:grpSp>
    </p:spTree>
    <p:extLst>
      <p:ext uri="{BB962C8B-B14F-4D97-AF65-F5344CB8AC3E}">
        <p14:creationId xmlns:p14="http://schemas.microsoft.com/office/powerpoint/2010/main" val="3868720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动手实践一个真实的操作系统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9" name="Text Box 114"/>
          <p:cNvSpPr txBox="1">
            <a:spLocks noChangeArrowheads="1"/>
          </p:cNvSpPr>
          <p:nvPr/>
        </p:nvSpPr>
        <p:spPr bwMode="auto">
          <a:xfrm>
            <a:off x="899592" y="1378428"/>
            <a:ext cx="6858048" cy="2308324"/>
          </a:xfrm>
          <a:prstGeom prst="rect">
            <a:avLst/>
          </a:prstGeom>
          <a:noFill/>
          <a:ln w="9525">
            <a:noFill/>
            <a:miter lim="800000"/>
            <a:headEnd/>
            <a:tailEnd/>
          </a:ln>
        </p:spPr>
        <p:txBody>
          <a:bodyPr wrap="square">
            <a:spAutoFit/>
          </a:bodyPr>
          <a:lstStyle/>
          <a:p>
            <a:pPr marL="34290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套用</a:t>
            </a:r>
            <a:r>
              <a:rPr lang="en-US" altLang="zh-CN" sz="2400" b="1" dirty="0" smtClean="0">
                <a:solidFill>
                  <a:schemeClr val="bg1"/>
                </a:solidFill>
                <a:latin typeface="+mn-ea"/>
              </a:rPr>
              <a:t>Stanford</a:t>
            </a:r>
            <a:r>
              <a:rPr lang="zh-CN" altLang="en-US" sz="2400" b="1" dirty="0" smtClean="0">
                <a:solidFill>
                  <a:schemeClr val="bg1"/>
                </a:solidFill>
                <a:latin typeface="+mn-ea"/>
              </a:rPr>
              <a:t>操作系统的一句话：</a:t>
            </a:r>
            <a:endParaRPr lang="en-US" altLang="zh-CN" sz="2400" b="1" dirty="0" smtClean="0">
              <a:solidFill>
                <a:schemeClr val="bg1"/>
              </a:solidFill>
              <a:latin typeface="+mn-ea"/>
            </a:endParaRPr>
          </a:p>
          <a:p>
            <a:pPr marL="0" lvl="1">
              <a:lnSpc>
                <a:spcPct val="150000"/>
              </a:lnSpc>
              <a:buClr>
                <a:srgbClr val="FFFF00"/>
              </a:buClr>
            </a:pPr>
            <a:r>
              <a:rPr lang="en-US" altLang="zh-CN" sz="2400" b="1" dirty="0">
                <a:solidFill>
                  <a:schemeClr val="bg1"/>
                </a:solidFill>
                <a:latin typeface="+mn-ea"/>
              </a:rPr>
              <a:t> </a:t>
            </a:r>
            <a:r>
              <a:rPr lang="en-US" altLang="zh-CN" sz="2400" b="1" dirty="0" smtClean="0">
                <a:solidFill>
                  <a:schemeClr val="bg1"/>
                </a:solidFill>
                <a:latin typeface="+mn-ea"/>
              </a:rPr>
              <a:t>  </a:t>
            </a:r>
            <a:r>
              <a:rPr lang="en-US" altLang="zh-CN" sz="2400" b="1" dirty="0" smtClean="0">
                <a:solidFill>
                  <a:srgbClr val="FFFF00"/>
                </a:solidFill>
                <a:latin typeface="+mn-ea"/>
              </a:rPr>
              <a:t>Learn OS concepts by cording them</a:t>
            </a:r>
          </a:p>
          <a:p>
            <a:pPr marL="34290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我们要打开操作系统这个“黑盒子”</a:t>
            </a:r>
            <a:endParaRPr lang="en-US" altLang="zh-CN" sz="2400" b="1" dirty="0" smtClean="0">
              <a:solidFill>
                <a:schemeClr val="bg1"/>
              </a:solidFill>
              <a:latin typeface="+mn-ea"/>
            </a:endParaRPr>
          </a:p>
          <a:p>
            <a:pPr marL="34290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在原理和代码之间频繁切换，打起精神！</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18029990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transition="in" filter="wipe(left)">
                                      <p:cBhvr>
                                        <p:cTn id="2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p:cNvSpPr txBox="1">
            <a:spLocks/>
          </p:cNvSpPr>
          <p:nvPr/>
        </p:nvSpPr>
        <p:spPr>
          <a:xfrm>
            <a:off x="539552" y="123478"/>
            <a:ext cx="739559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教学内容选取</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5" name="任意多边形 4"/>
          <p:cNvSpPr/>
          <p:nvPr/>
        </p:nvSpPr>
        <p:spPr>
          <a:xfrm>
            <a:off x="827584" y="986222"/>
            <a:ext cx="395993" cy="3095572"/>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400" b="1" kern="1200" dirty="0" smtClean="0"/>
              <a:t>操作系统基本原理</a:t>
            </a:r>
            <a:endParaRPr lang="zh-CN" altLang="en-US" sz="2400" b="1" kern="1200" dirty="0"/>
          </a:p>
        </p:txBody>
      </p:sp>
      <p:grpSp>
        <p:nvGrpSpPr>
          <p:cNvPr id="73" name="组合 72"/>
          <p:cNvGrpSpPr/>
          <p:nvPr/>
        </p:nvGrpSpPr>
        <p:grpSpPr>
          <a:xfrm>
            <a:off x="2608995" y="100136"/>
            <a:ext cx="2467061" cy="1472666"/>
            <a:chOff x="2608995" y="100136"/>
            <a:chExt cx="2467061" cy="1472666"/>
          </a:xfrm>
        </p:grpSpPr>
        <p:sp>
          <p:nvSpPr>
            <p:cNvPr id="8" name="任意多边形 7"/>
            <p:cNvSpPr/>
            <p:nvPr/>
          </p:nvSpPr>
          <p:spPr>
            <a:xfrm rot="18289469" flipV="1">
              <a:off x="2712839" y="666175"/>
              <a:ext cx="551439" cy="45719"/>
            </a:xfrm>
            <a:custGeom>
              <a:avLst/>
              <a:gdLst>
                <a:gd name="connsiteX0" fmla="*/ 0 w 344359"/>
                <a:gd name="connsiteY0" fmla="*/ 5443 h 10887"/>
                <a:gd name="connsiteX1" fmla="*/ 344359 w 344359"/>
                <a:gd name="connsiteY1" fmla="*/ 5443 h 10887"/>
              </a:gdLst>
              <a:ahLst/>
              <a:cxnLst>
                <a:cxn ang="0">
                  <a:pos x="connsiteX0" y="connsiteY0"/>
                </a:cxn>
                <a:cxn ang="0">
                  <a:pos x="connsiteX1" y="connsiteY1"/>
                </a:cxn>
              </a:cxnLst>
              <a:rect l="l" t="t" r="r" b="b"/>
              <a:pathLst>
                <a:path w="344359" h="10887">
                  <a:moveTo>
                    <a:pt x="0" y="5443"/>
                  </a:moveTo>
                  <a:lnTo>
                    <a:pt x="344359"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76270" tIns="-3165" rIns="176271" bIns="-3166"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9" name="任意多边形 8"/>
            <p:cNvSpPr/>
            <p:nvPr/>
          </p:nvSpPr>
          <p:spPr>
            <a:xfrm>
              <a:off x="3127250" y="100136"/>
              <a:ext cx="1377690" cy="419825"/>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基本概念</a:t>
              </a:r>
            </a:p>
          </p:txBody>
        </p:sp>
        <p:sp>
          <p:nvSpPr>
            <p:cNvPr id="10" name="任意多边形 9"/>
            <p:cNvSpPr/>
            <p:nvPr/>
          </p:nvSpPr>
          <p:spPr>
            <a:xfrm>
              <a:off x="2608995" y="897062"/>
              <a:ext cx="570523" cy="10486"/>
            </a:xfrm>
            <a:custGeom>
              <a:avLst/>
              <a:gdLst>
                <a:gd name="connsiteX0" fmla="*/ 0 w 196651"/>
                <a:gd name="connsiteY0" fmla="*/ 5443 h 10887"/>
                <a:gd name="connsiteX1" fmla="*/ 196651 w 196651"/>
                <a:gd name="connsiteY1" fmla="*/ 5443 h 10887"/>
              </a:gdLst>
              <a:ahLst/>
              <a:cxnLst>
                <a:cxn ang="0">
                  <a:pos x="connsiteX0" y="connsiteY0"/>
                </a:cxn>
                <a:cxn ang="0">
                  <a:pos x="connsiteX1" y="connsiteY1"/>
                </a:cxn>
              </a:cxnLst>
              <a:rect l="l" t="t" r="r" b="b"/>
              <a:pathLst>
                <a:path w="196651" h="10887">
                  <a:moveTo>
                    <a:pt x="0" y="5443"/>
                  </a:moveTo>
                  <a:lnTo>
                    <a:pt x="196651"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06109" tIns="527" rIns="106110" bIns="528"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11" name="任意多边形 10"/>
            <p:cNvSpPr/>
            <p:nvPr/>
          </p:nvSpPr>
          <p:spPr>
            <a:xfrm>
              <a:off x="3073854" y="728310"/>
              <a:ext cx="2002202" cy="345553"/>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smtClean="0"/>
                <a:t>操作系统</a:t>
              </a:r>
              <a:r>
                <a:rPr lang="zh-CN" altLang="en-US" sz="2000" b="1" dirty="0"/>
                <a:t>的发展</a:t>
              </a:r>
            </a:p>
          </p:txBody>
        </p:sp>
        <p:sp>
          <p:nvSpPr>
            <p:cNvPr id="12" name="任意多边形 11"/>
            <p:cNvSpPr/>
            <p:nvPr/>
          </p:nvSpPr>
          <p:spPr>
            <a:xfrm rot="3310531">
              <a:off x="2714384" y="1089133"/>
              <a:ext cx="529290" cy="84133"/>
            </a:xfrm>
            <a:custGeom>
              <a:avLst/>
              <a:gdLst>
                <a:gd name="connsiteX0" fmla="*/ 0 w 344359"/>
                <a:gd name="connsiteY0" fmla="*/ 5443 h 10887"/>
                <a:gd name="connsiteX1" fmla="*/ 344359 w 344359"/>
                <a:gd name="connsiteY1" fmla="*/ 5443 h 10887"/>
              </a:gdLst>
              <a:ahLst/>
              <a:cxnLst>
                <a:cxn ang="0">
                  <a:pos x="connsiteX0" y="connsiteY0"/>
                </a:cxn>
                <a:cxn ang="0">
                  <a:pos x="connsiteX1" y="connsiteY1"/>
                </a:cxn>
              </a:cxnLst>
              <a:rect l="l" t="t" r="r" b="b"/>
              <a:pathLst>
                <a:path w="344359" h="10887">
                  <a:moveTo>
                    <a:pt x="0" y="5443"/>
                  </a:moveTo>
                  <a:lnTo>
                    <a:pt x="344359"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76271" tIns="-3166" rIns="176270" bIns="-3165"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13" name="任意多边形 12"/>
            <p:cNvSpPr/>
            <p:nvPr/>
          </p:nvSpPr>
          <p:spPr>
            <a:xfrm>
              <a:off x="3127249" y="1241682"/>
              <a:ext cx="1948807" cy="331120"/>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功能和基本类型</a:t>
              </a:r>
            </a:p>
          </p:txBody>
        </p:sp>
      </p:grpSp>
      <p:grpSp>
        <p:nvGrpSpPr>
          <p:cNvPr id="75" name="组合 74"/>
          <p:cNvGrpSpPr/>
          <p:nvPr/>
        </p:nvGrpSpPr>
        <p:grpSpPr>
          <a:xfrm>
            <a:off x="5992471" y="769728"/>
            <a:ext cx="2480342" cy="1656052"/>
            <a:chOff x="5992471" y="769728"/>
            <a:chExt cx="2480342" cy="1656052"/>
          </a:xfrm>
        </p:grpSpPr>
        <p:sp>
          <p:nvSpPr>
            <p:cNvPr id="19" name="任意多边形 18"/>
            <p:cNvSpPr/>
            <p:nvPr/>
          </p:nvSpPr>
          <p:spPr>
            <a:xfrm rot="17692822" flipV="1">
              <a:off x="5980503" y="1464693"/>
              <a:ext cx="849707" cy="45719"/>
            </a:xfrm>
            <a:custGeom>
              <a:avLst/>
              <a:gdLst>
                <a:gd name="connsiteX0" fmla="*/ 0 w 467411"/>
                <a:gd name="connsiteY0" fmla="*/ 5443 h 10887"/>
                <a:gd name="connsiteX1" fmla="*/ 467411 w 467411"/>
                <a:gd name="connsiteY1" fmla="*/ 5443 h 10887"/>
              </a:gdLst>
              <a:ahLst/>
              <a:cxnLst>
                <a:cxn ang="0">
                  <a:pos x="connsiteX0" y="connsiteY0"/>
                </a:cxn>
                <a:cxn ang="0">
                  <a:pos x="connsiteX1" y="connsiteY1"/>
                </a:cxn>
              </a:cxnLst>
              <a:rect l="l" t="t" r="r" b="b"/>
              <a:pathLst>
                <a:path w="467411" h="10887">
                  <a:moveTo>
                    <a:pt x="0" y="5443"/>
                  </a:moveTo>
                  <a:lnTo>
                    <a:pt x="467411" y="5443"/>
                  </a:lnTo>
                </a:path>
              </a:pathLst>
            </a:custGeom>
            <a:noFill/>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5">
                <a:tint val="50000"/>
                <a:hueOff val="0"/>
                <a:satOff val="0"/>
                <a:lumOff val="0"/>
                <a:alphaOff val="0"/>
              </a:schemeClr>
            </a:effectRef>
            <a:fontRef idx="minor">
              <a:schemeClr val="tx1">
                <a:hueOff val="0"/>
                <a:satOff val="0"/>
                <a:lumOff val="0"/>
                <a:alphaOff val="0"/>
              </a:schemeClr>
            </a:fontRef>
          </p:style>
          <p:txBody>
            <a:bodyPr spcFirstLastPara="0" vert="horz" wrap="square" lIns="234720" tIns="-6242" rIns="234720" bIns="-6242"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0" name="任意多边形 19"/>
            <p:cNvSpPr/>
            <p:nvPr/>
          </p:nvSpPr>
          <p:spPr>
            <a:xfrm>
              <a:off x="6149818" y="769728"/>
              <a:ext cx="1426310" cy="358739"/>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处理机管理</a:t>
              </a:r>
              <a:endParaRPr lang="en-US" altLang="zh-CN" sz="2000" b="1" dirty="0"/>
            </a:p>
          </p:txBody>
        </p:sp>
        <p:sp>
          <p:nvSpPr>
            <p:cNvPr id="21" name="任意多边形 20"/>
            <p:cNvSpPr/>
            <p:nvPr/>
          </p:nvSpPr>
          <p:spPr>
            <a:xfrm rot="19457599">
              <a:off x="5992471" y="1741564"/>
              <a:ext cx="946084" cy="45719"/>
            </a:xfrm>
            <a:custGeom>
              <a:avLst/>
              <a:gdLst>
                <a:gd name="connsiteX0" fmla="*/ 0 w 242177"/>
                <a:gd name="connsiteY0" fmla="*/ 5443 h 10887"/>
                <a:gd name="connsiteX1" fmla="*/ 242177 w 242177"/>
                <a:gd name="connsiteY1" fmla="*/ 5443 h 10887"/>
              </a:gdLst>
              <a:ahLst/>
              <a:cxnLst>
                <a:cxn ang="0">
                  <a:pos x="connsiteX0" y="connsiteY0"/>
                </a:cxn>
                <a:cxn ang="0">
                  <a:pos x="connsiteX1" y="connsiteY1"/>
                </a:cxn>
              </a:cxnLst>
              <a:rect l="l" t="t" r="r" b="b"/>
              <a:pathLst>
                <a:path w="242177" h="10887">
                  <a:moveTo>
                    <a:pt x="0" y="5443"/>
                  </a:moveTo>
                  <a:lnTo>
                    <a:pt x="242177" y="5443"/>
                  </a:lnTo>
                </a:path>
              </a:pathLst>
            </a:custGeom>
            <a:noFill/>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5">
                <a:tint val="50000"/>
                <a:hueOff val="0"/>
                <a:satOff val="0"/>
                <a:lumOff val="0"/>
                <a:alphaOff val="0"/>
              </a:schemeClr>
            </a:effectRef>
            <a:fontRef idx="minor">
              <a:schemeClr val="tx1">
                <a:hueOff val="0"/>
                <a:satOff val="0"/>
                <a:lumOff val="0"/>
                <a:alphaOff val="0"/>
              </a:schemeClr>
            </a:fontRef>
          </p:style>
          <p:txBody>
            <a:bodyPr spcFirstLastPara="0" vert="horz" wrap="square" lIns="127734" tIns="-610" rIns="127734" bIns="-612"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2" name="任意多边形 21"/>
            <p:cNvSpPr/>
            <p:nvPr/>
          </p:nvSpPr>
          <p:spPr>
            <a:xfrm>
              <a:off x="6742660" y="1185580"/>
              <a:ext cx="1426310" cy="390646"/>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存储管理</a:t>
              </a:r>
              <a:endParaRPr lang="en-US" altLang="zh-CN" sz="2000" b="1" dirty="0"/>
            </a:p>
          </p:txBody>
        </p:sp>
        <p:sp>
          <p:nvSpPr>
            <p:cNvPr id="23" name="任意多边形 22"/>
            <p:cNvSpPr/>
            <p:nvPr/>
          </p:nvSpPr>
          <p:spPr>
            <a:xfrm rot="21290519" flipV="1">
              <a:off x="6202366" y="1608130"/>
              <a:ext cx="884529" cy="442111"/>
            </a:xfrm>
            <a:custGeom>
              <a:avLst/>
              <a:gdLst>
                <a:gd name="connsiteX0" fmla="*/ 0 w 242177"/>
                <a:gd name="connsiteY0" fmla="*/ 5443 h 10887"/>
                <a:gd name="connsiteX1" fmla="*/ 242177 w 242177"/>
                <a:gd name="connsiteY1" fmla="*/ 5443 h 10887"/>
              </a:gdLst>
              <a:ahLst/>
              <a:cxnLst>
                <a:cxn ang="0">
                  <a:pos x="connsiteX0" y="connsiteY0"/>
                </a:cxn>
                <a:cxn ang="0">
                  <a:pos x="connsiteX1" y="connsiteY1"/>
                </a:cxn>
              </a:cxnLst>
              <a:rect l="l" t="t" r="r" b="b"/>
              <a:pathLst>
                <a:path w="242177" h="10887">
                  <a:moveTo>
                    <a:pt x="0" y="5443"/>
                  </a:moveTo>
                  <a:lnTo>
                    <a:pt x="242177" y="5443"/>
                  </a:lnTo>
                </a:path>
              </a:pathLst>
            </a:custGeom>
            <a:noFill/>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5">
                <a:tint val="50000"/>
                <a:hueOff val="0"/>
                <a:satOff val="0"/>
                <a:lumOff val="0"/>
                <a:alphaOff val="0"/>
              </a:schemeClr>
            </a:effectRef>
            <a:fontRef idx="minor">
              <a:schemeClr val="tx1">
                <a:hueOff val="0"/>
                <a:satOff val="0"/>
                <a:lumOff val="0"/>
                <a:alphaOff val="0"/>
              </a:schemeClr>
            </a:fontRef>
          </p:style>
          <p:txBody>
            <a:bodyPr spcFirstLastPara="0" vert="horz" wrap="square" lIns="127734" tIns="-612" rIns="127734" bIns="-610"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4" name="任意多边形 23"/>
            <p:cNvSpPr/>
            <p:nvPr/>
          </p:nvSpPr>
          <p:spPr>
            <a:xfrm>
              <a:off x="7046503" y="1633339"/>
              <a:ext cx="1426310" cy="353307"/>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设备管理</a:t>
              </a:r>
              <a:endParaRPr lang="en-US" altLang="zh-CN" sz="2000" b="1" dirty="0"/>
            </a:p>
          </p:txBody>
        </p:sp>
        <p:sp>
          <p:nvSpPr>
            <p:cNvPr id="25" name="任意多边形 24"/>
            <p:cNvSpPr/>
            <p:nvPr/>
          </p:nvSpPr>
          <p:spPr>
            <a:xfrm rot="1192087">
              <a:off x="6198176" y="1959031"/>
              <a:ext cx="892901" cy="175282"/>
            </a:xfrm>
            <a:custGeom>
              <a:avLst/>
              <a:gdLst>
                <a:gd name="connsiteX0" fmla="*/ 0 w 467411"/>
                <a:gd name="connsiteY0" fmla="*/ 5443 h 10887"/>
                <a:gd name="connsiteX1" fmla="*/ 467411 w 467411"/>
                <a:gd name="connsiteY1" fmla="*/ 5443 h 10887"/>
              </a:gdLst>
              <a:ahLst/>
              <a:cxnLst>
                <a:cxn ang="0">
                  <a:pos x="connsiteX0" y="connsiteY0"/>
                </a:cxn>
                <a:cxn ang="0">
                  <a:pos x="connsiteX1" y="connsiteY1"/>
                </a:cxn>
              </a:cxnLst>
              <a:rect l="l" t="t" r="r" b="b"/>
              <a:pathLst>
                <a:path w="467411" h="10887">
                  <a:moveTo>
                    <a:pt x="0" y="5443"/>
                  </a:moveTo>
                  <a:lnTo>
                    <a:pt x="467411" y="5443"/>
                  </a:lnTo>
                </a:path>
              </a:pathLst>
            </a:custGeom>
            <a:noFill/>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5">
                <a:tint val="50000"/>
                <a:hueOff val="0"/>
                <a:satOff val="0"/>
                <a:lumOff val="0"/>
                <a:alphaOff val="0"/>
              </a:schemeClr>
            </a:effectRef>
            <a:fontRef idx="minor">
              <a:schemeClr val="tx1">
                <a:hueOff val="0"/>
                <a:satOff val="0"/>
                <a:lumOff val="0"/>
                <a:alphaOff val="0"/>
              </a:schemeClr>
            </a:fontRef>
          </p:style>
          <p:txBody>
            <a:bodyPr spcFirstLastPara="0" vert="horz" wrap="square" lIns="234720" tIns="-6243" rIns="234720" bIns="-6241"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6" name="任意多边形 25"/>
            <p:cNvSpPr/>
            <p:nvPr/>
          </p:nvSpPr>
          <p:spPr>
            <a:xfrm>
              <a:off x="7046503" y="2030462"/>
              <a:ext cx="1426310" cy="395318"/>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文件管理</a:t>
              </a:r>
              <a:endParaRPr lang="en-US" altLang="zh-CN" sz="2000" b="1" dirty="0"/>
            </a:p>
          </p:txBody>
        </p:sp>
      </p:grpSp>
      <p:grpSp>
        <p:nvGrpSpPr>
          <p:cNvPr id="72" name="组合 71"/>
          <p:cNvGrpSpPr/>
          <p:nvPr/>
        </p:nvGrpSpPr>
        <p:grpSpPr>
          <a:xfrm>
            <a:off x="1254240" y="761438"/>
            <a:ext cx="1565614" cy="3095573"/>
            <a:chOff x="1254240" y="761438"/>
            <a:chExt cx="1565614" cy="3095573"/>
          </a:xfrm>
        </p:grpSpPr>
        <p:sp>
          <p:nvSpPr>
            <p:cNvPr id="6" name="任意多边形 5"/>
            <p:cNvSpPr/>
            <p:nvPr/>
          </p:nvSpPr>
          <p:spPr>
            <a:xfrm rot="17725479">
              <a:off x="868510" y="1685272"/>
              <a:ext cx="1307070" cy="31585"/>
            </a:xfrm>
            <a:custGeom>
              <a:avLst/>
              <a:gdLst>
                <a:gd name="connsiteX0" fmla="*/ 0 w 1357085"/>
                <a:gd name="connsiteY0" fmla="*/ 5443 h 10887"/>
                <a:gd name="connsiteX1" fmla="*/ 1357085 w 1357085"/>
                <a:gd name="connsiteY1" fmla="*/ 5443 h 10887"/>
              </a:gdLst>
              <a:ahLst/>
              <a:cxnLst>
                <a:cxn ang="0">
                  <a:pos x="connsiteX0" y="connsiteY0"/>
                </a:cxn>
                <a:cxn ang="0">
                  <a:pos x="connsiteX1" y="connsiteY1"/>
                </a:cxn>
              </a:cxnLst>
              <a:rect l="l" t="t" r="r" b="b"/>
              <a:pathLst>
                <a:path w="1357085" h="10887">
                  <a:moveTo>
                    <a:pt x="0" y="5443"/>
                  </a:moveTo>
                  <a:lnTo>
                    <a:pt x="1357085" y="5443"/>
                  </a:lnTo>
                </a:path>
              </a:pathLst>
            </a:custGeom>
            <a:noFill/>
            <a:scene3d>
              <a:camera prst="orthographicFront"/>
              <a:lightRig rig="flat" dir="t"/>
            </a:scene3d>
            <a:sp3d prstMaterial="matte"/>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657314" tIns="-28483" rIns="657316" bIns="-28485"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14" name="任意多边形 13"/>
            <p:cNvSpPr/>
            <p:nvPr/>
          </p:nvSpPr>
          <p:spPr>
            <a:xfrm>
              <a:off x="1254240" y="2143483"/>
              <a:ext cx="497010" cy="309205"/>
            </a:xfrm>
            <a:custGeom>
              <a:avLst/>
              <a:gdLst>
                <a:gd name="connsiteX0" fmla="*/ 0 w 208964"/>
                <a:gd name="connsiteY0" fmla="*/ 5443 h 10887"/>
                <a:gd name="connsiteX1" fmla="*/ 208964 w 208964"/>
                <a:gd name="connsiteY1" fmla="*/ 5443 h 10887"/>
              </a:gdLst>
              <a:ahLst/>
              <a:cxnLst>
                <a:cxn ang="0">
                  <a:pos x="connsiteX0" y="connsiteY0"/>
                </a:cxn>
                <a:cxn ang="0">
                  <a:pos x="connsiteX1" y="connsiteY1"/>
                </a:cxn>
              </a:cxnLst>
              <a:rect l="l" t="t" r="r" b="b"/>
              <a:pathLst>
                <a:path w="208964" h="10887">
                  <a:moveTo>
                    <a:pt x="0" y="5443"/>
                  </a:moveTo>
                  <a:lnTo>
                    <a:pt x="208964" y="5443"/>
                  </a:lnTo>
                </a:path>
              </a:pathLst>
            </a:custGeom>
            <a:noFill/>
            <a:scene3d>
              <a:camera prst="orthographicFront"/>
              <a:lightRig rig="flat" dir="t"/>
            </a:scene3d>
            <a:sp3d prstMaterial="matte"/>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111957" tIns="219" rIns="111958" bIns="219"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31" name="任意多边形 30"/>
            <p:cNvSpPr/>
            <p:nvPr/>
          </p:nvSpPr>
          <p:spPr>
            <a:xfrm rot="3980399">
              <a:off x="849484" y="2887231"/>
              <a:ext cx="1307070" cy="31585"/>
            </a:xfrm>
            <a:custGeom>
              <a:avLst/>
              <a:gdLst>
                <a:gd name="connsiteX0" fmla="*/ 0 w 1357085"/>
                <a:gd name="connsiteY0" fmla="*/ 5443 h 10887"/>
                <a:gd name="connsiteX1" fmla="*/ 1357085 w 1357085"/>
                <a:gd name="connsiteY1" fmla="*/ 5443 h 10887"/>
              </a:gdLst>
              <a:ahLst/>
              <a:cxnLst>
                <a:cxn ang="0">
                  <a:pos x="connsiteX0" y="connsiteY0"/>
                </a:cxn>
                <a:cxn ang="0">
                  <a:pos x="connsiteX1" y="connsiteY1"/>
                </a:cxn>
              </a:cxnLst>
              <a:rect l="l" t="t" r="r" b="b"/>
              <a:pathLst>
                <a:path w="1357085" h="10887">
                  <a:moveTo>
                    <a:pt x="0" y="5443"/>
                  </a:moveTo>
                  <a:lnTo>
                    <a:pt x="1357085" y="5443"/>
                  </a:lnTo>
                </a:path>
              </a:pathLst>
            </a:custGeom>
            <a:noFill/>
            <a:scene3d>
              <a:camera prst="orthographicFront"/>
              <a:lightRig rig="flat" dir="t"/>
            </a:scene3d>
            <a:sp3d prstMaterial="matte"/>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657315" tIns="-28485" rIns="657315" bIns="-28483" numCol="1" spcCol="1270" anchor="ctr" anchorCtr="0">
              <a:noAutofit/>
            </a:bodyPr>
            <a:lstStyle/>
            <a:p>
              <a:pPr lvl="0" algn="ctr" defTabSz="177800">
                <a:lnSpc>
                  <a:spcPct val="90000"/>
                </a:lnSpc>
                <a:spcBef>
                  <a:spcPct val="0"/>
                </a:spcBef>
                <a:spcAft>
                  <a:spcPct val="35000"/>
                </a:spcAft>
              </a:pPr>
              <a:endParaRPr lang="zh-CN" altLang="en-US" sz="400" kern="1200"/>
            </a:p>
          </p:txBody>
        </p:sp>
        <p:grpSp>
          <p:nvGrpSpPr>
            <p:cNvPr id="71" name="组合 70"/>
            <p:cNvGrpSpPr/>
            <p:nvPr/>
          </p:nvGrpSpPr>
          <p:grpSpPr>
            <a:xfrm>
              <a:off x="1624234" y="761438"/>
              <a:ext cx="1195620" cy="3095573"/>
              <a:chOff x="1624234" y="761438"/>
              <a:chExt cx="1195620" cy="3095573"/>
            </a:xfrm>
          </p:grpSpPr>
          <p:sp>
            <p:nvSpPr>
              <p:cNvPr id="7" name="任意多边形 6"/>
              <p:cNvSpPr/>
              <p:nvPr/>
            </p:nvSpPr>
            <p:spPr>
              <a:xfrm>
                <a:off x="1788896" y="761438"/>
                <a:ext cx="838887" cy="523211"/>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400" b="1" dirty="0"/>
                  <a:t>概念</a:t>
                </a:r>
              </a:p>
            </p:txBody>
          </p:sp>
          <p:sp>
            <p:nvSpPr>
              <p:cNvPr id="16" name="任意多边形 15"/>
              <p:cNvSpPr/>
              <p:nvPr/>
            </p:nvSpPr>
            <p:spPr>
              <a:xfrm>
                <a:off x="1788896" y="1986646"/>
                <a:ext cx="1030958" cy="668157"/>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400" b="1" dirty="0"/>
                  <a:t>功能及原理</a:t>
                </a:r>
              </a:p>
            </p:txBody>
          </p:sp>
          <p:sp>
            <p:nvSpPr>
              <p:cNvPr id="32" name="任意多边形 31"/>
              <p:cNvSpPr/>
              <p:nvPr/>
            </p:nvSpPr>
            <p:spPr>
              <a:xfrm>
                <a:off x="1624234" y="3247659"/>
                <a:ext cx="1075558" cy="609352"/>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400" b="1" dirty="0" smtClean="0"/>
                  <a:t>算法及应用</a:t>
                </a:r>
                <a:endParaRPr lang="zh-CN" altLang="en-US" sz="2400" b="1" dirty="0"/>
              </a:p>
            </p:txBody>
          </p:sp>
        </p:grpSp>
      </p:grpSp>
      <p:grpSp>
        <p:nvGrpSpPr>
          <p:cNvPr id="74" name="组合 73"/>
          <p:cNvGrpSpPr/>
          <p:nvPr/>
        </p:nvGrpSpPr>
        <p:grpSpPr>
          <a:xfrm>
            <a:off x="2811024" y="1702936"/>
            <a:ext cx="3394848" cy="1236776"/>
            <a:chOff x="2811024" y="1702936"/>
            <a:chExt cx="3394848" cy="1236776"/>
          </a:xfrm>
        </p:grpSpPr>
        <p:sp>
          <p:nvSpPr>
            <p:cNvPr id="17" name="任意多边形 16"/>
            <p:cNvSpPr/>
            <p:nvPr/>
          </p:nvSpPr>
          <p:spPr>
            <a:xfrm rot="18289469">
              <a:off x="2930451" y="2159822"/>
              <a:ext cx="331668" cy="31585"/>
            </a:xfrm>
            <a:custGeom>
              <a:avLst/>
              <a:gdLst>
                <a:gd name="connsiteX0" fmla="*/ 0 w 344359"/>
                <a:gd name="connsiteY0" fmla="*/ 5443 h 10887"/>
                <a:gd name="connsiteX1" fmla="*/ 344359 w 344359"/>
                <a:gd name="connsiteY1" fmla="*/ 5443 h 10887"/>
              </a:gdLst>
              <a:ahLst/>
              <a:cxnLst>
                <a:cxn ang="0">
                  <a:pos x="connsiteX0" y="connsiteY0"/>
                </a:cxn>
                <a:cxn ang="0">
                  <a:pos x="connsiteX1" y="connsiteY1"/>
                </a:cxn>
              </a:cxnLst>
              <a:rect l="l" t="t" r="r" b="b"/>
              <a:pathLst>
                <a:path w="344359" h="10887">
                  <a:moveTo>
                    <a:pt x="0" y="5443"/>
                  </a:moveTo>
                  <a:lnTo>
                    <a:pt x="344359"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76270" tIns="-3165" rIns="176271" bIns="-3166"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7" name="任意多边形 26"/>
            <p:cNvSpPr/>
            <p:nvPr/>
          </p:nvSpPr>
          <p:spPr>
            <a:xfrm>
              <a:off x="2811024" y="2306505"/>
              <a:ext cx="570523" cy="10486"/>
            </a:xfrm>
            <a:custGeom>
              <a:avLst/>
              <a:gdLst>
                <a:gd name="connsiteX0" fmla="*/ 0 w 196651"/>
                <a:gd name="connsiteY0" fmla="*/ 5443 h 10887"/>
                <a:gd name="connsiteX1" fmla="*/ 196651 w 196651"/>
                <a:gd name="connsiteY1" fmla="*/ 5443 h 10887"/>
              </a:gdLst>
              <a:ahLst/>
              <a:cxnLst>
                <a:cxn ang="0">
                  <a:pos x="connsiteX0" y="connsiteY0"/>
                </a:cxn>
                <a:cxn ang="0">
                  <a:pos x="connsiteX1" y="connsiteY1"/>
                </a:cxn>
              </a:cxnLst>
              <a:rect l="l" t="t" r="r" b="b"/>
              <a:pathLst>
                <a:path w="196651" h="10887">
                  <a:moveTo>
                    <a:pt x="0" y="5443"/>
                  </a:moveTo>
                  <a:lnTo>
                    <a:pt x="196651"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06109" tIns="528" rIns="106110" bIns="527"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28" name="任意多边形 27"/>
            <p:cNvSpPr/>
            <p:nvPr/>
          </p:nvSpPr>
          <p:spPr>
            <a:xfrm>
              <a:off x="3212272" y="2196748"/>
              <a:ext cx="2177492" cy="319663"/>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000" b="1" dirty="0"/>
                <a:t>用户界面的观点</a:t>
              </a:r>
            </a:p>
          </p:txBody>
        </p:sp>
        <p:sp>
          <p:nvSpPr>
            <p:cNvPr id="29" name="任意多边形 28"/>
            <p:cNvSpPr/>
            <p:nvPr/>
          </p:nvSpPr>
          <p:spPr>
            <a:xfrm rot="3310531">
              <a:off x="2930451" y="2432091"/>
              <a:ext cx="331668" cy="31585"/>
            </a:xfrm>
            <a:custGeom>
              <a:avLst/>
              <a:gdLst>
                <a:gd name="connsiteX0" fmla="*/ 0 w 344359"/>
                <a:gd name="connsiteY0" fmla="*/ 5443 h 10887"/>
                <a:gd name="connsiteX1" fmla="*/ 344359 w 344359"/>
                <a:gd name="connsiteY1" fmla="*/ 5443 h 10887"/>
              </a:gdLst>
              <a:ahLst/>
              <a:cxnLst>
                <a:cxn ang="0">
                  <a:pos x="connsiteX0" y="connsiteY0"/>
                </a:cxn>
                <a:cxn ang="0">
                  <a:pos x="connsiteX1" y="connsiteY1"/>
                </a:cxn>
              </a:cxnLst>
              <a:rect l="l" t="t" r="r" b="b"/>
              <a:pathLst>
                <a:path w="344359" h="10887">
                  <a:moveTo>
                    <a:pt x="0" y="5443"/>
                  </a:moveTo>
                  <a:lnTo>
                    <a:pt x="344359" y="5443"/>
                  </a:lnTo>
                </a:path>
              </a:pathLst>
            </a:custGeom>
            <a:noFill/>
            <a:scene3d>
              <a:camera prst="orthographicFront"/>
              <a:lightRig rig="flat" dir="t"/>
            </a:scene3d>
            <a:sp3d prstMaterial="matte"/>
          </p:spPr>
          <p:style>
            <a:lnRef idx="2">
              <a:schemeClr val="accent3">
                <a:hueOff val="0"/>
                <a:satOff val="0"/>
                <a:lumOff val="0"/>
                <a:alphaOff val="0"/>
              </a:schemeClr>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txBody>
            <a:bodyPr spcFirstLastPara="0" vert="horz" wrap="square" lIns="176271" tIns="-3166" rIns="176270" bIns="-3165" numCol="1" spcCol="1270" anchor="ctr" anchorCtr="0">
              <a:noAutofit/>
            </a:bodyPr>
            <a:lstStyle/>
            <a:p>
              <a:pPr lvl="0" algn="ctr" defTabSz="177800">
                <a:lnSpc>
                  <a:spcPct val="90000"/>
                </a:lnSpc>
                <a:spcBef>
                  <a:spcPct val="0"/>
                </a:spcBef>
                <a:spcAft>
                  <a:spcPct val="35000"/>
                </a:spcAft>
              </a:pPr>
              <a:endParaRPr lang="zh-CN" altLang="en-US" sz="400" kern="1200"/>
            </a:p>
          </p:txBody>
        </p:sp>
        <p:sp>
          <p:nvSpPr>
            <p:cNvPr id="30" name="任意多边形 29"/>
            <p:cNvSpPr/>
            <p:nvPr/>
          </p:nvSpPr>
          <p:spPr>
            <a:xfrm>
              <a:off x="3179518" y="2598352"/>
              <a:ext cx="2046718" cy="341360"/>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000" b="1" dirty="0"/>
                <a:t>进程管理的观点</a:t>
              </a:r>
            </a:p>
          </p:txBody>
        </p:sp>
        <p:sp>
          <p:nvSpPr>
            <p:cNvPr id="18" name="任意多边形 17"/>
            <p:cNvSpPr/>
            <p:nvPr/>
          </p:nvSpPr>
          <p:spPr>
            <a:xfrm>
              <a:off x="3179518" y="1702936"/>
              <a:ext cx="3026354" cy="364909"/>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algn="ctr" defTabSz="222250">
                <a:lnSpc>
                  <a:spcPct val="90000"/>
                </a:lnSpc>
                <a:spcBef>
                  <a:spcPct val="0"/>
                </a:spcBef>
                <a:spcAft>
                  <a:spcPct val="35000"/>
                </a:spcAft>
              </a:pPr>
              <a:r>
                <a:rPr lang="zh-CN" altLang="en-US" sz="2000" b="1" dirty="0"/>
                <a:t>计算机资源管理者的观点</a:t>
              </a:r>
            </a:p>
          </p:txBody>
        </p:sp>
      </p:grpSp>
      <p:grpSp>
        <p:nvGrpSpPr>
          <p:cNvPr id="76" name="组合 75"/>
          <p:cNvGrpSpPr/>
          <p:nvPr/>
        </p:nvGrpSpPr>
        <p:grpSpPr>
          <a:xfrm>
            <a:off x="1306124" y="2648189"/>
            <a:ext cx="7865666" cy="2426775"/>
            <a:chOff x="1259632" y="2647152"/>
            <a:chExt cx="7865666" cy="2426775"/>
          </a:xfrm>
        </p:grpSpPr>
        <p:cxnSp>
          <p:nvCxnSpPr>
            <p:cNvPr id="54" name="直接连接符 53"/>
            <p:cNvCxnSpPr>
              <a:endCxn id="40" idx="0"/>
            </p:cNvCxnSpPr>
            <p:nvPr/>
          </p:nvCxnSpPr>
          <p:spPr>
            <a:xfrm>
              <a:off x="2608995" y="3618184"/>
              <a:ext cx="4495984" cy="604901"/>
            </a:xfrm>
            <a:prstGeom prst="line">
              <a:avLst/>
            </a:prstGeom>
          </p:spPr>
          <p:style>
            <a:lnRef idx="3">
              <a:schemeClr val="accent3"/>
            </a:lnRef>
            <a:fillRef idx="0">
              <a:schemeClr val="accent3"/>
            </a:fillRef>
            <a:effectRef idx="2">
              <a:schemeClr val="accent3"/>
            </a:effectRef>
            <a:fontRef idx="minor">
              <a:schemeClr val="tx1"/>
            </a:fontRef>
          </p:style>
        </p:cxnSp>
        <p:sp>
          <p:nvSpPr>
            <p:cNvPr id="34" name="任意多边形 33"/>
            <p:cNvSpPr/>
            <p:nvPr/>
          </p:nvSpPr>
          <p:spPr>
            <a:xfrm>
              <a:off x="3184588" y="3031226"/>
              <a:ext cx="4086268" cy="364549"/>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en-US" b="1" kern="1200" dirty="0" smtClean="0"/>
                <a:t>LINUX</a:t>
              </a:r>
              <a:r>
                <a:rPr lang="zh-CN" b="1" kern="1200" dirty="0" smtClean="0"/>
                <a:t>的基本安装配置及其命令控制界面</a:t>
              </a:r>
              <a:endParaRPr lang="zh-CN" altLang="en-US" b="1" kern="1200" dirty="0"/>
            </a:p>
          </p:txBody>
        </p:sp>
        <p:sp>
          <p:nvSpPr>
            <p:cNvPr id="36" name="任意多边形 35"/>
            <p:cNvSpPr/>
            <p:nvPr/>
          </p:nvSpPr>
          <p:spPr>
            <a:xfrm>
              <a:off x="7433618" y="2647152"/>
              <a:ext cx="1691680" cy="863799"/>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b="1" dirty="0" smtClean="0"/>
                <a:t>进</a:t>
              </a:r>
              <a:r>
                <a:rPr lang="zh-CN" b="1" dirty="0" smtClean="0"/>
                <a:t>程</a:t>
              </a:r>
              <a:r>
                <a:rPr lang="zh-CN" b="1" dirty="0"/>
                <a:t>的创建、控制、软中断通信及管道通信</a:t>
              </a:r>
              <a:endParaRPr lang="zh-CN" altLang="en-US" b="1" dirty="0"/>
            </a:p>
          </p:txBody>
        </p:sp>
        <p:sp>
          <p:nvSpPr>
            <p:cNvPr id="38" name="任意多边形 37"/>
            <p:cNvSpPr/>
            <p:nvPr/>
          </p:nvSpPr>
          <p:spPr>
            <a:xfrm>
              <a:off x="7563694" y="3475503"/>
              <a:ext cx="1426310" cy="598955"/>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b="1" dirty="0"/>
                <a:t>消息的创建、发送和接收；</a:t>
              </a:r>
              <a:endParaRPr lang="zh-CN" altLang="en-US" b="1" dirty="0"/>
            </a:p>
          </p:txBody>
        </p:sp>
        <p:sp>
          <p:nvSpPr>
            <p:cNvPr id="40" name="任意多边形 39"/>
            <p:cNvSpPr/>
            <p:nvPr/>
          </p:nvSpPr>
          <p:spPr>
            <a:xfrm>
              <a:off x="7104979" y="4169599"/>
              <a:ext cx="1787502" cy="534872"/>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b="1" dirty="0"/>
                <a:t>共享存储区的创建</a:t>
              </a:r>
              <a:r>
                <a:rPr lang="zh-CN" b="1" dirty="0" smtClean="0"/>
                <a:t>、</a:t>
              </a:r>
              <a:r>
                <a:rPr lang="zh-CN" altLang="en-US" b="1" dirty="0" smtClean="0"/>
                <a:t>回收与分配</a:t>
              </a:r>
              <a:endParaRPr lang="zh-CN" altLang="en-US" b="1" dirty="0"/>
            </a:p>
          </p:txBody>
        </p:sp>
        <p:sp>
          <p:nvSpPr>
            <p:cNvPr id="44" name="任意多边形 43"/>
            <p:cNvSpPr/>
            <p:nvPr/>
          </p:nvSpPr>
          <p:spPr>
            <a:xfrm>
              <a:off x="3244364" y="4001221"/>
              <a:ext cx="2767795" cy="394385"/>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sz="2000" b="1" kern="1200" dirty="0" smtClean="0"/>
                <a:t>内存动态分区分配</a:t>
              </a:r>
              <a:r>
                <a:rPr lang="zh-CN" altLang="en-US" sz="2000" b="1" kern="1200" dirty="0" smtClean="0"/>
                <a:t>算法</a:t>
              </a:r>
              <a:endParaRPr lang="zh-CN" altLang="en-US" sz="2000" b="1" kern="1200" dirty="0"/>
            </a:p>
          </p:txBody>
        </p:sp>
        <p:sp>
          <p:nvSpPr>
            <p:cNvPr id="46" name="任意多边形 45"/>
            <p:cNvSpPr/>
            <p:nvPr/>
          </p:nvSpPr>
          <p:spPr>
            <a:xfrm>
              <a:off x="3270122" y="4493282"/>
              <a:ext cx="2598022" cy="580645"/>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altLang="en-US" sz="2000" b="1" dirty="0"/>
                <a:t>页面置换算法，虚</a:t>
              </a:r>
              <a:r>
                <a:rPr lang="zh-CN" sz="2000" b="1" dirty="0"/>
                <a:t>拟存储区和内存工作区</a:t>
              </a:r>
              <a:endParaRPr lang="zh-CN" altLang="en-US" sz="2000" b="1" dirty="0"/>
            </a:p>
          </p:txBody>
        </p:sp>
        <p:cxnSp>
          <p:nvCxnSpPr>
            <p:cNvPr id="48" name="直接连接符 47"/>
            <p:cNvCxnSpPr/>
            <p:nvPr/>
          </p:nvCxnSpPr>
          <p:spPr>
            <a:xfrm flipV="1">
              <a:off x="2699791" y="3213500"/>
              <a:ext cx="504161" cy="388999"/>
            </a:xfrm>
            <a:prstGeom prst="line">
              <a:avLst/>
            </a:prstGeom>
          </p:spPr>
          <p:style>
            <a:lnRef idx="3">
              <a:schemeClr val="accent3"/>
            </a:lnRef>
            <a:fillRef idx="0">
              <a:schemeClr val="accent3"/>
            </a:fillRef>
            <a:effectRef idx="2">
              <a:schemeClr val="accent3"/>
            </a:effectRef>
            <a:fontRef idx="minor">
              <a:schemeClr val="tx1"/>
            </a:fontRef>
          </p:style>
        </p:cxnSp>
        <p:cxnSp>
          <p:nvCxnSpPr>
            <p:cNvPr id="50" name="直接连接符 49"/>
            <p:cNvCxnSpPr>
              <a:endCxn id="36" idx="7"/>
            </p:cNvCxnSpPr>
            <p:nvPr/>
          </p:nvCxnSpPr>
          <p:spPr>
            <a:xfrm flipV="1">
              <a:off x="2727581" y="3424573"/>
              <a:ext cx="4706037" cy="285364"/>
            </a:xfrm>
            <a:prstGeom prst="line">
              <a:avLst/>
            </a:prstGeom>
          </p:spPr>
          <p:style>
            <a:lnRef idx="3">
              <a:schemeClr val="accent3"/>
            </a:lnRef>
            <a:fillRef idx="0">
              <a:schemeClr val="accent3"/>
            </a:fillRef>
            <a:effectRef idx="2">
              <a:schemeClr val="accent3"/>
            </a:effectRef>
            <a:fontRef idx="minor">
              <a:schemeClr val="tx1"/>
            </a:fontRef>
          </p:style>
        </p:cxnSp>
        <p:cxnSp>
          <p:nvCxnSpPr>
            <p:cNvPr id="52" name="直接连接符 51"/>
            <p:cNvCxnSpPr/>
            <p:nvPr/>
          </p:nvCxnSpPr>
          <p:spPr>
            <a:xfrm>
              <a:off x="2699791" y="3618184"/>
              <a:ext cx="4876337" cy="238827"/>
            </a:xfrm>
            <a:prstGeom prst="line">
              <a:avLst/>
            </a:prstGeom>
          </p:spPr>
          <p:style>
            <a:lnRef idx="3">
              <a:schemeClr val="accent3"/>
            </a:lnRef>
            <a:fillRef idx="0">
              <a:schemeClr val="accent3"/>
            </a:fillRef>
            <a:effectRef idx="2">
              <a:schemeClr val="accent3"/>
            </a:effectRef>
            <a:fontRef idx="minor">
              <a:schemeClr val="tx1"/>
            </a:fontRef>
          </p:style>
        </p:cxnSp>
        <p:cxnSp>
          <p:nvCxnSpPr>
            <p:cNvPr id="63" name="直接连接符 62"/>
            <p:cNvCxnSpPr/>
            <p:nvPr/>
          </p:nvCxnSpPr>
          <p:spPr>
            <a:xfrm flipH="1">
              <a:off x="1979712" y="3847357"/>
              <a:ext cx="228627" cy="532563"/>
            </a:xfrm>
            <a:prstGeom prst="line">
              <a:avLst/>
            </a:prstGeom>
          </p:spPr>
          <p:style>
            <a:lnRef idx="3">
              <a:schemeClr val="accent3"/>
            </a:lnRef>
            <a:fillRef idx="0">
              <a:schemeClr val="accent3"/>
            </a:fillRef>
            <a:effectRef idx="2">
              <a:schemeClr val="accent3"/>
            </a:effectRef>
            <a:fontRef idx="minor">
              <a:schemeClr val="tx1"/>
            </a:fontRef>
          </p:style>
        </p:cxnSp>
        <p:sp>
          <p:nvSpPr>
            <p:cNvPr id="42" name="任意多边形 41"/>
            <p:cNvSpPr/>
            <p:nvPr/>
          </p:nvSpPr>
          <p:spPr>
            <a:xfrm>
              <a:off x="1259632" y="4217884"/>
              <a:ext cx="1440159" cy="762771"/>
            </a:xfrm>
            <a:custGeom>
              <a:avLst/>
              <a:gdLst>
                <a:gd name="connsiteX0" fmla="*/ 0 w 491628"/>
                <a:gd name="connsiteY0" fmla="*/ 24581 h 245814"/>
                <a:gd name="connsiteX1" fmla="*/ 24581 w 491628"/>
                <a:gd name="connsiteY1" fmla="*/ 0 h 245814"/>
                <a:gd name="connsiteX2" fmla="*/ 467047 w 491628"/>
                <a:gd name="connsiteY2" fmla="*/ 0 h 245814"/>
                <a:gd name="connsiteX3" fmla="*/ 491628 w 491628"/>
                <a:gd name="connsiteY3" fmla="*/ 24581 h 245814"/>
                <a:gd name="connsiteX4" fmla="*/ 491628 w 491628"/>
                <a:gd name="connsiteY4" fmla="*/ 221233 h 245814"/>
                <a:gd name="connsiteX5" fmla="*/ 467047 w 491628"/>
                <a:gd name="connsiteY5" fmla="*/ 245814 h 245814"/>
                <a:gd name="connsiteX6" fmla="*/ 24581 w 491628"/>
                <a:gd name="connsiteY6" fmla="*/ 245814 h 245814"/>
                <a:gd name="connsiteX7" fmla="*/ 0 w 491628"/>
                <a:gd name="connsiteY7" fmla="*/ 221233 h 245814"/>
                <a:gd name="connsiteX8" fmla="*/ 0 w 491628"/>
                <a:gd name="connsiteY8" fmla="*/ 24581 h 2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628" h="245814">
                  <a:moveTo>
                    <a:pt x="0" y="24581"/>
                  </a:moveTo>
                  <a:cubicBezTo>
                    <a:pt x="0" y="11005"/>
                    <a:pt x="11005" y="0"/>
                    <a:pt x="24581" y="0"/>
                  </a:cubicBezTo>
                  <a:lnTo>
                    <a:pt x="467047" y="0"/>
                  </a:lnTo>
                  <a:cubicBezTo>
                    <a:pt x="480623" y="0"/>
                    <a:pt x="491628" y="11005"/>
                    <a:pt x="491628" y="24581"/>
                  </a:cubicBezTo>
                  <a:lnTo>
                    <a:pt x="491628" y="221233"/>
                  </a:lnTo>
                  <a:cubicBezTo>
                    <a:pt x="491628" y="234809"/>
                    <a:pt x="480623" y="245814"/>
                    <a:pt x="467047" y="245814"/>
                  </a:cubicBezTo>
                  <a:lnTo>
                    <a:pt x="24581" y="245814"/>
                  </a:lnTo>
                  <a:cubicBezTo>
                    <a:pt x="11005" y="245814"/>
                    <a:pt x="0" y="234809"/>
                    <a:pt x="0" y="221233"/>
                  </a:cubicBezTo>
                  <a:lnTo>
                    <a:pt x="0" y="245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10375" tIns="10375" rIns="10375" bIns="10375" numCol="1" spcCol="1270" anchor="ctr" anchorCtr="0">
              <a:noAutofit/>
            </a:bodyPr>
            <a:lstStyle/>
            <a:p>
              <a:pPr lvl="0" algn="ctr" defTabSz="222250">
                <a:lnSpc>
                  <a:spcPct val="90000"/>
                </a:lnSpc>
                <a:spcBef>
                  <a:spcPct val="0"/>
                </a:spcBef>
                <a:spcAft>
                  <a:spcPct val="35000"/>
                </a:spcAft>
              </a:pPr>
              <a:r>
                <a:rPr lang="zh-CN" sz="2000" b="1" kern="1200" dirty="0" smtClean="0"/>
                <a:t>设计进程调度算法</a:t>
              </a:r>
              <a:endParaRPr lang="zh-CN" altLang="en-US" sz="2000" b="1" kern="1200" dirty="0"/>
            </a:p>
          </p:txBody>
        </p:sp>
        <p:cxnSp>
          <p:nvCxnSpPr>
            <p:cNvPr id="65" name="直接连接符 64"/>
            <p:cNvCxnSpPr>
              <a:stCxn id="32" idx="5"/>
              <a:endCxn id="44" idx="0"/>
            </p:cNvCxnSpPr>
            <p:nvPr/>
          </p:nvCxnSpPr>
          <p:spPr>
            <a:xfrm>
              <a:off x="2599523" y="3855974"/>
              <a:ext cx="644841" cy="184685"/>
            </a:xfrm>
            <a:prstGeom prst="line">
              <a:avLst/>
            </a:prstGeom>
          </p:spPr>
          <p:style>
            <a:lnRef idx="3">
              <a:schemeClr val="accent3"/>
            </a:lnRef>
            <a:fillRef idx="0">
              <a:schemeClr val="accent3"/>
            </a:fillRef>
            <a:effectRef idx="2">
              <a:schemeClr val="accent3"/>
            </a:effectRef>
            <a:fontRef idx="minor">
              <a:schemeClr val="tx1"/>
            </a:fontRef>
          </p:style>
        </p:cxnSp>
        <p:cxnSp>
          <p:nvCxnSpPr>
            <p:cNvPr id="69" name="直接连接符 68"/>
            <p:cNvCxnSpPr/>
            <p:nvPr/>
          </p:nvCxnSpPr>
          <p:spPr>
            <a:xfrm>
              <a:off x="2654247" y="3857011"/>
              <a:ext cx="590117" cy="946987"/>
            </a:xfrm>
            <a:prstGeom prst="line">
              <a:avLst/>
            </a:prstGeom>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414222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wipe(left)">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wipe(left)">
                                      <p:cBhvr>
                                        <p:cTn id="22" dur="500"/>
                                        <p:tgtEl>
                                          <p:spTgt spid="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
                                        </p:tgtEl>
                                        <p:attrNameLst>
                                          <p:attrName>style.visibility</p:attrName>
                                        </p:attrNameLst>
                                      </p:cBhvr>
                                      <p:to>
                                        <p:strVal val="visible"/>
                                      </p:to>
                                    </p:set>
                                    <p:animEffect transition="in" filter="wipe(left)">
                                      <p:cBhvr>
                                        <p:cTn id="27" dur="500"/>
                                        <p:tgtEl>
                                          <p:spTgt spid="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wipe(left)">
                                      <p:cBhvr>
                                        <p:cTn id="3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143108" y="424282"/>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教学计划</a:t>
            </a:r>
            <a:endParaRPr lang="zh-CN" altLang="en-US" sz="5400" b="1" dirty="0">
              <a:ln w="50800"/>
              <a:solidFill>
                <a:schemeClr val="bg1">
                  <a:shade val="50000"/>
                </a:schemeClr>
              </a:solidFill>
              <a:latin typeface="黑体" pitchFamily="49" charset="-122"/>
              <a:ea typeface="黑体" pitchFamily="49" charset="-122"/>
            </a:endParaRPr>
          </a:p>
        </p:txBody>
      </p:sp>
      <p:graphicFrame>
        <p:nvGraphicFramePr>
          <p:cNvPr id="11" name="표 4"/>
          <p:cNvGraphicFramePr>
            <a:graphicFrameLocks noGrp="1"/>
          </p:cNvGraphicFramePr>
          <p:nvPr>
            <p:extLst>
              <p:ext uri="{D42A27DB-BD31-4B8C-83A1-F6EECF244321}">
                <p14:modId xmlns:p14="http://schemas.microsoft.com/office/powerpoint/2010/main" val="314200919"/>
              </p:ext>
            </p:extLst>
          </p:nvPr>
        </p:nvGraphicFramePr>
        <p:xfrm>
          <a:off x="248438" y="1263795"/>
          <a:ext cx="8500026" cy="3612210"/>
        </p:xfrm>
        <a:graphic>
          <a:graphicData uri="http://schemas.openxmlformats.org/drawingml/2006/table">
            <a:tbl>
              <a:tblPr>
                <a:tableStyleId>{35758FB7-9AC5-4552-8A53-C91805E547FA}</a:tableStyleId>
              </a:tblPr>
              <a:tblGrid>
                <a:gridCol w="2980661">
                  <a:extLst>
                    <a:ext uri="{9D8B030D-6E8A-4147-A177-3AD203B41FA5}">
                      <a16:colId xmlns:a16="http://schemas.microsoft.com/office/drawing/2014/main" val="20000"/>
                    </a:ext>
                  </a:extLst>
                </a:gridCol>
                <a:gridCol w="1597711">
                  <a:extLst>
                    <a:ext uri="{9D8B030D-6E8A-4147-A177-3AD203B41FA5}">
                      <a16:colId xmlns:a16="http://schemas.microsoft.com/office/drawing/2014/main" val="20001"/>
                    </a:ext>
                  </a:extLst>
                </a:gridCol>
                <a:gridCol w="3921654">
                  <a:extLst>
                    <a:ext uri="{9D8B030D-6E8A-4147-A177-3AD203B41FA5}">
                      <a16:colId xmlns:a16="http://schemas.microsoft.com/office/drawing/2014/main" val="20002"/>
                    </a:ext>
                  </a:extLst>
                </a:gridCol>
              </a:tblGrid>
              <a:tr h="532241">
                <a:tc>
                  <a:txBody>
                    <a:bodyPr/>
                    <a:lstStyle/>
                    <a:p>
                      <a:pPr algn="ctr" fontAlgn="ctr"/>
                      <a:r>
                        <a:rPr lang="zh-CN" altLang="en-US" sz="2400" b="1" u="none" strike="noStrike" dirty="0" smtClean="0"/>
                        <a:t>内容</a:t>
                      </a:r>
                      <a:endParaRPr lang="en-US" sz="2400" b="1" i="0" u="none" strike="noStrike" dirty="0">
                        <a:solidFill>
                          <a:srgbClr val="FF3300"/>
                        </a:solidFill>
                        <a:latin typeface="+mj-lt"/>
                      </a:endParaRPr>
                    </a:p>
                  </a:txBody>
                  <a:tcPr marL="8742" marR="8742" marT="6557" marB="0" anchor="ctr"/>
                </a:tc>
                <a:tc>
                  <a:txBody>
                    <a:bodyPr/>
                    <a:lstStyle/>
                    <a:p>
                      <a:pPr algn="ctr" fontAlgn="ctr"/>
                      <a:r>
                        <a:rPr lang="zh-CN" altLang="en-US" sz="2400" b="1" u="none" strike="noStrike" dirty="0" smtClean="0"/>
                        <a:t>理论学时</a:t>
                      </a:r>
                      <a:endParaRPr lang="en-US" sz="2400" b="1" i="0" u="none" strike="noStrike" dirty="0">
                        <a:solidFill>
                          <a:srgbClr val="FF3300"/>
                        </a:solidFill>
                        <a:latin typeface="+mj-lt"/>
                      </a:endParaRPr>
                    </a:p>
                  </a:txBody>
                  <a:tcPr marL="8742" marR="8742" marT="6557" marB="0" anchor="ctr"/>
                </a:tc>
                <a:tc>
                  <a:txBody>
                    <a:bodyPr/>
                    <a:lstStyle/>
                    <a:p>
                      <a:pPr algn="ctr" fontAlgn="ctr"/>
                      <a:r>
                        <a:rPr lang="zh-CN" altLang="en-US" sz="2400" b="1" u="none" strike="noStrike" dirty="0" smtClean="0"/>
                        <a:t>实践学时</a:t>
                      </a:r>
                      <a:endParaRPr lang="en-US" sz="2400" b="1" i="0" u="none" strike="noStrike" dirty="0">
                        <a:solidFill>
                          <a:srgbClr val="FF3300"/>
                        </a:solidFill>
                        <a:latin typeface="+mj-lt"/>
                      </a:endParaRPr>
                    </a:p>
                  </a:txBody>
                  <a:tcPr marL="8742" marR="8742" marT="6557" marB="0" anchor="ctr"/>
                </a:tc>
                <a:extLst>
                  <a:ext uri="{0D108BD9-81ED-4DB2-BD59-A6C34878D82A}">
                    <a16:rowId xmlns:a16="http://schemas.microsoft.com/office/drawing/2014/main" val="10000"/>
                  </a:ext>
                </a:extLst>
              </a:tr>
              <a:tr h="532241">
                <a:tc>
                  <a:txBody>
                    <a:bodyPr/>
                    <a:lstStyle/>
                    <a:p>
                      <a:pPr algn="ctr"/>
                      <a:r>
                        <a:rPr lang="zh-CN" altLang="en-US" dirty="0" smtClean="0"/>
                        <a:t>开学第一课</a:t>
                      </a:r>
                      <a:r>
                        <a:rPr lang="en-US" altLang="zh-CN" dirty="0" smtClean="0"/>
                        <a:t>+</a:t>
                      </a:r>
                      <a:r>
                        <a:rPr lang="zh-CN" altLang="en-US" dirty="0" smtClean="0"/>
                        <a:t>课程介绍</a:t>
                      </a:r>
                      <a:r>
                        <a:rPr lang="en-US" altLang="zh-CN" dirty="0" smtClean="0"/>
                        <a:t>+</a:t>
                      </a:r>
                      <a:r>
                        <a:rPr lang="zh-CN" altLang="en-US" dirty="0" smtClean="0"/>
                        <a:t>绪论</a:t>
                      </a:r>
                      <a:endParaRPr lang="zh-CN" altLang="en-US" dirty="0"/>
                    </a:p>
                  </a:txBody>
                  <a:tcPr marL="8742" marR="8742" marT="6557" marB="0" anchor="ctr"/>
                </a:tc>
                <a:tc>
                  <a:txBody>
                    <a:bodyPr/>
                    <a:lstStyle/>
                    <a:p>
                      <a:r>
                        <a:rPr lang="en-US" altLang="zh-CN" dirty="0" smtClean="0"/>
                        <a:t>              2</a:t>
                      </a:r>
                      <a:endParaRPr lang="zh-CN" altLang="en-US" dirty="0"/>
                    </a:p>
                  </a:txBody>
                  <a:tcPr marL="8742" marR="8742" marT="6557" marB="0" anchor="ctr"/>
                </a:tc>
                <a:tc>
                  <a:txBody>
                    <a:bodyPr/>
                    <a:lstStyle/>
                    <a:p>
                      <a:endParaRPr lang="zh-CN" altLang="en-US" dirty="0"/>
                    </a:p>
                  </a:txBody>
                  <a:tcPr marL="8742" marR="8742" marT="6557" marB="0" anchor="ctr"/>
                </a:tc>
                <a:extLst>
                  <a:ext uri="{0D108BD9-81ED-4DB2-BD59-A6C34878D82A}">
                    <a16:rowId xmlns:a16="http://schemas.microsoft.com/office/drawing/2014/main" val="10001"/>
                  </a:ext>
                </a:extLst>
              </a:tr>
              <a:tr h="724202">
                <a:tc>
                  <a:txBody>
                    <a:bodyPr/>
                    <a:lstStyle/>
                    <a:p>
                      <a:pPr algn="ctr" fontAlgn="ctr"/>
                      <a:r>
                        <a:rPr lang="zh-CN" altLang="en-US" sz="2000" b="1" u="none" strike="noStrike" dirty="0" smtClean="0">
                          <a:solidFill>
                            <a:srgbClr val="C00000"/>
                          </a:solidFill>
                        </a:rPr>
                        <a:t>绪论</a:t>
                      </a: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sz="2000" b="1" i="0" u="none" strike="noStrike" dirty="0">
                        <a:solidFill>
                          <a:srgbClr val="C00000"/>
                        </a:solidFill>
                        <a:latin typeface="+mj-lt"/>
                      </a:endParaRPr>
                    </a:p>
                  </a:txBody>
                  <a:tcPr marL="8742" marR="8742" marT="6557" marB="0" anchor="ctr"/>
                </a:tc>
                <a:tc>
                  <a:txBody>
                    <a:bodyPr/>
                    <a:lstStyle/>
                    <a:p>
                      <a:pPr algn="ctr" fontAlgn="ctr"/>
                      <a:r>
                        <a:rPr lang="en-US" altLang="zh-CN" sz="2000" u="none" strike="noStrike" dirty="0" smtClean="0"/>
                        <a:t>3</a:t>
                      </a:r>
                      <a:endParaRPr lang="en-US" sz="2000" b="1" i="0" u="none" strike="noStrike" dirty="0">
                        <a:solidFill>
                          <a:srgbClr val="000000"/>
                        </a:solidFill>
                        <a:latin typeface="+mj-lt"/>
                      </a:endParaRPr>
                    </a:p>
                  </a:txBody>
                  <a:tcPr marL="8742" marR="8742" marT="6557" marB="0" anchor="ctr"/>
                </a:tc>
                <a:tc>
                  <a:txBody>
                    <a:bodyPr/>
                    <a:lstStyle/>
                    <a:p>
                      <a:pPr algn="ctr" fontAlgn="ctr"/>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1</a:t>
                      </a:r>
                      <a:r>
                        <a:rPr lang="zh-CN" altLang="en-US" sz="1800" u="none" strike="noStrike" kern="1200" dirty="0" smtClean="0">
                          <a:solidFill>
                            <a:schemeClr val="dk1"/>
                          </a:solidFill>
                          <a:effectLst/>
                          <a:latin typeface="+mn-lt"/>
                          <a:ea typeface="+mn-ea"/>
                          <a:cs typeface="+mn-cs"/>
                        </a:rPr>
                        <a:t>：熟悉实验环境</a:t>
                      </a:r>
                      <a:endParaRPr lang="en-US" sz="1800" u="none" strike="noStrike" kern="1200" dirty="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10002"/>
                  </a:ext>
                </a:extLst>
              </a:tr>
              <a:tr h="75904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u="none" strike="noStrike" dirty="0" smtClean="0">
                          <a:solidFill>
                            <a:srgbClr val="C00000"/>
                          </a:solidFill>
                        </a:rPr>
                        <a:t>操作系统用户界面</a:t>
                      </a:r>
                      <a:endParaRPr lang="en-US" altLang="zh-CN" sz="2000" b="1" u="none" strike="noStrike" dirty="0" smtClean="0">
                        <a:solidFill>
                          <a:srgbClr val="C00000"/>
                        </a:solidFill>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altLang="zh-CN" sz="2000" b="1" i="0" u="none" strike="noStrike" kern="1200" dirty="0" smtClean="0">
                        <a:solidFill>
                          <a:srgbClr val="C00000"/>
                        </a:solidFill>
                        <a:latin typeface="+mn-lt"/>
                        <a:ea typeface="+mn-ea"/>
                        <a:cs typeface="+mn-cs"/>
                      </a:endParaRPr>
                    </a:p>
                  </a:txBody>
                  <a:tcPr marL="8742" marR="8742" marT="6557" marB="0" anchor="ctr"/>
                </a:tc>
                <a:tc>
                  <a:txBody>
                    <a:bodyPr/>
                    <a:lstStyle/>
                    <a:p>
                      <a:pPr marL="0" algn="ctr" defTabSz="914400" rtl="0" eaLnBrk="1" fontAlgn="ctr" latinLnBrk="0" hangingPunct="1"/>
                      <a:r>
                        <a:rPr lang="en-US" sz="2000" u="none" strike="noStrike" kern="1200" dirty="0" smtClean="0">
                          <a:solidFill>
                            <a:schemeClr val="dk1"/>
                          </a:solidFill>
                          <a:latin typeface="+mn-lt"/>
                          <a:ea typeface="+mn-ea"/>
                          <a:cs typeface="+mn-cs"/>
                        </a:rPr>
                        <a:t>3</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algn="ctr"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2</a:t>
                      </a:r>
                      <a:r>
                        <a:rPr lang="en-US" sz="1800" u="none" strike="noStrike" kern="1200" dirty="0" smtClean="0">
                          <a:solidFill>
                            <a:schemeClr val="dk1"/>
                          </a:solidFill>
                          <a:effectLst/>
                          <a:latin typeface="+mn-lt"/>
                          <a:ea typeface="+mn-ea"/>
                          <a:cs typeface="+mn-cs"/>
                        </a:rPr>
                        <a:t> </a:t>
                      </a:r>
                      <a:r>
                        <a:rPr lang="zh-CN" altLang="en-US" sz="1800" u="none" strike="noStrike" kern="1200" dirty="0" smtClean="0">
                          <a:solidFill>
                            <a:schemeClr val="dk1"/>
                          </a:solidFill>
                          <a:effectLst/>
                          <a:latin typeface="+mn-lt"/>
                          <a:ea typeface="+mn-ea"/>
                          <a:cs typeface="+mn-cs"/>
                        </a:rPr>
                        <a:t>：操作系统的引导</a:t>
                      </a:r>
                      <a:endParaRPr lang="en-US" altLang="zh-CN" sz="1800" u="none" strike="noStrike" kern="1200" dirty="0" smtClean="0">
                        <a:solidFill>
                          <a:schemeClr val="dk1"/>
                        </a:solidFill>
                        <a:effectLst/>
                        <a:latin typeface="+mn-lt"/>
                        <a:ea typeface="+mn-ea"/>
                        <a:cs typeface="+mn-cs"/>
                      </a:endParaRPr>
                    </a:p>
                    <a:p>
                      <a:pPr marL="0" algn="ctr"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3</a:t>
                      </a:r>
                      <a:r>
                        <a:rPr lang="zh-CN" altLang="en-US" sz="1800" u="none" strike="noStrike" kern="1200" dirty="0" smtClean="0">
                          <a:solidFill>
                            <a:schemeClr val="dk1"/>
                          </a:solidFill>
                          <a:effectLst/>
                          <a:latin typeface="+mn-lt"/>
                          <a:ea typeface="+mn-ea"/>
                          <a:cs typeface="+mn-cs"/>
                        </a:rPr>
                        <a:t>：系统调用</a:t>
                      </a:r>
                      <a:endParaRPr lang="en-US" sz="1800" u="none" strike="noStrike" kern="1200" dirty="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10003"/>
                  </a:ext>
                </a:extLst>
              </a:tr>
              <a:tr h="1064481">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i="0" u="none" strike="noStrike" dirty="0" smtClean="0">
                          <a:solidFill>
                            <a:srgbClr val="C00000"/>
                          </a:solidFill>
                          <a:latin typeface="+mn-lt"/>
                        </a:rPr>
                        <a:t>进程管理</a:t>
                      </a:r>
                      <a:endParaRPr lang="en-US" altLang="zh-CN" sz="2000" b="1" i="0" u="none" strike="noStrike" dirty="0" smtClean="0">
                        <a:solidFill>
                          <a:srgbClr val="C00000"/>
                        </a:solidFill>
                        <a:latin typeface="+mn-l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sz="2000" b="1" i="0" u="none" strike="noStrike" dirty="0">
                        <a:solidFill>
                          <a:srgbClr val="C00000"/>
                        </a:solidFill>
                        <a:latin typeface="+mj-lt"/>
                      </a:endParaRPr>
                    </a:p>
                  </a:txBody>
                  <a:tcPr marL="8742" marR="8742" marT="6557" marB="0" anchor="ctr"/>
                </a:tc>
                <a:tc>
                  <a:txBody>
                    <a:bodyPr/>
                    <a:lstStyle/>
                    <a:p>
                      <a:pPr marL="0" algn="ctr" defTabSz="914400" rtl="0" eaLnBrk="1" fontAlgn="ctr" latinLnBrk="0" hangingPunct="1"/>
                      <a:r>
                        <a:rPr lang="en-US" altLang="zh-CN" sz="2000" u="none" strike="noStrike" kern="1200" dirty="0" smtClean="0">
                          <a:solidFill>
                            <a:schemeClr val="dk1"/>
                          </a:solidFill>
                          <a:latin typeface="+mn-lt"/>
                          <a:ea typeface="+mn-ea"/>
                          <a:cs typeface="+mn-cs"/>
                        </a:rPr>
                        <a:t>9</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algn="l"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4</a:t>
                      </a:r>
                      <a:r>
                        <a:rPr lang="zh-CN" altLang="en-US" sz="1800" u="none" strike="noStrike" kern="1200" dirty="0" smtClean="0">
                          <a:solidFill>
                            <a:schemeClr val="dk1"/>
                          </a:solidFill>
                          <a:effectLst/>
                          <a:latin typeface="+mn-lt"/>
                          <a:ea typeface="+mn-ea"/>
                          <a:cs typeface="+mn-cs"/>
                        </a:rPr>
                        <a:t>：</a:t>
                      </a:r>
                      <a:r>
                        <a:rPr lang="zh-CN" altLang="en-US" sz="1800" b="0" i="0" kern="1200" dirty="0" smtClean="0">
                          <a:solidFill>
                            <a:schemeClr val="dk1"/>
                          </a:solidFill>
                          <a:effectLst/>
                          <a:latin typeface="+mn-lt"/>
                          <a:ea typeface="+mn-ea"/>
                          <a:cs typeface="+mn-cs"/>
                        </a:rPr>
                        <a:t>进程运行轨迹的跟踪与统计</a:t>
                      </a:r>
                      <a:endParaRPr lang="en-US" altLang="zh-CN" sz="1800" b="0" i="0" kern="1200" dirty="0" smtClean="0">
                        <a:solidFill>
                          <a:schemeClr val="dk1"/>
                        </a:solidFill>
                        <a:effectLst/>
                        <a:latin typeface="+mn-lt"/>
                        <a:ea typeface="+mn-ea"/>
                        <a:cs typeface="+mn-cs"/>
                      </a:endParaRPr>
                    </a:p>
                    <a:p>
                      <a:pPr marL="0" algn="l" defTabSz="914400" rtl="0" eaLnBrk="1" fontAlgn="ctr" latinLnBrk="0" hangingPunct="1"/>
                      <a:r>
                        <a:rPr lang="zh-CN" altLang="en-US" sz="1800" b="0" i="0" u="none" strike="noStrike" kern="1200" dirty="0" smtClean="0">
                          <a:solidFill>
                            <a:schemeClr val="dk1"/>
                          </a:solidFill>
                          <a:effectLst/>
                          <a:latin typeface="+mn-lt"/>
                          <a:ea typeface="+mn-ea"/>
                          <a:cs typeface="+mn-cs"/>
                        </a:rPr>
                        <a:t>实验</a:t>
                      </a:r>
                      <a:r>
                        <a:rPr lang="en-US" altLang="zh-CN" sz="1800" b="0" i="0" u="none" strike="noStrike" kern="1200" dirty="0" smtClean="0">
                          <a:solidFill>
                            <a:schemeClr val="dk1"/>
                          </a:solidFill>
                          <a:effectLst/>
                          <a:latin typeface="+mn-lt"/>
                          <a:ea typeface="+mn-ea"/>
                          <a:cs typeface="+mn-cs"/>
                        </a:rPr>
                        <a:t>5</a:t>
                      </a:r>
                      <a:r>
                        <a:rPr lang="zh-CN" altLang="en-US" sz="1800" b="0" i="0" u="none" strike="noStrike" kern="1200" dirty="0" smtClean="0">
                          <a:solidFill>
                            <a:schemeClr val="dk1"/>
                          </a:solidFill>
                          <a:effectLst/>
                          <a:latin typeface="+mn-lt"/>
                          <a:ea typeface="+mn-ea"/>
                          <a:cs typeface="+mn-cs"/>
                        </a:rPr>
                        <a:t>：</a:t>
                      </a:r>
                      <a:r>
                        <a:rPr lang="zh-CN" altLang="en-US" sz="1800" b="0" i="0" kern="1200" dirty="0" smtClean="0">
                          <a:solidFill>
                            <a:schemeClr val="dk1"/>
                          </a:solidFill>
                          <a:effectLst/>
                          <a:latin typeface="+mn-lt"/>
                          <a:ea typeface="+mn-ea"/>
                          <a:cs typeface="+mn-cs"/>
                        </a:rPr>
                        <a:t>基于内核栈切换的进程切换</a:t>
                      </a:r>
                      <a:endParaRPr lang="en-US" sz="2000" u="none" strike="noStrike" kern="1200" dirty="0">
                        <a:solidFill>
                          <a:schemeClr val="dk1"/>
                        </a:solidFill>
                        <a:latin typeface="+mn-lt"/>
                        <a:ea typeface="+mn-ea"/>
                        <a:cs typeface="+mn-cs"/>
                      </a:endParaRPr>
                    </a:p>
                  </a:txBody>
                  <a:tcPr marL="8742" marR="8742" marT="6557"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7833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143108" y="424282"/>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教学计划</a:t>
            </a:r>
            <a:endParaRPr lang="zh-CN" altLang="en-US" sz="5400" b="1" dirty="0">
              <a:ln w="50800"/>
              <a:solidFill>
                <a:schemeClr val="bg1">
                  <a:shade val="50000"/>
                </a:schemeClr>
              </a:solidFill>
              <a:latin typeface="黑体" pitchFamily="49" charset="-122"/>
              <a:ea typeface="黑体" pitchFamily="49" charset="-122"/>
            </a:endParaRPr>
          </a:p>
        </p:txBody>
      </p:sp>
      <p:graphicFrame>
        <p:nvGraphicFramePr>
          <p:cNvPr id="11" name="표 4"/>
          <p:cNvGraphicFramePr>
            <a:graphicFrameLocks noGrp="1"/>
          </p:cNvGraphicFramePr>
          <p:nvPr>
            <p:extLst>
              <p:ext uri="{D42A27DB-BD31-4B8C-83A1-F6EECF244321}">
                <p14:modId xmlns:p14="http://schemas.microsoft.com/office/powerpoint/2010/main" val="451969648"/>
              </p:ext>
            </p:extLst>
          </p:nvPr>
        </p:nvGraphicFramePr>
        <p:xfrm>
          <a:off x="395536" y="621513"/>
          <a:ext cx="8568951" cy="4418165"/>
        </p:xfrm>
        <a:graphic>
          <a:graphicData uri="http://schemas.openxmlformats.org/drawingml/2006/table">
            <a:tbl>
              <a:tblPr>
                <a:tableStyleId>{35758FB7-9AC5-4552-8A53-C91805E547FA}</a:tableStyleId>
              </a:tblPr>
              <a:tblGrid>
                <a:gridCol w="2808312">
                  <a:extLst>
                    <a:ext uri="{9D8B030D-6E8A-4147-A177-3AD203B41FA5}">
                      <a16:colId xmlns:a16="http://schemas.microsoft.com/office/drawing/2014/main" val="20000"/>
                    </a:ext>
                  </a:extLst>
                </a:gridCol>
                <a:gridCol w="1407453">
                  <a:extLst>
                    <a:ext uri="{9D8B030D-6E8A-4147-A177-3AD203B41FA5}">
                      <a16:colId xmlns:a16="http://schemas.microsoft.com/office/drawing/2014/main" val="20001"/>
                    </a:ext>
                  </a:extLst>
                </a:gridCol>
                <a:gridCol w="4353186">
                  <a:extLst>
                    <a:ext uri="{9D8B030D-6E8A-4147-A177-3AD203B41FA5}">
                      <a16:colId xmlns:a16="http://schemas.microsoft.com/office/drawing/2014/main" val="20002"/>
                    </a:ext>
                  </a:extLst>
                </a:gridCol>
              </a:tblGrid>
              <a:tr h="377228">
                <a:tc>
                  <a:txBody>
                    <a:bodyPr/>
                    <a:lstStyle/>
                    <a:p>
                      <a:pPr algn="ctr" fontAlgn="ctr"/>
                      <a:r>
                        <a:rPr lang="zh-CN" altLang="en-US" sz="2400" b="1" u="none" strike="noStrike" dirty="0" smtClean="0"/>
                        <a:t>内容</a:t>
                      </a:r>
                      <a:endParaRPr lang="en-US" sz="2400" b="1" i="0" u="none" strike="noStrike" dirty="0">
                        <a:solidFill>
                          <a:srgbClr val="FF3300"/>
                        </a:solidFill>
                        <a:latin typeface="+mj-lt"/>
                      </a:endParaRPr>
                    </a:p>
                  </a:txBody>
                  <a:tcPr marL="8742" marR="8742" marT="6557" marB="0" anchor="ctr"/>
                </a:tc>
                <a:tc>
                  <a:txBody>
                    <a:bodyPr/>
                    <a:lstStyle/>
                    <a:p>
                      <a:pPr algn="ctr" fontAlgn="ctr"/>
                      <a:r>
                        <a:rPr lang="zh-CN" altLang="en-US" sz="2400" b="1" u="none" strike="noStrike" dirty="0" smtClean="0"/>
                        <a:t>理论学时</a:t>
                      </a:r>
                      <a:endParaRPr lang="en-US" sz="2400" b="1" i="0" u="none" strike="noStrike" dirty="0">
                        <a:solidFill>
                          <a:srgbClr val="FF3300"/>
                        </a:solidFill>
                        <a:latin typeface="+mj-lt"/>
                      </a:endParaRPr>
                    </a:p>
                  </a:txBody>
                  <a:tcPr marL="8742" marR="8742" marT="6557" marB="0" anchor="ctr"/>
                </a:tc>
                <a:tc>
                  <a:txBody>
                    <a:bodyPr/>
                    <a:lstStyle/>
                    <a:p>
                      <a:pPr algn="ctr" fontAlgn="ctr"/>
                      <a:r>
                        <a:rPr lang="zh-CN" altLang="en-US" sz="2400" b="1" u="none" strike="noStrike" dirty="0" smtClean="0"/>
                        <a:t>实践学时</a:t>
                      </a:r>
                      <a:endParaRPr lang="en-US" sz="2400" b="1" i="0" u="none" strike="noStrike" dirty="0">
                        <a:solidFill>
                          <a:srgbClr val="FF3300"/>
                        </a:solidFill>
                        <a:latin typeface="+mj-lt"/>
                      </a:endParaRPr>
                    </a:p>
                  </a:txBody>
                  <a:tcPr marL="8742" marR="8742" marT="6557" marB="0" anchor="ctr"/>
                </a:tc>
                <a:extLst>
                  <a:ext uri="{0D108BD9-81ED-4DB2-BD59-A6C34878D82A}">
                    <a16:rowId xmlns:a16="http://schemas.microsoft.com/office/drawing/2014/main" val="10000"/>
                  </a:ext>
                </a:extLst>
              </a:tr>
              <a:tr h="7935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u="none" strike="noStrike" kern="1200" dirty="0" smtClean="0">
                          <a:solidFill>
                            <a:srgbClr val="C00000"/>
                          </a:solidFill>
                          <a:latin typeface="+mn-lt"/>
                          <a:ea typeface="+mn-ea"/>
                          <a:cs typeface="+mn-cs"/>
                        </a:rPr>
                        <a:t>处理机调度</a:t>
                      </a:r>
                      <a:endParaRPr lang="en-US" altLang="zh-CN" sz="2000" b="1" u="none" strike="noStrike" kern="1200" dirty="0" smtClean="0">
                        <a:solidFill>
                          <a:srgbClr val="C00000"/>
                        </a:solidFill>
                        <a:latin typeface="+mn-lt"/>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b="1" u="none" strike="noStrike" kern="1200" dirty="0" smtClean="0">
                          <a:solidFill>
                            <a:srgbClr val="C00000"/>
                          </a:solidFill>
                          <a:latin typeface="+mn-lt"/>
                          <a:ea typeface="+mn-ea"/>
                          <a:cs typeface="+mn-cs"/>
                        </a:rPr>
                        <a:t>+</a:t>
                      </a:r>
                      <a:r>
                        <a:rPr lang="zh-CN" altLang="en-US" sz="2000" b="1" u="none" strike="noStrike" kern="1200" dirty="0" smtClean="0">
                          <a:solidFill>
                            <a:srgbClr val="C00000"/>
                          </a:solidFill>
                          <a:latin typeface="+mn-lt"/>
                          <a:ea typeface="+mn-ea"/>
                          <a:cs typeface="+mn-cs"/>
                        </a:rPr>
                        <a:t>课堂测试</a:t>
                      </a:r>
                      <a:endParaRPr lang="zh-CN" altLang="en-US" sz="2000" b="1" u="none" strike="noStrike" kern="1200" dirty="0">
                        <a:solidFill>
                          <a:srgbClr val="C00000"/>
                        </a:solidFill>
                        <a:latin typeface="+mn-lt"/>
                        <a:ea typeface="+mn-ea"/>
                        <a:cs typeface="+mn-cs"/>
                      </a:endParaRPr>
                    </a:p>
                  </a:txBody>
                  <a:tcPr marL="8742" marR="8742" marT="6557" marB="0" anchor="ctr"/>
                </a:tc>
                <a:tc>
                  <a:txBody>
                    <a:bodyPr/>
                    <a:lstStyle/>
                    <a:p>
                      <a:pPr marL="0" algn="ctr" defTabSz="914400" rtl="0" eaLnBrk="1" fontAlgn="ctr" latinLnBrk="0" hangingPunct="1"/>
                      <a:r>
                        <a:rPr lang="en-US" altLang="zh-CN" sz="2000" u="none" strike="noStrike" kern="1200" dirty="0" smtClean="0">
                          <a:solidFill>
                            <a:schemeClr val="dk1"/>
                          </a:solidFill>
                          <a:latin typeface="+mn-lt"/>
                          <a:ea typeface="+mn-ea"/>
                          <a:cs typeface="+mn-cs"/>
                        </a:rPr>
                        <a:t>9</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2000" u="none" strike="noStrike" kern="1200" dirty="0" smtClean="0">
                          <a:solidFill>
                            <a:schemeClr val="dk1"/>
                          </a:solidFill>
                          <a:latin typeface="+mn-lt"/>
                          <a:ea typeface="+mn-ea"/>
                          <a:cs typeface="+mn-cs"/>
                        </a:rPr>
                        <a:t>实验</a:t>
                      </a:r>
                      <a:r>
                        <a:rPr lang="en-US" altLang="zh-CN" sz="2000" u="none" strike="noStrike" kern="1200" dirty="0" smtClean="0">
                          <a:solidFill>
                            <a:schemeClr val="dk1"/>
                          </a:solidFill>
                          <a:latin typeface="+mn-lt"/>
                          <a:ea typeface="+mn-ea"/>
                          <a:cs typeface="+mn-cs"/>
                        </a:rPr>
                        <a:t>6</a:t>
                      </a:r>
                      <a:r>
                        <a:rPr lang="zh-CN" altLang="en-US" sz="2000" u="none" strike="noStrike" kern="1200" dirty="0" smtClean="0">
                          <a:solidFill>
                            <a:schemeClr val="dk1"/>
                          </a:solidFill>
                          <a:latin typeface="+mn-lt"/>
                          <a:ea typeface="+mn-ea"/>
                          <a:cs typeface="+mn-cs"/>
                        </a:rPr>
                        <a:t>：</a:t>
                      </a:r>
                      <a:r>
                        <a:rPr lang="zh-CN" altLang="en-US" sz="1800" b="0" i="0" kern="1200" dirty="0" smtClean="0">
                          <a:solidFill>
                            <a:schemeClr val="dk1"/>
                          </a:solidFill>
                          <a:effectLst/>
                          <a:latin typeface="+mn-lt"/>
                          <a:ea typeface="+mn-ea"/>
                          <a:cs typeface="+mn-cs"/>
                        </a:rPr>
                        <a:t>信号量的实现和应用；</a:t>
                      </a:r>
                      <a:r>
                        <a:rPr lang="zh-CN" altLang="en-US" sz="2000" b="0" i="0" u="none" strike="noStrike" kern="1200" dirty="0" smtClean="0">
                          <a:solidFill>
                            <a:schemeClr val="dk1"/>
                          </a:solidFill>
                          <a:effectLst/>
                          <a:latin typeface="+mn-lt"/>
                          <a:ea typeface="+mn-ea"/>
                          <a:cs typeface="+mn-cs"/>
                        </a:rPr>
                        <a:t>各种</a:t>
                      </a:r>
                      <a:r>
                        <a:rPr lang="zh-CN" altLang="zh-CN" sz="1800" kern="1200" dirty="0" smtClean="0">
                          <a:solidFill>
                            <a:schemeClr val="dk1"/>
                          </a:solidFill>
                          <a:effectLst/>
                          <a:latin typeface="+mn-lt"/>
                          <a:ea typeface="+mn-ea"/>
                          <a:cs typeface="+mn-cs"/>
                        </a:rPr>
                        <a:t>进程调度算法实现用不同算法</a:t>
                      </a:r>
                      <a:r>
                        <a:rPr lang="en-US" altLang="zh-CN" sz="1800" kern="1200" dirty="0" smtClean="0">
                          <a:solidFill>
                            <a:schemeClr val="dk1"/>
                          </a:solidFill>
                          <a:effectLst/>
                          <a:latin typeface="+mn-lt"/>
                          <a:ea typeface="+mn-ea"/>
                          <a:cs typeface="+mn-cs"/>
                        </a:rPr>
                        <a:t>---</a:t>
                      </a:r>
                      <a:r>
                        <a:rPr lang="zh-CN" altLang="zh-CN" sz="1800" kern="1200" dirty="0" smtClean="0">
                          <a:solidFill>
                            <a:schemeClr val="dk1"/>
                          </a:solidFill>
                          <a:effectLst/>
                          <a:latin typeface="+mn-lt"/>
                          <a:ea typeface="+mn-ea"/>
                          <a:cs typeface="+mn-cs"/>
                        </a:rPr>
                        <a:t>先来先服务，短作业优先，高响应比优先调度算法，时间片轮转算法</a:t>
                      </a:r>
                      <a:r>
                        <a:rPr lang="en-US" altLang="zh-CN" sz="1800" kern="1200" dirty="0" smtClean="0">
                          <a:solidFill>
                            <a:schemeClr val="dk1"/>
                          </a:solidFill>
                          <a:effectLst/>
                          <a:latin typeface="+mn-lt"/>
                          <a:ea typeface="+mn-ea"/>
                          <a:cs typeface="+mn-cs"/>
                        </a:rPr>
                        <a:t>---</a:t>
                      </a:r>
                      <a:r>
                        <a:rPr lang="zh-CN" altLang="zh-CN" sz="1800" kern="1200" dirty="0" smtClean="0">
                          <a:solidFill>
                            <a:schemeClr val="dk1"/>
                          </a:solidFill>
                          <a:effectLst/>
                          <a:latin typeface="+mn-lt"/>
                          <a:ea typeface="+mn-ea"/>
                          <a:cs typeface="+mn-cs"/>
                        </a:rPr>
                        <a:t>进行进程调度</a:t>
                      </a:r>
                      <a:endParaRPr lang="en-US" sz="2000" u="none" strike="noStrike" kern="1200" dirty="0">
                        <a:solidFill>
                          <a:schemeClr val="dk1"/>
                        </a:solidFill>
                        <a:latin typeface="+mn-lt"/>
                        <a:ea typeface="+mn-ea"/>
                        <a:cs typeface="+mn-cs"/>
                      </a:endParaRPr>
                    </a:p>
                  </a:txBody>
                  <a:tcPr marL="8742" marR="8742" marT="6557" marB="0" anchor="ctr"/>
                </a:tc>
                <a:extLst>
                  <a:ext uri="{0D108BD9-81ED-4DB2-BD59-A6C34878D82A}">
                    <a16:rowId xmlns:a16="http://schemas.microsoft.com/office/drawing/2014/main" val="10001"/>
                  </a:ext>
                </a:extLst>
              </a:tr>
              <a:tr h="8707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u="none" strike="noStrike" dirty="0" smtClean="0">
                          <a:solidFill>
                            <a:srgbClr val="C00000"/>
                          </a:solidFill>
                        </a:rPr>
                        <a:t>存储管理</a:t>
                      </a: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altLang="zh-CN" sz="2000" b="1" i="0" u="none" strike="noStrike" kern="1200" dirty="0" smtClean="0">
                        <a:solidFill>
                          <a:srgbClr val="C00000"/>
                        </a:solidFill>
                        <a:latin typeface="+mn-lt"/>
                        <a:ea typeface="+mn-ea"/>
                        <a:cs typeface="+mn-cs"/>
                      </a:endParaRPr>
                    </a:p>
                  </a:txBody>
                  <a:tcPr marL="8742" marR="8742" marT="6557" marB="0" anchor="ctr"/>
                </a:tc>
                <a:tc>
                  <a:txBody>
                    <a:bodyPr/>
                    <a:lstStyle/>
                    <a:p>
                      <a:pPr algn="ctr" fontAlgn="ctr"/>
                      <a:r>
                        <a:rPr lang="en-US" altLang="zh-CN" sz="2000" u="none" strike="noStrike" dirty="0" smtClean="0"/>
                        <a:t>8</a:t>
                      </a:r>
                      <a:endParaRPr lang="en-US" sz="2000" b="1" i="0" u="none" strike="noStrike" dirty="0">
                        <a:solidFill>
                          <a:srgbClr val="000000"/>
                        </a:solidFill>
                        <a:latin typeface="+mj-lt"/>
                      </a:endParaRPr>
                    </a:p>
                  </a:txBody>
                  <a:tcPr marL="8742" marR="8742" marT="6557" marB="0" anchor="ctr"/>
                </a:tc>
                <a:tc>
                  <a:txBody>
                    <a:bodyPr/>
                    <a:lstStyle/>
                    <a:p>
                      <a:pPr marL="0" algn="ctr"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7</a:t>
                      </a:r>
                      <a:r>
                        <a:rPr lang="zh-CN" altLang="en-US" sz="1800" u="none" strike="noStrike" kern="1200" dirty="0" smtClean="0">
                          <a:solidFill>
                            <a:schemeClr val="dk1"/>
                          </a:solidFill>
                          <a:effectLst/>
                          <a:latin typeface="+mn-lt"/>
                          <a:ea typeface="+mn-ea"/>
                          <a:cs typeface="+mn-cs"/>
                        </a:rPr>
                        <a:t>：</a:t>
                      </a:r>
                      <a:r>
                        <a:rPr lang="zh-CN" altLang="en-US" sz="1800" b="0" i="0" u="none" strike="noStrike" kern="1200" baseline="0" dirty="0" smtClean="0">
                          <a:solidFill>
                            <a:schemeClr val="dk1"/>
                          </a:solidFill>
                          <a:latin typeface="+mn-lt"/>
                          <a:ea typeface="+mn-ea"/>
                          <a:cs typeface="+mn-cs"/>
                        </a:rPr>
                        <a:t>请求页式存储管理中常用页面置换算法模拟</a:t>
                      </a:r>
                      <a:endParaRPr lang="en-US" altLang="zh-CN" sz="1800" u="none" strike="noStrike" kern="1200" dirty="0" smtClean="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3603509279"/>
                  </a:ext>
                </a:extLst>
              </a:tr>
              <a:tr h="52696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i="0" u="none" strike="noStrike" dirty="0" smtClean="0">
                          <a:solidFill>
                            <a:srgbClr val="C00000"/>
                          </a:solidFill>
                          <a:latin typeface="+mn-lt"/>
                        </a:rPr>
                        <a:t>文件系统</a:t>
                      </a: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altLang="zh-CN" sz="2000" b="1" i="0" u="none" strike="noStrike" kern="1200" dirty="0" smtClean="0">
                        <a:solidFill>
                          <a:srgbClr val="C00000"/>
                        </a:solidFill>
                        <a:latin typeface="+mn-lt"/>
                        <a:ea typeface="+mn-ea"/>
                        <a:cs typeface="+mn-cs"/>
                      </a:endParaRPr>
                    </a:p>
                  </a:txBody>
                  <a:tcPr marL="8742" marR="8742" marT="6557" marB="0" anchor="ctr"/>
                </a:tc>
                <a:tc>
                  <a:txBody>
                    <a:bodyPr/>
                    <a:lstStyle/>
                    <a:p>
                      <a:pPr marL="0" algn="ctr" defTabSz="914400" rtl="0" eaLnBrk="1" fontAlgn="ctr" latinLnBrk="0" hangingPunct="1"/>
                      <a:r>
                        <a:rPr lang="en-US" altLang="zh-CN" sz="2000" u="none" strike="noStrike" kern="1200" dirty="0" smtClean="0">
                          <a:solidFill>
                            <a:schemeClr val="dk1"/>
                          </a:solidFill>
                          <a:latin typeface="+mn-lt"/>
                          <a:ea typeface="+mn-ea"/>
                          <a:cs typeface="+mn-cs"/>
                        </a:rPr>
                        <a:t>6</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algn="ctr"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8</a:t>
                      </a:r>
                      <a:r>
                        <a:rPr lang="zh-CN" altLang="en-US" sz="1800" u="none" strike="noStrike" kern="1200" dirty="0" smtClean="0">
                          <a:solidFill>
                            <a:schemeClr val="dk1"/>
                          </a:solidFill>
                          <a:effectLst/>
                          <a:latin typeface="+mn-lt"/>
                          <a:ea typeface="+mn-ea"/>
                          <a:cs typeface="+mn-cs"/>
                        </a:rPr>
                        <a:t>：</a:t>
                      </a:r>
                      <a:r>
                        <a:rPr lang="en-US" altLang="zh-CN" sz="1800" u="none" strike="noStrike" kern="1200" dirty="0" err="1" smtClean="0">
                          <a:solidFill>
                            <a:schemeClr val="dk1"/>
                          </a:solidFill>
                          <a:effectLst/>
                          <a:latin typeface="+mn-lt"/>
                          <a:ea typeface="+mn-ea"/>
                          <a:cs typeface="+mn-cs"/>
                        </a:rPr>
                        <a:t>proc</a:t>
                      </a:r>
                      <a:r>
                        <a:rPr lang="zh-CN" altLang="en-US" sz="1800" u="none" strike="noStrike" kern="1200" dirty="0" smtClean="0">
                          <a:solidFill>
                            <a:schemeClr val="dk1"/>
                          </a:solidFill>
                          <a:effectLst/>
                          <a:latin typeface="+mn-lt"/>
                          <a:ea typeface="+mn-ea"/>
                          <a:cs typeface="+mn-cs"/>
                        </a:rPr>
                        <a:t>文件系统的实现</a:t>
                      </a:r>
                      <a:endParaRPr lang="en-US" sz="1800" u="none" strike="noStrike" kern="1200" dirty="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10003"/>
                  </a:ext>
                </a:extLst>
              </a:tr>
              <a:tr h="75445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u="none" strike="noStrike" dirty="0" smtClean="0">
                          <a:solidFill>
                            <a:srgbClr val="C00000"/>
                          </a:solidFill>
                        </a:rPr>
                        <a:t>设备管理</a:t>
                      </a:r>
                      <a:r>
                        <a:rPr lang="en-US" altLang="zh-CN" sz="2000" b="1" u="none" strike="noStrike" dirty="0" smtClean="0">
                          <a:solidFill>
                            <a:srgbClr val="C00000"/>
                          </a:solidFill>
                        </a:rPr>
                        <a:t>+</a:t>
                      </a:r>
                      <a:r>
                        <a:rPr lang="zh-CN" altLang="en-US" sz="2000" b="1" u="none" strike="noStrike" dirty="0" smtClean="0">
                          <a:solidFill>
                            <a:srgbClr val="C00000"/>
                          </a:solidFill>
                        </a:rPr>
                        <a:t>课堂测试</a:t>
                      </a:r>
                      <a:endParaRPr lang="en-US" altLang="zh-CN" sz="2000" b="1" i="0" u="none" strike="noStrike" kern="1200" dirty="0" smtClean="0">
                        <a:solidFill>
                          <a:srgbClr val="C00000"/>
                        </a:solidFill>
                        <a:latin typeface="+mn-lt"/>
                        <a:ea typeface="+mn-ea"/>
                        <a:cs typeface="+mn-cs"/>
                      </a:endParaRPr>
                    </a:p>
                  </a:txBody>
                  <a:tcPr marL="8742" marR="8742" marT="6557" marB="0" anchor="ctr"/>
                </a:tc>
                <a:tc>
                  <a:txBody>
                    <a:bodyPr/>
                    <a:lstStyle/>
                    <a:p>
                      <a:pPr marL="0" algn="ctr" defTabSz="914400" rtl="0" eaLnBrk="1" fontAlgn="ctr" latinLnBrk="0" hangingPunct="1"/>
                      <a:r>
                        <a:rPr lang="en-US" altLang="zh-CN" sz="2000" u="none" strike="noStrike" kern="1200" dirty="0" smtClean="0">
                          <a:solidFill>
                            <a:schemeClr val="dk1"/>
                          </a:solidFill>
                          <a:latin typeface="+mn-lt"/>
                          <a:ea typeface="+mn-ea"/>
                          <a:cs typeface="+mn-cs"/>
                        </a:rPr>
                        <a:t>6</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algn="ctr" defTabSz="914400" rtl="0" eaLnBrk="1" fontAlgn="ctr" latinLnBrk="0" hangingPunct="1"/>
                      <a:r>
                        <a:rPr lang="zh-CN" altLang="en-US" sz="1800" u="none" strike="noStrike" kern="1200" dirty="0" smtClean="0">
                          <a:solidFill>
                            <a:schemeClr val="dk1"/>
                          </a:solidFill>
                          <a:effectLst/>
                          <a:latin typeface="+mn-lt"/>
                          <a:ea typeface="+mn-ea"/>
                          <a:cs typeface="+mn-cs"/>
                        </a:rPr>
                        <a:t>实验</a:t>
                      </a:r>
                      <a:r>
                        <a:rPr lang="en-US" altLang="zh-CN" sz="1800" u="none" strike="noStrike" kern="1200" dirty="0" smtClean="0">
                          <a:solidFill>
                            <a:schemeClr val="dk1"/>
                          </a:solidFill>
                          <a:effectLst/>
                          <a:latin typeface="+mn-lt"/>
                          <a:ea typeface="+mn-ea"/>
                          <a:cs typeface="+mn-cs"/>
                        </a:rPr>
                        <a:t>9</a:t>
                      </a:r>
                      <a:r>
                        <a:rPr lang="zh-CN" altLang="en-US" sz="1800" u="none" strike="noStrike" kern="1200" dirty="0" smtClean="0">
                          <a:solidFill>
                            <a:schemeClr val="dk1"/>
                          </a:solidFill>
                          <a:effectLst/>
                          <a:latin typeface="+mn-lt"/>
                          <a:ea typeface="+mn-ea"/>
                          <a:cs typeface="+mn-cs"/>
                        </a:rPr>
                        <a:t>：</a:t>
                      </a:r>
                      <a:r>
                        <a:rPr lang="zh-CN" altLang="en-US" sz="1800" b="0" i="0" u="none" strike="noStrike" kern="1200" baseline="0" dirty="0" smtClean="0">
                          <a:solidFill>
                            <a:schemeClr val="dk1"/>
                          </a:solidFill>
                          <a:latin typeface="+mn-lt"/>
                          <a:ea typeface="+mn-ea"/>
                          <a:cs typeface="+mn-cs"/>
                        </a:rPr>
                        <a:t>模拟文件管理系统 </a:t>
                      </a:r>
                      <a:endParaRPr lang="en-US" sz="1800" u="none" strike="noStrike" kern="1200" dirty="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10004"/>
                  </a:ext>
                </a:extLst>
              </a:tr>
              <a:tr h="75445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b="1" u="none" strike="noStrike" kern="1200" dirty="0" smtClean="0">
                          <a:solidFill>
                            <a:srgbClr val="C00000"/>
                          </a:solidFill>
                          <a:latin typeface="+mn-lt"/>
                          <a:ea typeface="+mn-ea"/>
                          <a:cs typeface="+mn-cs"/>
                        </a:rPr>
                        <a:t>虚拟化技术</a:t>
                      </a:r>
                      <a:r>
                        <a:rPr lang="en-US" altLang="zh-CN" sz="2000" b="1" u="none" strike="noStrike" kern="1200" dirty="0" smtClean="0">
                          <a:solidFill>
                            <a:srgbClr val="C00000"/>
                          </a:solidFill>
                          <a:latin typeface="+mn-lt"/>
                          <a:ea typeface="+mn-ea"/>
                          <a:cs typeface="+mn-cs"/>
                        </a:rPr>
                        <a:t>+</a:t>
                      </a:r>
                      <a:r>
                        <a:rPr lang="zh-CN" altLang="en-US" sz="2000" b="1" u="none" strike="noStrike" kern="1200" dirty="0" smtClean="0">
                          <a:solidFill>
                            <a:srgbClr val="C00000"/>
                          </a:solidFill>
                          <a:latin typeface="+mn-lt"/>
                          <a:ea typeface="+mn-ea"/>
                          <a:cs typeface="+mn-cs"/>
                        </a:rPr>
                        <a:t>鸿蒙操作系统相关知识</a:t>
                      </a:r>
                      <a:endParaRPr lang="en-US" altLang="zh-CN" sz="2000" b="1" u="none" strike="noStrike" kern="1200" dirty="0" smtClean="0">
                        <a:solidFill>
                          <a:srgbClr val="C00000"/>
                        </a:solidFill>
                        <a:latin typeface="+mn-lt"/>
                        <a:ea typeface="+mn-ea"/>
                        <a:cs typeface="+mn-cs"/>
                      </a:endParaRPr>
                    </a:p>
                  </a:txBody>
                  <a:tcPr marL="8742" marR="8742" marT="6557" marB="0" anchor="ctr"/>
                </a:tc>
                <a:tc>
                  <a:txBody>
                    <a:bodyPr/>
                    <a:lstStyle/>
                    <a:p>
                      <a:pPr marL="0" algn="ctr" defTabSz="914400" rtl="0" eaLnBrk="1" fontAlgn="ctr" latinLnBrk="0" hangingPunct="1"/>
                      <a:r>
                        <a:rPr lang="en-US" sz="2000" u="none" strike="noStrike" kern="1200" dirty="0" smtClean="0">
                          <a:solidFill>
                            <a:schemeClr val="dk1"/>
                          </a:solidFill>
                          <a:latin typeface="+mn-lt"/>
                          <a:ea typeface="+mn-ea"/>
                          <a:cs typeface="+mn-cs"/>
                        </a:rPr>
                        <a:t>2</a:t>
                      </a:r>
                      <a:endParaRPr lang="en-US" sz="2000" u="none" strike="noStrike" kern="1200" dirty="0">
                        <a:solidFill>
                          <a:schemeClr val="dk1"/>
                        </a:solidFill>
                        <a:latin typeface="+mn-lt"/>
                        <a:ea typeface="+mn-ea"/>
                        <a:cs typeface="+mn-cs"/>
                      </a:endParaRPr>
                    </a:p>
                  </a:txBody>
                  <a:tcPr marL="8742" marR="8742" marT="6557" marB="0" anchor="ctr"/>
                </a:tc>
                <a:tc>
                  <a:txBody>
                    <a:bodyPr/>
                    <a:lstStyle/>
                    <a:p>
                      <a:pPr marL="0" algn="ctr" defTabSz="914400" rtl="0" eaLnBrk="1" fontAlgn="ctr" latinLnBrk="0" hangingPunct="1"/>
                      <a:endParaRPr lang="en-US" sz="1800" u="none" strike="noStrike" kern="1200" dirty="0">
                        <a:solidFill>
                          <a:schemeClr val="dk1"/>
                        </a:solidFill>
                        <a:effectLst/>
                        <a:latin typeface="+mn-lt"/>
                        <a:ea typeface="+mn-ea"/>
                        <a:cs typeface="+mn-cs"/>
                      </a:endParaRPr>
                    </a:p>
                  </a:txBody>
                  <a:tcPr marL="8742" marR="8742" marT="6557" marB="0" anchor="ctr"/>
                </a:tc>
                <a:extLst>
                  <a:ext uri="{0D108BD9-81ED-4DB2-BD59-A6C34878D82A}">
                    <a16:rowId xmlns:a16="http://schemas.microsoft.com/office/drawing/2014/main" val="3603976094"/>
                  </a:ext>
                </a:extLst>
              </a:tr>
            </a:tbl>
          </a:graphicData>
        </a:graphic>
      </p:graphicFrame>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实验课</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7056784" cy="1015663"/>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a:t>
            </a:r>
            <a:r>
              <a:rPr lang="en-US" altLang="zh-CN" sz="2000" b="1" dirty="0" smtClean="0">
                <a:solidFill>
                  <a:schemeClr val="bg1"/>
                </a:solidFill>
                <a:latin typeface="+mn-ea"/>
              </a:rPr>
              <a:t>1</a:t>
            </a:r>
            <a:r>
              <a:rPr lang="zh-CN" altLang="en-US" sz="2000" b="1" dirty="0" smtClean="0">
                <a:solidFill>
                  <a:schemeClr val="bg1"/>
                </a:solidFill>
                <a:latin typeface="+mn-ea"/>
              </a:rPr>
              <a:t>）利用</a:t>
            </a:r>
            <a:r>
              <a:rPr lang="zh-CN" altLang="en-US" sz="2000" b="1" dirty="0">
                <a:solidFill>
                  <a:schemeClr val="bg1"/>
                </a:solidFill>
                <a:latin typeface="+mn-ea"/>
              </a:rPr>
              <a:t>实验楼提供的虚拟机来作为实验</a:t>
            </a:r>
            <a:r>
              <a:rPr lang="zh-CN" altLang="en-US" sz="2000" b="1" dirty="0" smtClean="0">
                <a:solidFill>
                  <a:schemeClr val="bg1"/>
                </a:solidFill>
                <a:latin typeface="+mn-ea"/>
              </a:rPr>
              <a:t>环境</a:t>
            </a:r>
            <a:r>
              <a:rPr lang="en-US" altLang="zh-CN" sz="2000" b="1" dirty="0">
                <a:solidFill>
                  <a:schemeClr val="bg1"/>
                </a:solidFill>
                <a:latin typeface="+mn-ea"/>
              </a:rPr>
              <a:t>https://www.lanqiao.cn/courses/115</a:t>
            </a:r>
            <a:endParaRPr lang="zh-CN" altLang="en-US" sz="2000" b="1" dirty="0">
              <a:solidFill>
                <a:schemeClr val="bg1"/>
              </a:solidFill>
              <a:latin typeface="+mn-ea"/>
            </a:endParaRPr>
          </a:p>
        </p:txBody>
      </p:sp>
      <p:pic>
        <p:nvPicPr>
          <p:cNvPr id="3" name="图片 2"/>
          <p:cNvPicPr>
            <a:picLocks noChangeAspect="1"/>
          </p:cNvPicPr>
          <p:nvPr/>
        </p:nvPicPr>
        <p:blipFill>
          <a:blip r:embed="rId2"/>
          <a:stretch>
            <a:fillRect/>
          </a:stretch>
        </p:blipFill>
        <p:spPr>
          <a:xfrm>
            <a:off x="551882" y="495096"/>
            <a:ext cx="8168930" cy="4554025"/>
          </a:xfrm>
          <a:prstGeom prst="rect">
            <a:avLst/>
          </a:prstGeom>
        </p:spPr>
      </p:pic>
      <p:pic>
        <p:nvPicPr>
          <p:cNvPr id="4" name="图片 3"/>
          <p:cNvPicPr>
            <a:picLocks noChangeAspect="1"/>
          </p:cNvPicPr>
          <p:nvPr/>
        </p:nvPicPr>
        <p:blipFill>
          <a:blip r:embed="rId3"/>
          <a:stretch>
            <a:fillRect/>
          </a:stretch>
        </p:blipFill>
        <p:spPr>
          <a:xfrm>
            <a:off x="3779912" y="895782"/>
            <a:ext cx="4664476" cy="3888822"/>
          </a:xfrm>
          <a:prstGeom prst="rect">
            <a:avLst/>
          </a:prstGeom>
        </p:spPr>
      </p:pic>
    </p:spTree>
    <p:extLst>
      <p:ext uri="{BB962C8B-B14F-4D97-AF65-F5344CB8AC3E}">
        <p14:creationId xmlns:p14="http://schemas.microsoft.com/office/powerpoint/2010/main" val="596120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实验课</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851670"/>
            <a:ext cx="7056784" cy="1477328"/>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a:t>
            </a:r>
            <a:r>
              <a:rPr lang="en-US" altLang="zh-CN" sz="2000" b="1" dirty="0">
                <a:solidFill>
                  <a:schemeClr val="bg1"/>
                </a:solidFill>
                <a:latin typeface="+mn-ea"/>
              </a:rPr>
              <a:t>2</a:t>
            </a:r>
            <a:r>
              <a:rPr lang="zh-CN" altLang="en-US" sz="2000" b="1" dirty="0">
                <a:solidFill>
                  <a:schemeClr val="bg1"/>
                </a:solidFill>
                <a:latin typeface="+mn-ea"/>
              </a:rPr>
              <a:t>）也可以自己下载实验环境包，在自己的机器上</a:t>
            </a:r>
            <a:r>
              <a:rPr lang="zh-CN" altLang="en-US" sz="2000" b="1" dirty="0" smtClean="0">
                <a:solidFill>
                  <a:schemeClr val="bg1"/>
                </a:solidFill>
                <a:latin typeface="+mn-ea"/>
              </a:rPr>
              <a:t>搭建</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pPr>
            <a:r>
              <a:rPr lang="zh-CN" altLang="en-US" sz="2000" b="1" dirty="0">
                <a:solidFill>
                  <a:schemeClr val="bg1"/>
                </a:solidFill>
                <a:latin typeface="+mn-ea"/>
              </a:rPr>
              <a:t>链接</a:t>
            </a:r>
            <a:r>
              <a:rPr lang="en-US" altLang="zh-CN" sz="2000" b="1" dirty="0">
                <a:solidFill>
                  <a:schemeClr val="bg1"/>
                </a:solidFill>
                <a:latin typeface="+mn-ea"/>
              </a:rPr>
              <a:t>: https://pan.baidu.com/s/1rP0Bc1_DUVCL-7_g_YJHeQ </a:t>
            </a:r>
            <a:r>
              <a:rPr lang="zh-CN" altLang="en-US" sz="2000" b="1" dirty="0">
                <a:solidFill>
                  <a:schemeClr val="bg1"/>
                </a:solidFill>
                <a:latin typeface="+mn-ea"/>
              </a:rPr>
              <a:t>提取码</a:t>
            </a:r>
            <a:r>
              <a:rPr lang="en-US" altLang="zh-CN" sz="2000" b="1" dirty="0">
                <a:solidFill>
                  <a:schemeClr val="bg1"/>
                </a:solidFill>
                <a:latin typeface="+mn-ea"/>
              </a:rPr>
              <a:t>: u3nb </a:t>
            </a:r>
          </a:p>
        </p:txBody>
      </p:sp>
      <p:pic>
        <p:nvPicPr>
          <p:cNvPr id="4" name="图片 3"/>
          <p:cNvPicPr>
            <a:picLocks noChangeAspect="1"/>
          </p:cNvPicPr>
          <p:nvPr/>
        </p:nvPicPr>
        <p:blipFill>
          <a:blip r:embed="rId2"/>
          <a:stretch>
            <a:fillRect/>
          </a:stretch>
        </p:blipFill>
        <p:spPr>
          <a:xfrm>
            <a:off x="4316440" y="-41955"/>
            <a:ext cx="4069433" cy="3284505"/>
          </a:xfrm>
          <a:prstGeom prst="rect">
            <a:avLst/>
          </a:prstGeom>
        </p:spPr>
      </p:pic>
      <p:pic>
        <p:nvPicPr>
          <p:cNvPr id="3" name="图片 2"/>
          <p:cNvPicPr>
            <a:picLocks noChangeAspect="1"/>
          </p:cNvPicPr>
          <p:nvPr/>
        </p:nvPicPr>
        <p:blipFill>
          <a:blip r:embed="rId3"/>
          <a:stretch>
            <a:fillRect/>
          </a:stretch>
        </p:blipFill>
        <p:spPr>
          <a:xfrm>
            <a:off x="537496" y="3147814"/>
            <a:ext cx="5952356" cy="1857510"/>
          </a:xfrm>
          <a:prstGeom prst="rect">
            <a:avLst/>
          </a:prstGeom>
        </p:spPr>
      </p:pic>
    </p:spTree>
    <p:extLst>
      <p:ext uri="{BB962C8B-B14F-4D97-AF65-F5344CB8AC3E}">
        <p14:creationId xmlns:p14="http://schemas.microsoft.com/office/powerpoint/2010/main" val="338913054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600" y="1275606"/>
            <a:ext cx="6624736" cy="2893100"/>
          </a:xfrm>
          <a:prstGeom prst="rect">
            <a:avLst/>
          </a:prstGeom>
        </p:spPr>
        <p:txBody>
          <a:bodyPr wrap="square">
            <a:spAutoFit/>
          </a:bodyPr>
          <a:lstStyle/>
          <a:p>
            <a:pPr marL="0" lvl="1" indent="-285750">
              <a:lnSpc>
                <a:spcPct val="130000"/>
              </a:lnSpc>
              <a:buClr>
                <a:schemeClr val="accent2">
                  <a:lumMod val="60000"/>
                  <a:lumOff val="40000"/>
                </a:schemeClr>
              </a:buClr>
              <a:buFont typeface="Wingdings" pitchFamily="2" charset="2"/>
              <a:buChar char="Ø"/>
              <a:defRPr/>
            </a:pPr>
            <a:r>
              <a:rPr lang="en-US" altLang="zh-CN" sz="2000" b="1" dirty="0" smtClean="0">
                <a:solidFill>
                  <a:srgbClr val="FFFF00"/>
                </a:solidFill>
                <a:latin typeface="宋体" pitchFamily="2" charset="-122"/>
              </a:rPr>
              <a:t>B</a:t>
            </a:r>
            <a:r>
              <a:rPr lang="zh-CN" altLang="en-US" sz="2000" b="1" dirty="0" smtClean="0">
                <a:solidFill>
                  <a:srgbClr val="FFFF00"/>
                </a:solidFill>
                <a:latin typeface="宋体" pitchFamily="2" charset="-122"/>
              </a:rPr>
              <a:t>站：</a:t>
            </a:r>
            <a:r>
              <a:rPr lang="zh-CN" altLang="en-US" sz="2000" b="1" dirty="0">
                <a:solidFill>
                  <a:srgbClr val="FFFF00"/>
                </a:solidFill>
                <a:latin typeface="宋体" pitchFamily="2" charset="-122"/>
              </a:rPr>
              <a:t>操作系统哈尔滨工业大学李治军老师</a:t>
            </a:r>
          </a:p>
          <a:p>
            <a:pPr marL="0" lvl="1" indent="-285750">
              <a:lnSpc>
                <a:spcPct val="130000"/>
              </a:lnSpc>
              <a:buClr>
                <a:schemeClr val="accent2">
                  <a:lumMod val="60000"/>
                  <a:lumOff val="40000"/>
                </a:schemeClr>
              </a:buClr>
              <a:buFont typeface="Wingdings" pitchFamily="2" charset="2"/>
              <a:buChar char="Ø"/>
              <a:defRPr/>
            </a:pPr>
            <a:r>
              <a:rPr lang="zh-CN" altLang="en-US" sz="2000" b="1" dirty="0">
                <a:solidFill>
                  <a:schemeClr val="bg1"/>
                </a:solidFill>
                <a:latin typeface="宋体" pitchFamily="2" charset="-122"/>
              </a:rPr>
              <a:t>该</a:t>
            </a:r>
            <a:r>
              <a:rPr lang="zh-CN" altLang="en-US" sz="2000" b="1" dirty="0" smtClean="0">
                <a:solidFill>
                  <a:schemeClr val="bg1"/>
                </a:solidFill>
                <a:latin typeface="宋体" pitchFamily="2" charset="-122"/>
              </a:rPr>
              <a:t>部分内容作为实验部分的重要补充，要求同学们必须课下认真观看并掌握</a:t>
            </a:r>
            <a:r>
              <a:rPr lang="zh-CN" altLang="en-US" sz="2000" b="1" dirty="0" smtClean="0">
                <a:solidFill>
                  <a:srgbClr val="FFFF00"/>
                </a:solidFill>
                <a:latin typeface="宋体" pitchFamily="2" charset="-122"/>
              </a:rPr>
              <a:t>（我会在每章学习之后给大家布置需要观看的内容）</a:t>
            </a:r>
            <a:r>
              <a:rPr lang="zh-CN" altLang="en-US" sz="2000" b="1" dirty="0" smtClean="0">
                <a:solidFill>
                  <a:schemeClr val="bg1"/>
                </a:solidFill>
                <a:latin typeface="宋体" pitchFamily="2" charset="-122"/>
              </a:rPr>
              <a:t>，在此基础之上，才能掌握完成实验的前期储备知识。</a:t>
            </a:r>
            <a:endParaRPr lang="en-US" altLang="zh-CN" sz="2000" b="1" dirty="0" smtClean="0">
              <a:solidFill>
                <a:schemeClr val="bg1"/>
              </a:solidFill>
              <a:latin typeface="宋体" pitchFamily="2" charset="-122"/>
            </a:endParaRPr>
          </a:p>
          <a:p>
            <a:pPr marL="0" lvl="1" indent="-285750">
              <a:lnSpc>
                <a:spcPct val="130000"/>
              </a:lnSpc>
              <a:buClr>
                <a:schemeClr val="accent2">
                  <a:lumMod val="60000"/>
                  <a:lumOff val="40000"/>
                </a:schemeClr>
              </a:buClr>
              <a:buFont typeface="Wingdings" pitchFamily="2" charset="2"/>
              <a:buChar char="Ø"/>
              <a:defRPr/>
            </a:pPr>
            <a:r>
              <a:rPr lang="zh-CN" altLang="en-US" sz="2000" b="1" dirty="0" smtClean="0">
                <a:solidFill>
                  <a:schemeClr val="bg1"/>
                </a:solidFill>
                <a:latin typeface="宋体" pitchFamily="2" charset="-122"/>
              </a:rPr>
              <a:t>李老师的课我个人非常喜欢，可以帮助我们站</a:t>
            </a:r>
            <a:r>
              <a:rPr lang="zh-CN" altLang="en-US" sz="2000" b="1" dirty="0">
                <a:solidFill>
                  <a:schemeClr val="bg1"/>
                </a:solidFill>
                <a:latin typeface="宋体" pitchFamily="2" charset="-122"/>
              </a:rPr>
              <a:t>在更高的</a:t>
            </a:r>
            <a:r>
              <a:rPr lang="zh-CN" altLang="en-US" sz="2000" b="1" dirty="0" smtClean="0">
                <a:solidFill>
                  <a:schemeClr val="bg1"/>
                </a:solidFill>
                <a:latin typeface="宋体" pitchFamily="2" charset="-122"/>
              </a:rPr>
              <a:t>角度更深层次地认识</a:t>
            </a:r>
            <a:r>
              <a:rPr lang="zh-CN" altLang="en-US" sz="2000" b="1" dirty="0">
                <a:solidFill>
                  <a:schemeClr val="bg1"/>
                </a:solidFill>
                <a:latin typeface="宋体" pitchFamily="2" charset="-122"/>
              </a:rPr>
              <a:t>操作系统</a:t>
            </a:r>
            <a:r>
              <a:rPr lang="zh-CN" altLang="en-US" sz="2000" b="1" dirty="0" smtClean="0">
                <a:solidFill>
                  <a:schemeClr val="bg1"/>
                </a:solidFill>
                <a:latin typeface="宋体" pitchFamily="2" charset="-122"/>
              </a:rPr>
              <a:t>，通过编程掌握操作系统。</a:t>
            </a:r>
            <a:endParaRPr lang="en-US" altLang="zh-CN" sz="2000" b="1" dirty="0">
              <a:solidFill>
                <a:schemeClr val="bg1"/>
              </a:solidFill>
              <a:latin typeface="宋体" pitchFamily="2" charset="-122"/>
            </a:endParaRPr>
          </a:p>
        </p:txBody>
      </p:sp>
      <p:sp>
        <p:nvSpPr>
          <p:cNvPr id="12" name="제목 1"/>
          <p:cNvSpPr txBox="1">
            <a:spLocks/>
          </p:cNvSpPr>
          <p:nvPr/>
        </p:nvSpPr>
        <p:spPr>
          <a:xfrm>
            <a:off x="704800" y="132606"/>
            <a:ext cx="739559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教学资料（实验部分）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网络资源</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3" name="图片 2"/>
          <p:cNvPicPr>
            <a:picLocks noChangeAspect="1"/>
          </p:cNvPicPr>
          <p:nvPr/>
        </p:nvPicPr>
        <p:blipFill>
          <a:blip r:embed="rId3"/>
          <a:stretch>
            <a:fillRect/>
          </a:stretch>
        </p:blipFill>
        <p:spPr>
          <a:xfrm>
            <a:off x="467544" y="915566"/>
            <a:ext cx="7369179" cy="4130398"/>
          </a:xfrm>
          <a:prstGeom prst="rect">
            <a:avLst/>
          </a:prstGeom>
        </p:spPr>
      </p:pic>
    </p:spTree>
    <p:extLst>
      <p:ext uri="{BB962C8B-B14F-4D97-AF65-F5344CB8AC3E}">
        <p14:creationId xmlns:p14="http://schemas.microsoft.com/office/powerpoint/2010/main" val="615091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제목 1"/>
          <p:cNvSpPr txBox="1">
            <a:spLocks/>
          </p:cNvSpPr>
          <p:nvPr/>
        </p:nvSpPr>
        <p:spPr>
          <a:xfrm>
            <a:off x="704800" y="132606"/>
            <a:ext cx="739559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教学资料（理论部分）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网络资源</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2" name="图片 1"/>
          <p:cNvPicPr>
            <a:picLocks noChangeAspect="1"/>
          </p:cNvPicPr>
          <p:nvPr/>
        </p:nvPicPr>
        <p:blipFill>
          <a:blip r:embed="rId3"/>
          <a:stretch>
            <a:fillRect/>
          </a:stretch>
        </p:blipFill>
        <p:spPr>
          <a:xfrm>
            <a:off x="251520" y="987574"/>
            <a:ext cx="8653306" cy="3816424"/>
          </a:xfrm>
          <a:prstGeom prst="rect">
            <a:avLst/>
          </a:prstGeom>
        </p:spPr>
      </p:pic>
    </p:spTree>
    <p:extLst>
      <p:ext uri="{BB962C8B-B14F-4D97-AF65-F5344CB8AC3E}">
        <p14:creationId xmlns:p14="http://schemas.microsoft.com/office/powerpoint/2010/main" val="606173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1043608" y="1279811"/>
            <a:ext cx="7056784" cy="2360007"/>
          </a:xfrm>
          <a:prstGeom prst="rect">
            <a:avLst/>
          </a:prstGeom>
        </p:spPr>
        <p:txBody>
          <a:bodyPr wrap="square" lIns="91441" tIns="45721" rIns="91441" bIns="45721">
            <a:spAutoFit/>
          </a:bodyPr>
          <a:lstStyle/>
          <a:p>
            <a:pPr>
              <a:lnSpc>
                <a:spcPct val="114000"/>
              </a:lnSpc>
              <a:buFont typeface="Wingdings" pitchFamily="2" charset="2"/>
              <a:buChar char="u"/>
            </a:pPr>
            <a:r>
              <a:rPr lang="zh-CN" altLang="en-US" sz="2400" b="1" dirty="0" smtClean="0">
                <a:solidFill>
                  <a:srgbClr val="FFFF00"/>
                </a:solidFill>
                <a:latin typeface="宋体" pitchFamily="2" charset="-122"/>
                <a:ea typeface="宋体" pitchFamily="2" charset="-122"/>
              </a:rPr>
              <a:t>主要参考资料</a:t>
            </a:r>
            <a:r>
              <a:rPr lang="en-US" altLang="ko-KR" sz="2400" b="1" dirty="0" smtClean="0">
                <a:solidFill>
                  <a:srgbClr val="FFFF00"/>
                </a:solidFill>
                <a:latin typeface="宋体" pitchFamily="2" charset="-122"/>
                <a:ea typeface="宋体" pitchFamily="2" charset="-122"/>
              </a:rPr>
              <a:t>:  </a:t>
            </a:r>
          </a:p>
          <a:p>
            <a:pPr lvl="1" indent="-285750">
              <a:lnSpc>
                <a:spcPct val="150000"/>
              </a:lnSpc>
              <a:buClr>
                <a:schemeClr val="bg1"/>
              </a:buClr>
              <a:buFont typeface="Arial" pitchFamily="34" charset="0"/>
              <a:buChar char="•"/>
            </a:pPr>
            <a:r>
              <a:rPr lang="en-US" altLang="zh-CN" sz="2000" b="1" dirty="0">
                <a:solidFill>
                  <a:schemeClr val="bg1"/>
                </a:solidFill>
                <a:latin typeface="宋体" pitchFamily="2" charset="-122"/>
                <a:ea typeface="宋体" pitchFamily="2" charset="-122"/>
              </a:rPr>
              <a:t>《</a:t>
            </a:r>
            <a:r>
              <a:rPr lang="zh-CN" altLang="en-US" sz="2000" b="1" dirty="0" smtClean="0">
                <a:solidFill>
                  <a:schemeClr val="bg1"/>
                </a:solidFill>
                <a:latin typeface="宋体" pitchFamily="2" charset="-122"/>
                <a:ea typeface="宋体" pitchFamily="2" charset="-122"/>
              </a:rPr>
              <a:t>计算机操作系统教程</a:t>
            </a:r>
            <a:r>
              <a:rPr lang="en-US" altLang="zh-CN" sz="2000" b="1" dirty="0" smtClean="0">
                <a:solidFill>
                  <a:schemeClr val="bg1"/>
                </a:solidFill>
                <a:latin typeface="宋体" pitchFamily="2" charset="-122"/>
                <a:ea typeface="宋体" pitchFamily="2" charset="-122"/>
              </a:rPr>
              <a:t>》</a:t>
            </a:r>
            <a:r>
              <a:rPr lang="zh-CN" altLang="en-US" sz="2000" b="1" dirty="0">
                <a:solidFill>
                  <a:schemeClr val="bg1"/>
                </a:solidFill>
                <a:latin typeface="宋体" pitchFamily="2" charset="-122"/>
                <a:ea typeface="宋体" pitchFamily="2" charset="-122"/>
              </a:rPr>
              <a:t>（</a:t>
            </a:r>
            <a:r>
              <a:rPr lang="zh-CN" altLang="en-US" sz="2000" b="1" dirty="0" smtClean="0">
                <a:solidFill>
                  <a:schemeClr val="bg1"/>
                </a:solidFill>
                <a:latin typeface="宋体" pitchFamily="2" charset="-122"/>
                <a:ea typeface="宋体" pitchFamily="2" charset="-122"/>
              </a:rPr>
              <a:t>第</a:t>
            </a:r>
            <a:r>
              <a:rPr lang="en-US" altLang="zh-CN" sz="2000" b="1" dirty="0" smtClean="0">
                <a:solidFill>
                  <a:schemeClr val="bg1"/>
                </a:solidFill>
                <a:latin typeface="宋体" pitchFamily="2" charset="-122"/>
                <a:ea typeface="宋体" pitchFamily="2" charset="-122"/>
              </a:rPr>
              <a:t>5</a:t>
            </a:r>
            <a:r>
              <a:rPr lang="zh-CN" altLang="en-US" sz="2000" b="1" dirty="0" smtClean="0">
                <a:solidFill>
                  <a:schemeClr val="bg1"/>
                </a:solidFill>
                <a:latin typeface="宋体" pitchFamily="2" charset="-122"/>
                <a:ea typeface="宋体" pitchFamily="2" charset="-122"/>
              </a:rPr>
              <a:t>版</a:t>
            </a:r>
            <a:r>
              <a:rPr lang="zh-CN" altLang="en-US" sz="2000" b="1" dirty="0">
                <a:solidFill>
                  <a:schemeClr val="bg1"/>
                </a:solidFill>
                <a:latin typeface="宋体" pitchFamily="2" charset="-122"/>
                <a:ea typeface="宋体" pitchFamily="2" charset="-122"/>
              </a:rPr>
              <a:t>），张尧学，宋虹，张高，清华大学出版社，</a:t>
            </a:r>
            <a:r>
              <a:rPr lang="en-US" altLang="zh-CN" sz="2000" b="1" dirty="0" smtClean="0">
                <a:solidFill>
                  <a:schemeClr val="bg1"/>
                </a:solidFill>
                <a:latin typeface="宋体" pitchFamily="2" charset="-122"/>
                <a:ea typeface="宋体" pitchFamily="2" charset="-122"/>
              </a:rPr>
              <a:t>2023</a:t>
            </a:r>
            <a:r>
              <a:rPr lang="zh-CN" altLang="en-US" sz="2000" b="1" dirty="0" smtClean="0">
                <a:solidFill>
                  <a:schemeClr val="bg1"/>
                </a:solidFill>
                <a:latin typeface="宋体" pitchFamily="2" charset="-122"/>
                <a:ea typeface="宋体" pitchFamily="2" charset="-122"/>
              </a:rPr>
              <a:t>年。</a:t>
            </a:r>
            <a:endParaRPr lang="zh-CN" altLang="en-US" sz="2000" b="1" dirty="0">
              <a:solidFill>
                <a:schemeClr val="bg1"/>
              </a:solidFill>
              <a:latin typeface="宋体" pitchFamily="2" charset="-122"/>
              <a:ea typeface="宋体" pitchFamily="2" charset="-122"/>
              <a:hlinkClick r:id="rId4"/>
            </a:endParaRPr>
          </a:p>
          <a:p>
            <a:pPr lvl="1" indent="-285750">
              <a:lnSpc>
                <a:spcPct val="150000"/>
              </a:lnSpc>
              <a:buClr>
                <a:schemeClr val="bg1"/>
              </a:buClr>
              <a:buFont typeface="Arial" pitchFamily="34" charset="0"/>
              <a:buChar char="•"/>
            </a:pPr>
            <a:r>
              <a:rPr lang="en-US" altLang="zh-CN" sz="2000" b="1" dirty="0" smtClean="0">
                <a:solidFill>
                  <a:schemeClr val="bg1"/>
                </a:solidFill>
                <a:latin typeface="宋体" pitchFamily="2" charset="-122"/>
                <a:ea typeface="宋体" pitchFamily="2" charset="-122"/>
              </a:rPr>
              <a:t>《</a:t>
            </a:r>
            <a:r>
              <a:rPr lang="zh-CN" altLang="en-US" sz="2000" b="1" dirty="0">
                <a:solidFill>
                  <a:schemeClr val="bg1"/>
                </a:solidFill>
                <a:latin typeface="宋体" pitchFamily="2" charset="-122"/>
                <a:ea typeface="宋体" pitchFamily="2" charset="-122"/>
              </a:rPr>
              <a:t>计算机操作系统</a:t>
            </a:r>
            <a:r>
              <a:rPr lang="en-US" altLang="zh-CN" sz="2000" b="1" dirty="0">
                <a:solidFill>
                  <a:schemeClr val="bg1"/>
                </a:solidFill>
                <a:latin typeface="宋体" pitchFamily="2" charset="-122"/>
                <a:ea typeface="宋体" pitchFamily="2" charset="-122"/>
              </a:rPr>
              <a:t>》</a:t>
            </a:r>
            <a:r>
              <a:rPr lang="zh-CN" altLang="en-US" sz="2000" b="1" dirty="0">
                <a:solidFill>
                  <a:schemeClr val="bg1"/>
                </a:solidFill>
                <a:latin typeface="宋体" pitchFamily="2" charset="-122"/>
                <a:ea typeface="宋体" pitchFamily="2" charset="-122"/>
              </a:rPr>
              <a:t>（</a:t>
            </a:r>
            <a:r>
              <a:rPr lang="zh-CN" altLang="en-US" sz="2000" b="1" dirty="0" smtClean="0">
                <a:solidFill>
                  <a:schemeClr val="bg1"/>
                </a:solidFill>
                <a:latin typeface="宋体" pitchFamily="2" charset="-122"/>
                <a:ea typeface="宋体" pitchFamily="2" charset="-122"/>
              </a:rPr>
              <a:t>第</a:t>
            </a:r>
            <a:r>
              <a:rPr lang="en-US" altLang="zh-CN" sz="2000" b="1" dirty="0" smtClean="0">
                <a:solidFill>
                  <a:schemeClr val="bg1"/>
                </a:solidFill>
                <a:latin typeface="宋体" pitchFamily="2" charset="-122"/>
                <a:ea typeface="宋体" pitchFamily="2" charset="-122"/>
              </a:rPr>
              <a:t>4</a:t>
            </a:r>
            <a:r>
              <a:rPr lang="zh-CN" altLang="en-US" sz="2000" b="1" dirty="0" smtClean="0">
                <a:solidFill>
                  <a:schemeClr val="bg1"/>
                </a:solidFill>
                <a:latin typeface="宋体" pitchFamily="2" charset="-122"/>
                <a:ea typeface="宋体" pitchFamily="2" charset="-122"/>
              </a:rPr>
              <a:t>版</a:t>
            </a:r>
            <a:r>
              <a:rPr lang="zh-CN" altLang="en-US" sz="2000" b="1" dirty="0">
                <a:solidFill>
                  <a:schemeClr val="bg1"/>
                </a:solidFill>
                <a:latin typeface="宋体" pitchFamily="2" charset="-122"/>
                <a:ea typeface="宋体" pitchFamily="2" charset="-122"/>
              </a:rPr>
              <a:t>），汤小丹，梁红兵，汤子瀛，西安电子科技大学出版社，</a:t>
            </a:r>
            <a:r>
              <a:rPr lang="en-US" altLang="zh-CN" sz="2000" b="1" dirty="0">
                <a:solidFill>
                  <a:schemeClr val="bg1"/>
                </a:solidFill>
                <a:latin typeface="宋体" pitchFamily="2" charset="-122"/>
                <a:ea typeface="宋体" pitchFamily="2" charset="-122"/>
              </a:rPr>
              <a:t>2014</a:t>
            </a:r>
            <a:r>
              <a:rPr lang="zh-CN" altLang="en-US" sz="2000" b="1" dirty="0">
                <a:solidFill>
                  <a:schemeClr val="bg1"/>
                </a:solidFill>
                <a:latin typeface="宋体" pitchFamily="2" charset="-122"/>
                <a:ea typeface="宋体" pitchFamily="2" charset="-122"/>
              </a:rPr>
              <a:t>年</a:t>
            </a:r>
            <a:r>
              <a:rPr lang="zh-CN" altLang="en-US" sz="2000" b="1" dirty="0" smtClean="0">
                <a:solidFill>
                  <a:schemeClr val="bg1"/>
                </a:solidFill>
                <a:latin typeface="宋体" pitchFamily="2" charset="-122"/>
                <a:ea typeface="宋体" pitchFamily="2" charset="-122"/>
              </a:rPr>
              <a:t>。</a:t>
            </a:r>
            <a:endParaRPr lang="zh-CN" altLang="zh-CN" sz="2000" b="1" dirty="0" smtClean="0">
              <a:solidFill>
                <a:schemeClr val="bg1"/>
              </a:solidFill>
              <a:latin typeface="宋体" pitchFamily="2" charset="-122"/>
              <a:ea typeface="宋体" pitchFamily="2" charset="-122"/>
            </a:endParaRPr>
          </a:p>
        </p:txBody>
      </p:sp>
      <p:pic>
        <p:nvPicPr>
          <p:cNvPr id="102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55776" y="424282"/>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教学计划</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8">
                                            <p:txEl>
                                              <p:pRg st="2" end="2"/>
                                            </p:txEl>
                                          </p:spTgt>
                                        </p:tgtEl>
                                        <p:attrNameLst>
                                          <p:attrName>style.visibility</p:attrName>
                                        </p:attrNameLst>
                                      </p:cBhvr>
                                      <p:to>
                                        <p:strVal val="visible"/>
                                      </p:to>
                                    </p:set>
                                    <p:animEffect transition="in" filter="wipe(left)">
                                      <p:cBhvr>
                                        <p:cTn id="17" dur="500"/>
                                        <p:tgtEl>
                                          <p:spTgt spid="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899592" y="1646370"/>
            <a:ext cx="7128792" cy="1200331"/>
          </a:xfrm>
          <a:prstGeom prst="rect">
            <a:avLst/>
          </a:prstGeom>
        </p:spPr>
        <p:txBody>
          <a:bodyPr wrap="square" lIns="91441" tIns="45721" rIns="91441" bIns="45721">
            <a:spAutoFit/>
          </a:bodyPr>
          <a:lstStyle/>
          <a:p>
            <a:pPr>
              <a:buFont typeface="Wingdings" pitchFamily="2" charset="2"/>
              <a:buChar char="u"/>
            </a:pPr>
            <a:r>
              <a:rPr lang="zh-CN" altLang="en-US" sz="2400" b="1" dirty="0" smtClean="0">
                <a:solidFill>
                  <a:srgbClr val="FFFF00"/>
                </a:solidFill>
                <a:latin typeface="+mn-ea"/>
              </a:rPr>
              <a:t> 教学结构</a:t>
            </a:r>
            <a:r>
              <a:rPr lang="en-US" altLang="ko-KR" sz="2400" b="1" dirty="0" smtClean="0">
                <a:solidFill>
                  <a:srgbClr val="FFFF00"/>
                </a:solidFill>
                <a:latin typeface="+mn-ea"/>
              </a:rPr>
              <a:t>:</a:t>
            </a:r>
          </a:p>
          <a:p>
            <a:pPr lvl="1"/>
            <a:r>
              <a:rPr lang="zh-CN" altLang="en-US" sz="2400" b="1" dirty="0" smtClean="0">
                <a:solidFill>
                  <a:schemeClr val="bg1"/>
                </a:solidFill>
                <a:latin typeface="+mn-ea"/>
              </a:rPr>
              <a:t>课堂教授 （</a:t>
            </a:r>
            <a:r>
              <a:rPr lang="en-US" altLang="zh-CN" sz="2400" b="1" dirty="0" smtClean="0">
                <a:solidFill>
                  <a:schemeClr val="bg1"/>
                </a:solidFill>
                <a:latin typeface="+mn-ea"/>
              </a:rPr>
              <a:t>50%</a:t>
            </a:r>
            <a:r>
              <a:rPr lang="zh-CN" altLang="en-US" sz="2400" b="1" dirty="0" smtClean="0">
                <a:solidFill>
                  <a:schemeClr val="bg1"/>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课下视频资源自学（</a:t>
            </a:r>
            <a:r>
              <a:rPr lang="en-US" altLang="zh-CN" sz="2400" b="1" dirty="0" smtClean="0">
                <a:solidFill>
                  <a:schemeClr val="bg1"/>
                </a:solidFill>
                <a:latin typeface="+mn-ea"/>
              </a:rPr>
              <a:t>15%</a:t>
            </a:r>
            <a:r>
              <a:rPr lang="zh-CN" altLang="en-US" sz="2400" b="1" dirty="0" smtClean="0">
                <a:solidFill>
                  <a:schemeClr val="bg1"/>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实验实训（</a:t>
            </a:r>
            <a:r>
              <a:rPr lang="en-US" altLang="zh-CN" sz="2400" b="1" dirty="0" smtClean="0">
                <a:solidFill>
                  <a:schemeClr val="bg1"/>
                </a:solidFill>
                <a:latin typeface="+mn-ea"/>
              </a:rPr>
              <a:t>30%</a:t>
            </a:r>
            <a:r>
              <a:rPr lang="zh-CN" altLang="en-US" sz="2400" b="1" dirty="0" smtClean="0">
                <a:solidFill>
                  <a:schemeClr val="bg1"/>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讨论（</a:t>
            </a:r>
            <a:r>
              <a:rPr lang="en-US" altLang="zh-CN" sz="2400" b="1" dirty="0" smtClean="0">
                <a:solidFill>
                  <a:schemeClr val="bg1"/>
                </a:solidFill>
                <a:latin typeface="+mn-ea"/>
              </a:rPr>
              <a:t>5%</a:t>
            </a:r>
            <a:r>
              <a:rPr lang="zh-CN" altLang="en-US" sz="2400" b="1" dirty="0" smtClean="0">
                <a:solidFill>
                  <a:schemeClr val="bg1"/>
                </a:solidFill>
                <a:latin typeface="+mn-ea"/>
              </a:rPr>
              <a:t>）</a:t>
            </a:r>
            <a:endParaRPr lang="en-US" altLang="ko-KR" sz="2400" b="1" dirty="0" smtClean="0">
              <a:solidFill>
                <a:schemeClr val="bg1"/>
              </a:solidFill>
              <a:latin typeface="+mn-ea"/>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55776" y="424282"/>
            <a:ext cx="4608512"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如何获得学分</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M</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M</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899592" y="1207610"/>
            <a:ext cx="7128792" cy="2492992"/>
          </a:xfrm>
          <a:prstGeom prst="rect">
            <a:avLst/>
          </a:prstGeom>
        </p:spPr>
        <p:txBody>
          <a:bodyPr wrap="square" lIns="91441" tIns="45721" rIns="91441" bIns="45721">
            <a:spAutoFit/>
          </a:bodyPr>
          <a:lstStyle/>
          <a:p>
            <a:pPr>
              <a:lnSpc>
                <a:spcPct val="150000"/>
              </a:lnSpc>
              <a:buFont typeface="Wingdings" pitchFamily="2" charset="2"/>
              <a:buChar char="u"/>
            </a:pPr>
            <a:r>
              <a:rPr lang="zh-CN" altLang="en-US" sz="2400" b="1" dirty="0" smtClean="0">
                <a:solidFill>
                  <a:srgbClr val="FFFF00"/>
                </a:solidFill>
                <a:latin typeface="+mn-ea"/>
              </a:rPr>
              <a:t>考核分数构成</a:t>
            </a:r>
            <a:r>
              <a:rPr lang="en-US" altLang="ko-KR" sz="2400" b="1" dirty="0" smtClean="0">
                <a:solidFill>
                  <a:srgbClr val="FFFF00"/>
                </a:solidFill>
                <a:latin typeface="+mn-ea"/>
              </a:rPr>
              <a:t>:  </a:t>
            </a:r>
          </a:p>
          <a:p>
            <a:pPr lvl="1" indent="-285750">
              <a:lnSpc>
                <a:spcPct val="150000"/>
              </a:lnSpc>
              <a:buFont typeface="Arial" pitchFamily="34" charset="0"/>
              <a:buChar char="•"/>
            </a:pPr>
            <a:r>
              <a:rPr lang="zh-CN" altLang="zh-CN" sz="2000" b="1" dirty="0" smtClean="0">
                <a:solidFill>
                  <a:schemeClr val="bg1"/>
                </a:solidFill>
                <a:latin typeface="+mn-ea"/>
              </a:rPr>
              <a:t>采取</a:t>
            </a:r>
            <a:r>
              <a:rPr lang="zh-CN" altLang="zh-CN" sz="2000" b="1" dirty="0">
                <a:solidFill>
                  <a:schemeClr val="bg1"/>
                </a:solidFill>
                <a:latin typeface="+mn-ea"/>
              </a:rPr>
              <a:t>平时</a:t>
            </a:r>
            <a:r>
              <a:rPr lang="zh-CN" altLang="zh-CN" sz="2000" b="1" dirty="0" smtClean="0">
                <a:solidFill>
                  <a:schemeClr val="bg1"/>
                </a:solidFill>
                <a:latin typeface="+mn-ea"/>
              </a:rPr>
              <a:t>考核</a:t>
            </a:r>
            <a:r>
              <a:rPr lang="en-US" altLang="zh-CN" sz="2000" b="1" dirty="0" smtClean="0">
                <a:solidFill>
                  <a:schemeClr val="bg1"/>
                </a:solidFill>
                <a:latin typeface="+mn-ea"/>
              </a:rPr>
              <a:t>(</a:t>
            </a:r>
            <a:r>
              <a:rPr lang="zh-CN" altLang="zh-CN" sz="2000" b="1" dirty="0" smtClean="0">
                <a:solidFill>
                  <a:schemeClr val="bg1"/>
                </a:solidFill>
                <a:latin typeface="+mn-ea"/>
              </a:rPr>
              <a:t>课后</a:t>
            </a:r>
            <a:r>
              <a:rPr lang="zh-CN" altLang="zh-CN" sz="2000" b="1" dirty="0">
                <a:solidFill>
                  <a:schemeClr val="bg1"/>
                </a:solidFill>
                <a:latin typeface="+mn-ea"/>
              </a:rPr>
              <a:t>作业</a:t>
            </a:r>
            <a:r>
              <a:rPr lang="zh-CN" altLang="zh-CN" sz="2000" b="1" dirty="0" smtClean="0">
                <a:solidFill>
                  <a:schemeClr val="bg1"/>
                </a:solidFill>
                <a:latin typeface="+mn-ea"/>
              </a:rPr>
              <a:t>、</a:t>
            </a:r>
            <a:r>
              <a:rPr lang="zh-CN" altLang="en-US" sz="2000" b="1" dirty="0" smtClean="0">
                <a:solidFill>
                  <a:schemeClr val="bg1"/>
                </a:solidFill>
                <a:latin typeface="+mn-ea"/>
              </a:rPr>
              <a:t>章节测试、</a:t>
            </a:r>
            <a:r>
              <a:rPr lang="zh-CN" altLang="zh-CN" sz="2000" b="1" dirty="0" smtClean="0">
                <a:solidFill>
                  <a:schemeClr val="bg1"/>
                </a:solidFill>
                <a:latin typeface="+mn-ea"/>
              </a:rPr>
              <a:t>上机实验</a:t>
            </a:r>
            <a:r>
              <a:rPr lang="zh-CN" altLang="en-US" sz="2000" b="1" dirty="0" smtClean="0">
                <a:solidFill>
                  <a:schemeClr val="bg1"/>
                </a:solidFill>
                <a:latin typeface="+mn-ea"/>
              </a:rPr>
              <a:t>），</a:t>
            </a:r>
            <a:r>
              <a:rPr lang="zh-CN" altLang="zh-CN" sz="2000" b="1" dirty="0" smtClean="0">
                <a:solidFill>
                  <a:schemeClr val="bg1"/>
                </a:solidFill>
                <a:latin typeface="+mn-ea"/>
              </a:rPr>
              <a:t>期末</a:t>
            </a:r>
            <a:r>
              <a:rPr lang="zh-CN" altLang="zh-CN" sz="2000" b="1" dirty="0">
                <a:solidFill>
                  <a:schemeClr val="bg1"/>
                </a:solidFill>
                <a:latin typeface="+mn-ea"/>
              </a:rPr>
              <a:t>考试相结合的方式。</a:t>
            </a:r>
          </a:p>
          <a:p>
            <a:pPr lvl="1" indent="-285750">
              <a:lnSpc>
                <a:spcPct val="150000"/>
              </a:lnSpc>
              <a:buFont typeface="Arial" pitchFamily="34" charset="0"/>
              <a:buChar char="•"/>
            </a:pPr>
            <a:r>
              <a:rPr lang="zh-CN" altLang="zh-CN" sz="2000" b="1" dirty="0">
                <a:solidFill>
                  <a:schemeClr val="bg1"/>
                </a:solidFill>
                <a:latin typeface="+mn-ea"/>
              </a:rPr>
              <a:t>期末考试成绩占</a:t>
            </a:r>
            <a:r>
              <a:rPr lang="en-US" altLang="zh-CN" sz="2000" b="1" dirty="0">
                <a:solidFill>
                  <a:schemeClr val="bg1"/>
                </a:solidFill>
                <a:latin typeface="+mn-ea"/>
              </a:rPr>
              <a:t>70% </a:t>
            </a:r>
            <a:r>
              <a:rPr lang="zh-CN" altLang="zh-CN" sz="2000" b="1" dirty="0">
                <a:solidFill>
                  <a:schemeClr val="bg1"/>
                </a:solidFill>
                <a:latin typeface="+mn-ea"/>
              </a:rPr>
              <a:t>，平时考核成绩占</a:t>
            </a:r>
            <a:r>
              <a:rPr lang="en-US" altLang="zh-CN" sz="2000" b="1" dirty="0">
                <a:solidFill>
                  <a:schemeClr val="bg1"/>
                </a:solidFill>
                <a:latin typeface="+mn-ea"/>
              </a:rPr>
              <a:t>30% </a:t>
            </a:r>
            <a:r>
              <a:rPr lang="zh-CN" altLang="zh-CN" sz="2000" b="1" dirty="0">
                <a:solidFill>
                  <a:schemeClr val="bg1"/>
                </a:solidFill>
                <a:latin typeface="+mn-ea"/>
              </a:rPr>
              <a:t>。期末考试采取闭卷考试形式。</a:t>
            </a: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55776" y="424282"/>
            <a:ext cx="4608512"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如何获得学分</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280351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8">
                                            <p:txEl>
                                              <p:pRg st="2" end="2"/>
                                            </p:txEl>
                                          </p:spTgt>
                                        </p:tgtEl>
                                        <p:attrNameLst>
                                          <p:attrName>style.visibility</p:attrName>
                                        </p:attrNameLst>
                                      </p:cBhvr>
                                      <p:to>
                                        <p:strVal val="visible"/>
                                      </p:to>
                                    </p:set>
                                    <p:animEffect transition="in" filter="wipe(left)">
                                      <p:cBhvr>
                                        <p:cTn id="17" dur="500"/>
                                        <p:tgtEl>
                                          <p:spTgt spid="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971600" y="1203598"/>
            <a:ext cx="7200800" cy="2862324"/>
          </a:xfrm>
          <a:prstGeom prst="rect">
            <a:avLst/>
          </a:prstGeom>
        </p:spPr>
        <p:txBody>
          <a:bodyPr wrap="square" lIns="91441" tIns="45721" rIns="91441" bIns="45721">
            <a:spAutoFit/>
          </a:bodyPr>
          <a:lstStyle/>
          <a:p>
            <a:pPr>
              <a:lnSpc>
                <a:spcPct val="150000"/>
              </a:lnSpc>
              <a:buFont typeface="Wingdings" pitchFamily="2" charset="2"/>
              <a:buChar char="u"/>
            </a:pPr>
            <a:r>
              <a:rPr lang="zh-CN" altLang="en-US" sz="2400" b="1" dirty="0" smtClean="0">
                <a:solidFill>
                  <a:srgbClr val="FFFF00"/>
                </a:solidFill>
                <a:latin typeface="+mn-ea"/>
              </a:rPr>
              <a:t>考核分数构成</a:t>
            </a:r>
            <a:r>
              <a:rPr lang="en-US" altLang="ko-KR" sz="2400" b="1" dirty="0" smtClean="0">
                <a:solidFill>
                  <a:srgbClr val="FFFF00"/>
                </a:solidFill>
                <a:latin typeface="+mn-ea"/>
              </a:rPr>
              <a:t>:  </a:t>
            </a:r>
          </a:p>
          <a:p>
            <a:pPr lvl="1" indent="-285750">
              <a:lnSpc>
                <a:spcPct val="150000"/>
              </a:lnSpc>
              <a:buFont typeface="Arial" pitchFamily="34" charset="0"/>
              <a:buChar char="•"/>
            </a:pPr>
            <a:r>
              <a:rPr lang="zh-CN" altLang="zh-CN" sz="2400" b="1" dirty="0" smtClean="0">
                <a:solidFill>
                  <a:schemeClr val="bg1"/>
                </a:solidFill>
                <a:latin typeface="+mn-ea"/>
              </a:rPr>
              <a:t>总成绩</a:t>
            </a:r>
            <a:r>
              <a:rPr lang="en-US" altLang="zh-CN" sz="2400" b="1" dirty="0" smtClean="0">
                <a:solidFill>
                  <a:schemeClr val="bg1"/>
                </a:solidFill>
                <a:latin typeface="+mn-ea"/>
              </a:rPr>
              <a:t> </a:t>
            </a:r>
            <a:r>
              <a:rPr lang="en-US" altLang="zh-CN" sz="2400" b="1" dirty="0">
                <a:solidFill>
                  <a:schemeClr val="bg1"/>
                </a:solidFill>
                <a:latin typeface="+mn-ea"/>
              </a:rPr>
              <a:t>= </a:t>
            </a:r>
            <a:r>
              <a:rPr lang="zh-CN" altLang="en-US" sz="2400" b="1" dirty="0" smtClean="0">
                <a:solidFill>
                  <a:schemeClr val="bg1"/>
                </a:solidFill>
                <a:latin typeface="+mn-ea"/>
              </a:rPr>
              <a:t>课堂学情考核（</a:t>
            </a:r>
            <a:r>
              <a:rPr lang="en-US" altLang="zh-CN" sz="2400" b="1" dirty="0" smtClean="0">
                <a:solidFill>
                  <a:schemeClr val="bg1"/>
                </a:solidFill>
                <a:latin typeface="+mn-ea"/>
              </a:rPr>
              <a:t>5%</a:t>
            </a:r>
            <a:r>
              <a:rPr lang="zh-CN" altLang="en-US" sz="2400" b="1" dirty="0" smtClean="0">
                <a:solidFill>
                  <a:schemeClr val="bg1"/>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章节测试（作业）</a:t>
            </a:r>
            <a:r>
              <a:rPr lang="zh-CN" altLang="zh-CN" sz="2400" b="1" dirty="0" smtClean="0">
                <a:solidFill>
                  <a:schemeClr val="bg1"/>
                </a:solidFill>
                <a:latin typeface="+mn-ea"/>
              </a:rPr>
              <a:t>考核（</a:t>
            </a:r>
            <a:r>
              <a:rPr lang="en-US" altLang="zh-CN" sz="2400" b="1" dirty="0" smtClean="0">
                <a:solidFill>
                  <a:schemeClr val="bg1"/>
                </a:solidFill>
                <a:latin typeface="+mn-ea"/>
              </a:rPr>
              <a:t>10%</a:t>
            </a:r>
            <a:r>
              <a:rPr lang="zh-CN" altLang="zh-CN" sz="2400" b="1" dirty="0">
                <a:solidFill>
                  <a:schemeClr val="bg1"/>
                </a:solidFill>
                <a:latin typeface="+mn-ea"/>
              </a:rPr>
              <a:t>）</a:t>
            </a:r>
            <a:r>
              <a:rPr lang="en-US" altLang="zh-CN" sz="2400" b="1" dirty="0" smtClean="0">
                <a:solidFill>
                  <a:schemeClr val="bg1"/>
                </a:solidFill>
                <a:latin typeface="+mn-ea"/>
              </a:rPr>
              <a:t>+</a:t>
            </a:r>
            <a:r>
              <a:rPr lang="zh-CN" altLang="zh-CN" sz="2400" b="1" dirty="0" smtClean="0">
                <a:solidFill>
                  <a:schemeClr val="bg1"/>
                </a:solidFill>
                <a:latin typeface="+mn-ea"/>
              </a:rPr>
              <a:t>上机</a:t>
            </a:r>
            <a:r>
              <a:rPr lang="zh-CN" altLang="zh-CN" sz="2400" b="1" dirty="0">
                <a:solidFill>
                  <a:schemeClr val="bg1"/>
                </a:solidFill>
                <a:latin typeface="+mn-ea"/>
              </a:rPr>
              <a:t>实验</a:t>
            </a:r>
            <a:r>
              <a:rPr lang="zh-CN" altLang="zh-CN" sz="2400" b="1" dirty="0" smtClean="0">
                <a:solidFill>
                  <a:schemeClr val="bg1"/>
                </a:solidFill>
                <a:latin typeface="+mn-ea"/>
              </a:rPr>
              <a:t>（</a:t>
            </a:r>
            <a:r>
              <a:rPr lang="en-US" altLang="zh-CN" sz="2400" b="1" dirty="0" smtClean="0">
                <a:solidFill>
                  <a:schemeClr val="bg1"/>
                </a:solidFill>
                <a:latin typeface="+mn-ea"/>
              </a:rPr>
              <a:t>15%</a:t>
            </a:r>
            <a:r>
              <a:rPr lang="zh-CN" altLang="zh-CN" sz="2400" b="1" dirty="0" smtClean="0">
                <a:solidFill>
                  <a:schemeClr val="bg1"/>
                </a:solidFill>
                <a:latin typeface="+mn-ea"/>
              </a:rPr>
              <a:t>）</a:t>
            </a:r>
            <a:r>
              <a:rPr lang="en-US" altLang="zh-CN" sz="2400" b="1" dirty="0" smtClean="0">
                <a:solidFill>
                  <a:schemeClr val="bg1"/>
                </a:solidFill>
                <a:latin typeface="+mn-ea"/>
              </a:rPr>
              <a:t>+</a:t>
            </a:r>
            <a:r>
              <a:rPr lang="zh-CN" altLang="zh-CN" sz="2400" b="1" dirty="0">
                <a:solidFill>
                  <a:schemeClr val="bg1"/>
                </a:solidFill>
                <a:latin typeface="+mn-ea"/>
              </a:rPr>
              <a:t>期末考试</a:t>
            </a:r>
            <a:r>
              <a:rPr lang="zh-CN" altLang="zh-CN" sz="2400" b="1" dirty="0" smtClean="0">
                <a:solidFill>
                  <a:schemeClr val="bg1"/>
                </a:solidFill>
                <a:latin typeface="+mn-ea"/>
              </a:rPr>
              <a:t>（</a:t>
            </a:r>
            <a:r>
              <a:rPr lang="en-US" altLang="zh-CN" sz="2400" b="1" dirty="0" smtClean="0">
                <a:solidFill>
                  <a:schemeClr val="bg1"/>
                </a:solidFill>
                <a:latin typeface="+mn-ea"/>
              </a:rPr>
              <a:t>70</a:t>
            </a:r>
            <a:r>
              <a:rPr lang="en-US" altLang="zh-CN" sz="2400" b="1" dirty="0">
                <a:solidFill>
                  <a:schemeClr val="bg1"/>
                </a:solidFill>
                <a:latin typeface="+mn-ea"/>
              </a:rPr>
              <a:t>%</a:t>
            </a:r>
            <a:r>
              <a:rPr lang="zh-CN" altLang="zh-CN" sz="2400" b="1" dirty="0">
                <a:solidFill>
                  <a:schemeClr val="bg1"/>
                </a:solidFill>
                <a:latin typeface="+mn-ea"/>
              </a:rPr>
              <a:t>）</a:t>
            </a:r>
            <a:r>
              <a:rPr lang="zh-CN" altLang="zh-CN" sz="2400" b="1" dirty="0" smtClean="0">
                <a:solidFill>
                  <a:schemeClr val="bg1"/>
                </a:solidFill>
                <a:latin typeface="+mn-ea"/>
              </a:rPr>
              <a:t>。</a:t>
            </a:r>
            <a:endParaRPr lang="en-US" altLang="zh-CN" sz="2400" b="1" dirty="0" smtClean="0">
              <a:solidFill>
                <a:schemeClr val="bg1"/>
              </a:solidFill>
              <a:latin typeface="+mn-ea"/>
            </a:endParaRPr>
          </a:p>
          <a:p>
            <a:pPr lvl="1" indent="-285750">
              <a:lnSpc>
                <a:spcPct val="150000"/>
              </a:lnSpc>
              <a:buFont typeface="Arial" pitchFamily="34" charset="0"/>
              <a:buChar char="•"/>
            </a:pPr>
            <a:r>
              <a:rPr lang="zh-CN" altLang="en-US" sz="2400" b="1" dirty="0">
                <a:solidFill>
                  <a:srgbClr val="FFFF00"/>
                </a:solidFill>
                <a:latin typeface="+mn-ea"/>
              </a:rPr>
              <a:t>考核分数级别</a:t>
            </a:r>
            <a:r>
              <a:rPr lang="en-US" altLang="ko-KR" sz="2400" b="1" dirty="0">
                <a:solidFill>
                  <a:srgbClr val="FFFF00"/>
                </a:solidFill>
                <a:latin typeface="+mn-ea"/>
              </a:rPr>
              <a:t> : </a:t>
            </a:r>
            <a:r>
              <a:rPr lang="en-US" altLang="ko-KR" sz="2400" b="1" dirty="0">
                <a:solidFill>
                  <a:schemeClr val="bg1"/>
                </a:solidFill>
                <a:latin typeface="+mn-ea"/>
              </a:rPr>
              <a:t> Study harder, better grades</a:t>
            </a:r>
            <a:endParaRPr lang="zh-CN" altLang="zh-CN" sz="2400" b="1" dirty="0">
              <a:solidFill>
                <a:schemeClr val="bg1"/>
              </a:solidFill>
              <a:latin typeface="+mn-ea"/>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84495" y="411159"/>
            <a:ext cx="4608512"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如何获得学分</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146392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8">
                                            <p:txEl>
                                              <p:pRg st="2" end="2"/>
                                            </p:txEl>
                                          </p:spTgt>
                                        </p:tgtEl>
                                        <p:attrNameLst>
                                          <p:attrName>style.visibility</p:attrName>
                                        </p:attrNameLst>
                                      </p:cBhvr>
                                      <p:to>
                                        <p:strVal val="visible"/>
                                      </p:to>
                                    </p:set>
                                    <p:animEffect transition="in" filter="wipe(left)">
                                      <p:cBhvr>
                                        <p:cTn id="17" dur="500"/>
                                        <p:tgtEl>
                                          <p:spTgt spid="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899592" y="1131590"/>
            <a:ext cx="7128792" cy="3624071"/>
          </a:xfrm>
          <a:prstGeom prst="rect">
            <a:avLst/>
          </a:prstGeom>
        </p:spPr>
        <p:txBody>
          <a:bodyPr wrap="square" lIns="91441" tIns="45721" rIns="91441" bIns="45721">
            <a:spAutoFit/>
          </a:bodyPr>
          <a:lstStyle/>
          <a:p>
            <a:pPr>
              <a:lnSpc>
                <a:spcPct val="130000"/>
              </a:lnSpc>
              <a:buFont typeface="Wingdings" pitchFamily="2" charset="2"/>
              <a:buChar char="u"/>
            </a:pPr>
            <a:r>
              <a:rPr lang="zh-CN" altLang="en-US" sz="2000" b="1" dirty="0" smtClean="0">
                <a:solidFill>
                  <a:srgbClr val="FFFF00"/>
                </a:solidFill>
                <a:latin typeface="+mn-ea"/>
              </a:rPr>
              <a:t>具体的</a:t>
            </a:r>
            <a:r>
              <a:rPr lang="en-US" altLang="ko-KR" sz="2000" b="1" dirty="0" smtClean="0">
                <a:solidFill>
                  <a:srgbClr val="FFFF00"/>
                </a:solidFill>
                <a:latin typeface="+mn-ea"/>
              </a:rPr>
              <a:t>:  </a:t>
            </a:r>
          </a:p>
          <a:p>
            <a:pPr lvl="1" indent="-285750">
              <a:lnSpc>
                <a:spcPct val="130000"/>
              </a:lnSpc>
              <a:buFont typeface="Arial" pitchFamily="34" charset="0"/>
              <a:buChar char="•"/>
            </a:pPr>
            <a:r>
              <a:rPr lang="zh-CN" altLang="en-US" sz="2000" b="1" dirty="0" smtClean="0">
                <a:solidFill>
                  <a:srgbClr val="FFFF00"/>
                </a:solidFill>
                <a:latin typeface="+mn-ea"/>
              </a:rPr>
              <a:t>课堂学情</a:t>
            </a:r>
            <a:r>
              <a:rPr lang="zh-CN" altLang="zh-CN" sz="2000" b="1" dirty="0" smtClean="0">
                <a:solidFill>
                  <a:srgbClr val="FFFF00"/>
                </a:solidFill>
                <a:latin typeface="+mn-ea"/>
              </a:rPr>
              <a:t>考核</a:t>
            </a:r>
            <a:r>
              <a:rPr lang="zh-CN" altLang="zh-CN" sz="2000" b="1" dirty="0" smtClean="0">
                <a:solidFill>
                  <a:schemeClr val="bg1"/>
                </a:solidFill>
                <a:latin typeface="+mn-ea"/>
              </a:rPr>
              <a:t>包括</a:t>
            </a:r>
            <a:r>
              <a:rPr lang="zh-CN" altLang="zh-CN" sz="2000" b="1" dirty="0">
                <a:solidFill>
                  <a:schemeClr val="bg1"/>
                </a:solidFill>
                <a:latin typeface="+mn-ea"/>
              </a:rPr>
              <a:t>：课堂出勤率、学习态度、课堂互动情况</a:t>
            </a:r>
            <a:r>
              <a:rPr lang="zh-CN" altLang="zh-CN" sz="2000" b="1" dirty="0" smtClean="0">
                <a:solidFill>
                  <a:schemeClr val="bg1"/>
                </a:solidFill>
                <a:latin typeface="+mn-ea"/>
              </a:rPr>
              <a:t>、</a:t>
            </a:r>
            <a:r>
              <a:rPr lang="zh-CN" altLang="en-US" sz="2000" b="1" dirty="0" smtClean="0">
                <a:solidFill>
                  <a:schemeClr val="bg1"/>
                </a:solidFill>
                <a:latin typeface="+mn-ea"/>
              </a:rPr>
              <a:t>回答老师问题情况</a:t>
            </a:r>
            <a:r>
              <a:rPr lang="zh-CN" altLang="zh-CN" sz="2000" b="1" dirty="0" smtClean="0">
                <a:solidFill>
                  <a:schemeClr val="bg1"/>
                </a:solidFill>
                <a:latin typeface="+mn-ea"/>
              </a:rPr>
              <a:t>、</a:t>
            </a:r>
            <a:r>
              <a:rPr lang="zh-CN" altLang="zh-CN" sz="2000" b="1" dirty="0">
                <a:solidFill>
                  <a:schemeClr val="bg1"/>
                </a:solidFill>
                <a:latin typeface="+mn-ea"/>
              </a:rPr>
              <a:t>学习的主动性等</a:t>
            </a:r>
            <a:r>
              <a:rPr lang="zh-CN" altLang="zh-CN" sz="2000" b="1" dirty="0" smtClean="0">
                <a:solidFill>
                  <a:schemeClr val="bg1"/>
                </a:solidFill>
                <a:latin typeface="+mn-ea"/>
              </a:rPr>
              <a:t>；</a:t>
            </a:r>
            <a:endParaRPr lang="en-US" altLang="zh-CN" sz="2000" b="1" dirty="0" smtClean="0">
              <a:solidFill>
                <a:schemeClr val="bg1"/>
              </a:solidFill>
              <a:latin typeface="+mn-ea"/>
            </a:endParaRPr>
          </a:p>
          <a:p>
            <a:pPr lvl="1" indent="-285750">
              <a:lnSpc>
                <a:spcPct val="130000"/>
              </a:lnSpc>
              <a:buFont typeface="Arial" pitchFamily="34" charset="0"/>
              <a:buChar char="•"/>
            </a:pPr>
            <a:r>
              <a:rPr lang="zh-CN" altLang="en-US" sz="2000" b="1" dirty="0">
                <a:solidFill>
                  <a:srgbClr val="FFFF00"/>
                </a:solidFill>
                <a:latin typeface="+mn-ea"/>
              </a:rPr>
              <a:t>章节测试（作业</a:t>
            </a:r>
            <a:r>
              <a:rPr lang="zh-CN" altLang="en-US" sz="2000" b="1" dirty="0" smtClean="0">
                <a:solidFill>
                  <a:srgbClr val="FFFF00"/>
                </a:solidFill>
                <a:latin typeface="+mn-ea"/>
              </a:rPr>
              <a:t>）</a:t>
            </a:r>
            <a:r>
              <a:rPr lang="zh-CN" altLang="zh-CN" sz="2000" b="1" dirty="0" smtClean="0">
                <a:solidFill>
                  <a:schemeClr val="bg1"/>
                </a:solidFill>
                <a:latin typeface="+mn-ea"/>
              </a:rPr>
              <a:t>包括</a:t>
            </a:r>
            <a:r>
              <a:rPr lang="zh-CN" altLang="en-US" sz="2000" b="1" dirty="0" smtClean="0">
                <a:solidFill>
                  <a:schemeClr val="bg1"/>
                </a:solidFill>
                <a:latin typeface="+mn-ea"/>
              </a:rPr>
              <a:t>：</a:t>
            </a:r>
            <a:r>
              <a:rPr lang="zh-CN" altLang="zh-CN" sz="2000" b="1" dirty="0" smtClean="0">
                <a:solidFill>
                  <a:schemeClr val="bg1"/>
                </a:solidFill>
                <a:latin typeface="+mn-ea"/>
              </a:rPr>
              <a:t>课外</a:t>
            </a:r>
            <a:r>
              <a:rPr lang="zh-CN" altLang="zh-CN" sz="2000" b="1" dirty="0">
                <a:solidFill>
                  <a:schemeClr val="bg1"/>
                </a:solidFill>
                <a:latin typeface="+mn-ea"/>
              </a:rPr>
              <a:t>学习、课后布置作业的完成</a:t>
            </a:r>
            <a:r>
              <a:rPr lang="zh-CN" altLang="zh-CN" sz="2000" b="1" dirty="0" smtClean="0">
                <a:solidFill>
                  <a:schemeClr val="bg1"/>
                </a:solidFill>
                <a:latin typeface="+mn-ea"/>
              </a:rPr>
              <a:t>情况</a:t>
            </a:r>
            <a:r>
              <a:rPr lang="zh-CN" altLang="en-US" sz="2000" b="1" dirty="0" smtClean="0">
                <a:solidFill>
                  <a:schemeClr val="bg1"/>
                </a:solidFill>
                <a:latin typeface="+mn-ea"/>
              </a:rPr>
              <a:t>以及章节测试分数</a:t>
            </a:r>
            <a:r>
              <a:rPr lang="zh-CN" altLang="zh-CN" sz="2000" b="1" dirty="0" smtClean="0">
                <a:solidFill>
                  <a:schemeClr val="bg1"/>
                </a:solidFill>
                <a:latin typeface="+mn-ea"/>
              </a:rPr>
              <a:t>；</a:t>
            </a:r>
            <a:endParaRPr lang="en-US" altLang="zh-CN" sz="2000" b="1" dirty="0" smtClean="0">
              <a:solidFill>
                <a:schemeClr val="bg1"/>
              </a:solidFill>
              <a:latin typeface="+mn-ea"/>
            </a:endParaRPr>
          </a:p>
          <a:p>
            <a:pPr lvl="1" indent="-285750">
              <a:lnSpc>
                <a:spcPct val="130000"/>
              </a:lnSpc>
              <a:buFont typeface="Arial" pitchFamily="34" charset="0"/>
              <a:buChar char="•"/>
            </a:pPr>
            <a:r>
              <a:rPr lang="zh-CN" altLang="zh-CN" sz="2000" b="1" dirty="0" smtClean="0">
                <a:solidFill>
                  <a:srgbClr val="FFFF00"/>
                </a:solidFill>
                <a:latin typeface="+mn-ea"/>
              </a:rPr>
              <a:t>上机实验</a:t>
            </a:r>
            <a:r>
              <a:rPr lang="zh-CN" altLang="zh-CN" sz="2000" b="1" dirty="0" smtClean="0">
                <a:solidFill>
                  <a:schemeClr val="bg1"/>
                </a:solidFill>
                <a:latin typeface="+mn-ea"/>
              </a:rPr>
              <a:t>包括</a:t>
            </a:r>
            <a:r>
              <a:rPr lang="zh-CN" altLang="zh-CN" sz="2000" b="1" dirty="0">
                <a:solidFill>
                  <a:schemeClr val="bg1"/>
                </a:solidFill>
                <a:latin typeface="+mn-ea"/>
              </a:rPr>
              <a:t>：做实验、上机、实验报告完成情况及运用所学知识解决问题的能力</a:t>
            </a:r>
            <a:r>
              <a:rPr lang="zh-CN" altLang="zh-CN" sz="2000" b="1" dirty="0" smtClean="0">
                <a:solidFill>
                  <a:schemeClr val="bg1"/>
                </a:solidFill>
                <a:latin typeface="+mn-ea"/>
              </a:rPr>
              <a:t>等</a:t>
            </a:r>
            <a:endParaRPr lang="zh-CN" altLang="zh-CN" sz="2000" b="1" dirty="0">
              <a:solidFill>
                <a:schemeClr val="bg1"/>
              </a:solidFill>
              <a:latin typeface="+mn-ea"/>
            </a:endParaRPr>
          </a:p>
          <a:p>
            <a:pPr marL="0" lvl="1">
              <a:lnSpc>
                <a:spcPct val="125000"/>
              </a:lnSpc>
              <a:buFont typeface="Wingdings" pitchFamily="2" charset="2"/>
              <a:buChar char="u"/>
            </a:pPr>
            <a:endParaRPr lang="ko-KR" altLang="en-US" sz="2200" b="1" dirty="0">
              <a:solidFill>
                <a:schemeClr val="bg1"/>
              </a:solidFill>
              <a:latin typeface="+mn-ea"/>
            </a:endParaRPr>
          </a:p>
          <a:p>
            <a:pPr lvl="1" indent="-285750">
              <a:buFont typeface="Arial" pitchFamily="34" charset="0"/>
              <a:buChar char="•"/>
            </a:pPr>
            <a:endParaRPr lang="zh-CN" altLang="zh-CN" sz="2000" b="1" dirty="0">
              <a:solidFill>
                <a:schemeClr val="bg1"/>
              </a:solidFill>
              <a:latin typeface="+mn-ea"/>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555776" y="424282"/>
            <a:ext cx="4608512"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zh-CN" altLang="en-US" sz="5400" b="1" dirty="0" smtClean="0">
                <a:ln w="50800"/>
                <a:solidFill>
                  <a:schemeClr val="bg1">
                    <a:shade val="50000"/>
                  </a:schemeClr>
                </a:solidFill>
                <a:latin typeface="黑体" pitchFamily="49" charset="-122"/>
                <a:ea typeface="黑体" pitchFamily="49" charset="-122"/>
              </a:rPr>
              <a:t>如何获得学分</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2335104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wipe(left)">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xEl>
                                              <p:pRg st="1" end="1"/>
                                            </p:txEl>
                                          </p:spTgt>
                                        </p:tgtEl>
                                        <p:attrNameLst>
                                          <p:attrName>style.visibility</p:attrName>
                                        </p:attrNameLst>
                                      </p:cBhvr>
                                      <p:to>
                                        <p:strVal val="visible"/>
                                      </p:to>
                                    </p:set>
                                    <p:animEffect transition="in" filter="wipe(left)">
                                      <p:cBhvr>
                                        <p:cTn id="12" dur="500"/>
                                        <p:tgtEl>
                                          <p:spTgt spid="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8">
                                            <p:txEl>
                                              <p:pRg st="2" end="2"/>
                                            </p:txEl>
                                          </p:spTgt>
                                        </p:tgtEl>
                                        <p:attrNameLst>
                                          <p:attrName>style.visibility</p:attrName>
                                        </p:attrNameLst>
                                      </p:cBhvr>
                                      <p:to>
                                        <p:strVal val="visible"/>
                                      </p:to>
                                    </p:set>
                                    <p:animEffect transition="in" filter="wipe(left)">
                                      <p:cBhvr>
                                        <p:cTn id="17" dur="500"/>
                                        <p:tgtEl>
                                          <p:spTgt spid="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8">
                                            <p:txEl>
                                              <p:pRg st="3" end="3"/>
                                            </p:txEl>
                                          </p:spTgt>
                                        </p:tgtEl>
                                        <p:attrNameLst>
                                          <p:attrName>style.visibility</p:attrName>
                                        </p:attrNameLst>
                                      </p:cBhvr>
                                      <p:to>
                                        <p:strVal val="visible"/>
                                      </p:to>
                                    </p:set>
                                    <p:animEffect transition="in" filter="wipe(left)">
                                      <p:cBhvr>
                                        <p:cTn id="22" dur="500"/>
                                        <p:tgtEl>
                                          <p:spTgt spid="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2915816" y="2230665"/>
            <a:ext cx="3672408" cy="707888"/>
          </a:xfrm>
          <a:prstGeom prst="rect">
            <a:avLst/>
          </a:prstGeom>
        </p:spPr>
        <p:txBody>
          <a:bodyPr wrap="square" lIns="91441" tIns="45721" rIns="91441" bIns="45721">
            <a:spAutoFit/>
          </a:bodyPr>
          <a:lstStyle/>
          <a:p>
            <a:pPr defTabSz="914399"/>
            <a:r>
              <a:rPr lang="zh-CN" altLang="en-US" sz="4000" b="1" dirty="0" smtClean="0">
                <a:solidFill>
                  <a:prstClr val="white">
                    <a:lumMod val="75000"/>
                  </a:prstClr>
                </a:solidFill>
                <a:latin typeface="方正特粗光辉简体" panose="02000000000000000000" pitchFamily="2" charset="-122"/>
                <a:ea typeface="方正特粗光辉简体" panose="02000000000000000000" pitchFamily="2" charset="-122"/>
              </a:rPr>
              <a:t>操作系统概述</a:t>
            </a:r>
            <a:endParaRPr lang="zh-CN" altLang="en-US" sz="4000" b="1" dirty="0">
              <a:solidFill>
                <a:prstClr val="white">
                  <a:lumMod val="75000"/>
                </a:prstClr>
              </a:solidFill>
              <a:latin typeface="方正特粗光辉简体" panose="02000000000000000000" pitchFamily="2" charset="-122"/>
              <a:ea typeface="方正特粗光辉简体" panose="02000000000000000000" pitchFamily="2" charset="-122"/>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229162" y="1307333"/>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en-US" altLang="zh-CN" sz="5400" b="1" dirty="0">
                <a:ln w="50800"/>
                <a:solidFill>
                  <a:schemeClr val="bg1">
                    <a:shade val="50000"/>
                  </a:schemeClr>
                </a:solidFill>
                <a:latin typeface="黑体" pitchFamily="49" charset="-122"/>
                <a:ea typeface="黑体" pitchFamily="49" charset="-122"/>
              </a:rPr>
              <a:t>Chapter</a:t>
            </a:r>
            <a:r>
              <a:rPr lang="en-US" altLang="zh-CN" sz="5400" b="1" dirty="0" smtClean="0">
                <a:ln w="50800"/>
                <a:solidFill>
                  <a:schemeClr val="bg1">
                    <a:shade val="50000"/>
                  </a:schemeClr>
                </a:solidFill>
                <a:latin typeface="黑体" pitchFamily="49" charset="-122"/>
                <a:ea typeface="黑体" pitchFamily="49" charset="-122"/>
              </a:rPr>
              <a:t> 1</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操作系统概念及历史</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操作系统的基本类型</a:t>
              </a:r>
              <a:endParaRPr lang="en-US" altLang="zh-CN" b="1" dirty="0">
                <a:solidFill>
                  <a:srgbClr val="000000"/>
                </a:solidFill>
                <a:ea typeface="宋体" pitchFamily="2" charset="-122"/>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操作系统的功能</a:t>
              </a:r>
              <a:endParaRPr lang="en-US" altLang="zh-CN" b="1" dirty="0">
                <a:solidFill>
                  <a:srgbClr val="000000"/>
                </a:solidFill>
                <a:ea typeface="宋体" pitchFamily="2" charset="-122"/>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计算机硬件简介</a:t>
              </a:r>
              <a:endParaRPr lang="en-US" altLang="zh-CN" b="1" dirty="0">
                <a:solidFill>
                  <a:srgbClr val="000000"/>
                </a:solidFill>
                <a:ea typeface="宋体" pitchFamily="2" charset="-122"/>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算法描述及研究操作系统的观点</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1000" fill="hold"/>
                                        <p:tgtEl>
                                          <p:spTgt spid="16"/>
                                        </p:tgtEl>
                                        <p:attrNameLst>
                                          <p:attrName>ppt_w</p:attrName>
                                        </p:attrNameLst>
                                      </p:cBhvr>
                                      <p:tavLst>
                                        <p:tav tm="0">
                                          <p:val>
                                            <p:strVal val="#ppt_w*0.70"/>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Effect transition="in" filter="fade">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1000" fill="hold"/>
                                        <p:tgtEl>
                                          <p:spTgt spid="22"/>
                                        </p:tgtEl>
                                        <p:attrNameLst>
                                          <p:attrName>ppt_w</p:attrName>
                                        </p:attrNameLst>
                                      </p:cBhvr>
                                      <p:tavLst>
                                        <p:tav tm="0">
                                          <p:val>
                                            <p:strVal val="#ppt_w*0.70"/>
                                          </p:val>
                                        </p:tav>
                                        <p:tav tm="100000">
                                          <p:val>
                                            <p:strVal val="#ppt_w"/>
                                          </p:val>
                                        </p:tav>
                                      </p:tavLst>
                                    </p:anim>
                                    <p:anim calcmode="lin" valueType="num">
                                      <p:cBhvr>
                                        <p:cTn id="22" dur="1000" fill="hold"/>
                                        <p:tgtEl>
                                          <p:spTgt spid="22"/>
                                        </p:tgtEl>
                                        <p:attrNameLst>
                                          <p:attrName>ppt_h</p:attrName>
                                        </p:attrNameLst>
                                      </p:cBhvr>
                                      <p:tavLst>
                                        <p:tav tm="0">
                                          <p:val>
                                            <p:strVal val="#ppt_h"/>
                                          </p:val>
                                        </p:tav>
                                        <p:tav tm="100000">
                                          <p:val>
                                            <p:strVal val="#ppt_h"/>
                                          </p:val>
                                        </p:tav>
                                      </p:tavLst>
                                    </p:anim>
                                    <p:animEffect transition="in" filter="fade">
                                      <p:cBhvr>
                                        <p:cTn id="23" dur="10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1000" fill="hold"/>
                                        <p:tgtEl>
                                          <p:spTgt spid="32"/>
                                        </p:tgtEl>
                                        <p:attrNameLst>
                                          <p:attrName>ppt_w</p:attrName>
                                        </p:attrNameLst>
                                      </p:cBhvr>
                                      <p:tavLst>
                                        <p:tav tm="0">
                                          <p:val>
                                            <p:strVal val="#ppt_w*0.70"/>
                                          </p:val>
                                        </p:tav>
                                        <p:tav tm="100000">
                                          <p:val>
                                            <p:strVal val="#ppt_w"/>
                                          </p:val>
                                        </p:tav>
                                      </p:tavLst>
                                    </p:anim>
                                    <p:anim calcmode="lin" valueType="num">
                                      <p:cBhvr>
                                        <p:cTn id="36" dur="1000" fill="hold"/>
                                        <p:tgtEl>
                                          <p:spTgt spid="32"/>
                                        </p:tgtEl>
                                        <p:attrNameLst>
                                          <p:attrName>ppt_h</p:attrName>
                                        </p:attrNameLst>
                                      </p:cBhvr>
                                      <p:tavLst>
                                        <p:tav tm="0">
                                          <p:val>
                                            <p:strVal val="#ppt_h"/>
                                          </p:val>
                                        </p:tav>
                                        <p:tav tm="100000">
                                          <p:val>
                                            <p:strVal val="#ppt_h"/>
                                          </p:val>
                                        </p:tav>
                                      </p:tavLst>
                                    </p:anim>
                                    <p:animEffect transition="in" filter="fade">
                                      <p:cBhvr>
                                        <p:cTn id="37" dur="10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11"/>
                                        </p:tgtEl>
                                      </p:cBhvr>
                                      <p:by x="150000" y="150000"/>
                                    </p:animScale>
                                  </p:childTnLst>
                                </p:cTn>
                              </p:par>
                              <p:par>
                                <p:cTn id="42" presetID="42" presetClass="path" presetSubtype="0" accel="50000" decel="50000" fill="hold" nodeType="withEffect">
                                  <p:stCondLst>
                                    <p:cond delay="0"/>
                                  </p:stCondLst>
                                  <p:childTnLst>
                                    <p:animMotion origin="layout" path="M -3.61111E-6 -3.82834E-7 L -0.00642 0.25533 " pathEditMode="relative" rAng="0" ptsTypes="AA">
                                      <p:cBhvr>
                                        <p:cTn id="43" dur="2000" fill="hold"/>
                                        <p:tgtEl>
                                          <p:spTgt spid="11"/>
                                        </p:tgtEl>
                                        <p:attrNameLst>
                                          <p:attrName>ppt_x</p:attrName>
                                          <p:attrName>ppt_y</p:attrName>
                                        </p:attrNameLst>
                                      </p:cBhvr>
                                      <p:rCtr x="-300" y="12800"/>
                                    </p:animMotion>
                                  </p:childTnLst>
                                </p:cTn>
                              </p:par>
                              <p:par>
                                <p:cTn id="44" presetID="10" presetClass="exit" presetSubtype="0" fill="hold" nodeType="withEffect">
                                  <p:stCondLst>
                                    <p:cond delay="0"/>
                                  </p:stCondLst>
                                  <p:childTnLst>
                                    <p:animEffect transition="out" filter="fade">
                                      <p:cBhvr>
                                        <p:cTn id="45" dur="2000"/>
                                        <p:tgtEl>
                                          <p:spTgt spid="16"/>
                                        </p:tgtEl>
                                      </p:cBhvr>
                                    </p:animEffect>
                                    <p:set>
                                      <p:cBhvr>
                                        <p:cTn id="46" dur="1" fill="hold">
                                          <p:stCondLst>
                                            <p:cond delay="1999"/>
                                          </p:stCondLst>
                                        </p:cTn>
                                        <p:tgtEl>
                                          <p:spTgt spid="1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2000"/>
                                        <p:tgtEl>
                                          <p:spTgt spid="22"/>
                                        </p:tgtEl>
                                      </p:cBhvr>
                                    </p:animEffect>
                                    <p:set>
                                      <p:cBhvr>
                                        <p:cTn id="49" dur="1" fill="hold">
                                          <p:stCondLst>
                                            <p:cond delay="1999"/>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000"/>
                                        <p:tgtEl>
                                          <p:spTgt spid="27"/>
                                        </p:tgtEl>
                                      </p:cBhvr>
                                    </p:animEffect>
                                    <p:set>
                                      <p:cBhvr>
                                        <p:cTn id="52" dur="1" fill="hold">
                                          <p:stCondLst>
                                            <p:cond delay="1999"/>
                                          </p:stCondLst>
                                        </p:cTn>
                                        <p:tgtEl>
                                          <p:spTgt spid="2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2000"/>
                                        <p:tgtEl>
                                          <p:spTgt spid="32"/>
                                        </p:tgtEl>
                                      </p:cBhvr>
                                    </p:animEffect>
                                    <p:set>
                                      <p:cBhvr>
                                        <p:cTn id="55" dur="1" fill="hold">
                                          <p:stCondLst>
                                            <p:cond delay="1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揭开操作系统神秘的面纱</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75" name="Text Box 114"/>
          <p:cNvSpPr txBox="1">
            <a:spLocks noChangeArrowheads="1"/>
          </p:cNvSpPr>
          <p:nvPr/>
        </p:nvSpPr>
        <p:spPr bwMode="auto">
          <a:xfrm>
            <a:off x="857224" y="1186208"/>
            <a:ext cx="6858048" cy="3416320"/>
          </a:xfrm>
          <a:prstGeom prst="rect">
            <a:avLst/>
          </a:prstGeom>
          <a:noFill/>
          <a:ln w="9525">
            <a:noFill/>
            <a:miter lim="800000"/>
            <a:headEnd/>
            <a:tailEnd/>
          </a:ln>
        </p:spPr>
        <p:txBody>
          <a:bodyPr wrap="square">
            <a:spAutoFit/>
          </a:bodyPr>
          <a:lstStyle/>
          <a:p>
            <a:pPr marL="34290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打开电源，计算机就要开始工作</a:t>
            </a:r>
            <a:r>
              <a:rPr lang="zh-CN" altLang="en-US" sz="2400" b="1" dirty="0" smtClean="0">
                <a:solidFill>
                  <a:schemeClr val="bg1"/>
                </a:solidFill>
                <a:latin typeface="+mn-ea"/>
              </a:rPr>
              <a:t>了</a:t>
            </a:r>
            <a:endParaRPr lang="en-US" altLang="zh-CN" sz="2400" b="1" dirty="0">
              <a:solidFill>
                <a:schemeClr val="bg1"/>
              </a:solidFill>
              <a:latin typeface="+mn-ea"/>
            </a:endParaRPr>
          </a:p>
          <a:p>
            <a:pPr marL="34290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计算机怎么工作？</a:t>
            </a:r>
            <a:endParaRPr lang="en-US" altLang="zh-CN" sz="2400" b="1" dirty="0" smtClean="0">
              <a:solidFill>
                <a:schemeClr val="bg1"/>
              </a:solidFill>
              <a:latin typeface="+mn-ea"/>
            </a:endParaRPr>
          </a:p>
          <a:p>
            <a:pPr marL="0" lvl="1">
              <a:lnSpc>
                <a:spcPct val="150000"/>
              </a:lnSpc>
              <a:buClr>
                <a:srgbClr val="FFFF00"/>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chemeClr val="bg1"/>
                </a:solidFill>
                <a:latin typeface="+mn-ea"/>
              </a:rPr>
              <a:t>这是我们最基本也是最重要的常识</a:t>
            </a:r>
            <a:endParaRPr lang="en-US" altLang="zh-CN" sz="2400" b="1" dirty="0" smtClean="0">
              <a:solidFill>
                <a:schemeClr val="bg1"/>
              </a:solidFill>
              <a:latin typeface="+mn-ea"/>
            </a:endParaRPr>
          </a:p>
          <a:p>
            <a:pPr marL="34290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说到底就是一</a:t>
            </a:r>
            <a:r>
              <a:rPr lang="zh-CN" altLang="en-US" sz="2400" b="1" dirty="0" smtClean="0">
                <a:solidFill>
                  <a:schemeClr val="bg1"/>
                </a:solidFill>
                <a:latin typeface="+mn-ea"/>
              </a:rPr>
              <a:t>个计算模型</a:t>
            </a:r>
            <a:endParaRPr lang="en-US" altLang="zh-CN" sz="2400" b="1" dirty="0" smtClean="0">
              <a:solidFill>
                <a:schemeClr val="bg1"/>
              </a:solidFill>
              <a:latin typeface="+mn-ea"/>
            </a:endParaRPr>
          </a:p>
          <a:p>
            <a:pPr marL="0" lvl="1">
              <a:lnSpc>
                <a:spcPct val="150000"/>
              </a:lnSpc>
              <a:buClr>
                <a:srgbClr val="FFFF00"/>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chemeClr val="bg1"/>
                </a:solidFill>
                <a:latin typeface="+mn-ea"/>
              </a:rPr>
              <a:t>图灵机</a:t>
            </a:r>
            <a:endParaRPr lang="en-US" altLang="zh-CN" sz="2400" b="1" dirty="0">
              <a:solidFill>
                <a:schemeClr val="bg1"/>
              </a:solidFill>
              <a:latin typeface="+mn-ea"/>
            </a:endParaRPr>
          </a:p>
          <a:p>
            <a:pPr marL="0" lvl="1">
              <a:lnSpc>
                <a:spcPct val="150000"/>
              </a:lnSpc>
            </a:pPr>
            <a:endParaRPr lang="zh-CN" altLang="en-US" sz="2400" b="1" dirty="0">
              <a:solidFill>
                <a:schemeClr val="bg1"/>
              </a:solidFill>
              <a:latin typeface="+mn-ea"/>
            </a:endParaRPr>
          </a:p>
        </p:txBody>
      </p:sp>
      <p:pic>
        <p:nvPicPr>
          <p:cNvPr id="2" name="图片 1"/>
          <p:cNvPicPr>
            <a:picLocks noChangeAspect="1"/>
          </p:cNvPicPr>
          <p:nvPr/>
        </p:nvPicPr>
        <p:blipFill>
          <a:blip r:embed="rId2"/>
          <a:stretch>
            <a:fillRect/>
          </a:stretch>
        </p:blipFill>
        <p:spPr>
          <a:xfrm>
            <a:off x="5436096" y="2969194"/>
            <a:ext cx="3213147" cy="1994368"/>
          </a:xfrm>
          <a:prstGeom prst="rect">
            <a:avLst/>
          </a:prstGeom>
        </p:spPr>
      </p:pic>
    </p:spTree>
    <p:extLst>
      <p:ext uri="{BB962C8B-B14F-4D97-AF65-F5344CB8AC3E}">
        <p14:creationId xmlns:p14="http://schemas.microsoft.com/office/powerpoint/2010/main" val="2620173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animEffect transition="in" filter="wipe(left)">
                                      <p:cBhvr>
                                        <p:cTn id="7" dur="500"/>
                                        <p:tgtEl>
                                          <p:spTgt spid="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5">
                                            <p:txEl>
                                              <p:pRg st="1" end="1"/>
                                            </p:txEl>
                                          </p:spTgt>
                                        </p:tgtEl>
                                        <p:attrNameLst>
                                          <p:attrName>style.visibility</p:attrName>
                                        </p:attrNameLst>
                                      </p:cBhvr>
                                      <p:to>
                                        <p:strVal val="visible"/>
                                      </p:to>
                                    </p:set>
                                    <p:animEffect transition="in" filter="wipe(left)">
                                      <p:cBhvr>
                                        <p:cTn id="12" dur="500"/>
                                        <p:tgtEl>
                                          <p:spTgt spid="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
                                            <p:txEl>
                                              <p:pRg st="2" end="2"/>
                                            </p:txEl>
                                          </p:spTgt>
                                        </p:tgtEl>
                                        <p:attrNameLst>
                                          <p:attrName>style.visibility</p:attrName>
                                        </p:attrNameLst>
                                      </p:cBhvr>
                                      <p:to>
                                        <p:strVal val="visible"/>
                                      </p:to>
                                    </p:set>
                                    <p:animEffect transition="in" filter="wipe(left)">
                                      <p:cBhvr>
                                        <p:cTn id="17" dur="500"/>
                                        <p:tgtEl>
                                          <p:spTgt spid="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5">
                                            <p:txEl>
                                              <p:pRg st="3" end="3"/>
                                            </p:txEl>
                                          </p:spTgt>
                                        </p:tgtEl>
                                        <p:attrNameLst>
                                          <p:attrName>style.visibility</p:attrName>
                                        </p:attrNameLst>
                                      </p:cBhvr>
                                      <p:to>
                                        <p:strVal val="visible"/>
                                      </p:to>
                                    </p:set>
                                    <p:animEffect transition="in" filter="wipe(left)">
                                      <p:cBhvr>
                                        <p:cTn id="22" dur="500"/>
                                        <p:tgtEl>
                                          <p:spTgt spid="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
                                            <p:txEl>
                                              <p:pRg st="4" end="4"/>
                                            </p:txEl>
                                          </p:spTgt>
                                        </p:tgtEl>
                                        <p:attrNameLst>
                                          <p:attrName>style.visibility</p:attrName>
                                        </p:attrNameLst>
                                      </p:cBhvr>
                                      <p:to>
                                        <p:strVal val="visible"/>
                                      </p:to>
                                    </p:set>
                                    <p:animEffect transition="in" filter="wipe(left)">
                                      <p:cBhvr>
                                        <p:cTn id="27" dur="500"/>
                                        <p:tgtEl>
                                          <p:spTgt spid="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揭开操作系统神秘的面纱</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3" name="图片 2"/>
          <p:cNvPicPr>
            <a:picLocks noChangeAspect="1"/>
          </p:cNvPicPr>
          <p:nvPr/>
        </p:nvPicPr>
        <p:blipFill>
          <a:blip r:embed="rId2"/>
          <a:stretch>
            <a:fillRect/>
          </a:stretch>
        </p:blipFill>
        <p:spPr>
          <a:xfrm>
            <a:off x="382410" y="764949"/>
            <a:ext cx="8328828" cy="4318145"/>
          </a:xfrm>
          <a:prstGeom prst="rect">
            <a:avLst/>
          </a:prstGeom>
        </p:spPr>
      </p:pic>
      <p:sp>
        <p:nvSpPr>
          <p:cNvPr id="4" name="矩形 3"/>
          <p:cNvSpPr/>
          <p:nvPr/>
        </p:nvSpPr>
        <p:spPr>
          <a:xfrm>
            <a:off x="6190958" y="3147814"/>
            <a:ext cx="2520280" cy="830997"/>
          </a:xfrm>
          <a:prstGeom prst="rect">
            <a:avLst/>
          </a:prstGeom>
          <a:noFill/>
        </p:spPr>
        <p:txBody>
          <a:bodyPr wrap="square" lIns="91440" tIns="45720" rIns="91440" bIns="45720">
            <a:spAutoFit/>
          </a:bodyPr>
          <a:lstStyle/>
          <a:p>
            <a:pPr algn="ctr"/>
            <a:r>
              <a:rPr lang="zh-CN" altLang="en-US" sz="2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用自动化设备模拟人的思考</a:t>
            </a:r>
            <a:endParaRPr lang="zh-CN" altLang="en-US" sz="2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矩形 5"/>
          <p:cNvSpPr/>
          <p:nvPr/>
        </p:nvSpPr>
        <p:spPr>
          <a:xfrm>
            <a:off x="6156176" y="4066042"/>
            <a:ext cx="2284049" cy="646331"/>
          </a:xfrm>
          <a:prstGeom prst="rect">
            <a:avLst/>
          </a:prstGeom>
          <a:noFill/>
        </p:spPr>
        <p:txBody>
          <a:bodyPr wrap="square" lIns="91440" tIns="45720" rIns="91440" bIns="45720">
            <a:spAutoFit/>
          </a:bodyPr>
          <a:lstStyle/>
          <a:p>
            <a:pPr algn="ctr"/>
            <a:r>
              <a:rPr lang="zh-CN" altLang="en-US" b="1" cap="none" spc="0" dirty="0" smtClean="0">
                <a:ln w="22225">
                  <a:solidFill>
                    <a:schemeClr val="accent2"/>
                  </a:solidFill>
                  <a:prstDash val="solid"/>
                </a:ln>
                <a:solidFill>
                  <a:schemeClr val="accent2">
                    <a:lumMod val="40000"/>
                    <a:lumOff val="60000"/>
                  </a:schemeClr>
                </a:solidFill>
                <a:effectLst/>
              </a:rPr>
              <a:t>   控制器模拟大脑，</a:t>
            </a:r>
            <a:endParaRPr lang="en-US" altLang="zh-CN" b="1" cap="none" spc="0" dirty="0" smtClean="0">
              <a:ln w="22225">
                <a:solidFill>
                  <a:schemeClr val="accent2"/>
                </a:solidFill>
                <a:prstDash val="solid"/>
              </a:ln>
              <a:solidFill>
                <a:schemeClr val="accent2">
                  <a:lumMod val="40000"/>
                  <a:lumOff val="60000"/>
                </a:schemeClr>
              </a:solidFill>
              <a:effectLst/>
            </a:endParaRPr>
          </a:p>
          <a:p>
            <a:pPr algn="ctr"/>
            <a:r>
              <a:rPr lang="zh-CN" altLang="en-US" b="1" cap="none" spc="0" dirty="0" smtClean="0">
                <a:ln w="22225">
                  <a:solidFill>
                    <a:schemeClr val="accent2"/>
                  </a:solidFill>
                  <a:prstDash val="solid"/>
                </a:ln>
                <a:solidFill>
                  <a:schemeClr val="accent2">
                    <a:lumMod val="40000"/>
                    <a:lumOff val="60000"/>
                  </a:schemeClr>
                </a:solidFill>
                <a:effectLst/>
              </a:rPr>
              <a:t>读写头模拟眼睛和笔</a:t>
            </a:r>
            <a:endParaRPr lang="zh-CN" altLang="en-US"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3381091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从图灵机到通用图灵机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5" name="图片 4"/>
          <p:cNvPicPr>
            <a:picLocks noChangeAspect="1"/>
          </p:cNvPicPr>
          <p:nvPr/>
        </p:nvPicPr>
        <p:blipFill>
          <a:blip r:embed="rId2"/>
          <a:stretch>
            <a:fillRect/>
          </a:stretch>
        </p:blipFill>
        <p:spPr>
          <a:xfrm>
            <a:off x="614310" y="951323"/>
            <a:ext cx="7704856" cy="1844637"/>
          </a:xfrm>
          <a:prstGeom prst="rect">
            <a:avLst/>
          </a:prstGeom>
        </p:spPr>
      </p:pic>
      <p:pic>
        <p:nvPicPr>
          <p:cNvPr id="7" name="图片 6"/>
          <p:cNvPicPr>
            <a:picLocks noChangeAspect="1"/>
          </p:cNvPicPr>
          <p:nvPr/>
        </p:nvPicPr>
        <p:blipFill>
          <a:blip r:embed="rId3"/>
          <a:stretch>
            <a:fillRect/>
          </a:stretch>
        </p:blipFill>
        <p:spPr>
          <a:xfrm>
            <a:off x="628462" y="2859782"/>
            <a:ext cx="7626873" cy="2184781"/>
          </a:xfrm>
          <a:prstGeom prst="rect">
            <a:avLst/>
          </a:prstGeom>
        </p:spPr>
      </p:pic>
      <p:sp>
        <p:nvSpPr>
          <p:cNvPr id="8" name="矩形 7"/>
          <p:cNvSpPr/>
          <p:nvPr/>
        </p:nvSpPr>
        <p:spPr>
          <a:xfrm>
            <a:off x="1331640" y="3867894"/>
            <a:ext cx="803425" cy="461665"/>
          </a:xfrm>
          <a:prstGeom prst="rect">
            <a:avLst/>
          </a:prstGeom>
          <a:noFill/>
        </p:spPr>
        <p:txBody>
          <a:bodyPr wrap="none" lIns="91440" tIns="45720" rIns="91440" bIns="45720">
            <a:spAutoFit/>
          </a:bodyPr>
          <a:lstStyle/>
          <a:p>
            <a:pPr algn="ctr"/>
            <a:r>
              <a:rPr lang="zh-CN" altLang="en-US" sz="2400" b="1" cap="none" spc="0" dirty="0" smtClean="0">
                <a:ln w="22225">
                  <a:solidFill>
                    <a:schemeClr val="accent2"/>
                  </a:solidFill>
                  <a:prstDash val="solid"/>
                </a:ln>
                <a:solidFill>
                  <a:schemeClr val="accent2">
                    <a:lumMod val="40000"/>
                    <a:lumOff val="60000"/>
                  </a:schemeClr>
                </a:solidFill>
                <a:effectLst/>
              </a:rPr>
              <a:t>程序</a:t>
            </a:r>
            <a:endParaRPr lang="zh-CN" altLang="en-US" sz="2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67842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从通用图灵机到计算机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pic>
        <p:nvPicPr>
          <p:cNvPr id="2" name="图片 1"/>
          <p:cNvPicPr>
            <a:picLocks noChangeAspect="1"/>
          </p:cNvPicPr>
          <p:nvPr/>
        </p:nvPicPr>
        <p:blipFill>
          <a:blip r:embed="rId2"/>
          <a:stretch>
            <a:fillRect/>
          </a:stretch>
        </p:blipFill>
        <p:spPr>
          <a:xfrm>
            <a:off x="323528" y="969446"/>
            <a:ext cx="8142702" cy="4074713"/>
          </a:xfrm>
          <a:prstGeom prst="rect">
            <a:avLst/>
          </a:prstGeom>
        </p:spPr>
      </p:pic>
      <p:sp>
        <p:nvSpPr>
          <p:cNvPr id="3" name="矩形 2"/>
          <p:cNvSpPr/>
          <p:nvPr/>
        </p:nvSpPr>
        <p:spPr>
          <a:xfrm>
            <a:off x="6156176" y="3651870"/>
            <a:ext cx="1627369" cy="523220"/>
          </a:xfrm>
          <a:prstGeom prst="rect">
            <a:avLst/>
          </a:prstGeom>
          <a:noFill/>
        </p:spPr>
        <p:txBody>
          <a:bodyPr wrap="none" lIns="91440" tIns="45720" rIns="91440" bIns="45720">
            <a:spAutoFit/>
          </a:bodyPr>
          <a:lstStyle/>
          <a:p>
            <a:pPr algn="ctr"/>
            <a:r>
              <a:rPr lang="zh-CN" altLang="en-US" sz="2800" b="1" dirty="0" smtClean="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取值执行</a:t>
            </a:r>
            <a:endParaRPr lang="zh-CN" alt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Tree>
    <p:extLst>
      <p:ext uri="{BB962C8B-B14F-4D97-AF65-F5344CB8AC3E}">
        <p14:creationId xmlns:p14="http://schemas.microsoft.com/office/powerpoint/2010/main" val="15157235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75" name="Text Box 114"/>
          <p:cNvSpPr txBox="1">
            <a:spLocks noChangeArrowheads="1"/>
          </p:cNvSpPr>
          <p:nvPr/>
        </p:nvSpPr>
        <p:spPr bwMode="auto">
          <a:xfrm>
            <a:off x="857224" y="1186208"/>
            <a:ext cx="6858048" cy="3416320"/>
          </a:xfrm>
          <a:prstGeom prst="rect">
            <a:avLst/>
          </a:prstGeom>
          <a:noFill/>
          <a:ln w="9525">
            <a:noFill/>
            <a:miter lim="800000"/>
            <a:headEnd/>
            <a:tailEnd/>
          </a:ln>
        </p:spPr>
        <p:txBody>
          <a:bodyPr wrap="square">
            <a:spAutoFit/>
          </a:bodyPr>
          <a:lstStyle/>
          <a:p>
            <a:pPr marL="0" lvl="1">
              <a:lnSpc>
                <a:spcPct val="150000"/>
              </a:lnSpc>
            </a:pPr>
            <a:r>
              <a:rPr lang="zh-CN" altLang="en-US" sz="2400" b="1" dirty="0" smtClean="0">
                <a:solidFill>
                  <a:schemeClr val="bg1"/>
                </a:solidFill>
                <a:latin typeface="+mn-ea"/>
              </a:rPr>
              <a:t>操作系统</a:t>
            </a:r>
            <a:r>
              <a:rPr lang="zh-CN" altLang="en-US" sz="2400" b="1" dirty="0">
                <a:solidFill>
                  <a:schemeClr val="bg1"/>
                </a:solidFill>
                <a:latin typeface="+mn-ea"/>
              </a:rPr>
              <a:t>是计算机系统中的一个</a:t>
            </a:r>
            <a:r>
              <a:rPr lang="zh-CN" altLang="en-US" sz="2400" b="1" dirty="0">
                <a:solidFill>
                  <a:srgbClr val="FFFF00"/>
                </a:solidFill>
                <a:latin typeface="+mn-ea"/>
              </a:rPr>
              <a:t>系统软件</a:t>
            </a:r>
            <a:r>
              <a:rPr lang="zh-CN" altLang="en-US" sz="2400" b="1" dirty="0">
                <a:solidFill>
                  <a:schemeClr val="bg1"/>
                </a:solidFill>
                <a:latin typeface="+mn-ea"/>
              </a:rPr>
              <a:t>，它是这样一些</a:t>
            </a:r>
            <a:r>
              <a:rPr lang="zh-CN" altLang="en-US" sz="2400" b="1" dirty="0">
                <a:solidFill>
                  <a:srgbClr val="FFFF00"/>
                </a:solidFill>
                <a:latin typeface="+mn-ea"/>
              </a:rPr>
              <a:t>程序模块的集合</a:t>
            </a:r>
            <a:r>
              <a:rPr lang="en-US" altLang="zh-CN" sz="2400" b="1" dirty="0">
                <a:solidFill>
                  <a:schemeClr val="bg1"/>
                </a:solidFill>
                <a:latin typeface="+mn-ea"/>
              </a:rPr>
              <a:t>——</a:t>
            </a:r>
            <a:r>
              <a:rPr lang="zh-CN" altLang="en-US" sz="2400" b="1" dirty="0">
                <a:solidFill>
                  <a:schemeClr val="bg1"/>
                </a:solidFill>
                <a:latin typeface="+mn-ea"/>
              </a:rPr>
              <a:t>它们管理和控制计算机系统中的硬件及软件资源，合理地组织计算机工作流程，以便有效地利用这些资源为用户提供一个功能强大、使用方便和可扩展的工作环境，从而在计算机与其用户之间起到接口的作用。</a:t>
            </a:r>
          </a:p>
        </p:txBody>
      </p:sp>
    </p:spTree>
    <p:extLst>
      <p:ext uri="{BB962C8B-B14F-4D97-AF65-F5344CB8AC3E}">
        <p14:creationId xmlns:p14="http://schemas.microsoft.com/office/powerpoint/2010/main" val="15627719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animEffect transition="in" filter="wipe(left)">
                                      <p:cBhvr>
                                        <p:cTn id="7" dur="500"/>
                                        <p:tgtEl>
                                          <p:spTgt spid="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操作系统作为接口的示意图 </a:t>
            </a:r>
          </a:p>
        </p:txBody>
      </p:sp>
      <p:sp>
        <p:nvSpPr>
          <p:cNvPr id="4" name="AutoShape 3"/>
          <p:cNvSpPr>
            <a:spLocks noChangeAspect="1" noChangeArrowheads="1" noTextEdit="1"/>
          </p:cNvSpPr>
          <p:nvPr/>
        </p:nvSpPr>
        <p:spPr bwMode="auto">
          <a:xfrm>
            <a:off x="1187450" y="1344613"/>
            <a:ext cx="639445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7" name="组合 36"/>
          <p:cNvGrpSpPr/>
          <p:nvPr/>
        </p:nvGrpSpPr>
        <p:grpSpPr>
          <a:xfrm>
            <a:off x="2616200" y="1438276"/>
            <a:ext cx="3983038" cy="681038"/>
            <a:chOff x="2616200" y="1438276"/>
            <a:chExt cx="3983038" cy="681038"/>
          </a:xfrm>
        </p:grpSpPr>
        <p:sp>
          <p:nvSpPr>
            <p:cNvPr id="5" name="Rectangle 5"/>
            <p:cNvSpPr>
              <a:spLocks noChangeArrowheads="1"/>
            </p:cNvSpPr>
            <p:nvPr/>
          </p:nvSpPr>
          <p:spPr bwMode="auto">
            <a:xfrm>
              <a:off x="2616200" y="1438276"/>
              <a:ext cx="3983038" cy="68103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 name="Rectangle 6"/>
            <p:cNvSpPr>
              <a:spLocks noChangeArrowheads="1"/>
            </p:cNvSpPr>
            <p:nvPr/>
          </p:nvSpPr>
          <p:spPr bwMode="auto">
            <a:xfrm>
              <a:off x="4044950" y="1603376"/>
              <a:ext cx="1085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用   户</a:t>
              </a:r>
              <a:endParaRPr kumimoji="0" lang="zh-CN" sz="1800" b="1" i="0" u="none" strike="noStrike" cap="none" normalizeH="0" baseline="0" dirty="0" smtClean="0">
                <a:ln>
                  <a:noFill/>
                </a:ln>
                <a:solidFill>
                  <a:schemeClr val="tx1"/>
                </a:solidFill>
                <a:effectLst/>
              </a:endParaRPr>
            </a:p>
          </p:txBody>
        </p:sp>
      </p:grpSp>
      <p:grpSp>
        <p:nvGrpSpPr>
          <p:cNvPr id="38" name="组合 37"/>
          <p:cNvGrpSpPr/>
          <p:nvPr/>
        </p:nvGrpSpPr>
        <p:grpSpPr>
          <a:xfrm>
            <a:off x="2171700" y="2119313"/>
            <a:ext cx="1779588" cy="658813"/>
            <a:chOff x="2171700" y="2119313"/>
            <a:chExt cx="1779588" cy="658813"/>
          </a:xfrm>
        </p:grpSpPr>
        <p:sp>
          <p:nvSpPr>
            <p:cNvPr id="7" name="Rectangle 7"/>
            <p:cNvSpPr>
              <a:spLocks noChangeArrowheads="1"/>
            </p:cNvSpPr>
            <p:nvPr/>
          </p:nvSpPr>
          <p:spPr bwMode="auto">
            <a:xfrm>
              <a:off x="2171700" y="2119313"/>
              <a:ext cx="1779588" cy="65881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8" name="Rectangle 8"/>
            <p:cNvSpPr>
              <a:spLocks noChangeArrowheads="1"/>
            </p:cNvSpPr>
            <p:nvPr/>
          </p:nvSpPr>
          <p:spPr bwMode="auto">
            <a:xfrm>
              <a:off x="2452688" y="2284413"/>
              <a:ext cx="123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应用程序</a:t>
              </a:r>
              <a:endParaRPr kumimoji="0" lang="zh-CN" sz="1800" b="1" i="0" u="none" strike="noStrike" cap="none" normalizeH="0" baseline="0" dirty="0" smtClean="0">
                <a:ln>
                  <a:noFill/>
                </a:ln>
                <a:solidFill>
                  <a:schemeClr val="tx1"/>
                </a:solidFill>
                <a:effectLst/>
              </a:endParaRPr>
            </a:p>
          </p:txBody>
        </p:sp>
      </p:grpSp>
      <p:grpSp>
        <p:nvGrpSpPr>
          <p:cNvPr id="39" name="组合 38"/>
          <p:cNvGrpSpPr/>
          <p:nvPr/>
        </p:nvGrpSpPr>
        <p:grpSpPr>
          <a:xfrm>
            <a:off x="1725613" y="2778126"/>
            <a:ext cx="5318125" cy="892175"/>
            <a:chOff x="1725613" y="2778126"/>
            <a:chExt cx="5318125" cy="892175"/>
          </a:xfrm>
        </p:grpSpPr>
        <p:sp>
          <p:nvSpPr>
            <p:cNvPr id="9" name="Rectangle 9"/>
            <p:cNvSpPr>
              <a:spLocks noChangeArrowheads="1"/>
            </p:cNvSpPr>
            <p:nvPr/>
          </p:nvSpPr>
          <p:spPr bwMode="auto">
            <a:xfrm>
              <a:off x="1725613" y="2778126"/>
              <a:ext cx="5318125" cy="8921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10" name="Rectangle 10"/>
            <p:cNvSpPr>
              <a:spLocks noChangeArrowheads="1"/>
            </p:cNvSpPr>
            <p:nvPr/>
          </p:nvSpPr>
          <p:spPr bwMode="auto">
            <a:xfrm>
              <a:off x="2382838" y="2871788"/>
              <a:ext cx="4026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sng"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系统调用</a:t>
              </a: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  </a:t>
              </a:r>
              <a:r>
                <a:rPr kumimoji="0" lang="zh-CN" sz="2400" b="1" i="0" u="sng"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命令</a:t>
              </a: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  </a:t>
              </a:r>
              <a:r>
                <a:rPr kumimoji="0" lang="zh-CN" sz="2400" b="1" i="0" u="sng"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图</a:t>
              </a:r>
              <a:r>
                <a:rPr lang="zh-CN" altLang="en-US" sz="2400" b="1" u="sng" dirty="0" smtClean="0">
                  <a:solidFill>
                    <a:srgbClr val="FF0000"/>
                  </a:solidFill>
                  <a:latin typeface="宋体" panose="02010600030101010101" pitchFamily="2" charset="-122"/>
                  <a:ea typeface="宋体" panose="02010600030101010101" pitchFamily="2" charset="-122"/>
                </a:rPr>
                <a:t>形和</a:t>
              </a:r>
              <a:r>
                <a:rPr kumimoji="0" lang="zh-CN" sz="2400" b="1" i="0" u="sng"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窗口</a:t>
              </a:r>
              <a:endParaRPr kumimoji="0" lang="zh-CN" sz="1800" b="1" i="0" u="sng" strike="noStrike" cap="none" normalizeH="0" baseline="0" dirty="0" smtClean="0">
                <a:ln>
                  <a:noFill/>
                </a:ln>
                <a:solidFill>
                  <a:srgbClr val="FF0000"/>
                </a:solidFill>
                <a:effectLst/>
              </a:endParaRPr>
            </a:p>
          </p:txBody>
        </p:sp>
        <p:sp>
          <p:nvSpPr>
            <p:cNvPr id="11" name="Rectangle 11"/>
            <p:cNvSpPr>
              <a:spLocks noChangeArrowheads="1"/>
            </p:cNvSpPr>
            <p:nvPr/>
          </p:nvSpPr>
          <p:spPr bwMode="auto">
            <a:xfrm>
              <a:off x="3763963" y="3248026"/>
              <a:ext cx="123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操作系统</a:t>
              </a:r>
              <a:endParaRPr kumimoji="0" lang="zh-CN" sz="1800" b="1" i="0" u="none" strike="noStrike" cap="none" normalizeH="0" baseline="0" dirty="0" smtClean="0">
                <a:ln>
                  <a:noFill/>
                </a:ln>
                <a:solidFill>
                  <a:schemeClr val="tx1"/>
                </a:solidFill>
                <a:effectLst/>
              </a:endParaRPr>
            </a:p>
          </p:txBody>
        </p:sp>
      </p:grpSp>
      <p:grpSp>
        <p:nvGrpSpPr>
          <p:cNvPr id="35" name="组合 34"/>
          <p:cNvGrpSpPr/>
          <p:nvPr/>
        </p:nvGrpSpPr>
        <p:grpSpPr>
          <a:xfrm>
            <a:off x="4327525" y="2119313"/>
            <a:ext cx="115888" cy="658813"/>
            <a:chOff x="4327525" y="2119313"/>
            <a:chExt cx="115888" cy="658813"/>
          </a:xfrm>
        </p:grpSpPr>
        <p:sp>
          <p:nvSpPr>
            <p:cNvPr id="12" name="Line 12"/>
            <p:cNvSpPr>
              <a:spLocks noChangeShapeType="1"/>
            </p:cNvSpPr>
            <p:nvPr/>
          </p:nvSpPr>
          <p:spPr bwMode="auto">
            <a:xfrm>
              <a:off x="4394531" y="2119313"/>
              <a:ext cx="0" cy="658813"/>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p>
          </p:txBody>
        </p:sp>
        <p:sp>
          <p:nvSpPr>
            <p:cNvPr id="13" name="Freeform 13"/>
            <p:cNvSpPr>
              <a:spLocks/>
            </p:cNvSpPr>
            <p:nvPr/>
          </p:nvSpPr>
          <p:spPr bwMode="auto">
            <a:xfrm>
              <a:off x="4327525" y="2495551"/>
              <a:ext cx="115888" cy="282575"/>
            </a:xfrm>
            <a:custGeom>
              <a:avLst/>
              <a:gdLst>
                <a:gd name="T0" fmla="*/ 73 w 73"/>
                <a:gd name="T1" fmla="*/ 0 h 178"/>
                <a:gd name="T2" fmla="*/ 44 w 73"/>
                <a:gd name="T3" fmla="*/ 30 h 178"/>
                <a:gd name="T4" fmla="*/ 0 w 73"/>
                <a:gd name="T5" fmla="*/ 0 h 178"/>
                <a:gd name="T6" fmla="*/ 44 w 73"/>
                <a:gd name="T7" fmla="*/ 178 h 178"/>
                <a:gd name="T8" fmla="*/ 73 w 73"/>
                <a:gd name="T9" fmla="*/ 0 h 178"/>
              </a:gdLst>
              <a:ahLst/>
              <a:cxnLst>
                <a:cxn ang="0">
                  <a:pos x="T0" y="T1"/>
                </a:cxn>
                <a:cxn ang="0">
                  <a:pos x="T2" y="T3"/>
                </a:cxn>
                <a:cxn ang="0">
                  <a:pos x="T4" y="T5"/>
                </a:cxn>
                <a:cxn ang="0">
                  <a:pos x="T6" y="T7"/>
                </a:cxn>
                <a:cxn ang="0">
                  <a:pos x="T8" y="T9"/>
                </a:cxn>
              </a:cxnLst>
              <a:rect l="0" t="0" r="r" b="b"/>
              <a:pathLst>
                <a:path w="73" h="178">
                  <a:moveTo>
                    <a:pt x="73" y="0"/>
                  </a:moveTo>
                  <a:lnTo>
                    <a:pt x="44" y="30"/>
                  </a:lnTo>
                  <a:lnTo>
                    <a:pt x="0" y="0"/>
                  </a:lnTo>
                  <a:lnTo>
                    <a:pt x="44" y="178"/>
                  </a:lnTo>
                  <a:lnTo>
                    <a:pt x="73"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14" name="Freeform 14"/>
            <p:cNvSpPr>
              <a:spLocks/>
            </p:cNvSpPr>
            <p:nvPr/>
          </p:nvSpPr>
          <p:spPr bwMode="auto">
            <a:xfrm>
              <a:off x="4327525" y="2119313"/>
              <a:ext cx="115888" cy="282575"/>
            </a:xfrm>
            <a:custGeom>
              <a:avLst/>
              <a:gdLst>
                <a:gd name="T0" fmla="*/ 73 w 73"/>
                <a:gd name="T1" fmla="*/ 178 h 178"/>
                <a:gd name="T2" fmla="*/ 44 w 73"/>
                <a:gd name="T3" fmla="*/ 148 h 178"/>
                <a:gd name="T4" fmla="*/ 0 w 73"/>
                <a:gd name="T5" fmla="*/ 178 h 178"/>
                <a:gd name="T6" fmla="*/ 44 w 73"/>
                <a:gd name="T7" fmla="*/ 0 h 178"/>
                <a:gd name="T8" fmla="*/ 73 w 73"/>
                <a:gd name="T9" fmla="*/ 178 h 178"/>
              </a:gdLst>
              <a:ahLst/>
              <a:cxnLst>
                <a:cxn ang="0">
                  <a:pos x="T0" y="T1"/>
                </a:cxn>
                <a:cxn ang="0">
                  <a:pos x="T2" y="T3"/>
                </a:cxn>
                <a:cxn ang="0">
                  <a:pos x="T4" y="T5"/>
                </a:cxn>
                <a:cxn ang="0">
                  <a:pos x="T6" y="T7"/>
                </a:cxn>
                <a:cxn ang="0">
                  <a:pos x="T8" y="T9"/>
                </a:cxn>
              </a:cxnLst>
              <a:rect l="0" t="0" r="r" b="b"/>
              <a:pathLst>
                <a:path w="73" h="178">
                  <a:moveTo>
                    <a:pt x="73" y="178"/>
                  </a:moveTo>
                  <a:lnTo>
                    <a:pt x="44" y="148"/>
                  </a:lnTo>
                  <a:lnTo>
                    <a:pt x="0" y="178"/>
                  </a:lnTo>
                  <a:lnTo>
                    <a:pt x="44" y="0"/>
                  </a:lnTo>
                  <a:lnTo>
                    <a:pt x="73" y="178"/>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p:cNvGrpSpPr/>
          <p:nvPr/>
        </p:nvGrpSpPr>
        <p:grpSpPr>
          <a:xfrm>
            <a:off x="1281113" y="3670301"/>
            <a:ext cx="6208713" cy="658813"/>
            <a:chOff x="1281113" y="3670301"/>
            <a:chExt cx="6208713" cy="658813"/>
          </a:xfrm>
        </p:grpSpPr>
        <p:sp>
          <p:nvSpPr>
            <p:cNvPr id="33" name="Rectangle 18"/>
            <p:cNvSpPr>
              <a:spLocks noChangeArrowheads="1"/>
            </p:cNvSpPr>
            <p:nvPr/>
          </p:nvSpPr>
          <p:spPr bwMode="auto">
            <a:xfrm>
              <a:off x="1281113" y="3670301"/>
              <a:ext cx="6208713" cy="6588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34" name="Rectangle 19"/>
            <p:cNvSpPr>
              <a:spLocks noChangeArrowheads="1"/>
            </p:cNvSpPr>
            <p:nvPr/>
          </p:nvSpPr>
          <p:spPr bwMode="auto">
            <a:xfrm>
              <a:off x="3624263" y="3835401"/>
              <a:ext cx="1546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rPr>
                <a:t>计算机硬件</a:t>
              </a:r>
              <a:endParaRPr kumimoji="0" lang="zh-CN" sz="1800" b="1" i="0" u="none" strike="noStrike" cap="none" normalizeH="0" baseline="0" dirty="0" smtClean="0">
                <a:ln>
                  <a:noFill/>
                </a:ln>
                <a:solidFill>
                  <a:schemeClr val="tx1"/>
                </a:solidFill>
                <a:effectLst/>
              </a:endParaRPr>
            </a:p>
          </p:txBody>
        </p:sp>
      </p:grpSp>
      <p:grpSp>
        <p:nvGrpSpPr>
          <p:cNvPr id="36" name="组合 35"/>
          <p:cNvGrpSpPr/>
          <p:nvPr/>
        </p:nvGrpSpPr>
        <p:grpSpPr>
          <a:xfrm>
            <a:off x="5545138" y="2119313"/>
            <a:ext cx="117475" cy="679450"/>
            <a:chOff x="5545138" y="2119313"/>
            <a:chExt cx="117475" cy="679450"/>
          </a:xfrm>
        </p:grpSpPr>
        <p:sp>
          <p:nvSpPr>
            <p:cNvPr id="31" name="Line 16"/>
            <p:cNvSpPr>
              <a:spLocks noChangeShapeType="1"/>
            </p:cNvSpPr>
            <p:nvPr/>
          </p:nvSpPr>
          <p:spPr bwMode="auto">
            <a:xfrm>
              <a:off x="5609460" y="2139950"/>
              <a:ext cx="0" cy="658813"/>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p>
          </p:txBody>
        </p:sp>
        <p:sp>
          <p:nvSpPr>
            <p:cNvPr id="30" name="Freeform 15"/>
            <p:cNvSpPr>
              <a:spLocks/>
            </p:cNvSpPr>
            <p:nvPr/>
          </p:nvSpPr>
          <p:spPr bwMode="auto">
            <a:xfrm>
              <a:off x="5545138" y="2119313"/>
              <a:ext cx="117475" cy="282575"/>
            </a:xfrm>
            <a:custGeom>
              <a:avLst/>
              <a:gdLst>
                <a:gd name="T0" fmla="*/ 74 w 74"/>
                <a:gd name="T1" fmla="*/ 178 h 178"/>
                <a:gd name="T2" fmla="*/ 44 w 74"/>
                <a:gd name="T3" fmla="*/ 148 h 178"/>
                <a:gd name="T4" fmla="*/ 0 w 74"/>
                <a:gd name="T5" fmla="*/ 178 h 178"/>
                <a:gd name="T6" fmla="*/ 44 w 74"/>
                <a:gd name="T7" fmla="*/ 0 h 178"/>
                <a:gd name="T8" fmla="*/ 74 w 74"/>
                <a:gd name="T9" fmla="*/ 178 h 178"/>
              </a:gdLst>
              <a:ahLst/>
              <a:cxnLst>
                <a:cxn ang="0">
                  <a:pos x="T0" y="T1"/>
                </a:cxn>
                <a:cxn ang="0">
                  <a:pos x="T2" y="T3"/>
                </a:cxn>
                <a:cxn ang="0">
                  <a:pos x="T4" y="T5"/>
                </a:cxn>
                <a:cxn ang="0">
                  <a:pos x="T6" y="T7"/>
                </a:cxn>
                <a:cxn ang="0">
                  <a:pos x="T8" y="T9"/>
                </a:cxn>
              </a:cxnLst>
              <a:rect l="0" t="0" r="r" b="b"/>
              <a:pathLst>
                <a:path w="74" h="178">
                  <a:moveTo>
                    <a:pt x="74" y="178"/>
                  </a:moveTo>
                  <a:lnTo>
                    <a:pt x="44" y="148"/>
                  </a:lnTo>
                  <a:lnTo>
                    <a:pt x="0" y="178"/>
                  </a:lnTo>
                  <a:lnTo>
                    <a:pt x="44" y="0"/>
                  </a:lnTo>
                  <a:lnTo>
                    <a:pt x="74" y="178"/>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32" name="Freeform 17"/>
            <p:cNvSpPr>
              <a:spLocks/>
            </p:cNvSpPr>
            <p:nvPr/>
          </p:nvSpPr>
          <p:spPr bwMode="auto">
            <a:xfrm>
              <a:off x="5545138" y="2495551"/>
              <a:ext cx="117475" cy="282575"/>
            </a:xfrm>
            <a:custGeom>
              <a:avLst/>
              <a:gdLst>
                <a:gd name="T0" fmla="*/ 74 w 74"/>
                <a:gd name="T1" fmla="*/ 0 h 178"/>
                <a:gd name="T2" fmla="*/ 44 w 74"/>
                <a:gd name="T3" fmla="*/ 30 h 178"/>
                <a:gd name="T4" fmla="*/ 0 w 74"/>
                <a:gd name="T5" fmla="*/ 0 h 178"/>
                <a:gd name="T6" fmla="*/ 44 w 74"/>
                <a:gd name="T7" fmla="*/ 178 h 178"/>
                <a:gd name="T8" fmla="*/ 74 w 74"/>
                <a:gd name="T9" fmla="*/ 0 h 178"/>
              </a:gdLst>
              <a:ahLst/>
              <a:cxnLst>
                <a:cxn ang="0">
                  <a:pos x="T0" y="T1"/>
                </a:cxn>
                <a:cxn ang="0">
                  <a:pos x="T2" y="T3"/>
                </a:cxn>
                <a:cxn ang="0">
                  <a:pos x="T4" y="T5"/>
                </a:cxn>
                <a:cxn ang="0">
                  <a:pos x="T6" y="T7"/>
                </a:cxn>
                <a:cxn ang="0">
                  <a:pos x="T8" y="T9"/>
                </a:cxn>
              </a:cxnLst>
              <a:rect l="0" t="0" r="r" b="b"/>
              <a:pathLst>
                <a:path w="74" h="178">
                  <a:moveTo>
                    <a:pt x="74" y="0"/>
                  </a:moveTo>
                  <a:lnTo>
                    <a:pt x="44" y="30"/>
                  </a:lnTo>
                  <a:lnTo>
                    <a:pt x="0" y="0"/>
                  </a:lnTo>
                  <a:lnTo>
                    <a:pt x="44" y="178"/>
                  </a:lnTo>
                  <a:lnTo>
                    <a:pt x="74"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
        <p:nvSpPr>
          <p:cNvPr id="43" name="线形标注 1 42"/>
          <p:cNvSpPr/>
          <p:nvPr/>
        </p:nvSpPr>
        <p:spPr>
          <a:xfrm>
            <a:off x="571473" y="232320"/>
            <a:ext cx="3378080" cy="1350985"/>
          </a:xfrm>
          <a:prstGeom prst="borderCallout1">
            <a:avLst>
              <a:gd name="adj1" fmla="val 24542"/>
              <a:gd name="adj2" fmla="val 101753"/>
              <a:gd name="adj3" fmla="val 197690"/>
              <a:gd name="adj4" fmla="val 110929"/>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a:latin typeface="+mn-ea"/>
              </a:rPr>
              <a:t>这是指由</a:t>
            </a:r>
            <a:r>
              <a:rPr lang="en-US" altLang="zh-CN" sz="2000" b="1" dirty="0">
                <a:latin typeface="+mn-ea"/>
              </a:rPr>
              <a:t>OS</a:t>
            </a:r>
            <a:r>
              <a:rPr lang="zh-CN" altLang="en-US" sz="2000" b="1" dirty="0">
                <a:latin typeface="+mn-ea"/>
              </a:rPr>
              <a:t>提供了一组联机命令</a:t>
            </a:r>
            <a:r>
              <a:rPr lang="en-US" altLang="zh-CN" sz="2000" b="1" dirty="0">
                <a:latin typeface="+mn-ea"/>
              </a:rPr>
              <a:t>(</a:t>
            </a:r>
            <a:r>
              <a:rPr lang="zh-CN" altLang="en-US" sz="2000" b="1" dirty="0">
                <a:latin typeface="+mn-ea"/>
              </a:rPr>
              <a:t>语言</a:t>
            </a:r>
            <a:r>
              <a:rPr lang="en-US" altLang="zh-CN" sz="2000" b="1" dirty="0">
                <a:latin typeface="+mn-ea"/>
              </a:rPr>
              <a:t>)</a:t>
            </a:r>
            <a:r>
              <a:rPr lang="zh-CN" altLang="en-US" sz="2000" b="1" dirty="0">
                <a:latin typeface="+mn-ea"/>
              </a:rPr>
              <a:t>， 用户可通过键盘输入有关命令，来直接操纵计算机系统</a:t>
            </a:r>
            <a:r>
              <a:rPr lang="zh-CN" altLang="en-US" sz="2000" b="1" dirty="0" smtClean="0">
                <a:latin typeface="+mn-ea"/>
              </a:rPr>
              <a:t>。</a:t>
            </a:r>
            <a:endParaRPr lang="zh-CN" altLang="en-US" sz="2000" b="1" dirty="0">
              <a:latin typeface="+mn-ea"/>
            </a:endParaRPr>
          </a:p>
        </p:txBody>
      </p:sp>
      <p:sp>
        <p:nvSpPr>
          <p:cNvPr id="44" name="线形标注 1 43"/>
          <p:cNvSpPr/>
          <p:nvPr/>
        </p:nvSpPr>
        <p:spPr>
          <a:xfrm>
            <a:off x="4058781" y="200004"/>
            <a:ext cx="3378080" cy="1350985"/>
          </a:xfrm>
          <a:prstGeom prst="borderCallout1">
            <a:avLst>
              <a:gd name="adj1" fmla="val 37749"/>
              <a:gd name="adj2" fmla="val 81"/>
              <a:gd name="adj3" fmla="val 203468"/>
              <a:gd name="adj4" fmla="val -26395"/>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en-US" altLang="zh-CN" sz="2000" b="1" dirty="0" smtClean="0">
                <a:latin typeface="+mn-ea"/>
              </a:rPr>
              <a:t>OS</a:t>
            </a:r>
            <a:r>
              <a:rPr lang="zh-CN" altLang="en-US" sz="2000" b="1" dirty="0">
                <a:latin typeface="+mn-ea"/>
              </a:rPr>
              <a:t>提供了一组系统调用，用户可在自己的应用程序中通过相应的系统调用，来操纵计算机。</a:t>
            </a:r>
          </a:p>
        </p:txBody>
      </p:sp>
      <p:sp>
        <p:nvSpPr>
          <p:cNvPr id="46" name="线形标注 1 45"/>
          <p:cNvSpPr/>
          <p:nvPr/>
        </p:nvSpPr>
        <p:spPr>
          <a:xfrm>
            <a:off x="1778577" y="232319"/>
            <a:ext cx="3378080" cy="1205957"/>
          </a:xfrm>
          <a:prstGeom prst="borderCallout1">
            <a:avLst>
              <a:gd name="adj1" fmla="val 24542"/>
              <a:gd name="adj2" fmla="val 101753"/>
              <a:gd name="adj3" fmla="val 222656"/>
              <a:gd name="adj4" fmla="val 114230"/>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a:t>用户通过屏幕上的窗口和图标来操纵计算机系统和运行自己的</a:t>
            </a:r>
            <a:r>
              <a:rPr lang="zh-CN" altLang="en-US" sz="2000" b="1" dirty="0" smtClean="0"/>
              <a:t>程序</a:t>
            </a:r>
            <a:endParaRPr lang="zh-CN" altLang="en-US" sz="2000" b="1" dirty="0">
              <a:latin typeface="+mn-ea"/>
            </a:endParaRPr>
          </a:p>
        </p:txBody>
      </p:sp>
    </p:spTree>
    <p:extLst>
      <p:ext uri="{BB962C8B-B14F-4D97-AF65-F5344CB8AC3E}">
        <p14:creationId xmlns:p14="http://schemas.microsoft.com/office/powerpoint/2010/main" val="637343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nodePh="1">
                                  <p:stCondLst>
                                    <p:cond delay="0"/>
                                  </p:stCondLst>
                                  <p:endCondLst>
                                    <p:cond evt="begin" delay="0">
                                      <p:tn val="20"/>
                                    </p:cond>
                                  </p:end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32"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circle(out)">
                                      <p:cBhvr>
                                        <p:cTn id="27" dur="20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32"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circle(out)">
                                      <p:cBhvr>
                                        <p:cTn id="32" dur="2000"/>
                                        <p:tgtEl>
                                          <p:spTgt spid="35"/>
                                        </p:tgtEl>
                                      </p:cBhvr>
                                    </p:animEffect>
                                  </p:childTnLst>
                                </p:cTn>
                              </p:par>
                              <p:par>
                                <p:cTn id="33" presetID="6" presetClass="entr" presetSubtype="32"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circle(out)">
                                      <p:cBhvr>
                                        <p:cTn id="35" dur="20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right)">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44"/>
                                        </p:tgtEl>
                                      </p:cBhvr>
                                    </p:animEffect>
                                    <p:set>
                                      <p:cBhvr>
                                        <p:cTn id="45" dur="1" fill="hold">
                                          <p:stCondLst>
                                            <p:cond delay="499"/>
                                          </p:stCondLst>
                                        </p:cTn>
                                        <p:tgtEl>
                                          <p:spTgt spid="44"/>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wipe(right)">
                                      <p:cBhvr>
                                        <p:cTn id="50" dur="500"/>
                                        <p:tgtEl>
                                          <p:spTgt spid="4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43"/>
                                        </p:tgtEl>
                                      </p:cBhvr>
                                    </p:animEffect>
                                    <p:set>
                                      <p:cBhvr>
                                        <p:cTn id="55" dur="1" fill="hold">
                                          <p:stCondLst>
                                            <p:cond delay="499"/>
                                          </p:stCondLst>
                                        </p:cTn>
                                        <p:tgtEl>
                                          <p:spTgt spid="4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wipe(right)">
                                      <p:cBhvr>
                                        <p:cTn id="60" dur="500"/>
                                        <p:tgtEl>
                                          <p:spTgt spid="4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500"/>
                                        <p:tgtEl>
                                          <p:spTgt spid="46"/>
                                        </p:tgtEl>
                                      </p:cBhvr>
                                    </p:animEffect>
                                    <p:set>
                                      <p:cBhvr>
                                        <p:cTn id="65"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3" grpId="0" animBg="1"/>
      <p:bldP spid="43" grpId="1" animBg="1"/>
      <p:bldP spid="44" grpId="0" animBg="1"/>
      <p:bldP spid="44" grpId="1" animBg="1"/>
      <p:bldP spid="46" grpId="0" animBg="1"/>
      <p:bldP spid="46"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3414" y="1766977"/>
            <a:ext cx="1114232" cy="494079"/>
          </a:xfrm>
          <a:prstGeom prst="rect">
            <a:avLst/>
          </a:prstGeom>
          <a:gradFill flip="none" rotWithShape="1">
            <a:gsLst>
              <a:gs pos="42000">
                <a:sysClr val="windowText" lastClr="000000">
                  <a:lumMod val="65000"/>
                  <a:lumOff val="35000"/>
                </a:sysClr>
              </a:gs>
              <a:gs pos="100000">
                <a:sysClr val="window" lastClr="FFFFFF"/>
              </a:gs>
            </a:gsLst>
            <a:lin ang="8100000" scaled="1"/>
            <a:tileRect/>
          </a:gradFill>
          <a:ln w="25400" cap="flat" cmpd="sng" algn="ctr">
            <a:solidFill>
              <a:sysClr val="window" lastClr="FFFFFF"/>
            </a:solidFill>
            <a:prstDash val="solid"/>
          </a:ln>
          <a:effectLst/>
          <a:scene3d>
            <a:camera prst="perspectiveFront" fov="0">
              <a:rot lat="20525590" lon="12024257"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1" name="矩形 10"/>
          <p:cNvSpPr/>
          <p:nvPr/>
        </p:nvSpPr>
        <p:spPr>
          <a:xfrm>
            <a:off x="2451914" y="1526714"/>
            <a:ext cx="762552" cy="874939"/>
          </a:xfrm>
          <a:prstGeom prst="rect">
            <a:avLst/>
          </a:prstGeom>
          <a:gradFill flip="none" rotWithShape="1">
            <a:gsLst>
              <a:gs pos="0">
                <a:sysClr val="windowText" lastClr="000000">
                  <a:lumMod val="65000"/>
                  <a:lumOff val="35000"/>
                </a:sysClr>
              </a:gs>
              <a:gs pos="100000">
                <a:sysClr val="window" lastClr="FFFFFF">
                  <a:lumMod val="50000"/>
                </a:sysClr>
              </a:gs>
            </a:gsLst>
            <a:lin ang="13500000" scaled="1"/>
            <a:tileRect/>
          </a:gradFill>
          <a:ln w="25400" cap="flat" cmpd="sng" algn="ctr">
            <a:solidFill>
              <a:sysClr val="window" lastClr="FFFFFF"/>
            </a:solidFill>
            <a:prstDash val="solid"/>
          </a:ln>
          <a:effectLst/>
          <a:scene3d>
            <a:camera prst="perspectiveFront" fov="0">
              <a:rot lat="20525593" lon="6624279" rev="21390797"/>
            </a:camera>
            <a:lightRig rig="balanced" dir="t"/>
          </a:scene3d>
          <a:sp3d z="158750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2" name="矩形 11"/>
          <p:cNvSpPr/>
          <p:nvPr/>
        </p:nvSpPr>
        <p:spPr>
          <a:xfrm>
            <a:off x="1286097" y="2279670"/>
            <a:ext cx="1114232" cy="494079"/>
          </a:xfrm>
          <a:prstGeom prst="rect">
            <a:avLst/>
          </a:prstGeom>
          <a:gradFill flip="none" rotWithShape="1">
            <a:gsLst>
              <a:gs pos="0">
                <a:srgbClr val="D9D9D9"/>
              </a:gs>
              <a:gs pos="100000">
                <a:sysClr val="window" lastClr="FFFFFF"/>
              </a:gs>
            </a:gsLst>
            <a:lin ang="2700000" scaled="1"/>
            <a:tileRect/>
          </a:gradFill>
          <a:ln w="25400" cap="flat" cmpd="sng" algn="ctr">
            <a:solidFill>
              <a:sysClr val="window" lastClr="FFFFFF"/>
            </a:solidFill>
            <a:prstDash val="solid"/>
          </a:ln>
          <a:effectLst/>
          <a:scene3d>
            <a:camera prst="perspectiveFront" fov="0">
              <a:rot lat="17813354" lon="7969249" rev="13616452"/>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3" name="矩形 12"/>
          <p:cNvSpPr/>
          <p:nvPr/>
        </p:nvSpPr>
        <p:spPr>
          <a:xfrm>
            <a:off x="631844" y="1660102"/>
            <a:ext cx="748151" cy="862803"/>
          </a:xfrm>
          <a:prstGeom prst="rect">
            <a:avLst/>
          </a:prstGeom>
          <a:gradFill>
            <a:gsLst>
              <a:gs pos="27000">
                <a:srgbClr val="D9D9D9"/>
              </a:gs>
              <a:gs pos="100000">
                <a:srgbClr val="D9D9D9"/>
              </a:gs>
              <a:gs pos="62000">
                <a:srgbClr val="EBEBEB"/>
              </a:gs>
            </a:gsLst>
            <a:lin ang="2700000" scaled="1"/>
          </a:gradFill>
          <a:ln w="25400" cap="flat" cmpd="sng" algn="ctr">
            <a:solidFill>
              <a:sysClr val="window" lastClr="FFFFFF"/>
            </a:solidFill>
            <a:prstDash val="solid"/>
          </a:ln>
          <a:effectLst/>
          <a:scene3d>
            <a:camera prst="perspectiveFront" fov="0">
              <a:rot lat="20525610" lon="17424067" rev="21390831"/>
            </a:camera>
            <a:lightRig rig="balanced" dir="t"/>
          </a:scene3d>
          <a:sp3d z="16065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9" name="任意多边形 28"/>
          <p:cNvSpPr/>
          <p:nvPr/>
        </p:nvSpPr>
        <p:spPr>
          <a:xfrm>
            <a:off x="1758351" y="1279141"/>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0" name="任意多边形 29"/>
          <p:cNvSpPr/>
          <p:nvPr/>
        </p:nvSpPr>
        <p:spPr>
          <a:xfrm>
            <a:off x="1755081" y="1221243"/>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1" name="任意多边形 30"/>
          <p:cNvSpPr/>
          <p:nvPr/>
        </p:nvSpPr>
        <p:spPr>
          <a:xfrm>
            <a:off x="1841407" y="1017434"/>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2" name="任意多边形 31"/>
          <p:cNvSpPr/>
          <p:nvPr/>
        </p:nvSpPr>
        <p:spPr>
          <a:xfrm>
            <a:off x="1763676" y="1316898"/>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6" name="任意多边形 35"/>
          <p:cNvSpPr/>
          <p:nvPr/>
        </p:nvSpPr>
        <p:spPr>
          <a:xfrm>
            <a:off x="1766959" y="1267282"/>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7" name="任意多边形 36"/>
          <p:cNvSpPr/>
          <p:nvPr/>
        </p:nvSpPr>
        <p:spPr>
          <a:xfrm>
            <a:off x="1763689" y="1209384"/>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8" name="任意多边形 37"/>
          <p:cNvSpPr/>
          <p:nvPr/>
        </p:nvSpPr>
        <p:spPr>
          <a:xfrm>
            <a:off x="1850015" y="1005576"/>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9" name="任意多边形 38"/>
          <p:cNvSpPr/>
          <p:nvPr/>
        </p:nvSpPr>
        <p:spPr>
          <a:xfrm>
            <a:off x="1772284" y="1305039"/>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42" name="椭圆 41"/>
          <p:cNvSpPr/>
          <p:nvPr/>
        </p:nvSpPr>
        <p:spPr>
          <a:xfrm>
            <a:off x="1918286" y="2151259"/>
            <a:ext cx="198304" cy="151610"/>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3" name="[动画大师]_Oval 47"/>
          <p:cNvSpPr/>
          <p:nvPr/>
        </p:nvSpPr>
        <p:spPr>
          <a:xfrm>
            <a:off x="3741882" y="2355727"/>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4" name="椭圆 43"/>
          <p:cNvSpPr/>
          <p:nvPr/>
        </p:nvSpPr>
        <p:spPr>
          <a:xfrm>
            <a:off x="6041732" y="1437625"/>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0" name="矩形 39"/>
          <p:cNvSpPr/>
          <p:nvPr/>
        </p:nvSpPr>
        <p:spPr>
          <a:xfrm>
            <a:off x="1571604" y="1785932"/>
            <a:ext cx="1143253" cy="862803"/>
          </a:xfrm>
          <a:prstGeom prst="rect">
            <a:avLst/>
          </a:prstGeom>
          <a:solidFill>
            <a:sysClr val="window" lastClr="FFFFFF"/>
          </a:solidFill>
          <a:ln w="25400" cap="flat" cmpd="sng" algn="ctr">
            <a:solidFill>
              <a:sysClr val="window" lastClr="FFFFFF"/>
            </a:solidFill>
            <a:prstDash val="solid"/>
          </a:ln>
          <a:effectLst/>
          <a:scene3d>
            <a:camera prst="perspectiveFront" fov="0">
              <a:rot lat="20525597" lon="1224244"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8" name="TextBox 47"/>
          <p:cNvSpPr txBox="1"/>
          <p:nvPr/>
        </p:nvSpPr>
        <p:spPr>
          <a:xfrm>
            <a:off x="1043608" y="1571618"/>
            <a:ext cx="1452698" cy="523220"/>
          </a:xfrm>
          <a:prstGeom prst="rect">
            <a:avLst/>
          </a:prstGeom>
          <a:noFill/>
        </p:spPr>
        <p:txBody>
          <a:bodyPr wrap="square" rtlCol="0">
            <a:spAutoFit/>
          </a:bodyPr>
          <a:lstStyle/>
          <a:p>
            <a:pPr algn="ctr"/>
            <a:r>
              <a:rPr lang="zh-CN" altLang="en-US" sz="2800" b="1" dirty="0" smtClean="0">
                <a:solidFill>
                  <a:srgbClr val="FF0000"/>
                </a:solidFill>
                <a:latin typeface="Times New Roman" pitchFamily="18" charset="0"/>
                <a:cs typeface="Times New Roman" pitchFamily="18" charset="0"/>
              </a:rPr>
              <a:t>发展</a:t>
            </a:r>
            <a:endParaRPr lang="zh-CN" altLang="en-US" sz="2800" b="1" dirty="0">
              <a:solidFill>
                <a:srgbClr val="FF0000"/>
              </a:solidFill>
              <a:latin typeface="Times New Roman" pitchFamily="18" charset="0"/>
              <a:cs typeface="Times New Roman" pitchFamily="18" charset="0"/>
            </a:endParaRPr>
          </a:p>
        </p:txBody>
      </p:sp>
      <p:sp>
        <p:nvSpPr>
          <p:cNvPr id="46" name="矩形标注 45"/>
          <p:cNvSpPr/>
          <p:nvPr/>
        </p:nvSpPr>
        <p:spPr>
          <a:xfrm>
            <a:off x="1402574" y="3160571"/>
            <a:ext cx="2126156" cy="646986"/>
          </a:xfrm>
          <a:prstGeom prst="wedgeRectCallout">
            <a:avLst>
              <a:gd name="adj1" fmla="val 30263"/>
              <a:gd name="adj2" fmla="val -96393"/>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手工操作阶段</a:t>
            </a:r>
          </a:p>
        </p:txBody>
      </p:sp>
      <p:pic>
        <p:nvPicPr>
          <p:cNvPr id="49" name="Picture 2" descr="mau0-1a"/>
          <p:cNvPicPr>
            <a:picLocks noChangeAspect="1" noChangeArrowheads="1"/>
          </p:cNvPicPr>
          <p:nvPr/>
        </p:nvPicPr>
        <p:blipFill>
          <a:blip r:embed="rId2"/>
          <a:srcRect/>
          <a:stretch>
            <a:fillRect/>
          </a:stretch>
        </p:blipFill>
        <p:spPr bwMode="auto">
          <a:xfrm>
            <a:off x="674503" y="970854"/>
            <a:ext cx="7696200" cy="4042172"/>
          </a:xfrm>
          <a:prstGeom prst="rect">
            <a:avLst/>
          </a:prstGeom>
          <a:noFill/>
        </p:spPr>
      </p:pic>
      <p:pic>
        <p:nvPicPr>
          <p:cNvPr id="50" name="Picture 2" descr="eniac4"/>
          <p:cNvPicPr>
            <a:picLocks noChangeAspect="1" noChangeArrowheads="1"/>
          </p:cNvPicPr>
          <p:nvPr/>
        </p:nvPicPr>
        <p:blipFill>
          <a:blip r:embed="rId3"/>
          <a:srcRect/>
          <a:stretch>
            <a:fillRect/>
          </a:stretch>
        </p:blipFill>
        <p:spPr bwMode="auto">
          <a:xfrm>
            <a:off x="1791759" y="986037"/>
            <a:ext cx="5919244" cy="3858320"/>
          </a:xfrm>
          <a:prstGeom prst="rect">
            <a:avLst/>
          </a:prstGeom>
          <a:noFill/>
        </p:spPr>
      </p:pic>
    </p:spTree>
    <p:extLst>
      <p:ext uri="{BB962C8B-B14F-4D97-AF65-F5344CB8AC3E}">
        <p14:creationId xmlns:p14="http://schemas.microsoft.com/office/powerpoint/2010/main" val="600040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fill="hold"/>
                                        <p:tgtEl>
                                          <p:spTgt spid="13"/>
                                        </p:tgtEl>
                                        <p:attrNameLst>
                                          <p:attrName>ppt_x</p:attrName>
                                        </p:attrNameLst>
                                      </p:cBhvr>
                                      <p:tavLst>
                                        <p:tav tm="0">
                                          <p:val>
                                            <p:strVal val="1+#ppt_w/2"/>
                                          </p:val>
                                        </p:tav>
                                        <p:tav tm="100000">
                                          <p:val>
                                            <p:strVal val="#ppt_x"/>
                                          </p:val>
                                        </p:tav>
                                      </p:tavLst>
                                    </p:anim>
                                    <p:anim calcmode="lin" valueType="num">
                                      <p:cBhvr additive="base">
                                        <p:cTn id="8" dur="10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ppt_x"/>
                                          </p:val>
                                        </p:tav>
                                        <p:tav tm="100000">
                                          <p:val>
                                            <p:strVal val="#ppt_x"/>
                                          </p:val>
                                        </p:tav>
                                      </p:tavLst>
                                    </p:anim>
                                    <p:anim calcmode="lin" valueType="num">
                                      <p:cBhvr additive="base">
                                        <p:cTn id="12" dur="10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1000" fill="hold"/>
                                        <p:tgtEl>
                                          <p:spTgt spid="10"/>
                                        </p:tgtEl>
                                        <p:attrNameLst>
                                          <p:attrName>ppt_x</p:attrName>
                                        </p:attrNameLst>
                                      </p:cBhvr>
                                      <p:tavLst>
                                        <p:tav tm="0">
                                          <p:val>
                                            <p:strVal val="1+#ppt_w/2"/>
                                          </p:val>
                                        </p:tav>
                                        <p:tav tm="100000">
                                          <p:val>
                                            <p:strVal val="#ppt_x"/>
                                          </p:val>
                                        </p:tav>
                                      </p:tavLst>
                                    </p:anim>
                                    <p:anim calcmode="lin" valueType="num">
                                      <p:cBhvr additive="base">
                                        <p:cTn id="16" dur="1000" fill="hold"/>
                                        <p:tgtEl>
                                          <p:spTgt spid="10"/>
                                        </p:tgtEl>
                                        <p:attrNameLst>
                                          <p:attrName>ppt_y</p:attrName>
                                        </p:attrNameLst>
                                      </p:cBhvr>
                                      <p:tavLst>
                                        <p:tav tm="0">
                                          <p:val>
                                            <p:strVal val="0-#ppt_h/2"/>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000" fill="hold"/>
                                        <p:tgtEl>
                                          <p:spTgt spid="11"/>
                                        </p:tgtEl>
                                        <p:attrNameLst>
                                          <p:attrName>ppt_x</p:attrName>
                                        </p:attrNameLst>
                                      </p:cBhvr>
                                      <p:tavLst>
                                        <p:tav tm="0">
                                          <p:val>
                                            <p:strVal val="0-#ppt_w/2"/>
                                          </p:val>
                                        </p:tav>
                                        <p:tav tm="100000">
                                          <p:val>
                                            <p:strVal val="#ppt_x"/>
                                          </p:val>
                                        </p:tav>
                                      </p:tavLst>
                                    </p:anim>
                                    <p:anim calcmode="lin" valueType="num">
                                      <p:cBhvr additive="base">
                                        <p:cTn id="20" dur="1000" fill="hold"/>
                                        <p:tgtEl>
                                          <p:spTgt spid="11"/>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37" presetClass="path" presetSubtype="0" fill="hold" grpId="0" nodeType="afterEffect">
                                  <p:stCondLst>
                                    <p:cond delay="0"/>
                                  </p:stCondLst>
                                  <p:childTnLst>
                                    <p:animMotion origin="layout" path="M 0.33023 0.25668 C 0.33023 0.2576 0.41773 0.5414 0.54586 0.53168 C 0.62884 0.55344 0.75992 0.49557 0.85211 0.44001 C 0.94429 0.38445 1.04759 0.24857 1.09898 0.19834 " pathEditMode="fixed" rAng="0" ptsTypes="fsaf">
                                      <p:cBhvr>
                                        <p:cTn id="23" dur="1000" fill="hold"/>
                                        <p:tgtEl>
                                          <p:spTgt spid="14"/>
                                        </p:tgtEl>
                                        <p:attrNameLst>
                                          <p:attrName>ppt_x,ppt_y</p:attrName>
                                        </p:attrNameLst>
                                      </p:cBhvr>
                                      <p:rCtr x="38438" y="11921"/>
                                    </p:animMotion>
                                    <p:anim calcmode="lin" valueType="num">
                                      <p:cBhvr>
                                        <p:cTn id="24" dur="1000">
                                          <p:stCondLst>
                                            <p:cond delay="0"/>
                                          </p:stCondLst>
                                        </p:cTn>
                                        <p:tgtEl>
                                          <p:spTgt spid="14"/>
                                        </p:tgtEl>
                                        <p:attrNameLst>
                                          <p:attrName>ppt_w</p:attrName>
                                        </p:attrNameLst>
                                      </p:cBhvr>
                                      <p:tavLst>
                                        <p:tav tm="0">
                                          <p:val>
                                            <p:strVal val="ppt_w"/>
                                          </p:val>
                                        </p:tav>
                                        <p:tav tm="100000">
                                          <p:val>
                                            <p:fltVal val="0"/>
                                          </p:val>
                                        </p:tav>
                                      </p:tavLst>
                                    </p:anim>
                                    <p:anim calcmode="lin" valueType="num">
                                      <p:cBhvr>
                                        <p:cTn id="25" dur="1000">
                                          <p:stCondLst>
                                            <p:cond delay="0"/>
                                          </p:stCondLst>
                                        </p:cTn>
                                        <p:tgtEl>
                                          <p:spTgt spid="14"/>
                                        </p:tgtEl>
                                        <p:attrNameLst>
                                          <p:attrName>ppt_h</p:attrName>
                                        </p:attrNameLst>
                                      </p:cBhvr>
                                      <p:tavLst>
                                        <p:tav tm="0">
                                          <p:val>
                                            <p:strVal val="ppt_h"/>
                                          </p:val>
                                        </p:tav>
                                        <p:tav tm="100000">
                                          <p:val>
                                            <p:fltVal val="0"/>
                                          </p:val>
                                        </p:tav>
                                      </p:tavLst>
                                    </p:anim>
                                    <p:set>
                                      <p:cBhvr>
                                        <p:cTn id="26" dur="1" fill="hold">
                                          <p:stCondLst>
                                            <p:cond delay="999"/>
                                          </p:stCondLst>
                                        </p:cTn>
                                        <p:tgtEl>
                                          <p:spTgt spid="14"/>
                                        </p:tgtEl>
                                        <p:attrNameLst>
                                          <p:attrName>style.visibility</p:attrName>
                                        </p:attrNameLst>
                                      </p:cBhvr>
                                      <p:to>
                                        <p:strVal val="hidden"/>
                                      </p:to>
                                    </p:set>
                                  </p:childTnLst>
                                </p:cTn>
                              </p:par>
                              <p:par>
                                <p:cTn id="27" presetID="37" presetClass="path" presetSubtype="0" fill="hold" grpId="0" nodeType="withEffect">
                                  <p:stCondLst>
                                    <p:cond delay="300"/>
                                  </p:stCondLst>
                                  <p:childTnLst>
                                    <p:animMotion origin="layout" path="M 0.78804 0.17334 C 0.78804 0.17403 0.95227 0.51385 1.06929 0.50251 C 1.18074 0.47959 1.30088 0.35297 1.39741 0.24394 C 1.49394 0.13538 1.59602 -0.0681 1.64828 -0.15027 " pathEditMode="fixed" rAng="0" ptsTypes="fsaf">
                                      <p:cBhvr>
                                        <p:cTn id="28" dur="1000" fill="hold"/>
                                        <p:tgtEl>
                                          <p:spTgt spid="15"/>
                                        </p:tgtEl>
                                        <p:attrNameLst>
                                          <p:attrName>ppt_x,ppt_y</p:attrName>
                                        </p:attrNameLst>
                                      </p:cBhvr>
                                      <p:rCtr x="43003" y="833"/>
                                    </p:animMotion>
                                    <p:anim calcmode="lin" valueType="num">
                                      <p:cBhvr>
                                        <p:cTn id="29" dur="1000">
                                          <p:stCondLst>
                                            <p:cond delay="0"/>
                                          </p:stCondLst>
                                        </p:cTn>
                                        <p:tgtEl>
                                          <p:spTgt spid="15"/>
                                        </p:tgtEl>
                                        <p:attrNameLst>
                                          <p:attrName>ppt_w</p:attrName>
                                        </p:attrNameLst>
                                      </p:cBhvr>
                                      <p:tavLst>
                                        <p:tav tm="0">
                                          <p:val>
                                            <p:strVal val="ppt_w"/>
                                          </p:val>
                                        </p:tav>
                                        <p:tav tm="100000">
                                          <p:val>
                                            <p:fltVal val="0"/>
                                          </p:val>
                                        </p:tav>
                                      </p:tavLst>
                                    </p:anim>
                                    <p:anim calcmode="lin" valueType="num">
                                      <p:cBhvr>
                                        <p:cTn id="30" dur="1000">
                                          <p:stCondLst>
                                            <p:cond delay="0"/>
                                          </p:stCondLst>
                                        </p:cTn>
                                        <p:tgtEl>
                                          <p:spTgt spid="15"/>
                                        </p:tgtEl>
                                        <p:attrNameLst>
                                          <p:attrName>ppt_h</p:attrName>
                                        </p:attrNameLst>
                                      </p:cBhvr>
                                      <p:tavLst>
                                        <p:tav tm="0">
                                          <p:val>
                                            <p:strVal val="ppt_h"/>
                                          </p:val>
                                        </p:tav>
                                        <p:tav tm="100000">
                                          <p:val>
                                            <p:fltVal val="0"/>
                                          </p:val>
                                        </p:tav>
                                      </p:tavLst>
                                    </p:anim>
                                    <p:set>
                                      <p:cBhvr>
                                        <p:cTn id="31" dur="1" fill="hold">
                                          <p:stCondLst>
                                            <p:cond delay="999"/>
                                          </p:stCondLst>
                                        </p:cTn>
                                        <p:tgtEl>
                                          <p:spTgt spid="15"/>
                                        </p:tgtEl>
                                        <p:attrNameLst>
                                          <p:attrName>style.visibility</p:attrName>
                                        </p:attrNameLst>
                                      </p:cBhvr>
                                      <p:to>
                                        <p:strVal val="hidden"/>
                                      </p:to>
                                    </p:set>
                                  </p:childTnLst>
                                </p:cTn>
                              </p:par>
                              <p:par>
                                <p:cTn id="32" presetID="37" presetClass="path" presetSubtype="0" fill="hold" grpId="0" nodeType="withEffect">
                                  <p:stCondLst>
                                    <p:cond delay="600"/>
                                  </p:stCondLst>
                                  <p:childTnLst>
                                    <p:animMotion origin="layout" path="M 0.54639 0.03563 C 0.54639 0.03656 0.66062 0.35947 0.77764 0.34813 C 0.85489 0.38007 0.93909 0.32174 1.03076 0.26896 C 1.12243 0.21619 1.26583 0.081 1.32764 0.03146 " pathEditMode="fixed" rAng="0" ptsTypes="fsaf">
                                      <p:cBhvr>
                                        <p:cTn id="33" dur="1000" fill="hold"/>
                                        <p:tgtEl>
                                          <p:spTgt spid="16"/>
                                        </p:tgtEl>
                                        <p:attrNameLst>
                                          <p:attrName>ppt_x,ppt_y</p:attrName>
                                        </p:attrNameLst>
                                      </p:cBhvr>
                                      <p:rCtr x="39063" y="17014"/>
                                    </p:animMotion>
                                    <p:anim calcmode="lin" valueType="num">
                                      <p:cBhvr>
                                        <p:cTn id="34" dur="1000">
                                          <p:stCondLst>
                                            <p:cond delay="0"/>
                                          </p:stCondLst>
                                        </p:cTn>
                                        <p:tgtEl>
                                          <p:spTgt spid="16"/>
                                        </p:tgtEl>
                                        <p:attrNameLst>
                                          <p:attrName>ppt_w</p:attrName>
                                        </p:attrNameLst>
                                      </p:cBhvr>
                                      <p:tavLst>
                                        <p:tav tm="0">
                                          <p:val>
                                            <p:strVal val="ppt_w"/>
                                          </p:val>
                                        </p:tav>
                                        <p:tav tm="100000">
                                          <p:val>
                                            <p:fltVal val="0"/>
                                          </p:val>
                                        </p:tav>
                                      </p:tavLst>
                                    </p:anim>
                                    <p:anim calcmode="lin" valueType="num">
                                      <p:cBhvr>
                                        <p:cTn id="35" dur="1000">
                                          <p:stCondLst>
                                            <p:cond delay="0"/>
                                          </p:stCondLst>
                                        </p:cTn>
                                        <p:tgtEl>
                                          <p:spTgt spid="16"/>
                                        </p:tgtEl>
                                        <p:attrNameLst>
                                          <p:attrName>ppt_h</p:attrName>
                                        </p:attrNameLst>
                                      </p:cBhvr>
                                      <p:tavLst>
                                        <p:tav tm="0">
                                          <p:val>
                                            <p:strVal val="ppt_h"/>
                                          </p:val>
                                        </p:tav>
                                        <p:tav tm="100000">
                                          <p:val>
                                            <p:fltVal val="0"/>
                                          </p:val>
                                        </p:tav>
                                      </p:tavLst>
                                    </p:anim>
                                    <p:set>
                                      <p:cBhvr>
                                        <p:cTn id="36" dur="1" fill="hold">
                                          <p:stCondLst>
                                            <p:cond delay="999"/>
                                          </p:stCondLst>
                                        </p:cTn>
                                        <p:tgtEl>
                                          <p:spTgt spid="16"/>
                                        </p:tgtEl>
                                        <p:attrNameLst>
                                          <p:attrName>style.visibility</p:attrName>
                                        </p:attrNameLst>
                                      </p:cBhvr>
                                      <p:to>
                                        <p:strVal val="hidden"/>
                                      </p:to>
                                    </p:set>
                                  </p:childTnLst>
                                </p:cTn>
                              </p:par>
                              <p:par>
                                <p:cTn id="37" presetID="37" presetClass="path" presetSubtype="0" fill="hold" grpId="0" nodeType="withEffect">
                                  <p:stCondLst>
                                    <p:cond delay="900"/>
                                  </p:stCondLst>
                                  <p:childTnLst>
                                    <p:animMotion origin="layout" path="M 0.77797 0.16222 C 0.79637 0.20366 0.79568 0.38699 0.84047 0.44139 C 0.88526 0.49579 0.95627 0.52079 1.04672 0.48722 C 1.17103 0.4687 1.33075 0.31847 1.4311 0.21222 C 1.53144 0.10597 1.61217 -0.08986 1.64828 -0.15028 " pathEditMode="fixed" rAng="0" ptsTypes="fssaf">
                                      <p:cBhvr>
                                        <p:cTn id="38" dur="1000" fill="hold"/>
                                        <p:tgtEl>
                                          <p:spTgt spid="17"/>
                                        </p:tgtEl>
                                        <p:attrNameLst>
                                          <p:attrName>ppt_x,ppt_y</p:attrName>
                                        </p:attrNameLst>
                                      </p:cBhvr>
                                      <p:rCtr x="43507" y="2292"/>
                                    </p:animMotion>
                                    <p:anim calcmode="lin" valueType="num">
                                      <p:cBhvr>
                                        <p:cTn id="39" dur="1000">
                                          <p:stCondLst>
                                            <p:cond delay="0"/>
                                          </p:stCondLst>
                                        </p:cTn>
                                        <p:tgtEl>
                                          <p:spTgt spid="17"/>
                                        </p:tgtEl>
                                        <p:attrNameLst>
                                          <p:attrName>ppt_w</p:attrName>
                                        </p:attrNameLst>
                                      </p:cBhvr>
                                      <p:tavLst>
                                        <p:tav tm="0">
                                          <p:val>
                                            <p:strVal val="ppt_w"/>
                                          </p:val>
                                        </p:tav>
                                        <p:tav tm="100000">
                                          <p:val>
                                            <p:fltVal val="0"/>
                                          </p:val>
                                        </p:tav>
                                      </p:tavLst>
                                    </p:anim>
                                    <p:anim calcmode="lin" valueType="num">
                                      <p:cBhvr>
                                        <p:cTn id="40" dur="1000">
                                          <p:stCondLst>
                                            <p:cond delay="0"/>
                                          </p:stCondLst>
                                        </p:cTn>
                                        <p:tgtEl>
                                          <p:spTgt spid="17"/>
                                        </p:tgtEl>
                                        <p:attrNameLst>
                                          <p:attrName>ppt_h</p:attrName>
                                        </p:attrNameLst>
                                      </p:cBhvr>
                                      <p:tavLst>
                                        <p:tav tm="0">
                                          <p:val>
                                            <p:strVal val="ppt_h"/>
                                          </p:val>
                                        </p:tav>
                                        <p:tav tm="100000">
                                          <p:val>
                                            <p:fltVal val="0"/>
                                          </p:val>
                                        </p:tav>
                                      </p:tavLst>
                                    </p:anim>
                                    <p:set>
                                      <p:cBhvr>
                                        <p:cTn id="41" dur="1" fill="hold">
                                          <p:stCondLst>
                                            <p:cond delay="999"/>
                                          </p:stCondLst>
                                        </p:cTn>
                                        <p:tgtEl>
                                          <p:spTgt spid="17"/>
                                        </p:tgtEl>
                                        <p:attrNameLst>
                                          <p:attrName>style.visibility</p:attrName>
                                        </p:attrNameLst>
                                      </p:cBhvr>
                                      <p:to>
                                        <p:strVal val="hidden"/>
                                      </p:to>
                                    </p:set>
                                  </p:childTnLst>
                                </p:cTn>
                              </p:par>
                              <p:par>
                                <p:cTn id="42" presetID="37" presetClass="path" presetSubtype="0" fill="hold" grpId="0" nodeType="withEffect">
                                  <p:stCondLst>
                                    <p:cond delay="1200"/>
                                  </p:stCondLst>
                                  <p:childTnLst>
                                    <p:animMotion origin="layout" path="M 0.75694 0.12901 C 0.75694 0.12994 0.9118 0.48642 1.02881 0.475 C 1.14131 0.45957 1.27534 0.36914 1.37881 0.26667 C 1.48229 0.1642 1.60434 -0.07253 1.6493 -0.14043 " pathEditMode="fixed" rAng="0" ptsTypes="fsaf">
                                      <p:cBhvr>
                                        <p:cTn id="43" dur="1000" fill="hold"/>
                                        <p:tgtEl>
                                          <p:spTgt spid="18"/>
                                        </p:tgtEl>
                                        <p:attrNameLst>
                                          <p:attrName>ppt_x,ppt_y</p:attrName>
                                        </p:attrNameLst>
                                      </p:cBhvr>
                                      <p:rCtr x="446" y="44"/>
                                    </p:animMotion>
                                    <p:anim calcmode="lin" valueType="num">
                                      <p:cBhvr>
                                        <p:cTn id="44" dur="1000">
                                          <p:stCondLst>
                                            <p:cond delay="0"/>
                                          </p:stCondLst>
                                        </p:cTn>
                                        <p:tgtEl>
                                          <p:spTgt spid="18"/>
                                        </p:tgtEl>
                                        <p:attrNameLst>
                                          <p:attrName>ppt_w</p:attrName>
                                        </p:attrNameLst>
                                      </p:cBhvr>
                                      <p:tavLst>
                                        <p:tav tm="0">
                                          <p:val>
                                            <p:strVal val="ppt_w"/>
                                          </p:val>
                                        </p:tav>
                                        <p:tav tm="100000">
                                          <p:val>
                                            <p:fltVal val="0"/>
                                          </p:val>
                                        </p:tav>
                                      </p:tavLst>
                                    </p:anim>
                                    <p:anim calcmode="lin" valueType="num">
                                      <p:cBhvr>
                                        <p:cTn id="45" dur="1000">
                                          <p:stCondLst>
                                            <p:cond delay="0"/>
                                          </p:stCondLst>
                                        </p:cTn>
                                        <p:tgtEl>
                                          <p:spTgt spid="18"/>
                                        </p:tgtEl>
                                        <p:attrNameLst>
                                          <p:attrName>ppt_h</p:attrName>
                                        </p:attrNameLst>
                                      </p:cBhvr>
                                      <p:tavLst>
                                        <p:tav tm="0">
                                          <p:val>
                                            <p:strVal val="ppt_h"/>
                                          </p:val>
                                        </p:tav>
                                        <p:tav tm="100000">
                                          <p:val>
                                            <p:fltVal val="0"/>
                                          </p:val>
                                        </p:tav>
                                      </p:tavLst>
                                    </p:anim>
                                    <p:set>
                                      <p:cBhvr>
                                        <p:cTn id="46" dur="1" fill="hold">
                                          <p:stCondLst>
                                            <p:cond delay="999"/>
                                          </p:stCondLst>
                                        </p:cTn>
                                        <p:tgtEl>
                                          <p:spTgt spid="18"/>
                                        </p:tgtEl>
                                        <p:attrNameLst>
                                          <p:attrName>style.visibility</p:attrName>
                                        </p:attrNameLst>
                                      </p:cBhvr>
                                      <p:to>
                                        <p:strVal val="hidden"/>
                                      </p:to>
                                    </p:set>
                                  </p:childTnLst>
                                </p:cTn>
                              </p:par>
                              <p:par>
                                <p:cTn id="47" presetID="37" presetClass="path" presetSubtype="0" fill="hold" grpId="0" nodeType="withEffect">
                                  <p:stCondLst>
                                    <p:cond delay="1500"/>
                                  </p:stCondLst>
                                  <p:childTnLst>
                                    <p:animMotion origin="layout" path="M 0.72676 0.08584 C 0.72676 0.08677 0.82225 0.43052 0.93926 0.41917 C 1.05072 0.39626 1.40332 0.13515 1.47364 0.09834 " pathEditMode="fixed" rAng="0" ptsTypes="fsf">
                                      <p:cBhvr>
                                        <p:cTn id="48" dur="1000" fill="hold"/>
                                        <p:tgtEl>
                                          <p:spTgt spid="19"/>
                                        </p:tgtEl>
                                        <p:attrNameLst>
                                          <p:attrName>ppt_x,ppt_y</p:attrName>
                                        </p:attrNameLst>
                                      </p:cBhvr>
                                      <p:rCtr x="37344" y="17222"/>
                                    </p:animMotion>
                                    <p:anim calcmode="lin" valueType="num">
                                      <p:cBhvr>
                                        <p:cTn id="49" dur="1000">
                                          <p:stCondLst>
                                            <p:cond delay="0"/>
                                          </p:stCondLst>
                                        </p:cTn>
                                        <p:tgtEl>
                                          <p:spTgt spid="19"/>
                                        </p:tgtEl>
                                        <p:attrNameLst>
                                          <p:attrName>ppt_w</p:attrName>
                                        </p:attrNameLst>
                                      </p:cBhvr>
                                      <p:tavLst>
                                        <p:tav tm="0">
                                          <p:val>
                                            <p:strVal val="ppt_w"/>
                                          </p:val>
                                        </p:tav>
                                        <p:tav tm="100000">
                                          <p:val>
                                            <p:fltVal val="0"/>
                                          </p:val>
                                        </p:tav>
                                      </p:tavLst>
                                    </p:anim>
                                    <p:anim calcmode="lin" valueType="num">
                                      <p:cBhvr>
                                        <p:cTn id="50" dur="1000">
                                          <p:stCondLst>
                                            <p:cond delay="0"/>
                                          </p:stCondLst>
                                        </p:cTn>
                                        <p:tgtEl>
                                          <p:spTgt spid="19"/>
                                        </p:tgtEl>
                                        <p:attrNameLst>
                                          <p:attrName>ppt_h</p:attrName>
                                        </p:attrNameLst>
                                      </p:cBhvr>
                                      <p:tavLst>
                                        <p:tav tm="0">
                                          <p:val>
                                            <p:strVal val="ppt_h"/>
                                          </p:val>
                                        </p:tav>
                                        <p:tav tm="100000">
                                          <p:val>
                                            <p:fltVal val="0"/>
                                          </p:val>
                                        </p:tav>
                                      </p:tavLst>
                                    </p:anim>
                                    <p:set>
                                      <p:cBhvr>
                                        <p:cTn id="51" dur="1" fill="hold">
                                          <p:stCondLst>
                                            <p:cond delay="999"/>
                                          </p:stCondLst>
                                        </p:cTn>
                                        <p:tgtEl>
                                          <p:spTgt spid="19"/>
                                        </p:tgtEl>
                                        <p:attrNameLst>
                                          <p:attrName>style.visibility</p:attrName>
                                        </p:attrNameLst>
                                      </p:cBhvr>
                                      <p:to>
                                        <p:strVal val="hidden"/>
                                      </p:to>
                                    </p:set>
                                  </p:childTnLst>
                                </p:cTn>
                              </p:par>
                              <p:par>
                                <p:cTn id="52" presetID="37" presetClass="path" presetSubtype="0" fill="hold" grpId="0" nodeType="withEffect">
                                  <p:stCondLst>
                                    <p:cond delay="1800"/>
                                  </p:stCondLst>
                                  <p:childTnLst>
                                    <p:animMotion origin="layout" path="M 0.65836 0.02566 C 0.69638 0.07705 0.74013 0.2826 0.82398 0.32566 C 0.90783 0.36871 1.04481 0.35968 1.16148 0.28399 C 1.27815 0.2083 1.42259 -0.038 1.52398 -0.12851 " pathEditMode="fixed" rAng="0" ptsTypes="faaf">
                                      <p:cBhvr>
                                        <p:cTn id="53" dur="1000" fill="hold"/>
                                        <p:tgtEl>
                                          <p:spTgt spid="20"/>
                                        </p:tgtEl>
                                        <p:attrNameLst>
                                          <p:attrName>ppt_x,ppt_y</p:attrName>
                                        </p:attrNameLst>
                                      </p:cBhvr>
                                      <p:rCtr x="43281" y="9444"/>
                                    </p:animMotion>
                                    <p:anim calcmode="lin" valueType="num">
                                      <p:cBhvr>
                                        <p:cTn id="54" dur="1000">
                                          <p:stCondLst>
                                            <p:cond delay="0"/>
                                          </p:stCondLst>
                                        </p:cTn>
                                        <p:tgtEl>
                                          <p:spTgt spid="20"/>
                                        </p:tgtEl>
                                        <p:attrNameLst>
                                          <p:attrName>ppt_w</p:attrName>
                                        </p:attrNameLst>
                                      </p:cBhvr>
                                      <p:tavLst>
                                        <p:tav tm="0">
                                          <p:val>
                                            <p:strVal val="ppt_w"/>
                                          </p:val>
                                        </p:tav>
                                        <p:tav tm="100000">
                                          <p:val>
                                            <p:fltVal val="0"/>
                                          </p:val>
                                        </p:tav>
                                      </p:tavLst>
                                    </p:anim>
                                    <p:anim calcmode="lin" valueType="num">
                                      <p:cBhvr>
                                        <p:cTn id="55" dur="1000">
                                          <p:stCondLst>
                                            <p:cond delay="0"/>
                                          </p:stCondLst>
                                        </p:cTn>
                                        <p:tgtEl>
                                          <p:spTgt spid="20"/>
                                        </p:tgtEl>
                                        <p:attrNameLst>
                                          <p:attrName>ppt_h</p:attrName>
                                        </p:attrNameLst>
                                      </p:cBhvr>
                                      <p:tavLst>
                                        <p:tav tm="0">
                                          <p:val>
                                            <p:strVal val="ppt_h"/>
                                          </p:val>
                                        </p:tav>
                                        <p:tav tm="100000">
                                          <p:val>
                                            <p:fltVal val="0"/>
                                          </p:val>
                                        </p:tav>
                                      </p:tavLst>
                                    </p:anim>
                                    <p:set>
                                      <p:cBhvr>
                                        <p:cTn id="56" dur="1" fill="hold">
                                          <p:stCondLst>
                                            <p:cond delay="999"/>
                                          </p:stCondLst>
                                        </p:cTn>
                                        <p:tgtEl>
                                          <p:spTgt spid="20"/>
                                        </p:tgtEl>
                                        <p:attrNameLst>
                                          <p:attrName>style.visibility</p:attrName>
                                        </p:attrNameLst>
                                      </p:cBhvr>
                                      <p:to>
                                        <p:strVal val="hidden"/>
                                      </p:to>
                                    </p:set>
                                  </p:childTnLst>
                                </p:cTn>
                              </p:par>
                              <p:par>
                                <p:cTn id="57" presetID="37" presetClass="path" presetSubtype="0" fill="hold" grpId="0" nodeType="withEffect">
                                  <p:stCondLst>
                                    <p:cond delay="300"/>
                                  </p:stCondLst>
                                  <p:childTnLst>
                                    <p:animMotion origin="layout" path="M 0.43978 0.0414 C 0.43978 0.04232 0.54776 0.46941 0.66478 0.45806 C 0.77623 0.43515 0.95418 0.33167 1.07728 0.2539 C 1.19967 0.16362 1.33127 -0.02897 1.39915 -0.0836 " pathEditMode="fixed" rAng="0" ptsTypes="fsaf">
                                      <p:cBhvr>
                                        <p:cTn id="58" dur="1000" fill="hold"/>
                                        <p:tgtEl>
                                          <p:spTgt spid="21"/>
                                        </p:tgtEl>
                                        <p:attrNameLst>
                                          <p:attrName>ppt_x,ppt_y</p:attrName>
                                        </p:attrNameLst>
                                      </p:cBhvr>
                                      <p:rCtr x="47969" y="15139"/>
                                    </p:animMotion>
                                    <p:anim calcmode="lin" valueType="num">
                                      <p:cBhvr>
                                        <p:cTn id="59" dur="1000">
                                          <p:stCondLst>
                                            <p:cond delay="0"/>
                                          </p:stCondLst>
                                        </p:cTn>
                                        <p:tgtEl>
                                          <p:spTgt spid="21"/>
                                        </p:tgtEl>
                                        <p:attrNameLst>
                                          <p:attrName>ppt_w</p:attrName>
                                        </p:attrNameLst>
                                      </p:cBhvr>
                                      <p:tavLst>
                                        <p:tav tm="0">
                                          <p:val>
                                            <p:strVal val="ppt_w"/>
                                          </p:val>
                                        </p:tav>
                                        <p:tav tm="100000">
                                          <p:val>
                                            <p:fltVal val="0"/>
                                          </p:val>
                                        </p:tav>
                                      </p:tavLst>
                                    </p:anim>
                                    <p:anim calcmode="lin" valueType="num">
                                      <p:cBhvr>
                                        <p:cTn id="60" dur="1000">
                                          <p:stCondLst>
                                            <p:cond delay="0"/>
                                          </p:stCondLst>
                                        </p:cTn>
                                        <p:tgtEl>
                                          <p:spTgt spid="21"/>
                                        </p:tgtEl>
                                        <p:attrNameLst>
                                          <p:attrName>ppt_h</p:attrName>
                                        </p:attrNameLst>
                                      </p:cBhvr>
                                      <p:tavLst>
                                        <p:tav tm="0">
                                          <p:val>
                                            <p:strVal val="ppt_h"/>
                                          </p:val>
                                        </p:tav>
                                        <p:tav tm="100000">
                                          <p:val>
                                            <p:fltVal val="0"/>
                                          </p:val>
                                        </p:tav>
                                      </p:tavLst>
                                    </p:anim>
                                    <p:set>
                                      <p:cBhvr>
                                        <p:cTn id="61" dur="1" fill="hold">
                                          <p:stCondLst>
                                            <p:cond delay="999"/>
                                          </p:stCondLst>
                                        </p:cTn>
                                        <p:tgtEl>
                                          <p:spTgt spid="21"/>
                                        </p:tgtEl>
                                        <p:attrNameLst>
                                          <p:attrName>style.visibility</p:attrName>
                                        </p:attrNameLst>
                                      </p:cBhvr>
                                      <p:to>
                                        <p:strVal val="hidden"/>
                                      </p:to>
                                    </p:set>
                                  </p:childTnLst>
                                </p:cTn>
                              </p:par>
                              <p:par>
                                <p:cTn id="62" presetID="37" presetClass="path" presetSubtype="0" fill="hold" grpId="0" nodeType="withEffect">
                                  <p:stCondLst>
                                    <p:cond delay="600"/>
                                  </p:stCondLst>
                                  <p:childTnLst>
                                    <p:animMotion origin="layout" path="M 0.33787 0.23977 C 0.33787 0.2407 0.50211 0.51778 0.61912 0.50644 C 0.73058 0.48352 0.89377 0.31616 1.01061 0.21639 C 1.12745 0.11663 1.25558 -0.02782 1.31999 -0.09194 " pathEditMode="fixed" rAng="0" ptsTypes="fsaf">
                                      <p:cBhvr>
                                        <p:cTn id="63" dur="1000" fill="hold"/>
                                        <p:tgtEl>
                                          <p:spTgt spid="22"/>
                                        </p:tgtEl>
                                        <p:attrNameLst>
                                          <p:attrName>ppt_x,ppt_y</p:attrName>
                                        </p:attrNameLst>
                                      </p:cBhvr>
                                      <p:rCtr x="49097" y="-2685"/>
                                    </p:animMotion>
                                    <p:anim calcmode="lin" valueType="num">
                                      <p:cBhvr>
                                        <p:cTn id="64" dur="1000">
                                          <p:stCondLst>
                                            <p:cond delay="0"/>
                                          </p:stCondLst>
                                        </p:cTn>
                                        <p:tgtEl>
                                          <p:spTgt spid="22"/>
                                        </p:tgtEl>
                                        <p:attrNameLst>
                                          <p:attrName>ppt_w</p:attrName>
                                        </p:attrNameLst>
                                      </p:cBhvr>
                                      <p:tavLst>
                                        <p:tav tm="0">
                                          <p:val>
                                            <p:strVal val="ppt_w"/>
                                          </p:val>
                                        </p:tav>
                                        <p:tav tm="100000">
                                          <p:val>
                                            <p:fltVal val="0"/>
                                          </p:val>
                                        </p:tav>
                                      </p:tavLst>
                                    </p:anim>
                                    <p:anim calcmode="lin" valueType="num">
                                      <p:cBhvr>
                                        <p:cTn id="65" dur="1000">
                                          <p:stCondLst>
                                            <p:cond delay="0"/>
                                          </p:stCondLst>
                                        </p:cTn>
                                        <p:tgtEl>
                                          <p:spTgt spid="22"/>
                                        </p:tgtEl>
                                        <p:attrNameLst>
                                          <p:attrName>ppt_h</p:attrName>
                                        </p:attrNameLst>
                                      </p:cBhvr>
                                      <p:tavLst>
                                        <p:tav tm="0">
                                          <p:val>
                                            <p:strVal val="ppt_h"/>
                                          </p:val>
                                        </p:tav>
                                        <p:tav tm="100000">
                                          <p:val>
                                            <p:fltVal val="0"/>
                                          </p:val>
                                        </p:tav>
                                      </p:tavLst>
                                    </p:anim>
                                    <p:set>
                                      <p:cBhvr>
                                        <p:cTn id="66" dur="1" fill="hold">
                                          <p:stCondLst>
                                            <p:cond delay="999"/>
                                          </p:stCondLst>
                                        </p:cTn>
                                        <p:tgtEl>
                                          <p:spTgt spid="22"/>
                                        </p:tgtEl>
                                        <p:attrNameLst>
                                          <p:attrName>style.visibility</p:attrName>
                                        </p:attrNameLst>
                                      </p:cBhvr>
                                      <p:to>
                                        <p:strVal val="hidden"/>
                                      </p:to>
                                    </p:set>
                                  </p:childTnLst>
                                </p:cTn>
                              </p:par>
                              <p:par>
                                <p:cTn id="67" presetID="37" presetClass="path" presetSubtype="0" fill="hold" grpId="0" nodeType="withEffect">
                                  <p:stCondLst>
                                    <p:cond delay="900"/>
                                  </p:stCondLst>
                                  <p:childTnLst>
                                    <p:animMotion origin="layout" path="M 0.26374 0.49995 C 0.26374 0.50088 0.4679 0.71986 0.58492 0.70852 C 0.69636 0.6856 0.97155 0.37079 1.02624 0.34162 " pathEditMode="fixed" rAng="0" ptsTypes="fsf">
                                      <p:cBhvr>
                                        <p:cTn id="68" dur="1000" fill="hold"/>
                                        <p:tgtEl>
                                          <p:spTgt spid="23"/>
                                        </p:tgtEl>
                                        <p:attrNameLst>
                                          <p:attrName>ppt_x,ppt_y</p:attrName>
                                        </p:attrNameLst>
                                      </p:cBhvr>
                                      <p:rCtr x="38125" y="3079"/>
                                    </p:animMotion>
                                    <p:anim calcmode="lin" valueType="num">
                                      <p:cBhvr>
                                        <p:cTn id="69" dur="1000">
                                          <p:stCondLst>
                                            <p:cond delay="0"/>
                                          </p:stCondLst>
                                        </p:cTn>
                                        <p:tgtEl>
                                          <p:spTgt spid="23"/>
                                        </p:tgtEl>
                                        <p:attrNameLst>
                                          <p:attrName>ppt_w</p:attrName>
                                        </p:attrNameLst>
                                      </p:cBhvr>
                                      <p:tavLst>
                                        <p:tav tm="0">
                                          <p:val>
                                            <p:strVal val="ppt_w"/>
                                          </p:val>
                                        </p:tav>
                                        <p:tav tm="100000">
                                          <p:val>
                                            <p:fltVal val="0"/>
                                          </p:val>
                                        </p:tav>
                                      </p:tavLst>
                                    </p:anim>
                                    <p:anim calcmode="lin" valueType="num">
                                      <p:cBhvr>
                                        <p:cTn id="70" dur="1000">
                                          <p:stCondLst>
                                            <p:cond delay="0"/>
                                          </p:stCondLst>
                                        </p:cTn>
                                        <p:tgtEl>
                                          <p:spTgt spid="23"/>
                                        </p:tgtEl>
                                        <p:attrNameLst>
                                          <p:attrName>ppt_h</p:attrName>
                                        </p:attrNameLst>
                                      </p:cBhvr>
                                      <p:tavLst>
                                        <p:tav tm="0">
                                          <p:val>
                                            <p:strVal val="ppt_h"/>
                                          </p:val>
                                        </p:tav>
                                        <p:tav tm="100000">
                                          <p:val>
                                            <p:fltVal val="0"/>
                                          </p:val>
                                        </p:tav>
                                      </p:tavLst>
                                    </p:anim>
                                    <p:set>
                                      <p:cBhvr>
                                        <p:cTn id="71" dur="1" fill="hold">
                                          <p:stCondLst>
                                            <p:cond delay="999"/>
                                          </p:stCondLst>
                                        </p:cTn>
                                        <p:tgtEl>
                                          <p:spTgt spid="23"/>
                                        </p:tgtEl>
                                        <p:attrNameLst>
                                          <p:attrName>style.visibility</p:attrName>
                                        </p:attrNameLst>
                                      </p:cBhvr>
                                      <p:to>
                                        <p:strVal val="hidden"/>
                                      </p:to>
                                    </p:set>
                                  </p:childTnLst>
                                </p:cTn>
                              </p:par>
                              <p:par>
                                <p:cTn id="72" presetID="37" presetClass="path" presetSubtype="0" fill="hold" grpId="0" nodeType="withEffect">
                                  <p:stCondLst>
                                    <p:cond delay="1200"/>
                                  </p:stCondLst>
                                  <p:childTnLst>
                                    <p:animMotion origin="layout" path="M 0.76148 0.27473 C 0.76148 0.27566 0.91947 0.46108 1.03648 0.44973 C 1.14794 0.42682 1.2752 0.35807 1.37711 0.25807 C 1.45158 0.20321 1.42693 0.20575 1.48336 0.12057 " pathEditMode="fixed" rAng="0" ptsTypes="fsaf">
                                      <p:cBhvr>
                                        <p:cTn id="73" dur="1000" fill="hold"/>
                                        <p:tgtEl>
                                          <p:spTgt spid="24"/>
                                        </p:tgtEl>
                                        <p:attrNameLst>
                                          <p:attrName>ppt_x,ppt_y</p:attrName>
                                        </p:attrNameLst>
                                      </p:cBhvr>
                                      <p:rCtr x="36094" y="1597"/>
                                    </p:animMotion>
                                    <p:anim calcmode="lin" valueType="num">
                                      <p:cBhvr>
                                        <p:cTn id="74" dur="1000">
                                          <p:stCondLst>
                                            <p:cond delay="0"/>
                                          </p:stCondLst>
                                        </p:cTn>
                                        <p:tgtEl>
                                          <p:spTgt spid="24"/>
                                        </p:tgtEl>
                                        <p:attrNameLst>
                                          <p:attrName>ppt_w</p:attrName>
                                        </p:attrNameLst>
                                      </p:cBhvr>
                                      <p:tavLst>
                                        <p:tav tm="0">
                                          <p:val>
                                            <p:strVal val="ppt_w"/>
                                          </p:val>
                                        </p:tav>
                                        <p:tav tm="100000">
                                          <p:val>
                                            <p:fltVal val="0"/>
                                          </p:val>
                                        </p:tav>
                                      </p:tavLst>
                                    </p:anim>
                                    <p:anim calcmode="lin" valueType="num">
                                      <p:cBhvr>
                                        <p:cTn id="75" dur="1000">
                                          <p:stCondLst>
                                            <p:cond delay="0"/>
                                          </p:stCondLst>
                                        </p:cTn>
                                        <p:tgtEl>
                                          <p:spTgt spid="24"/>
                                        </p:tgtEl>
                                        <p:attrNameLst>
                                          <p:attrName>ppt_h</p:attrName>
                                        </p:attrNameLst>
                                      </p:cBhvr>
                                      <p:tavLst>
                                        <p:tav tm="0">
                                          <p:val>
                                            <p:strVal val="ppt_h"/>
                                          </p:val>
                                        </p:tav>
                                        <p:tav tm="100000">
                                          <p:val>
                                            <p:fltVal val="0"/>
                                          </p:val>
                                        </p:tav>
                                      </p:tavLst>
                                    </p:anim>
                                    <p:set>
                                      <p:cBhvr>
                                        <p:cTn id="76" dur="1" fill="hold">
                                          <p:stCondLst>
                                            <p:cond delay="999"/>
                                          </p:stCondLst>
                                        </p:cTn>
                                        <p:tgtEl>
                                          <p:spTgt spid="24"/>
                                        </p:tgtEl>
                                        <p:attrNameLst>
                                          <p:attrName>style.visibility</p:attrName>
                                        </p:attrNameLst>
                                      </p:cBhvr>
                                      <p:to>
                                        <p:strVal val="hidden"/>
                                      </p:to>
                                    </p:set>
                                  </p:childTnLst>
                                </p:cTn>
                              </p:par>
                              <p:par>
                                <p:cTn id="77" presetID="37" presetClass="path" presetSubtype="0" fill="hold" grpId="0" nodeType="withEffect">
                                  <p:stCondLst>
                                    <p:cond delay="1500"/>
                                  </p:stCondLst>
                                  <p:childTnLst>
                                    <p:animMotion origin="layout" path="M 0.71704 0.18376 C 0.71704 0.18468 0.82815 0.40343 0.94516 0.39209 C 1.02485 0.39579 1.13787 0.32126 1.21391 0.25876 C 1.28995 0.19626 1.36704 0.04857 1.40141 0.01709 " pathEditMode="fixed" rAng="0" ptsTypes="fssf">
                                      <p:cBhvr>
                                        <p:cTn id="78" dur="1000" fill="hold"/>
                                        <p:tgtEl>
                                          <p:spTgt spid="25"/>
                                        </p:tgtEl>
                                        <p:attrNameLst>
                                          <p:attrName>ppt_x,ppt_y</p:attrName>
                                        </p:attrNameLst>
                                      </p:cBhvr>
                                      <p:rCtr x="34219" y="2639"/>
                                    </p:animMotion>
                                    <p:anim calcmode="lin" valueType="num">
                                      <p:cBhvr>
                                        <p:cTn id="79" dur="1000">
                                          <p:stCondLst>
                                            <p:cond delay="0"/>
                                          </p:stCondLst>
                                        </p:cTn>
                                        <p:tgtEl>
                                          <p:spTgt spid="25"/>
                                        </p:tgtEl>
                                        <p:attrNameLst>
                                          <p:attrName>ppt_w</p:attrName>
                                        </p:attrNameLst>
                                      </p:cBhvr>
                                      <p:tavLst>
                                        <p:tav tm="0">
                                          <p:val>
                                            <p:strVal val="ppt_w"/>
                                          </p:val>
                                        </p:tav>
                                        <p:tav tm="100000">
                                          <p:val>
                                            <p:fltVal val="0"/>
                                          </p:val>
                                        </p:tav>
                                      </p:tavLst>
                                    </p:anim>
                                    <p:anim calcmode="lin" valueType="num">
                                      <p:cBhvr>
                                        <p:cTn id="80" dur="1000">
                                          <p:stCondLst>
                                            <p:cond delay="0"/>
                                          </p:stCondLst>
                                        </p:cTn>
                                        <p:tgtEl>
                                          <p:spTgt spid="25"/>
                                        </p:tgtEl>
                                        <p:attrNameLst>
                                          <p:attrName>ppt_h</p:attrName>
                                        </p:attrNameLst>
                                      </p:cBhvr>
                                      <p:tavLst>
                                        <p:tav tm="0">
                                          <p:val>
                                            <p:strVal val="ppt_h"/>
                                          </p:val>
                                        </p:tav>
                                        <p:tav tm="100000">
                                          <p:val>
                                            <p:fltVal val="0"/>
                                          </p:val>
                                        </p:tav>
                                      </p:tavLst>
                                    </p:anim>
                                    <p:set>
                                      <p:cBhvr>
                                        <p:cTn id="81" dur="1" fill="hold">
                                          <p:stCondLst>
                                            <p:cond delay="999"/>
                                          </p:stCondLst>
                                        </p:cTn>
                                        <p:tgtEl>
                                          <p:spTgt spid="25"/>
                                        </p:tgtEl>
                                        <p:attrNameLst>
                                          <p:attrName>style.visibility</p:attrName>
                                        </p:attrNameLst>
                                      </p:cBhvr>
                                      <p:to>
                                        <p:strVal val="hidden"/>
                                      </p:to>
                                    </p:set>
                                  </p:childTnLst>
                                </p:cTn>
                              </p:par>
                              <p:par>
                                <p:cTn id="82" presetID="37" presetClass="path" presetSubtype="0" fill="hold" grpId="0" nodeType="withEffect">
                                  <p:stCondLst>
                                    <p:cond delay="1800"/>
                                  </p:stCondLst>
                                  <p:childTnLst>
                                    <p:animMotion origin="layout" path="M 0.66114 0.15667 C 0.66114 0.1576 0.79725 0.37635 0.91426 0.365 C 1.02572 0.34209 1.27485 0.13283 1.34551 0.09834 " pathEditMode="fixed" rAng="0" ptsTypes="fsf">
                                      <p:cBhvr>
                                        <p:cTn id="83" dur="1000" fill="hold"/>
                                        <p:tgtEl>
                                          <p:spTgt spid="26"/>
                                        </p:tgtEl>
                                        <p:attrNameLst>
                                          <p:attrName>ppt_x,ppt_y</p:attrName>
                                        </p:attrNameLst>
                                      </p:cBhvr>
                                      <p:rCtr x="34219" y="8056"/>
                                    </p:animMotion>
                                    <p:anim calcmode="lin" valueType="num">
                                      <p:cBhvr>
                                        <p:cTn id="84" dur="1000">
                                          <p:stCondLst>
                                            <p:cond delay="0"/>
                                          </p:stCondLst>
                                        </p:cTn>
                                        <p:tgtEl>
                                          <p:spTgt spid="26"/>
                                        </p:tgtEl>
                                        <p:attrNameLst>
                                          <p:attrName>ppt_w</p:attrName>
                                        </p:attrNameLst>
                                      </p:cBhvr>
                                      <p:tavLst>
                                        <p:tav tm="0">
                                          <p:val>
                                            <p:strVal val="ppt_w"/>
                                          </p:val>
                                        </p:tav>
                                        <p:tav tm="100000">
                                          <p:val>
                                            <p:fltVal val="0"/>
                                          </p:val>
                                        </p:tav>
                                      </p:tavLst>
                                    </p:anim>
                                    <p:anim calcmode="lin" valueType="num">
                                      <p:cBhvr>
                                        <p:cTn id="85" dur="1000">
                                          <p:stCondLst>
                                            <p:cond delay="0"/>
                                          </p:stCondLst>
                                        </p:cTn>
                                        <p:tgtEl>
                                          <p:spTgt spid="26"/>
                                        </p:tgtEl>
                                        <p:attrNameLst>
                                          <p:attrName>ppt_h</p:attrName>
                                        </p:attrNameLst>
                                      </p:cBhvr>
                                      <p:tavLst>
                                        <p:tav tm="0">
                                          <p:val>
                                            <p:strVal val="ppt_h"/>
                                          </p:val>
                                        </p:tav>
                                        <p:tav tm="100000">
                                          <p:val>
                                            <p:fltVal val="0"/>
                                          </p:val>
                                        </p:tav>
                                      </p:tavLst>
                                    </p:anim>
                                    <p:set>
                                      <p:cBhvr>
                                        <p:cTn id="86" dur="1" fill="hold">
                                          <p:stCondLst>
                                            <p:cond delay="999"/>
                                          </p:stCondLst>
                                        </p:cTn>
                                        <p:tgtEl>
                                          <p:spTgt spid="26"/>
                                        </p:tgtEl>
                                        <p:attrNameLst>
                                          <p:attrName>style.visibility</p:attrName>
                                        </p:attrNameLst>
                                      </p:cBhvr>
                                      <p:to>
                                        <p:strVal val="hidden"/>
                                      </p:to>
                                    </p:set>
                                  </p:childTnLst>
                                </p:cTn>
                              </p:par>
                              <p:par>
                                <p:cTn id="87" presetID="37" presetClass="path" presetSubtype="0" fill="hold" grpId="0" nodeType="withEffect">
                                  <p:stCondLst>
                                    <p:cond delay="2100"/>
                                  </p:stCondLst>
                                  <p:childTnLst>
                                    <p:animMotion origin="layout" path="M 0.49117 0.13908 C 0.49117 0.14001 0.57242 0.40158 0.70679 0.35575 C 0.78266 0.36038 0.89429 0.28908 0.96929 0.22241 C 1.04429 0.15575 1.11773 0.0113 1.15679 -0.04425 " pathEditMode="fixed" rAng="0" ptsTypes="fsaf">
                                      <p:cBhvr>
                                        <p:cTn id="88" dur="1000" fill="hold"/>
                                        <p:tgtEl>
                                          <p:spTgt spid="27"/>
                                        </p:tgtEl>
                                        <p:attrNameLst>
                                          <p:attrName>ppt_x,ppt_y</p:attrName>
                                        </p:attrNameLst>
                                      </p:cBhvr>
                                      <p:rCtr x="33281" y="3958"/>
                                    </p:animMotion>
                                    <p:anim calcmode="lin" valueType="num">
                                      <p:cBhvr>
                                        <p:cTn id="89" dur="1000">
                                          <p:stCondLst>
                                            <p:cond delay="0"/>
                                          </p:stCondLst>
                                        </p:cTn>
                                        <p:tgtEl>
                                          <p:spTgt spid="27"/>
                                        </p:tgtEl>
                                        <p:attrNameLst>
                                          <p:attrName>ppt_w</p:attrName>
                                        </p:attrNameLst>
                                      </p:cBhvr>
                                      <p:tavLst>
                                        <p:tav tm="0">
                                          <p:val>
                                            <p:strVal val="ppt_w"/>
                                          </p:val>
                                        </p:tav>
                                        <p:tav tm="100000">
                                          <p:val>
                                            <p:fltVal val="0"/>
                                          </p:val>
                                        </p:tav>
                                      </p:tavLst>
                                    </p:anim>
                                    <p:anim calcmode="lin" valueType="num">
                                      <p:cBhvr>
                                        <p:cTn id="90" dur="1000">
                                          <p:stCondLst>
                                            <p:cond delay="0"/>
                                          </p:stCondLst>
                                        </p:cTn>
                                        <p:tgtEl>
                                          <p:spTgt spid="27"/>
                                        </p:tgtEl>
                                        <p:attrNameLst>
                                          <p:attrName>ppt_h</p:attrName>
                                        </p:attrNameLst>
                                      </p:cBhvr>
                                      <p:tavLst>
                                        <p:tav tm="0">
                                          <p:val>
                                            <p:strVal val="ppt_h"/>
                                          </p:val>
                                        </p:tav>
                                        <p:tav tm="100000">
                                          <p:val>
                                            <p:fltVal val="0"/>
                                          </p:val>
                                        </p:tav>
                                      </p:tavLst>
                                    </p:anim>
                                    <p:set>
                                      <p:cBhvr>
                                        <p:cTn id="91" dur="1" fill="hold">
                                          <p:stCondLst>
                                            <p:cond delay="999"/>
                                          </p:stCondLst>
                                        </p:cTn>
                                        <p:tgtEl>
                                          <p:spTgt spid="27"/>
                                        </p:tgtEl>
                                        <p:attrNameLst>
                                          <p:attrName>style.visibility</p:attrName>
                                        </p:attrNameLst>
                                      </p:cBhvr>
                                      <p:to>
                                        <p:strVal val="hidden"/>
                                      </p:to>
                                    </p:set>
                                  </p:childTnLst>
                                </p:cTn>
                              </p:par>
                              <p:par>
                                <p:cTn id="92" presetID="37" presetClass="path" presetSubtype="0" fill="hold" grpId="0" nodeType="withEffect">
                                  <p:stCondLst>
                                    <p:cond delay="2400"/>
                                  </p:stCondLst>
                                  <p:childTnLst>
                                    <p:animMotion origin="layout" path="M 0.40992 0.23792 C 0.44586 0.27125 0.55002 0.42195 0.62555 0.43792 C 0.70107 0.45389 0.79325 0.40482 0.86305 0.33398 C 0.93284 0.26315 1.00402 0.06269 1.0443 0.01315 " pathEditMode="fixed" rAng="0" ptsTypes="faaf">
                                      <p:cBhvr>
                                        <p:cTn id="93" dur="1000" fill="hold"/>
                                        <p:tgtEl>
                                          <p:spTgt spid="28"/>
                                        </p:tgtEl>
                                        <p:attrNameLst>
                                          <p:attrName>ppt_x,ppt_y</p:attrName>
                                        </p:attrNameLst>
                                      </p:cBhvr>
                                      <p:rCtr x="31719" y="-440"/>
                                    </p:animMotion>
                                    <p:anim calcmode="lin" valueType="num">
                                      <p:cBhvr>
                                        <p:cTn id="94" dur="1000">
                                          <p:stCondLst>
                                            <p:cond delay="0"/>
                                          </p:stCondLst>
                                        </p:cTn>
                                        <p:tgtEl>
                                          <p:spTgt spid="28"/>
                                        </p:tgtEl>
                                        <p:attrNameLst>
                                          <p:attrName>ppt_w</p:attrName>
                                        </p:attrNameLst>
                                      </p:cBhvr>
                                      <p:tavLst>
                                        <p:tav tm="0">
                                          <p:val>
                                            <p:strVal val="ppt_w"/>
                                          </p:val>
                                        </p:tav>
                                        <p:tav tm="100000">
                                          <p:val>
                                            <p:fltVal val="0"/>
                                          </p:val>
                                        </p:tav>
                                      </p:tavLst>
                                    </p:anim>
                                    <p:anim calcmode="lin" valueType="num">
                                      <p:cBhvr>
                                        <p:cTn id="95" dur="1000">
                                          <p:stCondLst>
                                            <p:cond delay="0"/>
                                          </p:stCondLst>
                                        </p:cTn>
                                        <p:tgtEl>
                                          <p:spTgt spid="28"/>
                                        </p:tgtEl>
                                        <p:attrNameLst>
                                          <p:attrName>ppt_h</p:attrName>
                                        </p:attrNameLst>
                                      </p:cBhvr>
                                      <p:tavLst>
                                        <p:tav tm="0">
                                          <p:val>
                                            <p:strVal val="ppt_h"/>
                                          </p:val>
                                        </p:tav>
                                        <p:tav tm="100000">
                                          <p:val>
                                            <p:fltVal val="0"/>
                                          </p:val>
                                        </p:tav>
                                      </p:tavLst>
                                    </p:anim>
                                    <p:set>
                                      <p:cBhvr>
                                        <p:cTn id="96" dur="1" fill="hold">
                                          <p:stCondLst>
                                            <p:cond delay="999"/>
                                          </p:stCondLst>
                                        </p:cTn>
                                        <p:tgtEl>
                                          <p:spTgt spid="28"/>
                                        </p:tgtEl>
                                        <p:attrNameLst>
                                          <p:attrName>style.visibility</p:attrName>
                                        </p:attrNameLst>
                                      </p:cBhvr>
                                      <p:to>
                                        <p:strVal val="hidden"/>
                                      </p:to>
                                    </p:set>
                                  </p:childTnLst>
                                </p:cTn>
                              </p:par>
                              <p:par>
                                <p:cTn id="97" presetID="4" presetClass="entr" presetSubtype="16" repeatCount="300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wipe(left)">
                                      <p:cBhvr>
                                        <p:cTn id="99" dur="500"/>
                                        <p:tgtEl>
                                          <p:spTgt spid="32"/>
                                        </p:tgtEl>
                                      </p:cBhvr>
                                    </p:animEffect>
                                    <p:animEffect transition="out" filter="wipe(left)">
                                      <p:cBhvr>
                                        <p:cTn id="100" dur="500">
                                          <p:stCondLst>
                                            <p:cond delay="500"/>
                                          </p:stCondLst>
                                        </p:cTn>
                                        <p:tgtEl>
                                          <p:spTgt spid="32"/>
                                        </p:tgtEl>
                                      </p:cBhvr>
                                    </p:animEffect>
                                    <p:set>
                                      <p:cBhvr>
                                        <p:cTn id="101" dur="1" fill="hold">
                                          <p:stCondLst>
                                            <p:cond delay="999"/>
                                          </p:stCondLst>
                                        </p:cTn>
                                        <p:tgtEl>
                                          <p:spTgt spid="32"/>
                                        </p:tgtEl>
                                        <p:attrNameLst>
                                          <p:attrName>style.visibility</p:attrName>
                                        </p:attrNameLst>
                                      </p:cBhvr>
                                      <p:to>
                                        <p:strVal val="hidden"/>
                                      </p:to>
                                    </p:set>
                                  </p:childTnLst>
                                </p:cTn>
                              </p:par>
                              <p:par>
                                <p:cTn id="102" presetID="4" presetClass="entr" presetSubtype="16" repeatCount="3000" fill="hold" grpId="0" nodeType="withEffect">
                                  <p:stCondLst>
                                    <p:cond delay="200"/>
                                  </p:stCondLst>
                                  <p:childTnLst>
                                    <p:set>
                                      <p:cBhvr>
                                        <p:cTn id="103" dur="1" fill="hold">
                                          <p:stCondLst>
                                            <p:cond delay="0"/>
                                          </p:stCondLst>
                                        </p:cTn>
                                        <p:tgtEl>
                                          <p:spTgt spid="30"/>
                                        </p:tgtEl>
                                        <p:attrNameLst>
                                          <p:attrName>style.visibility</p:attrName>
                                        </p:attrNameLst>
                                      </p:cBhvr>
                                      <p:to>
                                        <p:strVal val="visible"/>
                                      </p:to>
                                    </p:set>
                                    <p:animEffect transition="in" filter="wipe(left)">
                                      <p:cBhvr>
                                        <p:cTn id="104" dur="500"/>
                                        <p:tgtEl>
                                          <p:spTgt spid="30"/>
                                        </p:tgtEl>
                                      </p:cBhvr>
                                    </p:animEffect>
                                    <p:animEffect transition="out" filter="wipe(left)">
                                      <p:cBhvr>
                                        <p:cTn id="105" dur="500">
                                          <p:stCondLst>
                                            <p:cond delay="500"/>
                                          </p:stCondLst>
                                        </p:cTn>
                                        <p:tgtEl>
                                          <p:spTgt spid="30"/>
                                        </p:tgtEl>
                                      </p:cBhvr>
                                    </p:animEffect>
                                    <p:set>
                                      <p:cBhvr>
                                        <p:cTn id="106" dur="1" fill="hold">
                                          <p:stCondLst>
                                            <p:cond delay="999"/>
                                          </p:stCondLst>
                                        </p:cTn>
                                        <p:tgtEl>
                                          <p:spTgt spid="30"/>
                                        </p:tgtEl>
                                        <p:attrNameLst>
                                          <p:attrName>style.visibility</p:attrName>
                                        </p:attrNameLst>
                                      </p:cBhvr>
                                      <p:to>
                                        <p:strVal val="hidden"/>
                                      </p:to>
                                    </p:set>
                                  </p:childTnLst>
                                </p:cTn>
                              </p:par>
                              <p:par>
                                <p:cTn id="107" presetID="4" presetClass="entr" presetSubtype="16" repeatCount="3000" fill="hold" grpId="0" nodeType="withEffect">
                                  <p:stCondLst>
                                    <p:cond delay="400"/>
                                  </p:stCondLst>
                                  <p:childTnLst>
                                    <p:set>
                                      <p:cBhvr>
                                        <p:cTn id="108" dur="1" fill="hold">
                                          <p:stCondLst>
                                            <p:cond delay="0"/>
                                          </p:stCondLst>
                                        </p:cTn>
                                        <p:tgtEl>
                                          <p:spTgt spid="31"/>
                                        </p:tgtEl>
                                        <p:attrNameLst>
                                          <p:attrName>style.visibility</p:attrName>
                                        </p:attrNameLst>
                                      </p:cBhvr>
                                      <p:to>
                                        <p:strVal val="visible"/>
                                      </p:to>
                                    </p:set>
                                    <p:animEffect transition="in" filter="wipe(left)">
                                      <p:cBhvr>
                                        <p:cTn id="109" dur="500"/>
                                        <p:tgtEl>
                                          <p:spTgt spid="31"/>
                                        </p:tgtEl>
                                      </p:cBhvr>
                                    </p:animEffect>
                                    <p:animEffect transition="out" filter="wipe(left)">
                                      <p:cBhvr>
                                        <p:cTn id="110" dur="500">
                                          <p:stCondLst>
                                            <p:cond delay="500"/>
                                          </p:stCondLst>
                                        </p:cTn>
                                        <p:tgtEl>
                                          <p:spTgt spid="31"/>
                                        </p:tgtEl>
                                      </p:cBhvr>
                                    </p:animEffect>
                                    <p:set>
                                      <p:cBhvr>
                                        <p:cTn id="111" dur="1" fill="hold">
                                          <p:stCondLst>
                                            <p:cond delay="999"/>
                                          </p:stCondLst>
                                        </p:cTn>
                                        <p:tgtEl>
                                          <p:spTgt spid="31"/>
                                        </p:tgtEl>
                                        <p:attrNameLst>
                                          <p:attrName>style.visibility</p:attrName>
                                        </p:attrNameLst>
                                      </p:cBhvr>
                                      <p:to>
                                        <p:strVal val="hidden"/>
                                      </p:to>
                                    </p:set>
                                  </p:childTnLst>
                                </p:cTn>
                              </p:par>
                              <p:par>
                                <p:cTn id="112" presetID="4" presetClass="entr" presetSubtype="16" repeatCount="3000" fill="hold" grpId="0" nodeType="withEffect">
                                  <p:stCondLst>
                                    <p:cond delay="500"/>
                                  </p:stCondLst>
                                  <p:childTnLst>
                                    <p:set>
                                      <p:cBhvr>
                                        <p:cTn id="113" dur="1" fill="hold">
                                          <p:stCondLst>
                                            <p:cond delay="0"/>
                                          </p:stCondLst>
                                        </p:cTn>
                                        <p:tgtEl>
                                          <p:spTgt spid="29"/>
                                        </p:tgtEl>
                                        <p:attrNameLst>
                                          <p:attrName>style.visibility</p:attrName>
                                        </p:attrNameLst>
                                      </p:cBhvr>
                                      <p:to>
                                        <p:strVal val="visible"/>
                                      </p:to>
                                    </p:set>
                                    <p:animEffect transition="in" filter="wipe(left)">
                                      <p:cBhvr>
                                        <p:cTn id="114" dur="500"/>
                                        <p:tgtEl>
                                          <p:spTgt spid="29"/>
                                        </p:tgtEl>
                                      </p:cBhvr>
                                    </p:animEffect>
                                    <p:animEffect transition="out" filter="wipe(left)">
                                      <p:cBhvr>
                                        <p:cTn id="115" dur="500">
                                          <p:stCondLst>
                                            <p:cond delay="500"/>
                                          </p:stCondLst>
                                        </p:cTn>
                                        <p:tgtEl>
                                          <p:spTgt spid="29"/>
                                        </p:tgtEl>
                                      </p:cBhvr>
                                    </p:animEffect>
                                    <p:set>
                                      <p:cBhvr>
                                        <p:cTn id="116" dur="1" fill="hold">
                                          <p:stCondLst>
                                            <p:cond delay="999"/>
                                          </p:stCondLst>
                                        </p:cTn>
                                        <p:tgtEl>
                                          <p:spTgt spid="29"/>
                                        </p:tgtEl>
                                        <p:attrNameLst>
                                          <p:attrName>style.visibility</p:attrName>
                                        </p:attrNameLst>
                                      </p:cBhvr>
                                      <p:to>
                                        <p:strVal val="hidden"/>
                                      </p:to>
                                    </p:set>
                                  </p:childTnLst>
                                </p:cTn>
                              </p:par>
                            </p:childTnLst>
                          </p:cTn>
                        </p:par>
                        <p:par>
                          <p:cTn id="117" fill="hold">
                            <p:stCondLst>
                              <p:cond delay="4500"/>
                            </p:stCondLst>
                            <p:childTnLst>
                              <p:par>
                                <p:cTn id="118" presetID="10" presetClass="entr" presetSubtype="0" fill="hold" grpId="0" nodeType="afterEffect">
                                  <p:stCondLst>
                                    <p:cond delay="50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par>
                                <p:cTn id="121" presetID="10" presetClass="entr" presetSubtype="0" fill="hold" grpId="0" nodeType="withEffect">
                                  <p:stCondLst>
                                    <p:cond delay="50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500"/>
                                        <p:tgtEl>
                                          <p:spTgt spid="42"/>
                                        </p:tgtEl>
                                      </p:cBhvr>
                                    </p:animEffect>
                                  </p:childTnLst>
                                </p:cTn>
                              </p:par>
                              <p:par>
                                <p:cTn id="124" presetID="10" presetClass="entr" presetSubtype="0" fill="hold" grpId="0" nodeType="withEffect">
                                  <p:stCondLst>
                                    <p:cond delay="50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500"/>
                                        <p:tgtEl>
                                          <p:spTgt spid="43"/>
                                        </p:tgtEl>
                                      </p:cBhvr>
                                    </p:animEffect>
                                  </p:childTnLst>
                                </p:cTn>
                              </p:par>
                              <p:par>
                                <p:cTn id="127" presetID="10" presetClass="entr" presetSubtype="0" fill="hold" grpId="0" nodeType="withEffect">
                                  <p:stCondLst>
                                    <p:cond delay="500"/>
                                  </p:stCondLst>
                                  <p:childTnLst>
                                    <p:set>
                                      <p:cBhvr>
                                        <p:cTn id="128" dur="1" fill="hold">
                                          <p:stCondLst>
                                            <p:cond delay="0"/>
                                          </p:stCondLst>
                                        </p:cTn>
                                        <p:tgtEl>
                                          <p:spTgt spid="39"/>
                                        </p:tgtEl>
                                        <p:attrNameLst>
                                          <p:attrName>style.visibility</p:attrName>
                                        </p:attrNameLst>
                                      </p:cBhvr>
                                      <p:to>
                                        <p:strVal val="visible"/>
                                      </p:to>
                                    </p:set>
                                    <p:animEffect transition="in" filter="fade">
                                      <p:cBhvr>
                                        <p:cTn id="129" dur="500"/>
                                        <p:tgtEl>
                                          <p:spTgt spid="39"/>
                                        </p:tgtEl>
                                      </p:cBhvr>
                                    </p:animEffect>
                                  </p:childTnLst>
                                </p:cTn>
                              </p:par>
                              <p:par>
                                <p:cTn id="130" presetID="10" presetClass="entr" presetSubtype="0" fill="hold" grpId="0" nodeType="withEffect">
                                  <p:stCondLst>
                                    <p:cond delay="500"/>
                                  </p:stCondLst>
                                  <p:childTnLst>
                                    <p:set>
                                      <p:cBhvr>
                                        <p:cTn id="131" dur="1" fill="hold">
                                          <p:stCondLst>
                                            <p:cond delay="0"/>
                                          </p:stCondLst>
                                        </p:cTn>
                                        <p:tgtEl>
                                          <p:spTgt spid="37"/>
                                        </p:tgtEl>
                                        <p:attrNameLst>
                                          <p:attrName>style.visibility</p:attrName>
                                        </p:attrNameLst>
                                      </p:cBhvr>
                                      <p:to>
                                        <p:strVal val="visible"/>
                                      </p:to>
                                    </p:set>
                                    <p:animEffect transition="in" filter="fade">
                                      <p:cBhvr>
                                        <p:cTn id="132" dur="500"/>
                                        <p:tgtEl>
                                          <p:spTgt spid="37"/>
                                        </p:tgtEl>
                                      </p:cBhvr>
                                    </p:animEffect>
                                  </p:childTnLst>
                                </p:cTn>
                              </p:par>
                              <p:par>
                                <p:cTn id="133" presetID="10" presetClass="entr" presetSubtype="0" fill="hold" grpId="0" nodeType="withEffect">
                                  <p:stCondLst>
                                    <p:cond delay="500"/>
                                  </p:stCondLst>
                                  <p:childTnLst>
                                    <p:set>
                                      <p:cBhvr>
                                        <p:cTn id="134" dur="1" fill="hold">
                                          <p:stCondLst>
                                            <p:cond delay="0"/>
                                          </p:stCondLst>
                                        </p:cTn>
                                        <p:tgtEl>
                                          <p:spTgt spid="38"/>
                                        </p:tgtEl>
                                        <p:attrNameLst>
                                          <p:attrName>style.visibility</p:attrName>
                                        </p:attrNameLst>
                                      </p:cBhvr>
                                      <p:to>
                                        <p:strVal val="visible"/>
                                      </p:to>
                                    </p:set>
                                    <p:animEffect transition="in" filter="fade">
                                      <p:cBhvr>
                                        <p:cTn id="135" dur="500"/>
                                        <p:tgtEl>
                                          <p:spTgt spid="38"/>
                                        </p:tgtEl>
                                      </p:cBhvr>
                                    </p:animEffect>
                                  </p:childTnLst>
                                </p:cTn>
                              </p:par>
                              <p:par>
                                <p:cTn id="136" presetID="10" presetClass="entr" presetSubtype="0" fill="hold" grpId="0" nodeType="withEffect">
                                  <p:stCondLst>
                                    <p:cond delay="50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00"/>
                                        <p:tgtEl>
                                          <p:spTgt spid="36"/>
                                        </p:tgtEl>
                                      </p:cBhvr>
                                    </p:animEffect>
                                  </p:childTnLst>
                                </p:cTn>
                              </p:par>
                            </p:childTnLst>
                          </p:cTn>
                        </p:par>
                      </p:childTnLst>
                    </p:cTn>
                  </p:par>
                  <p:par>
                    <p:cTn id="139" fill="hold">
                      <p:stCondLst>
                        <p:cond delay="indefinite"/>
                      </p:stCondLst>
                      <p:childTnLst>
                        <p:par>
                          <p:cTn id="140" fill="hold">
                            <p:stCondLst>
                              <p:cond delay="0"/>
                            </p:stCondLst>
                            <p:childTnLst>
                              <p:par>
                                <p:cTn id="141" presetID="9" presetClass="entr" presetSubtype="0" fill="hold" nodeType="clickEffect">
                                  <p:stCondLst>
                                    <p:cond delay="0"/>
                                  </p:stCondLst>
                                  <p:childTnLst>
                                    <p:set>
                                      <p:cBhvr>
                                        <p:cTn id="142" dur="1" fill="hold">
                                          <p:stCondLst>
                                            <p:cond delay="0"/>
                                          </p:stCondLst>
                                        </p:cTn>
                                        <p:tgtEl>
                                          <p:spTgt spid="49"/>
                                        </p:tgtEl>
                                        <p:attrNameLst>
                                          <p:attrName>style.visibility</p:attrName>
                                        </p:attrNameLst>
                                      </p:cBhvr>
                                      <p:to>
                                        <p:strVal val="visible"/>
                                      </p:to>
                                    </p:set>
                                    <p:animEffect transition="in" filter="dissolve">
                                      <p:cBhvr>
                                        <p:cTn id="143" dur="500"/>
                                        <p:tgtEl>
                                          <p:spTgt spid="49"/>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nodeType="clickEffect">
                                  <p:stCondLst>
                                    <p:cond delay="0"/>
                                  </p:stCondLst>
                                  <p:childTnLst>
                                    <p:animEffect transition="out" filter="fade">
                                      <p:cBhvr>
                                        <p:cTn id="147" dur="500"/>
                                        <p:tgtEl>
                                          <p:spTgt spid="49"/>
                                        </p:tgtEl>
                                      </p:cBhvr>
                                    </p:animEffect>
                                    <p:set>
                                      <p:cBhvr>
                                        <p:cTn id="148" dur="1" fill="hold">
                                          <p:stCondLst>
                                            <p:cond delay="499"/>
                                          </p:stCondLst>
                                        </p:cTn>
                                        <p:tgtEl>
                                          <p:spTgt spid="49"/>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50"/>
                                        </p:tgtEl>
                                        <p:attrNameLst>
                                          <p:attrName>style.visibility</p:attrName>
                                        </p:attrNameLst>
                                      </p:cBhvr>
                                      <p:to>
                                        <p:strVal val="visible"/>
                                      </p:to>
                                    </p:set>
                                    <p:animEffect transition="in" filter="dissolve">
                                      <p:cBhvr>
                                        <p:cTn id="153" dur="500"/>
                                        <p:tgtEl>
                                          <p:spTgt spid="50"/>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xit" presetSubtype="0" fill="hold" nodeType="clickEffect">
                                  <p:stCondLst>
                                    <p:cond delay="0"/>
                                  </p:stCondLst>
                                  <p:childTnLst>
                                    <p:animEffect transition="out" filter="fade">
                                      <p:cBhvr>
                                        <p:cTn id="157" dur="500"/>
                                        <p:tgtEl>
                                          <p:spTgt spid="50"/>
                                        </p:tgtEl>
                                      </p:cBhvr>
                                    </p:animEffect>
                                    <p:set>
                                      <p:cBhvr>
                                        <p:cTn id="158" dur="1" fill="hold">
                                          <p:stCondLst>
                                            <p:cond delay="499"/>
                                          </p:stCondLst>
                                        </p:cTn>
                                        <p:tgtEl>
                                          <p:spTgt spid="50"/>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46"/>
                                        </p:tgtEl>
                                        <p:attrNameLst>
                                          <p:attrName>style.visibility</p:attrName>
                                        </p:attrNameLst>
                                      </p:cBhvr>
                                      <p:to>
                                        <p:strVal val="visible"/>
                                      </p:to>
                                    </p:set>
                                    <p:anim calcmode="lin" valueType="num">
                                      <p:cBhvr additive="base">
                                        <p:cTn id="163" dur="1000" fill="hold"/>
                                        <p:tgtEl>
                                          <p:spTgt spid="46"/>
                                        </p:tgtEl>
                                        <p:attrNameLst>
                                          <p:attrName>ppt_x</p:attrName>
                                        </p:attrNameLst>
                                      </p:cBhvr>
                                      <p:tavLst>
                                        <p:tav tm="0">
                                          <p:val>
                                            <p:strVal val="#ppt_x"/>
                                          </p:val>
                                        </p:tav>
                                        <p:tav tm="100000">
                                          <p:val>
                                            <p:strVal val="#ppt_x"/>
                                          </p:val>
                                        </p:tav>
                                      </p:tavLst>
                                    </p:anim>
                                    <p:anim calcmode="lin" valueType="num">
                                      <p:cBhvr additive="base">
                                        <p:cTn id="164" dur="10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6" grpId="0" animBg="1"/>
      <p:bldP spid="37" grpId="0" animBg="1"/>
      <p:bldP spid="38" grpId="0" animBg="1"/>
      <p:bldP spid="39" grpId="0" animBg="1"/>
      <p:bldP spid="42" grpId="0" animBg="1"/>
      <p:bldP spid="43" grpId="0" animBg="1"/>
      <p:bldP spid="44" grpId="0" animBg="1"/>
      <p:bldP spid="4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grpSp>
        <p:nvGrpSpPr>
          <p:cNvPr id="12" name="组合 11"/>
          <p:cNvGrpSpPr/>
          <p:nvPr/>
        </p:nvGrpSpPr>
        <p:grpSpPr>
          <a:xfrm>
            <a:off x="611560" y="1925419"/>
            <a:ext cx="1224136" cy="646331"/>
            <a:chOff x="611560" y="1925419"/>
            <a:chExt cx="1224136" cy="646331"/>
          </a:xfrm>
        </p:grpSpPr>
        <p:cxnSp>
          <p:nvCxnSpPr>
            <p:cNvPr id="4" name="直接箭头连接符 3"/>
            <p:cNvCxnSpPr/>
            <p:nvPr/>
          </p:nvCxnSpPr>
          <p:spPr>
            <a:xfrm>
              <a:off x="611560" y="2571750"/>
              <a:ext cx="12241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 name="文本框 4"/>
            <p:cNvSpPr txBox="1"/>
            <p:nvPr/>
          </p:nvSpPr>
          <p:spPr>
            <a:xfrm>
              <a:off x="611560" y="1925419"/>
              <a:ext cx="1224136" cy="646331"/>
            </a:xfrm>
            <a:prstGeom prst="rect">
              <a:avLst/>
            </a:prstGeom>
            <a:noFill/>
          </p:spPr>
          <p:txBody>
            <a:bodyPr wrap="square" rtlCol="0">
              <a:spAutoFit/>
            </a:bodyPr>
            <a:lstStyle/>
            <a:p>
              <a:pPr algn="ctr"/>
              <a:r>
                <a:rPr lang="zh-CN" altLang="en-US" b="1" dirty="0" smtClean="0">
                  <a:solidFill>
                    <a:schemeClr val="bg1"/>
                  </a:solidFill>
                </a:rPr>
                <a:t>程序纸带（或卡片）</a:t>
              </a:r>
              <a:endParaRPr lang="zh-CN" altLang="en-US" b="1" dirty="0">
                <a:solidFill>
                  <a:schemeClr val="bg1"/>
                </a:solidFill>
              </a:endParaRPr>
            </a:p>
          </p:txBody>
        </p:sp>
      </p:grpSp>
      <p:sp>
        <p:nvSpPr>
          <p:cNvPr id="29" name="图文框 28"/>
          <p:cNvSpPr/>
          <p:nvPr/>
        </p:nvSpPr>
        <p:spPr>
          <a:xfrm>
            <a:off x="1799692" y="2283718"/>
            <a:ext cx="1224136" cy="576064"/>
          </a:xfrm>
          <a:prstGeom prst="fram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b="1" dirty="0" smtClean="0">
                <a:solidFill>
                  <a:srgbClr val="FFFF00"/>
                </a:solidFill>
              </a:rPr>
              <a:t>输入机</a:t>
            </a:r>
            <a:endParaRPr lang="zh-CN" altLang="en-US" b="1" dirty="0">
              <a:solidFill>
                <a:srgbClr val="FFFF00"/>
              </a:solidFill>
            </a:endParaRPr>
          </a:p>
        </p:txBody>
      </p:sp>
      <p:sp>
        <p:nvSpPr>
          <p:cNvPr id="30" name="图文框 29"/>
          <p:cNvSpPr/>
          <p:nvPr/>
        </p:nvSpPr>
        <p:spPr>
          <a:xfrm>
            <a:off x="4283968" y="2283718"/>
            <a:ext cx="1224136" cy="576064"/>
          </a:xfrm>
          <a:prstGeom prst="fram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b="1" dirty="0" smtClean="0">
                <a:solidFill>
                  <a:srgbClr val="FFFF00"/>
                </a:solidFill>
              </a:rPr>
              <a:t>计算机</a:t>
            </a:r>
            <a:endParaRPr lang="zh-CN" altLang="en-US" b="1" dirty="0">
              <a:solidFill>
                <a:srgbClr val="FFFF00"/>
              </a:solidFill>
            </a:endParaRPr>
          </a:p>
        </p:txBody>
      </p:sp>
      <p:grpSp>
        <p:nvGrpSpPr>
          <p:cNvPr id="13" name="组合 12"/>
          <p:cNvGrpSpPr/>
          <p:nvPr/>
        </p:nvGrpSpPr>
        <p:grpSpPr>
          <a:xfrm>
            <a:off x="2987824" y="1960552"/>
            <a:ext cx="1360968" cy="611198"/>
            <a:chOff x="2987824" y="1960552"/>
            <a:chExt cx="1360968" cy="611198"/>
          </a:xfrm>
        </p:grpSpPr>
        <p:cxnSp>
          <p:nvCxnSpPr>
            <p:cNvPr id="31" name="直接箭头连接符 30"/>
            <p:cNvCxnSpPr/>
            <p:nvPr/>
          </p:nvCxnSpPr>
          <p:spPr>
            <a:xfrm>
              <a:off x="3059832" y="2571750"/>
              <a:ext cx="12241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2" name="文本框 31"/>
            <p:cNvSpPr txBox="1"/>
            <p:nvPr/>
          </p:nvSpPr>
          <p:spPr>
            <a:xfrm>
              <a:off x="2987824" y="1960552"/>
              <a:ext cx="1360968" cy="369332"/>
            </a:xfrm>
            <a:prstGeom prst="rect">
              <a:avLst/>
            </a:prstGeom>
            <a:noFill/>
          </p:spPr>
          <p:txBody>
            <a:bodyPr wrap="square" rtlCol="0">
              <a:spAutoFit/>
            </a:bodyPr>
            <a:lstStyle/>
            <a:p>
              <a:pPr algn="ctr"/>
              <a:r>
                <a:rPr lang="zh-CN" altLang="en-US" b="1" dirty="0" smtClean="0">
                  <a:solidFill>
                    <a:schemeClr val="bg1"/>
                  </a:solidFill>
                </a:rPr>
                <a:t>启动输入机</a:t>
              </a:r>
              <a:endParaRPr lang="zh-CN" altLang="en-US" b="1" dirty="0">
                <a:solidFill>
                  <a:schemeClr val="bg1"/>
                </a:solidFill>
              </a:endParaRPr>
            </a:p>
          </p:txBody>
        </p:sp>
      </p:grpSp>
      <p:grpSp>
        <p:nvGrpSpPr>
          <p:cNvPr id="14" name="组合 13"/>
          <p:cNvGrpSpPr/>
          <p:nvPr/>
        </p:nvGrpSpPr>
        <p:grpSpPr>
          <a:xfrm>
            <a:off x="4572000" y="1064132"/>
            <a:ext cx="1712061" cy="1184452"/>
            <a:chOff x="4572000" y="1064132"/>
            <a:chExt cx="1712061" cy="1184452"/>
          </a:xfrm>
        </p:grpSpPr>
        <p:cxnSp>
          <p:nvCxnSpPr>
            <p:cNvPr id="33" name="直接箭头连接符 32"/>
            <p:cNvCxnSpPr/>
            <p:nvPr/>
          </p:nvCxnSpPr>
          <p:spPr>
            <a:xfrm>
              <a:off x="4644008" y="1064132"/>
              <a:ext cx="0" cy="118445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4" name="文本框 33"/>
            <p:cNvSpPr txBox="1"/>
            <p:nvPr/>
          </p:nvSpPr>
          <p:spPr>
            <a:xfrm>
              <a:off x="4572000" y="1245549"/>
              <a:ext cx="1712061" cy="646331"/>
            </a:xfrm>
            <a:prstGeom prst="rect">
              <a:avLst/>
            </a:prstGeom>
            <a:noFill/>
          </p:spPr>
          <p:txBody>
            <a:bodyPr wrap="square" rtlCol="0">
              <a:spAutoFit/>
            </a:bodyPr>
            <a:lstStyle/>
            <a:p>
              <a:pPr algn="ctr"/>
              <a:r>
                <a:rPr lang="zh-CN" altLang="en-US" b="1" dirty="0" smtClean="0">
                  <a:solidFill>
                    <a:schemeClr val="bg1"/>
                  </a:solidFill>
                </a:rPr>
                <a:t>控制台开关启动程序运行</a:t>
              </a:r>
              <a:endParaRPr lang="zh-CN" altLang="en-US" b="1" dirty="0">
                <a:solidFill>
                  <a:schemeClr val="bg1"/>
                </a:solidFill>
              </a:endParaRPr>
            </a:p>
          </p:txBody>
        </p:sp>
      </p:grpSp>
      <p:grpSp>
        <p:nvGrpSpPr>
          <p:cNvPr id="40" name="组合 39"/>
          <p:cNvGrpSpPr/>
          <p:nvPr/>
        </p:nvGrpSpPr>
        <p:grpSpPr>
          <a:xfrm>
            <a:off x="5443280" y="2145218"/>
            <a:ext cx="1360968" cy="426532"/>
            <a:chOff x="5443280" y="2145218"/>
            <a:chExt cx="1360968" cy="426532"/>
          </a:xfrm>
        </p:grpSpPr>
        <p:cxnSp>
          <p:nvCxnSpPr>
            <p:cNvPr id="35" name="直接箭头连接符 34"/>
            <p:cNvCxnSpPr/>
            <p:nvPr/>
          </p:nvCxnSpPr>
          <p:spPr>
            <a:xfrm>
              <a:off x="5558846" y="2571750"/>
              <a:ext cx="12241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6" name="文本框 35"/>
            <p:cNvSpPr txBox="1"/>
            <p:nvPr/>
          </p:nvSpPr>
          <p:spPr>
            <a:xfrm>
              <a:off x="5443280" y="2145218"/>
              <a:ext cx="1360968" cy="369332"/>
            </a:xfrm>
            <a:prstGeom prst="rect">
              <a:avLst/>
            </a:prstGeom>
            <a:noFill/>
          </p:spPr>
          <p:txBody>
            <a:bodyPr wrap="square" rtlCol="0">
              <a:spAutoFit/>
            </a:bodyPr>
            <a:lstStyle/>
            <a:p>
              <a:pPr algn="ctr"/>
              <a:r>
                <a:rPr lang="zh-CN" altLang="en-US" b="1" dirty="0" smtClean="0">
                  <a:solidFill>
                    <a:schemeClr val="bg1"/>
                  </a:solidFill>
                </a:rPr>
                <a:t>计算结果</a:t>
              </a:r>
              <a:endParaRPr lang="zh-CN" altLang="en-US" b="1" dirty="0">
                <a:solidFill>
                  <a:schemeClr val="bg1"/>
                </a:solidFill>
              </a:endParaRPr>
            </a:p>
          </p:txBody>
        </p:sp>
      </p:grpSp>
      <p:sp>
        <p:nvSpPr>
          <p:cNvPr id="37" name="图文框 36"/>
          <p:cNvSpPr/>
          <p:nvPr/>
        </p:nvSpPr>
        <p:spPr>
          <a:xfrm>
            <a:off x="6781886" y="2248584"/>
            <a:ext cx="1224136" cy="576064"/>
          </a:xfrm>
          <a:prstGeom prst="fram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b="1" dirty="0" smtClean="0">
                <a:solidFill>
                  <a:srgbClr val="FFFF00"/>
                </a:solidFill>
              </a:rPr>
              <a:t>打印机</a:t>
            </a:r>
            <a:endParaRPr lang="zh-CN" altLang="en-US" b="1" dirty="0">
              <a:solidFill>
                <a:srgbClr val="FFFF00"/>
              </a:solidFill>
            </a:endParaRPr>
          </a:p>
        </p:txBody>
      </p:sp>
      <p:grpSp>
        <p:nvGrpSpPr>
          <p:cNvPr id="41" name="组合 40"/>
          <p:cNvGrpSpPr/>
          <p:nvPr/>
        </p:nvGrpSpPr>
        <p:grpSpPr>
          <a:xfrm>
            <a:off x="5481342" y="2859782"/>
            <a:ext cx="1979191" cy="1184452"/>
            <a:chOff x="5481342" y="2859782"/>
            <a:chExt cx="1979191" cy="1184452"/>
          </a:xfrm>
        </p:grpSpPr>
        <p:cxnSp>
          <p:nvCxnSpPr>
            <p:cNvPr id="38" name="直接箭头连接符 37"/>
            <p:cNvCxnSpPr/>
            <p:nvPr/>
          </p:nvCxnSpPr>
          <p:spPr>
            <a:xfrm>
              <a:off x="7460533" y="2859782"/>
              <a:ext cx="0" cy="118445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9" name="文本框 38"/>
            <p:cNvSpPr txBox="1"/>
            <p:nvPr/>
          </p:nvSpPr>
          <p:spPr>
            <a:xfrm>
              <a:off x="5481342" y="3102936"/>
              <a:ext cx="1970978" cy="646331"/>
            </a:xfrm>
            <a:prstGeom prst="rect">
              <a:avLst/>
            </a:prstGeom>
            <a:noFill/>
          </p:spPr>
          <p:txBody>
            <a:bodyPr wrap="square" rtlCol="0">
              <a:spAutoFit/>
            </a:bodyPr>
            <a:lstStyle/>
            <a:p>
              <a:pPr algn="ctr"/>
              <a:r>
                <a:rPr lang="zh-CN" altLang="en-US" b="1" dirty="0">
                  <a:solidFill>
                    <a:schemeClr val="bg1"/>
                  </a:solidFill>
                </a:rPr>
                <a:t>用户取走并卸下纸带（或卡片）</a:t>
              </a:r>
            </a:p>
          </p:txBody>
        </p:sp>
      </p:grpSp>
    </p:spTree>
    <p:extLst>
      <p:ext uri="{BB962C8B-B14F-4D97-AF65-F5344CB8AC3E}">
        <p14:creationId xmlns:p14="http://schemas.microsoft.com/office/powerpoint/2010/main" val="226624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left)">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up)">
                                      <p:cBhvr>
                                        <p:cTn id="4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3414" y="1766977"/>
            <a:ext cx="1114232" cy="494079"/>
          </a:xfrm>
          <a:prstGeom prst="rect">
            <a:avLst/>
          </a:prstGeom>
          <a:gradFill flip="none" rotWithShape="1">
            <a:gsLst>
              <a:gs pos="42000">
                <a:sysClr val="windowText" lastClr="000000">
                  <a:lumMod val="65000"/>
                  <a:lumOff val="35000"/>
                </a:sysClr>
              </a:gs>
              <a:gs pos="100000">
                <a:sysClr val="window" lastClr="FFFFFF"/>
              </a:gs>
            </a:gsLst>
            <a:lin ang="8100000" scaled="1"/>
            <a:tileRect/>
          </a:gradFill>
          <a:ln w="25400" cap="flat" cmpd="sng" algn="ctr">
            <a:solidFill>
              <a:sysClr val="window" lastClr="FFFFFF"/>
            </a:solidFill>
            <a:prstDash val="solid"/>
          </a:ln>
          <a:effectLst/>
          <a:scene3d>
            <a:camera prst="perspectiveFront" fov="0">
              <a:rot lat="20525590" lon="12024257"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1" name="矩形 10"/>
          <p:cNvSpPr/>
          <p:nvPr/>
        </p:nvSpPr>
        <p:spPr>
          <a:xfrm>
            <a:off x="2451914" y="1526714"/>
            <a:ext cx="762552" cy="874939"/>
          </a:xfrm>
          <a:prstGeom prst="rect">
            <a:avLst/>
          </a:prstGeom>
          <a:gradFill flip="none" rotWithShape="1">
            <a:gsLst>
              <a:gs pos="0">
                <a:sysClr val="windowText" lastClr="000000">
                  <a:lumMod val="65000"/>
                  <a:lumOff val="35000"/>
                </a:sysClr>
              </a:gs>
              <a:gs pos="100000">
                <a:sysClr val="window" lastClr="FFFFFF">
                  <a:lumMod val="50000"/>
                </a:sysClr>
              </a:gs>
            </a:gsLst>
            <a:lin ang="13500000" scaled="1"/>
            <a:tileRect/>
          </a:gradFill>
          <a:ln w="25400" cap="flat" cmpd="sng" algn="ctr">
            <a:solidFill>
              <a:sysClr val="window" lastClr="FFFFFF"/>
            </a:solidFill>
            <a:prstDash val="solid"/>
          </a:ln>
          <a:effectLst/>
          <a:scene3d>
            <a:camera prst="perspectiveFront" fov="0">
              <a:rot lat="20525593" lon="6624279" rev="21390797"/>
            </a:camera>
            <a:lightRig rig="balanced" dir="t"/>
          </a:scene3d>
          <a:sp3d z="158750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2" name="矩形 11"/>
          <p:cNvSpPr/>
          <p:nvPr/>
        </p:nvSpPr>
        <p:spPr>
          <a:xfrm>
            <a:off x="1286097" y="2279670"/>
            <a:ext cx="1114232" cy="494079"/>
          </a:xfrm>
          <a:prstGeom prst="rect">
            <a:avLst/>
          </a:prstGeom>
          <a:gradFill flip="none" rotWithShape="1">
            <a:gsLst>
              <a:gs pos="0">
                <a:srgbClr val="D9D9D9"/>
              </a:gs>
              <a:gs pos="100000">
                <a:sysClr val="window" lastClr="FFFFFF"/>
              </a:gs>
            </a:gsLst>
            <a:lin ang="2700000" scaled="1"/>
            <a:tileRect/>
          </a:gradFill>
          <a:ln w="25400" cap="flat" cmpd="sng" algn="ctr">
            <a:solidFill>
              <a:sysClr val="window" lastClr="FFFFFF"/>
            </a:solidFill>
            <a:prstDash val="solid"/>
          </a:ln>
          <a:effectLst/>
          <a:scene3d>
            <a:camera prst="perspectiveFront" fov="0">
              <a:rot lat="17813354" lon="7969249" rev="13616452"/>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3" name="矩形 12"/>
          <p:cNvSpPr/>
          <p:nvPr/>
        </p:nvSpPr>
        <p:spPr>
          <a:xfrm>
            <a:off x="631844" y="1660102"/>
            <a:ext cx="748151" cy="862803"/>
          </a:xfrm>
          <a:prstGeom prst="rect">
            <a:avLst/>
          </a:prstGeom>
          <a:gradFill>
            <a:gsLst>
              <a:gs pos="27000">
                <a:srgbClr val="D9D9D9"/>
              </a:gs>
              <a:gs pos="100000">
                <a:srgbClr val="D9D9D9"/>
              </a:gs>
              <a:gs pos="62000">
                <a:srgbClr val="EBEBEB"/>
              </a:gs>
            </a:gsLst>
            <a:lin ang="2700000" scaled="1"/>
          </a:gradFill>
          <a:ln w="25400" cap="flat" cmpd="sng" algn="ctr">
            <a:solidFill>
              <a:sysClr val="window" lastClr="FFFFFF"/>
            </a:solidFill>
            <a:prstDash val="solid"/>
          </a:ln>
          <a:effectLst/>
          <a:scene3d>
            <a:camera prst="perspectiveFront" fov="0">
              <a:rot lat="20525610" lon="17424067" rev="21390831"/>
            </a:camera>
            <a:lightRig rig="balanced" dir="t"/>
          </a:scene3d>
          <a:sp3d z="16065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9" name="任意多边形 28"/>
          <p:cNvSpPr/>
          <p:nvPr/>
        </p:nvSpPr>
        <p:spPr>
          <a:xfrm>
            <a:off x="1758351" y="1279141"/>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0" name="任意多边形 29"/>
          <p:cNvSpPr/>
          <p:nvPr/>
        </p:nvSpPr>
        <p:spPr>
          <a:xfrm>
            <a:off x="1755081" y="1221243"/>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1" name="任意多边形 30"/>
          <p:cNvSpPr/>
          <p:nvPr/>
        </p:nvSpPr>
        <p:spPr>
          <a:xfrm>
            <a:off x="1841407" y="1017434"/>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2" name="任意多边形 31"/>
          <p:cNvSpPr/>
          <p:nvPr/>
        </p:nvSpPr>
        <p:spPr>
          <a:xfrm>
            <a:off x="1763676" y="1316898"/>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6" name="任意多边形 35"/>
          <p:cNvSpPr/>
          <p:nvPr/>
        </p:nvSpPr>
        <p:spPr>
          <a:xfrm>
            <a:off x="1766959" y="1267282"/>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7" name="任意多边形 36"/>
          <p:cNvSpPr/>
          <p:nvPr/>
        </p:nvSpPr>
        <p:spPr>
          <a:xfrm>
            <a:off x="1763689" y="1209384"/>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8" name="任意多边形 37"/>
          <p:cNvSpPr/>
          <p:nvPr/>
        </p:nvSpPr>
        <p:spPr>
          <a:xfrm>
            <a:off x="1850015" y="1005576"/>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9" name="任意多边形 38"/>
          <p:cNvSpPr/>
          <p:nvPr/>
        </p:nvSpPr>
        <p:spPr>
          <a:xfrm>
            <a:off x="1772284" y="1305039"/>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42" name="椭圆 41"/>
          <p:cNvSpPr/>
          <p:nvPr/>
        </p:nvSpPr>
        <p:spPr>
          <a:xfrm>
            <a:off x="1918286" y="2151259"/>
            <a:ext cx="198304" cy="151610"/>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3" name="[动画大师]_Oval 47"/>
          <p:cNvSpPr/>
          <p:nvPr/>
        </p:nvSpPr>
        <p:spPr>
          <a:xfrm>
            <a:off x="3741882" y="2355727"/>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4" name="椭圆 43"/>
          <p:cNvSpPr/>
          <p:nvPr/>
        </p:nvSpPr>
        <p:spPr>
          <a:xfrm>
            <a:off x="6041732" y="1437625"/>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0" name="矩形 39"/>
          <p:cNvSpPr/>
          <p:nvPr/>
        </p:nvSpPr>
        <p:spPr>
          <a:xfrm>
            <a:off x="1571604" y="1785932"/>
            <a:ext cx="1143253" cy="862803"/>
          </a:xfrm>
          <a:prstGeom prst="rect">
            <a:avLst/>
          </a:prstGeom>
          <a:solidFill>
            <a:sysClr val="window" lastClr="FFFFFF"/>
          </a:solidFill>
          <a:ln w="25400" cap="flat" cmpd="sng" algn="ctr">
            <a:solidFill>
              <a:sysClr val="window" lastClr="FFFFFF"/>
            </a:solidFill>
            <a:prstDash val="solid"/>
          </a:ln>
          <a:effectLst/>
          <a:scene3d>
            <a:camera prst="perspectiveFront" fov="0">
              <a:rot lat="20525597" lon="1224244"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8" name="TextBox 47"/>
          <p:cNvSpPr txBox="1"/>
          <p:nvPr/>
        </p:nvSpPr>
        <p:spPr>
          <a:xfrm>
            <a:off x="1043608" y="1571618"/>
            <a:ext cx="1452698" cy="523220"/>
          </a:xfrm>
          <a:prstGeom prst="rect">
            <a:avLst/>
          </a:prstGeom>
          <a:noFill/>
        </p:spPr>
        <p:txBody>
          <a:bodyPr wrap="square" rtlCol="0">
            <a:spAutoFit/>
          </a:bodyPr>
          <a:lstStyle/>
          <a:p>
            <a:pPr algn="ctr"/>
            <a:r>
              <a:rPr lang="zh-CN" altLang="en-US" sz="2800" b="1" dirty="0" smtClean="0">
                <a:solidFill>
                  <a:srgbClr val="FF0000"/>
                </a:solidFill>
                <a:latin typeface="Times New Roman" pitchFamily="18" charset="0"/>
                <a:cs typeface="Times New Roman" pitchFamily="18" charset="0"/>
              </a:rPr>
              <a:t>发展</a:t>
            </a:r>
            <a:endParaRPr lang="zh-CN" altLang="en-US" sz="2800" b="1" dirty="0">
              <a:solidFill>
                <a:srgbClr val="FF0000"/>
              </a:solidFill>
              <a:latin typeface="Times New Roman" pitchFamily="18" charset="0"/>
              <a:cs typeface="Times New Roman" pitchFamily="18" charset="0"/>
            </a:endParaRPr>
          </a:p>
        </p:txBody>
      </p:sp>
      <p:sp>
        <p:nvSpPr>
          <p:cNvPr id="46" name="矩形标注 45"/>
          <p:cNvSpPr/>
          <p:nvPr/>
        </p:nvSpPr>
        <p:spPr>
          <a:xfrm>
            <a:off x="1402574" y="3160571"/>
            <a:ext cx="2089306" cy="566476"/>
          </a:xfrm>
          <a:prstGeom prst="wedgeRectCallout">
            <a:avLst>
              <a:gd name="adj1" fmla="val 30263"/>
              <a:gd name="adj2" fmla="val -96393"/>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手工操作阶段</a:t>
            </a:r>
          </a:p>
        </p:txBody>
      </p:sp>
      <p:sp>
        <p:nvSpPr>
          <p:cNvPr id="41" name="矩形标注 40"/>
          <p:cNvSpPr/>
          <p:nvPr/>
        </p:nvSpPr>
        <p:spPr>
          <a:xfrm>
            <a:off x="3687811" y="3492061"/>
            <a:ext cx="1976707" cy="567813"/>
          </a:xfrm>
          <a:prstGeom prst="wedgeRectCallout">
            <a:avLst>
              <a:gd name="adj1" fmla="val 12407"/>
              <a:gd name="adj2" fmla="val -146780"/>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000"/>
              </a:lnSpc>
              <a:buClr>
                <a:schemeClr val="accent2">
                  <a:lumMod val="75000"/>
                </a:schemeClr>
              </a:buClr>
              <a:defRPr/>
            </a:pPr>
            <a:r>
              <a:rPr lang="zh-CN" altLang="en-US" sz="2400" b="1" dirty="0">
                <a:latin typeface="+mn-ea"/>
              </a:rPr>
              <a:t>早期批处理</a:t>
            </a:r>
            <a:endParaRPr lang="zh-CN" altLang="en-US" sz="2400" b="1" dirty="0" smtClean="0">
              <a:latin typeface="+mn-ea"/>
            </a:endParaRPr>
          </a:p>
        </p:txBody>
      </p:sp>
      <p:graphicFrame>
        <p:nvGraphicFramePr>
          <p:cNvPr id="2" name="图示 1"/>
          <p:cNvGraphicFramePr/>
          <p:nvPr>
            <p:extLst>
              <p:ext uri="{D42A27DB-BD31-4B8C-83A1-F6EECF244321}">
                <p14:modId xmlns:p14="http://schemas.microsoft.com/office/powerpoint/2010/main" val="637424071"/>
              </p:ext>
            </p:extLst>
          </p:nvPr>
        </p:nvGraphicFramePr>
        <p:xfrm>
          <a:off x="2689092" y="351159"/>
          <a:ext cx="4517732" cy="30770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0938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Graphic spid="2"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3913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早期批处理（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联机批处理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 name="空心弧 6"/>
          <p:cNvSpPr/>
          <p:nvPr/>
        </p:nvSpPr>
        <p:spPr>
          <a:xfrm>
            <a:off x="-5119188" y="-339315"/>
            <a:ext cx="6398197" cy="6398197"/>
          </a:xfrm>
          <a:prstGeom prst="blockArc">
            <a:avLst>
              <a:gd name="adj1" fmla="val 18900000"/>
              <a:gd name="adj2" fmla="val 2700000"/>
              <a:gd name="adj3" fmla="val 338"/>
            </a:avLst>
          </a:prstGeom>
          <a:scene3d>
            <a:camera prst="orthographicFront"/>
            <a:lightRig rig="flat" dir="t"/>
          </a:scene3d>
          <a:sp3d prstMaterial="matte"/>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57" name="组合 56"/>
          <p:cNvGrpSpPr/>
          <p:nvPr/>
        </p:nvGrpSpPr>
        <p:grpSpPr>
          <a:xfrm>
            <a:off x="314966" y="645580"/>
            <a:ext cx="8010010" cy="539887"/>
            <a:chOff x="314966" y="645580"/>
            <a:chExt cx="8010010" cy="539887"/>
          </a:xfrm>
        </p:grpSpPr>
        <p:sp>
          <p:nvSpPr>
            <p:cNvPr id="8" name="任意多边形 7"/>
            <p:cNvSpPr/>
            <p:nvPr/>
          </p:nvSpPr>
          <p:spPr>
            <a:xfrm>
              <a:off x="584909" y="699568"/>
              <a:ext cx="7740067" cy="431909"/>
            </a:xfrm>
            <a:custGeom>
              <a:avLst/>
              <a:gdLst>
                <a:gd name="connsiteX0" fmla="*/ 0 w 7740067"/>
                <a:gd name="connsiteY0" fmla="*/ 0 h 431909"/>
                <a:gd name="connsiteX1" fmla="*/ 7740067 w 7740067"/>
                <a:gd name="connsiteY1" fmla="*/ 0 h 431909"/>
                <a:gd name="connsiteX2" fmla="*/ 7740067 w 7740067"/>
                <a:gd name="connsiteY2" fmla="*/ 431909 h 431909"/>
                <a:gd name="connsiteX3" fmla="*/ 0 w 7740067"/>
                <a:gd name="connsiteY3" fmla="*/ 431909 h 431909"/>
                <a:gd name="connsiteX4" fmla="*/ 0 w 7740067"/>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0067" h="431909">
                  <a:moveTo>
                    <a:pt x="0" y="0"/>
                  </a:moveTo>
                  <a:lnTo>
                    <a:pt x="7740067" y="0"/>
                  </a:lnTo>
                  <a:lnTo>
                    <a:pt x="7740067"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rgbClr val="FFFF00"/>
                  </a:solidFill>
                  <a:latin typeface="+mn-ea"/>
                  <a:ea typeface="+mn-ea"/>
                </a:rPr>
                <a:t>用户提交作业</a:t>
              </a:r>
              <a:r>
                <a:rPr lang="zh-CN" altLang="en-US" sz="1600" b="1" kern="1200" dirty="0" smtClean="0">
                  <a:latin typeface="+mn-ea"/>
                  <a:ea typeface="+mn-ea"/>
                </a:rPr>
                <a:t>：作业程序、数据，用作业控制语言编写的作业说明书</a:t>
              </a:r>
              <a:r>
                <a:rPr lang="en-US" altLang="zh-CN" sz="1600" b="1" kern="1200" dirty="0" smtClean="0">
                  <a:latin typeface="+mn-ea"/>
                  <a:ea typeface="+mn-ea"/>
                </a:rPr>
                <a:t>;</a:t>
              </a:r>
              <a:endParaRPr lang="zh-CN" altLang="en-US" sz="1600" b="1" kern="1200" dirty="0">
                <a:latin typeface="+mn-ea"/>
                <a:ea typeface="+mn-ea"/>
              </a:endParaRPr>
            </a:p>
          </p:txBody>
        </p:sp>
        <p:sp>
          <p:nvSpPr>
            <p:cNvPr id="9" name="椭圆 8"/>
            <p:cNvSpPr/>
            <p:nvPr/>
          </p:nvSpPr>
          <p:spPr>
            <a:xfrm>
              <a:off x="314966" y="645580"/>
              <a:ext cx="539887" cy="539887"/>
            </a:xfrm>
            <a:prstGeom prst="ellipse">
              <a:avLst/>
            </a:prstGeom>
            <a:scene3d>
              <a:camera prst="orthographicFront"/>
              <a:lightRig rig="flat" dir="t"/>
            </a:scene3d>
            <a:sp3d z="190500" extrusionH="12700" prstMaterial="plastic">
              <a:bevelT w="50800" h="50800"/>
            </a:sp3d>
          </p:spPr>
          <p:style>
            <a:lnRef idx="1">
              <a:schemeClr val="accent5">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58" name="组合 57"/>
          <p:cNvGrpSpPr/>
          <p:nvPr/>
        </p:nvGrpSpPr>
        <p:grpSpPr>
          <a:xfrm>
            <a:off x="706099" y="1293825"/>
            <a:ext cx="7618877" cy="539887"/>
            <a:chOff x="706099" y="1293825"/>
            <a:chExt cx="7618877" cy="539887"/>
          </a:xfrm>
        </p:grpSpPr>
        <p:sp>
          <p:nvSpPr>
            <p:cNvPr id="33" name="任意多边形 32"/>
            <p:cNvSpPr/>
            <p:nvPr/>
          </p:nvSpPr>
          <p:spPr>
            <a:xfrm>
              <a:off x="976042" y="1347813"/>
              <a:ext cx="7348934" cy="431909"/>
            </a:xfrm>
            <a:custGeom>
              <a:avLst/>
              <a:gdLst>
                <a:gd name="connsiteX0" fmla="*/ 0 w 7348934"/>
                <a:gd name="connsiteY0" fmla="*/ 0 h 431909"/>
                <a:gd name="connsiteX1" fmla="*/ 7348934 w 7348934"/>
                <a:gd name="connsiteY1" fmla="*/ 0 h 431909"/>
                <a:gd name="connsiteX2" fmla="*/ 7348934 w 7348934"/>
                <a:gd name="connsiteY2" fmla="*/ 431909 h 431909"/>
                <a:gd name="connsiteX3" fmla="*/ 0 w 7348934"/>
                <a:gd name="connsiteY3" fmla="*/ 431909 h 431909"/>
                <a:gd name="connsiteX4" fmla="*/ 0 w 7348934"/>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8934" h="431909">
                  <a:moveTo>
                    <a:pt x="0" y="0"/>
                  </a:moveTo>
                  <a:lnTo>
                    <a:pt x="7348934" y="0"/>
                  </a:lnTo>
                  <a:lnTo>
                    <a:pt x="7348934"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kern="1200" dirty="0" smtClean="0">
                  <a:latin typeface="+mn-ea"/>
                  <a:ea typeface="+mn-ea"/>
                </a:rPr>
                <a:t>作业被作成穿孔纸带或卡片</a:t>
              </a:r>
              <a:endParaRPr lang="zh-CN" altLang="en-US" sz="1600" b="1" kern="1200" dirty="0">
                <a:latin typeface="+mn-ea"/>
                <a:ea typeface="+mn-ea"/>
              </a:endParaRPr>
            </a:p>
          </p:txBody>
        </p:sp>
        <p:sp>
          <p:nvSpPr>
            <p:cNvPr id="34" name="椭圆 33"/>
            <p:cNvSpPr/>
            <p:nvPr/>
          </p:nvSpPr>
          <p:spPr>
            <a:xfrm>
              <a:off x="706099" y="1293825"/>
              <a:ext cx="539887" cy="539887"/>
            </a:xfrm>
            <a:prstGeom prst="ellipse">
              <a:avLst/>
            </a:prstGeom>
            <a:scene3d>
              <a:camera prst="orthographicFront"/>
              <a:lightRig rig="flat" dir="t"/>
            </a:scene3d>
            <a:sp3d z="190500" extrusionH="12700" prstMaterial="plastic">
              <a:bevelT w="50800" h="50800"/>
            </a:sp3d>
          </p:spPr>
          <p:style>
            <a:lnRef idx="1">
              <a:schemeClr val="accent5">
                <a:hueOff val="-1655646"/>
                <a:satOff val="6635"/>
                <a:lumOff val="1438"/>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59" name="组合 58"/>
          <p:cNvGrpSpPr/>
          <p:nvPr/>
        </p:nvGrpSpPr>
        <p:grpSpPr>
          <a:xfrm>
            <a:off x="920438" y="1941594"/>
            <a:ext cx="7404538" cy="539887"/>
            <a:chOff x="920438" y="1941594"/>
            <a:chExt cx="7404538" cy="539887"/>
          </a:xfrm>
        </p:grpSpPr>
        <p:sp>
          <p:nvSpPr>
            <p:cNvPr id="35" name="任意多边形 34"/>
            <p:cNvSpPr/>
            <p:nvPr/>
          </p:nvSpPr>
          <p:spPr>
            <a:xfrm>
              <a:off x="1190381" y="1995583"/>
              <a:ext cx="7134595" cy="431909"/>
            </a:xfrm>
            <a:custGeom>
              <a:avLst/>
              <a:gdLst>
                <a:gd name="connsiteX0" fmla="*/ 0 w 7134595"/>
                <a:gd name="connsiteY0" fmla="*/ 0 h 431909"/>
                <a:gd name="connsiteX1" fmla="*/ 7134595 w 7134595"/>
                <a:gd name="connsiteY1" fmla="*/ 0 h 431909"/>
                <a:gd name="connsiteX2" fmla="*/ 7134595 w 7134595"/>
                <a:gd name="connsiteY2" fmla="*/ 431909 h 431909"/>
                <a:gd name="connsiteX3" fmla="*/ 0 w 7134595"/>
                <a:gd name="connsiteY3" fmla="*/ 431909 h 431909"/>
                <a:gd name="connsiteX4" fmla="*/ 0 w 7134595"/>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4595" h="431909">
                  <a:moveTo>
                    <a:pt x="0" y="0"/>
                  </a:moveTo>
                  <a:lnTo>
                    <a:pt x="7134595" y="0"/>
                  </a:lnTo>
                  <a:lnTo>
                    <a:pt x="7134595"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342828" tIns="33020" rIns="33020" bIns="33020" numCol="1" spcCol="1270" anchor="ctr" anchorCtr="0">
              <a:noAutofit/>
            </a:bodyPr>
            <a:lstStyle/>
            <a:p>
              <a:pPr lvl="0" algn="l" defTabSz="577850">
                <a:lnSpc>
                  <a:spcPct val="90000"/>
                </a:lnSpc>
                <a:spcBef>
                  <a:spcPct val="0"/>
                </a:spcBef>
                <a:spcAft>
                  <a:spcPct val="35000"/>
                </a:spcAft>
              </a:pPr>
              <a:r>
                <a:rPr lang="zh-CN" altLang="en-US" sz="1300" b="1" kern="1200" dirty="0" smtClean="0">
                  <a:latin typeface="+mn-ea"/>
                  <a:ea typeface="+mn-ea"/>
                </a:rPr>
                <a:t>操作员有选择地把若干作业合成一批，通过输入设备</a:t>
              </a:r>
              <a:r>
                <a:rPr lang="en-US" altLang="zh-CN" sz="1300" b="1" kern="1200" dirty="0" smtClean="0">
                  <a:latin typeface="+mn-ea"/>
                  <a:ea typeface="+mn-ea"/>
                </a:rPr>
                <a:t>(</a:t>
              </a:r>
              <a:r>
                <a:rPr lang="zh-CN" altLang="en-US" sz="1300" b="1" kern="1200" dirty="0" smtClean="0">
                  <a:latin typeface="+mn-ea"/>
                  <a:ea typeface="+mn-ea"/>
                </a:rPr>
                <a:t>纸带输入机或读卡机</a:t>
              </a:r>
              <a:r>
                <a:rPr lang="en-US" altLang="zh-CN" sz="1300" b="1" kern="1200" dirty="0" smtClean="0">
                  <a:latin typeface="+mn-ea"/>
                  <a:ea typeface="+mn-ea"/>
                </a:rPr>
                <a:t>) </a:t>
              </a:r>
              <a:r>
                <a:rPr lang="zh-CN" altLang="en-US" sz="1300" b="1" kern="1200" dirty="0" smtClean="0">
                  <a:latin typeface="+mn-ea"/>
                  <a:ea typeface="+mn-ea"/>
                </a:rPr>
                <a:t>把它们存入磁带</a:t>
              </a:r>
              <a:endParaRPr lang="zh-CN" altLang="en-US" sz="1300" b="1" kern="1200" dirty="0">
                <a:latin typeface="+mn-ea"/>
                <a:ea typeface="+mn-ea"/>
              </a:endParaRPr>
            </a:p>
          </p:txBody>
        </p:sp>
        <p:sp>
          <p:nvSpPr>
            <p:cNvPr id="47" name="椭圆 46"/>
            <p:cNvSpPr/>
            <p:nvPr/>
          </p:nvSpPr>
          <p:spPr>
            <a:xfrm>
              <a:off x="920438" y="1941594"/>
              <a:ext cx="539887" cy="539887"/>
            </a:xfrm>
            <a:prstGeom prst="ellipse">
              <a:avLst/>
            </a:prstGeom>
            <a:scene3d>
              <a:camera prst="orthographicFront"/>
              <a:lightRig rig="flat" dir="t"/>
            </a:scene3d>
            <a:sp3d z="190500" extrusionH="12700" prstMaterial="plastic">
              <a:bevelT w="50800" h="50800"/>
            </a:sp3d>
          </p:spPr>
          <p:style>
            <a:lnRef idx="1">
              <a:schemeClr val="accent5">
                <a:hueOff val="-3311292"/>
                <a:satOff val="13270"/>
                <a:lumOff val="2876"/>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60" name="组合 59"/>
          <p:cNvGrpSpPr/>
          <p:nvPr/>
        </p:nvGrpSpPr>
        <p:grpSpPr>
          <a:xfrm>
            <a:off x="988874" y="2589839"/>
            <a:ext cx="7336103" cy="539887"/>
            <a:chOff x="988874" y="2589839"/>
            <a:chExt cx="7336103" cy="539887"/>
          </a:xfrm>
        </p:grpSpPr>
        <p:sp>
          <p:nvSpPr>
            <p:cNvPr id="49" name="任意多边形 48"/>
            <p:cNvSpPr/>
            <p:nvPr/>
          </p:nvSpPr>
          <p:spPr>
            <a:xfrm>
              <a:off x="1258818" y="2643828"/>
              <a:ext cx="7066159" cy="431909"/>
            </a:xfrm>
            <a:custGeom>
              <a:avLst/>
              <a:gdLst>
                <a:gd name="connsiteX0" fmla="*/ 0 w 7066159"/>
                <a:gd name="connsiteY0" fmla="*/ 0 h 431909"/>
                <a:gd name="connsiteX1" fmla="*/ 7066159 w 7066159"/>
                <a:gd name="connsiteY1" fmla="*/ 0 h 431909"/>
                <a:gd name="connsiteX2" fmla="*/ 7066159 w 7066159"/>
                <a:gd name="connsiteY2" fmla="*/ 431909 h 431909"/>
                <a:gd name="connsiteX3" fmla="*/ 0 w 7066159"/>
                <a:gd name="connsiteY3" fmla="*/ 431909 h 431909"/>
                <a:gd name="connsiteX4" fmla="*/ 0 w 7066159"/>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6159" h="431909">
                  <a:moveTo>
                    <a:pt x="0" y="0"/>
                  </a:moveTo>
                  <a:lnTo>
                    <a:pt x="7066159" y="0"/>
                  </a:lnTo>
                  <a:lnTo>
                    <a:pt x="7066159"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u="sng" kern="1200" dirty="0" smtClean="0">
                  <a:solidFill>
                    <a:schemeClr val="bg1"/>
                  </a:solidFill>
                  <a:latin typeface="+mn-ea"/>
                  <a:ea typeface="+mn-ea"/>
                </a:rPr>
                <a:t>监督程序</a:t>
              </a:r>
              <a:r>
                <a:rPr lang="zh-CN" altLang="en-US" sz="1600" b="1" kern="1200" dirty="0" smtClean="0">
                  <a:latin typeface="+mn-ea"/>
                  <a:ea typeface="+mn-ea"/>
                </a:rPr>
                <a:t>读入一个作业</a:t>
              </a:r>
              <a:r>
                <a:rPr lang="en-US" altLang="zh-CN" sz="1600" b="1" kern="1200" dirty="0" smtClean="0">
                  <a:latin typeface="+mn-ea"/>
                  <a:ea typeface="+mn-ea"/>
                </a:rPr>
                <a:t>(</a:t>
              </a:r>
              <a:r>
                <a:rPr lang="zh-CN" altLang="en-US" sz="1600" b="1" kern="1200" dirty="0" smtClean="0">
                  <a:latin typeface="+mn-ea"/>
                  <a:ea typeface="+mn-ea"/>
                </a:rPr>
                <a:t>若系统资源能满足该作业要求</a:t>
              </a:r>
              <a:r>
                <a:rPr lang="en-US" altLang="zh-CN" sz="1600" b="1" kern="1200" dirty="0" smtClean="0">
                  <a:latin typeface="+mn-ea"/>
                  <a:ea typeface="+mn-ea"/>
                </a:rPr>
                <a:t>)</a:t>
              </a:r>
              <a:endParaRPr lang="zh-CN" altLang="en-US" sz="1600" b="1" kern="1200" dirty="0">
                <a:latin typeface="+mn-ea"/>
                <a:ea typeface="+mn-ea"/>
              </a:endParaRPr>
            </a:p>
          </p:txBody>
        </p:sp>
        <p:sp>
          <p:nvSpPr>
            <p:cNvPr id="50" name="椭圆 49"/>
            <p:cNvSpPr/>
            <p:nvPr/>
          </p:nvSpPr>
          <p:spPr>
            <a:xfrm>
              <a:off x="988874" y="2589839"/>
              <a:ext cx="539887" cy="539887"/>
            </a:xfrm>
            <a:prstGeom prst="ellipse">
              <a:avLst/>
            </a:prstGeom>
            <a:scene3d>
              <a:camera prst="orthographicFront"/>
              <a:lightRig rig="flat" dir="t"/>
            </a:scene3d>
            <a:sp3d z="190500" extrusionH="12700" prstMaterial="plastic">
              <a:bevelT w="50800" h="50800"/>
            </a:sp3d>
          </p:spPr>
          <p:style>
            <a:lnRef idx="1">
              <a:schemeClr val="accent5">
                <a:hueOff val="-4966938"/>
                <a:satOff val="19906"/>
                <a:lumOff val="4314"/>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61" name="组合 60"/>
          <p:cNvGrpSpPr/>
          <p:nvPr/>
        </p:nvGrpSpPr>
        <p:grpSpPr>
          <a:xfrm>
            <a:off x="920438" y="3238084"/>
            <a:ext cx="7404538" cy="539887"/>
            <a:chOff x="920438" y="3238084"/>
            <a:chExt cx="7404538" cy="539887"/>
          </a:xfrm>
        </p:grpSpPr>
        <p:sp>
          <p:nvSpPr>
            <p:cNvPr id="51" name="任意多边形 50"/>
            <p:cNvSpPr/>
            <p:nvPr/>
          </p:nvSpPr>
          <p:spPr>
            <a:xfrm>
              <a:off x="1190381" y="3292072"/>
              <a:ext cx="7134595" cy="431909"/>
            </a:xfrm>
            <a:custGeom>
              <a:avLst/>
              <a:gdLst>
                <a:gd name="connsiteX0" fmla="*/ 0 w 7134595"/>
                <a:gd name="connsiteY0" fmla="*/ 0 h 431909"/>
                <a:gd name="connsiteX1" fmla="*/ 7134595 w 7134595"/>
                <a:gd name="connsiteY1" fmla="*/ 0 h 431909"/>
                <a:gd name="connsiteX2" fmla="*/ 7134595 w 7134595"/>
                <a:gd name="connsiteY2" fmla="*/ 431909 h 431909"/>
                <a:gd name="connsiteX3" fmla="*/ 0 w 7134595"/>
                <a:gd name="connsiteY3" fmla="*/ 431909 h 431909"/>
                <a:gd name="connsiteX4" fmla="*/ 0 w 7134595"/>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4595" h="431909">
                  <a:moveTo>
                    <a:pt x="0" y="0"/>
                  </a:moveTo>
                  <a:lnTo>
                    <a:pt x="7134595" y="0"/>
                  </a:lnTo>
                  <a:lnTo>
                    <a:pt x="7134595"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mn-ea"/>
                  <a:ea typeface="+mn-ea"/>
                </a:rPr>
                <a:t>从磁带调入汇编程序或编译程序，将用户作业源程序翻译成目标代码</a:t>
              </a:r>
              <a:endParaRPr lang="zh-CN" altLang="en-US" sz="1600" b="1" kern="1200" dirty="0">
                <a:solidFill>
                  <a:schemeClr val="tx1"/>
                </a:solidFill>
                <a:latin typeface="+mn-ea"/>
                <a:ea typeface="+mn-ea"/>
              </a:endParaRPr>
            </a:p>
          </p:txBody>
        </p:sp>
        <p:sp>
          <p:nvSpPr>
            <p:cNvPr id="52" name="椭圆 51"/>
            <p:cNvSpPr/>
            <p:nvPr/>
          </p:nvSpPr>
          <p:spPr>
            <a:xfrm>
              <a:off x="920438" y="3238084"/>
              <a:ext cx="539887" cy="539887"/>
            </a:xfrm>
            <a:prstGeom prst="ellipse">
              <a:avLst/>
            </a:prstGeom>
            <a:scene3d>
              <a:camera prst="orthographicFront"/>
              <a:lightRig rig="flat" dir="t"/>
            </a:scene3d>
            <a:sp3d z="190500" extrusionH="12700" prstMaterial="plastic">
              <a:bevelT w="50800" h="50800"/>
            </a:sp3d>
          </p:spPr>
          <p:style>
            <a:lnRef idx="1">
              <a:schemeClr val="accent5">
                <a:hueOff val="-6622584"/>
                <a:satOff val="26541"/>
                <a:lumOff val="5752"/>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62" name="组合 61"/>
          <p:cNvGrpSpPr/>
          <p:nvPr/>
        </p:nvGrpSpPr>
        <p:grpSpPr>
          <a:xfrm>
            <a:off x="706099" y="3885853"/>
            <a:ext cx="7618877" cy="539887"/>
            <a:chOff x="706099" y="3885853"/>
            <a:chExt cx="7618877" cy="539887"/>
          </a:xfrm>
        </p:grpSpPr>
        <p:sp>
          <p:nvSpPr>
            <p:cNvPr id="53" name="任意多边形 52"/>
            <p:cNvSpPr/>
            <p:nvPr/>
          </p:nvSpPr>
          <p:spPr>
            <a:xfrm>
              <a:off x="976042" y="3939842"/>
              <a:ext cx="7348934" cy="431909"/>
            </a:xfrm>
            <a:custGeom>
              <a:avLst/>
              <a:gdLst>
                <a:gd name="connsiteX0" fmla="*/ 0 w 7348934"/>
                <a:gd name="connsiteY0" fmla="*/ 0 h 431909"/>
                <a:gd name="connsiteX1" fmla="*/ 7348934 w 7348934"/>
                <a:gd name="connsiteY1" fmla="*/ 0 h 431909"/>
                <a:gd name="connsiteX2" fmla="*/ 7348934 w 7348934"/>
                <a:gd name="connsiteY2" fmla="*/ 431909 h 431909"/>
                <a:gd name="connsiteX3" fmla="*/ 0 w 7348934"/>
                <a:gd name="connsiteY3" fmla="*/ 431909 h 431909"/>
                <a:gd name="connsiteX4" fmla="*/ 0 w 7348934"/>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8934" h="431909">
                  <a:moveTo>
                    <a:pt x="0" y="0"/>
                  </a:moveTo>
                  <a:lnTo>
                    <a:pt x="7348934" y="0"/>
                  </a:lnTo>
                  <a:lnTo>
                    <a:pt x="7348934"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mn-ea"/>
                  <a:ea typeface="+mn-ea"/>
                </a:rPr>
                <a:t>连接装配程序把编译后的目标代码及所需的子程序装配成一个可执行程序</a:t>
              </a:r>
              <a:endParaRPr lang="zh-CN" altLang="en-US" sz="1600" b="1" kern="1200" dirty="0">
                <a:solidFill>
                  <a:schemeClr val="tx1"/>
                </a:solidFill>
                <a:latin typeface="+mn-ea"/>
                <a:ea typeface="+mn-ea"/>
              </a:endParaRPr>
            </a:p>
          </p:txBody>
        </p:sp>
        <p:sp>
          <p:nvSpPr>
            <p:cNvPr id="54" name="椭圆 53"/>
            <p:cNvSpPr/>
            <p:nvPr/>
          </p:nvSpPr>
          <p:spPr>
            <a:xfrm>
              <a:off x="706099" y="3885853"/>
              <a:ext cx="539887" cy="539887"/>
            </a:xfrm>
            <a:prstGeom prst="ellipse">
              <a:avLst/>
            </a:prstGeom>
            <a:scene3d>
              <a:camera prst="orthographicFront"/>
              <a:lightRig rig="flat" dir="t"/>
            </a:scene3d>
            <a:sp3d z="190500" extrusionH="12700" prstMaterial="plastic">
              <a:bevelT w="50800" h="50800"/>
            </a:sp3d>
          </p:spPr>
          <p:style>
            <a:lnRef idx="1">
              <a:schemeClr val="accent5">
                <a:hueOff val="-8278230"/>
                <a:satOff val="33176"/>
                <a:lumOff val="719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63" name="组合 62"/>
          <p:cNvGrpSpPr/>
          <p:nvPr/>
        </p:nvGrpSpPr>
        <p:grpSpPr>
          <a:xfrm>
            <a:off x="314966" y="4534098"/>
            <a:ext cx="8010010" cy="539887"/>
            <a:chOff x="314966" y="4534098"/>
            <a:chExt cx="8010010" cy="539887"/>
          </a:xfrm>
        </p:grpSpPr>
        <p:sp>
          <p:nvSpPr>
            <p:cNvPr id="55" name="任意多边形 54"/>
            <p:cNvSpPr/>
            <p:nvPr/>
          </p:nvSpPr>
          <p:spPr>
            <a:xfrm>
              <a:off x="584909" y="4588087"/>
              <a:ext cx="7740067" cy="431909"/>
            </a:xfrm>
            <a:custGeom>
              <a:avLst/>
              <a:gdLst>
                <a:gd name="connsiteX0" fmla="*/ 0 w 7740067"/>
                <a:gd name="connsiteY0" fmla="*/ 0 h 431909"/>
                <a:gd name="connsiteX1" fmla="*/ 7740067 w 7740067"/>
                <a:gd name="connsiteY1" fmla="*/ 0 h 431909"/>
                <a:gd name="connsiteX2" fmla="*/ 7740067 w 7740067"/>
                <a:gd name="connsiteY2" fmla="*/ 431909 h 431909"/>
                <a:gd name="connsiteX3" fmla="*/ 0 w 7740067"/>
                <a:gd name="connsiteY3" fmla="*/ 431909 h 431909"/>
                <a:gd name="connsiteX4" fmla="*/ 0 w 7740067"/>
                <a:gd name="connsiteY4" fmla="*/ 0 h 4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0067" h="431909">
                  <a:moveTo>
                    <a:pt x="0" y="0"/>
                  </a:moveTo>
                  <a:lnTo>
                    <a:pt x="7740067" y="0"/>
                  </a:lnTo>
                  <a:lnTo>
                    <a:pt x="7740067" y="431909"/>
                  </a:lnTo>
                  <a:lnTo>
                    <a:pt x="0" y="431909"/>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342828" tIns="40640" rIns="40640" bIns="40640" numCol="1" spcCol="1270" anchor="ctr" anchorCtr="0">
              <a:noAutofit/>
            </a:bodyPr>
            <a:lstStyle/>
            <a:p>
              <a:pPr lvl="0" algn="l" defTabSz="711200">
                <a:lnSpc>
                  <a:spcPct val="90000"/>
                </a:lnSpc>
                <a:spcBef>
                  <a:spcPct val="0"/>
                </a:spcBef>
                <a:spcAft>
                  <a:spcPct val="35000"/>
                </a:spcAft>
              </a:pPr>
              <a:r>
                <a:rPr lang="zh-CN" altLang="en-US" sz="1600" b="1" kern="1200" dirty="0" smtClean="0">
                  <a:latin typeface="+mn-ea"/>
                  <a:ea typeface="+mn-ea"/>
                </a:rPr>
                <a:t>启动执行</a:t>
              </a:r>
              <a:r>
                <a:rPr lang="en-US" altLang="zh-CN" sz="1600" b="1" kern="1200" dirty="0" smtClean="0">
                  <a:latin typeface="+mn-ea"/>
                  <a:ea typeface="+mn-ea"/>
                </a:rPr>
                <a:t>;</a:t>
              </a:r>
              <a:r>
                <a:rPr lang="zh-CN" altLang="en-US" sz="1600" b="1" kern="1200" dirty="0" smtClean="0">
                  <a:latin typeface="+mn-ea"/>
                  <a:ea typeface="+mn-ea"/>
                </a:rPr>
                <a:t>执行完毕，由善后处理程序输出计算结果</a:t>
              </a:r>
              <a:endParaRPr lang="zh-CN" altLang="en-US" sz="1600" b="1" kern="1200" dirty="0">
                <a:latin typeface="+mn-ea"/>
                <a:ea typeface="+mn-ea"/>
              </a:endParaRPr>
            </a:p>
          </p:txBody>
        </p:sp>
        <p:sp>
          <p:nvSpPr>
            <p:cNvPr id="56" name="椭圆 55"/>
            <p:cNvSpPr/>
            <p:nvPr/>
          </p:nvSpPr>
          <p:spPr>
            <a:xfrm>
              <a:off x="314966" y="4534098"/>
              <a:ext cx="539887" cy="539887"/>
            </a:xfrm>
            <a:prstGeom prst="ellipse">
              <a:avLst/>
            </a:prstGeom>
            <a:scene3d>
              <a:camera prst="orthographicFront"/>
              <a:lightRig rig="flat" dir="t"/>
            </a:scene3d>
            <a:sp3d z="190500" extrusionH="12700" prstMaterial="plastic">
              <a:bevelT w="50800" h="50800"/>
            </a:sp3d>
          </p:spPr>
          <p:style>
            <a:lnRef idx="1">
              <a:schemeClr val="accent5">
                <a:hueOff val="-9933876"/>
                <a:satOff val="39811"/>
                <a:lumOff val="8628"/>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grpSp>
      <p:grpSp>
        <p:nvGrpSpPr>
          <p:cNvPr id="64" name="组合 63"/>
          <p:cNvGrpSpPr/>
          <p:nvPr/>
        </p:nvGrpSpPr>
        <p:grpSpPr>
          <a:xfrm>
            <a:off x="7812360" y="2714836"/>
            <a:ext cx="1297611" cy="2305186"/>
            <a:chOff x="7812360" y="3291830"/>
            <a:chExt cx="1297611" cy="1728192"/>
          </a:xfrm>
        </p:grpSpPr>
        <p:sp>
          <p:nvSpPr>
            <p:cNvPr id="4" name="下弧形箭头 3"/>
            <p:cNvSpPr/>
            <p:nvPr/>
          </p:nvSpPr>
          <p:spPr>
            <a:xfrm rot="16200000">
              <a:off x="7380312" y="3723878"/>
              <a:ext cx="1728192" cy="864096"/>
            </a:xfrm>
            <a:prstGeom prst="curved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solidFill>
                  <a:schemeClr val="tx1"/>
                </a:solidFill>
              </a:endParaRPr>
            </a:p>
          </p:txBody>
        </p:sp>
        <p:sp>
          <p:nvSpPr>
            <p:cNvPr id="5" name="文本框 4"/>
            <p:cNvSpPr txBox="1"/>
            <p:nvPr/>
          </p:nvSpPr>
          <p:spPr>
            <a:xfrm>
              <a:off x="8605915" y="3417262"/>
              <a:ext cx="504056" cy="1477328"/>
            </a:xfrm>
            <a:prstGeom prst="rect">
              <a:avLst/>
            </a:prstGeom>
            <a:noFill/>
          </p:spPr>
          <p:txBody>
            <a:bodyPr wrap="square" rtlCol="0">
              <a:spAutoFit/>
            </a:bodyPr>
            <a:lstStyle/>
            <a:p>
              <a:r>
                <a:rPr lang="zh-CN" altLang="en-US" b="1" dirty="0" smtClean="0"/>
                <a:t>调入新作业</a:t>
              </a:r>
              <a:endParaRPr lang="zh-CN" altLang="en-US" b="1" dirty="0"/>
            </a:p>
          </p:txBody>
        </p:sp>
      </p:grpSp>
      <p:grpSp>
        <p:nvGrpSpPr>
          <p:cNvPr id="67" name="组合 66"/>
          <p:cNvGrpSpPr/>
          <p:nvPr/>
        </p:nvGrpSpPr>
        <p:grpSpPr>
          <a:xfrm>
            <a:off x="317273" y="2058157"/>
            <a:ext cx="515292" cy="2688004"/>
            <a:chOff x="317273" y="2058157"/>
            <a:chExt cx="515292" cy="2688004"/>
          </a:xfrm>
        </p:grpSpPr>
        <p:sp>
          <p:nvSpPr>
            <p:cNvPr id="65" name="上弧形箭头 64"/>
            <p:cNvSpPr/>
            <p:nvPr/>
          </p:nvSpPr>
          <p:spPr>
            <a:xfrm rot="17134571">
              <a:off x="-699717" y="3097316"/>
              <a:ext cx="2571442" cy="493123"/>
            </a:xfrm>
            <a:prstGeom prst="curved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solidFill>
                  <a:schemeClr val="tx1"/>
                </a:solidFill>
              </a:endParaRPr>
            </a:p>
          </p:txBody>
        </p:sp>
        <p:sp>
          <p:nvSpPr>
            <p:cNvPr id="66" name="文本框 65"/>
            <p:cNvSpPr txBox="1"/>
            <p:nvPr/>
          </p:nvSpPr>
          <p:spPr>
            <a:xfrm>
              <a:off x="317273" y="2714836"/>
              <a:ext cx="405397" cy="2031325"/>
            </a:xfrm>
            <a:prstGeom prst="rect">
              <a:avLst/>
            </a:prstGeom>
            <a:noFill/>
          </p:spPr>
          <p:txBody>
            <a:bodyPr wrap="square" rtlCol="0">
              <a:spAutoFit/>
            </a:bodyPr>
            <a:lstStyle/>
            <a:p>
              <a:r>
                <a:rPr lang="zh-CN" altLang="en-US" b="1" dirty="0" smtClean="0"/>
                <a:t>处理下一批作业</a:t>
              </a:r>
              <a:endParaRPr lang="zh-CN" altLang="en-US" b="1" dirty="0"/>
            </a:p>
          </p:txBody>
        </p:sp>
      </p:grpSp>
    </p:spTree>
    <p:extLst>
      <p:ext uri="{BB962C8B-B14F-4D97-AF65-F5344CB8AC3E}">
        <p14:creationId xmlns:p14="http://schemas.microsoft.com/office/powerpoint/2010/main" val="294410327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left)">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left)">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5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wipe(left)">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4"/>
                                        </p:tgtEl>
                                        <p:attrNameLst>
                                          <p:attrName>style.visibility</p:attrName>
                                        </p:attrNameLst>
                                      </p:cBhvr>
                                      <p:to>
                                        <p:strVal val="visible"/>
                                      </p:to>
                                    </p:set>
                                    <p:animEffect transition="in" filter="wipe(down)">
                                      <p:cBhvr>
                                        <p:cTn id="42" dur="500"/>
                                        <p:tgtEl>
                                          <p:spTgt spid="6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wipe(down)">
                                      <p:cBhvr>
                                        <p:cTn id="4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联机批处理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5" name="组合 4"/>
          <p:cNvGrpSpPr/>
          <p:nvPr/>
        </p:nvGrpSpPr>
        <p:grpSpPr>
          <a:xfrm>
            <a:off x="539552" y="1327606"/>
            <a:ext cx="7970838" cy="2954338"/>
            <a:chOff x="539552" y="1327606"/>
            <a:chExt cx="7970838" cy="2954338"/>
          </a:xfrm>
        </p:grpSpPr>
        <p:sp>
          <p:nvSpPr>
            <p:cNvPr id="2" name="矩形 1"/>
            <p:cNvSpPr/>
            <p:nvPr/>
          </p:nvSpPr>
          <p:spPr>
            <a:xfrm>
              <a:off x="1043608" y="1419622"/>
              <a:ext cx="6480720" cy="2862322"/>
            </a:xfrm>
            <a:prstGeom prst="rect">
              <a:avLst/>
            </a:prstGeom>
          </p:spPr>
          <p:txBody>
            <a:bodyPr wrap="square">
              <a:spAutoFit/>
            </a:bodyPr>
            <a:lstStyle/>
            <a:p>
              <a:pPr marL="0" lvl="1">
                <a:lnSpc>
                  <a:spcPct val="150000"/>
                </a:lnSpc>
              </a:pPr>
              <a:r>
                <a:rPr lang="zh-CN" altLang="en-US" sz="2400" b="1" dirty="0">
                  <a:solidFill>
                    <a:schemeClr val="bg1"/>
                  </a:solidFill>
                  <a:latin typeface="+mn-ea"/>
                </a:rPr>
                <a:t>解决了作业自动转接，从而减少作业建立和人工操作时间。但是在作业的</a:t>
              </a:r>
              <a:r>
                <a:rPr lang="zh-CN" altLang="en-US" sz="2400" b="1" dirty="0">
                  <a:solidFill>
                    <a:srgbClr val="FFFF00"/>
                  </a:solidFill>
                  <a:latin typeface="+mn-ea"/>
                </a:rPr>
                <a:t>输入</a:t>
              </a:r>
              <a:r>
                <a:rPr lang="zh-CN" altLang="en-US" sz="2400" b="1" dirty="0">
                  <a:solidFill>
                    <a:schemeClr val="bg1"/>
                  </a:solidFill>
                  <a:latin typeface="+mn-ea"/>
                </a:rPr>
                <a:t>和</a:t>
              </a:r>
              <a:r>
                <a:rPr lang="zh-CN" altLang="en-US" sz="2400" b="1" dirty="0">
                  <a:solidFill>
                    <a:srgbClr val="FFFF00"/>
                  </a:solidFill>
                  <a:latin typeface="+mn-ea"/>
                </a:rPr>
                <a:t>执行结果的输出过程</a:t>
              </a:r>
              <a:r>
                <a:rPr lang="zh-CN" altLang="en-US" sz="2400" b="1" dirty="0">
                  <a:solidFill>
                    <a:schemeClr val="bg1"/>
                  </a:solidFill>
                  <a:latin typeface="+mn-ea"/>
                </a:rPr>
                <a:t>中，主机</a:t>
              </a:r>
              <a:r>
                <a:rPr lang="en-US" altLang="zh-CN" sz="2400" b="1" dirty="0">
                  <a:solidFill>
                    <a:srgbClr val="FFFF00"/>
                  </a:solidFill>
                  <a:latin typeface="+mn-ea"/>
                </a:rPr>
                <a:t>CPU</a:t>
              </a:r>
              <a:r>
                <a:rPr lang="zh-CN" altLang="en-US" sz="2400" b="1" dirty="0">
                  <a:solidFill>
                    <a:srgbClr val="FFFF00"/>
                  </a:solidFill>
                  <a:latin typeface="+mn-ea"/>
                </a:rPr>
                <a:t>仍处在停止等待状态</a:t>
              </a:r>
              <a:r>
                <a:rPr lang="zh-CN" altLang="en-US" sz="2400" b="1" dirty="0">
                  <a:solidFill>
                    <a:schemeClr val="bg1"/>
                  </a:solidFill>
                  <a:latin typeface="+mn-ea"/>
                </a:rPr>
                <a:t>，这样慢速的输入输出设备和快速主机之间仍处于串行工作，</a:t>
              </a:r>
              <a:r>
                <a:rPr lang="en-US" altLang="zh-CN" sz="2400" b="1" dirty="0">
                  <a:solidFill>
                    <a:schemeClr val="bg1"/>
                  </a:solidFill>
                  <a:latin typeface="+mn-ea"/>
                </a:rPr>
                <a:t>CPU</a:t>
              </a:r>
              <a:r>
                <a:rPr lang="zh-CN" altLang="en-US" sz="2400" b="1" dirty="0">
                  <a:solidFill>
                    <a:schemeClr val="bg1"/>
                  </a:solidFill>
                  <a:latin typeface="+mn-ea"/>
                </a:rPr>
                <a:t>的时间仍有很大的浪费</a:t>
              </a:r>
            </a:p>
          </p:txBody>
        </p:sp>
        <p:grpSp>
          <p:nvGrpSpPr>
            <p:cNvPr id="6" name="组合 5"/>
            <p:cNvGrpSpPr/>
            <p:nvPr/>
          </p:nvGrpSpPr>
          <p:grpSpPr>
            <a:xfrm>
              <a:off x="539552" y="1327606"/>
              <a:ext cx="7970838" cy="2954338"/>
              <a:chOff x="467544" y="1344876"/>
              <a:chExt cx="7970838" cy="2954338"/>
            </a:xfrm>
          </p:grpSpPr>
          <p:pic>
            <p:nvPicPr>
              <p:cNvPr id="48" name="Picture 3" descr="JXJ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344876"/>
                <a:ext cx="7970838"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1760" y="2499742"/>
                <a:ext cx="1296144" cy="1306350"/>
              </a:xfrm>
              <a:prstGeom prst="rect">
                <a:avLst/>
              </a:prstGeom>
            </p:spPr>
          </p:pic>
        </p:grpSp>
        <p:pic>
          <p:nvPicPr>
            <p:cNvPr id="4" name="图片 3"/>
            <p:cNvPicPr>
              <a:picLocks noChangeAspect="1"/>
            </p:cNvPicPr>
            <p:nvPr/>
          </p:nvPicPr>
          <p:blipFill>
            <a:blip r:embed="rId4"/>
            <a:stretch>
              <a:fillRect/>
            </a:stretch>
          </p:blipFill>
          <p:spPr>
            <a:xfrm>
              <a:off x="5115830" y="1995686"/>
              <a:ext cx="548688" cy="396274"/>
            </a:xfrm>
            <a:prstGeom prst="rect">
              <a:avLst/>
            </a:prstGeom>
          </p:spPr>
        </p:pic>
        <p:pic>
          <p:nvPicPr>
            <p:cNvPr id="29" name="图片 28"/>
            <p:cNvPicPr>
              <a:picLocks noChangeAspect="1"/>
            </p:cNvPicPr>
            <p:nvPr/>
          </p:nvPicPr>
          <p:blipFill>
            <a:blip r:embed="rId4"/>
            <a:stretch>
              <a:fillRect/>
            </a:stretch>
          </p:blipFill>
          <p:spPr>
            <a:xfrm>
              <a:off x="5115830" y="3788822"/>
              <a:ext cx="548688" cy="396274"/>
            </a:xfrm>
            <a:prstGeom prst="rect">
              <a:avLst/>
            </a:prstGeom>
          </p:spPr>
        </p:pic>
      </p:grpSp>
      <p:sp>
        <p:nvSpPr>
          <p:cNvPr id="10" name="文本框 9"/>
          <p:cNvSpPr txBox="1"/>
          <p:nvPr/>
        </p:nvSpPr>
        <p:spPr>
          <a:xfrm>
            <a:off x="2627784" y="1364826"/>
            <a:ext cx="2052228" cy="923330"/>
          </a:xfrm>
          <a:prstGeom prst="rect">
            <a:avLst/>
          </a:prstGeom>
          <a:noFill/>
        </p:spPr>
        <p:txBody>
          <a:bodyPr wrap="square" rtlCol="0">
            <a:spAutoFit/>
          </a:bodyPr>
          <a:lstStyle/>
          <a:p>
            <a:pPr algn="ctr"/>
            <a:r>
              <a:rPr lang="zh-CN" altLang="en-US" b="1" dirty="0" smtClean="0">
                <a:solidFill>
                  <a:srgbClr val="FF0000"/>
                </a:solidFill>
              </a:rPr>
              <a:t>主机负责输入输出；输入输出与主机不能并行工作</a:t>
            </a:r>
            <a:endParaRPr lang="zh-CN" altLang="en-US" b="1" dirty="0">
              <a:solidFill>
                <a:srgbClr val="FF0000"/>
              </a:solidFill>
            </a:endParaRPr>
          </a:p>
        </p:txBody>
      </p:sp>
    </p:spTree>
    <p:extLst>
      <p:ext uri="{BB962C8B-B14F-4D97-AF65-F5344CB8AC3E}">
        <p14:creationId xmlns:p14="http://schemas.microsoft.com/office/powerpoint/2010/main" val="378493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39552" y="1491630"/>
            <a:ext cx="7970838" cy="2954338"/>
            <a:chOff x="539552" y="1491630"/>
            <a:chExt cx="7970838" cy="2954338"/>
          </a:xfrm>
        </p:grpSpPr>
        <p:pic>
          <p:nvPicPr>
            <p:cNvPr id="48" name="Picture 3" descr="JXJ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91630"/>
              <a:ext cx="7970838"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rot="2423747">
              <a:off x="1924373" y="2768159"/>
              <a:ext cx="864096" cy="369332"/>
            </a:xfrm>
            <a:prstGeom prst="rect">
              <a:avLst/>
            </a:prstGeom>
            <a:noFill/>
          </p:spPr>
          <p:txBody>
            <a:bodyPr wrap="square" rtlCol="0">
              <a:spAutoFit/>
            </a:bodyPr>
            <a:lstStyle/>
            <a:p>
              <a:r>
                <a:rPr lang="zh-CN" altLang="en-US" b="1" dirty="0" smtClean="0"/>
                <a:t>输入</a:t>
              </a:r>
              <a:endParaRPr lang="zh-CN" altLang="en-US" b="1" dirty="0"/>
            </a:p>
          </p:txBody>
        </p:sp>
        <p:sp>
          <p:nvSpPr>
            <p:cNvPr id="32" name="文本框 31"/>
            <p:cNvSpPr txBox="1"/>
            <p:nvPr/>
          </p:nvSpPr>
          <p:spPr>
            <a:xfrm rot="19213136">
              <a:off x="1871700" y="3552267"/>
              <a:ext cx="864096" cy="369332"/>
            </a:xfrm>
            <a:prstGeom prst="rect">
              <a:avLst/>
            </a:prstGeom>
            <a:noFill/>
          </p:spPr>
          <p:txBody>
            <a:bodyPr wrap="square" rtlCol="0">
              <a:spAutoFit/>
            </a:bodyPr>
            <a:lstStyle/>
            <a:p>
              <a:r>
                <a:rPr lang="zh-CN" altLang="en-US" b="1" dirty="0" smtClean="0"/>
                <a:t>输出</a:t>
              </a:r>
              <a:endParaRPr lang="zh-CN" altLang="en-US" b="1" dirty="0"/>
            </a:p>
          </p:txBody>
        </p:sp>
      </p:gr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脱机批处理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9" name="线形标注 1 28"/>
          <p:cNvSpPr/>
          <p:nvPr/>
        </p:nvSpPr>
        <p:spPr>
          <a:xfrm>
            <a:off x="536433" y="700896"/>
            <a:ext cx="2667415" cy="1049458"/>
          </a:xfrm>
          <a:prstGeom prst="borderCallout1">
            <a:avLst>
              <a:gd name="adj1" fmla="val 24542"/>
              <a:gd name="adj2" fmla="val 101753"/>
              <a:gd name="adj3" fmla="val 194288"/>
              <a:gd name="adj4" fmla="val 146915"/>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a:t>输入设备</a:t>
            </a:r>
            <a:r>
              <a:rPr lang="zh-CN" altLang="en-US" sz="2000" b="1" dirty="0" smtClean="0"/>
              <a:t>通过卫星机把</a:t>
            </a:r>
            <a:r>
              <a:rPr lang="zh-CN" altLang="en-US" sz="2000" b="1" dirty="0"/>
              <a:t>作业输入到输入磁带</a:t>
            </a:r>
            <a:endParaRPr lang="zh-CN" altLang="en-US" sz="2000" b="1" dirty="0">
              <a:latin typeface="+mn-ea"/>
            </a:endParaRPr>
          </a:p>
        </p:txBody>
      </p:sp>
      <p:sp>
        <p:nvSpPr>
          <p:cNvPr id="30" name="线形标注 1 29"/>
          <p:cNvSpPr/>
          <p:nvPr/>
        </p:nvSpPr>
        <p:spPr>
          <a:xfrm>
            <a:off x="5261908" y="635105"/>
            <a:ext cx="2667415" cy="1049458"/>
          </a:xfrm>
          <a:prstGeom prst="borderCallout1">
            <a:avLst>
              <a:gd name="adj1" fmla="val 50884"/>
              <a:gd name="adj2" fmla="val -2683"/>
              <a:gd name="adj3" fmla="val 293576"/>
              <a:gd name="adj4" fmla="val -14919"/>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a:t>输出</a:t>
            </a:r>
            <a:r>
              <a:rPr lang="zh-CN" altLang="en-US" sz="2000" b="1" dirty="0" smtClean="0"/>
              <a:t>磁带通过卫星机将</a:t>
            </a:r>
            <a:r>
              <a:rPr lang="zh-CN" altLang="en-US" sz="2000" b="1" dirty="0"/>
              <a:t>作业执行结果输出到输出设备</a:t>
            </a:r>
          </a:p>
        </p:txBody>
      </p:sp>
      <p:sp>
        <p:nvSpPr>
          <p:cNvPr id="31" name="文本框 30"/>
          <p:cNvSpPr txBox="1"/>
          <p:nvPr/>
        </p:nvSpPr>
        <p:spPr>
          <a:xfrm>
            <a:off x="4067944" y="2961238"/>
            <a:ext cx="1800200" cy="646331"/>
          </a:xfrm>
          <a:prstGeom prst="rect">
            <a:avLst/>
          </a:prstGeom>
          <a:noFill/>
        </p:spPr>
        <p:txBody>
          <a:bodyPr wrap="square" rtlCol="0">
            <a:spAutoFit/>
          </a:bodyPr>
          <a:lstStyle/>
          <a:p>
            <a:pPr algn="ctr"/>
            <a:r>
              <a:rPr lang="zh-CN" altLang="en-US" b="1" dirty="0" smtClean="0">
                <a:solidFill>
                  <a:srgbClr val="FF0000"/>
                </a:solidFill>
              </a:rPr>
              <a:t>卫星机与主机可以并行工作</a:t>
            </a:r>
            <a:endParaRPr lang="zh-CN" altLang="en-US" b="1" dirty="0">
              <a:solidFill>
                <a:srgbClr val="FF0000"/>
              </a:solidFill>
            </a:endParaRPr>
          </a:p>
        </p:txBody>
      </p:sp>
    </p:spTree>
    <p:extLst>
      <p:ext uri="{BB962C8B-B14F-4D97-AF65-F5344CB8AC3E}">
        <p14:creationId xmlns:p14="http://schemas.microsoft.com/office/powerpoint/2010/main" val="274828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wipe(right)">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right)">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30"/>
                                        </p:tgtEl>
                                      </p:cBhvr>
                                    </p:animEffect>
                                    <p:set>
                                      <p:cBhvr>
                                        <p:cTn id="29" dur="1" fill="hold">
                                          <p:stCondLst>
                                            <p:cond delay="499"/>
                                          </p:stCondLst>
                                        </p:cTn>
                                        <p:tgtEl>
                                          <p:spTgt spid="3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left)">
                                      <p:cBhvr>
                                        <p:cTn id="3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关键点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2" name="Picture 3" descr="JXJ3"/>
          <p:cNvPicPr>
            <a:picLocks noChangeAspect="1" noChangeArrowheads="1"/>
          </p:cNvPicPr>
          <p:nvPr/>
        </p:nvPicPr>
        <p:blipFill rotWithShape="1">
          <a:blip r:embed="rId2">
            <a:extLst>
              <a:ext uri="{28A0092B-C50C-407E-A947-70E740481C1C}">
                <a14:useLocalDpi xmlns:a14="http://schemas.microsoft.com/office/drawing/2010/main" val="0"/>
              </a:ext>
            </a:extLst>
          </a:blip>
          <a:srcRect t="2356" b="1470"/>
          <a:stretch/>
        </p:blipFill>
        <p:spPr bwMode="auto">
          <a:xfrm>
            <a:off x="1692233" y="225017"/>
            <a:ext cx="5616624" cy="485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2915816" y="152409"/>
            <a:ext cx="1656184" cy="30609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线形标注 1 28"/>
          <p:cNvSpPr/>
          <p:nvPr/>
        </p:nvSpPr>
        <p:spPr>
          <a:xfrm>
            <a:off x="6516217" y="1995686"/>
            <a:ext cx="2270626" cy="1224136"/>
          </a:xfrm>
          <a:prstGeom prst="borderCallout1">
            <a:avLst>
              <a:gd name="adj1" fmla="val 40798"/>
              <a:gd name="adj2" fmla="val -1344"/>
              <a:gd name="adj3" fmla="val -132174"/>
              <a:gd name="adj4" fmla="val -86928"/>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smtClean="0">
                <a:latin typeface="+mn-ea"/>
              </a:rPr>
              <a:t>管理作业的运行，负责装入和运行各种系统</a:t>
            </a:r>
            <a:r>
              <a:rPr lang="zh-CN" altLang="en-US" sz="2000" b="1" smtClean="0">
                <a:latin typeface="+mn-ea"/>
              </a:rPr>
              <a:t>处理程序，</a:t>
            </a:r>
            <a:endParaRPr lang="zh-CN" altLang="en-US" sz="2000" b="1" dirty="0">
              <a:latin typeface="+mn-ea"/>
            </a:endParaRPr>
          </a:p>
        </p:txBody>
      </p:sp>
    </p:spTree>
    <p:extLst>
      <p:ext uri="{BB962C8B-B14F-4D97-AF65-F5344CB8AC3E}">
        <p14:creationId xmlns:p14="http://schemas.microsoft.com/office/powerpoint/2010/main" val="194602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2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043608" y="1419622"/>
            <a:ext cx="6480720" cy="2862322"/>
          </a:xfrm>
          <a:prstGeom prst="rect">
            <a:avLst/>
          </a:prstGeom>
        </p:spPr>
        <p:txBody>
          <a:bodyPr wrap="square">
            <a:spAutoFit/>
          </a:bodyPr>
          <a:lstStyle/>
          <a:p>
            <a:pPr marL="0" lvl="1">
              <a:lnSpc>
                <a:spcPct val="150000"/>
              </a:lnSpc>
            </a:pPr>
            <a:r>
              <a:rPr lang="zh-CN" altLang="en-US" sz="2400" b="1" dirty="0" smtClean="0">
                <a:solidFill>
                  <a:schemeClr val="bg1"/>
                </a:solidFill>
                <a:latin typeface="+mn-ea"/>
              </a:rPr>
              <a:t>在批处理过程中，监督程序、系统程序和用户程序之间存在着一种调用关系，任何一个环节出问题，整个系统都会停顿；用户程序也可能会破坏监督程序和系统程序，这时只有操作员进行干预才能恢复。</a:t>
            </a:r>
            <a:endParaRPr lang="zh-CN" altLang="en-US" sz="2400" b="1" dirty="0">
              <a:solidFill>
                <a:schemeClr val="bg1"/>
              </a:solidFill>
              <a:latin typeface="+mn-ea"/>
            </a:endParaRPr>
          </a:p>
        </p:txBody>
      </p:sp>
    </p:spTree>
    <p:extLst>
      <p:ext uri="{BB962C8B-B14F-4D97-AF65-F5344CB8AC3E}">
        <p14:creationId xmlns:p14="http://schemas.microsoft.com/office/powerpoint/2010/main" val="261412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早期批处理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执行系统阶段</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15616" y="1563638"/>
            <a:ext cx="6480720" cy="2862322"/>
          </a:xfrm>
          <a:prstGeom prst="rect">
            <a:avLst/>
          </a:prstGeom>
        </p:spPr>
        <p:txBody>
          <a:bodyPr wrap="square">
            <a:spAutoFit/>
          </a:bodyPr>
          <a:lstStyle/>
          <a:p>
            <a:pPr marL="0" lvl="1">
              <a:lnSpc>
                <a:spcPct val="150000"/>
              </a:lnSpc>
              <a:buClr>
                <a:srgbClr val="FFFF00"/>
              </a:buClr>
              <a:buFont typeface="Wingdings" panose="05000000000000000000" pitchFamily="2" charset="2"/>
              <a:buChar char="Ø"/>
            </a:pPr>
            <a:r>
              <a:rPr lang="en-US" altLang="zh-CN" sz="2400" b="1" dirty="0" smtClean="0">
                <a:solidFill>
                  <a:schemeClr val="bg1"/>
                </a:solidFill>
                <a:latin typeface="+mn-ea"/>
              </a:rPr>
              <a:t>20</a:t>
            </a:r>
            <a:r>
              <a:rPr lang="zh-CN" altLang="en-US" sz="2400" b="1" dirty="0" smtClean="0">
                <a:solidFill>
                  <a:schemeClr val="bg1"/>
                </a:solidFill>
                <a:latin typeface="+mn-ea"/>
              </a:rPr>
              <a:t>世纪</a:t>
            </a:r>
            <a:r>
              <a:rPr lang="en-US" altLang="zh-CN" sz="2400" b="1" dirty="0" smtClean="0">
                <a:solidFill>
                  <a:schemeClr val="bg1"/>
                </a:solidFill>
                <a:latin typeface="+mn-ea"/>
              </a:rPr>
              <a:t>60</a:t>
            </a:r>
            <a:r>
              <a:rPr lang="zh-CN" altLang="en-US" sz="2400" b="1" dirty="0" smtClean="0">
                <a:solidFill>
                  <a:schemeClr val="bg1"/>
                </a:solidFill>
                <a:latin typeface="+mn-ea"/>
              </a:rPr>
              <a:t>年代出，硬件（</a:t>
            </a:r>
            <a:r>
              <a:rPr lang="zh-CN" altLang="en-US" sz="2400" b="1" dirty="0" smtClean="0">
                <a:solidFill>
                  <a:srgbClr val="FFFF00"/>
                </a:solidFill>
                <a:latin typeface="+mn-ea"/>
              </a:rPr>
              <a:t>通道</a:t>
            </a:r>
            <a:r>
              <a:rPr lang="zh-CN" altLang="en-US" sz="2400" b="1" dirty="0">
                <a:solidFill>
                  <a:schemeClr val="bg1"/>
                </a:solidFill>
                <a:latin typeface="+mn-ea"/>
              </a:rPr>
              <a:t>）和</a:t>
            </a:r>
            <a:r>
              <a:rPr lang="zh-CN" altLang="en-US" sz="2400" b="1" dirty="0" smtClean="0">
                <a:solidFill>
                  <a:srgbClr val="FFFF00"/>
                </a:solidFill>
                <a:latin typeface="+mn-ea"/>
              </a:rPr>
              <a:t>中断技术</a:t>
            </a:r>
            <a:r>
              <a:rPr lang="zh-CN" altLang="en-US" sz="2400" b="1" dirty="0" smtClean="0">
                <a:solidFill>
                  <a:schemeClr val="bg1"/>
                </a:solidFill>
                <a:latin typeface="+mn-ea"/>
              </a:rPr>
              <a:t>的进展，扩大了监督程序的功能。</a:t>
            </a:r>
            <a:r>
              <a:rPr lang="zh-CN" altLang="en-US" sz="2400" b="1" dirty="0">
                <a:solidFill>
                  <a:schemeClr val="bg1"/>
                </a:solidFill>
                <a:latin typeface="+mn-ea"/>
              </a:rPr>
              <a:t>它不仅要负责作业运行的自动调度，而且还要提供输入输出控制功能。这个发展了的监督程序常驻</a:t>
            </a:r>
            <a:r>
              <a:rPr lang="zh-CN" altLang="en-US" sz="2400" b="1" dirty="0" smtClean="0">
                <a:solidFill>
                  <a:schemeClr val="bg1"/>
                </a:solidFill>
                <a:latin typeface="+mn-ea"/>
              </a:rPr>
              <a:t>内存</a:t>
            </a:r>
            <a:r>
              <a:rPr lang="en-US" altLang="zh-CN" sz="2400" b="1" dirty="0" smtClean="0">
                <a:solidFill>
                  <a:schemeClr val="bg1"/>
                </a:solidFill>
                <a:latin typeface="+mn-ea"/>
              </a:rPr>
              <a:t>,</a:t>
            </a:r>
            <a:r>
              <a:rPr lang="zh-CN" altLang="en-US" sz="2400" b="1" dirty="0" smtClean="0">
                <a:solidFill>
                  <a:schemeClr val="bg1"/>
                </a:solidFill>
                <a:latin typeface="+mn-ea"/>
              </a:rPr>
              <a:t>称为</a:t>
            </a:r>
            <a:r>
              <a:rPr lang="zh-CN" altLang="en-US" sz="2400" b="1" dirty="0">
                <a:solidFill>
                  <a:srgbClr val="FFFF00"/>
                </a:solidFill>
                <a:latin typeface="+mn-ea"/>
              </a:rPr>
              <a:t>执行系统</a:t>
            </a:r>
          </a:p>
        </p:txBody>
      </p:sp>
      <p:sp>
        <p:nvSpPr>
          <p:cNvPr id="29" name="线形标注 1 28"/>
          <p:cNvSpPr/>
          <p:nvPr/>
        </p:nvSpPr>
        <p:spPr>
          <a:xfrm>
            <a:off x="3059832" y="126946"/>
            <a:ext cx="5438164" cy="1502975"/>
          </a:xfrm>
          <a:prstGeom prst="borderCallout1">
            <a:avLst>
              <a:gd name="adj1" fmla="val 100436"/>
              <a:gd name="adj2" fmla="val 44964"/>
              <a:gd name="adj3" fmla="val 109709"/>
              <a:gd name="adj4" fmla="val 37962"/>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smtClean="0">
                <a:solidFill>
                  <a:schemeClr val="tx1"/>
                </a:solidFill>
              </a:rPr>
              <a:t>通道是一种专用处理部件，它能控制一台或多台输入输出设备工作，负责输入输出设备与主机之间的信息传输。它一旦被启动就独立于</a:t>
            </a:r>
            <a:r>
              <a:rPr lang="en-US" altLang="zh-CN" sz="2000" b="1" dirty="0" smtClean="0">
                <a:solidFill>
                  <a:schemeClr val="tx1"/>
                </a:solidFill>
              </a:rPr>
              <a:t>CPU</a:t>
            </a:r>
            <a:r>
              <a:rPr lang="zh-CN" altLang="en-US" sz="2000" b="1" dirty="0" smtClean="0">
                <a:solidFill>
                  <a:schemeClr val="tx1"/>
                </a:solidFill>
              </a:rPr>
              <a:t>运行，这样可使</a:t>
            </a:r>
            <a:r>
              <a:rPr lang="en-US" altLang="zh-CN" sz="2000" b="1" dirty="0" smtClean="0">
                <a:solidFill>
                  <a:schemeClr val="tx1"/>
                </a:solidFill>
              </a:rPr>
              <a:t>CPU</a:t>
            </a:r>
            <a:r>
              <a:rPr lang="zh-CN" altLang="en-US" sz="2000" b="1" dirty="0" smtClean="0">
                <a:solidFill>
                  <a:schemeClr val="tx1"/>
                </a:solidFill>
              </a:rPr>
              <a:t>和通道并行操作，而且</a:t>
            </a:r>
            <a:r>
              <a:rPr lang="en-US" altLang="zh-CN" sz="2000" b="1" dirty="0" smtClean="0">
                <a:solidFill>
                  <a:schemeClr val="tx1"/>
                </a:solidFill>
              </a:rPr>
              <a:t>CPU</a:t>
            </a:r>
            <a:r>
              <a:rPr lang="zh-CN" altLang="en-US" sz="2000" b="1" dirty="0" smtClean="0">
                <a:solidFill>
                  <a:schemeClr val="tx1"/>
                </a:solidFill>
              </a:rPr>
              <a:t>和各种输入输出设备也能并行操作。</a:t>
            </a:r>
            <a:endParaRPr lang="zh-CN" altLang="en-US" sz="2000" b="1" dirty="0">
              <a:solidFill>
                <a:schemeClr val="tx1"/>
              </a:solidFill>
              <a:latin typeface="+mn-ea"/>
            </a:endParaRPr>
          </a:p>
        </p:txBody>
      </p:sp>
      <p:sp>
        <p:nvSpPr>
          <p:cNvPr id="30" name="线形标注 1 29"/>
          <p:cNvSpPr/>
          <p:nvPr/>
        </p:nvSpPr>
        <p:spPr>
          <a:xfrm>
            <a:off x="3923928" y="3066613"/>
            <a:ext cx="4392488" cy="1502975"/>
          </a:xfrm>
          <a:prstGeom prst="borderCallout1">
            <a:avLst>
              <a:gd name="adj1" fmla="val 1004"/>
              <a:gd name="adj2" fmla="val 87308"/>
              <a:gd name="adj3" fmla="val -68807"/>
              <a:gd name="adj4" fmla="val 58681"/>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buClr>
                <a:srgbClr val="006600"/>
              </a:buClr>
              <a:buFont typeface="Wingdings" panose="05000000000000000000" pitchFamily="2" charset="2"/>
              <a:buChar char="Ø"/>
            </a:pPr>
            <a:r>
              <a:rPr lang="zh-CN" altLang="en-US" sz="2000" b="1" dirty="0" smtClean="0">
                <a:solidFill>
                  <a:schemeClr val="tx1"/>
                </a:solidFill>
              </a:rPr>
              <a:t>当主机接到外部信号（如输入输出设备完成信号）时，马上停止原来工作，转去处理这一事件，处理完毕后，主机回到原来的断点继续工作。</a:t>
            </a:r>
            <a:endParaRPr lang="zh-CN" altLang="en-US" sz="2000" b="1" dirty="0">
              <a:solidFill>
                <a:schemeClr val="tx1"/>
              </a:solidFill>
              <a:latin typeface="+mn-ea"/>
            </a:endParaRPr>
          </a:p>
        </p:txBody>
      </p:sp>
    </p:spTree>
    <p:extLst>
      <p:ext uri="{BB962C8B-B14F-4D97-AF65-F5344CB8AC3E}">
        <p14:creationId xmlns:p14="http://schemas.microsoft.com/office/powerpoint/2010/main" val="68725710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righ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9"/>
                                        </p:tgtEl>
                                      </p:cBhvr>
                                    </p:animEffect>
                                    <p:set>
                                      <p:cBhvr>
                                        <p:cTn id="17" dur="1" fill="hold">
                                          <p:stCondLst>
                                            <p:cond delay="499"/>
                                          </p:stCondLst>
                                        </p:cTn>
                                        <p:tgtEl>
                                          <p:spTgt spid="2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righ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30"/>
                                        </p:tgtEl>
                                      </p:cBhvr>
                                    </p:animEffect>
                                    <p:set>
                                      <p:cBhvr>
                                        <p:cTn id="27"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早期批处理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执行系统阶段</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15616" y="1726367"/>
            <a:ext cx="6480720" cy="2308324"/>
          </a:xfrm>
          <a:prstGeom prst="rect">
            <a:avLst/>
          </a:prstGeom>
        </p:spPr>
        <p:txBody>
          <a:bodyPr wrap="square">
            <a:spAutoFit/>
          </a:bodyPr>
          <a:lstStyle/>
          <a:p>
            <a:pPr marL="0" lvl="1">
              <a:lnSpc>
                <a:spcPct val="150000"/>
              </a:lnSpc>
            </a:pPr>
            <a:r>
              <a:rPr lang="zh-CN" altLang="en-US" sz="2400" b="1" dirty="0">
                <a:solidFill>
                  <a:schemeClr val="bg1"/>
                </a:solidFill>
                <a:latin typeface="+mn-ea"/>
              </a:rPr>
              <a:t>执行系统实现的也是输入输出联机操作，和早期批处理系统</a:t>
            </a:r>
            <a:r>
              <a:rPr lang="zh-CN" altLang="en-US" sz="2400" b="1" dirty="0">
                <a:solidFill>
                  <a:srgbClr val="FFFF00"/>
                </a:solidFill>
                <a:latin typeface="+mn-ea"/>
              </a:rPr>
              <a:t>不同</a:t>
            </a:r>
            <a:r>
              <a:rPr lang="zh-CN" altLang="en-US" sz="2400" b="1" dirty="0">
                <a:solidFill>
                  <a:schemeClr val="bg1"/>
                </a:solidFill>
                <a:latin typeface="+mn-ea"/>
              </a:rPr>
              <a:t>的是：输入输出工作是由在</a:t>
            </a:r>
            <a:r>
              <a:rPr lang="zh-CN" altLang="en-US" sz="2400" b="1" dirty="0">
                <a:solidFill>
                  <a:srgbClr val="FFFF00"/>
                </a:solidFill>
                <a:latin typeface="+mn-ea"/>
              </a:rPr>
              <a:t>主机控制</a:t>
            </a:r>
            <a:r>
              <a:rPr lang="zh-CN" altLang="en-US" sz="2400" b="1" dirty="0">
                <a:solidFill>
                  <a:schemeClr val="bg1"/>
                </a:solidFill>
                <a:latin typeface="+mn-ea"/>
              </a:rPr>
              <a:t>下的</a:t>
            </a:r>
            <a:r>
              <a:rPr lang="zh-CN" altLang="en-US" sz="2400" b="1" dirty="0">
                <a:solidFill>
                  <a:srgbClr val="FFFF00"/>
                </a:solidFill>
                <a:latin typeface="+mn-ea"/>
              </a:rPr>
              <a:t>通道</a:t>
            </a:r>
            <a:r>
              <a:rPr lang="zh-CN" altLang="en-US" sz="2400" b="1" dirty="0">
                <a:solidFill>
                  <a:schemeClr val="bg1"/>
                </a:solidFill>
                <a:latin typeface="+mn-ea"/>
              </a:rPr>
              <a:t>完成的。主机和通道、主机和输入输出设备都可以并行操作。</a:t>
            </a:r>
          </a:p>
        </p:txBody>
      </p:sp>
    </p:spTree>
    <p:extLst>
      <p:ext uri="{BB962C8B-B14F-4D97-AF65-F5344CB8AC3E}">
        <p14:creationId xmlns:p14="http://schemas.microsoft.com/office/powerpoint/2010/main" val="156849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03126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早期</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典型代表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44876"/>
            <a:ext cx="6480720" cy="1754326"/>
          </a:xfrm>
          <a:prstGeom prst="rect">
            <a:avLst/>
          </a:prstGeom>
        </p:spPr>
        <p:txBody>
          <a:bodyPr wrap="square">
            <a:spAutoFit/>
          </a:bodyPr>
          <a:lstStyle/>
          <a:p>
            <a:pPr marL="34290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上古神机：</a:t>
            </a:r>
            <a:r>
              <a:rPr lang="en-US" altLang="zh-CN" sz="2400" b="1" dirty="0" smtClean="0">
                <a:solidFill>
                  <a:srgbClr val="FFFF00"/>
                </a:solidFill>
                <a:latin typeface="+mn-ea"/>
              </a:rPr>
              <a:t>IBM7094</a:t>
            </a:r>
            <a:r>
              <a:rPr lang="zh-CN" altLang="en-US" sz="2400" b="1" dirty="0" smtClean="0">
                <a:solidFill>
                  <a:schemeClr val="bg1"/>
                </a:solidFill>
                <a:latin typeface="+mn-ea"/>
              </a:rPr>
              <a:t>，造价在</a:t>
            </a:r>
            <a:r>
              <a:rPr lang="en-US" altLang="zh-CN" sz="2400" b="1" dirty="0" smtClean="0">
                <a:solidFill>
                  <a:schemeClr val="bg1"/>
                </a:solidFill>
                <a:latin typeface="+mn-ea"/>
              </a:rPr>
              <a:t>250</a:t>
            </a:r>
            <a:r>
              <a:rPr lang="zh-CN" altLang="en-US" sz="2400" b="1" dirty="0" smtClean="0">
                <a:solidFill>
                  <a:schemeClr val="bg1"/>
                </a:solidFill>
                <a:latin typeface="+mn-ea"/>
              </a:rPr>
              <a:t>万美元之上</a:t>
            </a:r>
            <a:endParaRPr lang="en-US" altLang="zh-CN" sz="2400" b="1" dirty="0" smtClean="0">
              <a:solidFill>
                <a:schemeClr val="bg1"/>
              </a:solidFill>
              <a:latin typeface="+mn-ea"/>
            </a:endParaRPr>
          </a:p>
          <a:p>
            <a:pPr marL="0" lvl="1">
              <a:lnSpc>
                <a:spcPct val="150000"/>
              </a:lnSpc>
              <a:buClr>
                <a:srgbClr val="FFFF00"/>
              </a:buClr>
            </a:pPr>
            <a:r>
              <a:rPr lang="zh-CN" altLang="en-US" sz="2400" b="1" dirty="0" smtClean="0">
                <a:solidFill>
                  <a:schemeClr val="bg1"/>
                </a:solidFill>
                <a:latin typeface="+mn-ea"/>
              </a:rPr>
              <a:t>  计算机使用原则：只专注于计算</a:t>
            </a:r>
            <a:endParaRPr lang="en-US" altLang="zh-CN" sz="2400" b="1" dirty="0" smtClean="0">
              <a:solidFill>
                <a:schemeClr val="bg1"/>
              </a:solidFill>
              <a:latin typeface="+mn-ea"/>
            </a:endParaRPr>
          </a:p>
          <a:p>
            <a:pPr marL="342900" lvl="1" indent="-342900">
              <a:lnSpc>
                <a:spcPct val="150000"/>
              </a:lnSpc>
              <a:buClr>
                <a:srgbClr val="FFFF00"/>
              </a:buClr>
              <a:buFont typeface="Wingdings" panose="05000000000000000000" pitchFamily="2" charset="2"/>
              <a:buChar char="Ø"/>
            </a:pPr>
            <a:endParaRPr lang="en-US" altLang="zh-CN" sz="2400" b="1" dirty="0" smtClean="0">
              <a:solidFill>
                <a:schemeClr val="bg1"/>
              </a:solidFill>
              <a:latin typeface="+mn-ea"/>
            </a:endParaRPr>
          </a:p>
        </p:txBody>
      </p:sp>
      <p:pic>
        <p:nvPicPr>
          <p:cNvPr id="3" name="图片 2"/>
          <p:cNvPicPr>
            <a:picLocks noChangeAspect="1"/>
          </p:cNvPicPr>
          <p:nvPr/>
        </p:nvPicPr>
        <p:blipFill>
          <a:blip r:embed="rId2"/>
          <a:stretch>
            <a:fillRect/>
          </a:stretch>
        </p:blipFill>
        <p:spPr>
          <a:xfrm>
            <a:off x="7208033" y="1159834"/>
            <a:ext cx="1935967" cy="1282329"/>
          </a:xfrm>
          <a:prstGeom prst="rect">
            <a:avLst/>
          </a:prstGeom>
        </p:spPr>
      </p:pic>
      <p:pic>
        <p:nvPicPr>
          <p:cNvPr id="4" name="图片 3"/>
          <p:cNvPicPr>
            <a:picLocks noChangeAspect="1"/>
          </p:cNvPicPr>
          <p:nvPr/>
        </p:nvPicPr>
        <p:blipFill rotWithShape="1">
          <a:blip r:embed="rId3"/>
          <a:srcRect t="2357" r="1176"/>
          <a:stretch/>
        </p:blipFill>
        <p:spPr>
          <a:xfrm>
            <a:off x="1928456" y="2422391"/>
            <a:ext cx="4250713" cy="1519093"/>
          </a:xfrm>
          <a:prstGeom prst="rect">
            <a:avLst/>
          </a:prstGeom>
        </p:spPr>
      </p:pic>
      <p:sp>
        <p:nvSpPr>
          <p:cNvPr id="5" name="矩形 4"/>
          <p:cNvSpPr/>
          <p:nvPr/>
        </p:nvSpPr>
        <p:spPr>
          <a:xfrm>
            <a:off x="983269" y="3853551"/>
            <a:ext cx="4092787" cy="646331"/>
          </a:xfrm>
          <a:prstGeom prst="rect">
            <a:avLst/>
          </a:prstGeom>
        </p:spPr>
        <p:txBody>
          <a:bodyPr wrap="none">
            <a:spAutoFit/>
          </a:bodyPr>
          <a:lstStyle/>
          <a:p>
            <a:pPr marL="34290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典型代表：</a:t>
            </a:r>
            <a:r>
              <a:rPr lang="en-US" altLang="zh-CN" sz="2400" b="1" dirty="0">
                <a:solidFill>
                  <a:srgbClr val="FFFF00"/>
                </a:solidFill>
                <a:latin typeface="+mn-ea"/>
              </a:rPr>
              <a:t>IBSYS</a:t>
            </a:r>
            <a:r>
              <a:rPr lang="zh-CN" altLang="en-US" sz="2400" b="1" dirty="0">
                <a:solidFill>
                  <a:srgbClr val="FFFF00"/>
                </a:solidFill>
                <a:latin typeface="+mn-ea"/>
              </a:rPr>
              <a:t>监控系统</a:t>
            </a:r>
            <a:endParaRPr lang="en-US" altLang="zh-CN" sz="2400" b="1" dirty="0">
              <a:solidFill>
                <a:srgbClr val="FFFF00"/>
              </a:solidFill>
              <a:latin typeface="+mn-ea"/>
            </a:endParaRPr>
          </a:p>
        </p:txBody>
      </p:sp>
    </p:spTree>
    <p:extLst>
      <p:ext uri="{BB962C8B-B14F-4D97-AF65-F5344CB8AC3E}">
        <p14:creationId xmlns:p14="http://schemas.microsoft.com/office/powerpoint/2010/main" val="173703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left)">
                                      <p:cBhvr>
                                        <p:cTn id="22" dur="5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918339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单道批处理系统（</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1955-1965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15616" y="1229306"/>
            <a:ext cx="6480720" cy="646331"/>
          </a:xfrm>
          <a:prstGeom prst="rect">
            <a:avLst/>
          </a:prstGeom>
        </p:spPr>
        <p:txBody>
          <a:bodyPr wrap="square">
            <a:spAutoFit/>
          </a:bodyPr>
          <a:lstStyle/>
          <a:p>
            <a:pPr marL="0" lvl="1">
              <a:lnSpc>
                <a:spcPct val="150000"/>
              </a:lnSpc>
            </a:pPr>
            <a:r>
              <a:rPr lang="zh-CN" altLang="en-US" sz="2400" b="1" dirty="0" smtClean="0">
                <a:solidFill>
                  <a:schemeClr val="bg1"/>
                </a:solidFill>
                <a:latin typeface="+mn-ea"/>
              </a:rPr>
              <a:t>一次调用一个用户作业程序进入内存并运行</a:t>
            </a:r>
            <a:endParaRPr lang="zh-CN" altLang="en-US" sz="2400" b="1" dirty="0">
              <a:solidFill>
                <a:schemeClr val="bg1"/>
              </a:solidFill>
              <a:latin typeface="+mn-ea"/>
            </a:endParaRPr>
          </a:p>
        </p:txBody>
      </p:sp>
      <p:pic>
        <p:nvPicPr>
          <p:cNvPr id="29" name="Picture 3" descr="JXJ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476" y="1995686"/>
            <a:ext cx="57150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7306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heel(1)">
                                      <p:cBhvr>
                                        <p:cTn id="12"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0" y="142858"/>
            <a:ext cx="914400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单处理机多道批处理系统</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IBSYS</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OS/360(1965-1980)</a:t>
            </a:r>
            <a:endParaRPr lang="ko-KR"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29306"/>
            <a:ext cx="7056784" cy="2308324"/>
          </a:xfrm>
          <a:prstGeom prst="rect">
            <a:avLst/>
          </a:prstGeom>
        </p:spPr>
        <p:txBody>
          <a:bodyPr wrap="square">
            <a:spAutoFit/>
          </a:bodyPr>
          <a:lstStyle/>
          <a:p>
            <a:pPr marL="0" lvl="1">
              <a:lnSpc>
                <a:spcPct val="150000"/>
              </a:lnSpc>
              <a:buClr>
                <a:srgbClr val="FFFF00"/>
              </a:buClr>
              <a:buFont typeface="Wingdings" panose="05000000000000000000" pitchFamily="2" charset="2"/>
              <a:buChar char="Ø"/>
            </a:pPr>
            <a:r>
              <a:rPr lang="zh-CN" altLang="en-US" sz="2400" b="1" dirty="0">
                <a:solidFill>
                  <a:schemeClr val="bg1"/>
                </a:solidFill>
                <a:latin typeface="+mn-ea"/>
              </a:rPr>
              <a:t>计算机开始进入多个行业</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nSpc>
                <a:spcPct val="150000"/>
              </a:lnSpc>
              <a:buClr>
                <a:srgbClr val="FFFF00"/>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chemeClr val="bg1"/>
                </a:solidFill>
                <a:latin typeface="+mn-ea"/>
              </a:rPr>
              <a:t>科学</a:t>
            </a:r>
            <a:r>
              <a:rPr lang="zh-CN" altLang="en-US" sz="2400" b="1" dirty="0">
                <a:solidFill>
                  <a:schemeClr val="bg1"/>
                </a:solidFill>
                <a:latin typeface="+mn-ea"/>
              </a:rPr>
              <a:t>计算</a:t>
            </a:r>
            <a:r>
              <a:rPr lang="en-US" altLang="zh-CN" sz="2400" b="1" dirty="0">
                <a:solidFill>
                  <a:schemeClr val="bg1"/>
                </a:solidFill>
                <a:latin typeface="+mn-ea"/>
              </a:rPr>
              <a:t>(IBM 7094)</a:t>
            </a:r>
            <a:r>
              <a:rPr lang="zh-CN" altLang="en-US" sz="2400" b="1" dirty="0">
                <a:solidFill>
                  <a:schemeClr val="bg1"/>
                </a:solidFill>
                <a:latin typeface="+mn-ea"/>
              </a:rPr>
              <a:t>，银行</a:t>
            </a:r>
            <a:r>
              <a:rPr lang="en-US" altLang="zh-CN" sz="2400" b="1" dirty="0">
                <a:solidFill>
                  <a:schemeClr val="bg1"/>
                </a:solidFill>
                <a:latin typeface="+mn-ea"/>
              </a:rPr>
              <a:t>(IBM 1401</a:t>
            </a:r>
            <a:r>
              <a:rPr lang="en-US" altLang="zh-CN" sz="2400" b="1" dirty="0" smtClean="0">
                <a:solidFill>
                  <a:schemeClr val="bg1"/>
                </a:solidFill>
                <a:latin typeface="+mn-ea"/>
              </a:rPr>
              <a:t>)</a:t>
            </a:r>
          </a:p>
          <a:p>
            <a:pPr marL="800100" lvl="2" indent="-342900">
              <a:lnSpc>
                <a:spcPct val="150000"/>
              </a:lnSpc>
              <a:buClr>
                <a:srgbClr val="33CC33"/>
              </a:buClr>
              <a:buFont typeface="Wingdings" panose="05000000000000000000" pitchFamily="2" charset="2"/>
              <a:buChar char="l"/>
            </a:pPr>
            <a:r>
              <a:rPr lang="zh-CN" altLang="en-US" sz="2400" b="1" dirty="0">
                <a:solidFill>
                  <a:schemeClr val="bg1"/>
                </a:solidFill>
                <a:latin typeface="+mn-ea"/>
              </a:rPr>
              <a:t>需要让一台计算机干多种</a:t>
            </a:r>
            <a:r>
              <a:rPr lang="zh-CN" altLang="en-US" sz="2400" b="1" dirty="0" smtClean="0">
                <a:solidFill>
                  <a:schemeClr val="bg1"/>
                </a:solidFill>
                <a:latin typeface="+mn-ea"/>
              </a:rPr>
              <a:t>事</a:t>
            </a:r>
            <a:endParaRPr lang="en-US" altLang="zh-CN" sz="2400" b="1" dirty="0" smtClean="0">
              <a:solidFill>
                <a:schemeClr val="bg1"/>
              </a:solidFill>
              <a:latin typeface="+mn-ea"/>
            </a:endParaRPr>
          </a:p>
          <a:p>
            <a:pPr marL="800100" lvl="2" indent="-342900">
              <a:lnSpc>
                <a:spcPct val="150000"/>
              </a:lnSpc>
              <a:buClr>
                <a:srgbClr val="33CC33"/>
              </a:buClr>
              <a:buFont typeface="Wingdings" panose="05000000000000000000" pitchFamily="2" charset="2"/>
              <a:buChar char="l"/>
            </a:pPr>
            <a:r>
              <a:rPr lang="zh-CN" altLang="en-US" sz="2400" b="1" dirty="0">
                <a:solidFill>
                  <a:schemeClr val="bg1"/>
                </a:solidFill>
                <a:latin typeface="+mn-ea"/>
              </a:rPr>
              <a:t>多道程序</a:t>
            </a:r>
            <a:r>
              <a:rPr lang="en-US" altLang="zh-CN" sz="2400" b="1" dirty="0">
                <a:solidFill>
                  <a:schemeClr val="bg1"/>
                </a:solidFill>
                <a:latin typeface="+mn-ea"/>
              </a:rPr>
              <a:t>(multiprogramming) </a:t>
            </a:r>
          </a:p>
        </p:txBody>
      </p:sp>
      <p:pic>
        <p:nvPicPr>
          <p:cNvPr id="4" name="图片 3"/>
          <p:cNvPicPr>
            <a:picLocks noChangeAspect="1"/>
          </p:cNvPicPr>
          <p:nvPr/>
        </p:nvPicPr>
        <p:blipFill>
          <a:blip r:embed="rId3"/>
          <a:stretch>
            <a:fillRect/>
          </a:stretch>
        </p:blipFill>
        <p:spPr>
          <a:xfrm>
            <a:off x="6372200" y="1344876"/>
            <a:ext cx="1966130" cy="2217612"/>
          </a:xfrm>
          <a:prstGeom prst="rect">
            <a:avLst/>
          </a:prstGeom>
        </p:spPr>
      </p:pic>
      <p:sp>
        <p:nvSpPr>
          <p:cNvPr id="6" name="线形标注 1 5"/>
          <p:cNvSpPr/>
          <p:nvPr/>
        </p:nvSpPr>
        <p:spPr>
          <a:xfrm>
            <a:off x="3709997" y="506109"/>
            <a:ext cx="2568611" cy="858233"/>
          </a:xfrm>
          <a:prstGeom prst="borderCallout1">
            <a:avLst>
              <a:gd name="adj1" fmla="val 30495"/>
              <a:gd name="adj2" fmla="val 97255"/>
              <a:gd name="adj3" fmla="val 214010"/>
              <a:gd name="adj4" fmla="val 135861"/>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将用户</a:t>
            </a:r>
            <a:r>
              <a:rPr lang="en-US" altLang="zh-CN" b="1" dirty="0" smtClean="0"/>
              <a:t>A</a:t>
            </a:r>
            <a:r>
              <a:rPr lang="zh-CN" altLang="en-US" b="1" dirty="0" smtClean="0"/>
              <a:t>的账户数据输入到计算机中并显示</a:t>
            </a:r>
            <a:endParaRPr lang="zh-CN" altLang="en-US" b="1" dirty="0"/>
          </a:p>
        </p:txBody>
      </p:sp>
      <p:sp>
        <p:nvSpPr>
          <p:cNvPr id="29" name="线形标注 1 28"/>
          <p:cNvSpPr/>
          <p:nvPr/>
        </p:nvSpPr>
        <p:spPr>
          <a:xfrm>
            <a:off x="6372200" y="3768453"/>
            <a:ext cx="2282672" cy="858233"/>
          </a:xfrm>
          <a:prstGeom prst="borderCallout1">
            <a:avLst>
              <a:gd name="adj1" fmla="val 1132"/>
              <a:gd name="adj2" fmla="val 96210"/>
              <a:gd name="adj3" fmla="val -77938"/>
              <a:gd name="adj4" fmla="val 56002"/>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对用户</a:t>
            </a:r>
            <a:r>
              <a:rPr lang="en-US" altLang="zh-CN" b="1" dirty="0" smtClean="0"/>
              <a:t>B</a:t>
            </a:r>
            <a:r>
              <a:rPr lang="zh-CN" altLang="en-US" b="1" dirty="0" smtClean="0"/>
              <a:t>账户中的人民币金额按照汇率转换为美元</a:t>
            </a:r>
            <a:endParaRPr lang="zh-CN" altLang="en-US" b="1" dirty="0"/>
          </a:p>
        </p:txBody>
      </p:sp>
      <p:sp>
        <p:nvSpPr>
          <p:cNvPr id="31" name="线形标注 1 30"/>
          <p:cNvSpPr/>
          <p:nvPr/>
        </p:nvSpPr>
        <p:spPr>
          <a:xfrm>
            <a:off x="971600" y="3435846"/>
            <a:ext cx="4658936" cy="1190839"/>
          </a:xfrm>
          <a:prstGeom prst="borderCallout1">
            <a:avLst>
              <a:gd name="adj1" fmla="val 30495"/>
              <a:gd name="adj2" fmla="val 97255"/>
              <a:gd name="adj3" fmla="val -51555"/>
              <a:gd name="adj4" fmla="val 132132"/>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单道情况下：必须第一个任务做完才能进入第二个任务，如果中途跳转到第二个任务，就回不到第一个任务了。而第一个任务往磁带机上写数据是慢速操作，</a:t>
            </a:r>
            <a:r>
              <a:rPr lang="en-US" altLang="zh-CN" b="1" dirty="0" smtClean="0"/>
              <a:t>CPU</a:t>
            </a:r>
            <a:r>
              <a:rPr lang="zh-CN" altLang="en-US" b="1" dirty="0" smtClean="0"/>
              <a:t>只能等待。</a:t>
            </a:r>
            <a:endParaRPr lang="zh-CN" altLang="en-US" b="1" dirty="0"/>
          </a:p>
        </p:txBody>
      </p:sp>
    </p:spTree>
    <p:extLst>
      <p:ext uri="{BB962C8B-B14F-4D97-AF65-F5344CB8AC3E}">
        <p14:creationId xmlns:p14="http://schemas.microsoft.com/office/powerpoint/2010/main" val="296251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down)">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wipe(left)">
                                      <p:cBhvr>
                                        <p:cTn id="4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9" grpId="0" animBg="1"/>
      <p:bldP spid="3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0" y="142858"/>
            <a:ext cx="914400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单处理机多道批处理系统</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IBSYS</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OS/360(1965-1980)</a:t>
            </a:r>
            <a:endParaRPr lang="ko-KR"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11560" y="1229306"/>
            <a:ext cx="7200800" cy="646331"/>
          </a:xfrm>
          <a:prstGeom prst="rect">
            <a:avLst/>
          </a:prstGeom>
        </p:spPr>
        <p:txBody>
          <a:bodyPr wrap="square">
            <a:spAutoFit/>
          </a:bodyPr>
          <a:lstStyle/>
          <a:p>
            <a:pPr marL="0" lvl="1">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一次在计算机内存中允许存放几道相互独立的程序</a:t>
            </a:r>
            <a:endParaRPr lang="zh-CN" altLang="en-US" sz="2400" b="1" dirty="0">
              <a:solidFill>
                <a:schemeClr val="bg1"/>
              </a:solidFill>
              <a:latin typeface="+mn-ea"/>
            </a:endParaRPr>
          </a:p>
        </p:txBody>
      </p:sp>
      <p:pic>
        <p:nvPicPr>
          <p:cNvPr id="30" name="Picture 4" descr="JXJ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908323"/>
            <a:ext cx="632460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271293" y="3963709"/>
            <a:ext cx="4572000" cy="1200329"/>
          </a:xfrm>
          <a:prstGeom prst="rect">
            <a:avLst/>
          </a:prstGeom>
        </p:spPr>
        <p:txBody>
          <a:bodyPr>
            <a:spAutoFit/>
          </a:bodyPr>
          <a:lstStyle/>
          <a:p>
            <a:r>
              <a:rPr lang="zh-CN" altLang="en-US" b="1" u="sng" dirty="0">
                <a:solidFill>
                  <a:srgbClr val="FF0000"/>
                </a:solidFill>
              </a:rPr>
              <a:t>宏观上并行</a:t>
            </a:r>
            <a:r>
              <a:rPr lang="zh-CN" altLang="en-US" b="1" dirty="0">
                <a:solidFill>
                  <a:srgbClr val="FF0000"/>
                </a:solidFill>
              </a:rPr>
              <a:t>：同时进入系统的几道程序都处于运行过程中，即它们先后开始了各自的运行，但都未运行完毕</a:t>
            </a:r>
            <a:r>
              <a:rPr lang="zh-CN" altLang="en-US" b="1" u="sng" dirty="0" smtClean="0">
                <a:solidFill>
                  <a:srgbClr val="FF0000"/>
                </a:solidFill>
              </a:rPr>
              <a:t>。</a:t>
            </a:r>
            <a:r>
              <a:rPr lang="en-US" altLang="zh-CN" b="1" u="sng" dirty="0" smtClean="0">
                <a:solidFill>
                  <a:srgbClr val="FF0000"/>
                </a:solidFill>
              </a:rPr>
              <a:t> </a:t>
            </a:r>
            <a:r>
              <a:rPr lang="zh-CN" altLang="en-US" b="1" u="sng" dirty="0">
                <a:solidFill>
                  <a:srgbClr val="FF0000"/>
                </a:solidFill>
              </a:rPr>
              <a:t>微观上串行</a:t>
            </a:r>
            <a:r>
              <a:rPr lang="zh-CN" altLang="en-US" b="1" dirty="0">
                <a:solidFill>
                  <a:srgbClr val="FF0000"/>
                </a:solidFill>
              </a:rPr>
              <a:t>：实际上，各道程序轮流使用</a:t>
            </a:r>
            <a:r>
              <a:rPr lang="en-US" altLang="zh-CN" b="1" dirty="0">
                <a:solidFill>
                  <a:srgbClr val="FF0000"/>
                </a:solidFill>
              </a:rPr>
              <a:t>CPU</a:t>
            </a:r>
            <a:r>
              <a:rPr lang="zh-CN" altLang="en-US" b="1" dirty="0">
                <a:solidFill>
                  <a:srgbClr val="FF0000"/>
                </a:solidFill>
              </a:rPr>
              <a:t>，交替执行。</a:t>
            </a:r>
          </a:p>
        </p:txBody>
      </p:sp>
    </p:spTree>
    <p:extLst>
      <p:ext uri="{BB962C8B-B14F-4D97-AF65-F5344CB8AC3E}">
        <p14:creationId xmlns:p14="http://schemas.microsoft.com/office/powerpoint/2010/main" val="14007721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arn(outVertic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 name="矩形 1"/>
          <p:cNvSpPr/>
          <p:nvPr/>
        </p:nvSpPr>
        <p:spPr>
          <a:xfrm>
            <a:off x="755576" y="1272723"/>
            <a:ext cx="7056784" cy="3416320"/>
          </a:xfrm>
          <a:prstGeom prst="rect">
            <a:avLst/>
          </a:prstGeom>
        </p:spPr>
        <p:txBody>
          <a:bodyPr wrap="square">
            <a:spAutoFit/>
          </a:bodyPr>
          <a:lstStyle/>
          <a:p>
            <a:pPr marL="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作业之间的</a:t>
            </a:r>
            <a:r>
              <a:rPr lang="zh-CN" altLang="en-US" sz="2400" b="1" dirty="0">
                <a:solidFill>
                  <a:srgbClr val="FFFF00"/>
                </a:solidFill>
                <a:latin typeface="+mn-ea"/>
              </a:rPr>
              <a:t>切换和调度</a:t>
            </a:r>
            <a:r>
              <a:rPr lang="zh-CN" altLang="en-US" sz="2400" b="1" dirty="0">
                <a:solidFill>
                  <a:schemeClr val="bg1"/>
                </a:solidFill>
                <a:latin typeface="+mn-ea"/>
              </a:rPr>
              <a:t>成为核心：因为</a:t>
            </a:r>
            <a:r>
              <a:rPr lang="zh-CN" altLang="en-US" sz="2400" b="1" dirty="0" smtClean="0">
                <a:solidFill>
                  <a:schemeClr val="bg1"/>
                </a:solidFill>
                <a:latin typeface="+mn-ea"/>
              </a:rPr>
              <a:t>既有</a:t>
            </a:r>
            <a:r>
              <a:rPr lang="en-US" altLang="zh-CN" sz="2400" b="1" dirty="0" smtClean="0">
                <a:solidFill>
                  <a:schemeClr val="bg1"/>
                </a:solidFill>
                <a:latin typeface="+mn-ea"/>
              </a:rPr>
              <a:t>JOB1 </a:t>
            </a:r>
            <a:r>
              <a:rPr lang="en-US" altLang="zh-CN" sz="2400" b="1" dirty="0">
                <a:solidFill>
                  <a:schemeClr val="bg1"/>
                </a:solidFill>
                <a:latin typeface="+mn-ea"/>
              </a:rPr>
              <a:t>IO</a:t>
            </a:r>
            <a:r>
              <a:rPr lang="zh-CN" altLang="en-US" sz="2400" b="1" dirty="0">
                <a:solidFill>
                  <a:schemeClr val="bg1"/>
                </a:solidFill>
                <a:latin typeface="+mn-ea"/>
              </a:rPr>
              <a:t>任务</a:t>
            </a:r>
            <a:r>
              <a:rPr lang="zh-CN" altLang="en-US" sz="2400" b="1" dirty="0" smtClean="0">
                <a:solidFill>
                  <a:schemeClr val="bg1"/>
                </a:solidFill>
                <a:latin typeface="+mn-ea"/>
              </a:rPr>
              <a:t>，又有</a:t>
            </a:r>
            <a:r>
              <a:rPr lang="en-US" altLang="zh-CN" sz="2400" b="1" dirty="0" smtClean="0">
                <a:solidFill>
                  <a:schemeClr val="bg1"/>
                </a:solidFill>
                <a:latin typeface="+mn-ea"/>
              </a:rPr>
              <a:t>JOB2</a:t>
            </a:r>
            <a:r>
              <a:rPr lang="zh-CN" altLang="en-US" sz="2400" b="1" dirty="0" smtClean="0">
                <a:solidFill>
                  <a:schemeClr val="bg1"/>
                </a:solidFill>
                <a:latin typeface="+mn-ea"/>
              </a:rPr>
              <a:t>计算</a:t>
            </a:r>
            <a:r>
              <a:rPr lang="zh-CN" altLang="en-US" sz="2400" b="1" dirty="0">
                <a:solidFill>
                  <a:schemeClr val="bg1"/>
                </a:solidFill>
                <a:latin typeface="+mn-ea"/>
              </a:rPr>
              <a:t>任务，需要让</a:t>
            </a:r>
            <a:r>
              <a:rPr lang="en-US" altLang="zh-CN" sz="2400" b="1" dirty="0">
                <a:solidFill>
                  <a:schemeClr val="bg1"/>
                </a:solidFill>
                <a:latin typeface="+mn-ea"/>
              </a:rPr>
              <a:t>CPU</a:t>
            </a:r>
            <a:r>
              <a:rPr lang="zh-CN" altLang="en-US" sz="2400" b="1" dirty="0" smtClean="0">
                <a:solidFill>
                  <a:schemeClr val="bg1"/>
                </a:solidFill>
                <a:latin typeface="+mn-ea"/>
              </a:rPr>
              <a:t>忙。</a:t>
            </a:r>
            <a:endParaRPr lang="en-US" altLang="zh-CN" sz="2400" b="1" dirty="0" smtClean="0">
              <a:solidFill>
                <a:schemeClr val="bg1"/>
              </a:solidFill>
              <a:latin typeface="+mn-ea"/>
            </a:endParaRPr>
          </a:p>
          <a:p>
            <a:pPr marL="0" lvl="1" indent="-342900">
              <a:lnSpc>
                <a:spcPct val="150000"/>
              </a:lnSpc>
              <a:buClr>
                <a:srgbClr val="FFFF00"/>
              </a:buClr>
              <a:buFont typeface="Wingdings" panose="05000000000000000000" pitchFamily="2" charset="2"/>
              <a:buChar char="Ø"/>
            </a:pPr>
            <a:r>
              <a:rPr lang="zh-CN" altLang="en-US" sz="2400" b="1" dirty="0" smtClean="0">
                <a:solidFill>
                  <a:schemeClr val="bg1"/>
                </a:solidFill>
                <a:latin typeface="+mn-ea"/>
              </a:rPr>
              <a:t>多进程结构和进程管理概念萌芽！</a:t>
            </a:r>
            <a:endParaRPr lang="en-US" altLang="zh-CN" sz="2400" b="1" dirty="0">
              <a:solidFill>
                <a:schemeClr val="bg1"/>
              </a:solidFill>
              <a:latin typeface="+mn-ea"/>
            </a:endParaRPr>
          </a:p>
          <a:p>
            <a:pPr marL="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典型代表：</a:t>
            </a:r>
            <a:r>
              <a:rPr lang="en-US" altLang="zh-CN" sz="2400" b="1" dirty="0">
                <a:solidFill>
                  <a:srgbClr val="FFFF00"/>
                </a:solidFill>
                <a:latin typeface="+mn-ea"/>
              </a:rPr>
              <a:t>IBM OS/360</a:t>
            </a:r>
            <a:r>
              <a:rPr lang="en-US" altLang="zh-CN" sz="2400" b="1" dirty="0">
                <a:solidFill>
                  <a:schemeClr val="bg1"/>
                </a:solidFill>
                <a:latin typeface="+mn-ea"/>
              </a:rPr>
              <a:t>(360</a:t>
            </a:r>
            <a:r>
              <a:rPr lang="zh-CN" altLang="en-US" sz="2400" b="1" dirty="0">
                <a:solidFill>
                  <a:schemeClr val="bg1"/>
                </a:solidFill>
                <a:latin typeface="+mn-ea"/>
              </a:rPr>
              <a:t>表示</a:t>
            </a:r>
            <a:r>
              <a:rPr lang="zh-CN" altLang="en-US" sz="2400" b="1" dirty="0" smtClean="0">
                <a:solidFill>
                  <a:schemeClr val="bg1"/>
                </a:solidFill>
                <a:latin typeface="+mn-ea"/>
              </a:rPr>
              <a:t>全方位</a:t>
            </a:r>
            <a:r>
              <a:rPr lang="zh-CN" altLang="en-US" sz="2400" b="1" dirty="0">
                <a:solidFill>
                  <a:schemeClr val="bg1"/>
                </a:solidFill>
                <a:latin typeface="+mn-ea"/>
              </a:rPr>
              <a:t>服务</a:t>
            </a:r>
            <a:r>
              <a:rPr lang="en-US" altLang="zh-CN" sz="2400" b="1" dirty="0">
                <a:solidFill>
                  <a:schemeClr val="bg1"/>
                </a:solidFill>
                <a:latin typeface="+mn-ea"/>
              </a:rPr>
              <a:t>) </a:t>
            </a:r>
            <a:r>
              <a:rPr lang="zh-CN" altLang="en-US" sz="2400" b="1" dirty="0">
                <a:solidFill>
                  <a:schemeClr val="bg1"/>
                </a:solidFill>
                <a:latin typeface="+mn-ea"/>
              </a:rPr>
              <a:t>，开发周期</a:t>
            </a:r>
            <a:r>
              <a:rPr lang="en-US" altLang="zh-CN" sz="2400" b="1" dirty="0">
                <a:solidFill>
                  <a:schemeClr val="bg1"/>
                </a:solidFill>
                <a:latin typeface="+mn-ea"/>
              </a:rPr>
              <a:t>5000</a:t>
            </a:r>
            <a:r>
              <a:rPr lang="zh-CN" altLang="en-US" sz="2400" b="1" dirty="0" smtClean="0">
                <a:solidFill>
                  <a:schemeClr val="bg1"/>
                </a:solidFill>
                <a:latin typeface="+mn-ea"/>
              </a:rPr>
              <a:t>个人开发了</a:t>
            </a:r>
            <a:r>
              <a:rPr lang="en-US" altLang="zh-CN" sz="2400" b="1" dirty="0" smtClean="0">
                <a:solidFill>
                  <a:schemeClr val="bg1"/>
                </a:solidFill>
                <a:latin typeface="+mn-ea"/>
              </a:rPr>
              <a:t>1</a:t>
            </a:r>
            <a:r>
              <a:rPr lang="zh-CN" altLang="en-US" sz="2400" b="1" dirty="0" smtClean="0">
                <a:solidFill>
                  <a:schemeClr val="bg1"/>
                </a:solidFill>
                <a:latin typeface="+mn-ea"/>
              </a:rPr>
              <a:t>年（由于这个思路非常复杂，所以开发起来难度很大，</a:t>
            </a:r>
            <a:r>
              <a:rPr lang="en-US" altLang="zh-CN" sz="2400" b="1" dirty="0" smtClean="0">
                <a:solidFill>
                  <a:schemeClr val="bg1"/>
                </a:solidFill>
                <a:latin typeface="+mn-ea"/>
              </a:rPr>
              <a:t>bug</a:t>
            </a:r>
            <a:r>
              <a:rPr lang="zh-CN" altLang="en-US" sz="2400" b="1" dirty="0" smtClean="0">
                <a:solidFill>
                  <a:schemeClr val="bg1"/>
                </a:solidFill>
                <a:latin typeface="+mn-ea"/>
              </a:rPr>
              <a:t>也很多）。 </a:t>
            </a:r>
            <a:endParaRPr lang="zh-CN" altLang="en-US" sz="2400" b="1" dirty="0">
              <a:solidFill>
                <a:schemeClr val="bg1"/>
              </a:solidFill>
              <a:latin typeface="+mn-ea"/>
            </a:endParaRPr>
          </a:p>
        </p:txBody>
      </p:sp>
      <p:sp>
        <p:nvSpPr>
          <p:cNvPr id="29" name="제목 1"/>
          <p:cNvSpPr txBox="1">
            <a:spLocks/>
          </p:cNvSpPr>
          <p:nvPr/>
        </p:nvSpPr>
        <p:spPr>
          <a:xfrm>
            <a:off x="0" y="142858"/>
            <a:ext cx="914400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单处理机多道批处理系统</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IBSYS</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OS/360(1965-1980)</a:t>
            </a:r>
            <a:endParaRPr lang="ko-KR"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2987824" y="1046853"/>
            <a:ext cx="2580614" cy="3348999"/>
          </a:xfrm>
          <a:prstGeom prst="rect">
            <a:avLst/>
          </a:prstGeom>
        </p:spPr>
      </p:pic>
      <p:sp>
        <p:nvSpPr>
          <p:cNvPr id="4" name="圆角矩形标注 3"/>
          <p:cNvSpPr/>
          <p:nvPr/>
        </p:nvSpPr>
        <p:spPr>
          <a:xfrm>
            <a:off x="5868144" y="1281469"/>
            <a:ext cx="1758359" cy="1218273"/>
          </a:xfrm>
          <a:prstGeom prst="wedgeRoundRectCallout">
            <a:avLst>
              <a:gd name="adj1" fmla="val -74225"/>
              <a:gd name="adj2" fmla="val 7837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smtClean="0"/>
              <a:t>面对如此复杂的操作系统，我们犹如史前动物</a:t>
            </a:r>
            <a:endParaRPr lang="zh-CN" altLang="en-US" b="1" dirty="0"/>
          </a:p>
        </p:txBody>
      </p:sp>
    </p:spTree>
    <p:extLst>
      <p:ext uri="{BB962C8B-B14F-4D97-AF65-F5344CB8AC3E}">
        <p14:creationId xmlns:p14="http://schemas.microsoft.com/office/powerpoint/2010/main" val="45332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 name="矩形 1"/>
          <p:cNvSpPr/>
          <p:nvPr/>
        </p:nvSpPr>
        <p:spPr>
          <a:xfrm>
            <a:off x="827584" y="1243575"/>
            <a:ext cx="6984776" cy="3293209"/>
          </a:xfrm>
          <a:prstGeom prst="rect">
            <a:avLst/>
          </a:prstGeom>
        </p:spPr>
        <p:txBody>
          <a:bodyPr wrap="square">
            <a:spAutoFit/>
          </a:bodyPr>
          <a:lstStyle/>
          <a:p>
            <a:pPr marL="0" lvl="1">
              <a:lnSpc>
                <a:spcPct val="130000"/>
              </a:lnSpc>
              <a:buClr>
                <a:srgbClr val="FFFF00"/>
              </a:buClr>
              <a:buFont typeface="Wingdings" panose="05000000000000000000" pitchFamily="2" charset="2"/>
              <a:buChar char="Ø"/>
            </a:pPr>
            <a:r>
              <a:rPr lang="zh-CN" altLang="en-US" sz="2000" b="1" dirty="0">
                <a:solidFill>
                  <a:schemeClr val="bg1"/>
                </a:solidFill>
                <a:latin typeface="+mn-ea"/>
              </a:rPr>
              <a:t>在批处理系统中采用多道程序设计技术，就形成了</a:t>
            </a:r>
            <a:r>
              <a:rPr lang="zh-CN" altLang="en-US" sz="2000" b="1" dirty="0">
                <a:solidFill>
                  <a:srgbClr val="FFFF00"/>
                </a:solidFill>
                <a:latin typeface="+mn-ea"/>
              </a:rPr>
              <a:t>多道批处理系统</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nSpc>
                <a:spcPct val="130000"/>
              </a:lnSpc>
              <a:buClr>
                <a:srgbClr val="FFFF00"/>
              </a:buClr>
              <a:buFont typeface="Wingdings" panose="05000000000000000000" pitchFamily="2" charset="2"/>
              <a:buChar char="Ø"/>
            </a:pPr>
            <a:r>
              <a:rPr lang="zh-CN" altLang="en-US" sz="2000" b="1" dirty="0" smtClean="0">
                <a:solidFill>
                  <a:schemeClr val="bg1"/>
                </a:solidFill>
                <a:latin typeface="+mn-ea"/>
              </a:rPr>
              <a:t>要</a:t>
            </a:r>
            <a:r>
              <a:rPr lang="zh-CN" altLang="en-US" sz="2000" b="1" dirty="0">
                <a:solidFill>
                  <a:srgbClr val="FFFF00"/>
                </a:solidFill>
                <a:latin typeface="+mn-ea"/>
              </a:rPr>
              <a:t>处理</a:t>
            </a:r>
            <a:r>
              <a:rPr lang="zh-CN" altLang="en-US" sz="2000" b="1" dirty="0">
                <a:solidFill>
                  <a:schemeClr val="bg1"/>
                </a:solidFill>
                <a:latin typeface="+mn-ea"/>
              </a:rPr>
              <a:t>的许多</a:t>
            </a:r>
            <a:r>
              <a:rPr lang="zh-CN" altLang="en-US" sz="2000" b="1" dirty="0">
                <a:solidFill>
                  <a:srgbClr val="FFFF00"/>
                </a:solidFill>
                <a:latin typeface="+mn-ea"/>
              </a:rPr>
              <a:t>作业</a:t>
            </a:r>
            <a:r>
              <a:rPr lang="zh-CN" altLang="en-US" sz="2000" b="1" dirty="0">
                <a:solidFill>
                  <a:schemeClr val="bg1"/>
                </a:solidFill>
                <a:latin typeface="+mn-ea"/>
              </a:rPr>
              <a:t>存放在</a:t>
            </a:r>
            <a:r>
              <a:rPr lang="zh-CN" altLang="en-US" sz="2000" b="1" dirty="0">
                <a:solidFill>
                  <a:srgbClr val="FFFF00"/>
                </a:solidFill>
                <a:latin typeface="+mn-ea"/>
              </a:rPr>
              <a:t>外部存储器</a:t>
            </a:r>
            <a:r>
              <a:rPr lang="zh-CN" altLang="en-US" sz="2000" b="1" dirty="0">
                <a:solidFill>
                  <a:schemeClr val="bg1"/>
                </a:solidFill>
                <a:latin typeface="+mn-ea"/>
              </a:rPr>
              <a:t>中，形成</a:t>
            </a:r>
            <a:r>
              <a:rPr lang="zh-CN" altLang="en-US" sz="2000" b="1" dirty="0">
                <a:solidFill>
                  <a:srgbClr val="FFFF00"/>
                </a:solidFill>
                <a:latin typeface="+mn-ea"/>
              </a:rPr>
              <a:t>作业队列</a:t>
            </a:r>
            <a:r>
              <a:rPr lang="zh-CN" altLang="en-US" sz="2000" b="1" dirty="0">
                <a:solidFill>
                  <a:schemeClr val="bg1"/>
                </a:solidFill>
                <a:latin typeface="+mn-ea"/>
              </a:rPr>
              <a:t>，等待运行。当需要调入作业时，将由操作系统中的作业调度程序对外存中的一批作业，根据其</a:t>
            </a:r>
            <a:r>
              <a:rPr lang="zh-CN" altLang="en-US" sz="2000" b="1" dirty="0">
                <a:solidFill>
                  <a:srgbClr val="FFFF00"/>
                </a:solidFill>
                <a:latin typeface="+mn-ea"/>
              </a:rPr>
              <a:t>对资源的要求和一定的调度原则</a:t>
            </a:r>
            <a:r>
              <a:rPr lang="zh-CN" altLang="en-US" sz="2000" b="1" dirty="0">
                <a:solidFill>
                  <a:schemeClr val="bg1"/>
                </a:solidFill>
                <a:latin typeface="+mn-ea"/>
              </a:rPr>
              <a:t>，</a:t>
            </a:r>
            <a:r>
              <a:rPr lang="zh-CN" altLang="en-US" sz="2000" b="1" dirty="0">
                <a:solidFill>
                  <a:srgbClr val="FFFF00"/>
                </a:solidFill>
                <a:latin typeface="+mn-ea"/>
              </a:rPr>
              <a:t>调几个作业进入内存</a:t>
            </a:r>
            <a:r>
              <a:rPr lang="zh-CN" altLang="en-US" sz="2000" b="1" dirty="0">
                <a:solidFill>
                  <a:schemeClr val="bg1"/>
                </a:solidFill>
                <a:latin typeface="+mn-ea"/>
              </a:rPr>
              <a:t>，让它们交替运行。当某个作业完成，然后再调入一个或几个作业。这种处理方式，在内存中总是同时存在几道程序，系统资源得到比较充分的利用。</a:t>
            </a:r>
          </a:p>
        </p:txBody>
      </p:sp>
      <p:sp>
        <p:nvSpPr>
          <p:cNvPr id="29" name="제목 1"/>
          <p:cNvSpPr txBox="1">
            <a:spLocks/>
          </p:cNvSpPr>
          <p:nvPr/>
        </p:nvSpPr>
        <p:spPr>
          <a:xfrm>
            <a:off x="0" y="142858"/>
            <a:ext cx="914400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单处理机多道批处理系统</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IBSYS</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OS/360(1965-1980</a:t>
            </a:r>
            <a:r>
              <a:rPr lang="en-US" altLang="zh-CN" sz="2800" dirty="0"/>
              <a:t>)</a:t>
            </a:r>
            <a:endParaRPr lang="ko-KR"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90058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3414" y="1766977"/>
            <a:ext cx="1114232" cy="494079"/>
          </a:xfrm>
          <a:prstGeom prst="rect">
            <a:avLst/>
          </a:prstGeom>
          <a:gradFill flip="none" rotWithShape="1">
            <a:gsLst>
              <a:gs pos="42000">
                <a:sysClr val="windowText" lastClr="000000">
                  <a:lumMod val="65000"/>
                  <a:lumOff val="35000"/>
                </a:sysClr>
              </a:gs>
              <a:gs pos="100000">
                <a:sysClr val="window" lastClr="FFFFFF"/>
              </a:gs>
            </a:gsLst>
            <a:lin ang="8100000" scaled="1"/>
            <a:tileRect/>
          </a:gradFill>
          <a:ln w="25400" cap="flat" cmpd="sng" algn="ctr">
            <a:solidFill>
              <a:sysClr val="window" lastClr="FFFFFF"/>
            </a:solidFill>
            <a:prstDash val="solid"/>
          </a:ln>
          <a:effectLst/>
          <a:scene3d>
            <a:camera prst="perspectiveFront" fov="0">
              <a:rot lat="20525590" lon="12024257"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1" name="矩形 10"/>
          <p:cNvSpPr/>
          <p:nvPr/>
        </p:nvSpPr>
        <p:spPr>
          <a:xfrm>
            <a:off x="2451914" y="1526714"/>
            <a:ext cx="762552" cy="874939"/>
          </a:xfrm>
          <a:prstGeom prst="rect">
            <a:avLst/>
          </a:prstGeom>
          <a:gradFill flip="none" rotWithShape="1">
            <a:gsLst>
              <a:gs pos="0">
                <a:sysClr val="windowText" lastClr="000000">
                  <a:lumMod val="65000"/>
                  <a:lumOff val="35000"/>
                </a:sysClr>
              </a:gs>
              <a:gs pos="100000">
                <a:sysClr val="window" lastClr="FFFFFF">
                  <a:lumMod val="50000"/>
                </a:sysClr>
              </a:gs>
            </a:gsLst>
            <a:lin ang="13500000" scaled="1"/>
            <a:tileRect/>
          </a:gradFill>
          <a:ln w="25400" cap="flat" cmpd="sng" algn="ctr">
            <a:solidFill>
              <a:sysClr val="window" lastClr="FFFFFF"/>
            </a:solidFill>
            <a:prstDash val="solid"/>
          </a:ln>
          <a:effectLst/>
          <a:scene3d>
            <a:camera prst="perspectiveFront" fov="0">
              <a:rot lat="20525593" lon="6624279" rev="21390797"/>
            </a:camera>
            <a:lightRig rig="balanced" dir="t"/>
          </a:scene3d>
          <a:sp3d z="158750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2" name="矩形 11"/>
          <p:cNvSpPr/>
          <p:nvPr/>
        </p:nvSpPr>
        <p:spPr>
          <a:xfrm>
            <a:off x="1286097" y="2279670"/>
            <a:ext cx="1114232" cy="494079"/>
          </a:xfrm>
          <a:prstGeom prst="rect">
            <a:avLst/>
          </a:prstGeom>
          <a:gradFill flip="none" rotWithShape="1">
            <a:gsLst>
              <a:gs pos="0">
                <a:srgbClr val="D9D9D9"/>
              </a:gs>
              <a:gs pos="100000">
                <a:sysClr val="window" lastClr="FFFFFF"/>
              </a:gs>
            </a:gsLst>
            <a:lin ang="2700000" scaled="1"/>
            <a:tileRect/>
          </a:gradFill>
          <a:ln w="25400" cap="flat" cmpd="sng" algn="ctr">
            <a:solidFill>
              <a:sysClr val="window" lastClr="FFFFFF"/>
            </a:solidFill>
            <a:prstDash val="solid"/>
          </a:ln>
          <a:effectLst/>
          <a:scene3d>
            <a:camera prst="perspectiveFront" fov="0">
              <a:rot lat="17813354" lon="7969249" rev="13616452"/>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3" name="矩形 12"/>
          <p:cNvSpPr/>
          <p:nvPr/>
        </p:nvSpPr>
        <p:spPr>
          <a:xfrm>
            <a:off x="631844" y="1660102"/>
            <a:ext cx="748151" cy="862803"/>
          </a:xfrm>
          <a:prstGeom prst="rect">
            <a:avLst/>
          </a:prstGeom>
          <a:gradFill>
            <a:gsLst>
              <a:gs pos="27000">
                <a:srgbClr val="D9D9D9"/>
              </a:gs>
              <a:gs pos="100000">
                <a:srgbClr val="D9D9D9"/>
              </a:gs>
              <a:gs pos="62000">
                <a:srgbClr val="EBEBEB"/>
              </a:gs>
            </a:gsLst>
            <a:lin ang="2700000" scaled="1"/>
          </a:gradFill>
          <a:ln w="25400" cap="flat" cmpd="sng" algn="ctr">
            <a:solidFill>
              <a:sysClr val="window" lastClr="FFFFFF"/>
            </a:solidFill>
            <a:prstDash val="solid"/>
          </a:ln>
          <a:effectLst/>
          <a:scene3d>
            <a:camera prst="perspectiveFront" fov="0">
              <a:rot lat="20525610" lon="17424067" rev="21390831"/>
            </a:camera>
            <a:lightRig rig="balanced" dir="t"/>
          </a:scene3d>
          <a:sp3d z="16065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9" name="任意多边形 28"/>
          <p:cNvSpPr/>
          <p:nvPr/>
        </p:nvSpPr>
        <p:spPr>
          <a:xfrm>
            <a:off x="1758351" y="1279141"/>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0" name="任意多边形 29"/>
          <p:cNvSpPr/>
          <p:nvPr/>
        </p:nvSpPr>
        <p:spPr>
          <a:xfrm>
            <a:off x="1755081" y="1221243"/>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1" name="任意多边形 30"/>
          <p:cNvSpPr/>
          <p:nvPr/>
        </p:nvSpPr>
        <p:spPr>
          <a:xfrm>
            <a:off x="1841407" y="1017434"/>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2" name="任意多边形 31"/>
          <p:cNvSpPr/>
          <p:nvPr/>
        </p:nvSpPr>
        <p:spPr>
          <a:xfrm>
            <a:off x="1763676" y="1316898"/>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6" name="任意多边形 35"/>
          <p:cNvSpPr/>
          <p:nvPr/>
        </p:nvSpPr>
        <p:spPr>
          <a:xfrm>
            <a:off x="1766959" y="1267282"/>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7" name="任意多边形 36"/>
          <p:cNvSpPr/>
          <p:nvPr/>
        </p:nvSpPr>
        <p:spPr>
          <a:xfrm>
            <a:off x="1763689" y="1209384"/>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8" name="任意多边形 37"/>
          <p:cNvSpPr/>
          <p:nvPr/>
        </p:nvSpPr>
        <p:spPr>
          <a:xfrm>
            <a:off x="1850015" y="1005576"/>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9" name="任意多边形 38"/>
          <p:cNvSpPr/>
          <p:nvPr/>
        </p:nvSpPr>
        <p:spPr>
          <a:xfrm>
            <a:off x="1772284" y="1305039"/>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42" name="椭圆 41"/>
          <p:cNvSpPr/>
          <p:nvPr/>
        </p:nvSpPr>
        <p:spPr>
          <a:xfrm>
            <a:off x="1918286" y="2151259"/>
            <a:ext cx="198304" cy="151610"/>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3" name="[动画大师]_Oval 47"/>
          <p:cNvSpPr/>
          <p:nvPr/>
        </p:nvSpPr>
        <p:spPr>
          <a:xfrm>
            <a:off x="3741882" y="2355727"/>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4" name="椭圆 43"/>
          <p:cNvSpPr/>
          <p:nvPr/>
        </p:nvSpPr>
        <p:spPr>
          <a:xfrm>
            <a:off x="6041732" y="1437625"/>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0" name="矩形 39"/>
          <p:cNvSpPr/>
          <p:nvPr/>
        </p:nvSpPr>
        <p:spPr>
          <a:xfrm>
            <a:off x="1571604" y="1785932"/>
            <a:ext cx="1143253" cy="862803"/>
          </a:xfrm>
          <a:prstGeom prst="rect">
            <a:avLst/>
          </a:prstGeom>
          <a:solidFill>
            <a:sysClr val="window" lastClr="FFFFFF"/>
          </a:solidFill>
          <a:ln w="25400" cap="flat" cmpd="sng" algn="ctr">
            <a:solidFill>
              <a:sysClr val="window" lastClr="FFFFFF"/>
            </a:solidFill>
            <a:prstDash val="solid"/>
          </a:ln>
          <a:effectLst/>
          <a:scene3d>
            <a:camera prst="perspectiveFront" fov="0">
              <a:rot lat="20525597" lon="1224244"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8" name="TextBox 47"/>
          <p:cNvSpPr txBox="1"/>
          <p:nvPr/>
        </p:nvSpPr>
        <p:spPr>
          <a:xfrm>
            <a:off x="1043608" y="1571618"/>
            <a:ext cx="1452698" cy="523220"/>
          </a:xfrm>
          <a:prstGeom prst="rect">
            <a:avLst/>
          </a:prstGeom>
          <a:noFill/>
        </p:spPr>
        <p:txBody>
          <a:bodyPr wrap="square" rtlCol="0">
            <a:spAutoFit/>
          </a:bodyPr>
          <a:lstStyle/>
          <a:p>
            <a:pPr algn="ctr"/>
            <a:r>
              <a:rPr lang="zh-CN" altLang="en-US" sz="2800" b="1" dirty="0" smtClean="0">
                <a:solidFill>
                  <a:srgbClr val="FF0000"/>
                </a:solidFill>
                <a:latin typeface="Times New Roman" pitchFamily="18" charset="0"/>
                <a:cs typeface="Times New Roman" pitchFamily="18" charset="0"/>
              </a:rPr>
              <a:t>发展</a:t>
            </a:r>
            <a:endParaRPr lang="zh-CN" altLang="en-US" sz="2800" b="1" dirty="0">
              <a:solidFill>
                <a:srgbClr val="FF0000"/>
              </a:solidFill>
              <a:latin typeface="Times New Roman" pitchFamily="18" charset="0"/>
              <a:cs typeface="Times New Roman" pitchFamily="18" charset="0"/>
            </a:endParaRPr>
          </a:p>
        </p:txBody>
      </p:sp>
      <p:sp>
        <p:nvSpPr>
          <p:cNvPr id="46" name="矩形标注 45"/>
          <p:cNvSpPr/>
          <p:nvPr/>
        </p:nvSpPr>
        <p:spPr>
          <a:xfrm>
            <a:off x="1402574" y="3160571"/>
            <a:ext cx="2089306" cy="566476"/>
          </a:xfrm>
          <a:prstGeom prst="wedgeRectCallout">
            <a:avLst>
              <a:gd name="adj1" fmla="val 30263"/>
              <a:gd name="adj2" fmla="val -96393"/>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手工操作阶段</a:t>
            </a:r>
          </a:p>
        </p:txBody>
      </p:sp>
      <p:sp>
        <p:nvSpPr>
          <p:cNvPr id="41" name="矩形标注 40"/>
          <p:cNvSpPr/>
          <p:nvPr/>
        </p:nvSpPr>
        <p:spPr>
          <a:xfrm>
            <a:off x="3687811" y="3492061"/>
            <a:ext cx="1976707" cy="567813"/>
          </a:xfrm>
          <a:prstGeom prst="wedgeRectCallout">
            <a:avLst>
              <a:gd name="adj1" fmla="val 12407"/>
              <a:gd name="adj2" fmla="val -146780"/>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000"/>
              </a:lnSpc>
              <a:buClr>
                <a:schemeClr val="accent2">
                  <a:lumMod val="75000"/>
                </a:schemeClr>
              </a:buClr>
              <a:defRPr/>
            </a:pPr>
            <a:r>
              <a:rPr lang="zh-CN" altLang="en-US" sz="2400" b="1" dirty="0">
                <a:latin typeface="+mn-ea"/>
              </a:rPr>
              <a:t>早期批处理</a:t>
            </a:r>
            <a:endParaRPr lang="zh-CN" altLang="en-US" sz="2400" b="1" dirty="0" smtClean="0">
              <a:latin typeface="+mn-ea"/>
            </a:endParaRPr>
          </a:p>
        </p:txBody>
      </p:sp>
      <p:sp>
        <p:nvSpPr>
          <p:cNvPr id="47" name="矩形标注 46"/>
          <p:cNvSpPr/>
          <p:nvPr/>
        </p:nvSpPr>
        <p:spPr>
          <a:xfrm>
            <a:off x="3642012" y="1626561"/>
            <a:ext cx="2089306" cy="566476"/>
          </a:xfrm>
          <a:prstGeom prst="wedgeRectCallout">
            <a:avLst>
              <a:gd name="adj1" fmla="val 62324"/>
              <a:gd name="adj2" fmla="val 57518"/>
            </a:avLst>
          </a:prstGeom>
          <a:ln/>
        </p:spPr>
        <p:style>
          <a:lnRef idx="1">
            <a:schemeClr val="accent3"/>
          </a:lnRef>
          <a:fillRef idx="2">
            <a:schemeClr val="accent3"/>
          </a:fillRef>
          <a:effectRef idx="1">
            <a:schemeClr val="accent3"/>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分时操作阶段</a:t>
            </a:r>
          </a:p>
        </p:txBody>
      </p:sp>
    </p:spTree>
    <p:extLst>
      <p:ext uri="{BB962C8B-B14F-4D97-AF65-F5344CB8AC3E}">
        <p14:creationId xmlns:p14="http://schemas.microsoft.com/office/powerpoint/2010/main" val="275034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down)">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75134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分时操作系统</a:t>
            </a:r>
            <a:r>
              <a:rPr lang="en-US" altLang="zh-CN"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a:t>
            </a:r>
            <a:r>
              <a:rPr lang="zh-CN"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MULTICS(1965-1980)</a:t>
            </a: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5" name="矩形 34"/>
          <p:cNvSpPr/>
          <p:nvPr/>
        </p:nvSpPr>
        <p:spPr>
          <a:xfrm>
            <a:off x="827584" y="1243575"/>
            <a:ext cx="6984776" cy="435697"/>
          </a:xfrm>
          <a:prstGeom prst="rect">
            <a:avLst/>
          </a:prstGeom>
        </p:spPr>
        <p:txBody>
          <a:bodyPr wrap="square">
            <a:spAutoFit/>
          </a:bodyPr>
          <a:lstStyle/>
          <a:p>
            <a:pPr marL="0" lvl="1" indent="-342900">
              <a:lnSpc>
                <a:spcPct val="130000"/>
              </a:lnSpc>
              <a:buClr>
                <a:srgbClr val="FFFF00"/>
              </a:buClr>
              <a:buFont typeface="Wingdings" panose="05000000000000000000" pitchFamily="2" charset="2"/>
              <a:buChar char="Ø"/>
            </a:pPr>
            <a:r>
              <a:rPr lang="zh-CN" altLang="en-US" sz="2000" b="1" dirty="0">
                <a:solidFill>
                  <a:schemeClr val="bg1"/>
                </a:solidFill>
                <a:latin typeface="+mn-ea"/>
              </a:rPr>
              <a:t>计算机进入多个行业，使用人数</a:t>
            </a:r>
            <a:r>
              <a:rPr lang="zh-CN" altLang="en-US" sz="2000" b="1" dirty="0" smtClean="0">
                <a:solidFill>
                  <a:schemeClr val="bg1"/>
                </a:solidFill>
                <a:latin typeface="+mn-ea"/>
              </a:rPr>
              <a:t>增加</a:t>
            </a:r>
            <a:endParaRPr lang="en-US" altLang="zh-CN" sz="2000" b="1" dirty="0">
              <a:solidFill>
                <a:schemeClr val="bg1"/>
              </a:solidFill>
              <a:latin typeface="+mn-ea"/>
            </a:endParaRPr>
          </a:p>
        </p:txBody>
      </p:sp>
      <p:pic>
        <p:nvPicPr>
          <p:cNvPr id="2" name="图片 1"/>
          <p:cNvPicPr>
            <a:picLocks noChangeAspect="1"/>
          </p:cNvPicPr>
          <p:nvPr/>
        </p:nvPicPr>
        <p:blipFill rotWithShape="1">
          <a:blip r:embed="rId2"/>
          <a:srcRect t="16413"/>
          <a:stretch/>
        </p:blipFill>
        <p:spPr>
          <a:xfrm>
            <a:off x="2195736" y="1851670"/>
            <a:ext cx="3543607" cy="515956"/>
          </a:xfrm>
          <a:prstGeom prst="rect">
            <a:avLst/>
          </a:prstGeom>
        </p:spPr>
      </p:pic>
      <p:sp>
        <p:nvSpPr>
          <p:cNvPr id="36" name="矩形 35"/>
          <p:cNvSpPr/>
          <p:nvPr/>
        </p:nvSpPr>
        <p:spPr>
          <a:xfrm>
            <a:off x="899592" y="2562998"/>
            <a:ext cx="6984776" cy="1692771"/>
          </a:xfrm>
          <a:prstGeom prst="rect">
            <a:avLst/>
          </a:prstGeom>
        </p:spPr>
        <p:txBody>
          <a:bodyPr wrap="square">
            <a:spAutoFit/>
          </a:bodyPr>
          <a:lstStyle/>
          <a:p>
            <a:pPr marL="0" lvl="1" indent="-342900">
              <a:lnSpc>
                <a:spcPct val="130000"/>
              </a:lnSpc>
              <a:buClr>
                <a:srgbClr val="FFFF00"/>
              </a:buClr>
              <a:buFont typeface="Wingdings" panose="05000000000000000000" pitchFamily="2" charset="2"/>
              <a:buChar char="Ø"/>
            </a:pPr>
            <a:r>
              <a:rPr lang="zh-CN" altLang="en-US" sz="2000" b="1" dirty="0">
                <a:solidFill>
                  <a:schemeClr val="bg1"/>
                </a:solidFill>
                <a:latin typeface="+mn-ea"/>
              </a:rPr>
              <a:t>如果每个人启动一个作业，作业之间快速切换 </a:t>
            </a:r>
            <a:endParaRPr lang="en-US" altLang="zh-CN" sz="2000" b="1" dirty="0" smtClean="0">
              <a:solidFill>
                <a:schemeClr val="bg1"/>
              </a:solidFill>
              <a:latin typeface="+mn-ea"/>
            </a:endParaRPr>
          </a:p>
          <a:p>
            <a:pPr marL="0" lvl="1" indent="-342900">
              <a:lnSpc>
                <a:spcPct val="130000"/>
              </a:lnSpc>
              <a:buClr>
                <a:srgbClr val="FFFF00"/>
              </a:buClr>
              <a:buFont typeface="Wingdings" panose="05000000000000000000" pitchFamily="2" charset="2"/>
              <a:buChar char="Ø"/>
            </a:pPr>
            <a:r>
              <a:rPr lang="zh-CN" altLang="en-US" sz="2000" b="1" dirty="0" smtClean="0">
                <a:solidFill>
                  <a:srgbClr val="FFFF00"/>
                </a:solidFill>
                <a:latin typeface="+mn-ea"/>
              </a:rPr>
              <a:t>分时系统</a:t>
            </a:r>
            <a:r>
              <a:rPr lang="en-US" altLang="zh-CN" sz="2000" b="1" dirty="0">
                <a:solidFill>
                  <a:srgbClr val="FFFF00"/>
                </a:solidFill>
                <a:latin typeface="+mn-ea"/>
              </a:rPr>
              <a:t>(timesharing) </a:t>
            </a:r>
            <a:endParaRPr lang="en-US" altLang="zh-CN" sz="2000" b="1" dirty="0" smtClean="0">
              <a:solidFill>
                <a:srgbClr val="FFFF00"/>
              </a:solidFill>
              <a:latin typeface="+mn-ea"/>
            </a:endParaRPr>
          </a:p>
          <a:p>
            <a:pPr marL="0" lvl="1" indent="-342900">
              <a:lnSpc>
                <a:spcPct val="130000"/>
              </a:lnSpc>
              <a:buClr>
                <a:srgbClr val="FFFF00"/>
              </a:buClr>
              <a:buFont typeface="Wingdings" panose="05000000000000000000" pitchFamily="2" charset="2"/>
              <a:buChar char="Ø"/>
            </a:pPr>
            <a:r>
              <a:rPr lang="zh-CN" altLang="en-US" sz="2000" b="1" dirty="0" smtClean="0">
                <a:solidFill>
                  <a:schemeClr val="bg1"/>
                </a:solidFill>
                <a:latin typeface="+mn-ea"/>
              </a:rPr>
              <a:t>代表</a:t>
            </a:r>
            <a:r>
              <a:rPr lang="zh-CN" altLang="en-US" sz="2000" b="1" dirty="0">
                <a:solidFill>
                  <a:schemeClr val="bg1"/>
                </a:solidFill>
                <a:latin typeface="+mn-ea"/>
              </a:rPr>
              <a:t>：</a:t>
            </a:r>
            <a:r>
              <a:rPr lang="en-US" altLang="zh-CN" sz="2000" b="1" dirty="0">
                <a:solidFill>
                  <a:schemeClr val="bg1"/>
                </a:solidFill>
                <a:latin typeface="+mn-ea"/>
              </a:rPr>
              <a:t>MIT MULTICS (</a:t>
            </a:r>
            <a:r>
              <a:rPr lang="en-US" altLang="zh-CN" sz="2000" b="1" dirty="0" err="1">
                <a:solidFill>
                  <a:schemeClr val="bg1"/>
                </a:solidFill>
                <a:latin typeface="+mn-ea"/>
              </a:rPr>
              <a:t>MULTiplexed</a:t>
            </a:r>
            <a:r>
              <a:rPr lang="en-US" altLang="zh-CN" sz="2000" b="1" dirty="0">
                <a:solidFill>
                  <a:schemeClr val="bg1"/>
                </a:solidFill>
                <a:latin typeface="+mn-ea"/>
              </a:rPr>
              <a:t> Information and Computer Service)</a:t>
            </a:r>
          </a:p>
        </p:txBody>
      </p:sp>
    </p:spTree>
    <p:extLst>
      <p:ext uri="{BB962C8B-B14F-4D97-AF65-F5344CB8AC3E}">
        <p14:creationId xmlns:p14="http://schemas.microsoft.com/office/powerpoint/2010/main" val="399421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wipe(left)">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
                                            <p:txEl>
                                              <p:pRg st="0" end="0"/>
                                            </p:txEl>
                                          </p:spTgt>
                                        </p:tgtEl>
                                        <p:attrNameLst>
                                          <p:attrName>style.visibility</p:attrName>
                                        </p:attrNameLst>
                                      </p:cBhvr>
                                      <p:to>
                                        <p:strVal val="visible"/>
                                      </p:to>
                                    </p:set>
                                    <p:animEffect transition="in" filter="wipe(left)">
                                      <p:cBhvr>
                                        <p:cTn id="17" dur="500"/>
                                        <p:tgtEl>
                                          <p:spTgt spid="3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xEl>
                                              <p:pRg st="1" end="1"/>
                                            </p:txEl>
                                          </p:spTgt>
                                        </p:tgtEl>
                                        <p:attrNameLst>
                                          <p:attrName>style.visibility</p:attrName>
                                        </p:attrNameLst>
                                      </p:cBhvr>
                                      <p:to>
                                        <p:strVal val="visible"/>
                                      </p:to>
                                    </p:set>
                                    <p:animEffect transition="in" filter="wipe(left)">
                                      <p:cBhvr>
                                        <p:cTn id="22" dur="500"/>
                                        <p:tgtEl>
                                          <p:spTgt spid="3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
                                            <p:txEl>
                                              <p:pRg st="2" end="2"/>
                                            </p:txEl>
                                          </p:spTgt>
                                        </p:tgtEl>
                                        <p:attrNameLst>
                                          <p:attrName>style.visibility</p:attrName>
                                        </p:attrNameLst>
                                      </p:cBhvr>
                                      <p:to>
                                        <p:strVal val="visible"/>
                                      </p:to>
                                    </p:set>
                                    <p:animEffect transition="in" filter="wipe(left)">
                                      <p:cBhvr>
                                        <p:cTn id="2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75134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分时操作系统</a:t>
            </a:r>
            <a:r>
              <a:rPr lang="en-US" altLang="zh-CN" sz="32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OS/360</a:t>
            </a:r>
            <a:r>
              <a:rPr lang="zh-CN"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MULTICS(1965-1980)</a:t>
            </a:r>
            <a:endParaRPr lang="ko-KR" altLang="en-US"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5" name="组合 4"/>
          <p:cNvGrpSpPr/>
          <p:nvPr/>
        </p:nvGrpSpPr>
        <p:grpSpPr>
          <a:xfrm>
            <a:off x="3339088" y="1130027"/>
            <a:ext cx="2025000" cy="1323403"/>
            <a:chOff x="3339088" y="1130027"/>
            <a:chExt cx="2025000" cy="1323403"/>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088" y="1130027"/>
              <a:ext cx="1990080" cy="1323403"/>
            </a:xfrm>
            <a:prstGeom prst="rect">
              <a:avLst/>
            </a:prstGeom>
          </p:spPr>
        </p:pic>
        <p:sp>
          <p:nvSpPr>
            <p:cNvPr id="4" name="文本框 3"/>
            <p:cNvSpPr txBox="1"/>
            <p:nvPr/>
          </p:nvSpPr>
          <p:spPr>
            <a:xfrm>
              <a:off x="4427984" y="1986394"/>
              <a:ext cx="936104" cy="369332"/>
            </a:xfrm>
            <a:prstGeom prst="rect">
              <a:avLst/>
            </a:prstGeom>
            <a:noFill/>
          </p:spPr>
          <p:txBody>
            <a:bodyPr wrap="square" rtlCol="0">
              <a:spAutoFit/>
            </a:bodyPr>
            <a:lstStyle/>
            <a:p>
              <a:r>
                <a:rPr lang="zh-CN" altLang="en-US" b="1" dirty="0" smtClean="0">
                  <a:solidFill>
                    <a:srgbClr val="FF0000"/>
                  </a:solidFill>
                </a:rPr>
                <a:t>处理机</a:t>
              </a:r>
              <a:endParaRPr lang="zh-CN" altLang="en-US" b="1" dirty="0">
                <a:solidFill>
                  <a:srgbClr val="FF0000"/>
                </a:solidFill>
              </a:endParaRPr>
            </a:p>
          </p:txBody>
        </p:sp>
      </p:gr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9592" y="2171060"/>
            <a:ext cx="1028526" cy="832823"/>
          </a:xfrm>
          <a:prstGeom prst="rect">
            <a:avLst/>
          </a:prstGeom>
        </p:spPr>
      </p:pic>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9792" y="3632325"/>
            <a:ext cx="1028526" cy="832823"/>
          </a:xfrm>
          <a:prstGeom prst="rect">
            <a:avLst/>
          </a:prstGeom>
        </p:spPr>
      </p:pic>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4905" y="3579862"/>
            <a:ext cx="1028526" cy="832823"/>
          </a:xfrm>
          <a:prstGeom prst="rect">
            <a:avLst/>
          </a:prstGeom>
        </p:spPr>
      </p:pic>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9939" y="2177868"/>
            <a:ext cx="1028526" cy="832823"/>
          </a:xfrm>
          <a:prstGeom prst="rect">
            <a:avLst/>
          </a:prstGeom>
        </p:spPr>
      </p:pic>
      <p:sp>
        <p:nvSpPr>
          <p:cNvPr id="10" name="左箭头 9"/>
          <p:cNvSpPr/>
          <p:nvPr/>
        </p:nvSpPr>
        <p:spPr>
          <a:xfrm rot="20350551">
            <a:off x="2040055" y="2093817"/>
            <a:ext cx="1275730" cy="509489"/>
          </a:xfrm>
          <a:prstGeom prst="lef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b="1" dirty="0" smtClean="0"/>
              <a:t>时间片</a:t>
            </a:r>
            <a:endParaRPr lang="zh-CN" altLang="en-US" b="1" dirty="0"/>
          </a:p>
        </p:txBody>
      </p:sp>
      <p:sp>
        <p:nvSpPr>
          <p:cNvPr id="32" name="左箭头 31"/>
          <p:cNvSpPr/>
          <p:nvPr/>
        </p:nvSpPr>
        <p:spPr>
          <a:xfrm rot="17139646">
            <a:off x="2855384" y="2776768"/>
            <a:ext cx="1275730" cy="509489"/>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a:t>时间片</a:t>
            </a:r>
            <a:endParaRPr lang="zh-CN" altLang="en-US" b="1" dirty="0"/>
          </a:p>
        </p:txBody>
      </p:sp>
      <p:sp>
        <p:nvSpPr>
          <p:cNvPr id="33" name="左箭头 32"/>
          <p:cNvSpPr/>
          <p:nvPr/>
        </p:nvSpPr>
        <p:spPr>
          <a:xfrm rot="15025184">
            <a:off x="4590550" y="2741516"/>
            <a:ext cx="1275730" cy="509489"/>
          </a:xfrm>
          <a:prstGeom prst="lef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b="1" dirty="0"/>
              <a:t>时间片</a:t>
            </a:r>
          </a:p>
        </p:txBody>
      </p:sp>
      <p:sp>
        <p:nvSpPr>
          <p:cNvPr id="34" name="左箭头 33"/>
          <p:cNvSpPr/>
          <p:nvPr/>
        </p:nvSpPr>
        <p:spPr>
          <a:xfrm rot="12812444">
            <a:off x="5183724" y="2093816"/>
            <a:ext cx="1275730" cy="50948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b="1" dirty="0"/>
              <a:t>时间片</a:t>
            </a:r>
          </a:p>
        </p:txBody>
      </p:sp>
      <p:sp>
        <p:nvSpPr>
          <p:cNvPr id="11" name="文本框 10"/>
          <p:cNvSpPr txBox="1"/>
          <p:nvPr/>
        </p:nvSpPr>
        <p:spPr>
          <a:xfrm>
            <a:off x="5883701" y="3075806"/>
            <a:ext cx="1928659" cy="1477328"/>
          </a:xfrm>
          <a:prstGeom prst="rect">
            <a:avLst/>
          </a:prstGeom>
          <a:noFill/>
        </p:spPr>
        <p:txBody>
          <a:bodyPr wrap="square" rtlCol="0">
            <a:spAutoFit/>
          </a:bodyPr>
          <a:lstStyle/>
          <a:p>
            <a:r>
              <a:rPr lang="zh-CN" altLang="en-US" b="1" dirty="0" smtClean="0">
                <a:solidFill>
                  <a:srgbClr val="FFFF00"/>
                </a:solidFill>
              </a:rPr>
              <a:t>多用户分时操作系统是当今计算机操作系统中最普遍使用的一类操作系统</a:t>
            </a:r>
            <a:endParaRPr lang="zh-CN" altLang="en-US" b="1" dirty="0">
              <a:solidFill>
                <a:srgbClr val="FFFF00"/>
              </a:solidFill>
            </a:endParaRPr>
          </a:p>
        </p:txBody>
      </p:sp>
      <p:sp>
        <p:nvSpPr>
          <p:cNvPr id="2" name="矩形 1"/>
          <p:cNvSpPr/>
          <p:nvPr/>
        </p:nvSpPr>
        <p:spPr>
          <a:xfrm>
            <a:off x="694043" y="3075806"/>
            <a:ext cx="2077757" cy="1477328"/>
          </a:xfrm>
          <a:prstGeom prst="rect">
            <a:avLst/>
          </a:prstGeom>
        </p:spPr>
        <p:txBody>
          <a:bodyPr wrap="square">
            <a:spAutoFit/>
          </a:bodyPr>
          <a:lstStyle/>
          <a:p>
            <a:r>
              <a:rPr lang="zh-CN" altLang="en-US" b="1" dirty="0">
                <a:solidFill>
                  <a:schemeClr val="bg1"/>
                </a:solidFill>
              </a:rPr>
              <a:t>核心仍然是</a:t>
            </a:r>
            <a:r>
              <a:rPr lang="zh-CN" altLang="en-US" b="1" dirty="0">
                <a:solidFill>
                  <a:srgbClr val="FFFF00"/>
                </a:solidFill>
              </a:rPr>
              <a:t>任务切换，</a:t>
            </a:r>
            <a:r>
              <a:rPr lang="zh-CN" altLang="en-US" b="1" dirty="0">
                <a:solidFill>
                  <a:schemeClr val="bg1"/>
                </a:solidFill>
              </a:rPr>
              <a:t>但是资源复用的思想对</a:t>
            </a:r>
            <a:r>
              <a:rPr lang="zh-CN" altLang="en-US" b="1" dirty="0" smtClean="0">
                <a:solidFill>
                  <a:schemeClr val="bg1"/>
                </a:solidFill>
              </a:rPr>
              <a:t>操作系统</a:t>
            </a:r>
            <a:r>
              <a:rPr lang="zh-CN" altLang="en-US" b="1" dirty="0">
                <a:solidFill>
                  <a:schemeClr val="bg1"/>
                </a:solidFill>
              </a:rPr>
              <a:t>影响很大，</a:t>
            </a:r>
            <a:r>
              <a:rPr lang="zh-CN" altLang="en-US" b="1" dirty="0">
                <a:solidFill>
                  <a:srgbClr val="FFFF00"/>
                </a:solidFill>
              </a:rPr>
              <a:t>虚拟内存就是一种复用</a:t>
            </a:r>
          </a:p>
        </p:txBody>
      </p:sp>
    </p:spTree>
    <p:extLst>
      <p:ext uri="{BB962C8B-B14F-4D97-AF65-F5344CB8AC3E}">
        <p14:creationId xmlns:p14="http://schemas.microsoft.com/office/powerpoint/2010/main" val="753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up)">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2"/>
                                        </p:tgtEl>
                                      </p:cBhvr>
                                    </p:animEffect>
                                    <p:set>
                                      <p:cBhvr>
                                        <p:cTn id="47" dur="1" fill="hold">
                                          <p:stCondLst>
                                            <p:cond delay="499"/>
                                          </p:stCondLst>
                                        </p:cTn>
                                        <p:tgtEl>
                                          <p:spTgt spid="3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up)">
                                      <p:cBhvr>
                                        <p:cTn id="52" dur="5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33"/>
                                        </p:tgtEl>
                                      </p:cBhvr>
                                    </p:animEffect>
                                    <p:set>
                                      <p:cBhvr>
                                        <p:cTn id="57" dur="1" fill="hold">
                                          <p:stCondLst>
                                            <p:cond delay="499"/>
                                          </p:stCondLst>
                                        </p:cTn>
                                        <p:tgtEl>
                                          <p:spTgt spid="33"/>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up)">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1" nodeType="clickEffect">
                                  <p:stCondLst>
                                    <p:cond delay="0"/>
                                  </p:stCondLst>
                                  <p:childTnLst>
                                    <p:animEffect transition="out" filter="fade">
                                      <p:cBhvr>
                                        <p:cTn id="66" dur="500"/>
                                        <p:tgtEl>
                                          <p:spTgt spid="34"/>
                                        </p:tgtEl>
                                      </p:cBhvr>
                                    </p:animEffect>
                                    <p:set>
                                      <p:cBhvr>
                                        <p:cTn id="67" dur="1" fill="hold">
                                          <p:stCondLst>
                                            <p:cond delay="499"/>
                                          </p:stCondLst>
                                        </p:cTn>
                                        <p:tgtEl>
                                          <p:spTgt spid="3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2"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up)">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3" nodeType="clickEffect">
                                  <p:stCondLst>
                                    <p:cond delay="0"/>
                                  </p:stCondLst>
                                  <p:childTnLst>
                                    <p:animEffect transition="out" filter="fade">
                                      <p:cBhvr>
                                        <p:cTn id="76" dur="500"/>
                                        <p:tgtEl>
                                          <p:spTgt spid="10"/>
                                        </p:tgtEl>
                                      </p:cBhvr>
                                    </p:animEffect>
                                    <p:set>
                                      <p:cBhvr>
                                        <p:cTn id="77" dur="1" fill="hold">
                                          <p:stCondLst>
                                            <p:cond delay="499"/>
                                          </p:stCondLst>
                                        </p:cTn>
                                        <p:tgtEl>
                                          <p:spTgt spid="10"/>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2"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up)">
                                      <p:cBhvr>
                                        <p:cTn id="82" dur="500"/>
                                        <p:tgtEl>
                                          <p:spTgt spid="3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3" nodeType="clickEffect">
                                  <p:stCondLst>
                                    <p:cond delay="0"/>
                                  </p:stCondLst>
                                  <p:childTnLst>
                                    <p:animEffect transition="out" filter="fade">
                                      <p:cBhvr>
                                        <p:cTn id="86" dur="500"/>
                                        <p:tgtEl>
                                          <p:spTgt spid="32"/>
                                        </p:tgtEl>
                                      </p:cBhvr>
                                    </p:animEffect>
                                    <p:set>
                                      <p:cBhvr>
                                        <p:cTn id="87" dur="1" fill="hold">
                                          <p:stCondLst>
                                            <p:cond delay="499"/>
                                          </p:stCondLst>
                                        </p:cTn>
                                        <p:tgtEl>
                                          <p:spTgt spid="32"/>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2"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up)">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3" nodeType="clickEffect">
                                  <p:stCondLst>
                                    <p:cond delay="0"/>
                                  </p:stCondLst>
                                  <p:childTnLst>
                                    <p:animEffect transition="out" filter="fade">
                                      <p:cBhvr>
                                        <p:cTn id="96" dur="500"/>
                                        <p:tgtEl>
                                          <p:spTgt spid="33"/>
                                        </p:tgtEl>
                                      </p:cBhvr>
                                    </p:animEffect>
                                    <p:set>
                                      <p:cBhvr>
                                        <p:cTn id="97" dur="1" fill="hold">
                                          <p:stCondLst>
                                            <p:cond delay="499"/>
                                          </p:stCondLst>
                                        </p:cTn>
                                        <p:tgtEl>
                                          <p:spTgt spid="33"/>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2" nodeType="click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wipe(up)">
                                      <p:cBhvr>
                                        <p:cTn id="102" dur="500"/>
                                        <p:tgtEl>
                                          <p:spTgt spid="3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xit" presetSubtype="0" fill="hold" grpId="3" nodeType="clickEffect">
                                  <p:stCondLst>
                                    <p:cond delay="0"/>
                                  </p:stCondLst>
                                  <p:childTnLst>
                                    <p:animEffect transition="out" filter="fade">
                                      <p:cBhvr>
                                        <p:cTn id="106" dur="500"/>
                                        <p:tgtEl>
                                          <p:spTgt spid="34"/>
                                        </p:tgtEl>
                                      </p:cBhvr>
                                    </p:animEffect>
                                    <p:set>
                                      <p:cBhvr>
                                        <p:cTn id="107" dur="1" fill="hold">
                                          <p:stCondLst>
                                            <p:cond delay="499"/>
                                          </p:stCondLst>
                                        </p:cTn>
                                        <p:tgtEl>
                                          <p:spTgt spid="34"/>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
                                        </p:tgtEl>
                                        <p:attrNameLst>
                                          <p:attrName>style.visibility</p:attrName>
                                        </p:attrNameLst>
                                      </p:cBhvr>
                                      <p:to>
                                        <p:strVal val="visible"/>
                                      </p:to>
                                    </p:set>
                                    <p:animEffect transition="in" filter="fade">
                                      <p:cBhvr>
                                        <p:cTn id="112" dur="500"/>
                                        <p:tgtEl>
                                          <p:spTgt spid="2"/>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11"/>
                                        </p:tgtEl>
                                        <p:attrNameLst>
                                          <p:attrName>style.visibility</p:attrName>
                                        </p:attrNameLst>
                                      </p:cBhvr>
                                      <p:to>
                                        <p:strVal val="visible"/>
                                      </p:to>
                                    </p:set>
                                    <p:animEffect transition="in" filter="fade">
                                      <p:cBhvr>
                                        <p:cTn id="1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10" grpId="3" animBg="1"/>
      <p:bldP spid="32" grpId="0" animBg="1"/>
      <p:bldP spid="32" grpId="1" animBg="1"/>
      <p:bldP spid="32" grpId="2" animBg="1"/>
      <p:bldP spid="32" grpId="3" animBg="1"/>
      <p:bldP spid="33" grpId="0" animBg="1"/>
      <p:bldP spid="33" grpId="1" animBg="1"/>
      <p:bldP spid="33" grpId="2" animBg="1"/>
      <p:bldP spid="33" grpId="3" animBg="1"/>
      <p:bldP spid="34" grpId="0" animBg="1"/>
      <p:bldP spid="34" grpId="1" animBg="1"/>
      <p:bldP spid="34" grpId="2" animBg="1"/>
      <p:bldP spid="34" grpId="3" animBg="1"/>
      <p:bldP spid="11"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3414" y="1766977"/>
            <a:ext cx="1114232" cy="494079"/>
          </a:xfrm>
          <a:prstGeom prst="rect">
            <a:avLst/>
          </a:prstGeom>
          <a:gradFill flip="none" rotWithShape="1">
            <a:gsLst>
              <a:gs pos="42000">
                <a:sysClr val="windowText" lastClr="000000">
                  <a:lumMod val="65000"/>
                  <a:lumOff val="35000"/>
                </a:sysClr>
              </a:gs>
              <a:gs pos="100000">
                <a:sysClr val="window" lastClr="FFFFFF"/>
              </a:gs>
            </a:gsLst>
            <a:lin ang="8100000" scaled="1"/>
            <a:tileRect/>
          </a:gradFill>
          <a:ln w="25400" cap="flat" cmpd="sng" algn="ctr">
            <a:solidFill>
              <a:sysClr val="window" lastClr="FFFFFF"/>
            </a:solidFill>
            <a:prstDash val="solid"/>
          </a:ln>
          <a:effectLst/>
          <a:scene3d>
            <a:camera prst="perspectiveFront" fov="0">
              <a:rot lat="20525590" lon="12024257"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1" name="矩形 10"/>
          <p:cNvSpPr/>
          <p:nvPr/>
        </p:nvSpPr>
        <p:spPr>
          <a:xfrm>
            <a:off x="2451914" y="1526714"/>
            <a:ext cx="762552" cy="874939"/>
          </a:xfrm>
          <a:prstGeom prst="rect">
            <a:avLst/>
          </a:prstGeom>
          <a:gradFill flip="none" rotWithShape="1">
            <a:gsLst>
              <a:gs pos="0">
                <a:sysClr val="windowText" lastClr="000000">
                  <a:lumMod val="65000"/>
                  <a:lumOff val="35000"/>
                </a:sysClr>
              </a:gs>
              <a:gs pos="100000">
                <a:sysClr val="window" lastClr="FFFFFF">
                  <a:lumMod val="50000"/>
                </a:sysClr>
              </a:gs>
            </a:gsLst>
            <a:lin ang="13500000" scaled="1"/>
            <a:tileRect/>
          </a:gradFill>
          <a:ln w="25400" cap="flat" cmpd="sng" algn="ctr">
            <a:solidFill>
              <a:sysClr val="window" lastClr="FFFFFF"/>
            </a:solidFill>
            <a:prstDash val="solid"/>
          </a:ln>
          <a:effectLst/>
          <a:scene3d>
            <a:camera prst="perspectiveFront" fov="0">
              <a:rot lat="20525593" lon="6624279" rev="21390797"/>
            </a:camera>
            <a:lightRig rig="balanced" dir="t"/>
          </a:scene3d>
          <a:sp3d z="158750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2" name="矩形 11"/>
          <p:cNvSpPr/>
          <p:nvPr/>
        </p:nvSpPr>
        <p:spPr>
          <a:xfrm>
            <a:off x="1286097" y="2279670"/>
            <a:ext cx="1114232" cy="494079"/>
          </a:xfrm>
          <a:prstGeom prst="rect">
            <a:avLst/>
          </a:prstGeom>
          <a:gradFill flip="none" rotWithShape="1">
            <a:gsLst>
              <a:gs pos="0">
                <a:srgbClr val="D9D9D9"/>
              </a:gs>
              <a:gs pos="100000">
                <a:sysClr val="window" lastClr="FFFFFF"/>
              </a:gs>
            </a:gsLst>
            <a:lin ang="2700000" scaled="1"/>
            <a:tileRect/>
          </a:gradFill>
          <a:ln w="25400" cap="flat" cmpd="sng" algn="ctr">
            <a:solidFill>
              <a:sysClr val="window" lastClr="FFFFFF"/>
            </a:solidFill>
            <a:prstDash val="solid"/>
          </a:ln>
          <a:effectLst/>
          <a:scene3d>
            <a:camera prst="perspectiveFront" fov="0">
              <a:rot lat="17813354" lon="7969249" rev="13616452"/>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3" name="矩形 12"/>
          <p:cNvSpPr/>
          <p:nvPr/>
        </p:nvSpPr>
        <p:spPr>
          <a:xfrm>
            <a:off x="631844" y="1660102"/>
            <a:ext cx="748151" cy="862803"/>
          </a:xfrm>
          <a:prstGeom prst="rect">
            <a:avLst/>
          </a:prstGeom>
          <a:gradFill>
            <a:gsLst>
              <a:gs pos="27000">
                <a:srgbClr val="D9D9D9"/>
              </a:gs>
              <a:gs pos="100000">
                <a:srgbClr val="D9D9D9"/>
              </a:gs>
              <a:gs pos="62000">
                <a:srgbClr val="EBEBEB"/>
              </a:gs>
            </a:gsLst>
            <a:lin ang="2700000" scaled="1"/>
          </a:gradFill>
          <a:ln w="25400" cap="flat" cmpd="sng" algn="ctr">
            <a:solidFill>
              <a:sysClr val="window" lastClr="FFFFFF"/>
            </a:solidFill>
            <a:prstDash val="solid"/>
          </a:ln>
          <a:effectLst/>
          <a:scene3d>
            <a:camera prst="perspectiveFront" fov="0">
              <a:rot lat="20525610" lon="17424067" rev="21390831"/>
            </a:camera>
            <a:lightRig rig="balanced" dir="t"/>
          </a:scene3d>
          <a:sp3d z="16065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9" name="任意多边形 28"/>
          <p:cNvSpPr/>
          <p:nvPr/>
        </p:nvSpPr>
        <p:spPr>
          <a:xfrm>
            <a:off x="1758351" y="1279141"/>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0" name="任意多边形 29"/>
          <p:cNvSpPr/>
          <p:nvPr/>
        </p:nvSpPr>
        <p:spPr>
          <a:xfrm>
            <a:off x="1755081" y="1221243"/>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1" name="任意多边形 30"/>
          <p:cNvSpPr/>
          <p:nvPr/>
        </p:nvSpPr>
        <p:spPr>
          <a:xfrm>
            <a:off x="1841407" y="1017434"/>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2" name="任意多边形 31"/>
          <p:cNvSpPr/>
          <p:nvPr/>
        </p:nvSpPr>
        <p:spPr>
          <a:xfrm>
            <a:off x="1763676" y="1316898"/>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6" name="任意多边形 35"/>
          <p:cNvSpPr/>
          <p:nvPr/>
        </p:nvSpPr>
        <p:spPr>
          <a:xfrm>
            <a:off x="1766959" y="1267282"/>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7" name="任意多边形 36"/>
          <p:cNvSpPr/>
          <p:nvPr/>
        </p:nvSpPr>
        <p:spPr>
          <a:xfrm>
            <a:off x="1763689" y="1209384"/>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8" name="任意多边形 37"/>
          <p:cNvSpPr/>
          <p:nvPr/>
        </p:nvSpPr>
        <p:spPr>
          <a:xfrm>
            <a:off x="1850015" y="1005576"/>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9" name="任意多边形 38"/>
          <p:cNvSpPr/>
          <p:nvPr/>
        </p:nvSpPr>
        <p:spPr>
          <a:xfrm>
            <a:off x="1772284" y="1305039"/>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42" name="椭圆 41"/>
          <p:cNvSpPr/>
          <p:nvPr/>
        </p:nvSpPr>
        <p:spPr>
          <a:xfrm>
            <a:off x="1918286" y="2151259"/>
            <a:ext cx="198304" cy="151610"/>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3" name="[动画大师]_Oval 47"/>
          <p:cNvSpPr/>
          <p:nvPr/>
        </p:nvSpPr>
        <p:spPr>
          <a:xfrm>
            <a:off x="3741882" y="2355727"/>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4" name="椭圆 43"/>
          <p:cNvSpPr/>
          <p:nvPr/>
        </p:nvSpPr>
        <p:spPr>
          <a:xfrm>
            <a:off x="6041732" y="1437625"/>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0" name="矩形 39"/>
          <p:cNvSpPr/>
          <p:nvPr/>
        </p:nvSpPr>
        <p:spPr>
          <a:xfrm>
            <a:off x="1571604" y="1785932"/>
            <a:ext cx="1143253" cy="862803"/>
          </a:xfrm>
          <a:prstGeom prst="rect">
            <a:avLst/>
          </a:prstGeom>
          <a:solidFill>
            <a:sysClr val="window" lastClr="FFFFFF"/>
          </a:solidFill>
          <a:ln w="25400" cap="flat" cmpd="sng" algn="ctr">
            <a:solidFill>
              <a:sysClr val="window" lastClr="FFFFFF"/>
            </a:solidFill>
            <a:prstDash val="solid"/>
          </a:ln>
          <a:effectLst/>
          <a:scene3d>
            <a:camera prst="perspectiveFront" fov="0">
              <a:rot lat="20525597" lon="1224244"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8" name="TextBox 47"/>
          <p:cNvSpPr txBox="1"/>
          <p:nvPr/>
        </p:nvSpPr>
        <p:spPr>
          <a:xfrm>
            <a:off x="1043608" y="1571618"/>
            <a:ext cx="1452698" cy="523220"/>
          </a:xfrm>
          <a:prstGeom prst="rect">
            <a:avLst/>
          </a:prstGeom>
          <a:noFill/>
        </p:spPr>
        <p:txBody>
          <a:bodyPr wrap="square" rtlCol="0">
            <a:spAutoFit/>
          </a:bodyPr>
          <a:lstStyle/>
          <a:p>
            <a:pPr algn="ctr"/>
            <a:r>
              <a:rPr lang="zh-CN" altLang="en-US" sz="2800" b="1" dirty="0" smtClean="0">
                <a:solidFill>
                  <a:srgbClr val="FF0000"/>
                </a:solidFill>
                <a:latin typeface="Times New Roman" pitchFamily="18" charset="0"/>
                <a:cs typeface="Times New Roman" pitchFamily="18" charset="0"/>
              </a:rPr>
              <a:t>发展</a:t>
            </a:r>
            <a:endParaRPr lang="zh-CN" altLang="en-US" sz="2800" b="1" dirty="0">
              <a:solidFill>
                <a:srgbClr val="FF0000"/>
              </a:solidFill>
              <a:latin typeface="Times New Roman" pitchFamily="18" charset="0"/>
              <a:cs typeface="Times New Roman" pitchFamily="18" charset="0"/>
            </a:endParaRPr>
          </a:p>
        </p:txBody>
      </p:sp>
      <p:sp>
        <p:nvSpPr>
          <p:cNvPr id="46" name="矩形标注 45"/>
          <p:cNvSpPr/>
          <p:nvPr/>
        </p:nvSpPr>
        <p:spPr>
          <a:xfrm>
            <a:off x="1402574" y="3160571"/>
            <a:ext cx="2089306" cy="566476"/>
          </a:xfrm>
          <a:prstGeom prst="wedgeRectCallout">
            <a:avLst>
              <a:gd name="adj1" fmla="val 30263"/>
              <a:gd name="adj2" fmla="val -96393"/>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手工操作阶段</a:t>
            </a:r>
          </a:p>
        </p:txBody>
      </p:sp>
      <p:sp>
        <p:nvSpPr>
          <p:cNvPr id="41" name="矩形标注 40"/>
          <p:cNvSpPr/>
          <p:nvPr/>
        </p:nvSpPr>
        <p:spPr>
          <a:xfrm>
            <a:off x="3687811" y="3492061"/>
            <a:ext cx="1976707" cy="567813"/>
          </a:xfrm>
          <a:prstGeom prst="wedgeRectCallout">
            <a:avLst>
              <a:gd name="adj1" fmla="val 12407"/>
              <a:gd name="adj2" fmla="val -146780"/>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000"/>
              </a:lnSpc>
              <a:buClr>
                <a:schemeClr val="accent2">
                  <a:lumMod val="75000"/>
                </a:schemeClr>
              </a:buClr>
              <a:defRPr/>
            </a:pPr>
            <a:r>
              <a:rPr lang="zh-CN" altLang="en-US" sz="2400" b="1" dirty="0">
                <a:latin typeface="+mn-ea"/>
              </a:rPr>
              <a:t>早期批处理</a:t>
            </a:r>
            <a:endParaRPr lang="zh-CN" altLang="en-US" sz="2400" b="1" dirty="0" smtClean="0">
              <a:latin typeface="+mn-ea"/>
            </a:endParaRPr>
          </a:p>
        </p:txBody>
      </p:sp>
      <p:sp>
        <p:nvSpPr>
          <p:cNvPr id="47" name="矩形标注 46"/>
          <p:cNvSpPr/>
          <p:nvPr/>
        </p:nvSpPr>
        <p:spPr>
          <a:xfrm>
            <a:off x="3642012" y="1626561"/>
            <a:ext cx="2089306" cy="566476"/>
          </a:xfrm>
          <a:prstGeom prst="wedgeRectCallout">
            <a:avLst>
              <a:gd name="adj1" fmla="val 62324"/>
              <a:gd name="adj2" fmla="val 57518"/>
            </a:avLst>
          </a:prstGeom>
          <a:ln/>
        </p:spPr>
        <p:style>
          <a:lnRef idx="1">
            <a:schemeClr val="accent3"/>
          </a:lnRef>
          <a:fillRef idx="2">
            <a:schemeClr val="accent3"/>
          </a:fillRef>
          <a:effectRef idx="1">
            <a:schemeClr val="accent3"/>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分时操作阶段</a:t>
            </a:r>
          </a:p>
        </p:txBody>
      </p:sp>
      <p:sp>
        <p:nvSpPr>
          <p:cNvPr id="49" name="矩形标注 48"/>
          <p:cNvSpPr/>
          <p:nvPr/>
        </p:nvSpPr>
        <p:spPr>
          <a:xfrm>
            <a:off x="5647155" y="2872541"/>
            <a:ext cx="2089306" cy="566476"/>
          </a:xfrm>
          <a:prstGeom prst="wedgeRectCallout">
            <a:avLst>
              <a:gd name="adj1" fmla="val -28770"/>
              <a:gd name="adj2" fmla="val -124548"/>
            </a:avLst>
          </a:prstGeom>
          <a:ln/>
        </p:spPr>
        <p:style>
          <a:lnRef idx="1">
            <a:schemeClr val="accent2"/>
          </a:lnRef>
          <a:fillRef idx="2">
            <a:schemeClr val="accent2"/>
          </a:fillRef>
          <a:effectRef idx="1">
            <a:schemeClr val="accent2"/>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实时操作系统</a:t>
            </a:r>
          </a:p>
        </p:txBody>
      </p:sp>
    </p:spTree>
    <p:extLst>
      <p:ext uri="{BB962C8B-B14F-4D97-AF65-F5344CB8AC3E}">
        <p14:creationId xmlns:p14="http://schemas.microsoft.com/office/powerpoint/2010/main" val="185339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实时操作系统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75606"/>
            <a:ext cx="6624736" cy="3342453"/>
          </a:xfrm>
          <a:prstGeom prst="rect">
            <a:avLst/>
          </a:prstGeom>
        </p:spPr>
        <p:txBody>
          <a:bodyPr wrap="square">
            <a:spAutoFit/>
          </a:bodyPr>
          <a:lstStyle/>
          <a:p>
            <a:pPr marL="0" lvl="1" algn="just">
              <a:lnSpc>
                <a:spcPct val="120000"/>
              </a:lnSpc>
              <a:buClr>
                <a:srgbClr val="FFFF00"/>
              </a:buClr>
              <a:buFont typeface="Wingdings" panose="05000000000000000000" pitchFamily="2" charset="2"/>
              <a:buChar char="Ø"/>
            </a:pPr>
            <a:r>
              <a:rPr lang="zh-CN" altLang="en-US" sz="2200" b="1" dirty="0">
                <a:solidFill>
                  <a:schemeClr val="bg1"/>
                </a:solidFill>
                <a:latin typeface="+mn-ea"/>
              </a:rPr>
              <a:t>实时操作系统是以在</a:t>
            </a:r>
            <a:r>
              <a:rPr lang="zh-CN" altLang="en-US" sz="2200" b="1" dirty="0">
                <a:solidFill>
                  <a:srgbClr val="FFFF00"/>
                </a:solidFill>
                <a:latin typeface="+mn-ea"/>
              </a:rPr>
              <a:t>允许时间范围之内做出响应为特征</a:t>
            </a:r>
            <a:r>
              <a:rPr lang="zh-CN" altLang="en-US" sz="2200" b="1" dirty="0">
                <a:solidFill>
                  <a:schemeClr val="bg1"/>
                </a:solidFill>
                <a:latin typeface="+mn-ea"/>
              </a:rPr>
              <a:t>的。它要求计算机对于外来信息能以足够快的速度进行处理，并在被控对象允许时间范围内作出快速响应，其</a:t>
            </a:r>
            <a:r>
              <a:rPr lang="zh-CN" altLang="en-US" sz="2200" b="1" dirty="0">
                <a:solidFill>
                  <a:srgbClr val="FFFF00"/>
                </a:solidFill>
                <a:latin typeface="+mn-ea"/>
              </a:rPr>
              <a:t>响应时间</a:t>
            </a:r>
            <a:r>
              <a:rPr lang="zh-CN" altLang="en-US" sz="2200" b="1" dirty="0">
                <a:solidFill>
                  <a:schemeClr val="bg1"/>
                </a:solidFill>
                <a:latin typeface="+mn-ea"/>
              </a:rPr>
              <a:t>要求在</a:t>
            </a:r>
            <a:r>
              <a:rPr lang="zh-CN" altLang="en-US" sz="2200" b="1" dirty="0">
                <a:solidFill>
                  <a:srgbClr val="FFFF00"/>
                </a:solidFill>
                <a:latin typeface="+mn-ea"/>
              </a:rPr>
              <a:t>秒级</a:t>
            </a:r>
            <a:r>
              <a:rPr lang="zh-CN" altLang="en-US" sz="2200" b="1" dirty="0">
                <a:solidFill>
                  <a:schemeClr val="bg1"/>
                </a:solidFill>
                <a:latin typeface="+mn-ea"/>
              </a:rPr>
              <a:t>、</a:t>
            </a:r>
            <a:r>
              <a:rPr lang="zh-CN" altLang="en-US" sz="2200" b="1" dirty="0">
                <a:solidFill>
                  <a:srgbClr val="FFFF00"/>
                </a:solidFill>
                <a:latin typeface="+mn-ea"/>
              </a:rPr>
              <a:t>毫秒级</a:t>
            </a:r>
            <a:r>
              <a:rPr lang="zh-CN" altLang="en-US" sz="2200" b="1" dirty="0">
                <a:solidFill>
                  <a:schemeClr val="bg1"/>
                </a:solidFill>
                <a:latin typeface="+mn-ea"/>
              </a:rPr>
              <a:t>甚至</a:t>
            </a:r>
            <a:r>
              <a:rPr lang="zh-CN" altLang="en-US" sz="2200" b="1" dirty="0">
                <a:solidFill>
                  <a:srgbClr val="FFFF00"/>
                </a:solidFill>
                <a:latin typeface="+mn-ea"/>
              </a:rPr>
              <a:t>微秒级</a:t>
            </a:r>
            <a:r>
              <a:rPr lang="zh-CN" altLang="en-US" sz="2200" b="1" dirty="0">
                <a:solidFill>
                  <a:schemeClr val="bg1"/>
                </a:solidFill>
                <a:latin typeface="+mn-ea"/>
              </a:rPr>
              <a:t>或</a:t>
            </a:r>
            <a:r>
              <a:rPr lang="zh-CN" altLang="en-US" sz="2200" b="1" dirty="0">
                <a:solidFill>
                  <a:srgbClr val="FFFF00"/>
                </a:solidFill>
                <a:latin typeface="+mn-ea"/>
              </a:rPr>
              <a:t>更小</a:t>
            </a:r>
            <a:r>
              <a:rPr lang="zh-CN" altLang="en-US" sz="2200" b="1" dirty="0" smtClean="0">
                <a:solidFill>
                  <a:schemeClr val="bg1"/>
                </a:solidFill>
                <a:latin typeface="+mn-ea"/>
              </a:rPr>
              <a:t>。</a:t>
            </a:r>
            <a:endParaRPr lang="en-US" altLang="zh-CN" sz="2200" b="1" dirty="0" smtClean="0">
              <a:solidFill>
                <a:schemeClr val="bg1"/>
              </a:solidFill>
              <a:latin typeface="+mn-ea"/>
            </a:endParaRPr>
          </a:p>
          <a:p>
            <a:pPr marL="0" lvl="1" algn="just">
              <a:lnSpc>
                <a:spcPct val="120000"/>
              </a:lnSpc>
              <a:buClr>
                <a:srgbClr val="FFFF00"/>
              </a:buClr>
              <a:buFont typeface="Wingdings" panose="05000000000000000000" pitchFamily="2" charset="2"/>
              <a:buChar char="Ø"/>
            </a:pPr>
            <a:r>
              <a:rPr lang="zh-CN" altLang="en-US" sz="2200" b="1" dirty="0" smtClean="0">
                <a:solidFill>
                  <a:schemeClr val="bg1"/>
                </a:solidFill>
                <a:latin typeface="+mn-ea"/>
              </a:rPr>
              <a:t>近年来</a:t>
            </a:r>
            <a:r>
              <a:rPr lang="zh-CN" altLang="en-US" sz="2200" b="1" dirty="0">
                <a:solidFill>
                  <a:schemeClr val="bg1"/>
                </a:solidFill>
                <a:latin typeface="+mn-ea"/>
              </a:rPr>
              <a:t>，实时操作系统正得到越来越广泛的应用。特别</a:t>
            </a:r>
            <a:r>
              <a:rPr lang="zh-CN" altLang="en-US" sz="2200" b="1" dirty="0">
                <a:solidFill>
                  <a:srgbClr val="FFFF00"/>
                </a:solidFill>
                <a:latin typeface="+mn-ea"/>
              </a:rPr>
              <a:t>是非</a:t>
            </a:r>
            <a:r>
              <a:rPr lang="en-US" altLang="zh-CN" sz="2200" b="1" dirty="0">
                <a:solidFill>
                  <a:srgbClr val="FFFF00"/>
                </a:solidFill>
                <a:latin typeface="+mn-ea"/>
              </a:rPr>
              <a:t>PC</a:t>
            </a:r>
            <a:r>
              <a:rPr lang="zh-CN" altLang="en-US" sz="2200" b="1" dirty="0">
                <a:solidFill>
                  <a:srgbClr val="FFFF00"/>
                </a:solidFill>
                <a:latin typeface="+mn-ea"/>
              </a:rPr>
              <a:t>机</a:t>
            </a:r>
            <a:r>
              <a:rPr lang="zh-CN" altLang="en-US" sz="2200" b="1" dirty="0">
                <a:solidFill>
                  <a:schemeClr val="bg1"/>
                </a:solidFill>
                <a:latin typeface="+mn-ea"/>
              </a:rPr>
              <a:t>和</a:t>
            </a:r>
            <a:r>
              <a:rPr lang="en-US" altLang="zh-CN" sz="2200" b="1" dirty="0">
                <a:solidFill>
                  <a:srgbClr val="FFFF00"/>
                </a:solidFill>
                <a:latin typeface="+mn-ea"/>
              </a:rPr>
              <a:t>PDA</a:t>
            </a:r>
            <a:r>
              <a:rPr lang="zh-CN" altLang="en-US" sz="2200" b="1" dirty="0">
                <a:solidFill>
                  <a:schemeClr val="bg1"/>
                </a:solidFill>
                <a:latin typeface="+mn-ea"/>
              </a:rPr>
              <a:t>（个人数字助理）等新设备的出现，更加强了这一趋势。</a:t>
            </a:r>
          </a:p>
        </p:txBody>
      </p:sp>
    </p:spTree>
    <p:extLst>
      <p:ext uri="{BB962C8B-B14F-4D97-AF65-F5344CB8AC3E}">
        <p14:creationId xmlns:p14="http://schemas.microsoft.com/office/powerpoint/2010/main" val="3880811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3414" y="1766977"/>
            <a:ext cx="1114232" cy="494079"/>
          </a:xfrm>
          <a:prstGeom prst="rect">
            <a:avLst/>
          </a:prstGeom>
          <a:gradFill flip="none" rotWithShape="1">
            <a:gsLst>
              <a:gs pos="42000">
                <a:sysClr val="windowText" lastClr="000000">
                  <a:lumMod val="65000"/>
                  <a:lumOff val="35000"/>
                </a:sysClr>
              </a:gs>
              <a:gs pos="100000">
                <a:sysClr val="window" lastClr="FFFFFF"/>
              </a:gs>
            </a:gsLst>
            <a:lin ang="8100000" scaled="1"/>
            <a:tileRect/>
          </a:gradFill>
          <a:ln w="25400" cap="flat" cmpd="sng" algn="ctr">
            <a:solidFill>
              <a:sysClr val="window" lastClr="FFFFFF"/>
            </a:solidFill>
            <a:prstDash val="solid"/>
          </a:ln>
          <a:effectLst/>
          <a:scene3d>
            <a:camera prst="perspectiveFront" fov="0">
              <a:rot lat="20525590" lon="12024257"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1" name="矩形 10"/>
          <p:cNvSpPr/>
          <p:nvPr/>
        </p:nvSpPr>
        <p:spPr>
          <a:xfrm>
            <a:off x="2451914" y="1526714"/>
            <a:ext cx="762552" cy="874939"/>
          </a:xfrm>
          <a:prstGeom prst="rect">
            <a:avLst/>
          </a:prstGeom>
          <a:gradFill flip="none" rotWithShape="1">
            <a:gsLst>
              <a:gs pos="0">
                <a:sysClr val="windowText" lastClr="000000">
                  <a:lumMod val="65000"/>
                  <a:lumOff val="35000"/>
                </a:sysClr>
              </a:gs>
              <a:gs pos="100000">
                <a:sysClr val="window" lastClr="FFFFFF">
                  <a:lumMod val="50000"/>
                </a:sysClr>
              </a:gs>
            </a:gsLst>
            <a:lin ang="13500000" scaled="1"/>
            <a:tileRect/>
          </a:gradFill>
          <a:ln w="25400" cap="flat" cmpd="sng" algn="ctr">
            <a:solidFill>
              <a:sysClr val="window" lastClr="FFFFFF"/>
            </a:solidFill>
            <a:prstDash val="solid"/>
          </a:ln>
          <a:effectLst/>
          <a:scene3d>
            <a:camera prst="perspectiveFront" fov="0">
              <a:rot lat="20525593" lon="6624279" rev="21390797"/>
            </a:camera>
            <a:lightRig rig="balanced" dir="t"/>
          </a:scene3d>
          <a:sp3d z="158750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2" name="矩形 11"/>
          <p:cNvSpPr/>
          <p:nvPr/>
        </p:nvSpPr>
        <p:spPr>
          <a:xfrm>
            <a:off x="1286097" y="2279670"/>
            <a:ext cx="1114232" cy="494079"/>
          </a:xfrm>
          <a:prstGeom prst="rect">
            <a:avLst/>
          </a:prstGeom>
          <a:gradFill flip="none" rotWithShape="1">
            <a:gsLst>
              <a:gs pos="0">
                <a:srgbClr val="D9D9D9"/>
              </a:gs>
              <a:gs pos="100000">
                <a:sysClr val="window" lastClr="FFFFFF"/>
              </a:gs>
            </a:gsLst>
            <a:lin ang="2700000" scaled="1"/>
            <a:tileRect/>
          </a:gradFill>
          <a:ln w="25400" cap="flat" cmpd="sng" algn="ctr">
            <a:solidFill>
              <a:sysClr val="window" lastClr="FFFFFF"/>
            </a:solidFill>
            <a:prstDash val="solid"/>
          </a:ln>
          <a:effectLst/>
          <a:scene3d>
            <a:camera prst="perspectiveFront" fov="0">
              <a:rot lat="17813354" lon="7969249" rev="13616452"/>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3" name="矩形 12"/>
          <p:cNvSpPr/>
          <p:nvPr/>
        </p:nvSpPr>
        <p:spPr>
          <a:xfrm>
            <a:off x="631844" y="1660102"/>
            <a:ext cx="748151" cy="862803"/>
          </a:xfrm>
          <a:prstGeom prst="rect">
            <a:avLst/>
          </a:prstGeom>
          <a:gradFill>
            <a:gsLst>
              <a:gs pos="27000">
                <a:srgbClr val="D9D9D9"/>
              </a:gs>
              <a:gs pos="100000">
                <a:srgbClr val="D9D9D9"/>
              </a:gs>
              <a:gs pos="62000">
                <a:srgbClr val="EBEBEB"/>
              </a:gs>
            </a:gsLst>
            <a:lin ang="2700000" scaled="1"/>
          </a:gradFill>
          <a:ln w="25400" cap="flat" cmpd="sng" algn="ctr">
            <a:solidFill>
              <a:sysClr val="window" lastClr="FFFFFF"/>
            </a:solidFill>
            <a:prstDash val="solid"/>
          </a:ln>
          <a:effectLst/>
          <a:scene3d>
            <a:camera prst="perspectiveFront" fov="0">
              <a:rot lat="20525610" lon="17424067" rev="21390831"/>
            </a:camera>
            <a:lightRig rig="balanced" dir="t"/>
          </a:scene3d>
          <a:sp3d z="16065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9" name="任意多边形 28"/>
          <p:cNvSpPr/>
          <p:nvPr/>
        </p:nvSpPr>
        <p:spPr>
          <a:xfrm>
            <a:off x="1758351" y="1279141"/>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0" name="任意多边形 29"/>
          <p:cNvSpPr/>
          <p:nvPr/>
        </p:nvSpPr>
        <p:spPr>
          <a:xfrm>
            <a:off x="1755081" y="1221243"/>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1" name="任意多边形 30"/>
          <p:cNvSpPr/>
          <p:nvPr/>
        </p:nvSpPr>
        <p:spPr>
          <a:xfrm>
            <a:off x="1841407" y="1017434"/>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2" name="任意多边形 31"/>
          <p:cNvSpPr/>
          <p:nvPr/>
        </p:nvSpPr>
        <p:spPr>
          <a:xfrm>
            <a:off x="1763676" y="1316898"/>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6" name="任意多边形 35"/>
          <p:cNvSpPr/>
          <p:nvPr/>
        </p:nvSpPr>
        <p:spPr>
          <a:xfrm>
            <a:off x="1766959" y="1267282"/>
            <a:ext cx="5010699" cy="1683473"/>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7016"/>
              <a:gd name="connsiteX1" fmla="*/ 2398259 w 5369663"/>
              <a:gd name="connsiteY1" fmla="*/ 1939925 h 1947016"/>
              <a:gd name="connsiteX2" fmla="*/ 5369663 w 5369663"/>
              <a:gd name="connsiteY2" fmla="*/ 0 h 1947016"/>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369663"/>
              <a:gd name="connsiteY0" fmla="*/ 466725 h 1940028"/>
              <a:gd name="connsiteX1" fmla="*/ 2398259 w 5369663"/>
              <a:gd name="connsiteY1" fmla="*/ 1939925 h 1940028"/>
              <a:gd name="connsiteX2" fmla="*/ 5369663 w 5369663"/>
              <a:gd name="connsiteY2" fmla="*/ 0 h 1940028"/>
              <a:gd name="connsiteX0" fmla="*/ 0 w 5219097"/>
              <a:gd name="connsiteY0" fmla="*/ 466725 h 1947016"/>
              <a:gd name="connsiteX1" fmla="*/ 2247693 w 5219097"/>
              <a:gd name="connsiteY1" fmla="*/ 1939925 h 1947016"/>
              <a:gd name="connsiteX2" fmla="*/ 5219097 w 5219097"/>
              <a:gd name="connsiteY2" fmla="*/ 0 h 1947016"/>
              <a:gd name="connsiteX0" fmla="*/ 0 w 5219097"/>
              <a:gd name="connsiteY0" fmla="*/ 466725 h 1943060"/>
              <a:gd name="connsiteX1" fmla="*/ 2247693 w 5219097"/>
              <a:gd name="connsiteY1" fmla="*/ 1939925 h 1943060"/>
              <a:gd name="connsiteX2" fmla="*/ 5219097 w 5219097"/>
              <a:gd name="connsiteY2" fmla="*/ 0 h 1943060"/>
            </a:gdLst>
            <a:ahLst/>
            <a:cxnLst>
              <a:cxn ang="0">
                <a:pos x="connsiteX0" y="connsiteY0"/>
              </a:cxn>
              <a:cxn ang="0">
                <a:pos x="connsiteX1" y="connsiteY1"/>
              </a:cxn>
              <a:cxn ang="0">
                <a:pos x="connsiteX2" y="connsiteY2"/>
              </a:cxn>
            </a:cxnLst>
            <a:rect l="l" t="t" r="r" b="b"/>
            <a:pathLst>
              <a:path w="5219097" h="1943060">
                <a:moveTo>
                  <a:pt x="0" y="466725"/>
                </a:moveTo>
                <a:cubicBezTo>
                  <a:pt x="442589" y="1450975"/>
                  <a:pt x="1302561" y="1890391"/>
                  <a:pt x="2247693" y="1939925"/>
                </a:cubicBezTo>
                <a:cubicBezTo>
                  <a:pt x="3192825" y="1989459"/>
                  <a:pt x="4601303" y="1456962"/>
                  <a:pt x="5219097" y="0"/>
                </a:cubicBezTo>
              </a:path>
            </a:pathLst>
          </a:custGeom>
          <a:noFill/>
          <a:ln w="38100" cap="flat" cmpd="sng" algn="ctr">
            <a:gradFill flip="none" rotWithShape="1">
              <a:gsLst>
                <a:gs pos="0">
                  <a:srgbClr val="F79646">
                    <a:lumMod val="75000"/>
                  </a:srgbClr>
                </a:gs>
                <a:gs pos="30000">
                  <a:srgbClr val="F79646">
                    <a:lumMod val="75000"/>
                    <a:alpha val="0"/>
                  </a:srgbClr>
                </a:gs>
                <a:gs pos="100000">
                  <a:srgbClr val="F79646">
                    <a:lumMod val="75000"/>
                  </a:srgbClr>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7" name="任意多边形 36"/>
          <p:cNvSpPr/>
          <p:nvPr/>
        </p:nvSpPr>
        <p:spPr>
          <a:xfrm>
            <a:off x="1763689" y="1209384"/>
            <a:ext cx="5594241" cy="1643980"/>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375275"/>
              <a:gd name="connsiteY0" fmla="*/ 419100 h 1896537"/>
              <a:gd name="connsiteX1" fmla="*/ 2466975 w 5375275"/>
              <a:gd name="connsiteY1" fmla="*/ 1892300 h 1896537"/>
              <a:gd name="connsiteX2" fmla="*/ 5375275 w 5375275"/>
              <a:gd name="connsiteY2" fmla="*/ 0 h 1896537"/>
              <a:gd name="connsiteX0" fmla="*/ 0 w 5375275"/>
              <a:gd name="connsiteY0" fmla="*/ 419100 h 1897477"/>
              <a:gd name="connsiteX1" fmla="*/ 2466975 w 5375275"/>
              <a:gd name="connsiteY1" fmla="*/ 1892300 h 1897477"/>
              <a:gd name="connsiteX2" fmla="*/ 5375275 w 5375275"/>
              <a:gd name="connsiteY2" fmla="*/ 0 h 1897477"/>
            </a:gdLst>
            <a:ahLst/>
            <a:cxnLst>
              <a:cxn ang="0">
                <a:pos x="connsiteX0" y="connsiteY0"/>
              </a:cxn>
              <a:cxn ang="0">
                <a:pos x="connsiteX1" y="connsiteY1"/>
              </a:cxn>
              <a:cxn ang="0">
                <a:pos x="connsiteX2" y="connsiteY2"/>
              </a:cxn>
            </a:cxnLst>
            <a:rect l="l" t="t" r="r" b="b"/>
            <a:pathLst>
              <a:path w="5375275" h="1897477">
                <a:moveTo>
                  <a:pt x="0" y="419100"/>
                </a:moveTo>
                <a:cubicBezTo>
                  <a:pt x="519641" y="1317625"/>
                  <a:pt x="1571096" y="1962150"/>
                  <a:pt x="2466975" y="1892300"/>
                </a:cubicBezTo>
                <a:cubicBezTo>
                  <a:pt x="3362854" y="1822450"/>
                  <a:pt x="4519083" y="1028700"/>
                  <a:pt x="5375275" y="0"/>
                </a:cubicBezTo>
              </a:path>
            </a:pathLst>
          </a:custGeom>
          <a:noFill/>
          <a:ln w="57150" cap="flat" cmpd="thinThick" algn="ctr">
            <a:gradFill flip="none" rotWithShape="1">
              <a:gsLst>
                <a:gs pos="0">
                  <a:srgbClr val="CCCC00"/>
                </a:gs>
                <a:gs pos="37000">
                  <a:srgbClr val="CCCC00">
                    <a:alpha val="0"/>
                  </a:srgbClr>
                </a:gs>
                <a:gs pos="100000">
                  <a:srgbClr val="CCCC0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8" name="任意多边形 37"/>
          <p:cNvSpPr/>
          <p:nvPr/>
        </p:nvSpPr>
        <p:spPr>
          <a:xfrm>
            <a:off x="1850015" y="1005576"/>
            <a:ext cx="5345177" cy="1893017"/>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37983"/>
              <a:gd name="connsiteX1" fmla="*/ 2362200 w 5548867"/>
              <a:gd name="connsiteY1" fmla="*/ 2216150 h 2237983"/>
              <a:gd name="connsiteX2" fmla="*/ 5548867 w 5548867"/>
              <a:gd name="connsiteY2" fmla="*/ 0 h 2237983"/>
              <a:gd name="connsiteX0" fmla="*/ 0 w 5548867"/>
              <a:gd name="connsiteY0" fmla="*/ 933450 h 2219169"/>
              <a:gd name="connsiteX1" fmla="*/ 2362200 w 5548867"/>
              <a:gd name="connsiteY1" fmla="*/ 2216150 h 2219169"/>
              <a:gd name="connsiteX2" fmla="*/ 5548867 w 5548867"/>
              <a:gd name="connsiteY2" fmla="*/ 0 h 2219169"/>
              <a:gd name="connsiteX0" fmla="*/ 0 w 5548867"/>
              <a:gd name="connsiteY0" fmla="*/ 933450 h 2232527"/>
              <a:gd name="connsiteX1" fmla="*/ 2362200 w 5548867"/>
              <a:gd name="connsiteY1" fmla="*/ 2216150 h 2232527"/>
              <a:gd name="connsiteX2" fmla="*/ 5548867 w 5548867"/>
              <a:gd name="connsiteY2" fmla="*/ 0 h 2232527"/>
              <a:gd name="connsiteX0" fmla="*/ 0 w 5548867"/>
              <a:gd name="connsiteY0" fmla="*/ 933450 h 2224488"/>
              <a:gd name="connsiteX1" fmla="*/ 2362200 w 5548867"/>
              <a:gd name="connsiteY1" fmla="*/ 2216150 h 2224488"/>
              <a:gd name="connsiteX2" fmla="*/ 5548867 w 5548867"/>
              <a:gd name="connsiteY2" fmla="*/ 0 h 2224488"/>
              <a:gd name="connsiteX0" fmla="*/ 0 w 5559177"/>
              <a:gd name="connsiteY0" fmla="*/ 819150 h 2231539"/>
              <a:gd name="connsiteX1" fmla="*/ 2372510 w 5559177"/>
              <a:gd name="connsiteY1" fmla="*/ 2216150 h 2231539"/>
              <a:gd name="connsiteX2" fmla="*/ 5559177 w 5559177"/>
              <a:gd name="connsiteY2" fmla="*/ 0 h 2231539"/>
              <a:gd name="connsiteX0" fmla="*/ 0 w 5559177"/>
              <a:gd name="connsiteY0" fmla="*/ 819150 h 2231694"/>
              <a:gd name="connsiteX1" fmla="*/ 2372510 w 5559177"/>
              <a:gd name="connsiteY1" fmla="*/ 2216150 h 2231694"/>
              <a:gd name="connsiteX2" fmla="*/ 5559177 w 5559177"/>
              <a:gd name="connsiteY2" fmla="*/ 0 h 2231694"/>
              <a:gd name="connsiteX0" fmla="*/ 0 w 5559177"/>
              <a:gd name="connsiteY0" fmla="*/ 819150 h 2184914"/>
              <a:gd name="connsiteX1" fmla="*/ 2465299 w 5559177"/>
              <a:gd name="connsiteY1" fmla="*/ 2168525 h 2184914"/>
              <a:gd name="connsiteX2" fmla="*/ 5559177 w 5559177"/>
              <a:gd name="connsiteY2" fmla="*/ 0 h 2184914"/>
            </a:gdLst>
            <a:ahLst/>
            <a:cxnLst>
              <a:cxn ang="0">
                <a:pos x="connsiteX0" y="connsiteY0"/>
              </a:cxn>
              <a:cxn ang="0">
                <a:pos x="connsiteX1" y="connsiteY1"/>
              </a:cxn>
              <a:cxn ang="0">
                <a:pos x="connsiteX2" y="connsiteY2"/>
              </a:cxn>
            </a:cxnLst>
            <a:rect l="l" t="t" r="r" b="b"/>
            <a:pathLst>
              <a:path w="5559177" h="2184914">
                <a:moveTo>
                  <a:pt x="0" y="819150"/>
                </a:moveTo>
                <a:cubicBezTo>
                  <a:pt x="399953" y="1565275"/>
                  <a:pt x="1538770" y="2305050"/>
                  <a:pt x="2465299" y="2168525"/>
                </a:cubicBezTo>
                <a:cubicBezTo>
                  <a:pt x="3391828" y="2032000"/>
                  <a:pt x="4919493" y="1228725"/>
                  <a:pt x="5559177" y="0"/>
                </a:cubicBezTo>
              </a:path>
            </a:pathLst>
          </a:custGeom>
          <a:noFill/>
          <a:ln w="15875" cap="flat" cmpd="thickThin" algn="ctr">
            <a:gradFill flip="none" rotWithShape="1">
              <a:gsLst>
                <a:gs pos="0">
                  <a:srgbClr val="00B0F0"/>
                </a:gs>
                <a:gs pos="63000">
                  <a:srgbClr val="00B0F0">
                    <a:alpha val="0"/>
                  </a:srgbClr>
                </a:gs>
                <a:gs pos="100000">
                  <a:srgbClr val="00B0F0"/>
                </a:gs>
              </a:gsLst>
              <a:lin ang="0" scaled="1"/>
              <a:tileRect/>
            </a:gradFill>
            <a:prstDash val="solid"/>
            <a:tailEnd type="stealth"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39" name="任意多边形 38"/>
          <p:cNvSpPr/>
          <p:nvPr/>
        </p:nvSpPr>
        <p:spPr>
          <a:xfrm>
            <a:off x="1772284" y="1305039"/>
            <a:ext cx="5904668" cy="1686901"/>
          </a:xfrm>
          <a:custGeom>
            <a:avLst/>
            <a:gdLst>
              <a:gd name="connsiteX0" fmla="*/ 0 w 5270500"/>
              <a:gd name="connsiteY0" fmla="*/ 609600 h 1990631"/>
              <a:gd name="connsiteX1" fmla="*/ 2070100 w 5270500"/>
              <a:gd name="connsiteY1" fmla="*/ 1981200 h 1990631"/>
              <a:gd name="connsiteX2" fmla="*/ 5270500 w 5270500"/>
              <a:gd name="connsiteY2" fmla="*/ 0 h 1990631"/>
              <a:gd name="connsiteX0" fmla="*/ 0 w 5270500"/>
              <a:gd name="connsiteY0" fmla="*/ 609600 h 1915372"/>
              <a:gd name="connsiteX1" fmla="*/ 2260600 w 5270500"/>
              <a:gd name="connsiteY1" fmla="*/ 1905000 h 1915372"/>
              <a:gd name="connsiteX2" fmla="*/ 5270500 w 5270500"/>
              <a:gd name="connsiteY2" fmla="*/ 0 h 1915372"/>
              <a:gd name="connsiteX0" fmla="*/ 0 w 5270500"/>
              <a:gd name="connsiteY0" fmla="*/ 609600 h 1902847"/>
              <a:gd name="connsiteX1" fmla="*/ 2362200 w 5270500"/>
              <a:gd name="connsiteY1" fmla="*/ 1892300 h 1902847"/>
              <a:gd name="connsiteX2" fmla="*/ 5270500 w 5270500"/>
              <a:gd name="connsiteY2" fmla="*/ 0 h 1902847"/>
              <a:gd name="connsiteX0" fmla="*/ 0 w 5270500"/>
              <a:gd name="connsiteY0" fmla="*/ 609600 h 1895319"/>
              <a:gd name="connsiteX1" fmla="*/ 2362200 w 5270500"/>
              <a:gd name="connsiteY1" fmla="*/ 1892300 h 1895319"/>
              <a:gd name="connsiteX2" fmla="*/ 5270500 w 5270500"/>
              <a:gd name="connsiteY2" fmla="*/ 0 h 1895319"/>
              <a:gd name="connsiteX0" fmla="*/ 0 w 5270500"/>
              <a:gd name="connsiteY0" fmla="*/ 609600 h 1900638"/>
              <a:gd name="connsiteX1" fmla="*/ 2362200 w 5270500"/>
              <a:gd name="connsiteY1" fmla="*/ 1892300 h 1900638"/>
              <a:gd name="connsiteX2" fmla="*/ 5270500 w 5270500"/>
              <a:gd name="connsiteY2" fmla="*/ 0 h 1900638"/>
              <a:gd name="connsiteX0" fmla="*/ 0 w 5270500"/>
              <a:gd name="connsiteY0" fmla="*/ 609600 h 1900638"/>
              <a:gd name="connsiteX1" fmla="*/ 2362200 w 5270500"/>
              <a:gd name="connsiteY1" fmla="*/ 1892300 h 1900638"/>
              <a:gd name="connsiteX2" fmla="*/ 5270500 w 5270500"/>
              <a:gd name="connsiteY2" fmla="*/ 0 h 1900638"/>
              <a:gd name="connsiteX0" fmla="*/ 0 w 5459811"/>
              <a:gd name="connsiteY0" fmla="*/ 457200 h 1897500"/>
              <a:gd name="connsiteX1" fmla="*/ 2551511 w 5459811"/>
              <a:gd name="connsiteY1" fmla="*/ 1892300 h 1897500"/>
              <a:gd name="connsiteX2" fmla="*/ 5459811 w 5459811"/>
              <a:gd name="connsiteY2" fmla="*/ 0 h 1897500"/>
              <a:gd name="connsiteX0" fmla="*/ 0 w 5459811"/>
              <a:gd name="connsiteY0" fmla="*/ 457200 h 1899556"/>
              <a:gd name="connsiteX1" fmla="*/ 2551511 w 5459811"/>
              <a:gd name="connsiteY1" fmla="*/ 1892300 h 1899556"/>
              <a:gd name="connsiteX2" fmla="*/ 5459811 w 5459811"/>
              <a:gd name="connsiteY2" fmla="*/ 0 h 1899556"/>
              <a:gd name="connsiteX0" fmla="*/ 0 w 5369663"/>
              <a:gd name="connsiteY0" fmla="*/ 466725 h 1899939"/>
              <a:gd name="connsiteX1" fmla="*/ 2461363 w 5369663"/>
              <a:gd name="connsiteY1" fmla="*/ 1892300 h 1899939"/>
              <a:gd name="connsiteX2" fmla="*/ 5369663 w 5369663"/>
              <a:gd name="connsiteY2" fmla="*/ 0 h 1899939"/>
              <a:gd name="connsiteX0" fmla="*/ 0 w 5369663"/>
              <a:gd name="connsiteY0" fmla="*/ 466725 h 1947016"/>
              <a:gd name="connsiteX1" fmla="*/ 2398259 w 5369663"/>
              <a:gd name="connsiteY1" fmla="*/ 1939925 h 1947016"/>
              <a:gd name="connsiteX2" fmla="*/ 5369663 w 5369663"/>
              <a:gd name="connsiteY2" fmla="*/ 0 h 1947016"/>
            </a:gdLst>
            <a:ahLst/>
            <a:cxnLst>
              <a:cxn ang="0">
                <a:pos x="connsiteX0" y="connsiteY0"/>
              </a:cxn>
              <a:cxn ang="0">
                <a:pos x="connsiteX1" y="connsiteY1"/>
              </a:cxn>
              <a:cxn ang="0">
                <a:pos x="connsiteX2" y="connsiteY2"/>
              </a:cxn>
            </a:cxnLst>
            <a:rect l="l" t="t" r="r" b="b"/>
            <a:pathLst>
              <a:path w="5369663" h="1947016">
                <a:moveTo>
                  <a:pt x="0" y="466725"/>
                </a:moveTo>
                <a:cubicBezTo>
                  <a:pt x="442589" y="1450975"/>
                  <a:pt x="1503315" y="2017712"/>
                  <a:pt x="2398259" y="1939925"/>
                </a:cubicBezTo>
                <a:cubicBezTo>
                  <a:pt x="3293203" y="1862138"/>
                  <a:pt x="4513471" y="1028700"/>
                  <a:pt x="5369663" y="0"/>
                </a:cubicBezTo>
              </a:path>
            </a:pathLst>
          </a:custGeom>
          <a:noFill/>
          <a:ln w="34925" cap="flat" cmpd="thickThin" algn="ctr">
            <a:gradFill flip="none" rotWithShape="1">
              <a:gsLst>
                <a:gs pos="0">
                  <a:srgbClr val="0070C0"/>
                </a:gs>
                <a:gs pos="25000">
                  <a:srgbClr val="0070C0">
                    <a:alpha val="0"/>
                  </a:srgbClr>
                </a:gs>
                <a:gs pos="100000">
                  <a:srgbClr val="0070C0"/>
                </a:gs>
              </a:gsLst>
              <a:lin ang="0" scaled="1"/>
              <a:tileRect/>
            </a:gradFill>
            <a:prstDash val="solid"/>
            <a:tailEnd type="stealth" w="med"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Segoe UI"/>
              <a:ea typeface="微软雅黑"/>
            </a:endParaRPr>
          </a:p>
        </p:txBody>
      </p:sp>
      <p:sp>
        <p:nvSpPr>
          <p:cNvPr id="42" name="椭圆 41"/>
          <p:cNvSpPr/>
          <p:nvPr/>
        </p:nvSpPr>
        <p:spPr>
          <a:xfrm>
            <a:off x="1918286" y="2151259"/>
            <a:ext cx="198304" cy="151610"/>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3" name="[动画大师]_Oval 47"/>
          <p:cNvSpPr/>
          <p:nvPr/>
        </p:nvSpPr>
        <p:spPr>
          <a:xfrm>
            <a:off x="3741882" y="2355727"/>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4" name="椭圆 43"/>
          <p:cNvSpPr/>
          <p:nvPr/>
        </p:nvSpPr>
        <p:spPr>
          <a:xfrm>
            <a:off x="6041732" y="1437625"/>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0" name="矩形 39"/>
          <p:cNvSpPr/>
          <p:nvPr/>
        </p:nvSpPr>
        <p:spPr>
          <a:xfrm>
            <a:off x="1571604" y="1785932"/>
            <a:ext cx="1143253" cy="862803"/>
          </a:xfrm>
          <a:prstGeom prst="rect">
            <a:avLst/>
          </a:prstGeom>
          <a:solidFill>
            <a:sysClr val="window" lastClr="FFFFFF"/>
          </a:solidFill>
          <a:ln w="25400" cap="flat" cmpd="sng" algn="ctr">
            <a:solidFill>
              <a:sysClr val="window" lastClr="FFFFFF"/>
            </a:solidFill>
            <a:prstDash val="solid"/>
          </a:ln>
          <a:effectLst/>
          <a:scene3d>
            <a:camera prst="perspectiveFront" fov="0">
              <a:rot lat="20525597" lon="1224244" rev="21390800"/>
            </a:camera>
            <a:lightRig rig="balanced" dir="t"/>
          </a:scene3d>
          <a:sp3d z="1073150">
            <a:bevelT w="139700" h="38100" prst="rible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操作系统的历史</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8" name="TextBox 47"/>
          <p:cNvSpPr txBox="1"/>
          <p:nvPr/>
        </p:nvSpPr>
        <p:spPr>
          <a:xfrm>
            <a:off x="1043608" y="1571618"/>
            <a:ext cx="1452698" cy="523220"/>
          </a:xfrm>
          <a:prstGeom prst="rect">
            <a:avLst/>
          </a:prstGeom>
          <a:noFill/>
        </p:spPr>
        <p:txBody>
          <a:bodyPr wrap="square" rtlCol="0">
            <a:spAutoFit/>
          </a:bodyPr>
          <a:lstStyle/>
          <a:p>
            <a:pPr algn="ctr"/>
            <a:r>
              <a:rPr lang="zh-CN" altLang="en-US" sz="2800" b="1" dirty="0" smtClean="0">
                <a:solidFill>
                  <a:srgbClr val="FF0000"/>
                </a:solidFill>
                <a:latin typeface="Times New Roman" pitchFamily="18" charset="0"/>
                <a:cs typeface="Times New Roman" pitchFamily="18" charset="0"/>
              </a:rPr>
              <a:t>发展</a:t>
            </a:r>
            <a:endParaRPr lang="zh-CN" altLang="en-US" sz="2800" b="1" dirty="0">
              <a:solidFill>
                <a:srgbClr val="FF0000"/>
              </a:solidFill>
              <a:latin typeface="Times New Roman" pitchFamily="18" charset="0"/>
              <a:cs typeface="Times New Roman" pitchFamily="18" charset="0"/>
            </a:endParaRPr>
          </a:p>
        </p:txBody>
      </p:sp>
      <p:sp>
        <p:nvSpPr>
          <p:cNvPr id="46" name="矩形标注 45"/>
          <p:cNvSpPr/>
          <p:nvPr/>
        </p:nvSpPr>
        <p:spPr>
          <a:xfrm>
            <a:off x="1402574" y="3160571"/>
            <a:ext cx="2089306" cy="566476"/>
          </a:xfrm>
          <a:prstGeom prst="wedgeRectCallout">
            <a:avLst>
              <a:gd name="adj1" fmla="val 30263"/>
              <a:gd name="adj2" fmla="val -96393"/>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手工操作阶段</a:t>
            </a:r>
          </a:p>
        </p:txBody>
      </p:sp>
      <p:sp>
        <p:nvSpPr>
          <p:cNvPr id="41" name="矩形标注 40"/>
          <p:cNvSpPr/>
          <p:nvPr/>
        </p:nvSpPr>
        <p:spPr>
          <a:xfrm>
            <a:off x="3687811" y="3492061"/>
            <a:ext cx="1976707" cy="567813"/>
          </a:xfrm>
          <a:prstGeom prst="wedgeRectCallout">
            <a:avLst>
              <a:gd name="adj1" fmla="val 12407"/>
              <a:gd name="adj2" fmla="val -146780"/>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000"/>
              </a:lnSpc>
              <a:buClr>
                <a:schemeClr val="accent2">
                  <a:lumMod val="75000"/>
                </a:schemeClr>
              </a:buClr>
              <a:defRPr/>
            </a:pPr>
            <a:r>
              <a:rPr lang="zh-CN" altLang="en-US" sz="2400" b="1" dirty="0">
                <a:latin typeface="+mn-ea"/>
              </a:rPr>
              <a:t>早期批处理</a:t>
            </a:r>
            <a:endParaRPr lang="zh-CN" altLang="en-US" sz="2400" b="1" dirty="0" smtClean="0">
              <a:latin typeface="+mn-ea"/>
            </a:endParaRPr>
          </a:p>
        </p:txBody>
      </p:sp>
      <p:sp>
        <p:nvSpPr>
          <p:cNvPr id="47" name="矩形标注 46"/>
          <p:cNvSpPr/>
          <p:nvPr/>
        </p:nvSpPr>
        <p:spPr>
          <a:xfrm>
            <a:off x="3642012" y="1626561"/>
            <a:ext cx="2089306" cy="566476"/>
          </a:xfrm>
          <a:prstGeom prst="wedgeRectCallout">
            <a:avLst>
              <a:gd name="adj1" fmla="val 62324"/>
              <a:gd name="adj2" fmla="val 57518"/>
            </a:avLst>
          </a:prstGeom>
          <a:ln/>
        </p:spPr>
        <p:style>
          <a:lnRef idx="1">
            <a:schemeClr val="accent3"/>
          </a:lnRef>
          <a:fillRef idx="2">
            <a:schemeClr val="accent3"/>
          </a:fillRef>
          <a:effectRef idx="1">
            <a:schemeClr val="accent3"/>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分时操作阶段</a:t>
            </a:r>
          </a:p>
        </p:txBody>
      </p:sp>
      <p:sp>
        <p:nvSpPr>
          <p:cNvPr id="49" name="矩形标注 48"/>
          <p:cNvSpPr/>
          <p:nvPr/>
        </p:nvSpPr>
        <p:spPr>
          <a:xfrm>
            <a:off x="5647155" y="2872541"/>
            <a:ext cx="2089306" cy="566476"/>
          </a:xfrm>
          <a:prstGeom prst="wedgeRectCallout">
            <a:avLst>
              <a:gd name="adj1" fmla="val -28770"/>
              <a:gd name="adj2" fmla="val -124548"/>
            </a:avLst>
          </a:prstGeom>
          <a:ln/>
        </p:spPr>
        <p:style>
          <a:lnRef idx="1">
            <a:schemeClr val="accent2"/>
          </a:lnRef>
          <a:fillRef idx="2">
            <a:schemeClr val="accent2"/>
          </a:fillRef>
          <a:effectRef idx="1">
            <a:schemeClr val="accent2"/>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实时操作系统</a:t>
            </a:r>
          </a:p>
        </p:txBody>
      </p:sp>
      <p:sp>
        <p:nvSpPr>
          <p:cNvPr id="50" name="矩形标注 49"/>
          <p:cNvSpPr/>
          <p:nvPr/>
        </p:nvSpPr>
        <p:spPr>
          <a:xfrm>
            <a:off x="6837321" y="2083448"/>
            <a:ext cx="2089306" cy="566476"/>
          </a:xfrm>
          <a:prstGeom prst="wedgeRectCallout">
            <a:avLst>
              <a:gd name="adj1" fmla="val -28770"/>
              <a:gd name="adj2" fmla="val -124548"/>
            </a:avLst>
          </a:prstGeom>
          <a:ln/>
        </p:spPr>
        <p:style>
          <a:lnRef idx="1">
            <a:schemeClr val="dk1"/>
          </a:lnRef>
          <a:fillRef idx="2">
            <a:schemeClr val="dk1"/>
          </a:fillRef>
          <a:effectRef idx="1">
            <a:schemeClr val="dk1"/>
          </a:effectRef>
          <a:fontRef idx="minor">
            <a:schemeClr val="dk1"/>
          </a:fontRef>
        </p:style>
        <p:txBody>
          <a:bodyPr rtlCol="0" anchor="ctr"/>
          <a:lstStyle/>
          <a:p>
            <a:pPr>
              <a:lnSpc>
                <a:spcPts val="2000"/>
              </a:lnSpc>
              <a:buClr>
                <a:schemeClr val="accent2">
                  <a:lumMod val="75000"/>
                </a:schemeClr>
              </a:buClr>
              <a:defRPr/>
            </a:pPr>
            <a:r>
              <a:rPr lang="zh-CN" altLang="en-US" sz="2400" b="1" dirty="0" smtClean="0">
                <a:latin typeface="+mn-ea"/>
              </a:rPr>
              <a:t>通用操作系统</a:t>
            </a:r>
          </a:p>
        </p:txBody>
      </p:sp>
    </p:spTree>
    <p:extLst>
      <p:ext uri="{BB962C8B-B14F-4D97-AF65-F5344CB8AC3E}">
        <p14:creationId xmlns:p14="http://schemas.microsoft.com/office/powerpoint/2010/main" val="279226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通用操作系统（</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1980-1990</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74013"/>
            <a:ext cx="7056784" cy="3046988"/>
          </a:xfrm>
          <a:prstGeom prst="rect">
            <a:avLst/>
          </a:prstGeom>
        </p:spPr>
        <p:txBody>
          <a:bodyPr wrap="square">
            <a:spAutoFit/>
          </a:bodyPr>
          <a:lstStyle/>
          <a:p>
            <a:pPr marL="0" lvl="1" algn="just">
              <a:lnSpc>
                <a:spcPct val="120000"/>
              </a:lnSpc>
              <a:buClr>
                <a:srgbClr val="FFFF00"/>
              </a:buClr>
              <a:buFont typeface="Wingdings" panose="05000000000000000000" pitchFamily="2" charset="2"/>
              <a:buChar char="Ø"/>
            </a:pPr>
            <a:r>
              <a:rPr lang="zh-CN" altLang="en-US" sz="2000" b="1" dirty="0">
                <a:solidFill>
                  <a:schemeClr val="bg1"/>
                </a:solidFill>
                <a:latin typeface="+mn-ea"/>
              </a:rPr>
              <a:t>通用操作系统。它可以</a:t>
            </a:r>
            <a:r>
              <a:rPr lang="zh-CN" altLang="en-US" sz="2000" b="1" dirty="0">
                <a:solidFill>
                  <a:srgbClr val="FFFF00"/>
                </a:solidFill>
                <a:latin typeface="+mn-ea"/>
              </a:rPr>
              <a:t>同时兼有多道批处理</a:t>
            </a:r>
            <a:r>
              <a:rPr lang="zh-CN" altLang="en-US" sz="2000" b="1" dirty="0">
                <a:solidFill>
                  <a:schemeClr val="bg1"/>
                </a:solidFill>
                <a:latin typeface="+mn-ea"/>
              </a:rPr>
              <a:t>、</a:t>
            </a:r>
            <a:r>
              <a:rPr lang="zh-CN" altLang="en-US" sz="2000" b="1" dirty="0">
                <a:solidFill>
                  <a:srgbClr val="FFFF00"/>
                </a:solidFill>
                <a:latin typeface="+mn-ea"/>
              </a:rPr>
              <a:t>分时</a:t>
            </a:r>
            <a:r>
              <a:rPr lang="zh-CN" altLang="en-US" sz="2000" b="1" dirty="0">
                <a:solidFill>
                  <a:schemeClr val="bg1"/>
                </a:solidFill>
                <a:latin typeface="+mn-ea"/>
              </a:rPr>
              <a:t>、</a:t>
            </a:r>
            <a:r>
              <a:rPr lang="zh-CN" altLang="en-US" sz="2000" b="1" dirty="0">
                <a:solidFill>
                  <a:srgbClr val="FFFF00"/>
                </a:solidFill>
                <a:latin typeface="+mn-ea"/>
              </a:rPr>
              <a:t>实时</a:t>
            </a:r>
            <a:r>
              <a:rPr lang="zh-CN" altLang="en-US" sz="2000" b="1" dirty="0">
                <a:solidFill>
                  <a:schemeClr val="bg1"/>
                </a:solidFill>
                <a:latin typeface="+mn-ea"/>
              </a:rPr>
              <a:t>处理的功能，或其中两种以上的功能</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20000"/>
              </a:lnSpc>
              <a:buClr>
                <a:srgbClr val="FFFF00"/>
              </a:buClr>
              <a:buFont typeface="Wingdings" panose="05000000000000000000" pitchFamily="2" charset="2"/>
              <a:buChar char="Ø"/>
            </a:pPr>
            <a:r>
              <a:rPr lang="zh-CN" altLang="en-US" sz="2000" b="1" dirty="0" smtClean="0">
                <a:solidFill>
                  <a:schemeClr val="bg1"/>
                </a:solidFill>
                <a:latin typeface="+mn-ea"/>
              </a:rPr>
              <a:t>例如</a:t>
            </a:r>
            <a:r>
              <a:rPr lang="zh-CN" altLang="en-US" sz="2000" b="1" dirty="0">
                <a:solidFill>
                  <a:schemeClr val="bg1"/>
                </a:solidFill>
                <a:latin typeface="+mn-ea"/>
              </a:rPr>
              <a:t>，将实时处理和批处理相结合构成</a:t>
            </a:r>
            <a:r>
              <a:rPr lang="zh-CN" altLang="en-US" sz="2000" b="1" dirty="0">
                <a:solidFill>
                  <a:srgbClr val="FFFF00"/>
                </a:solidFill>
                <a:latin typeface="+mn-ea"/>
              </a:rPr>
              <a:t>实时批处理系统</a:t>
            </a:r>
            <a:r>
              <a:rPr lang="zh-CN" altLang="en-US" sz="2000" b="1" dirty="0">
                <a:solidFill>
                  <a:schemeClr val="bg1"/>
                </a:solidFill>
                <a:latin typeface="+mn-ea"/>
              </a:rPr>
              <a:t>。在这样的系统中，它</a:t>
            </a:r>
            <a:r>
              <a:rPr lang="zh-CN" altLang="en-US" sz="2000" b="1" dirty="0">
                <a:solidFill>
                  <a:srgbClr val="FFFF00"/>
                </a:solidFill>
                <a:latin typeface="+mn-ea"/>
              </a:rPr>
              <a:t>首先保证优先处理任务</a:t>
            </a:r>
            <a:r>
              <a:rPr lang="zh-CN" altLang="en-US" sz="2000" b="1" dirty="0">
                <a:solidFill>
                  <a:schemeClr val="bg1"/>
                </a:solidFill>
                <a:latin typeface="+mn-ea"/>
              </a:rPr>
              <a:t>，</a:t>
            </a:r>
            <a:r>
              <a:rPr lang="zh-CN" altLang="en-US" sz="2000" b="1" dirty="0">
                <a:solidFill>
                  <a:srgbClr val="FFFF00"/>
                </a:solidFill>
                <a:latin typeface="+mn-ea"/>
              </a:rPr>
              <a:t>插空进行批作业处理</a:t>
            </a:r>
            <a:r>
              <a:rPr lang="zh-CN" altLang="en-US" sz="2000" b="1" dirty="0">
                <a:solidFill>
                  <a:schemeClr val="bg1"/>
                </a:solidFill>
                <a:latin typeface="+mn-ea"/>
              </a:rPr>
              <a:t>。通常把实时任务称为前台作业，批作业称为后台作业</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20000"/>
              </a:lnSpc>
              <a:buClr>
                <a:srgbClr val="FFFF00"/>
              </a:buClr>
              <a:buFont typeface="Wingdings" panose="05000000000000000000" pitchFamily="2" charset="2"/>
              <a:buChar char="Ø"/>
            </a:pPr>
            <a:r>
              <a:rPr lang="zh-CN" altLang="en-US" sz="2000" b="1" dirty="0" smtClean="0">
                <a:solidFill>
                  <a:schemeClr val="bg1"/>
                </a:solidFill>
                <a:latin typeface="+mn-ea"/>
              </a:rPr>
              <a:t>将</a:t>
            </a:r>
            <a:r>
              <a:rPr lang="zh-CN" altLang="en-US" sz="2000" b="1" dirty="0">
                <a:solidFill>
                  <a:schemeClr val="bg1"/>
                </a:solidFill>
                <a:latin typeface="+mn-ea"/>
              </a:rPr>
              <a:t>批处理和分时处理相结合可构成</a:t>
            </a:r>
            <a:r>
              <a:rPr lang="zh-CN" altLang="en-US" sz="2000" b="1" dirty="0">
                <a:solidFill>
                  <a:srgbClr val="FFFF00"/>
                </a:solidFill>
                <a:latin typeface="+mn-ea"/>
              </a:rPr>
              <a:t>分时批处理系统</a:t>
            </a:r>
            <a:r>
              <a:rPr lang="zh-CN" altLang="en-US" sz="2000" b="1" dirty="0">
                <a:solidFill>
                  <a:schemeClr val="bg1"/>
                </a:solidFill>
                <a:latin typeface="+mn-ea"/>
              </a:rPr>
              <a:t>。在</a:t>
            </a:r>
            <a:r>
              <a:rPr lang="zh-CN" altLang="en-US" sz="2000" b="1" dirty="0">
                <a:solidFill>
                  <a:srgbClr val="FFFF00"/>
                </a:solidFill>
                <a:latin typeface="+mn-ea"/>
              </a:rPr>
              <a:t>保证分时用户的前提</a:t>
            </a:r>
            <a:r>
              <a:rPr lang="zh-CN" altLang="en-US" sz="2000" b="1" dirty="0">
                <a:solidFill>
                  <a:schemeClr val="bg1"/>
                </a:solidFill>
                <a:latin typeface="+mn-ea"/>
              </a:rPr>
              <a:t>下，没有分时用户时</a:t>
            </a:r>
            <a:r>
              <a:rPr lang="zh-CN" altLang="en-US" sz="2000" b="1" dirty="0">
                <a:solidFill>
                  <a:srgbClr val="FFFF00"/>
                </a:solidFill>
                <a:latin typeface="+mn-ea"/>
              </a:rPr>
              <a:t>可进行批量作业的处理</a:t>
            </a:r>
            <a:r>
              <a:rPr lang="zh-CN" altLang="en-US" sz="2000" b="1" dirty="0">
                <a:solidFill>
                  <a:schemeClr val="bg1"/>
                </a:solidFill>
                <a:latin typeface="+mn-ea"/>
              </a:rPr>
              <a:t>。同样，分时用户和批处理作业可按前后台方式处理。</a:t>
            </a:r>
          </a:p>
        </p:txBody>
      </p:sp>
    </p:spTree>
    <p:extLst>
      <p:ext uri="{BB962C8B-B14F-4D97-AF65-F5344CB8AC3E}">
        <p14:creationId xmlns:p14="http://schemas.microsoft.com/office/powerpoint/2010/main" val="123638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通用操作系统（</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1980-1990</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66924"/>
            <a:ext cx="7056784" cy="2973122"/>
          </a:xfrm>
          <a:prstGeom prst="rect">
            <a:avLst/>
          </a:prstGeom>
        </p:spPr>
        <p:txBody>
          <a:bodyPr wrap="square">
            <a:spAutoFit/>
          </a:bodyPr>
          <a:lstStyle/>
          <a:p>
            <a:pPr marL="0" lvl="1" algn="just">
              <a:lnSpc>
                <a:spcPct val="130000"/>
              </a:lnSpc>
              <a:buClr>
                <a:srgbClr val="FFFF00"/>
              </a:buClr>
              <a:buFont typeface="Wingdings" panose="05000000000000000000" pitchFamily="2" charset="2"/>
              <a:buChar char="Ø"/>
            </a:pPr>
            <a:r>
              <a:rPr lang="en-US" altLang="zh-CN" sz="2400" b="1" dirty="0">
                <a:solidFill>
                  <a:srgbClr val="FFFF00"/>
                </a:solidFill>
                <a:latin typeface="+mn-ea"/>
              </a:rPr>
              <a:t>UNIX</a:t>
            </a:r>
            <a:r>
              <a:rPr lang="zh-CN" altLang="en-US" sz="2400" b="1" dirty="0" smtClean="0">
                <a:solidFill>
                  <a:srgbClr val="FFFF00"/>
                </a:solidFill>
                <a:latin typeface="+mn-ea"/>
              </a:rPr>
              <a:t>操作系统</a:t>
            </a:r>
            <a:r>
              <a:rPr lang="zh-CN" altLang="en-US" sz="2400" b="1" dirty="0" smtClean="0">
                <a:solidFill>
                  <a:schemeClr val="bg1"/>
                </a:solidFill>
                <a:latin typeface="+mn-ea"/>
              </a:rPr>
              <a:t>是</a:t>
            </a:r>
            <a:r>
              <a:rPr lang="zh-CN" altLang="en-US" sz="2400" b="1" dirty="0">
                <a:solidFill>
                  <a:schemeClr val="bg1"/>
                </a:solidFill>
                <a:latin typeface="+mn-ea"/>
              </a:rPr>
              <a:t>一个通用的多用户分时交互型的操作系统</a:t>
            </a:r>
            <a:endParaRPr lang="en-US" altLang="zh-CN" sz="2400" b="1" dirty="0">
              <a:solidFill>
                <a:schemeClr val="bg1"/>
              </a:solidFill>
              <a:latin typeface="+mn-ea"/>
            </a:endParaRPr>
          </a:p>
          <a:p>
            <a:pPr marL="0" lvl="1" algn="just">
              <a:lnSpc>
                <a:spcPct val="130000"/>
              </a:lnSpc>
              <a:buClr>
                <a:srgbClr val="FFFF00"/>
              </a:buClr>
              <a:buFont typeface="Wingdings" panose="05000000000000000000" pitchFamily="2" charset="2"/>
              <a:buChar char="Ø"/>
            </a:pPr>
            <a:r>
              <a:rPr lang="zh-CN" altLang="en-US" sz="2400" b="1" dirty="0">
                <a:solidFill>
                  <a:schemeClr val="bg1"/>
                </a:solidFill>
                <a:latin typeface="+mn-ea"/>
              </a:rPr>
              <a:t>各种</a:t>
            </a:r>
            <a:r>
              <a:rPr lang="zh-CN" altLang="en-US" sz="2400" b="1" dirty="0">
                <a:solidFill>
                  <a:srgbClr val="FFFF00"/>
                </a:solidFill>
                <a:latin typeface="+mn-ea"/>
              </a:rPr>
              <a:t>工作站级的操作系统</a:t>
            </a:r>
            <a:r>
              <a:rPr lang="zh-CN" altLang="en-US" sz="2400" b="1" dirty="0">
                <a:solidFill>
                  <a:schemeClr val="bg1"/>
                </a:solidFill>
                <a:latin typeface="+mn-ea"/>
              </a:rPr>
              <a:t>如</a:t>
            </a:r>
            <a:r>
              <a:rPr lang="en-US" altLang="zh-CN" sz="2400" b="1" dirty="0">
                <a:solidFill>
                  <a:schemeClr val="bg1"/>
                </a:solidFill>
                <a:latin typeface="+mn-ea"/>
              </a:rPr>
              <a:t>SUN</a:t>
            </a:r>
            <a:r>
              <a:rPr lang="zh-CN" altLang="en-US" sz="2400" b="1" dirty="0">
                <a:solidFill>
                  <a:schemeClr val="bg1"/>
                </a:solidFill>
                <a:latin typeface="+mn-ea"/>
              </a:rPr>
              <a:t>公司的</a:t>
            </a:r>
            <a:r>
              <a:rPr lang="en-US" altLang="zh-CN" sz="2400" b="1" dirty="0">
                <a:solidFill>
                  <a:srgbClr val="FFFF00"/>
                </a:solidFill>
                <a:latin typeface="+mn-ea"/>
              </a:rPr>
              <a:t>Solaris</a:t>
            </a:r>
            <a:r>
              <a:rPr lang="zh-CN" altLang="en-US" sz="2400" b="1" dirty="0">
                <a:solidFill>
                  <a:schemeClr val="bg1"/>
                </a:solidFill>
                <a:latin typeface="+mn-ea"/>
              </a:rPr>
              <a:t>，</a:t>
            </a:r>
            <a:r>
              <a:rPr lang="en-US" altLang="zh-CN" sz="2400" b="1" dirty="0">
                <a:solidFill>
                  <a:schemeClr val="bg1"/>
                </a:solidFill>
                <a:latin typeface="+mn-ea"/>
              </a:rPr>
              <a:t>IBM</a:t>
            </a:r>
            <a:r>
              <a:rPr lang="zh-CN" altLang="en-US" sz="2400" b="1" dirty="0">
                <a:solidFill>
                  <a:schemeClr val="bg1"/>
                </a:solidFill>
                <a:latin typeface="+mn-ea"/>
              </a:rPr>
              <a:t>公司的</a:t>
            </a:r>
            <a:r>
              <a:rPr lang="en-US" altLang="zh-CN" sz="2400" b="1" dirty="0">
                <a:solidFill>
                  <a:srgbClr val="FFFF00"/>
                </a:solidFill>
                <a:latin typeface="+mn-ea"/>
              </a:rPr>
              <a:t>AIX</a:t>
            </a:r>
            <a:r>
              <a:rPr lang="zh-CN" altLang="en-US" sz="2400" b="1" dirty="0">
                <a:solidFill>
                  <a:schemeClr val="bg1"/>
                </a:solidFill>
                <a:latin typeface="+mn-ea"/>
              </a:rPr>
              <a:t>等都是基于</a:t>
            </a:r>
            <a:r>
              <a:rPr lang="en-US" altLang="zh-CN" sz="2400" b="1" dirty="0">
                <a:solidFill>
                  <a:schemeClr val="bg1"/>
                </a:solidFill>
                <a:latin typeface="+mn-ea"/>
              </a:rPr>
              <a:t>UNIX</a:t>
            </a:r>
            <a:r>
              <a:rPr lang="zh-CN" altLang="en-US" sz="2400" b="1" dirty="0">
                <a:solidFill>
                  <a:schemeClr val="bg1"/>
                </a:solidFill>
                <a:latin typeface="+mn-ea"/>
              </a:rPr>
              <a:t>的操作系统。</a:t>
            </a:r>
            <a:r>
              <a:rPr lang="en-US" altLang="zh-CN" sz="2400" b="1" dirty="0">
                <a:solidFill>
                  <a:srgbClr val="FFFF00"/>
                </a:solidFill>
                <a:latin typeface="+mn-ea"/>
              </a:rPr>
              <a:t>Windows</a:t>
            </a:r>
            <a:r>
              <a:rPr lang="zh-CN" altLang="en-US" sz="2400" b="1" dirty="0">
                <a:solidFill>
                  <a:schemeClr val="bg1"/>
                </a:solidFill>
                <a:latin typeface="+mn-ea"/>
              </a:rPr>
              <a:t>系列操作系统，其主要原理也是基于</a:t>
            </a:r>
            <a:r>
              <a:rPr lang="en-US" altLang="zh-CN" sz="2400" b="1" dirty="0">
                <a:solidFill>
                  <a:schemeClr val="bg1"/>
                </a:solidFill>
                <a:latin typeface="+mn-ea"/>
              </a:rPr>
              <a:t>UNIX</a:t>
            </a:r>
            <a:r>
              <a:rPr lang="zh-CN" altLang="en-US" sz="2400" b="1" dirty="0">
                <a:solidFill>
                  <a:schemeClr val="bg1"/>
                </a:solidFill>
                <a:latin typeface="+mn-ea"/>
              </a:rPr>
              <a:t>系统的。</a:t>
            </a:r>
            <a:r>
              <a:rPr lang="en-US" altLang="zh-CN" sz="2400" b="1" dirty="0" err="1">
                <a:solidFill>
                  <a:schemeClr val="bg1"/>
                </a:solidFill>
                <a:latin typeface="+mn-ea"/>
              </a:rPr>
              <a:t>linux</a:t>
            </a:r>
            <a:r>
              <a:rPr lang="zh-CN" altLang="en-US" sz="2400" b="1" dirty="0">
                <a:solidFill>
                  <a:schemeClr val="bg1"/>
                </a:solidFill>
                <a:latin typeface="+mn-ea"/>
              </a:rPr>
              <a:t>系统也是从</a:t>
            </a:r>
            <a:r>
              <a:rPr lang="en-US" altLang="zh-CN" sz="2400" b="1" dirty="0">
                <a:solidFill>
                  <a:schemeClr val="bg1"/>
                </a:solidFill>
                <a:latin typeface="+mn-ea"/>
              </a:rPr>
              <a:t>UNIX</a:t>
            </a:r>
            <a:r>
              <a:rPr lang="zh-CN" altLang="en-US" sz="2400" b="1" dirty="0">
                <a:solidFill>
                  <a:schemeClr val="bg1"/>
                </a:solidFill>
                <a:latin typeface="+mn-ea"/>
              </a:rPr>
              <a:t>演变而成的。</a:t>
            </a:r>
          </a:p>
        </p:txBody>
      </p:sp>
    </p:spTree>
    <p:extLst>
      <p:ext uri="{BB962C8B-B14F-4D97-AF65-F5344CB8AC3E}">
        <p14:creationId xmlns:p14="http://schemas.microsoft.com/office/powerpoint/2010/main" val="143938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通用操作系统（</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1980-1990</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44876"/>
            <a:ext cx="6768752" cy="3293209"/>
          </a:xfrm>
          <a:prstGeom prst="rect">
            <a:avLst/>
          </a:prstGeom>
        </p:spPr>
        <p:txBody>
          <a:bodyPr wrap="square">
            <a:spAutoFit/>
          </a:bodyPr>
          <a:lstStyle/>
          <a:p>
            <a:pPr marL="0" lvl="1" algn="just">
              <a:lnSpc>
                <a:spcPct val="130000"/>
              </a:lnSpc>
              <a:buClr>
                <a:srgbClr val="FFFF00"/>
              </a:buClr>
              <a:buFont typeface="Wingdings" panose="05000000000000000000" pitchFamily="2" charset="2"/>
              <a:buChar char="Ø"/>
            </a:pPr>
            <a:r>
              <a:rPr lang="zh-CN" altLang="en-US" sz="2000" b="1" dirty="0">
                <a:solidFill>
                  <a:schemeClr val="bg1"/>
                </a:solidFill>
                <a:latin typeface="+mn-ea"/>
              </a:rPr>
              <a:t>小型化计算机出现，</a:t>
            </a:r>
            <a:r>
              <a:rPr lang="en-US" altLang="zh-CN" sz="2000" b="1" dirty="0" smtClean="0">
                <a:solidFill>
                  <a:schemeClr val="bg1"/>
                </a:solidFill>
                <a:latin typeface="+mn-ea"/>
              </a:rPr>
              <a:t>PDP-1(</a:t>
            </a:r>
            <a:r>
              <a:rPr lang="zh-CN" altLang="en-US" sz="2000" b="1" dirty="0" smtClean="0">
                <a:solidFill>
                  <a:schemeClr val="bg1"/>
                </a:solidFill>
                <a:latin typeface="+mn-ea"/>
              </a:rPr>
              <a:t>小型机</a:t>
            </a:r>
            <a:r>
              <a:rPr lang="zh-CN" altLang="en-US" sz="2000" b="1" dirty="0">
                <a:solidFill>
                  <a:schemeClr val="bg1"/>
                </a:solidFill>
                <a:latin typeface="+mn-ea"/>
              </a:rPr>
              <a:t>）</a:t>
            </a:r>
            <a:r>
              <a:rPr lang="zh-CN" altLang="en-US" sz="2000" b="1" dirty="0" smtClean="0">
                <a:solidFill>
                  <a:schemeClr val="bg1"/>
                </a:solidFill>
                <a:latin typeface="+mn-ea"/>
              </a:rPr>
              <a:t>每</a:t>
            </a:r>
            <a:r>
              <a:rPr lang="zh-CN" altLang="en-US" sz="2000" b="1" dirty="0">
                <a:solidFill>
                  <a:schemeClr val="bg1"/>
                </a:solidFill>
                <a:latin typeface="+mn-ea"/>
              </a:rPr>
              <a:t>台售价</a:t>
            </a:r>
            <a:r>
              <a:rPr lang="en-US" altLang="zh-CN" sz="2000" b="1" dirty="0">
                <a:solidFill>
                  <a:schemeClr val="bg1"/>
                </a:solidFill>
                <a:latin typeface="+mn-ea"/>
              </a:rPr>
              <a:t>120,000</a:t>
            </a:r>
            <a:r>
              <a:rPr lang="zh-CN" altLang="en-US" sz="2000" b="1" dirty="0">
                <a:solidFill>
                  <a:schemeClr val="bg1"/>
                </a:solidFill>
                <a:latin typeface="+mn-ea"/>
              </a:rPr>
              <a:t>美元，不足</a:t>
            </a:r>
            <a:r>
              <a:rPr lang="en-US" altLang="zh-CN" sz="2000" b="1" dirty="0">
                <a:solidFill>
                  <a:schemeClr val="bg1"/>
                </a:solidFill>
                <a:latin typeface="+mn-ea"/>
              </a:rPr>
              <a:t>7094</a:t>
            </a:r>
            <a:r>
              <a:rPr lang="zh-CN" altLang="en-US" sz="2000" b="1" dirty="0">
                <a:solidFill>
                  <a:schemeClr val="bg1"/>
                </a:solidFill>
                <a:latin typeface="+mn-ea"/>
              </a:rPr>
              <a:t>的</a:t>
            </a:r>
            <a:r>
              <a:rPr lang="en-US" altLang="zh-CN" sz="2000" b="1" dirty="0">
                <a:solidFill>
                  <a:schemeClr val="bg1"/>
                </a:solidFill>
                <a:latin typeface="+mn-ea"/>
              </a:rPr>
              <a:t>5</a:t>
            </a:r>
            <a:r>
              <a:rPr lang="en-US" altLang="zh-CN" sz="2000" b="1" dirty="0" smtClean="0">
                <a:solidFill>
                  <a:schemeClr val="bg1"/>
                </a:solidFill>
                <a:latin typeface="+mn-ea"/>
              </a:rPr>
              <a:t>%</a:t>
            </a:r>
          </a:p>
          <a:p>
            <a:pPr marL="0" lvl="1" algn="just">
              <a:lnSpc>
                <a:spcPct val="130000"/>
              </a:lnSpc>
              <a:buClr>
                <a:srgbClr val="FFFF00"/>
              </a:buClr>
              <a:buFont typeface="Wingdings" panose="05000000000000000000" pitchFamily="2" charset="2"/>
              <a:buChar char="Ø"/>
            </a:pPr>
            <a:r>
              <a:rPr lang="zh-CN" altLang="en-US" sz="2000" b="1" dirty="0">
                <a:solidFill>
                  <a:schemeClr val="bg1"/>
                </a:solidFill>
                <a:latin typeface="+mn-ea"/>
              </a:rPr>
              <a:t>越来越多的个人可以使用</a:t>
            </a:r>
            <a:r>
              <a:rPr lang="zh-CN" altLang="en-US" sz="2000" b="1" dirty="0" smtClean="0">
                <a:solidFill>
                  <a:schemeClr val="bg1"/>
                </a:solidFill>
                <a:latin typeface="+mn-ea"/>
              </a:rPr>
              <a:t>计算机。</a:t>
            </a:r>
            <a:endParaRPr lang="en-US" altLang="zh-CN" sz="2000" b="1" dirty="0" smtClean="0">
              <a:solidFill>
                <a:schemeClr val="bg1"/>
              </a:solidFill>
              <a:latin typeface="+mn-ea"/>
            </a:endParaRPr>
          </a:p>
          <a:p>
            <a:pPr marL="0" lvl="1" algn="just">
              <a:lnSpc>
                <a:spcPct val="130000"/>
              </a:lnSpc>
              <a:buClr>
                <a:srgbClr val="FFFF00"/>
              </a:buClr>
              <a:buFont typeface="Wingdings" panose="05000000000000000000" pitchFamily="2" charset="2"/>
              <a:buChar char="Ø"/>
            </a:pPr>
            <a:r>
              <a:rPr lang="en-US" altLang="zh-CN" sz="2000" b="1" dirty="0">
                <a:solidFill>
                  <a:schemeClr val="bg1"/>
                </a:solidFill>
                <a:latin typeface="+mn-ea"/>
              </a:rPr>
              <a:t>1969</a:t>
            </a:r>
            <a:r>
              <a:rPr lang="zh-CN" altLang="en-US" sz="2000" b="1" dirty="0">
                <a:solidFill>
                  <a:schemeClr val="bg1"/>
                </a:solidFill>
                <a:latin typeface="+mn-ea"/>
              </a:rPr>
              <a:t>年：贝尔实验室的</a:t>
            </a:r>
            <a:r>
              <a:rPr lang="en-US" altLang="zh-CN" sz="2000" b="1" dirty="0" smtClean="0">
                <a:solidFill>
                  <a:schemeClr val="bg1"/>
                </a:solidFill>
                <a:latin typeface="+mn-ea"/>
              </a:rPr>
              <a:t>Ken Thompson</a:t>
            </a:r>
            <a:r>
              <a:rPr lang="zh-CN" altLang="en-US" sz="2000" b="1" dirty="0">
                <a:solidFill>
                  <a:schemeClr val="bg1"/>
                </a:solidFill>
                <a:latin typeface="+mn-ea"/>
              </a:rPr>
              <a:t>、 </a:t>
            </a:r>
            <a:r>
              <a:rPr lang="en-US" altLang="zh-CN" sz="2000" b="1" dirty="0">
                <a:solidFill>
                  <a:schemeClr val="bg1"/>
                </a:solidFill>
                <a:latin typeface="+mn-ea"/>
              </a:rPr>
              <a:t>Dennis </a:t>
            </a:r>
            <a:r>
              <a:rPr lang="en-US" altLang="zh-CN" sz="2000" b="1" dirty="0" err="1">
                <a:solidFill>
                  <a:schemeClr val="bg1"/>
                </a:solidFill>
                <a:latin typeface="+mn-ea"/>
              </a:rPr>
              <a:t>Ritchi</a:t>
            </a:r>
            <a:r>
              <a:rPr lang="zh-CN" altLang="en-US" sz="2000" b="1" dirty="0">
                <a:solidFill>
                  <a:schemeClr val="bg1"/>
                </a:solidFill>
                <a:latin typeface="+mn-ea"/>
              </a:rPr>
              <a:t>等在</a:t>
            </a:r>
            <a:r>
              <a:rPr lang="zh-CN" altLang="en-US" sz="2000" b="1" dirty="0" smtClean="0">
                <a:solidFill>
                  <a:schemeClr val="bg1"/>
                </a:solidFill>
                <a:latin typeface="+mn-ea"/>
              </a:rPr>
              <a:t>一台</a:t>
            </a:r>
            <a:r>
              <a:rPr lang="zh-CN" altLang="en-US" sz="2000" b="1" dirty="0">
                <a:solidFill>
                  <a:schemeClr val="bg1"/>
                </a:solidFill>
                <a:latin typeface="+mn-ea"/>
              </a:rPr>
              <a:t>没人使用的</a:t>
            </a:r>
            <a:r>
              <a:rPr lang="en-US" altLang="zh-CN" sz="2000" b="1" dirty="0">
                <a:solidFill>
                  <a:schemeClr val="bg1"/>
                </a:solidFill>
                <a:latin typeface="+mn-ea"/>
              </a:rPr>
              <a:t>PDP-7</a:t>
            </a:r>
            <a:r>
              <a:rPr lang="zh-CN" altLang="en-US" sz="2000" b="1" dirty="0">
                <a:solidFill>
                  <a:schemeClr val="bg1"/>
                </a:solidFill>
                <a:latin typeface="+mn-ea"/>
              </a:rPr>
              <a:t>上开发一个</a:t>
            </a:r>
            <a:r>
              <a:rPr lang="zh-CN" altLang="en-US" sz="2000" b="1" dirty="0" smtClean="0">
                <a:solidFill>
                  <a:schemeClr val="bg1"/>
                </a:solidFill>
                <a:latin typeface="+mn-ea"/>
              </a:rPr>
              <a:t>简化</a:t>
            </a:r>
            <a:r>
              <a:rPr lang="en-US" altLang="zh-CN" sz="2000" b="1" dirty="0" smtClean="0">
                <a:solidFill>
                  <a:schemeClr val="bg1"/>
                </a:solidFill>
                <a:latin typeface="+mn-ea"/>
              </a:rPr>
              <a:t>MULTICS</a:t>
            </a:r>
            <a:r>
              <a:rPr lang="zh-CN" altLang="en-US" sz="2000" b="1" dirty="0">
                <a:solidFill>
                  <a:schemeClr val="bg1"/>
                </a:solidFill>
                <a:latin typeface="+mn-ea"/>
              </a:rPr>
              <a:t>，就是后来的</a:t>
            </a:r>
            <a:r>
              <a:rPr lang="en-US" altLang="zh-CN" sz="2000" b="1" dirty="0" smtClean="0">
                <a:solidFill>
                  <a:schemeClr val="bg1"/>
                </a:solidFill>
                <a:latin typeface="+mn-ea"/>
              </a:rPr>
              <a:t>UNIX</a:t>
            </a:r>
          </a:p>
          <a:p>
            <a:pPr marL="0" lvl="1" algn="just">
              <a:lnSpc>
                <a:spcPct val="130000"/>
              </a:lnSpc>
              <a:buClr>
                <a:srgbClr val="FFFF00"/>
              </a:buClr>
              <a:buFont typeface="Wingdings" panose="05000000000000000000" pitchFamily="2" charset="2"/>
              <a:buChar char="Ø"/>
            </a:pPr>
            <a:r>
              <a:rPr lang="en-US" altLang="zh-CN" sz="2000" b="1" dirty="0">
                <a:solidFill>
                  <a:schemeClr val="bg1"/>
                </a:solidFill>
                <a:latin typeface="+mn-ea"/>
              </a:rPr>
              <a:t>UNIX</a:t>
            </a:r>
            <a:r>
              <a:rPr lang="zh-CN" altLang="en-US" sz="2000" b="1" dirty="0">
                <a:solidFill>
                  <a:schemeClr val="bg1"/>
                </a:solidFill>
                <a:latin typeface="+mn-ea"/>
              </a:rPr>
              <a:t>是一个简化的</a:t>
            </a:r>
            <a:r>
              <a:rPr lang="en-US" altLang="zh-CN" sz="2000" b="1" dirty="0">
                <a:solidFill>
                  <a:schemeClr val="bg1"/>
                </a:solidFill>
                <a:latin typeface="+mn-ea"/>
              </a:rPr>
              <a:t>MULTICS</a:t>
            </a:r>
            <a:r>
              <a:rPr lang="zh-CN" altLang="en-US" sz="2000" b="1" dirty="0">
                <a:solidFill>
                  <a:schemeClr val="bg1"/>
                </a:solidFill>
                <a:latin typeface="+mn-ea"/>
              </a:rPr>
              <a:t>，</a:t>
            </a:r>
            <a:r>
              <a:rPr lang="zh-CN" altLang="en-US" sz="2000" b="1" dirty="0" smtClean="0">
                <a:solidFill>
                  <a:schemeClr val="bg1"/>
                </a:solidFill>
                <a:latin typeface="+mn-ea"/>
              </a:rPr>
              <a:t>核心</a:t>
            </a:r>
            <a:r>
              <a:rPr lang="zh-CN" altLang="en-US" sz="2000" b="1" dirty="0">
                <a:solidFill>
                  <a:schemeClr val="bg1"/>
                </a:solidFill>
                <a:latin typeface="+mn-ea"/>
              </a:rPr>
              <a:t>概念差不多，但更灵活和成功</a:t>
            </a:r>
          </a:p>
        </p:txBody>
      </p:sp>
      <p:pic>
        <p:nvPicPr>
          <p:cNvPr id="3" name="图片 2"/>
          <p:cNvPicPr>
            <a:picLocks noChangeAspect="1"/>
          </p:cNvPicPr>
          <p:nvPr/>
        </p:nvPicPr>
        <p:blipFill>
          <a:blip r:embed="rId3"/>
          <a:stretch>
            <a:fillRect/>
          </a:stretch>
        </p:blipFill>
        <p:spPr>
          <a:xfrm>
            <a:off x="1763688" y="1635646"/>
            <a:ext cx="5189670" cy="2126164"/>
          </a:xfrm>
          <a:prstGeom prst="rect">
            <a:avLst/>
          </a:prstGeom>
        </p:spPr>
      </p:pic>
    </p:spTree>
    <p:extLst>
      <p:ext uri="{BB962C8B-B14F-4D97-AF65-F5344CB8AC3E}">
        <p14:creationId xmlns:p14="http://schemas.microsoft.com/office/powerpoint/2010/main" val="4244783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75134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UNIX</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到</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Linux(1990-2000)</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5" name="矩形 34"/>
          <p:cNvSpPr/>
          <p:nvPr/>
        </p:nvSpPr>
        <p:spPr>
          <a:xfrm>
            <a:off x="683568" y="1243575"/>
            <a:ext cx="7056784" cy="3293209"/>
          </a:xfrm>
          <a:prstGeom prst="rect">
            <a:avLst/>
          </a:prstGeom>
        </p:spPr>
        <p:txBody>
          <a:bodyPr wrap="square">
            <a:spAutoFit/>
          </a:bodyPr>
          <a:lstStyle/>
          <a:p>
            <a:pPr marL="0" lvl="1">
              <a:lnSpc>
                <a:spcPct val="130000"/>
              </a:lnSpc>
              <a:buClr>
                <a:srgbClr val="FFFF00"/>
              </a:buClr>
              <a:buFont typeface="Wingdings" panose="05000000000000000000" pitchFamily="2" charset="2"/>
              <a:buChar char="Ø"/>
            </a:pPr>
            <a:r>
              <a:rPr lang="en-US" altLang="zh-CN" sz="2000" b="1" dirty="0">
                <a:solidFill>
                  <a:schemeClr val="bg1"/>
                </a:solidFill>
                <a:latin typeface="+mn-ea"/>
              </a:rPr>
              <a:t>1981</a:t>
            </a:r>
            <a:r>
              <a:rPr lang="zh-CN" altLang="en-US" sz="2000" b="1" dirty="0">
                <a:solidFill>
                  <a:schemeClr val="bg1"/>
                </a:solidFill>
                <a:latin typeface="+mn-ea"/>
              </a:rPr>
              <a:t>，</a:t>
            </a:r>
            <a:r>
              <a:rPr lang="en-US" altLang="zh-CN" sz="2000" b="1" dirty="0">
                <a:solidFill>
                  <a:schemeClr val="bg1"/>
                </a:solidFill>
                <a:latin typeface="+mn-ea"/>
              </a:rPr>
              <a:t>IBM</a:t>
            </a:r>
            <a:r>
              <a:rPr lang="zh-CN" altLang="en-US" sz="2000" b="1" dirty="0">
                <a:solidFill>
                  <a:schemeClr val="bg1"/>
                </a:solidFill>
                <a:latin typeface="+mn-ea"/>
              </a:rPr>
              <a:t>推出</a:t>
            </a:r>
            <a:r>
              <a:rPr lang="en-US" altLang="zh-CN" sz="2000" b="1" dirty="0">
                <a:solidFill>
                  <a:schemeClr val="bg1"/>
                </a:solidFill>
                <a:latin typeface="+mn-ea"/>
              </a:rPr>
              <a:t>IBM </a:t>
            </a:r>
            <a:r>
              <a:rPr lang="en-US" altLang="zh-CN" sz="2000" b="1" dirty="0" smtClean="0">
                <a:solidFill>
                  <a:schemeClr val="bg1"/>
                </a:solidFill>
                <a:latin typeface="+mn-ea"/>
              </a:rPr>
              <a:t>PC</a:t>
            </a:r>
            <a:r>
              <a:rPr lang="zh-CN" altLang="en-US" sz="2000" b="1" dirty="0" smtClean="0">
                <a:solidFill>
                  <a:schemeClr val="bg1"/>
                </a:solidFill>
                <a:latin typeface="+mn-ea"/>
              </a:rPr>
              <a:t>，从此个人计算机</a:t>
            </a:r>
            <a:r>
              <a:rPr lang="zh-CN" altLang="en-US" sz="2000" b="1" dirty="0">
                <a:solidFill>
                  <a:schemeClr val="bg1"/>
                </a:solidFill>
                <a:latin typeface="+mn-ea"/>
              </a:rPr>
              <a:t>开始</a:t>
            </a:r>
            <a:r>
              <a:rPr lang="zh-CN" altLang="en-US" sz="2000" b="1" dirty="0" smtClean="0">
                <a:solidFill>
                  <a:schemeClr val="bg1"/>
                </a:solidFill>
                <a:latin typeface="+mn-ea"/>
              </a:rPr>
              <a:t>普及</a:t>
            </a:r>
            <a:endParaRPr lang="en-US" altLang="zh-CN" sz="2000" b="1" dirty="0" smtClean="0">
              <a:solidFill>
                <a:schemeClr val="bg1"/>
              </a:solidFill>
              <a:latin typeface="+mn-ea"/>
            </a:endParaRPr>
          </a:p>
          <a:p>
            <a:pPr marL="342900" lvl="1" indent="17463">
              <a:lnSpc>
                <a:spcPct val="130000"/>
              </a:lnSpc>
              <a:buClr>
                <a:srgbClr val="33CC33"/>
              </a:buClr>
              <a:buFont typeface="Wingdings" panose="05000000000000000000" pitchFamily="2" charset="2"/>
              <a:buChar char="u"/>
            </a:pPr>
            <a:r>
              <a:rPr lang="zh-CN" altLang="en-US" sz="2000" b="1" dirty="0">
                <a:solidFill>
                  <a:schemeClr val="bg1"/>
                </a:solidFill>
                <a:latin typeface="+mn-ea"/>
              </a:rPr>
              <a:t>很多人可以用计算机并接触</a:t>
            </a:r>
            <a:r>
              <a:rPr lang="en-US" altLang="zh-CN" sz="2000" b="1" dirty="0">
                <a:solidFill>
                  <a:schemeClr val="bg1"/>
                </a:solidFill>
                <a:latin typeface="+mn-ea"/>
              </a:rPr>
              <a:t>UNIX </a:t>
            </a:r>
            <a:endParaRPr lang="en-US" altLang="zh-CN" sz="2000" b="1" dirty="0" smtClean="0">
              <a:solidFill>
                <a:schemeClr val="bg1"/>
              </a:solidFill>
              <a:latin typeface="+mn-ea"/>
            </a:endParaRPr>
          </a:p>
          <a:p>
            <a:pPr marL="342900" lvl="1" indent="17463">
              <a:lnSpc>
                <a:spcPct val="130000"/>
              </a:lnSpc>
              <a:buClr>
                <a:srgbClr val="33CC33"/>
              </a:buClr>
              <a:buFont typeface="Wingdings" panose="05000000000000000000" pitchFamily="2" charset="2"/>
              <a:buChar char="u"/>
            </a:pPr>
            <a:r>
              <a:rPr lang="en-US" altLang="zh-CN" sz="2000" b="1" dirty="0" smtClean="0">
                <a:solidFill>
                  <a:schemeClr val="bg1"/>
                </a:solidFill>
                <a:latin typeface="+mn-ea"/>
              </a:rPr>
              <a:t>1987</a:t>
            </a:r>
            <a:r>
              <a:rPr lang="zh-CN" altLang="en-US" sz="2000" b="1" dirty="0">
                <a:solidFill>
                  <a:schemeClr val="bg1"/>
                </a:solidFill>
                <a:latin typeface="+mn-ea"/>
              </a:rPr>
              <a:t>年</a:t>
            </a:r>
            <a:r>
              <a:rPr lang="en-US" altLang="zh-CN" sz="2000" b="1" dirty="0">
                <a:solidFill>
                  <a:schemeClr val="bg1"/>
                </a:solidFill>
                <a:latin typeface="+mn-ea"/>
              </a:rPr>
              <a:t>Andrew </a:t>
            </a:r>
            <a:r>
              <a:rPr lang="en-US" altLang="zh-CN" sz="2000" b="1" dirty="0" err="1">
                <a:solidFill>
                  <a:schemeClr val="bg1"/>
                </a:solidFill>
                <a:latin typeface="+mn-ea"/>
              </a:rPr>
              <a:t>Tanenbaum</a:t>
            </a:r>
            <a:r>
              <a:rPr lang="zh-CN" altLang="en-US" sz="2000" b="1" dirty="0">
                <a:solidFill>
                  <a:schemeClr val="bg1"/>
                </a:solidFill>
                <a:latin typeface="+mn-ea"/>
              </a:rPr>
              <a:t>发布了 </a:t>
            </a:r>
            <a:r>
              <a:rPr lang="en-US" altLang="zh-CN" sz="2000" b="1" dirty="0">
                <a:solidFill>
                  <a:schemeClr val="bg1"/>
                </a:solidFill>
                <a:latin typeface="+mn-ea"/>
              </a:rPr>
              <a:t>MINIX(</a:t>
            </a:r>
            <a:r>
              <a:rPr lang="zh-CN" altLang="en-US" sz="2000" b="1" dirty="0">
                <a:solidFill>
                  <a:schemeClr val="bg1"/>
                </a:solidFill>
                <a:latin typeface="+mn-ea"/>
              </a:rPr>
              <a:t>非常类似</a:t>
            </a:r>
            <a:r>
              <a:rPr lang="en-US" altLang="zh-CN" sz="2000" b="1" dirty="0">
                <a:solidFill>
                  <a:schemeClr val="bg1"/>
                </a:solidFill>
                <a:latin typeface="+mn-ea"/>
              </a:rPr>
              <a:t>UNIX)</a:t>
            </a:r>
            <a:r>
              <a:rPr lang="zh-CN" altLang="en-US" sz="2000" b="1" dirty="0">
                <a:solidFill>
                  <a:schemeClr val="bg1"/>
                </a:solidFill>
                <a:latin typeface="+mn-ea"/>
              </a:rPr>
              <a:t>用于教学 </a:t>
            </a:r>
            <a:endParaRPr lang="en-US" altLang="zh-CN" sz="2000" b="1" dirty="0" smtClean="0">
              <a:solidFill>
                <a:schemeClr val="bg1"/>
              </a:solidFill>
              <a:latin typeface="+mn-ea"/>
            </a:endParaRPr>
          </a:p>
          <a:p>
            <a:pPr marL="342900" lvl="1" indent="17463">
              <a:lnSpc>
                <a:spcPct val="130000"/>
              </a:lnSpc>
              <a:buClr>
                <a:srgbClr val="33CC33"/>
              </a:buClr>
              <a:buFont typeface="Wingdings" panose="05000000000000000000" pitchFamily="2" charset="2"/>
              <a:buChar char="u"/>
            </a:pPr>
            <a:r>
              <a:rPr lang="en-US" altLang="zh-CN" sz="2000" b="1" dirty="0" smtClean="0">
                <a:solidFill>
                  <a:schemeClr val="bg1"/>
                </a:solidFill>
                <a:latin typeface="+mn-ea"/>
              </a:rPr>
              <a:t>Linus </a:t>
            </a:r>
            <a:r>
              <a:rPr lang="en-US" altLang="zh-CN" sz="2000" b="1" dirty="0">
                <a:solidFill>
                  <a:schemeClr val="bg1"/>
                </a:solidFill>
                <a:latin typeface="+mn-ea"/>
              </a:rPr>
              <a:t>Torvalds</a:t>
            </a:r>
            <a:r>
              <a:rPr lang="zh-CN" altLang="en-US" sz="2000" b="1" dirty="0">
                <a:solidFill>
                  <a:schemeClr val="bg1"/>
                </a:solidFill>
                <a:latin typeface="+mn-ea"/>
              </a:rPr>
              <a:t>在</a:t>
            </a:r>
            <a:r>
              <a:rPr lang="en-US" altLang="zh-CN" sz="2000" b="1" dirty="0">
                <a:solidFill>
                  <a:schemeClr val="bg1"/>
                </a:solidFill>
                <a:latin typeface="+mn-ea"/>
              </a:rPr>
              <a:t>386sx</a:t>
            </a:r>
            <a:r>
              <a:rPr lang="zh-CN" altLang="en-US" sz="2000" b="1" dirty="0">
                <a:solidFill>
                  <a:schemeClr val="bg1"/>
                </a:solidFill>
                <a:latin typeface="+mn-ea"/>
              </a:rPr>
              <a:t>兼容微机上</a:t>
            </a:r>
            <a:r>
              <a:rPr lang="zh-CN" altLang="en-US" sz="2000" b="1" dirty="0" smtClean="0">
                <a:solidFill>
                  <a:schemeClr val="bg1"/>
                </a:solidFill>
                <a:latin typeface="+mn-ea"/>
              </a:rPr>
              <a:t>学习</a:t>
            </a:r>
            <a:r>
              <a:rPr lang="en-US" altLang="zh-CN" sz="2000" b="1" dirty="0" err="1">
                <a:solidFill>
                  <a:schemeClr val="bg1"/>
                </a:solidFill>
                <a:latin typeface="+mn-ea"/>
              </a:rPr>
              <a:t>minix</a:t>
            </a:r>
            <a:r>
              <a:rPr lang="zh-CN" altLang="en-US" sz="2000" b="1" dirty="0">
                <a:solidFill>
                  <a:schemeClr val="bg1"/>
                </a:solidFill>
                <a:latin typeface="+mn-ea"/>
              </a:rPr>
              <a:t>，作出小</a:t>
            </a:r>
            <a:r>
              <a:rPr lang="en-US" altLang="zh-CN" sz="2000" b="1" dirty="0">
                <a:solidFill>
                  <a:schemeClr val="bg1"/>
                </a:solidFill>
                <a:latin typeface="+mn-ea"/>
              </a:rPr>
              <a:t>Linux</a:t>
            </a:r>
            <a:r>
              <a:rPr lang="zh-CN" altLang="en-US" sz="2000" b="1" dirty="0">
                <a:solidFill>
                  <a:schemeClr val="bg1"/>
                </a:solidFill>
                <a:latin typeface="+mn-ea"/>
              </a:rPr>
              <a:t>于</a:t>
            </a:r>
            <a:r>
              <a:rPr lang="en-US" altLang="zh-CN" sz="2000" b="1" dirty="0">
                <a:solidFill>
                  <a:schemeClr val="bg1"/>
                </a:solidFill>
                <a:latin typeface="+mn-ea"/>
              </a:rPr>
              <a:t>1991</a:t>
            </a:r>
            <a:r>
              <a:rPr lang="zh-CN" altLang="en-US" sz="2000" b="1" dirty="0">
                <a:solidFill>
                  <a:schemeClr val="bg1"/>
                </a:solidFill>
                <a:latin typeface="+mn-ea"/>
              </a:rPr>
              <a:t>年发布 </a:t>
            </a:r>
            <a:endParaRPr lang="en-US" altLang="zh-CN" sz="2000" b="1" dirty="0">
              <a:solidFill>
                <a:schemeClr val="bg1"/>
              </a:solidFill>
              <a:latin typeface="+mn-ea"/>
            </a:endParaRPr>
          </a:p>
          <a:p>
            <a:pPr marL="342900" lvl="1" indent="17463">
              <a:lnSpc>
                <a:spcPct val="130000"/>
              </a:lnSpc>
              <a:buClr>
                <a:srgbClr val="33CC33"/>
              </a:buClr>
              <a:buFont typeface="Wingdings" panose="05000000000000000000" pitchFamily="2" charset="2"/>
              <a:buChar char="u"/>
            </a:pPr>
            <a:r>
              <a:rPr lang="en-US" altLang="zh-CN" sz="2000" b="1" dirty="0" smtClean="0">
                <a:solidFill>
                  <a:schemeClr val="bg1"/>
                </a:solidFill>
                <a:latin typeface="+mn-ea"/>
              </a:rPr>
              <a:t>1994</a:t>
            </a:r>
            <a:r>
              <a:rPr lang="zh-CN" altLang="en-US" sz="2000" b="1" dirty="0">
                <a:solidFill>
                  <a:schemeClr val="bg1"/>
                </a:solidFill>
                <a:latin typeface="+mn-ea"/>
              </a:rPr>
              <a:t>年，</a:t>
            </a:r>
            <a:r>
              <a:rPr lang="en-US" altLang="zh-CN" sz="2000" b="1" dirty="0">
                <a:solidFill>
                  <a:schemeClr val="bg1"/>
                </a:solidFill>
                <a:latin typeface="+mn-ea"/>
              </a:rPr>
              <a:t>Linux </a:t>
            </a:r>
            <a:r>
              <a:rPr lang="en-US" altLang="zh-CN" sz="2000" b="1" dirty="0" smtClean="0">
                <a:solidFill>
                  <a:schemeClr val="bg1"/>
                </a:solidFill>
                <a:latin typeface="+mn-ea"/>
              </a:rPr>
              <a:t>1.0</a:t>
            </a:r>
            <a:r>
              <a:rPr lang="zh-CN" altLang="en-US" sz="2000" b="1" dirty="0" smtClean="0">
                <a:solidFill>
                  <a:schemeClr val="bg1"/>
                </a:solidFill>
                <a:latin typeface="+mn-ea"/>
              </a:rPr>
              <a:t>（开源）发布</a:t>
            </a:r>
            <a:r>
              <a:rPr lang="zh-CN" altLang="en-US" sz="2000" b="1" dirty="0">
                <a:solidFill>
                  <a:schemeClr val="bg1"/>
                </a:solidFill>
                <a:latin typeface="+mn-ea"/>
              </a:rPr>
              <a:t>并采用</a:t>
            </a:r>
            <a:r>
              <a:rPr lang="en-US" altLang="zh-CN" sz="2000" b="1" dirty="0">
                <a:solidFill>
                  <a:schemeClr val="bg1"/>
                </a:solidFill>
                <a:latin typeface="+mn-ea"/>
              </a:rPr>
              <a:t>GPL</a:t>
            </a:r>
            <a:r>
              <a:rPr lang="zh-CN" altLang="en-US" sz="2000" b="1" dirty="0" smtClean="0">
                <a:solidFill>
                  <a:schemeClr val="bg1"/>
                </a:solidFill>
                <a:latin typeface="+mn-ea"/>
              </a:rPr>
              <a:t>协议</a:t>
            </a:r>
            <a:r>
              <a:rPr lang="zh-CN" altLang="en-US" sz="2000" b="1" dirty="0">
                <a:solidFill>
                  <a:schemeClr val="bg1"/>
                </a:solidFill>
                <a:latin typeface="+mn-ea"/>
              </a:rPr>
              <a:t>，</a:t>
            </a:r>
            <a:r>
              <a:rPr lang="en-US" altLang="zh-CN" sz="2000" b="1" dirty="0">
                <a:solidFill>
                  <a:schemeClr val="bg1"/>
                </a:solidFill>
                <a:latin typeface="+mn-ea"/>
              </a:rPr>
              <a:t>1998</a:t>
            </a:r>
            <a:r>
              <a:rPr lang="zh-CN" altLang="en-US" sz="2000" b="1" dirty="0">
                <a:solidFill>
                  <a:schemeClr val="bg1"/>
                </a:solidFill>
                <a:latin typeface="+mn-ea"/>
              </a:rPr>
              <a:t>年以后互联网世界里展开</a:t>
            </a:r>
            <a:r>
              <a:rPr lang="zh-CN" altLang="en-US" sz="2000" b="1" dirty="0" smtClean="0">
                <a:solidFill>
                  <a:schemeClr val="bg1"/>
                </a:solidFill>
                <a:latin typeface="+mn-ea"/>
              </a:rPr>
              <a:t>了一</a:t>
            </a:r>
            <a:r>
              <a:rPr lang="zh-CN" altLang="en-US" sz="2000" b="1" dirty="0">
                <a:solidFill>
                  <a:schemeClr val="bg1"/>
                </a:solidFill>
                <a:latin typeface="+mn-ea"/>
              </a:rPr>
              <a:t>场历史性的</a:t>
            </a:r>
            <a:r>
              <a:rPr lang="en-US" altLang="zh-CN" sz="2000" b="1" dirty="0">
                <a:solidFill>
                  <a:schemeClr val="bg1"/>
                </a:solidFill>
                <a:latin typeface="+mn-ea"/>
              </a:rPr>
              <a:t>Linux</a:t>
            </a:r>
            <a:r>
              <a:rPr lang="zh-CN" altLang="en-US" sz="2000" b="1" dirty="0">
                <a:solidFill>
                  <a:schemeClr val="bg1"/>
                </a:solidFill>
                <a:latin typeface="+mn-ea"/>
              </a:rPr>
              <a:t>产业化运动</a:t>
            </a:r>
            <a:endParaRPr lang="en-US" altLang="zh-CN" sz="2000" b="1" dirty="0">
              <a:solidFill>
                <a:schemeClr val="bg1"/>
              </a:solidFill>
              <a:latin typeface="+mn-ea"/>
            </a:endParaRPr>
          </a:p>
        </p:txBody>
      </p:sp>
      <p:pic>
        <p:nvPicPr>
          <p:cNvPr id="3" name="图片 2"/>
          <p:cNvPicPr>
            <a:picLocks noChangeAspect="1"/>
          </p:cNvPicPr>
          <p:nvPr/>
        </p:nvPicPr>
        <p:blipFill>
          <a:blip r:embed="rId3"/>
          <a:stretch>
            <a:fillRect/>
          </a:stretch>
        </p:blipFill>
        <p:spPr>
          <a:xfrm>
            <a:off x="6728292" y="224344"/>
            <a:ext cx="2354784" cy="1752752"/>
          </a:xfrm>
          <a:prstGeom prst="rect">
            <a:avLst/>
          </a:prstGeom>
        </p:spPr>
      </p:pic>
      <p:pic>
        <p:nvPicPr>
          <p:cNvPr id="4" name="图片 3"/>
          <p:cNvPicPr>
            <a:picLocks noChangeAspect="1"/>
          </p:cNvPicPr>
          <p:nvPr/>
        </p:nvPicPr>
        <p:blipFill>
          <a:blip r:embed="rId4"/>
          <a:stretch>
            <a:fillRect/>
          </a:stretch>
        </p:blipFill>
        <p:spPr>
          <a:xfrm>
            <a:off x="7668344" y="2235345"/>
            <a:ext cx="1486029" cy="2301439"/>
          </a:xfrm>
          <a:prstGeom prst="rect">
            <a:avLst/>
          </a:prstGeom>
        </p:spPr>
      </p:pic>
    </p:spTree>
    <p:extLst>
      <p:ext uri="{BB962C8B-B14F-4D97-AF65-F5344CB8AC3E}">
        <p14:creationId xmlns:p14="http://schemas.microsoft.com/office/powerpoint/2010/main" val="158748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wipe(left)">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xEl>
                                              <p:pRg st="1" end="1"/>
                                            </p:txEl>
                                          </p:spTgt>
                                        </p:tgtEl>
                                        <p:attrNameLst>
                                          <p:attrName>style.visibility</p:attrName>
                                        </p:attrNameLst>
                                      </p:cBhvr>
                                      <p:to>
                                        <p:strVal val="visible"/>
                                      </p:to>
                                    </p:set>
                                    <p:animEffect transition="in" filter="wipe(left)">
                                      <p:cBhvr>
                                        <p:cTn id="17" dur="500"/>
                                        <p:tgtEl>
                                          <p:spTgt spid="3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
                                            <p:txEl>
                                              <p:pRg st="2" end="2"/>
                                            </p:txEl>
                                          </p:spTgt>
                                        </p:tgtEl>
                                        <p:attrNameLst>
                                          <p:attrName>style.visibility</p:attrName>
                                        </p:attrNameLst>
                                      </p:cBhvr>
                                      <p:to>
                                        <p:strVal val="visible"/>
                                      </p:to>
                                    </p:set>
                                    <p:animEffect transition="in" filter="wipe(left)">
                                      <p:cBhvr>
                                        <p:cTn id="22" dur="500"/>
                                        <p:tgtEl>
                                          <p:spTgt spid="3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
                                            <p:txEl>
                                              <p:pRg st="3" end="3"/>
                                            </p:txEl>
                                          </p:spTgt>
                                        </p:tgtEl>
                                        <p:attrNameLst>
                                          <p:attrName>style.visibility</p:attrName>
                                        </p:attrNameLst>
                                      </p:cBhvr>
                                      <p:to>
                                        <p:strVal val="visible"/>
                                      </p:to>
                                    </p:set>
                                    <p:animEffect transition="in" filter="wipe(left)">
                                      <p:cBhvr>
                                        <p:cTn id="27" dur="500"/>
                                        <p:tgtEl>
                                          <p:spTgt spid="3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
                                            <p:txEl>
                                              <p:pRg st="4" end="4"/>
                                            </p:txEl>
                                          </p:spTgt>
                                        </p:tgtEl>
                                        <p:attrNameLst>
                                          <p:attrName>style.visibility</p:attrName>
                                        </p:attrNameLst>
                                      </p:cBhvr>
                                      <p:to>
                                        <p:strVal val="visible"/>
                                      </p:to>
                                    </p:set>
                                    <p:animEffect transition="in" filter="wipe(left)">
                                      <p:cBhvr>
                                        <p:cTn id="37"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操作系统的进一步发展</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66924"/>
            <a:ext cx="7056784" cy="2905026"/>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sz="2400" b="1" dirty="0">
                <a:solidFill>
                  <a:schemeClr val="bg1"/>
                </a:solidFill>
                <a:latin typeface="+mn-ea"/>
              </a:rPr>
              <a:t>进入</a:t>
            </a:r>
            <a:r>
              <a:rPr lang="en-US" altLang="zh-CN" sz="2400" b="1" dirty="0">
                <a:solidFill>
                  <a:schemeClr val="bg1"/>
                </a:solidFill>
                <a:latin typeface="+mn-ea"/>
              </a:rPr>
              <a:t>20</a:t>
            </a:r>
            <a:r>
              <a:rPr lang="zh-CN" altLang="en-US" sz="2400" b="1" dirty="0">
                <a:solidFill>
                  <a:schemeClr val="bg1"/>
                </a:solidFill>
                <a:latin typeface="+mn-ea"/>
              </a:rPr>
              <a:t>世纪</a:t>
            </a:r>
            <a:r>
              <a:rPr lang="en-US" altLang="zh-CN" sz="2400" b="1" dirty="0">
                <a:solidFill>
                  <a:schemeClr val="bg1"/>
                </a:solidFill>
                <a:latin typeface="+mn-ea"/>
              </a:rPr>
              <a:t>80</a:t>
            </a:r>
            <a:r>
              <a:rPr lang="zh-CN" altLang="en-US" sz="2400" b="1" dirty="0">
                <a:solidFill>
                  <a:schemeClr val="bg1"/>
                </a:solidFill>
                <a:latin typeface="+mn-ea"/>
              </a:rPr>
              <a:t>年代</a:t>
            </a:r>
            <a:r>
              <a:rPr lang="zh-CN" altLang="en-US" sz="2400" b="1" dirty="0" smtClean="0">
                <a:solidFill>
                  <a:schemeClr val="bg1"/>
                </a:solidFill>
                <a:latin typeface="+mn-ea"/>
              </a:rPr>
              <a:t>，操作系统</a:t>
            </a:r>
            <a:r>
              <a:rPr lang="zh-CN" altLang="en-US" sz="2400" b="1" dirty="0">
                <a:solidFill>
                  <a:schemeClr val="bg1"/>
                </a:solidFill>
                <a:latin typeface="+mn-ea"/>
              </a:rPr>
              <a:t>有了进一步的发展：</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个人计算机</a:t>
            </a:r>
            <a:r>
              <a:rPr lang="zh-CN" altLang="en-US" sz="2400" b="1" dirty="0">
                <a:solidFill>
                  <a:schemeClr val="bg1"/>
                </a:solidFill>
                <a:latin typeface="+mn-ea"/>
              </a:rPr>
              <a:t>上的操作系统，例如</a:t>
            </a:r>
            <a:r>
              <a:rPr lang="en-US" altLang="zh-CN" sz="2400" b="1" dirty="0">
                <a:solidFill>
                  <a:schemeClr val="bg1"/>
                </a:solidFill>
                <a:latin typeface="+mn-ea"/>
              </a:rPr>
              <a:t>Window</a:t>
            </a:r>
            <a:r>
              <a:rPr lang="zh-CN" altLang="en-US" sz="2400" b="1" dirty="0">
                <a:solidFill>
                  <a:schemeClr val="bg1"/>
                </a:solidFill>
                <a:latin typeface="+mn-ea"/>
              </a:rPr>
              <a:t>系统。</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嵌入式</a:t>
            </a:r>
            <a:r>
              <a:rPr lang="zh-CN" altLang="en-US" sz="2400" b="1" dirty="0">
                <a:solidFill>
                  <a:schemeClr val="bg1"/>
                </a:solidFill>
                <a:latin typeface="+mn-ea"/>
              </a:rPr>
              <a:t>操作系统。</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网络</a:t>
            </a:r>
            <a:r>
              <a:rPr lang="zh-CN" altLang="en-US" sz="2400" b="1" dirty="0">
                <a:solidFill>
                  <a:schemeClr val="bg1"/>
                </a:solidFill>
                <a:latin typeface="+mn-ea"/>
              </a:rPr>
              <a:t>操作系统</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分布式操作系统</a:t>
            </a:r>
            <a:r>
              <a:rPr lang="zh-CN" altLang="en-US" sz="2400" b="1" dirty="0">
                <a:solidFill>
                  <a:schemeClr val="bg1"/>
                </a:solidFill>
                <a:latin typeface="+mn-ea"/>
              </a:rPr>
              <a:t>。</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智能化</a:t>
            </a:r>
            <a:r>
              <a:rPr lang="zh-CN" altLang="en-US" sz="2400" b="1" dirty="0">
                <a:solidFill>
                  <a:schemeClr val="bg1"/>
                </a:solidFill>
                <a:latin typeface="+mn-ea"/>
              </a:rPr>
              <a:t>操作系统</a:t>
            </a:r>
          </a:p>
        </p:txBody>
      </p:sp>
    </p:spTree>
    <p:extLst>
      <p:ext uri="{BB962C8B-B14F-4D97-AF65-F5344CB8AC3E}">
        <p14:creationId xmlns:p14="http://schemas.microsoft.com/office/powerpoint/2010/main" val="16886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操作系统的进一步发展</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66924"/>
            <a:ext cx="7056784" cy="2905026"/>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sz="2400" b="1" dirty="0">
                <a:solidFill>
                  <a:schemeClr val="bg1"/>
                </a:solidFill>
                <a:latin typeface="+mn-ea"/>
              </a:rPr>
              <a:t>进入</a:t>
            </a:r>
            <a:r>
              <a:rPr lang="en-US" altLang="zh-CN" sz="2400" b="1" dirty="0">
                <a:solidFill>
                  <a:schemeClr val="bg1"/>
                </a:solidFill>
                <a:latin typeface="+mn-ea"/>
              </a:rPr>
              <a:t>20</a:t>
            </a:r>
            <a:r>
              <a:rPr lang="zh-CN" altLang="en-US" sz="2400" b="1" dirty="0">
                <a:solidFill>
                  <a:schemeClr val="bg1"/>
                </a:solidFill>
                <a:latin typeface="+mn-ea"/>
              </a:rPr>
              <a:t>世纪</a:t>
            </a:r>
            <a:r>
              <a:rPr lang="en-US" altLang="zh-CN" sz="2400" b="1" dirty="0">
                <a:solidFill>
                  <a:schemeClr val="bg1"/>
                </a:solidFill>
                <a:latin typeface="+mn-ea"/>
              </a:rPr>
              <a:t>80</a:t>
            </a:r>
            <a:r>
              <a:rPr lang="zh-CN" altLang="en-US" sz="2400" b="1" dirty="0">
                <a:solidFill>
                  <a:schemeClr val="bg1"/>
                </a:solidFill>
                <a:latin typeface="+mn-ea"/>
              </a:rPr>
              <a:t>年代</a:t>
            </a:r>
            <a:r>
              <a:rPr lang="zh-CN" altLang="en-US" sz="2400" b="1" dirty="0" smtClean="0">
                <a:solidFill>
                  <a:schemeClr val="bg1"/>
                </a:solidFill>
                <a:latin typeface="+mn-ea"/>
              </a:rPr>
              <a:t>，操作系统</a:t>
            </a:r>
            <a:r>
              <a:rPr lang="zh-CN" altLang="en-US" sz="2400" b="1" dirty="0">
                <a:solidFill>
                  <a:schemeClr val="bg1"/>
                </a:solidFill>
                <a:latin typeface="+mn-ea"/>
              </a:rPr>
              <a:t>有了进一步的发展：</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个人计算机</a:t>
            </a:r>
            <a:r>
              <a:rPr lang="zh-CN" altLang="en-US" sz="2400" b="1" dirty="0">
                <a:solidFill>
                  <a:schemeClr val="bg1"/>
                </a:solidFill>
                <a:latin typeface="+mn-ea"/>
              </a:rPr>
              <a:t>上的操作系统，例如</a:t>
            </a:r>
            <a:r>
              <a:rPr lang="en-US" altLang="zh-CN" sz="2400" b="1" dirty="0">
                <a:solidFill>
                  <a:schemeClr val="bg1"/>
                </a:solidFill>
                <a:latin typeface="+mn-ea"/>
              </a:rPr>
              <a:t>Window</a:t>
            </a:r>
            <a:r>
              <a:rPr lang="zh-CN" altLang="en-US" sz="2400" b="1" dirty="0">
                <a:solidFill>
                  <a:schemeClr val="bg1"/>
                </a:solidFill>
                <a:latin typeface="+mn-ea"/>
              </a:rPr>
              <a:t>系统。</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嵌入式</a:t>
            </a:r>
            <a:r>
              <a:rPr lang="zh-CN" altLang="en-US" sz="2400" b="1" dirty="0">
                <a:solidFill>
                  <a:schemeClr val="bg1"/>
                </a:solidFill>
                <a:latin typeface="+mn-ea"/>
              </a:rPr>
              <a:t>操作系统。</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网络</a:t>
            </a:r>
            <a:r>
              <a:rPr lang="zh-CN" altLang="en-US" sz="2400" b="1" dirty="0">
                <a:solidFill>
                  <a:schemeClr val="bg1"/>
                </a:solidFill>
                <a:latin typeface="+mn-ea"/>
              </a:rPr>
              <a:t>操作系统</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分布式操作系统</a:t>
            </a:r>
            <a:r>
              <a:rPr lang="zh-CN" altLang="en-US" sz="2400" b="1" dirty="0">
                <a:solidFill>
                  <a:schemeClr val="bg1"/>
                </a:solidFill>
                <a:latin typeface="+mn-ea"/>
              </a:rPr>
              <a:t>。</a:t>
            </a:r>
          </a:p>
          <a:p>
            <a:pPr marL="342900" lvl="1" indent="-161925" algn="just">
              <a:lnSpc>
                <a:spcPct val="130000"/>
              </a:lnSpc>
              <a:buClr>
                <a:schemeClr val="accent6">
                  <a:lumMod val="40000"/>
                  <a:lumOff val="60000"/>
                </a:schemeClr>
              </a:buClr>
              <a:buFont typeface="Wingdings" panose="05000000000000000000" pitchFamily="2" charset="2"/>
              <a:buChar char="l"/>
            </a:pPr>
            <a:r>
              <a:rPr lang="zh-CN" altLang="en-US" sz="2400" b="1" dirty="0" smtClean="0">
                <a:solidFill>
                  <a:schemeClr val="bg1"/>
                </a:solidFill>
                <a:latin typeface="+mn-ea"/>
              </a:rPr>
              <a:t>智能化</a:t>
            </a:r>
            <a:r>
              <a:rPr lang="zh-CN" altLang="en-US" sz="2400" b="1" dirty="0">
                <a:solidFill>
                  <a:schemeClr val="bg1"/>
                </a:solidFill>
                <a:latin typeface="+mn-ea"/>
              </a:rPr>
              <a:t>操作系统</a:t>
            </a:r>
          </a:p>
        </p:txBody>
      </p:sp>
    </p:spTree>
    <p:extLst>
      <p:ext uri="{BB962C8B-B14F-4D97-AF65-F5344CB8AC3E}">
        <p14:creationId xmlns:p14="http://schemas.microsoft.com/office/powerpoint/2010/main" val="298536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179512" y="142858"/>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IBSYS→OS/360</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 </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MULTICS</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 </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Unix</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 </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Linux</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977121"/>
            <a:ext cx="7056784" cy="1052596"/>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sz="2400" b="1" dirty="0">
                <a:solidFill>
                  <a:schemeClr val="bg1"/>
                </a:solidFill>
                <a:latin typeface="+mn-ea"/>
              </a:rPr>
              <a:t>总结历史：</a:t>
            </a:r>
            <a:r>
              <a:rPr lang="zh-CN" altLang="en-US" sz="2400" b="1" dirty="0" smtClean="0">
                <a:solidFill>
                  <a:schemeClr val="bg1"/>
                </a:solidFill>
                <a:latin typeface="+mn-ea"/>
              </a:rPr>
              <a:t>历史让</a:t>
            </a:r>
            <a:r>
              <a:rPr lang="zh-CN" altLang="en-US" sz="2400" b="1" dirty="0">
                <a:solidFill>
                  <a:schemeClr val="bg1"/>
                </a:solidFill>
                <a:latin typeface="+mn-ea"/>
              </a:rPr>
              <a:t>人</a:t>
            </a:r>
            <a:r>
              <a:rPr lang="zh-CN" altLang="en-US" sz="2400" b="1" dirty="0" smtClean="0">
                <a:solidFill>
                  <a:schemeClr val="bg1"/>
                </a:solidFill>
                <a:latin typeface="+mn-ea"/>
              </a:rPr>
              <a:t>明智</a:t>
            </a:r>
            <a:endParaRPr lang="en-US" altLang="zh-CN" sz="2400" b="1" dirty="0" smtClean="0">
              <a:solidFill>
                <a:schemeClr val="bg1"/>
              </a:solidFill>
              <a:latin typeface="+mn-ea"/>
            </a:endParaRPr>
          </a:p>
          <a:p>
            <a:pPr marL="0" lvl="1" algn="just">
              <a:lnSpc>
                <a:spcPct val="130000"/>
              </a:lnSpc>
              <a:buClr>
                <a:srgbClr val="FFFF00"/>
              </a:buClr>
            </a:pPr>
            <a:r>
              <a:rPr lang="en-US" altLang="zh-CN" sz="2400" b="1" dirty="0">
                <a:solidFill>
                  <a:schemeClr val="bg1"/>
                </a:solidFill>
                <a:latin typeface="+mn-ea"/>
              </a:rPr>
              <a:t> </a:t>
            </a:r>
            <a:r>
              <a:rPr lang="zh-CN" altLang="en-US" sz="2400" b="1" dirty="0" smtClean="0">
                <a:solidFill>
                  <a:schemeClr val="bg1"/>
                </a:solidFill>
                <a:latin typeface="+mn-ea"/>
              </a:rPr>
              <a:t>（</a:t>
            </a:r>
            <a:r>
              <a:rPr lang="zh-CN" altLang="en-US" sz="2400" b="1" dirty="0" smtClean="0">
                <a:solidFill>
                  <a:srgbClr val="FFFF00"/>
                </a:solidFill>
                <a:latin typeface="+mn-ea"/>
              </a:rPr>
              <a:t>核心都是“多进程”</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grpSp>
        <p:nvGrpSpPr>
          <p:cNvPr id="6" name="组合 5"/>
          <p:cNvGrpSpPr/>
          <p:nvPr/>
        </p:nvGrpSpPr>
        <p:grpSpPr>
          <a:xfrm>
            <a:off x="1187624" y="1062443"/>
            <a:ext cx="6408975" cy="3574090"/>
            <a:chOff x="1367512" y="784705"/>
            <a:chExt cx="6408975" cy="3574090"/>
          </a:xfrm>
        </p:grpSpPr>
        <p:pic>
          <p:nvPicPr>
            <p:cNvPr id="4" name="图片 3"/>
            <p:cNvPicPr>
              <a:picLocks noChangeAspect="1"/>
            </p:cNvPicPr>
            <p:nvPr/>
          </p:nvPicPr>
          <p:blipFill>
            <a:blip r:embed="rId2"/>
            <a:stretch>
              <a:fillRect/>
            </a:stretch>
          </p:blipFill>
          <p:spPr>
            <a:xfrm>
              <a:off x="1367512" y="784705"/>
              <a:ext cx="6408975" cy="3574090"/>
            </a:xfrm>
            <a:prstGeom prst="rect">
              <a:avLst/>
            </a:prstGeom>
          </p:spPr>
        </p:pic>
        <p:pic>
          <p:nvPicPr>
            <p:cNvPr id="5" name="图片 4"/>
            <p:cNvPicPr>
              <a:picLocks noChangeAspect="1"/>
            </p:cNvPicPr>
            <p:nvPr/>
          </p:nvPicPr>
          <p:blipFill>
            <a:blip r:embed="rId3"/>
            <a:stretch>
              <a:fillRect/>
            </a:stretch>
          </p:blipFill>
          <p:spPr>
            <a:xfrm>
              <a:off x="7288765" y="784705"/>
              <a:ext cx="487722" cy="1211685"/>
            </a:xfrm>
            <a:prstGeom prst="rect">
              <a:avLst/>
            </a:prstGeom>
          </p:spPr>
        </p:pic>
      </p:grpSp>
    </p:spTree>
    <p:extLst>
      <p:ext uri="{BB962C8B-B14F-4D97-AF65-F5344CB8AC3E}">
        <p14:creationId xmlns:p14="http://schemas.microsoft.com/office/powerpoint/2010/main" val="47024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39552" y="144103"/>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还要说一说</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Mac OS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与</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iOS</a:t>
            </a:r>
          </a:p>
        </p:txBody>
      </p:sp>
      <p:sp>
        <p:nvSpPr>
          <p:cNvPr id="2" name="矩形 1"/>
          <p:cNvSpPr/>
          <p:nvPr/>
        </p:nvSpPr>
        <p:spPr>
          <a:xfrm>
            <a:off x="827584" y="1287060"/>
            <a:ext cx="6984776" cy="3293209"/>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en-US" altLang="zh-CN" sz="2000" b="1" dirty="0">
                <a:solidFill>
                  <a:schemeClr val="bg1"/>
                </a:solidFill>
                <a:latin typeface="+mn-ea"/>
              </a:rPr>
              <a:t>1984</a:t>
            </a:r>
            <a:r>
              <a:rPr lang="zh-CN" altLang="en-US" sz="2000" b="1" dirty="0">
                <a:solidFill>
                  <a:schemeClr val="bg1"/>
                </a:solidFill>
                <a:latin typeface="+mn-ea"/>
              </a:rPr>
              <a:t>年，苹果推出</a:t>
            </a:r>
            <a:r>
              <a:rPr lang="en-US" altLang="zh-CN" sz="2000" b="1" dirty="0">
                <a:solidFill>
                  <a:schemeClr val="bg1"/>
                </a:solidFill>
                <a:latin typeface="+mn-ea"/>
              </a:rPr>
              <a:t>PC(</a:t>
            </a:r>
            <a:r>
              <a:rPr lang="zh-CN" altLang="en-US" sz="2000" b="1" dirty="0">
                <a:solidFill>
                  <a:schemeClr val="bg1"/>
                </a:solidFill>
                <a:latin typeface="+mn-ea"/>
              </a:rPr>
              <a:t>麦金塔机，</a:t>
            </a:r>
            <a:r>
              <a:rPr lang="en-US" altLang="zh-CN" sz="2000" b="1" dirty="0">
                <a:solidFill>
                  <a:schemeClr val="bg1"/>
                </a:solidFill>
                <a:latin typeface="+mn-ea"/>
              </a:rPr>
              <a:t>Macintosh)</a:t>
            </a:r>
            <a:r>
              <a:rPr lang="zh-CN" altLang="en-US" sz="2000" b="1" dirty="0" smtClean="0">
                <a:solidFill>
                  <a:schemeClr val="bg1"/>
                </a:solidFill>
                <a:latin typeface="+mn-ea"/>
              </a:rPr>
              <a:t>，简称</a:t>
            </a:r>
            <a:r>
              <a:rPr lang="en-US" altLang="zh-CN" sz="2000" b="1" dirty="0">
                <a:solidFill>
                  <a:schemeClr val="bg1"/>
                </a:solidFill>
                <a:latin typeface="+mn-ea"/>
              </a:rPr>
              <a:t>Mac</a:t>
            </a:r>
            <a:r>
              <a:rPr lang="zh-CN" altLang="en-US" sz="2000" b="1" dirty="0">
                <a:solidFill>
                  <a:schemeClr val="bg1"/>
                </a:solidFill>
                <a:latin typeface="+mn-ea"/>
              </a:rPr>
              <a:t>机，其处理器使用</a:t>
            </a:r>
            <a:r>
              <a:rPr lang="en-US" altLang="zh-CN" sz="2000" b="1" dirty="0">
                <a:solidFill>
                  <a:schemeClr val="bg1"/>
                </a:solidFill>
                <a:latin typeface="+mn-ea"/>
              </a:rPr>
              <a:t>IBM</a:t>
            </a:r>
            <a:r>
              <a:rPr lang="zh-CN" altLang="en-US" sz="2000" b="1" dirty="0">
                <a:solidFill>
                  <a:schemeClr val="bg1"/>
                </a:solidFill>
                <a:latin typeface="+mn-ea"/>
              </a:rPr>
              <a:t>、</a:t>
            </a:r>
            <a:r>
              <a:rPr lang="en-US" altLang="zh-CN" sz="2000" b="1" dirty="0">
                <a:solidFill>
                  <a:schemeClr val="bg1"/>
                </a:solidFill>
                <a:latin typeface="+mn-ea"/>
              </a:rPr>
              <a:t>Intel</a:t>
            </a:r>
            <a:r>
              <a:rPr lang="zh-CN" altLang="en-US" sz="2000" b="1" dirty="0">
                <a:solidFill>
                  <a:schemeClr val="bg1"/>
                </a:solidFill>
                <a:latin typeface="+mn-ea"/>
              </a:rPr>
              <a:t>或</a:t>
            </a:r>
            <a:r>
              <a:rPr lang="en-US" altLang="zh-CN" sz="2000" b="1" dirty="0" smtClean="0">
                <a:solidFill>
                  <a:schemeClr val="bg1"/>
                </a:solidFill>
                <a:latin typeface="+mn-ea"/>
              </a:rPr>
              <a:t>AMD</a:t>
            </a:r>
            <a:r>
              <a:rPr lang="zh-CN" altLang="en-US" sz="2000" b="1" dirty="0" smtClean="0">
                <a:solidFill>
                  <a:schemeClr val="bg1"/>
                </a:solidFill>
                <a:latin typeface="+mn-ea"/>
              </a:rPr>
              <a:t>等</a:t>
            </a:r>
            <a:r>
              <a:rPr lang="zh-CN" altLang="en-US" sz="2000" b="1" dirty="0">
                <a:solidFill>
                  <a:schemeClr val="bg1"/>
                </a:solidFill>
                <a:latin typeface="+mn-ea"/>
              </a:rPr>
              <a:t>，核心在于屏幕、能耗</a:t>
            </a:r>
            <a:r>
              <a:rPr lang="zh-CN" altLang="en-US" sz="2000" b="1" dirty="0" smtClean="0">
                <a:solidFill>
                  <a:schemeClr val="bg1"/>
                </a:solidFill>
                <a:latin typeface="+mn-ea"/>
              </a:rPr>
              <a:t>等</a:t>
            </a:r>
            <a:endParaRPr lang="en-US" altLang="zh-CN" sz="2000" b="1" dirty="0" smtClean="0">
              <a:solidFill>
                <a:schemeClr val="bg1"/>
              </a:solidFill>
              <a:latin typeface="+mn-ea"/>
            </a:endParaRPr>
          </a:p>
          <a:p>
            <a:pPr marL="0" lvl="1" indent="-285750" algn="just">
              <a:lnSpc>
                <a:spcPct val="130000"/>
              </a:lnSpc>
              <a:buClr>
                <a:srgbClr val="FFFF00"/>
              </a:buClr>
              <a:buFont typeface="Wingdings" panose="05000000000000000000" pitchFamily="2" charset="2"/>
              <a:buChar char="Ø"/>
            </a:pPr>
            <a:r>
              <a:rPr lang="zh-CN" altLang="en-US" sz="2000" b="1" dirty="0">
                <a:solidFill>
                  <a:schemeClr val="bg1"/>
                </a:solidFill>
                <a:latin typeface="+mn-ea"/>
              </a:rPr>
              <a:t>与</a:t>
            </a:r>
            <a:r>
              <a:rPr lang="en-US" altLang="zh-CN" sz="2000" b="1" dirty="0">
                <a:solidFill>
                  <a:schemeClr val="bg1"/>
                </a:solidFill>
                <a:latin typeface="+mn-ea"/>
              </a:rPr>
              <a:t>Mac</a:t>
            </a:r>
            <a:r>
              <a:rPr lang="zh-CN" altLang="en-US" sz="2000" b="1" dirty="0">
                <a:solidFill>
                  <a:schemeClr val="bg1"/>
                </a:solidFill>
                <a:latin typeface="+mn-ea"/>
              </a:rPr>
              <a:t>机一起发布</a:t>
            </a:r>
            <a:r>
              <a:rPr lang="en-US" altLang="zh-CN" sz="2000" b="1" dirty="0">
                <a:solidFill>
                  <a:schemeClr val="bg1"/>
                </a:solidFill>
                <a:latin typeface="+mn-ea"/>
              </a:rPr>
              <a:t>System X</a:t>
            </a:r>
            <a:r>
              <a:rPr lang="zh-CN" altLang="en-US" sz="2000" b="1" dirty="0">
                <a:solidFill>
                  <a:schemeClr val="bg1"/>
                </a:solidFill>
                <a:latin typeface="+mn-ea"/>
              </a:rPr>
              <a:t>系统，一上来就是</a:t>
            </a:r>
            <a:r>
              <a:rPr lang="en-US" altLang="zh-CN" sz="2000" b="1" dirty="0">
                <a:solidFill>
                  <a:schemeClr val="bg1"/>
                </a:solidFill>
                <a:latin typeface="+mn-ea"/>
              </a:rPr>
              <a:t>GUI </a:t>
            </a:r>
            <a:endParaRPr lang="en-US" altLang="zh-CN" sz="2000" b="1" dirty="0" smtClean="0">
              <a:solidFill>
                <a:schemeClr val="bg1"/>
              </a:solidFill>
              <a:latin typeface="+mn-ea"/>
            </a:endParaRPr>
          </a:p>
          <a:p>
            <a:pPr marL="0" lvl="1" indent="-285750" algn="just">
              <a:lnSpc>
                <a:spcPct val="130000"/>
              </a:lnSpc>
              <a:buClr>
                <a:srgbClr val="FFFF00"/>
              </a:buClr>
              <a:buFont typeface="Wingdings" panose="05000000000000000000" pitchFamily="2" charset="2"/>
              <a:buChar char="Ø"/>
            </a:pPr>
            <a:r>
              <a:rPr lang="zh-CN" altLang="en-US" sz="2000" b="1" dirty="0" smtClean="0">
                <a:solidFill>
                  <a:schemeClr val="bg1"/>
                </a:solidFill>
                <a:latin typeface="+mn-ea"/>
              </a:rPr>
              <a:t>在</a:t>
            </a:r>
            <a:r>
              <a:rPr lang="en-US" altLang="zh-CN" sz="2000" b="1" dirty="0">
                <a:solidFill>
                  <a:schemeClr val="bg1"/>
                </a:solidFill>
                <a:latin typeface="+mn-ea"/>
              </a:rPr>
              <a:t>System 7</a:t>
            </a:r>
            <a:r>
              <a:rPr lang="zh-CN" altLang="en-US" sz="2000" b="1" dirty="0">
                <a:solidFill>
                  <a:schemeClr val="bg1"/>
                </a:solidFill>
                <a:latin typeface="+mn-ea"/>
              </a:rPr>
              <a:t>以后改名为</a:t>
            </a:r>
            <a:r>
              <a:rPr lang="en-US" altLang="zh-CN" sz="2000" b="1" dirty="0">
                <a:solidFill>
                  <a:schemeClr val="bg1"/>
                </a:solidFill>
                <a:latin typeface="+mn-ea"/>
              </a:rPr>
              <a:t>Mac OS 8 </a:t>
            </a:r>
            <a:endParaRPr lang="en-US" altLang="zh-CN" sz="2000" b="1" dirty="0" smtClean="0">
              <a:solidFill>
                <a:schemeClr val="bg1"/>
              </a:solidFill>
              <a:latin typeface="+mn-ea"/>
            </a:endParaRPr>
          </a:p>
          <a:p>
            <a:pPr marL="0" lvl="1" indent="-285750" algn="just">
              <a:lnSpc>
                <a:spcPct val="130000"/>
              </a:lnSpc>
              <a:buClr>
                <a:srgbClr val="FFFF00"/>
              </a:buClr>
              <a:buFont typeface="Wingdings" panose="05000000000000000000" pitchFamily="2" charset="2"/>
              <a:buChar char="Ø"/>
            </a:pPr>
            <a:r>
              <a:rPr lang="en-US" altLang="zh-CN" sz="2000" b="1" dirty="0" smtClean="0">
                <a:solidFill>
                  <a:schemeClr val="bg1"/>
                </a:solidFill>
                <a:latin typeface="+mn-ea"/>
              </a:rPr>
              <a:t>2007</a:t>
            </a:r>
            <a:r>
              <a:rPr lang="zh-CN" altLang="en-US" sz="2000" b="1" dirty="0">
                <a:solidFill>
                  <a:schemeClr val="bg1"/>
                </a:solidFill>
                <a:latin typeface="+mn-ea"/>
              </a:rPr>
              <a:t>年发布</a:t>
            </a:r>
            <a:r>
              <a:rPr lang="en-US" altLang="zh-CN" sz="2000" b="1" dirty="0">
                <a:solidFill>
                  <a:schemeClr val="bg1"/>
                </a:solidFill>
                <a:latin typeface="+mn-ea"/>
              </a:rPr>
              <a:t>iOS</a:t>
            </a:r>
            <a:r>
              <a:rPr lang="zh-CN" altLang="en-US" sz="2000" b="1" dirty="0">
                <a:solidFill>
                  <a:schemeClr val="bg1"/>
                </a:solidFill>
                <a:latin typeface="+mn-ea"/>
              </a:rPr>
              <a:t>，核心仍然是</a:t>
            </a:r>
            <a:r>
              <a:rPr lang="en-US" altLang="zh-CN" sz="2000" b="1" dirty="0">
                <a:solidFill>
                  <a:schemeClr val="bg1"/>
                </a:solidFill>
                <a:latin typeface="+mn-ea"/>
              </a:rPr>
              <a:t>Mac OS</a:t>
            </a:r>
            <a:r>
              <a:rPr lang="zh-CN" altLang="en-US" sz="2000" b="1" dirty="0">
                <a:solidFill>
                  <a:schemeClr val="bg1"/>
                </a:solidFill>
                <a:latin typeface="+mn-ea"/>
              </a:rPr>
              <a:t>，专为</a:t>
            </a:r>
            <a:r>
              <a:rPr lang="zh-CN" altLang="en-US" sz="2000" b="1" dirty="0" smtClean="0">
                <a:solidFill>
                  <a:schemeClr val="bg1"/>
                </a:solidFill>
                <a:latin typeface="+mn-ea"/>
              </a:rPr>
              <a:t>移动设备</a:t>
            </a:r>
            <a:r>
              <a:rPr lang="zh-CN" altLang="en-US" sz="2000" b="1" dirty="0">
                <a:solidFill>
                  <a:schemeClr val="bg1"/>
                </a:solidFill>
                <a:latin typeface="+mn-ea"/>
              </a:rPr>
              <a:t>，如手势</a:t>
            </a:r>
            <a:r>
              <a:rPr lang="zh-CN" altLang="en-US" sz="2000" b="1" dirty="0" smtClean="0">
                <a:solidFill>
                  <a:schemeClr val="bg1"/>
                </a:solidFill>
                <a:latin typeface="+mn-ea"/>
              </a:rPr>
              <a:t>等</a:t>
            </a:r>
            <a:endParaRPr lang="en-US" altLang="zh-CN" sz="2000" b="1" dirty="0" smtClean="0">
              <a:solidFill>
                <a:schemeClr val="bg1"/>
              </a:solidFill>
              <a:latin typeface="+mn-ea"/>
            </a:endParaRPr>
          </a:p>
          <a:p>
            <a:pPr marL="0" lvl="1" indent="-285750" algn="just">
              <a:lnSpc>
                <a:spcPct val="130000"/>
              </a:lnSpc>
              <a:buClr>
                <a:srgbClr val="FFFF00"/>
              </a:buClr>
              <a:buFont typeface="Wingdings" panose="05000000000000000000" pitchFamily="2" charset="2"/>
              <a:buChar char="Ø"/>
            </a:pPr>
            <a:r>
              <a:rPr lang="en-US" altLang="zh-CN" sz="2000" b="1" dirty="0" smtClean="0">
                <a:solidFill>
                  <a:schemeClr val="bg1"/>
                </a:solidFill>
                <a:latin typeface="+mn-ea"/>
              </a:rPr>
              <a:t>Mac </a:t>
            </a:r>
            <a:r>
              <a:rPr lang="en-US" altLang="zh-CN" sz="2000" b="1" dirty="0">
                <a:solidFill>
                  <a:schemeClr val="bg1"/>
                </a:solidFill>
                <a:latin typeface="+mn-ea"/>
              </a:rPr>
              <a:t>OS 8 Mac OS</a:t>
            </a:r>
            <a:r>
              <a:rPr lang="zh-CN" altLang="en-US" sz="2000" b="1" dirty="0">
                <a:solidFill>
                  <a:schemeClr val="bg1"/>
                </a:solidFill>
                <a:latin typeface="+mn-ea"/>
              </a:rPr>
              <a:t>核心是</a:t>
            </a:r>
            <a:r>
              <a:rPr lang="en-US" altLang="zh-CN" sz="2000" b="1" dirty="0">
                <a:solidFill>
                  <a:schemeClr val="bg1"/>
                </a:solidFill>
                <a:latin typeface="+mn-ea"/>
              </a:rPr>
              <a:t>UNIX</a:t>
            </a:r>
            <a:r>
              <a:rPr lang="zh-CN" altLang="en-US" sz="2000" b="1" dirty="0">
                <a:solidFill>
                  <a:schemeClr val="bg1"/>
                </a:solidFill>
                <a:latin typeface="+mn-ea"/>
              </a:rPr>
              <a:t>，专注于界面、文件、 媒体等和用户有关的内容</a:t>
            </a:r>
            <a:endParaRPr lang="en-US" altLang="zh-CN" sz="2000" b="1" dirty="0">
              <a:solidFill>
                <a:schemeClr val="bg1"/>
              </a:solidFill>
              <a:latin typeface="+mn-ea"/>
            </a:endParaRPr>
          </a:p>
        </p:txBody>
      </p:sp>
    </p:spTree>
    <p:extLst>
      <p:ext uri="{BB962C8B-B14F-4D97-AF65-F5344CB8AC3E}">
        <p14:creationId xmlns:p14="http://schemas.microsoft.com/office/powerpoint/2010/main" val="14569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39552" y="144103"/>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更要说一说鸿蒙</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18147"/>
            <a:ext cx="6768752" cy="3333220"/>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b="1" dirty="0">
                <a:solidFill>
                  <a:schemeClr val="bg1"/>
                </a:solidFill>
                <a:latin typeface="+mn-ea"/>
              </a:rPr>
              <a:t>架构特点</a:t>
            </a:r>
          </a:p>
          <a:p>
            <a:pPr marL="555625" lvl="1" indent="-285750" algn="just">
              <a:lnSpc>
                <a:spcPct val="130000"/>
              </a:lnSpc>
              <a:buClr>
                <a:srgbClr val="FFFF00"/>
              </a:buClr>
              <a:buFont typeface="Wingdings" panose="05000000000000000000" pitchFamily="2" charset="2"/>
              <a:buChar char="u"/>
            </a:pPr>
            <a:r>
              <a:rPr lang="zh-CN" altLang="en-US" b="1" dirty="0">
                <a:solidFill>
                  <a:schemeClr val="bg1"/>
                </a:solidFill>
                <a:latin typeface="+mn-ea"/>
              </a:rPr>
              <a:t>分布式架构：将多个物理设备虚拟成一个 “超级虚拟终端”，通过分布式软总线实现设备间高速互联，支持跨设备的数据传输；分布式数据管理提供统一的数据模型，确保数据在不同设备间的一致性；分布式任务调度使任务可在不同设备间自由迁移。</a:t>
            </a:r>
          </a:p>
          <a:p>
            <a:pPr marL="555625" lvl="1" indent="-285750" algn="just">
              <a:lnSpc>
                <a:spcPct val="130000"/>
              </a:lnSpc>
              <a:buClr>
                <a:srgbClr val="FFFF00"/>
              </a:buClr>
              <a:buFont typeface="Wingdings" panose="05000000000000000000" pitchFamily="2" charset="2"/>
              <a:buChar char="u"/>
            </a:pPr>
            <a:r>
              <a:rPr lang="zh-CN" altLang="en-US" b="1" dirty="0">
                <a:solidFill>
                  <a:schemeClr val="bg1"/>
                </a:solidFill>
                <a:latin typeface="+mn-ea"/>
              </a:rPr>
              <a:t>微内核设计：降低了系统的复杂性，提高了安全性，通过模块化设计，可以根据设备需求裁剪系统组件，适应从 </a:t>
            </a:r>
            <a:r>
              <a:rPr lang="en-US" altLang="zh-CN" b="1" dirty="0">
                <a:solidFill>
                  <a:schemeClr val="bg1"/>
                </a:solidFill>
                <a:latin typeface="+mn-ea"/>
              </a:rPr>
              <a:t>KB </a:t>
            </a:r>
            <a:r>
              <a:rPr lang="zh-CN" altLang="en-US" b="1" dirty="0">
                <a:solidFill>
                  <a:schemeClr val="bg1"/>
                </a:solidFill>
                <a:latin typeface="+mn-ea"/>
              </a:rPr>
              <a:t>到 </a:t>
            </a:r>
            <a:r>
              <a:rPr lang="en-US" altLang="zh-CN" b="1" dirty="0">
                <a:solidFill>
                  <a:schemeClr val="bg1"/>
                </a:solidFill>
                <a:latin typeface="+mn-ea"/>
              </a:rPr>
              <a:t>GB </a:t>
            </a:r>
            <a:r>
              <a:rPr lang="zh-CN" altLang="en-US" b="1" dirty="0">
                <a:solidFill>
                  <a:schemeClr val="bg1"/>
                </a:solidFill>
                <a:latin typeface="+mn-ea"/>
              </a:rPr>
              <a:t>级别的内存空间，同时也适用于高实时性的应用场景。</a:t>
            </a:r>
            <a:endParaRPr lang="en-US" altLang="zh-CN" b="1" dirty="0">
              <a:solidFill>
                <a:schemeClr val="bg1"/>
              </a:solidFill>
              <a:latin typeface="+mn-ea"/>
            </a:endParaRPr>
          </a:p>
        </p:txBody>
      </p:sp>
    </p:spTree>
    <p:extLst>
      <p:ext uri="{BB962C8B-B14F-4D97-AF65-F5344CB8AC3E}">
        <p14:creationId xmlns:p14="http://schemas.microsoft.com/office/powerpoint/2010/main" val="253667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39552" y="144103"/>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更要说一说鸿蒙</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42697"/>
            <a:ext cx="6768752" cy="3607911"/>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b="1" dirty="0" smtClean="0">
                <a:solidFill>
                  <a:schemeClr val="bg1"/>
                </a:solidFill>
                <a:latin typeface="+mn-ea"/>
              </a:rPr>
              <a:t>核心</a:t>
            </a:r>
            <a:r>
              <a:rPr lang="zh-CN" altLang="en-US" b="1" dirty="0">
                <a:solidFill>
                  <a:schemeClr val="bg1"/>
                </a:solidFill>
                <a:latin typeface="+mn-ea"/>
              </a:rPr>
              <a:t>特性</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多设备协同</a:t>
            </a:r>
            <a:r>
              <a:rPr lang="zh-CN" altLang="en-US" sz="1600" b="1" dirty="0">
                <a:solidFill>
                  <a:schemeClr val="bg1"/>
                </a:solidFill>
                <a:latin typeface="+mn-ea"/>
              </a:rPr>
              <a:t>：通过分布式技术，实现设备间的无缝连接和协同，支持在不同设备间流转应用，还能共享彼此的硬件资源，如摄像头、麦克风等。</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性能优化</a:t>
            </a:r>
            <a:r>
              <a:rPr lang="zh-CN" altLang="en-US" sz="1600" b="1" dirty="0">
                <a:solidFill>
                  <a:schemeClr val="bg1"/>
                </a:solidFill>
                <a:latin typeface="+mn-ea"/>
              </a:rPr>
              <a:t>：确定时延引擎可在任务执行前分配系统中任务执行的优先级及时限，确保应用响应的及时性。鸿蒙微内核结构小巧，使得 </a:t>
            </a:r>
            <a:r>
              <a:rPr lang="en-US" altLang="zh-CN" sz="1600" b="1" dirty="0">
                <a:solidFill>
                  <a:schemeClr val="bg1"/>
                </a:solidFill>
                <a:latin typeface="+mn-ea"/>
              </a:rPr>
              <a:t>IPC </a:t>
            </a:r>
            <a:r>
              <a:rPr lang="zh-CN" altLang="en-US" sz="1600" b="1" dirty="0">
                <a:solidFill>
                  <a:schemeClr val="bg1"/>
                </a:solidFill>
                <a:latin typeface="+mn-ea"/>
              </a:rPr>
              <a:t>性能得到显著提升，进程通信效率较现有系统提升了 </a:t>
            </a:r>
            <a:r>
              <a:rPr lang="en-US" altLang="zh-CN" sz="1600" b="1" dirty="0">
                <a:solidFill>
                  <a:schemeClr val="bg1"/>
                </a:solidFill>
                <a:latin typeface="+mn-ea"/>
              </a:rPr>
              <a:t>5 </a:t>
            </a:r>
            <a:r>
              <a:rPr lang="zh-CN" altLang="en-US" sz="1600" b="1" dirty="0">
                <a:solidFill>
                  <a:schemeClr val="bg1"/>
                </a:solidFill>
                <a:latin typeface="+mn-ea"/>
              </a:rPr>
              <a:t>倍，保证了系统的流畅性。</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安全可信</a:t>
            </a:r>
            <a:r>
              <a:rPr lang="zh-CN" altLang="en-US" sz="1600" b="1" dirty="0">
                <a:solidFill>
                  <a:schemeClr val="bg1"/>
                </a:solidFill>
                <a:latin typeface="+mn-ea"/>
              </a:rPr>
              <a:t>：采用全新的微内核设计，拥有更强的安全特性，还将微内核技术应用于可信执行环境（</a:t>
            </a:r>
            <a:r>
              <a:rPr lang="en-US" altLang="zh-CN" sz="1600" b="1" dirty="0">
                <a:solidFill>
                  <a:schemeClr val="bg1"/>
                </a:solidFill>
                <a:latin typeface="+mn-ea"/>
              </a:rPr>
              <a:t>TEE</a:t>
            </a:r>
            <a:r>
              <a:rPr lang="zh-CN" altLang="en-US" sz="1600" b="1" dirty="0">
                <a:solidFill>
                  <a:schemeClr val="bg1"/>
                </a:solidFill>
                <a:latin typeface="+mn-ea"/>
              </a:rPr>
              <a:t>），通过形式化方法重塑可信安全，从源头验证系统正确性和无漏洞。</a:t>
            </a:r>
            <a:endParaRPr lang="en-US" altLang="zh-CN" sz="1600" b="1" dirty="0">
              <a:solidFill>
                <a:schemeClr val="bg1"/>
              </a:solidFill>
              <a:latin typeface="+mn-ea"/>
            </a:endParaRPr>
          </a:p>
        </p:txBody>
      </p:sp>
    </p:spTree>
    <p:extLst>
      <p:ext uri="{BB962C8B-B14F-4D97-AF65-F5344CB8AC3E}">
        <p14:creationId xmlns:p14="http://schemas.microsoft.com/office/powerpoint/2010/main" val="425908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39552" y="144103"/>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更要说一说鸿蒙</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42697"/>
            <a:ext cx="6768752" cy="3653308"/>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b="1" dirty="0">
                <a:solidFill>
                  <a:schemeClr val="bg1"/>
                </a:solidFill>
                <a:latin typeface="+mn-ea"/>
              </a:rPr>
              <a:t>应用</a:t>
            </a:r>
            <a:r>
              <a:rPr lang="zh-CN" altLang="en-US" b="1" dirty="0" smtClean="0">
                <a:solidFill>
                  <a:schemeClr val="bg1"/>
                </a:solidFill>
                <a:latin typeface="+mn-ea"/>
              </a:rPr>
              <a:t>领域</a:t>
            </a:r>
            <a:endParaRPr lang="zh-CN" altLang="en-US" b="1" dirty="0">
              <a:solidFill>
                <a:schemeClr val="bg1"/>
              </a:solidFill>
              <a:latin typeface="+mn-ea"/>
            </a:endParaRP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智能手机和平板电脑：</a:t>
            </a:r>
            <a:r>
              <a:rPr lang="zh-CN" altLang="en-US" sz="1600" b="1" dirty="0">
                <a:solidFill>
                  <a:schemeClr val="bg1"/>
                </a:solidFill>
                <a:latin typeface="+mn-ea"/>
              </a:rPr>
              <a:t>实现与其他设备的协同工作，兼容 </a:t>
            </a:r>
            <a:r>
              <a:rPr lang="en-US" altLang="zh-CN" sz="1600" b="1" dirty="0">
                <a:solidFill>
                  <a:schemeClr val="bg1"/>
                </a:solidFill>
                <a:latin typeface="+mn-ea"/>
              </a:rPr>
              <a:t>Android </a:t>
            </a:r>
            <a:r>
              <a:rPr lang="zh-CN" altLang="en-US" sz="1600" b="1" dirty="0">
                <a:solidFill>
                  <a:schemeClr val="bg1"/>
                </a:solidFill>
                <a:latin typeface="+mn-ea"/>
              </a:rPr>
              <a:t>应用，逐步构建 </a:t>
            </a:r>
            <a:r>
              <a:rPr lang="en-US" altLang="zh-CN" sz="1600" b="1" dirty="0" err="1">
                <a:solidFill>
                  <a:schemeClr val="bg1"/>
                </a:solidFill>
                <a:latin typeface="+mn-ea"/>
              </a:rPr>
              <a:t>HarmonyOS</a:t>
            </a:r>
            <a:r>
              <a:rPr lang="en-US" altLang="zh-CN" sz="1600" b="1" dirty="0">
                <a:solidFill>
                  <a:schemeClr val="bg1"/>
                </a:solidFill>
                <a:latin typeface="+mn-ea"/>
              </a:rPr>
              <a:t> </a:t>
            </a:r>
            <a:r>
              <a:rPr lang="zh-CN" altLang="en-US" sz="1600" b="1" dirty="0">
                <a:solidFill>
                  <a:schemeClr val="bg1"/>
                </a:solidFill>
                <a:latin typeface="+mn-ea"/>
              </a:rPr>
              <a:t>原生应用生态，通过系统优化提升设备的运行速度和续航能力。</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可穿戴设备：</a:t>
            </a:r>
            <a:r>
              <a:rPr lang="zh-CN" altLang="en-US" sz="1600" b="1" dirty="0">
                <a:solidFill>
                  <a:schemeClr val="bg1"/>
                </a:solidFill>
                <a:latin typeface="+mn-ea"/>
              </a:rPr>
              <a:t>如智能手表、手环等，提供健康监测、运动追踪等功能，与手机数据同步，且针对低功耗设备进行了优化，延长电池寿命。</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智慧屏和电视：</a:t>
            </a:r>
            <a:r>
              <a:rPr lang="zh-CN" altLang="en-US" sz="1600" b="1" dirty="0">
                <a:solidFill>
                  <a:schemeClr val="bg1"/>
                </a:solidFill>
                <a:latin typeface="+mn-ea"/>
              </a:rPr>
              <a:t>可作为家庭娱乐中心，支持高清视频播放、视频通话、智能家居控制等，还能实现手机内容直接在大屏设备上展示。</a:t>
            </a:r>
          </a:p>
          <a:p>
            <a:pPr marL="555625" lvl="1" indent="-285750" algn="just">
              <a:lnSpc>
                <a:spcPct val="130000"/>
              </a:lnSpc>
              <a:buClr>
                <a:srgbClr val="FFFF00"/>
              </a:buClr>
              <a:buFont typeface="Wingdings" panose="05000000000000000000" pitchFamily="2" charset="2"/>
              <a:buChar char="u"/>
            </a:pPr>
            <a:r>
              <a:rPr lang="zh-CN" altLang="en-US" sz="1600" b="1" dirty="0">
                <a:solidFill>
                  <a:schemeClr val="accent6">
                    <a:lumMod val="60000"/>
                    <a:lumOff val="40000"/>
                  </a:schemeClr>
                </a:solidFill>
                <a:latin typeface="+mn-ea"/>
              </a:rPr>
              <a:t>车载系统：</a:t>
            </a:r>
            <a:r>
              <a:rPr lang="zh-CN" altLang="en-US" sz="1600" b="1" dirty="0">
                <a:solidFill>
                  <a:schemeClr val="bg1"/>
                </a:solidFill>
                <a:latin typeface="+mn-ea"/>
              </a:rPr>
              <a:t>提供导航、娱乐、语音助手等功能，实现手机与车载系统的深度融合。</a:t>
            </a:r>
          </a:p>
        </p:txBody>
      </p:sp>
    </p:spTree>
    <p:extLst>
      <p:ext uri="{BB962C8B-B14F-4D97-AF65-F5344CB8AC3E}">
        <p14:creationId xmlns:p14="http://schemas.microsoft.com/office/powerpoint/2010/main" val="134536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操作系统概念及历史</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操作系统的基本类型</a:t>
              </a:r>
              <a:endParaRPr lang="en-US" altLang="zh-CN" b="1" dirty="0">
                <a:solidFill>
                  <a:srgbClr val="000000"/>
                </a:solidFill>
                <a:ea typeface="宋体" pitchFamily="2" charset="-122"/>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操作系统的功能</a:t>
              </a:r>
              <a:endParaRPr lang="en-US" altLang="zh-CN" b="1" dirty="0">
                <a:solidFill>
                  <a:srgbClr val="000000"/>
                </a:solidFill>
                <a:ea typeface="宋体" pitchFamily="2" charset="-122"/>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计算机硬件简介</a:t>
              </a:r>
              <a:endParaRPr lang="en-US" altLang="zh-CN" b="1" dirty="0">
                <a:solidFill>
                  <a:srgbClr val="000000"/>
                </a:solidFill>
                <a:ea typeface="宋体" pitchFamily="2" charset="-122"/>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算法描述及研究操作系统的观点</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277052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par>
                                <p:cTn id="7" presetID="42" presetClass="path" presetSubtype="0" accel="50000" decel="50000" fill="hold" nodeType="withEffect">
                                  <p:stCondLst>
                                    <p:cond delay="0"/>
                                  </p:stCondLst>
                                  <p:childTnLst>
                                    <p:animMotion origin="layout" path="M -3.61111E-6 -3.7037E-6 L 0.00139 0.15741 " pathEditMode="relative" rAng="0" ptsTypes="AA">
                                      <p:cBhvr>
                                        <p:cTn id="8" dur="2000" fill="hold"/>
                                        <p:tgtEl>
                                          <p:spTgt spid="16"/>
                                        </p:tgtEl>
                                        <p:attrNameLst>
                                          <p:attrName>ppt_x</p:attrName>
                                          <p:attrName>ppt_y</p:attrName>
                                        </p:attrNameLst>
                                      </p:cBhvr>
                                      <p:rCtr x="69" y="787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27"/>
                                        </p:tgtEl>
                                      </p:cBhvr>
                                    </p:animEffect>
                                    <p:set>
                                      <p:cBhvr>
                                        <p:cTn id="14" dur="1" fill="hold">
                                          <p:stCondLst>
                                            <p:cond delay="1999"/>
                                          </p:stCondLst>
                                        </p:cTn>
                                        <p:tgtEl>
                                          <p:spTgt spid="27"/>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32"/>
                                        </p:tgtEl>
                                      </p:cBhvr>
                                    </p:animEffect>
                                    <p:set>
                                      <p:cBhvr>
                                        <p:cTn id="20" dur="1" fill="hold">
                                          <p:stCondLst>
                                            <p:cond delay="1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pic>
        <p:nvPicPr>
          <p:cNvPr id="33" name="Picture 3" descr="图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31" y="1290039"/>
            <a:ext cx="8229600"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95536" y="1995686"/>
            <a:ext cx="1512168" cy="707886"/>
          </a:xfrm>
          <a:prstGeom prst="rect">
            <a:avLst/>
          </a:prstGeom>
          <a:noFill/>
        </p:spPr>
        <p:txBody>
          <a:bodyPr wrap="square" rtlCol="0">
            <a:spAutoFit/>
          </a:bodyPr>
          <a:lstStyle/>
          <a:p>
            <a:pPr algn="ctr"/>
            <a:r>
              <a:rPr lang="zh-CN" altLang="en-US" sz="2000" b="1" dirty="0" smtClean="0">
                <a:solidFill>
                  <a:srgbClr val="FF0000"/>
                </a:solidFill>
              </a:rPr>
              <a:t>用户脱机使用计算机</a:t>
            </a:r>
            <a:endParaRPr lang="zh-CN" altLang="en-US" sz="2000" b="1" dirty="0">
              <a:solidFill>
                <a:srgbClr val="FF0000"/>
              </a:solidFill>
            </a:endParaRPr>
          </a:p>
        </p:txBody>
      </p:sp>
      <p:sp>
        <p:nvSpPr>
          <p:cNvPr id="29" name="文本框 28"/>
          <p:cNvSpPr txBox="1"/>
          <p:nvPr/>
        </p:nvSpPr>
        <p:spPr>
          <a:xfrm>
            <a:off x="2973263" y="2168170"/>
            <a:ext cx="1512168" cy="400110"/>
          </a:xfrm>
          <a:prstGeom prst="rect">
            <a:avLst/>
          </a:prstGeom>
          <a:noFill/>
        </p:spPr>
        <p:txBody>
          <a:bodyPr wrap="square" rtlCol="0">
            <a:spAutoFit/>
          </a:bodyPr>
          <a:lstStyle/>
          <a:p>
            <a:pPr algn="ctr"/>
            <a:r>
              <a:rPr lang="zh-CN" altLang="en-US" sz="2000" b="1" dirty="0">
                <a:solidFill>
                  <a:srgbClr val="FF0000"/>
                </a:solidFill>
              </a:rPr>
              <a:t>成批处理</a:t>
            </a:r>
          </a:p>
        </p:txBody>
      </p:sp>
      <p:sp>
        <p:nvSpPr>
          <p:cNvPr id="30" name="文本框 29"/>
          <p:cNvSpPr txBox="1"/>
          <p:nvPr/>
        </p:nvSpPr>
        <p:spPr>
          <a:xfrm>
            <a:off x="5161197" y="2595559"/>
            <a:ext cx="1066987" cy="707886"/>
          </a:xfrm>
          <a:prstGeom prst="rect">
            <a:avLst/>
          </a:prstGeom>
          <a:noFill/>
        </p:spPr>
        <p:txBody>
          <a:bodyPr wrap="square" rtlCol="0">
            <a:spAutoFit/>
          </a:bodyPr>
          <a:lstStyle/>
          <a:p>
            <a:pPr algn="ctr"/>
            <a:r>
              <a:rPr lang="zh-CN" altLang="en-US" sz="2000" b="1" dirty="0" smtClean="0">
                <a:solidFill>
                  <a:srgbClr val="FF0000"/>
                </a:solidFill>
              </a:rPr>
              <a:t>多道程序运行</a:t>
            </a:r>
            <a:endParaRPr lang="zh-CN" altLang="en-US" sz="2000" b="1" dirty="0">
              <a:solidFill>
                <a:srgbClr val="FF0000"/>
              </a:solidFill>
            </a:endParaRPr>
          </a:p>
        </p:txBody>
      </p:sp>
    </p:spTree>
    <p:extLst>
      <p:ext uri="{BB962C8B-B14F-4D97-AF65-F5344CB8AC3E}">
        <p14:creationId xmlns:p14="http://schemas.microsoft.com/office/powerpoint/2010/main" val="224210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29" grpId="0"/>
      <p:bldP spid="3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29" name="矩形 28"/>
          <p:cNvSpPr/>
          <p:nvPr/>
        </p:nvSpPr>
        <p:spPr>
          <a:xfrm>
            <a:off x="755576" y="1466924"/>
            <a:ext cx="7056784" cy="2973122"/>
          </a:xfrm>
          <a:prstGeom prst="rect">
            <a:avLst/>
          </a:prstGeom>
        </p:spPr>
        <p:txBody>
          <a:bodyPr wrap="square">
            <a:spAutoFit/>
          </a:bodyPr>
          <a:lstStyle/>
          <a:p>
            <a:pPr marL="0" lvl="1" indent="-285750" algn="just">
              <a:lnSpc>
                <a:spcPct val="130000"/>
              </a:lnSpc>
              <a:buClr>
                <a:srgbClr val="FFFF00"/>
              </a:buClr>
              <a:buFont typeface="Wingdings" panose="05000000000000000000" pitchFamily="2" charset="2"/>
              <a:buChar char="Ø"/>
            </a:pPr>
            <a:r>
              <a:rPr lang="zh-CN" altLang="en-US" sz="2400" b="1" dirty="0" smtClean="0">
                <a:solidFill>
                  <a:srgbClr val="FFFF00"/>
                </a:solidFill>
                <a:latin typeface="+mn-ea"/>
              </a:rPr>
              <a:t>优点</a:t>
            </a:r>
            <a:r>
              <a:rPr lang="zh-CN" altLang="en-US" sz="2400" b="1" dirty="0" smtClean="0">
                <a:solidFill>
                  <a:schemeClr val="bg1"/>
                </a:solidFill>
                <a:latin typeface="+mn-ea"/>
              </a:rPr>
              <a:t>：作业之间自动调度执行，在运行过程中用户不干预自己的作业，从而大大提高了系统资源的利用率和作业吞吐量。</a:t>
            </a:r>
            <a:endParaRPr lang="en-US" altLang="zh-CN" sz="2400" b="1" dirty="0" smtClean="0">
              <a:solidFill>
                <a:schemeClr val="bg1"/>
              </a:solidFill>
              <a:latin typeface="+mn-ea"/>
            </a:endParaRPr>
          </a:p>
          <a:p>
            <a:pPr marL="0" lvl="1" indent="-285750" algn="just">
              <a:lnSpc>
                <a:spcPct val="130000"/>
              </a:lnSpc>
              <a:buClr>
                <a:srgbClr val="FFFF00"/>
              </a:buClr>
              <a:buFont typeface="Wingdings" panose="05000000000000000000" pitchFamily="2" charset="2"/>
              <a:buChar char="Ø"/>
            </a:pPr>
            <a:r>
              <a:rPr lang="zh-CN" altLang="en-US" sz="2400" b="1" dirty="0" smtClean="0">
                <a:solidFill>
                  <a:srgbClr val="FFFF00"/>
                </a:solidFill>
                <a:latin typeface="+mn-ea"/>
              </a:rPr>
              <a:t>缺点</a:t>
            </a:r>
            <a:r>
              <a:rPr lang="zh-CN" altLang="en-US" sz="2400" b="1" dirty="0" smtClean="0">
                <a:solidFill>
                  <a:schemeClr val="bg1"/>
                </a:solidFill>
                <a:latin typeface="+mn-ea"/>
              </a:rPr>
              <a:t>：无交互性，用户一旦提交作业就失去了对其运行的控制能力；作业周转时间长，用户使用不方便。</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2795647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a:off x="5945560" y="1904363"/>
            <a:ext cx="2069421" cy="1380304"/>
          </a:xfrm>
          <a:custGeom>
            <a:avLst/>
            <a:gdLst>
              <a:gd name="connsiteX0" fmla="*/ 0 w 2069421"/>
              <a:gd name="connsiteY0" fmla="*/ 0 h 1380304"/>
              <a:gd name="connsiteX1" fmla="*/ 2069421 w 2069421"/>
              <a:gd name="connsiteY1" fmla="*/ 0 h 1380304"/>
              <a:gd name="connsiteX2" fmla="*/ 2069421 w 2069421"/>
              <a:gd name="connsiteY2" fmla="*/ 1380304 h 1380304"/>
              <a:gd name="connsiteX3" fmla="*/ 0 w 2069421"/>
              <a:gd name="connsiteY3" fmla="*/ 1380304 h 1380304"/>
              <a:gd name="connsiteX4" fmla="*/ 0 w 2069421"/>
              <a:gd name="connsiteY4" fmla="*/ 0 h 1380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421" h="1380304">
                <a:moveTo>
                  <a:pt x="0" y="0"/>
                </a:moveTo>
                <a:lnTo>
                  <a:pt x="2069421" y="0"/>
                </a:lnTo>
                <a:lnTo>
                  <a:pt x="2069421" y="1380304"/>
                </a:lnTo>
                <a:lnTo>
                  <a:pt x="0" y="1380304"/>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31107" tIns="334264" rIns="334265" bIns="334264" numCol="1" spcCol="1270" anchor="ctr" anchorCtr="0">
            <a:noAutofit/>
          </a:bodyPr>
          <a:lstStyle/>
          <a:p>
            <a:pPr algn="just" defTabSz="889000">
              <a:lnSpc>
                <a:spcPct val="90000"/>
              </a:lnSpc>
              <a:spcBef>
                <a:spcPct val="0"/>
              </a:spcBef>
              <a:spcAft>
                <a:spcPct val="35000"/>
              </a:spcAft>
            </a:pPr>
            <a:r>
              <a:rPr lang="zh-CN" altLang="en-US" sz="2000" b="1" dirty="0"/>
              <a:t>原则上不一定要求有多重处理系统</a:t>
            </a:r>
            <a:r>
              <a:rPr lang="zh-CN" altLang="en-US" sz="2000" b="1" dirty="0" smtClean="0"/>
              <a:t>的支持</a:t>
            </a:r>
            <a:endParaRPr lang="zh-CN" altLang="en-US" sz="2000" b="1" dirty="0"/>
          </a:p>
        </p:txBody>
      </p:sp>
      <p:sp>
        <p:nvSpPr>
          <p:cNvPr id="6" name="任意多边形 5"/>
          <p:cNvSpPr/>
          <p:nvPr/>
        </p:nvSpPr>
        <p:spPr>
          <a:xfrm>
            <a:off x="4841868" y="1352518"/>
            <a:ext cx="1379614" cy="1379614"/>
          </a:xfrm>
          <a:custGeom>
            <a:avLst/>
            <a:gdLst>
              <a:gd name="connsiteX0" fmla="*/ 0 w 1379614"/>
              <a:gd name="connsiteY0" fmla="*/ 689807 h 1379614"/>
              <a:gd name="connsiteX1" fmla="*/ 689807 w 1379614"/>
              <a:gd name="connsiteY1" fmla="*/ 0 h 1379614"/>
              <a:gd name="connsiteX2" fmla="*/ 1379614 w 1379614"/>
              <a:gd name="connsiteY2" fmla="*/ 689807 h 1379614"/>
              <a:gd name="connsiteX3" fmla="*/ 689807 w 1379614"/>
              <a:gd name="connsiteY3" fmla="*/ 1379614 h 1379614"/>
              <a:gd name="connsiteX4" fmla="*/ 0 w 1379614"/>
              <a:gd name="connsiteY4" fmla="*/ 689807 h 1379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614" h="1379614">
                <a:moveTo>
                  <a:pt x="0" y="689807"/>
                </a:moveTo>
                <a:cubicBezTo>
                  <a:pt x="0" y="308837"/>
                  <a:pt x="308837" y="0"/>
                  <a:pt x="689807" y="0"/>
                </a:cubicBezTo>
                <a:cubicBezTo>
                  <a:pt x="1070777" y="0"/>
                  <a:pt x="1379614" y="308837"/>
                  <a:pt x="1379614" y="689807"/>
                </a:cubicBezTo>
                <a:cubicBezTo>
                  <a:pt x="1379614" y="1070777"/>
                  <a:pt x="1070777" y="1379614"/>
                  <a:pt x="689807" y="1379614"/>
                </a:cubicBezTo>
                <a:cubicBezTo>
                  <a:pt x="308837" y="1379614"/>
                  <a:pt x="0" y="1070777"/>
                  <a:pt x="0" y="689807"/>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202040" tIns="202040" rIns="202040" bIns="202040" numCol="1" spcCol="1270" anchor="ctr" anchorCtr="0">
            <a:noAutofit/>
          </a:bodyPr>
          <a:lstStyle/>
          <a:p>
            <a:pPr lvl="0" algn="ctr" defTabSz="1111250">
              <a:lnSpc>
                <a:spcPct val="90000"/>
              </a:lnSpc>
              <a:spcBef>
                <a:spcPct val="0"/>
              </a:spcBef>
              <a:spcAft>
                <a:spcPct val="35000"/>
              </a:spcAft>
            </a:pPr>
            <a:r>
              <a:rPr lang="zh-CN" altLang="en-US" sz="2500" b="1" kern="1200" dirty="0" smtClean="0"/>
              <a:t>多道程序系统</a:t>
            </a:r>
            <a:endParaRPr lang="zh-CN" altLang="en-US" sz="2500" b="1" kern="1200" dirty="0"/>
          </a:p>
        </p:txBody>
      </p:sp>
      <p:sp>
        <p:nvSpPr>
          <p:cNvPr id="7" name="任意多边形 6"/>
          <p:cNvSpPr/>
          <p:nvPr/>
        </p:nvSpPr>
        <p:spPr>
          <a:xfrm>
            <a:off x="1981059" y="1904363"/>
            <a:ext cx="2446925" cy="1380304"/>
          </a:xfrm>
          <a:custGeom>
            <a:avLst/>
            <a:gdLst>
              <a:gd name="connsiteX0" fmla="*/ 0 w 2069421"/>
              <a:gd name="connsiteY0" fmla="*/ 0 h 1380304"/>
              <a:gd name="connsiteX1" fmla="*/ 2069421 w 2069421"/>
              <a:gd name="connsiteY1" fmla="*/ 0 h 1380304"/>
              <a:gd name="connsiteX2" fmla="*/ 2069421 w 2069421"/>
              <a:gd name="connsiteY2" fmla="*/ 1380304 h 1380304"/>
              <a:gd name="connsiteX3" fmla="*/ 0 w 2069421"/>
              <a:gd name="connsiteY3" fmla="*/ 1380304 h 1380304"/>
              <a:gd name="connsiteX4" fmla="*/ 0 w 2069421"/>
              <a:gd name="connsiteY4" fmla="*/ 0 h 1380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421" h="1380304">
                <a:moveTo>
                  <a:pt x="0" y="0"/>
                </a:moveTo>
                <a:lnTo>
                  <a:pt x="2069421" y="0"/>
                </a:lnTo>
                <a:lnTo>
                  <a:pt x="2069421" y="1380304"/>
                </a:lnTo>
                <a:lnTo>
                  <a:pt x="0" y="1380304"/>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31108" tIns="142240" rIns="142240" bIns="142240" numCol="1" spcCol="1270" anchor="ctr" anchorCtr="0">
            <a:noAutofit/>
          </a:bodyPr>
          <a:lstStyle/>
          <a:p>
            <a:pPr lvl="0" algn="just" defTabSz="889000">
              <a:lnSpc>
                <a:spcPct val="90000"/>
              </a:lnSpc>
              <a:spcBef>
                <a:spcPct val="0"/>
              </a:spcBef>
              <a:spcAft>
                <a:spcPct val="35000"/>
              </a:spcAft>
            </a:pPr>
            <a:r>
              <a:rPr lang="zh-CN" altLang="en-US" sz="2000" b="1" kern="1200" dirty="0" smtClean="0"/>
              <a:t>配置多个</a:t>
            </a:r>
            <a:r>
              <a:rPr lang="en-US" altLang="zh-CN" sz="2000" b="1" kern="1200" dirty="0" smtClean="0"/>
              <a:t>CPU</a:t>
            </a:r>
            <a:r>
              <a:rPr lang="zh-CN" altLang="en-US" sz="2000" b="1" kern="1200" dirty="0" smtClean="0"/>
              <a:t>，因而能真正同时执行多道程序</a:t>
            </a:r>
            <a:endParaRPr lang="zh-CN" altLang="en-US" sz="2000" b="1" kern="1200" dirty="0"/>
          </a:p>
        </p:txBody>
      </p:sp>
      <p:sp>
        <p:nvSpPr>
          <p:cNvPr id="8" name="任意多边形 7"/>
          <p:cNvSpPr/>
          <p:nvPr/>
        </p:nvSpPr>
        <p:spPr>
          <a:xfrm>
            <a:off x="1981059" y="3284667"/>
            <a:ext cx="2446925" cy="1380304"/>
          </a:xfrm>
          <a:custGeom>
            <a:avLst/>
            <a:gdLst>
              <a:gd name="connsiteX0" fmla="*/ 0 w 2069421"/>
              <a:gd name="connsiteY0" fmla="*/ 0 h 1380304"/>
              <a:gd name="connsiteX1" fmla="*/ 2069421 w 2069421"/>
              <a:gd name="connsiteY1" fmla="*/ 0 h 1380304"/>
              <a:gd name="connsiteX2" fmla="*/ 2069421 w 2069421"/>
              <a:gd name="connsiteY2" fmla="*/ 1380304 h 1380304"/>
              <a:gd name="connsiteX3" fmla="*/ 0 w 2069421"/>
              <a:gd name="connsiteY3" fmla="*/ 1380304 h 1380304"/>
              <a:gd name="connsiteX4" fmla="*/ 0 w 2069421"/>
              <a:gd name="connsiteY4" fmla="*/ 0 h 1380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421" h="1380304">
                <a:moveTo>
                  <a:pt x="0" y="0"/>
                </a:moveTo>
                <a:lnTo>
                  <a:pt x="2069421" y="0"/>
                </a:lnTo>
                <a:lnTo>
                  <a:pt x="2069421" y="1380304"/>
                </a:lnTo>
                <a:lnTo>
                  <a:pt x="0" y="1380304"/>
                </a:lnTo>
                <a:lnTo>
                  <a:pt x="0" y="0"/>
                </a:lnTo>
                <a:close/>
              </a:path>
            </a:pathLst>
          </a:cu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31108" tIns="142240" rIns="142240" bIns="142240" numCol="1" spcCol="1270" anchor="ctr" anchorCtr="0">
            <a:noAutofit/>
          </a:bodyPr>
          <a:lstStyle/>
          <a:p>
            <a:pPr lvl="0" algn="just" defTabSz="889000">
              <a:lnSpc>
                <a:spcPct val="90000"/>
              </a:lnSpc>
              <a:spcBef>
                <a:spcPct val="0"/>
              </a:spcBef>
              <a:spcAft>
                <a:spcPct val="35000"/>
              </a:spcAft>
            </a:pPr>
            <a:r>
              <a:rPr lang="zh-CN" altLang="en-US" sz="2000" b="1" kern="1200" dirty="0" smtClean="0"/>
              <a:t>要想有效地使用多重处理系统，必须采用多道程序设计技术</a:t>
            </a:r>
            <a:endParaRPr lang="zh-CN" altLang="en-US" sz="2000" b="1" kern="1200" dirty="0"/>
          </a:p>
        </p:txBody>
      </p:sp>
      <p:sp>
        <p:nvSpPr>
          <p:cNvPr id="9" name="任意多边形 8"/>
          <p:cNvSpPr/>
          <p:nvPr/>
        </p:nvSpPr>
        <p:spPr>
          <a:xfrm>
            <a:off x="877368" y="1352518"/>
            <a:ext cx="1379614" cy="1379614"/>
          </a:xfrm>
          <a:custGeom>
            <a:avLst/>
            <a:gdLst>
              <a:gd name="connsiteX0" fmla="*/ 0 w 1379614"/>
              <a:gd name="connsiteY0" fmla="*/ 689807 h 1379614"/>
              <a:gd name="connsiteX1" fmla="*/ 689807 w 1379614"/>
              <a:gd name="connsiteY1" fmla="*/ 0 h 1379614"/>
              <a:gd name="connsiteX2" fmla="*/ 1379614 w 1379614"/>
              <a:gd name="connsiteY2" fmla="*/ 689807 h 1379614"/>
              <a:gd name="connsiteX3" fmla="*/ 689807 w 1379614"/>
              <a:gd name="connsiteY3" fmla="*/ 1379614 h 1379614"/>
              <a:gd name="connsiteX4" fmla="*/ 0 w 1379614"/>
              <a:gd name="connsiteY4" fmla="*/ 689807 h 1379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614" h="1379614">
                <a:moveTo>
                  <a:pt x="0" y="689807"/>
                </a:moveTo>
                <a:cubicBezTo>
                  <a:pt x="0" y="308837"/>
                  <a:pt x="308837" y="0"/>
                  <a:pt x="689807" y="0"/>
                </a:cubicBezTo>
                <a:cubicBezTo>
                  <a:pt x="1070777" y="0"/>
                  <a:pt x="1379614" y="308837"/>
                  <a:pt x="1379614" y="689807"/>
                </a:cubicBezTo>
                <a:cubicBezTo>
                  <a:pt x="1379614" y="1070777"/>
                  <a:pt x="1070777" y="1379614"/>
                  <a:pt x="689807" y="1379614"/>
                </a:cubicBezTo>
                <a:cubicBezTo>
                  <a:pt x="308837" y="1379614"/>
                  <a:pt x="0" y="1070777"/>
                  <a:pt x="0" y="689807"/>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202040" tIns="202040" rIns="202040" bIns="202040" numCol="1" spcCol="1270" anchor="ctr" anchorCtr="0">
            <a:noAutofit/>
          </a:bodyPr>
          <a:lstStyle/>
          <a:p>
            <a:pPr lvl="0" algn="ctr" defTabSz="1111250">
              <a:lnSpc>
                <a:spcPct val="90000"/>
              </a:lnSpc>
              <a:spcBef>
                <a:spcPct val="0"/>
              </a:spcBef>
              <a:spcAft>
                <a:spcPct val="35000"/>
              </a:spcAft>
            </a:pPr>
            <a:r>
              <a:rPr lang="zh-CN" altLang="en-US" sz="2500" b="1" kern="1200" dirty="0" smtClean="0"/>
              <a:t>多重处理系统</a:t>
            </a:r>
            <a:endParaRPr lang="zh-CN" altLang="en-US" sz="2500" b="1" kern="1200" dirty="0"/>
          </a:p>
        </p:txBody>
      </p:sp>
    </p:spTree>
    <p:extLst>
      <p:ext uri="{BB962C8B-B14F-4D97-AF65-F5344CB8AC3E}">
        <p14:creationId xmlns:p14="http://schemas.microsoft.com/office/powerpoint/2010/main" val="421963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32" name="任意多边形 31"/>
          <p:cNvSpPr/>
          <p:nvPr/>
        </p:nvSpPr>
        <p:spPr>
          <a:xfrm>
            <a:off x="683568" y="1062442"/>
            <a:ext cx="1934766" cy="406400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4300" tIns="812801" rIns="114301" bIns="812800" numCol="1" spcCol="1270" anchor="t" anchorCtr="0">
            <a:noAutofit/>
          </a:bodyPr>
          <a:lstStyle/>
          <a:p>
            <a:pPr lvl="0" algn="l" defTabSz="933450">
              <a:lnSpc>
                <a:spcPct val="90000"/>
              </a:lnSpc>
              <a:spcBef>
                <a:spcPct val="0"/>
              </a:spcBef>
              <a:spcAft>
                <a:spcPct val="35000"/>
              </a:spcAft>
            </a:pPr>
            <a:r>
              <a:rPr lang="zh-CN" altLang="en-US" sz="2100" b="1" kern="1200" dirty="0" smtClean="0"/>
              <a:t>交互性</a:t>
            </a:r>
            <a:endParaRPr lang="zh-CN" altLang="en-US" sz="2100" b="1" kern="1200" dirty="0"/>
          </a:p>
          <a:p>
            <a:pPr marL="171450" lvl="1" indent="-171450" algn="l" defTabSz="800100">
              <a:lnSpc>
                <a:spcPct val="90000"/>
              </a:lnSpc>
              <a:spcBef>
                <a:spcPct val="0"/>
              </a:spcBef>
              <a:spcAft>
                <a:spcPct val="15000"/>
              </a:spcAft>
              <a:buChar char="••"/>
            </a:pPr>
            <a:r>
              <a:rPr lang="zh-CN" altLang="en-US" sz="1800" kern="1200" dirty="0" smtClean="0"/>
              <a:t>用户可以在程序动态运行情况下对其加以控制</a:t>
            </a:r>
            <a:endParaRPr lang="zh-CN" altLang="en-US" sz="1800" kern="1200" dirty="0"/>
          </a:p>
          <a:p>
            <a:pPr marL="171450" lvl="1" indent="-171450" algn="l" defTabSz="800100">
              <a:lnSpc>
                <a:spcPct val="90000"/>
              </a:lnSpc>
              <a:spcBef>
                <a:spcPct val="0"/>
              </a:spcBef>
              <a:spcAft>
                <a:spcPct val="15000"/>
              </a:spcAft>
              <a:buChar char="••"/>
            </a:pPr>
            <a:r>
              <a:rPr lang="zh-CN" altLang="en-US" sz="1800" kern="1200" dirty="0" smtClean="0"/>
              <a:t>用户上机提交作业方便</a:t>
            </a:r>
            <a:endParaRPr lang="zh-CN" altLang="en-US" sz="1800" kern="1200" dirty="0"/>
          </a:p>
          <a:p>
            <a:pPr marL="171450" lvl="1" indent="-171450" algn="l" defTabSz="800100">
              <a:lnSpc>
                <a:spcPct val="90000"/>
              </a:lnSpc>
              <a:spcBef>
                <a:spcPct val="0"/>
              </a:spcBef>
              <a:spcAft>
                <a:spcPct val="15000"/>
              </a:spcAft>
              <a:buChar char="••"/>
            </a:pPr>
            <a:r>
              <a:rPr lang="zh-CN" altLang="en-US" sz="1800" kern="1200" dirty="0" smtClean="0"/>
              <a:t>为用户之间进行合作提供方便</a:t>
            </a:r>
            <a:endParaRPr lang="zh-CN" altLang="en-US" sz="1800" kern="1200" dirty="0"/>
          </a:p>
        </p:txBody>
      </p:sp>
      <p:sp>
        <p:nvSpPr>
          <p:cNvPr id="33" name="任意多边形 32"/>
          <p:cNvSpPr/>
          <p:nvPr/>
        </p:nvSpPr>
        <p:spPr>
          <a:xfrm>
            <a:off x="2915816" y="1518739"/>
            <a:ext cx="2141097" cy="328525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46050" tIns="812801" rIns="148953" bIns="812800" numCol="1" spcCol="1270" anchor="t" anchorCtr="0">
            <a:noAutofit/>
          </a:bodyPr>
          <a:lstStyle/>
          <a:p>
            <a:pPr lvl="0" algn="l" defTabSz="1022350">
              <a:lnSpc>
                <a:spcPct val="90000"/>
              </a:lnSpc>
              <a:spcBef>
                <a:spcPct val="0"/>
              </a:spcBef>
              <a:spcAft>
                <a:spcPct val="35000"/>
              </a:spcAft>
            </a:pPr>
            <a:r>
              <a:rPr lang="zh-CN" altLang="en-US" sz="2300" b="1" kern="1200" dirty="0" smtClean="0"/>
              <a:t>多用户同时性</a:t>
            </a:r>
            <a:endParaRPr lang="zh-CN" altLang="en-US" sz="2300" b="1" kern="1200" dirty="0"/>
          </a:p>
          <a:p>
            <a:pPr marL="171450" lvl="1" indent="-171450" algn="l" defTabSz="800100">
              <a:lnSpc>
                <a:spcPct val="90000"/>
              </a:lnSpc>
              <a:spcBef>
                <a:spcPct val="0"/>
              </a:spcBef>
              <a:spcAft>
                <a:spcPct val="15000"/>
              </a:spcAft>
              <a:buChar char="••"/>
            </a:pPr>
            <a:r>
              <a:rPr lang="zh-CN" altLang="en-US" sz="1800" kern="1200" dirty="0" smtClean="0"/>
              <a:t>多个用户同时在自己的终端上上机，共享</a:t>
            </a:r>
            <a:r>
              <a:rPr lang="en-US" altLang="zh-CN" sz="1800" kern="1200" dirty="0" smtClean="0"/>
              <a:t>CPU</a:t>
            </a:r>
            <a:r>
              <a:rPr lang="zh-CN" altLang="en-US" sz="1800" kern="1200" dirty="0" smtClean="0"/>
              <a:t>和其他资源，充分发挥系统的效率</a:t>
            </a:r>
            <a:endParaRPr lang="zh-CN" altLang="en-US" sz="1800" kern="1200" dirty="0"/>
          </a:p>
        </p:txBody>
      </p:sp>
      <p:sp>
        <p:nvSpPr>
          <p:cNvPr id="34" name="任意多边形 33"/>
          <p:cNvSpPr/>
          <p:nvPr/>
        </p:nvSpPr>
        <p:spPr>
          <a:xfrm>
            <a:off x="5393755" y="2062308"/>
            <a:ext cx="2183437" cy="2597674"/>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46050" tIns="812801" rIns="148953" bIns="812800" numCol="1" spcCol="1270" anchor="t" anchorCtr="0">
            <a:noAutofit/>
          </a:bodyPr>
          <a:lstStyle/>
          <a:p>
            <a:pPr lvl="0" algn="l" defTabSz="1022350">
              <a:lnSpc>
                <a:spcPct val="90000"/>
              </a:lnSpc>
              <a:spcBef>
                <a:spcPct val="0"/>
              </a:spcBef>
              <a:spcAft>
                <a:spcPct val="35000"/>
              </a:spcAft>
            </a:pPr>
            <a:r>
              <a:rPr lang="zh-CN" altLang="en-US" sz="2300" b="1" kern="1200" dirty="0" smtClean="0"/>
              <a:t>独立性（联机）</a:t>
            </a:r>
            <a:endParaRPr lang="zh-CN" altLang="en-US" sz="2300" b="1" kern="1200" dirty="0"/>
          </a:p>
          <a:p>
            <a:pPr marL="171450" lvl="1" indent="-171450" algn="l" defTabSz="800100">
              <a:lnSpc>
                <a:spcPct val="90000"/>
              </a:lnSpc>
              <a:spcBef>
                <a:spcPct val="0"/>
              </a:spcBef>
              <a:spcAft>
                <a:spcPct val="15000"/>
              </a:spcAft>
              <a:buChar char="••"/>
            </a:pPr>
            <a:r>
              <a:rPr lang="zh-CN" altLang="en-US" sz="1800" kern="1200" dirty="0" smtClean="0"/>
              <a:t>感觉不到有别人也在使用该台计算机</a:t>
            </a:r>
            <a:endParaRPr lang="zh-CN" altLang="en-US" sz="1800" kern="1200" dirty="0"/>
          </a:p>
        </p:txBody>
      </p:sp>
      <p:sp>
        <p:nvSpPr>
          <p:cNvPr id="36" name="棱台 35"/>
          <p:cNvSpPr/>
          <p:nvPr/>
        </p:nvSpPr>
        <p:spPr>
          <a:xfrm>
            <a:off x="7884368" y="2931790"/>
            <a:ext cx="1008113" cy="733634"/>
          </a:xfrm>
          <a:prstGeom prst="bevel">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UNIX</a:t>
            </a:r>
            <a:endParaRPr lang="zh-CN" altLang="en-US"/>
          </a:p>
        </p:txBody>
      </p:sp>
    </p:spTree>
    <p:extLst>
      <p:ext uri="{BB962C8B-B14F-4D97-AF65-F5344CB8AC3E}">
        <p14:creationId xmlns:p14="http://schemas.microsoft.com/office/powerpoint/2010/main" val="168964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2" grpId="0" animBg="1"/>
      <p:bldP spid="33" grpId="0" animBg="1"/>
      <p:bldP spid="34" grpId="0" animBg="1"/>
      <p:bldP spid="3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媒体的分类</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7" name="任意多边形 6"/>
          <p:cNvSpPr/>
          <p:nvPr/>
        </p:nvSpPr>
        <p:spPr>
          <a:xfrm rot="4343796">
            <a:off x="6659620" y="2227236"/>
            <a:ext cx="286790" cy="370947"/>
          </a:xfrm>
          <a:custGeom>
            <a:avLst/>
            <a:gdLst>
              <a:gd name="connsiteX0" fmla="*/ 0 w 286790"/>
              <a:gd name="connsiteY0" fmla="*/ 74189 h 370947"/>
              <a:gd name="connsiteX1" fmla="*/ 143395 w 286790"/>
              <a:gd name="connsiteY1" fmla="*/ 74189 h 370947"/>
              <a:gd name="connsiteX2" fmla="*/ 143395 w 286790"/>
              <a:gd name="connsiteY2" fmla="*/ 0 h 370947"/>
              <a:gd name="connsiteX3" fmla="*/ 286790 w 286790"/>
              <a:gd name="connsiteY3" fmla="*/ 185474 h 370947"/>
              <a:gd name="connsiteX4" fmla="*/ 143395 w 286790"/>
              <a:gd name="connsiteY4" fmla="*/ 370947 h 370947"/>
              <a:gd name="connsiteX5" fmla="*/ 143395 w 286790"/>
              <a:gd name="connsiteY5" fmla="*/ 296758 h 370947"/>
              <a:gd name="connsiteX6" fmla="*/ 0 w 286790"/>
              <a:gd name="connsiteY6" fmla="*/ 296758 h 370947"/>
              <a:gd name="connsiteX7" fmla="*/ 0 w 28679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90" h="370947">
                <a:moveTo>
                  <a:pt x="0" y="74189"/>
                </a:moveTo>
                <a:lnTo>
                  <a:pt x="143395" y="74189"/>
                </a:lnTo>
                <a:lnTo>
                  <a:pt x="143395" y="0"/>
                </a:lnTo>
                <a:lnTo>
                  <a:pt x="286790" y="185474"/>
                </a:lnTo>
                <a:lnTo>
                  <a:pt x="143395" y="370947"/>
                </a:lnTo>
                <a:lnTo>
                  <a:pt x="143395"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0" tIns="74188" rIns="86036"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8" name="任意多边形 7"/>
          <p:cNvSpPr/>
          <p:nvPr/>
        </p:nvSpPr>
        <p:spPr>
          <a:xfrm>
            <a:off x="6372203" y="2643757"/>
            <a:ext cx="1476808" cy="1476808"/>
          </a:xfrm>
          <a:custGeom>
            <a:avLst/>
            <a:gdLst>
              <a:gd name="connsiteX0" fmla="*/ 0 w 1476808"/>
              <a:gd name="connsiteY0" fmla="*/ 738404 h 1476808"/>
              <a:gd name="connsiteX1" fmla="*/ 738404 w 1476808"/>
              <a:gd name="connsiteY1" fmla="*/ 0 h 1476808"/>
              <a:gd name="connsiteX2" fmla="*/ 1476808 w 1476808"/>
              <a:gd name="connsiteY2" fmla="*/ 738404 h 1476808"/>
              <a:gd name="connsiteX3" fmla="*/ 738404 w 1476808"/>
              <a:gd name="connsiteY3" fmla="*/ 1476808 h 1476808"/>
              <a:gd name="connsiteX4" fmla="*/ 0 w 1476808"/>
              <a:gd name="connsiteY4" fmla="*/ 738404 h 1476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808" h="1476808">
                <a:moveTo>
                  <a:pt x="0" y="738404"/>
                </a:moveTo>
                <a:cubicBezTo>
                  <a:pt x="0" y="330595"/>
                  <a:pt x="330595" y="0"/>
                  <a:pt x="738404" y="0"/>
                </a:cubicBezTo>
                <a:cubicBezTo>
                  <a:pt x="1146213" y="0"/>
                  <a:pt x="1476808" y="330595"/>
                  <a:pt x="1476808" y="738404"/>
                </a:cubicBezTo>
                <a:cubicBezTo>
                  <a:pt x="1476808" y="1146213"/>
                  <a:pt x="1146213" y="1476808"/>
                  <a:pt x="738404" y="1476808"/>
                </a:cubicBezTo>
                <a:cubicBezTo>
                  <a:pt x="330595" y="1476808"/>
                  <a:pt x="0" y="1146213"/>
                  <a:pt x="0" y="7384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244214" tIns="244214" rIns="244214" bIns="244214" numCol="1" spcCol="1270" anchor="ctr" anchorCtr="0">
            <a:noAutofit/>
          </a:bodyPr>
          <a:lstStyle/>
          <a:p>
            <a:pPr lvl="0" algn="ctr" defTabSz="977900">
              <a:lnSpc>
                <a:spcPct val="90000"/>
              </a:lnSpc>
              <a:spcBef>
                <a:spcPct val="0"/>
              </a:spcBef>
              <a:spcAft>
                <a:spcPct val="35000"/>
              </a:spcAft>
            </a:pPr>
            <a:r>
              <a:rPr lang="zh-CN" altLang="en-US" sz="2200" b="1" kern="1200" dirty="0" smtClean="0"/>
              <a:t>实时系统</a:t>
            </a:r>
            <a:endParaRPr lang="zh-CN" altLang="en-US" sz="2200" b="1" kern="1200" dirty="0"/>
          </a:p>
        </p:txBody>
      </p:sp>
      <p:sp>
        <p:nvSpPr>
          <p:cNvPr id="2" name="矩形 1"/>
          <p:cNvSpPr/>
          <p:nvPr/>
        </p:nvSpPr>
        <p:spPr>
          <a:xfrm>
            <a:off x="827584" y="1826767"/>
            <a:ext cx="5217024" cy="2699200"/>
          </a:xfrm>
          <a:prstGeom prst="rect">
            <a:avLst/>
          </a:prstGeom>
        </p:spPr>
        <p:txBody>
          <a:bodyPr wrap="square">
            <a:spAutoFit/>
          </a:bodyPr>
          <a:lstStyle/>
          <a:p>
            <a:pPr marL="0" lvl="1" algn="just">
              <a:lnSpc>
                <a:spcPct val="110000"/>
              </a:lnSpc>
              <a:buFont typeface="Wingdings" panose="05000000000000000000" pitchFamily="2" charset="2"/>
            </a:pPr>
            <a:r>
              <a:rPr lang="zh-CN" altLang="en-US" sz="2200" b="1" dirty="0" smtClean="0">
                <a:solidFill>
                  <a:schemeClr val="bg1"/>
                </a:solidFill>
                <a:latin typeface="+mn-ea"/>
              </a:rPr>
              <a:t>主要</a:t>
            </a:r>
            <a:r>
              <a:rPr lang="zh-CN" altLang="en-US" sz="2200" b="1" dirty="0">
                <a:solidFill>
                  <a:schemeClr val="bg1"/>
                </a:solidFill>
                <a:latin typeface="+mn-ea"/>
              </a:rPr>
              <a:t>特点是提供</a:t>
            </a:r>
            <a:r>
              <a:rPr lang="zh-CN" altLang="en-US" sz="2200" b="1" dirty="0">
                <a:solidFill>
                  <a:srgbClr val="FFFF00"/>
                </a:solidFill>
                <a:latin typeface="+mn-ea"/>
              </a:rPr>
              <a:t>即时响应</a:t>
            </a:r>
            <a:r>
              <a:rPr lang="zh-CN" altLang="en-US" sz="2200" b="1" dirty="0">
                <a:solidFill>
                  <a:schemeClr val="bg1"/>
                </a:solidFill>
                <a:latin typeface="+mn-ea"/>
              </a:rPr>
              <a:t>和</a:t>
            </a:r>
            <a:r>
              <a:rPr lang="zh-CN" altLang="en-US" sz="2200" b="1" dirty="0">
                <a:solidFill>
                  <a:srgbClr val="FFFF00"/>
                </a:solidFill>
                <a:latin typeface="+mn-ea"/>
              </a:rPr>
              <a:t>高可靠性</a:t>
            </a:r>
            <a:r>
              <a:rPr lang="zh-CN" altLang="en-US" sz="2200" b="1" dirty="0">
                <a:solidFill>
                  <a:schemeClr val="bg1"/>
                </a:solidFill>
                <a:latin typeface="+mn-ea"/>
              </a:rPr>
              <a:t>。系统必须保证对实时信息的分析和处理的速度比其进入系统的速度要快，而且系统本身要安全可靠。实时系统往往具有一定的专用性。大多数用于</a:t>
            </a:r>
            <a:r>
              <a:rPr lang="zh-CN" altLang="en-US" sz="2200" b="1" dirty="0">
                <a:solidFill>
                  <a:srgbClr val="FFFF00"/>
                </a:solidFill>
                <a:latin typeface="+mn-ea"/>
              </a:rPr>
              <a:t>嵌入式计算</a:t>
            </a:r>
            <a:r>
              <a:rPr lang="zh-CN" altLang="en-US" sz="2200" b="1" dirty="0">
                <a:solidFill>
                  <a:schemeClr val="bg1"/>
                </a:solidFill>
                <a:latin typeface="+mn-ea"/>
              </a:rPr>
              <a:t>中。与批处理系统、分时系统相比，实时系统的资源利用率可能较低。</a:t>
            </a:r>
          </a:p>
        </p:txBody>
      </p:sp>
    </p:spTree>
    <p:extLst>
      <p:ext uri="{BB962C8B-B14F-4D97-AF65-F5344CB8AC3E}">
        <p14:creationId xmlns:p14="http://schemas.microsoft.com/office/powerpoint/2010/main" val="1175366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7" name="任意多边形 6"/>
          <p:cNvSpPr/>
          <p:nvPr/>
        </p:nvSpPr>
        <p:spPr>
          <a:xfrm rot="4343796">
            <a:off x="6659620" y="2227236"/>
            <a:ext cx="286790" cy="370947"/>
          </a:xfrm>
          <a:custGeom>
            <a:avLst/>
            <a:gdLst>
              <a:gd name="connsiteX0" fmla="*/ 0 w 286790"/>
              <a:gd name="connsiteY0" fmla="*/ 74189 h 370947"/>
              <a:gd name="connsiteX1" fmla="*/ 143395 w 286790"/>
              <a:gd name="connsiteY1" fmla="*/ 74189 h 370947"/>
              <a:gd name="connsiteX2" fmla="*/ 143395 w 286790"/>
              <a:gd name="connsiteY2" fmla="*/ 0 h 370947"/>
              <a:gd name="connsiteX3" fmla="*/ 286790 w 286790"/>
              <a:gd name="connsiteY3" fmla="*/ 185474 h 370947"/>
              <a:gd name="connsiteX4" fmla="*/ 143395 w 286790"/>
              <a:gd name="connsiteY4" fmla="*/ 370947 h 370947"/>
              <a:gd name="connsiteX5" fmla="*/ 143395 w 286790"/>
              <a:gd name="connsiteY5" fmla="*/ 296758 h 370947"/>
              <a:gd name="connsiteX6" fmla="*/ 0 w 286790"/>
              <a:gd name="connsiteY6" fmla="*/ 296758 h 370947"/>
              <a:gd name="connsiteX7" fmla="*/ 0 w 28679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90" h="370947">
                <a:moveTo>
                  <a:pt x="0" y="74189"/>
                </a:moveTo>
                <a:lnTo>
                  <a:pt x="143395" y="74189"/>
                </a:lnTo>
                <a:lnTo>
                  <a:pt x="143395" y="0"/>
                </a:lnTo>
                <a:lnTo>
                  <a:pt x="286790" y="185474"/>
                </a:lnTo>
                <a:lnTo>
                  <a:pt x="143395" y="370947"/>
                </a:lnTo>
                <a:lnTo>
                  <a:pt x="143395"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0" tIns="74188" rIns="86036"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8" name="任意多边形 7"/>
          <p:cNvSpPr/>
          <p:nvPr/>
        </p:nvSpPr>
        <p:spPr>
          <a:xfrm>
            <a:off x="6372203" y="2643757"/>
            <a:ext cx="1476808" cy="1476808"/>
          </a:xfrm>
          <a:custGeom>
            <a:avLst/>
            <a:gdLst>
              <a:gd name="connsiteX0" fmla="*/ 0 w 1476808"/>
              <a:gd name="connsiteY0" fmla="*/ 738404 h 1476808"/>
              <a:gd name="connsiteX1" fmla="*/ 738404 w 1476808"/>
              <a:gd name="connsiteY1" fmla="*/ 0 h 1476808"/>
              <a:gd name="connsiteX2" fmla="*/ 1476808 w 1476808"/>
              <a:gd name="connsiteY2" fmla="*/ 738404 h 1476808"/>
              <a:gd name="connsiteX3" fmla="*/ 738404 w 1476808"/>
              <a:gd name="connsiteY3" fmla="*/ 1476808 h 1476808"/>
              <a:gd name="connsiteX4" fmla="*/ 0 w 1476808"/>
              <a:gd name="connsiteY4" fmla="*/ 738404 h 1476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808" h="1476808">
                <a:moveTo>
                  <a:pt x="0" y="738404"/>
                </a:moveTo>
                <a:cubicBezTo>
                  <a:pt x="0" y="330595"/>
                  <a:pt x="330595" y="0"/>
                  <a:pt x="738404" y="0"/>
                </a:cubicBezTo>
                <a:cubicBezTo>
                  <a:pt x="1146213" y="0"/>
                  <a:pt x="1476808" y="330595"/>
                  <a:pt x="1476808" y="738404"/>
                </a:cubicBezTo>
                <a:cubicBezTo>
                  <a:pt x="1476808" y="1146213"/>
                  <a:pt x="1146213" y="1476808"/>
                  <a:pt x="738404" y="1476808"/>
                </a:cubicBezTo>
                <a:cubicBezTo>
                  <a:pt x="330595" y="1476808"/>
                  <a:pt x="0" y="1146213"/>
                  <a:pt x="0" y="7384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244214" tIns="244214" rIns="244214" bIns="244214" numCol="1" spcCol="1270" anchor="ctr" anchorCtr="0">
            <a:noAutofit/>
          </a:bodyPr>
          <a:lstStyle/>
          <a:p>
            <a:pPr lvl="0" algn="ctr" defTabSz="977900">
              <a:lnSpc>
                <a:spcPct val="90000"/>
              </a:lnSpc>
              <a:spcBef>
                <a:spcPct val="0"/>
              </a:spcBef>
              <a:spcAft>
                <a:spcPct val="35000"/>
              </a:spcAft>
            </a:pPr>
            <a:r>
              <a:rPr lang="zh-CN" altLang="en-US" sz="2200" b="1" kern="1200" dirty="0" smtClean="0"/>
              <a:t>实时系统</a:t>
            </a:r>
            <a:endParaRPr lang="zh-CN" altLang="en-US" sz="2200" b="1" kern="1200" dirty="0"/>
          </a:p>
        </p:txBody>
      </p:sp>
      <p:sp>
        <p:nvSpPr>
          <p:cNvPr id="2" name="矩形 1"/>
          <p:cNvSpPr/>
          <p:nvPr/>
        </p:nvSpPr>
        <p:spPr>
          <a:xfrm>
            <a:off x="867144" y="1491630"/>
            <a:ext cx="5217024"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需要考虑的因素</a:t>
            </a:r>
            <a:endParaRPr lang="en-US" altLang="zh-CN" sz="2400" b="1" dirty="0" smtClean="0">
              <a:solidFill>
                <a:schemeClr val="bg1"/>
              </a:solidFill>
              <a:latin typeface="+mn-ea"/>
            </a:endParaRPr>
          </a:p>
          <a:p>
            <a:pPr marL="180975" lvl="1" algn="just">
              <a:lnSpc>
                <a:spcPct val="150000"/>
              </a:lnSpc>
              <a:buClr>
                <a:srgbClr val="BCE292"/>
              </a:buClr>
              <a:buFont typeface="Wingdings" panose="05000000000000000000" pitchFamily="2" charset="2"/>
              <a:buChar char="l"/>
            </a:pPr>
            <a:r>
              <a:rPr lang="zh-CN" altLang="en-US" sz="2400" b="1" dirty="0" smtClean="0">
                <a:solidFill>
                  <a:schemeClr val="bg1"/>
                </a:solidFill>
                <a:latin typeface="+mn-ea"/>
              </a:rPr>
              <a:t>实时时钟管理</a:t>
            </a:r>
            <a:endParaRPr lang="en-US" altLang="zh-CN" sz="2400" b="1" dirty="0" smtClean="0">
              <a:solidFill>
                <a:schemeClr val="bg1"/>
              </a:solidFill>
              <a:latin typeface="+mn-ea"/>
            </a:endParaRPr>
          </a:p>
          <a:p>
            <a:pPr marL="180975" lvl="1" algn="just">
              <a:lnSpc>
                <a:spcPct val="150000"/>
              </a:lnSpc>
              <a:buClr>
                <a:srgbClr val="BCE292"/>
              </a:buClr>
              <a:buFont typeface="Wingdings" panose="05000000000000000000" pitchFamily="2" charset="2"/>
              <a:buChar char="l"/>
            </a:pPr>
            <a:r>
              <a:rPr lang="zh-CN" altLang="en-US" sz="2400" b="1" dirty="0" smtClean="0">
                <a:solidFill>
                  <a:schemeClr val="bg1"/>
                </a:solidFill>
                <a:latin typeface="+mn-ea"/>
              </a:rPr>
              <a:t>连续的人</a:t>
            </a:r>
            <a:r>
              <a:rPr lang="en-US" altLang="zh-CN" sz="2400" b="1" dirty="0" smtClean="0">
                <a:solidFill>
                  <a:schemeClr val="bg1"/>
                </a:solidFill>
                <a:latin typeface="+mn-ea"/>
              </a:rPr>
              <a:t>-</a:t>
            </a:r>
            <a:r>
              <a:rPr lang="zh-CN" altLang="en-US" sz="2400" b="1" dirty="0" smtClean="0">
                <a:solidFill>
                  <a:schemeClr val="bg1"/>
                </a:solidFill>
                <a:latin typeface="+mn-ea"/>
              </a:rPr>
              <a:t>机对话</a:t>
            </a:r>
            <a:endParaRPr lang="en-US" altLang="zh-CN" sz="2400" b="1" dirty="0" smtClean="0">
              <a:solidFill>
                <a:schemeClr val="bg1"/>
              </a:solidFill>
              <a:latin typeface="+mn-ea"/>
            </a:endParaRPr>
          </a:p>
          <a:p>
            <a:pPr marL="180975" lvl="1" algn="just">
              <a:lnSpc>
                <a:spcPct val="150000"/>
              </a:lnSpc>
              <a:buClr>
                <a:srgbClr val="BCE292"/>
              </a:buClr>
              <a:buFont typeface="Wingdings" panose="05000000000000000000" pitchFamily="2" charset="2"/>
              <a:buChar char="l"/>
            </a:pPr>
            <a:r>
              <a:rPr lang="zh-CN" altLang="en-US" sz="2400" b="1" dirty="0">
                <a:solidFill>
                  <a:schemeClr val="bg1"/>
                </a:solidFill>
                <a:latin typeface="+mn-ea"/>
              </a:rPr>
              <a:t>过载</a:t>
            </a:r>
            <a:r>
              <a:rPr lang="zh-CN" altLang="en-US" sz="2400" b="1" dirty="0" smtClean="0">
                <a:solidFill>
                  <a:schemeClr val="bg1"/>
                </a:solidFill>
                <a:latin typeface="+mn-ea"/>
              </a:rPr>
              <a:t>保护</a:t>
            </a:r>
            <a:endParaRPr lang="en-US" altLang="zh-CN" sz="2400" b="1" dirty="0" smtClean="0">
              <a:solidFill>
                <a:schemeClr val="bg1"/>
              </a:solidFill>
              <a:latin typeface="+mn-ea"/>
            </a:endParaRPr>
          </a:p>
          <a:p>
            <a:pPr marL="180975" lvl="1" algn="just">
              <a:lnSpc>
                <a:spcPct val="150000"/>
              </a:lnSpc>
              <a:buClr>
                <a:srgbClr val="BCE292"/>
              </a:buClr>
              <a:buFont typeface="Wingdings" panose="05000000000000000000" pitchFamily="2" charset="2"/>
              <a:buChar char="l"/>
            </a:pPr>
            <a:r>
              <a:rPr lang="zh-CN" altLang="en-US" sz="2400" b="1" dirty="0">
                <a:solidFill>
                  <a:schemeClr val="bg1"/>
                </a:solidFill>
                <a:latin typeface="+mn-ea"/>
              </a:rPr>
              <a:t>高度</a:t>
            </a:r>
            <a:r>
              <a:rPr lang="zh-CN" altLang="en-US" sz="2400" b="1" dirty="0" smtClean="0">
                <a:solidFill>
                  <a:schemeClr val="bg1"/>
                </a:solidFill>
                <a:latin typeface="+mn-ea"/>
              </a:rPr>
              <a:t>可靠性和安全性采取冗余措施</a:t>
            </a:r>
            <a:endParaRPr lang="zh-CN" altLang="en-US" sz="2400" b="1" dirty="0">
              <a:solidFill>
                <a:schemeClr val="bg1"/>
              </a:solidFill>
              <a:latin typeface="+mn-ea"/>
            </a:endParaRPr>
          </a:p>
        </p:txBody>
      </p:sp>
    </p:spTree>
    <p:extLst>
      <p:ext uri="{BB962C8B-B14F-4D97-AF65-F5344CB8AC3E}">
        <p14:creationId xmlns:p14="http://schemas.microsoft.com/office/powerpoint/2010/main" val="226933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7" name="任意多边形 6"/>
          <p:cNvSpPr/>
          <p:nvPr/>
        </p:nvSpPr>
        <p:spPr>
          <a:xfrm rot="4343796">
            <a:off x="6659620" y="2227236"/>
            <a:ext cx="286790" cy="370947"/>
          </a:xfrm>
          <a:custGeom>
            <a:avLst/>
            <a:gdLst>
              <a:gd name="connsiteX0" fmla="*/ 0 w 286790"/>
              <a:gd name="connsiteY0" fmla="*/ 74189 h 370947"/>
              <a:gd name="connsiteX1" fmla="*/ 143395 w 286790"/>
              <a:gd name="connsiteY1" fmla="*/ 74189 h 370947"/>
              <a:gd name="connsiteX2" fmla="*/ 143395 w 286790"/>
              <a:gd name="connsiteY2" fmla="*/ 0 h 370947"/>
              <a:gd name="connsiteX3" fmla="*/ 286790 w 286790"/>
              <a:gd name="connsiteY3" fmla="*/ 185474 h 370947"/>
              <a:gd name="connsiteX4" fmla="*/ 143395 w 286790"/>
              <a:gd name="connsiteY4" fmla="*/ 370947 h 370947"/>
              <a:gd name="connsiteX5" fmla="*/ 143395 w 286790"/>
              <a:gd name="connsiteY5" fmla="*/ 296758 h 370947"/>
              <a:gd name="connsiteX6" fmla="*/ 0 w 286790"/>
              <a:gd name="connsiteY6" fmla="*/ 296758 h 370947"/>
              <a:gd name="connsiteX7" fmla="*/ 0 w 28679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90" h="370947">
                <a:moveTo>
                  <a:pt x="0" y="74189"/>
                </a:moveTo>
                <a:lnTo>
                  <a:pt x="143395" y="74189"/>
                </a:lnTo>
                <a:lnTo>
                  <a:pt x="143395" y="0"/>
                </a:lnTo>
                <a:lnTo>
                  <a:pt x="286790" y="185474"/>
                </a:lnTo>
                <a:lnTo>
                  <a:pt x="143395" y="370947"/>
                </a:lnTo>
                <a:lnTo>
                  <a:pt x="143395"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0" tIns="74188" rIns="86036"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8" name="任意多边形 7"/>
          <p:cNvSpPr/>
          <p:nvPr/>
        </p:nvSpPr>
        <p:spPr>
          <a:xfrm>
            <a:off x="6372203" y="2643757"/>
            <a:ext cx="1476808" cy="1476808"/>
          </a:xfrm>
          <a:custGeom>
            <a:avLst/>
            <a:gdLst>
              <a:gd name="connsiteX0" fmla="*/ 0 w 1476808"/>
              <a:gd name="connsiteY0" fmla="*/ 738404 h 1476808"/>
              <a:gd name="connsiteX1" fmla="*/ 738404 w 1476808"/>
              <a:gd name="connsiteY1" fmla="*/ 0 h 1476808"/>
              <a:gd name="connsiteX2" fmla="*/ 1476808 w 1476808"/>
              <a:gd name="connsiteY2" fmla="*/ 738404 h 1476808"/>
              <a:gd name="connsiteX3" fmla="*/ 738404 w 1476808"/>
              <a:gd name="connsiteY3" fmla="*/ 1476808 h 1476808"/>
              <a:gd name="connsiteX4" fmla="*/ 0 w 1476808"/>
              <a:gd name="connsiteY4" fmla="*/ 738404 h 1476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808" h="1476808">
                <a:moveTo>
                  <a:pt x="0" y="738404"/>
                </a:moveTo>
                <a:cubicBezTo>
                  <a:pt x="0" y="330595"/>
                  <a:pt x="330595" y="0"/>
                  <a:pt x="738404" y="0"/>
                </a:cubicBezTo>
                <a:cubicBezTo>
                  <a:pt x="1146213" y="0"/>
                  <a:pt x="1476808" y="330595"/>
                  <a:pt x="1476808" y="738404"/>
                </a:cubicBezTo>
                <a:cubicBezTo>
                  <a:pt x="1476808" y="1146213"/>
                  <a:pt x="1146213" y="1476808"/>
                  <a:pt x="738404" y="1476808"/>
                </a:cubicBezTo>
                <a:cubicBezTo>
                  <a:pt x="330595" y="1476808"/>
                  <a:pt x="0" y="1146213"/>
                  <a:pt x="0" y="7384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244214" tIns="244214" rIns="244214" bIns="244214" numCol="1" spcCol="1270" anchor="ctr" anchorCtr="0">
            <a:noAutofit/>
          </a:bodyPr>
          <a:lstStyle/>
          <a:p>
            <a:pPr lvl="0" algn="ctr" defTabSz="977900">
              <a:lnSpc>
                <a:spcPct val="90000"/>
              </a:lnSpc>
              <a:spcBef>
                <a:spcPct val="0"/>
              </a:spcBef>
              <a:spcAft>
                <a:spcPct val="35000"/>
              </a:spcAft>
            </a:pPr>
            <a:r>
              <a:rPr lang="zh-CN" altLang="en-US" sz="2200" b="1" kern="1200" dirty="0" smtClean="0"/>
              <a:t>实时系统</a:t>
            </a:r>
            <a:endParaRPr lang="zh-CN" altLang="en-US" sz="2200" b="1" kern="1200" dirty="0"/>
          </a:p>
        </p:txBody>
      </p:sp>
      <p:sp>
        <p:nvSpPr>
          <p:cNvPr id="9" name="任意多边形 8"/>
          <p:cNvSpPr/>
          <p:nvPr/>
        </p:nvSpPr>
        <p:spPr>
          <a:xfrm rot="19814398">
            <a:off x="6202352" y="3656986"/>
            <a:ext cx="206455" cy="370948"/>
          </a:xfrm>
          <a:custGeom>
            <a:avLst/>
            <a:gdLst>
              <a:gd name="connsiteX0" fmla="*/ 0 w 206455"/>
              <a:gd name="connsiteY0" fmla="*/ 74189 h 370947"/>
              <a:gd name="connsiteX1" fmla="*/ 103228 w 206455"/>
              <a:gd name="connsiteY1" fmla="*/ 74189 h 370947"/>
              <a:gd name="connsiteX2" fmla="*/ 103228 w 206455"/>
              <a:gd name="connsiteY2" fmla="*/ 0 h 370947"/>
              <a:gd name="connsiteX3" fmla="*/ 206455 w 206455"/>
              <a:gd name="connsiteY3" fmla="*/ 185474 h 370947"/>
              <a:gd name="connsiteX4" fmla="*/ 103228 w 206455"/>
              <a:gd name="connsiteY4" fmla="*/ 370947 h 370947"/>
              <a:gd name="connsiteX5" fmla="*/ 103228 w 206455"/>
              <a:gd name="connsiteY5" fmla="*/ 296758 h 370947"/>
              <a:gd name="connsiteX6" fmla="*/ 0 w 206455"/>
              <a:gd name="connsiteY6" fmla="*/ 296758 h 370947"/>
              <a:gd name="connsiteX7" fmla="*/ 0 w 206455"/>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455" h="370947">
                <a:moveTo>
                  <a:pt x="206454" y="296758"/>
                </a:moveTo>
                <a:lnTo>
                  <a:pt x="103227" y="296758"/>
                </a:lnTo>
                <a:lnTo>
                  <a:pt x="103227" y="370947"/>
                </a:lnTo>
                <a:lnTo>
                  <a:pt x="1" y="185473"/>
                </a:lnTo>
                <a:lnTo>
                  <a:pt x="103227" y="0"/>
                </a:lnTo>
                <a:lnTo>
                  <a:pt x="103227" y="74189"/>
                </a:lnTo>
                <a:lnTo>
                  <a:pt x="206454" y="74189"/>
                </a:lnTo>
                <a:lnTo>
                  <a:pt x="206454"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61936" tIns="74189" rIns="-1"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0" name="任意多边形 9"/>
          <p:cNvSpPr/>
          <p:nvPr/>
        </p:nvSpPr>
        <p:spPr>
          <a:xfrm>
            <a:off x="4788028" y="3579865"/>
            <a:ext cx="1438241" cy="1438241"/>
          </a:xfrm>
          <a:custGeom>
            <a:avLst/>
            <a:gdLst>
              <a:gd name="connsiteX0" fmla="*/ 0 w 1438241"/>
              <a:gd name="connsiteY0" fmla="*/ 719121 h 1438241"/>
              <a:gd name="connsiteX1" fmla="*/ 719121 w 1438241"/>
              <a:gd name="connsiteY1" fmla="*/ 0 h 1438241"/>
              <a:gd name="connsiteX2" fmla="*/ 1438242 w 1438241"/>
              <a:gd name="connsiteY2" fmla="*/ 719121 h 1438241"/>
              <a:gd name="connsiteX3" fmla="*/ 719121 w 1438241"/>
              <a:gd name="connsiteY3" fmla="*/ 1438242 h 1438241"/>
              <a:gd name="connsiteX4" fmla="*/ 0 w 1438241"/>
              <a:gd name="connsiteY4" fmla="*/ 719121 h 1438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241" h="1438241">
                <a:moveTo>
                  <a:pt x="0" y="719121"/>
                </a:moveTo>
                <a:cubicBezTo>
                  <a:pt x="0" y="321961"/>
                  <a:pt x="321961" y="0"/>
                  <a:pt x="719121" y="0"/>
                </a:cubicBezTo>
                <a:cubicBezTo>
                  <a:pt x="1116281" y="0"/>
                  <a:pt x="1438242" y="321961"/>
                  <a:pt x="1438242" y="719121"/>
                </a:cubicBezTo>
                <a:cubicBezTo>
                  <a:pt x="1438242" y="1116281"/>
                  <a:pt x="1116281" y="1438242"/>
                  <a:pt x="719121" y="1438242"/>
                </a:cubicBezTo>
                <a:cubicBezTo>
                  <a:pt x="321961" y="1438242"/>
                  <a:pt x="0" y="1116281"/>
                  <a:pt x="0" y="719121"/>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237296" tIns="237296" rIns="237296" bIns="237296"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通用操作系统</a:t>
            </a:r>
            <a:endParaRPr lang="zh-CN" altLang="en-US" sz="2100" b="1" kern="1200" dirty="0">
              <a:solidFill>
                <a:schemeClr val="tx1"/>
              </a:solidFill>
            </a:endParaRPr>
          </a:p>
        </p:txBody>
      </p:sp>
      <p:sp>
        <p:nvSpPr>
          <p:cNvPr id="11" name="任意多边形 10"/>
          <p:cNvSpPr/>
          <p:nvPr/>
        </p:nvSpPr>
        <p:spPr>
          <a:xfrm rot="21407563">
            <a:off x="4378904" y="4168603"/>
            <a:ext cx="290204" cy="370948"/>
          </a:xfrm>
          <a:custGeom>
            <a:avLst/>
            <a:gdLst>
              <a:gd name="connsiteX0" fmla="*/ 0 w 290203"/>
              <a:gd name="connsiteY0" fmla="*/ 74189 h 370947"/>
              <a:gd name="connsiteX1" fmla="*/ 145102 w 290203"/>
              <a:gd name="connsiteY1" fmla="*/ 74189 h 370947"/>
              <a:gd name="connsiteX2" fmla="*/ 145102 w 290203"/>
              <a:gd name="connsiteY2" fmla="*/ 0 h 370947"/>
              <a:gd name="connsiteX3" fmla="*/ 290203 w 290203"/>
              <a:gd name="connsiteY3" fmla="*/ 185474 h 370947"/>
              <a:gd name="connsiteX4" fmla="*/ 145102 w 290203"/>
              <a:gd name="connsiteY4" fmla="*/ 370947 h 370947"/>
              <a:gd name="connsiteX5" fmla="*/ 145102 w 290203"/>
              <a:gd name="connsiteY5" fmla="*/ 296758 h 370947"/>
              <a:gd name="connsiteX6" fmla="*/ 0 w 290203"/>
              <a:gd name="connsiteY6" fmla="*/ 296758 h 370947"/>
              <a:gd name="connsiteX7" fmla="*/ 0 w 290203"/>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203" h="370947">
                <a:moveTo>
                  <a:pt x="290203" y="296758"/>
                </a:moveTo>
                <a:lnTo>
                  <a:pt x="145101" y="296758"/>
                </a:lnTo>
                <a:lnTo>
                  <a:pt x="145101" y="370947"/>
                </a:lnTo>
                <a:lnTo>
                  <a:pt x="0" y="185473"/>
                </a:lnTo>
                <a:lnTo>
                  <a:pt x="145101" y="0"/>
                </a:lnTo>
                <a:lnTo>
                  <a:pt x="145101" y="74189"/>
                </a:lnTo>
                <a:lnTo>
                  <a:pt x="290203" y="74189"/>
                </a:lnTo>
                <a:lnTo>
                  <a:pt x="290203"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87061" tIns="74190" rIns="0"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2" name="任意多边形 11"/>
          <p:cNvSpPr/>
          <p:nvPr/>
        </p:nvSpPr>
        <p:spPr>
          <a:xfrm>
            <a:off x="2771802" y="3675123"/>
            <a:ext cx="1471807" cy="1471807"/>
          </a:xfrm>
          <a:custGeom>
            <a:avLst/>
            <a:gdLst>
              <a:gd name="connsiteX0" fmla="*/ 0 w 1471807"/>
              <a:gd name="connsiteY0" fmla="*/ 735904 h 1471807"/>
              <a:gd name="connsiteX1" fmla="*/ 735904 w 1471807"/>
              <a:gd name="connsiteY1" fmla="*/ 0 h 1471807"/>
              <a:gd name="connsiteX2" fmla="*/ 1471808 w 1471807"/>
              <a:gd name="connsiteY2" fmla="*/ 735904 h 1471807"/>
              <a:gd name="connsiteX3" fmla="*/ 735904 w 1471807"/>
              <a:gd name="connsiteY3" fmla="*/ 1471808 h 1471807"/>
              <a:gd name="connsiteX4" fmla="*/ 0 w 1471807"/>
              <a:gd name="connsiteY4" fmla="*/ 735904 h 1471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1807" h="1471807">
                <a:moveTo>
                  <a:pt x="0" y="735904"/>
                </a:moveTo>
                <a:cubicBezTo>
                  <a:pt x="0" y="329475"/>
                  <a:pt x="329475" y="0"/>
                  <a:pt x="735904" y="0"/>
                </a:cubicBezTo>
                <a:cubicBezTo>
                  <a:pt x="1142333" y="0"/>
                  <a:pt x="1471808" y="329475"/>
                  <a:pt x="1471808" y="735904"/>
                </a:cubicBezTo>
                <a:cubicBezTo>
                  <a:pt x="1471808" y="1142333"/>
                  <a:pt x="1142333" y="1471808"/>
                  <a:pt x="735904" y="1471808"/>
                </a:cubicBezTo>
                <a:cubicBezTo>
                  <a:pt x="329475" y="1471808"/>
                  <a:pt x="0" y="1142333"/>
                  <a:pt x="0" y="7359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242211" tIns="242211" rIns="242211" bIns="242211"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个人计算机操作系统</a:t>
            </a:r>
            <a:endParaRPr lang="zh-CN" altLang="en-US" sz="2100" b="1" kern="1200" dirty="0">
              <a:solidFill>
                <a:schemeClr val="tx1"/>
              </a:solidFill>
            </a:endParaRPr>
          </a:p>
        </p:txBody>
      </p:sp>
      <p:sp>
        <p:nvSpPr>
          <p:cNvPr id="2" name="矩形 1"/>
          <p:cNvSpPr/>
          <p:nvPr/>
        </p:nvSpPr>
        <p:spPr>
          <a:xfrm>
            <a:off x="783303" y="1510798"/>
            <a:ext cx="5588900" cy="2492990"/>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联机</a:t>
            </a:r>
            <a:r>
              <a:rPr lang="zh-CN" altLang="en-US" sz="2000" b="1" dirty="0">
                <a:solidFill>
                  <a:schemeClr val="bg1"/>
                </a:solidFill>
                <a:latin typeface="+mn-ea"/>
              </a:rPr>
              <a:t>的</a:t>
            </a:r>
            <a:r>
              <a:rPr lang="zh-CN" altLang="en-US" sz="2000" b="1" dirty="0">
                <a:solidFill>
                  <a:srgbClr val="FFFF00"/>
                </a:solidFill>
                <a:latin typeface="+mn-ea"/>
              </a:rPr>
              <a:t>交互式</a:t>
            </a:r>
            <a:r>
              <a:rPr lang="zh-CN" altLang="en-US" sz="2000" b="1" dirty="0">
                <a:solidFill>
                  <a:schemeClr val="bg1"/>
                </a:solidFill>
                <a:latin typeface="+mn-ea"/>
              </a:rPr>
              <a:t>的</a:t>
            </a:r>
            <a:r>
              <a:rPr lang="zh-CN" altLang="en-US" sz="2000" b="1" dirty="0">
                <a:solidFill>
                  <a:srgbClr val="FFFF00"/>
                </a:solidFill>
                <a:latin typeface="+mn-ea"/>
              </a:rPr>
              <a:t>单用户</a:t>
            </a:r>
            <a:r>
              <a:rPr lang="zh-CN" altLang="en-US" sz="2000" b="1" dirty="0" smtClean="0">
                <a:solidFill>
                  <a:schemeClr val="bg1"/>
                </a:solidFill>
                <a:latin typeface="+mn-ea"/>
              </a:rPr>
              <a:t>操作系统</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由于是个人专用，因此在多用户和分时所要求的对处理机调度、存储保护方面将会简单得</a:t>
            </a:r>
            <a:r>
              <a:rPr lang="zh-CN" altLang="en-US" sz="2000" b="1" dirty="0" smtClean="0">
                <a:solidFill>
                  <a:schemeClr val="bg1"/>
                </a:solidFill>
                <a:latin typeface="+mn-ea"/>
              </a:rPr>
              <a:t>多</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高速</a:t>
            </a:r>
            <a:r>
              <a:rPr lang="zh-CN" altLang="en-US" sz="2000" b="1" dirty="0" smtClean="0">
                <a:solidFill>
                  <a:schemeClr val="bg1"/>
                </a:solidFill>
                <a:latin typeface="+mn-ea"/>
              </a:rPr>
              <a:t>信号处理、大容量的内存和外存，大数据量宽频带传输，同时处理多个实时事件。</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en-US" altLang="zh-CN" sz="2000" b="1" dirty="0" smtClean="0">
                <a:solidFill>
                  <a:schemeClr val="bg1"/>
                </a:solidFill>
                <a:latin typeface="+mn-ea"/>
              </a:rPr>
              <a:t>Windows</a:t>
            </a:r>
            <a:r>
              <a:rPr lang="zh-CN" altLang="en-US" sz="2000" b="1" dirty="0" smtClean="0">
                <a:solidFill>
                  <a:schemeClr val="bg1"/>
                </a:solidFill>
                <a:latin typeface="+mn-ea"/>
              </a:rPr>
              <a:t>， </a:t>
            </a:r>
            <a:r>
              <a:rPr lang="en-US" altLang="zh-CN" sz="2000" b="1" dirty="0" smtClean="0">
                <a:solidFill>
                  <a:schemeClr val="bg1"/>
                </a:solidFill>
                <a:latin typeface="+mn-ea"/>
              </a:rPr>
              <a:t>Linus</a:t>
            </a:r>
            <a:endParaRPr lang="zh-CN" altLang="en-US" sz="2000" b="1" dirty="0">
              <a:solidFill>
                <a:schemeClr val="bg1"/>
              </a:solidFill>
              <a:latin typeface="+mn-ea"/>
            </a:endParaRPr>
          </a:p>
        </p:txBody>
      </p:sp>
    </p:spTree>
    <p:extLst>
      <p:ext uri="{BB962C8B-B14F-4D97-AF65-F5344CB8AC3E}">
        <p14:creationId xmlns:p14="http://schemas.microsoft.com/office/powerpoint/2010/main" val="313922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heel(1)">
                                      <p:cBhvr>
                                        <p:cTn id="22" dur="2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wipe(left)">
                                      <p:cBhvr>
                                        <p:cTn id="27" dur="500"/>
                                        <p:tgtEl>
                                          <p:spTgt spid="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wipe(left)">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wipe(left)">
                                      <p:cBhvr>
                                        <p:cTn id="37" dur="500"/>
                                        <p:tgtEl>
                                          <p:spTgt spid="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wipe(left)">
                                      <p:cBhvr>
                                        <p:cTn id="4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7" name="任意多边形 6"/>
          <p:cNvSpPr/>
          <p:nvPr/>
        </p:nvSpPr>
        <p:spPr>
          <a:xfrm rot="4343796">
            <a:off x="6659620" y="2227236"/>
            <a:ext cx="286790" cy="370947"/>
          </a:xfrm>
          <a:custGeom>
            <a:avLst/>
            <a:gdLst>
              <a:gd name="connsiteX0" fmla="*/ 0 w 286790"/>
              <a:gd name="connsiteY0" fmla="*/ 74189 h 370947"/>
              <a:gd name="connsiteX1" fmla="*/ 143395 w 286790"/>
              <a:gd name="connsiteY1" fmla="*/ 74189 h 370947"/>
              <a:gd name="connsiteX2" fmla="*/ 143395 w 286790"/>
              <a:gd name="connsiteY2" fmla="*/ 0 h 370947"/>
              <a:gd name="connsiteX3" fmla="*/ 286790 w 286790"/>
              <a:gd name="connsiteY3" fmla="*/ 185474 h 370947"/>
              <a:gd name="connsiteX4" fmla="*/ 143395 w 286790"/>
              <a:gd name="connsiteY4" fmla="*/ 370947 h 370947"/>
              <a:gd name="connsiteX5" fmla="*/ 143395 w 286790"/>
              <a:gd name="connsiteY5" fmla="*/ 296758 h 370947"/>
              <a:gd name="connsiteX6" fmla="*/ 0 w 286790"/>
              <a:gd name="connsiteY6" fmla="*/ 296758 h 370947"/>
              <a:gd name="connsiteX7" fmla="*/ 0 w 28679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90" h="370947">
                <a:moveTo>
                  <a:pt x="0" y="74189"/>
                </a:moveTo>
                <a:lnTo>
                  <a:pt x="143395" y="74189"/>
                </a:lnTo>
                <a:lnTo>
                  <a:pt x="143395" y="0"/>
                </a:lnTo>
                <a:lnTo>
                  <a:pt x="286790" y="185474"/>
                </a:lnTo>
                <a:lnTo>
                  <a:pt x="143395" y="370947"/>
                </a:lnTo>
                <a:lnTo>
                  <a:pt x="143395"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0" tIns="74188" rIns="86036"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8" name="任意多边形 7"/>
          <p:cNvSpPr/>
          <p:nvPr/>
        </p:nvSpPr>
        <p:spPr>
          <a:xfrm>
            <a:off x="6372203" y="2643757"/>
            <a:ext cx="1476808" cy="1476808"/>
          </a:xfrm>
          <a:custGeom>
            <a:avLst/>
            <a:gdLst>
              <a:gd name="connsiteX0" fmla="*/ 0 w 1476808"/>
              <a:gd name="connsiteY0" fmla="*/ 738404 h 1476808"/>
              <a:gd name="connsiteX1" fmla="*/ 738404 w 1476808"/>
              <a:gd name="connsiteY1" fmla="*/ 0 h 1476808"/>
              <a:gd name="connsiteX2" fmla="*/ 1476808 w 1476808"/>
              <a:gd name="connsiteY2" fmla="*/ 738404 h 1476808"/>
              <a:gd name="connsiteX3" fmla="*/ 738404 w 1476808"/>
              <a:gd name="connsiteY3" fmla="*/ 1476808 h 1476808"/>
              <a:gd name="connsiteX4" fmla="*/ 0 w 1476808"/>
              <a:gd name="connsiteY4" fmla="*/ 738404 h 1476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808" h="1476808">
                <a:moveTo>
                  <a:pt x="0" y="738404"/>
                </a:moveTo>
                <a:cubicBezTo>
                  <a:pt x="0" y="330595"/>
                  <a:pt x="330595" y="0"/>
                  <a:pt x="738404" y="0"/>
                </a:cubicBezTo>
                <a:cubicBezTo>
                  <a:pt x="1146213" y="0"/>
                  <a:pt x="1476808" y="330595"/>
                  <a:pt x="1476808" y="738404"/>
                </a:cubicBezTo>
                <a:cubicBezTo>
                  <a:pt x="1476808" y="1146213"/>
                  <a:pt x="1146213" y="1476808"/>
                  <a:pt x="738404" y="1476808"/>
                </a:cubicBezTo>
                <a:cubicBezTo>
                  <a:pt x="330595" y="1476808"/>
                  <a:pt x="0" y="1146213"/>
                  <a:pt x="0" y="7384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244214" tIns="244214" rIns="244214" bIns="244214" numCol="1" spcCol="1270" anchor="ctr" anchorCtr="0">
            <a:noAutofit/>
          </a:bodyPr>
          <a:lstStyle/>
          <a:p>
            <a:pPr lvl="0" algn="ctr" defTabSz="977900">
              <a:lnSpc>
                <a:spcPct val="90000"/>
              </a:lnSpc>
              <a:spcBef>
                <a:spcPct val="0"/>
              </a:spcBef>
              <a:spcAft>
                <a:spcPct val="35000"/>
              </a:spcAft>
            </a:pPr>
            <a:r>
              <a:rPr lang="zh-CN" altLang="en-US" sz="2200" b="1" kern="1200" dirty="0" smtClean="0"/>
              <a:t>实时系统</a:t>
            </a:r>
            <a:endParaRPr lang="zh-CN" altLang="en-US" sz="2200" b="1" kern="1200" dirty="0"/>
          </a:p>
        </p:txBody>
      </p:sp>
      <p:sp>
        <p:nvSpPr>
          <p:cNvPr id="9" name="任意多边形 8"/>
          <p:cNvSpPr/>
          <p:nvPr/>
        </p:nvSpPr>
        <p:spPr>
          <a:xfrm rot="19814398">
            <a:off x="6202352" y="3656986"/>
            <a:ext cx="206455" cy="370948"/>
          </a:xfrm>
          <a:custGeom>
            <a:avLst/>
            <a:gdLst>
              <a:gd name="connsiteX0" fmla="*/ 0 w 206455"/>
              <a:gd name="connsiteY0" fmla="*/ 74189 h 370947"/>
              <a:gd name="connsiteX1" fmla="*/ 103228 w 206455"/>
              <a:gd name="connsiteY1" fmla="*/ 74189 h 370947"/>
              <a:gd name="connsiteX2" fmla="*/ 103228 w 206455"/>
              <a:gd name="connsiteY2" fmla="*/ 0 h 370947"/>
              <a:gd name="connsiteX3" fmla="*/ 206455 w 206455"/>
              <a:gd name="connsiteY3" fmla="*/ 185474 h 370947"/>
              <a:gd name="connsiteX4" fmla="*/ 103228 w 206455"/>
              <a:gd name="connsiteY4" fmla="*/ 370947 h 370947"/>
              <a:gd name="connsiteX5" fmla="*/ 103228 w 206455"/>
              <a:gd name="connsiteY5" fmla="*/ 296758 h 370947"/>
              <a:gd name="connsiteX6" fmla="*/ 0 w 206455"/>
              <a:gd name="connsiteY6" fmla="*/ 296758 h 370947"/>
              <a:gd name="connsiteX7" fmla="*/ 0 w 206455"/>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455" h="370947">
                <a:moveTo>
                  <a:pt x="206454" y="296758"/>
                </a:moveTo>
                <a:lnTo>
                  <a:pt x="103227" y="296758"/>
                </a:lnTo>
                <a:lnTo>
                  <a:pt x="103227" y="370947"/>
                </a:lnTo>
                <a:lnTo>
                  <a:pt x="1" y="185473"/>
                </a:lnTo>
                <a:lnTo>
                  <a:pt x="103227" y="0"/>
                </a:lnTo>
                <a:lnTo>
                  <a:pt x="103227" y="74189"/>
                </a:lnTo>
                <a:lnTo>
                  <a:pt x="206454" y="74189"/>
                </a:lnTo>
                <a:lnTo>
                  <a:pt x="206454"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61936" tIns="74189" rIns="-1"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0" name="任意多边形 9"/>
          <p:cNvSpPr/>
          <p:nvPr/>
        </p:nvSpPr>
        <p:spPr>
          <a:xfrm>
            <a:off x="4788028" y="3579865"/>
            <a:ext cx="1438241" cy="1438241"/>
          </a:xfrm>
          <a:custGeom>
            <a:avLst/>
            <a:gdLst>
              <a:gd name="connsiteX0" fmla="*/ 0 w 1438241"/>
              <a:gd name="connsiteY0" fmla="*/ 719121 h 1438241"/>
              <a:gd name="connsiteX1" fmla="*/ 719121 w 1438241"/>
              <a:gd name="connsiteY1" fmla="*/ 0 h 1438241"/>
              <a:gd name="connsiteX2" fmla="*/ 1438242 w 1438241"/>
              <a:gd name="connsiteY2" fmla="*/ 719121 h 1438241"/>
              <a:gd name="connsiteX3" fmla="*/ 719121 w 1438241"/>
              <a:gd name="connsiteY3" fmla="*/ 1438242 h 1438241"/>
              <a:gd name="connsiteX4" fmla="*/ 0 w 1438241"/>
              <a:gd name="connsiteY4" fmla="*/ 719121 h 1438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241" h="1438241">
                <a:moveTo>
                  <a:pt x="0" y="719121"/>
                </a:moveTo>
                <a:cubicBezTo>
                  <a:pt x="0" y="321961"/>
                  <a:pt x="321961" y="0"/>
                  <a:pt x="719121" y="0"/>
                </a:cubicBezTo>
                <a:cubicBezTo>
                  <a:pt x="1116281" y="0"/>
                  <a:pt x="1438242" y="321961"/>
                  <a:pt x="1438242" y="719121"/>
                </a:cubicBezTo>
                <a:cubicBezTo>
                  <a:pt x="1438242" y="1116281"/>
                  <a:pt x="1116281" y="1438242"/>
                  <a:pt x="719121" y="1438242"/>
                </a:cubicBezTo>
                <a:cubicBezTo>
                  <a:pt x="321961" y="1438242"/>
                  <a:pt x="0" y="1116281"/>
                  <a:pt x="0" y="719121"/>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237296" tIns="237296" rIns="237296" bIns="237296"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通用操作系统</a:t>
            </a:r>
            <a:endParaRPr lang="zh-CN" altLang="en-US" sz="2100" b="1" kern="1200" dirty="0">
              <a:solidFill>
                <a:schemeClr val="tx1"/>
              </a:solidFill>
            </a:endParaRPr>
          </a:p>
        </p:txBody>
      </p:sp>
      <p:sp>
        <p:nvSpPr>
          <p:cNvPr id="11" name="任意多边形 10"/>
          <p:cNvSpPr/>
          <p:nvPr/>
        </p:nvSpPr>
        <p:spPr>
          <a:xfrm rot="21407563">
            <a:off x="4378904" y="4168603"/>
            <a:ext cx="290204" cy="370948"/>
          </a:xfrm>
          <a:custGeom>
            <a:avLst/>
            <a:gdLst>
              <a:gd name="connsiteX0" fmla="*/ 0 w 290203"/>
              <a:gd name="connsiteY0" fmla="*/ 74189 h 370947"/>
              <a:gd name="connsiteX1" fmla="*/ 145102 w 290203"/>
              <a:gd name="connsiteY1" fmla="*/ 74189 h 370947"/>
              <a:gd name="connsiteX2" fmla="*/ 145102 w 290203"/>
              <a:gd name="connsiteY2" fmla="*/ 0 h 370947"/>
              <a:gd name="connsiteX3" fmla="*/ 290203 w 290203"/>
              <a:gd name="connsiteY3" fmla="*/ 185474 h 370947"/>
              <a:gd name="connsiteX4" fmla="*/ 145102 w 290203"/>
              <a:gd name="connsiteY4" fmla="*/ 370947 h 370947"/>
              <a:gd name="connsiteX5" fmla="*/ 145102 w 290203"/>
              <a:gd name="connsiteY5" fmla="*/ 296758 h 370947"/>
              <a:gd name="connsiteX6" fmla="*/ 0 w 290203"/>
              <a:gd name="connsiteY6" fmla="*/ 296758 h 370947"/>
              <a:gd name="connsiteX7" fmla="*/ 0 w 290203"/>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203" h="370947">
                <a:moveTo>
                  <a:pt x="290203" y="296758"/>
                </a:moveTo>
                <a:lnTo>
                  <a:pt x="145101" y="296758"/>
                </a:lnTo>
                <a:lnTo>
                  <a:pt x="145101" y="370947"/>
                </a:lnTo>
                <a:lnTo>
                  <a:pt x="0" y="185473"/>
                </a:lnTo>
                <a:lnTo>
                  <a:pt x="145101" y="0"/>
                </a:lnTo>
                <a:lnTo>
                  <a:pt x="145101" y="74189"/>
                </a:lnTo>
                <a:lnTo>
                  <a:pt x="290203" y="74189"/>
                </a:lnTo>
                <a:lnTo>
                  <a:pt x="290203"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87061" tIns="74190" rIns="0"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2" name="任意多边形 11"/>
          <p:cNvSpPr/>
          <p:nvPr/>
        </p:nvSpPr>
        <p:spPr>
          <a:xfrm>
            <a:off x="2771802" y="3675123"/>
            <a:ext cx="1471807" cy="1471807"/>
          </a:xfrm>
          <a:custGeom>
            <a:avLst/>
            <a:gdLst>
              <a:gd name="connsiteX0" fmla="*/ 0 w 1471807"/>
              <a:gd name="connsiteY0" fmla="*/ 735904 h 1471807"/>
              <a:gd name="connsiteX1" fmla="*/ 735904 w 1471807"/>
              <a:gd name="connsiteY1" fmla="*/ 0 h 1471807"/>
              <a:gd name="connsiteX2" fmla="*/ 1471808 w 1471807"/>
              <a:gd name="connsiteY2" fmla="*/ 735904 h 1471807"/>
              <a:gd name="connsiteX3" fmla="*/ 735904 w 1471807"/>
              <a:gd name="connsiteY3" fmla="*/ 1471808 h 1471807"/>
              <a:gd name="connsiteX4" fmla="*/ 0 w 1471807"/>
              <a:gd name="connsiteY4" fmla="*/ 735904 h 1471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1807" h="1471807">
                <a:moveTo>
                  <a:pt x="0" y="735904"/>
                </a:moveTo>
                <a:cubicBezTo>
                  <a:pt x="0" y="329475"/>
                  <a:pt x="329475" y="0"/>
                  <a:pt x="735904" y="0"/>
                </a:cubicBezTo>
                <a:cubicBezTo>
                  <a:pt x="1142333" y="0"/>
                  <a:pt x="1471808" y="329475"/>
                  <a:pt x="1471808" y="735904"/>
                </a:cubicBezTo>
                <a:cubicBezTo>
                  <a:pt x="1471808" y="1142333"/>
                  <a:pt x="1142333" y="1471808"/>
                  <a:pt x="735904" y="1471808"/>
                </a:cubicBezTo>
                <a:cubicBezTo>
                  <a:pt x="329475" y="1471808"/>
                  <a:pt x="0" y="1142333"/>
                  <a:pt x="0" y="7359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242211" tIns="242211" rIns="242211" bIns="242211"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个人计算机操作系统</a:t>
            </a:r>
            <a:endParaRPr lang="zh-CN" altLang="en-US" sz="2100" b="1" kern="1200" dirty="0">
              <a:solidFill>
                <a:schemeClr val="tx1"/>
              </a:solidFill>
            </a:endParaRPr>
          </a:p>
        </p:txBody>
      </p:sp>
      <p:sp>
        <p:nvSpPr>
          <p:cNvPr id="13" name="任意多边形 12"/>
          <p:cNvSpPr/>
          <p:nvPr/>
        </p:nvSpPr>
        <p:spPr>
          <a:xfrm rot="1231906">
            <a:off x="2487679" y="3889194"/>
            <a:ext cx="243830" cy="370948"/>
          </a:xfrm>
          <a:custGeom>
            <a:avLst/>
            <a:gdLst>
              <a:gd name="connsiteX0" fmla="*/ 0 w 243830"/>
              <a:gd name="connsiteY0" fmla="*/ 74189 h 370947"/>
              <a:gd name="connsiteX1" fmla="*/ 121915 w 243830"/>
              <a:gd name="connsiteY1" fmla="*/ 74189 h 370947"/>
              <a:gd name="connsiteX2" fmla="*/ 121915 w 243830"/>
              <a:gd name="connsiteY2" fmla="*/ 0 h 370947"/>
              <a:gd name="connsiteX3" fmla="*/ 243830 w 243830"/>
              <a:gd name="connsiteY3" fmla="*/ 185474 h 370947"/>
              <a:gd name="connsiteX4" fmla="*/ 121915 w 243830"/>
              <a:gd name="connsiteY4" fmla="*/ 370947 h 370947"/>
              <a:gd name="connsiteX5" fmla="*/ 121915 w 243830"/>
              <a:gd name="connsiteY5" fmla="*/ 296758 h 370947"/>
              <a:gd name="connsiteX6" fmla="*/ 0 w 243830"/>
              <a:gd name="connsiteY6" fmla="*/ 296758 h 370947"/>
              <a:gd name="connsiteX7" fmla="*/ 0 w 24383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30" h="370947">
                <a:moveTo>
                  <a:pt x="243829" y="296758"/>
                </a:moveTo>
                <a:lnTo>
                  <a:pt x="121915" y="296758"/>
                </a:lnTo>
                <a:lnTo>
                  <a:pt x="121915" y="370947"/>
                </a:lnTo>
                <a:lnTo>
                  <a:pt x="1" y="185473"/>
                </a:lnTo>
                <a:lnTo>
                  <a:pt x="121915" y="0"/>
                </a:lnTo>
                <a:lnTo>
                  <a:pt x="121915" y="74189"/>
                </a:lnTo>
                <a:lnTo>
                  <a:pt x="243829" y="74189"/>
                </a:lnTo>
                <a:lnTo>
                  <a:pt x="243829"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73149" tIns="74190" rIns="-1"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4" name="任意多边形 13"/>
          <p:cNvSpPr/>
          <p:nvPr/>
        </p:nvSpPr>
        <p:spPr>
          <a:xfrm>
            <a:off x="971592" y="3003801"/>
            <a:ext cx="1462575" cy="1462575"/>
          </a:xfrm>
          <a:custGeom>
            <a:avLst/>
            <a:gdLst>
              <a:gd name="connsiteX0" fmla="*/ 0 w 1462575"/>
              <a:gd name="connsiteY0" fmla="*/ 731288 h 1462575"/>
              <a:gd name="connsiteX1" fmla="*/ 731288 w 1462575"/>
              <a:gd name="connsiteY1" fmla="*/ 0 h 1462575"/>
              <a:gd name="connsiteX2" fmla="*/ 1462576 w 1462575"/>
              <a:gd name="connsiteY2" fmla="*/ 731288 h 1462575"/>
              <a:gd name="connsiteX3" fmla="*/ 731288 w 1462575"/>
              <a:gd name="connsiteY3" fmla="*/ 1462576 h 1462575"/>
              <a:gd name="connsiteX4" fmla="*/ 0 w 1462575"/>
              <a:gd name="connsiteY4" fmla="*/ 731288 h 146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75" h="1462575">
                <a:moveTo>
                  <a:pt x="0" y="731288"/>
                </a:moveTo>
                <a:cubicBezTo>
                  <a:pt x="0" y="327409"/>
                  <a:pt x="327409" y="0"/>
                  <a:pt x="731288" y="0"/>
                </a:cubicBezTo>
                <a:cubicBezTo>
                  <a:pt x="1135167" y="0"/>
                  <a:pt x="1462576" y="327409"/>
                  <a:pt x="1462576" y="731288"/>
                </a:cubicBezTo>
                <a:cubicBezTo>
                  <a:pt x="1462576" y="1135167"/>
                  <a:pt x="1135167" y="1462576"/>
                  <a:pt x="731288" y="1462576"/>
                </a:cubicBezTo>
                <a:cubicBezTo>
                  <a:pt x="327409" y="1462576"/>
                  <a:pt x="0" y="1135167"/>
                  <a:pt x="0" y="7312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240859" tIns="240859" rIns="240859" bIns="240859"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网络操作系统</a:t>
            </a:r>
            <a:endParaRPr lang="zh-CN" altLang="en-US" sz="2100" b="1" kern="1200" dirty="0">
              <a:solidFill>
                <a:schemeClr val="tx1"/>
              </a:solidFill>
            </a:endParaRPr>
          </a:p>
        </p:txBody>
      </p:sp>
    </p:spTree>
    <p:extLst>
      <p:ext uri="{BB962C8B-B14F-4D97-AF65-F5344CB8AC3E}">
        <p14:creationId xmlns:p14="http://schemas.microsoft.com/office/powerpoint/2010/main" val="250927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4" name="任意多边形 13"/>
          <p:cNvSpPr/>
          <p:nvPr/>
        </p:nvSpPr>
        <p:spPr>
          <a:xfrm>
            <a:off x="107504" y="2067694"/>
            <a:ext cx="1462575" cy="1462575"/>
          </a:xfrm>
          <a:custGeom>
            <a:avLst/>
            <a:gdLst>
              <a:gd name="connsiteX0" fmla="*/ 0 w 1462575"/>
              <a:gd name="connsiteY0" fmla="*/ 731288 h 1462575"/>
              <a:gd name="connsiteX1" fmla="*/ 731288 w 1462575"/>
              <a:gd name="connsiteY1" fmla="*/ 0 h 1462575"/>
              <a:gd name="connsiteX2" fmla="*/ 1462576 w 1462575"/>
              <a:gd name="connsiteY2" fmla="*/ 731288 h 1462575"/>
              <a:gd name="connsiteX3" fmla="*/ 731288 w 1462575"/>
              <a:gd name="connsiteY3" fmla="*/ 1462576 h 1462575"/>
              <a:gd name="connsiteX4" fmla="*/ 0 w 1462575"/>
              <a:gd name="connsiteY4" fmla="*/ 731288 h 146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75" h="1462575">
                <a:moveTo>
                  <a:pt x="0" y="731288"/>
                </a:moveTo>
                <a:cubicBezTo>
                  <a:pt x="0" y="327409"/>
                  <a:pt x="327409" y="0"/>
                  <a:pt x="731288" y="0"/>
                </a:cubicBezTo>
                <a:cubicBezTo>
                  <a:pt x="1135167" y="0"/>
                  <a:pt x="1462576" y="327409"/>
                  <a:pt x="1462576" y="731288"/>
                </a:cubicBezTo>
                <a:cubicBezTo>
                  <a:pt x="1462576" y="1135167"/>
                  <a:pt x="1135167" y="1462576"/>
                  <a:pt x="731288" y="1462576"/>
                </a:cubicBezTo>
                <a:cubicBezTo>
                  <a:pt x="327409" y="1462576"/>
                  <a:pt x="0" y="1135167"/>
                  <a:pt x="0" y="7312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240859" tIns="240859" rIns="240859" bIns="240859"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网络操作系统</a:t>
            </a:r>
            <a:endParaRPr lang="zh-CN" altLang="en-US" sz="2100" b="1" kern="1200" dirty="0">
              <a:solidFill>
                <a:schemeClr val="tx1"/>
              </a:solidFill>
            </a:endParaRPr>
          </a:p>
        </p:txBody>
      </p:sp>
      <p:sp>
        <p:nvSpPr>
          <p:cNvPr id="2" name="矩形 1"/>
          <p:cNvSpPr/>
          <p:nvPr/>
        </p:nvSpPr>
        <p:spPr>
          <a:xfrm>
            <a:off x="1475656" y="1203598"/>
            <a:ext cx="6242281"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计算机网络是通过通信设施将</a:t>
            </a:r>
            <a:r>
              <a:rPr lang="zh-CN" altLang="en-US" sz="2000" b="1" dirty="0">
                <a:solidFill>
                  <a:srgbClr val="FFFF00"/>
                </a:solidFill>
                <a:latin typeface="+mn-ea"/>
              </a:rPr>
              <a:t>物理上分散</a:t>
            </a:r>
            <a:r>
              <a:rPr lang="zh-CN" altLang="en-US" sz="2000" b="1" dirty="0">
                <a:solidFill>
                  <a:schemeClr val="bg1"/>
                </a:solidFill>
                <a:latin typeface="+mn-ea"/>
              </a:rPr>
              <a:t>的具有</a:t>
            </a:r>
            <a:r>
              <a:rPr lang="zh-CN" altLang="en-US" sz="2000" b="1" dirty="0">
                <a:solidFill>
                  <a:srgbClr val="FFFF00"/>
                </a:solidFill>
                <a:latin typeface="+mn-ea"/>
              </a:rPr>
              <a:t>自治功能</a:t>
            </a:r>
            <a:r>
              <a:rPr lang="zh-CN" altLang="en-US" sz="2000" b="1" dirty="0">
                <a:solidFill>
                  <a:schemeClr val="bg1"/>
                </a:solidFill>
                <a:latin typeface="+mn-ea"/>
              </a:rPr>
              <a:t>的多个计算机系统互连起来的，实现</a:t>
            </a:r>
            <a:r>
              <a:rPr lang="zh-CN" altLang="en-US" sz="2000" b="1" dirty="0">
                <a:solidFill>
                  <a:srgbClr val="FFFF00"/>
                </a:solidFill>
                <a:latin typeface="+mn-ea"/>
              </a:rPr>
              <a:t>信息交换</a:t>
            </a:r>
            <a:r>
              <a:rPr lang="zh-CN" altLang="en-US" sz="2000" b="1" dirty="0">
                <a:solidFill>
                  <a:schemeClr val="bg1"/>
                </a:solidFill>
                <a:latin typeface="+mn-ea"/>
              </a:rPr>
              <a:t>、</a:t>
            </a:r>
            <a:r>
              <a:rPr lang="zh-CN" altLang="en-US" sz="2000" b="1" dirty="0">
                <a:solidFill>
                  <a:srgbClr val="FFFF00"/>
                </a:solidFill>
                <a:latin typeface="+mn-ea"/>
              </a:rPr>
              <a:t>资源共享</a:t>
            </a:r>
            <a:r>
              <a:rPr lang="zh-CN" altLang="en-US" sz="2000" b="1" dirty="0">
                <a:solidFill>
                  <a:schemeClr val="bg1"/>
                </a:solidFill>
                <a:latin typeface="+mn-ea"/>
              </a:rPr>
              <a:t>、</a:t>
            </a:r>
            <a:r>
              <a:rPr lang="zh-CN" altLang="en-US" sz="2000" b="1" dirty="0">
                <a:solidFill>
                  <a:srgbClr val="FFFF00"/>
                </a:solidFill>
                <a:latin typeface="+mn-ea"/>
              </a:rPr>
              <a:t>可互操作</a:t>
            </a:r>
            <a:r>
              <a:rPr lang="zh-CN" altLang="en-US" sz="2000" b="1" dirty="0">
                <a:solidFill>
                  <a:schemeClr val="bg1"/>
                </a:solidFill>
                <a:latin typeface="+mn-ea"/>
              </a:rPr>
              <a:t>和</a:t>
            </a:r>
            <a:r>
              <a:rPr lang="zh-CN" altLang="en-US" sz="2000" b="1" dirty="0">
                <a:solidFill>
                  <a:srgbClr val="FFFF00"/>
                </a:solidFill>
                <a:latin typeface="+mn-ea"/>
              </a:rPr>
              <a:t>协作处理</a:t>
            </a:r>
            <a:r>
              <a:rPr lang="zh-CN" altLang="en-US" sz="2000" b="1" dirty="0">
                <a:solidFill>
                  <a:schemeClr val="bg1"/>
                </a:solidFill>
                <a:latin typeface="+mn-ea"/>
              </a:rPr>
              <a:t>的系统。</a:t>
            </a: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网络操作系统的研制开发是在原来各自计算机操作系统的基础上进行的。按照网络体系结构的各个</a:t>
            </a:r>
            <a:r>
              <a:rPr lang="zh-CN" altLang="en-US" sz="2000" b="1" dirty="0">
                <a:solidFill>
                  <a:srgbClr val="FFFF00"/>
                </a:solidFill>
                <a:latin typeface="+mn-ea"/>
              </a:rPr>
              <a:t>协议标准</a:t>
            </a:r>
            <a:r>
              <a:rPr lang="zh-CN" altLang="en-US" sz="2000" b="1" dirty="0">
                <a:solidFill>
                  <a:schemeClr val="bg1"/>
                </a:solidFill>
                <a:latin typeface="+mn-ea"/>
              </a:rPr>
              <a:t>进行开发，包括网络管理、通信、资源共享、系统安全和多种网络应用服务等达到上述诸方面的要求</a:t>
            </a:r>
            <a:r>
              <a:rPr lang="zh-CN" altLang="en-US" sz="2400" b="1" dirty="0">
                <a:solidFill>
                  <a:schemeClr val="bg1"/>
                </a:solidFill>
                <a:latin typeface="+mn-ea"/>
              </a:rPr>
              <a:t>。</a:t>
            </a:r>
          </a:p>
        </p:txBody>
      </p:sp>
    </p:spTree>
    <p:extLst>
      <p:ext uri="{BB962C8B-B14F-4D97-AF65-F5344CB8AC3E}">
        <p14:creationId xmlns:p14="http://schemas.microsoft.com/office/powerpoint/2010/main" val="278074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4" name="任意多边形 13"/>
          <p:cNvSpPr/>
          <p:nvPr/>
        </p:nvSpPr>
        <p:spPr>
          <a:xfrm>
            <a:off x="107504" y="2067694"/>
            <a:ext cx="1462575" cy="1462575"/>
          </a:xfrm>
          <a:custGeom>
            <a:avLst/>
            <a:gdLst>
              <a:gd name="connsiteX0" fmla="*/ 0 w 1462575"/>
              <a:gd name="connsiteY0" fmla="*/ 731288 h 1462575"/>
              <a:gd name="connsiteX1" fmla="*/ 731288 w 1462575"/>
              <a:gd name="connsiteY1" fmla="*/ 0 h 1462575"/>
              <a:gd name="connsiteX2" fmla="*/ 1462576 w 1462575"/>
              <a:gd name="connsiteY2" fmla="*/ 731288 h 1462575"/>
              <a:gd name="connsiteX3" fmla="*/ 731288 w 1462575"/>
              <a:gd name="connsiteY3" fmla="*/ 1462576 h 1462575"/>
              <a:gd name="connsiteX4" fmla="*/ 0 w 1462575"/>
              <a:gd name="connsiteY4" fmla="*/ 731288 h 146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75" h="1462575">
                <a:moveTo>
                  <a:pt x="0" y="731288"/>
                </a:moveTo>
                <a:cubicBezTo>
                  <a:pt x="0" y="327409"/>
                  <a:pt x="327409" y="0"/>
                  <a:pt x="731288" y="0"/>
                </a:cubicBezTo>
                <a:cubicBezTo>
                  <a:pt x="1135167" y="0"/>
                  <a:pt x="1462576" y="327409"/>
                  <a:pt x="1462576" y="731288"/>
                </a:cubicBezTo>
                <a:cubicBezTo>
                  <a:pt x="1462576" y="1135167"/>
                  <a:pt x="1135167" y="1462576"/>
                  <a:pt x="731288" y="1462576"/>
                </a:cubicBezTo>
                <a:cubicBezTo>
                  <a:pt x="327409" y="1462576"/>
                  <a:pt x="0" y="1135167"/>
                  <a:pt x="0" y="7312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240859" tIns="240859" rIns="240859" bIns="240859"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网络操作系统</a:t>
            </a:r>
            <a:endParaRPr lang="zh-CN" altLang="en-US" sz="2100" b="1" kern="1200" dirty="0">
              <a:solidFill>
                <a:schemeClr val="tx1"/>
              </a:solidFill>
            </a:endParaRPr>
          </a:p>
        </p:txBody>
      </p:sp>
      <p:graphicFrame>
        <p:nvGraphicFramePr>
          <p:cNvPr id="3" name="图示 2"/>
          <p:cNvGraphicFramePr/>
          <p:nvPr>
            <p:extLst>
              <p:ext uri="{D42A27DB-BD31-4B8C-83A1-F6EECF244321}">
                <p14:modId xmlns:p14="http://schemas.microsoft.com/office/powerpoint/2010/main" val="2790657792"/>
              </p:ext>
            </p:extLst>
          </p:nvPr>
        </p:nvGraphicFramePr>
        <p:xfrm>
          <a:off x="1691680" y="1062442"/>
          <a:ext cx="6336704" cy="36695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909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3556217" y="200946"/>
            <a:ext cx="1423711" cy="1423711"/>
          </a:xfrm>
          <a:custGeom>
            <a:avLst/>
            <a:gdLst>
              <a:gd name="connsiteX0" fmla="*/ 0 w 1423711"/>
              <a:gd name="connsiteY0" fmla="*/ 711856 h 1423711"/>
              <a:gd name="connsiteX1" fmla="*/ 711856 w 1423711"/>
              <a:gd name="connsiteY1" fmla="*/ 0 h 1423711"/>
              <a:gd name="connsiteX2" fmla="*/ 1423712 w 1423711"/>
              <a:gd name="connsiteY2" fmla="*/ 711856 h 1423711"/>
              <a:gd name="connsiteX3" fmla="*/ 711856 w 1423711"/>
              <a:gd name="connsiteY3" fmla="*/ 1423712 h 1423711"/>
              <a:gd name="connsiteX4" fmla="*/ 0 w 1423711"/>
              <a:gd name="connsiteY4" fmla="*/ 711856 h 1423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711" h="1423711">
                <a:moveTo>
                  <a:pt x="0" y="711856"/>
                </a:moveTo>
                <a:cubicBezTo>
                  <a:pt x="0" y="318709"/>
                  <a:pt x="318709" y="0"/>
                  <a:pt x="711856" y="0"/>
                </a:cubicBezTo>
                <a:cubicBezTo>
                  <a:pt x="1105003" y="0"/>
                  <a:pt x="1423712" y="318709"/>
                  <a:pt x="1423712" y="711856"/>
                </a:cubicBezTo>
                <a:cubicBezTo>
                  <a:pt x="1423712" y="1105003"/>
                  <a:pt x="1105003" y="1423712"/>
                  <a:pt x="711856" y="1423712"/>
                </a:cubicBezTo>
                <a:cubicBezTo>
                  <a:pt x="318709" y="1423712"/>
                  <a:pt x="0" y="1105003"/>
                  <a:pt x="0" y="711856"/>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35168" tIns="235168" rIns="235168" bIns="235168" numCol="1" spcCol="1270" anchor="ctr" anchorCtr="0">
            <a:noAutofit/>
          </a:bodyPr>
          <a:lstStyle/>
          <a:p>
            <a:pPr lvl="0" algn="ctr" defTabSz="933450">
              <a:lnSpc>
                <a:spcPct val="90000"/>
              </a:lnSpc>
              <a:spcBef>
                <a:spcPct val="0"/>
              </a:spcBef>
              <a:spcAft>
                <a:spcPct val="35000"/>
              </a:spcAft>
            </a:pPr>
            <a:r>
              <a:rPr lang="zh-CN" altLang="en-US" sz="2100" b="1" kern="1200" dirty="0" smtClean="0"/>
              <a:t>批处理操作系统</a:t>
            </a:r>
            <a:endParaRPr lang="zh-CN" altLang="en-US" sz="2100" b="1" kern="1200" dirty="0"/>
          </a:p>
        </p:txBody>
      </p:sp>
      <p:sp>
        <p:nvSpPr>
          <p:cNvPr id="5" name="任意多边形 4"/>
          <p:cNvSpPr/>
          <p:nvPr/>
        </p:nvSpPr>
        <p:spPr>
          <a:xfrm rot="903854">
            <a:off x="5147435" y="1031347"/>
            <a:ext cx="500381" cy="370947"/>
          </a:xfrm>
          <a:custGeom>
            <a:avLst/>
            <a:gdLst>
              <a:gd name="connsiteX0" fmla="*/ 0 w 500381"/>
              <a:gd name="connsiteY0" fmla="*/ 74189 h 370947"/>
              <a:gd name="connsiteX1" fmla="*/ 314908 w 500381"/>
              <a:gd name="connsiteY1" fmla="*/ 74189 h 370947"/>
              <a:gd name="connsiteX2" fmla="*/ 314908 w 500381"/>
              <a:gd name="connsiteY2" fmla="*/ 0 h 370947"/>
              <a:gd name="connsiteX3" fmla="*/ 500381 w 500381"/>
              <a:gd name="connsiteY3" fmla="*/ 185474 h 370947"/>
              <a:gd name="connsiteX4" fmla="*/ 314908 w 500381"/>
              <a:gd name="connsiteY4" fmla="*/ 370947 h 370947"/>
              <a:gd name="connsiteX5" fmla="*/ 314908 w 500381"/>
              <a:gd name="connsiteY5" fmla="*/ 296758 h 370947"/>
              <a:gd name="connsiteX6" fmla="*/ 0 w 500381"/>
              <a:gd name="connsiteY6" fmla="*/ 296758 h 370947"/>
              <a:gd name="connsiteX7" fmla="*/ 0 w 500381"/>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81" h="370947">
                <a:moveTo>
                  <a:pt x="0" y="74189"/>
                </a:moveTo>
                <a:lnTo>
                  <a:pt x="314908" y="74189"/>
                </a:lnTo>
                <a:lnTo>
                  <a:pt x="314908" y="0"/>
                </a:lnTo>
                <a:lnTo>
                  <a:pt x="500381" y="185474"/>
                </a:lnTo>
                <a:lnTo>
                  <a:pt x="314908" y="370947"/>
                </a:lnTo>
                <a:lnTo>
                  <a:pt x="314908"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74189" rIns="111283"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6" name="任意多边形 5"/>
          <p:cNvSpPr/>
          <p:nvPr/>
        </p:nvSpPr>
        <p:spPr>
          <a:xfrm>
            <a:off x="5843925" y="843292"/>
            <a:ext cx="1350895" cy="1350895"/>
          </a:xfrm>
          <a:custGeom>
            <a:avLst/>
            <a:gdLst>
              <a:gd name="connsiteX0" fmla="*/ 0 w 1350895"/>
              <a:gd name="connsiteY0" fmla="*/ 675448 h 1350895"/>
              <a:gd name="connsiteX1" fmla="*/ 675448 w 1350895"/>
              <a:gd name="connsiteY1" fmla="*/ 0 h 1350895"/>
              <a:gd name="connsiteX2" fmla="*/ 1350896 w 1350895"/>
              <a:gd name="connsiteY2" fmla="*/ 675448 h 1350895"/>
              <a:gd name="connsiteX3" fmla="*/ 675448 w 1350895"/>
              <a:gd name="connsiteY3" fmla="*/ 1350896 h 1350895"/>
              <a:gd name="connsiteX4" fmla="*/ 0 w 1350895"/>
              <a:gd name="connsiteY4" fmla="*/ 675448 h 135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95" h="1350895">
                <a:moveTo>
                  <a:pt x="0" y="675448"/>
                </a:moveTo>
                <a:cubicBezTo>
                  <a:pt x="0" y="302408"/>
                  <a:pt x="302408" y="0"/>
                  <a:pt x="675448" y="0"/>
                </a:cubicBezTo>
                <a:cubicBezTo>
                  <a:pt x="1048488" y="0"/>
                  <a:pt x="1350896" y="302408"/>
                  <a:pt x="1350896" y="675448"/>
                </a:cubicBezTo>
                <a:cubicBezTo>
                  <a:pt x="1350896" y="1048488"/>
                  <a:pt x="1048488" y="1350896"/>
                  <a:pt x="675448" y="1350896"/>
                </a:cubicBezTo>
                <a:cubicBezTo>
                  <a:pt x="302408" y="1350896"/>
                  <a:pt x="0" y="1048488"/>
                  <a:pt x="0" y="6754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225774" tIns="225774" rIns="225774" bIns="225774" numCol="1" spcCol="1270" anchor="ctr" anchorCtr="0">
            <a:noAutofit/>
          </a:bodyPr>
          <a:lstStyle/>
          <a:p>
            <a:pPr lvl="0" algn="ctr" defTabSz="977900">
              <a:lnSpc>
                <a:spcPct val="90000"/>
              </a:lnSpc>
              <a:spcBef>
                <a:spcPct val="0"/>
              </a:spcBef>
              <a:spcAft>
                <a:spcPct val="35000"/>
              </a:spcAft>
            </a:pPr>
            <a:r>
              <a:rPr lang="zh-CN" altLang="en-US" sz="2200" b="1" kern="1200" dirty="0" smtClean="0"/>
              <a:t>分时系统</a:t>
            </a:r>
            <a:endParaRPr lang="zh-CN" altLang="en-US" sz="2200" b="1" kern="1200" dirty="0"/>
          </a:p>
        </p:txBody>
      </p:sp>
      <p:sp>
        <p:nvSpPr>
          <p:cNvPr id="7" name="任意多边形 6"/>
          <p:cNvSpPr/>
          <p:nvPr/>
        </p:nvSpPr>
        <p:spPr>
          <a:xfrm rot="4343796">
            <a:off x="6659620" y="2227236"/>
            <a:ext cx="286790" cy="370947"/>
          </a:xfrm>
          <a:custGeom>
            <a:avLst/>
            <a:gdLst>
              <a:gd name="connsiteX0" fmla="*/ 0 w 286790"/>
              <a:gd name="connsiteY0" fmla="*/ 74189 h 370947"/>
              <a:gd name="connsiteX1" fmla="*/ 143395 w 286790"/>
              <a:gd name="connsiteY1" fmla="*/ 74189 h 370947"/>
              <a:gd name="connsiteX2" fmla="*/ 143395 w 286790"/>
              <a:gd name="connsiteY2" fmla="*/ 0 h 370947"/>
              <a:gd name="connsiteX3" fmla="*/ 286790 w 286790"/>
              <a:gd name="connsiteY3" fmla="*/ 185474 h 370947"/>
              <a:gd name="connsiteX4" fmla="*/ 143395 w 286790"/>
              <a:gd name="connsiteY4" fmla="*/ 370947 h 370947"/>
              <a:gd name="connsiteX5" fmla="*/ 143395 w 286790"/>
              <a:gd name="connsiteY5" fmla="*/ 296758 h 370947"/>
              <a:gd name="connsiteX6" fmla="*/ 0 w 286790"/>
              <a:gd name="connsiteY6" fmla="*/ 296758 h 370947"/>
              <a:gd name="connsiteX7" fmla="*/ 0 w 28679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90" h="370947">
                <a:moveTo>
                  <a:pt x="0" y="74189"/>
                </a:moveTo>
                <a:lnTo>
                  <a:pt x="143395" y="74189"/>
                </a:lnTo>
                <a:lnTo>
                  <a:pt x="143395" y="0"/>
                </a:lnTo>
                <a:lnTo>
                  <a:pt x="286790" y="185474"/>
                </a:lnTo>
                <a:lnTo>
                  <a:pt x="143395" y="370947"/>
                </a:lnTo>
                <a:lnTo>
                  <a:pt x="143395"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1655646"/>
              <a:satOff val="6635"/>
              <a:lumOff val="1438"/>
              <a:alphaOff val="0"/>
            </a:schemeClr>
          </a:fillRef>
          <a:effectRef idx="2">
            <a:schemeClr val="accent5">
              <a:hueOff val="-1655646"/>
              <a:satOff val="6635"/>
              <a:lumOff val="1438"/>
              <a:alphaOff val="0"/>
            </a:schemeClr>
          </a:effectRef>
          <a:fontRef idx="minor">
            <a:schemeClr val="lt1"/>
          </a:fontRef>
        </p:style>
        <p:txBody>
          <a:bodyPr spcFirstLastPara="0" vert="horz" wrap="square" lIns="0" tIns="74188" rIns="86036"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8" name="任意多边形 7"/>
          <p:cNvSpPr/>
          <p:nvPr/>
        </p:nvSpPr>
        <p:spPr>
          <a:xfrm>
            <a:off x="6372203" y="2643757"/>
            <a:ext cx="1476808" cy="1476808"/>
          </a:xfrm>
          <a:custGeom>
            <a:avLst/>
            <a:gdLst>
              <a:gd name="connsiteX0" fmla="*/ 0 w 1476808"/>
              <a:gd name="connsiteY0" fmla="*/ 738404 h 1476808"/>
              <a:gd name="connsiteX1" fmla="*/ 738404 w 1476808"/>
              <a:gd name="connsiteY1" fmla="*/ 0 h 1476808"/>
              <a:gd name="connsiteX2" fmla="*/ 1476808 w 1476808"/>
              <a:gd name="connsiteY2" fmla="*/ 738404 h 1476808"/>
              <a:gd name="connsiteX3" fmla="*/ 738404 w 1476808"/>
              <a:gd name="connsiteY3" fmla="*/ 1476808 h 1476808"/>
              <a:gd name="connsiteX4" fmla="*/ 0 w 1476808"/>
              <a:gd name="connsiteY4" fmla="*/ 738404 h 1476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808" h="1476808">
                <a:moveTo>
                  <a:pt x="0" y="738404"/>
                </a:moveTo>
                <a:cubicBezTo>
                  <a:pt x="0" y="330595"/>
                  <a:pt x="330595" y="0"/>
                  <a:pt x="738404" y="0"/>
                </a:cubicBezTo>
                <a:cubicBezTo>
                  <a:pt x="1146213" y="0"/>
                  <a:pt x="1476808" y="330595"/>
                  <a:pt x="1476808" y="738404"/>
                </a:cubicBezTo>
                <a:cubicBezTo>
                  <a:pt x="1476808" y="1146213"/>
                  <a:pt x="1146213" y="1476808"/>
                  <a:pt x="738404" y="1476808"/>
                </a:cubicBezTo>
                <a:cubicBezTo>
                  <a:pt x="330595" y="1476808"/>
                  <a:pt x="0" y="1146213"/>
                  <a:pt x="0" y="7384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244214" tIns="244214" rIns="244214" bIns="244214" numCol="1" spcCol="1270" anchor="ctr" anchorCtr="0">
            <a:noAutofit/>
          </a:bodyPr>
          <a:lstStyle/>
          <a:p>
            <a:pPr lvl="0" algn="ctr" defTabSz="977900">
              <a:lnSpc>
                <a:spcPct val="90000"/>
              </a:lnSpc>
              <a:spcBef>
                <a:spcPct val="0"/>
              </a:spcBef>
              <a:spcAft>
                <a:spcPct val="35000"/>
              </a:spcAft>
            </a:pPr>
            <a:r>
              <a:rPr lang="zh-CN" altLang="en-US" sz="2200" b="1" kern="1200" dirty="0" smtClean="0"/>
              <a:t>实时系统</a:t>
            </a:r>
            <a:endParaRPr lang="zh-CN" altLang="en-US" sz="2200" b="1" kern="1200" dirty="0"/>
          </a:p>
        </p:txBody>
      </p:sp>
      <p:sp>
        <p:nvSpPr>
          <p:cNvPr id="9" name="任意多边形 8"/>
          <p:cNvSpPr/>
          <p:nvPr/>
        </p:nvSpPr>
        <p:spPr>
          <a:xfrm rot="19814398">
            <a:off x="6202352" y="3656986"/>
            <a:ext cx="206455" cy="370948"/>
          </a:xfrm>
          <a:custGeom>
            <a:avLst/>
            <a:gdLst>
              <a:gd name="connsiteX0" fmla="*/ 0 w 206455"/>
              <a:gd name="connsiteY0" fmla="*/ 74189 h 370947"/>
              <a:gd name="connsiteX1" fmla="*/ 103228 w 206455"/>
              <a:gd name="connsiteY1" fmla="*/ 74189 h 370947"/>
              <a:gd name="connsiteX2" fmla="*/ 103228 w 206455"/>
              <a:gd name="connsiteY2" fmla="*/ 0 h 370947"/>
              <a:gd name="connsiteX3" fmla="*/ 206455 w 206455"/>
              <a:gd name="connsiteY3" fmla="*/ 185474 h 370947"/>
              <a:gd name="connsiteX4" fmla="*/ 103228 w 206455"/>
              <a:gd name="connsiteY4" fmla="*/ 370947 h 370947"/>
              <a:gd name="connsiteX5" fmla="*/ 103228 w 206455"/>
              <a:gd name="connsiteY5" fmla="*/ 296758 h 370947"/>
              <a:gd name="connsiteX6" fmla="*/ 0 w 206455"/>
              <a:gd name="connsiteY6" fmla="*/ 296758 h 370947"/>
              <a:gd name="connsiteX7" fmla="*/ 0 w 206455"/>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455" h="370947">
                <a:moveTo>
                  <a:pt x="206454" y="296758"/>
                </a:moveTo>
                <a:lnTo>
                  <a:pt x="103227" y="296758"/>
                </a:lnTo>
                <a:lnTo>
                  <a:pt x="103227" y="370947"/>
                </a:lnTo>
                <a:lnTo>
                  <a:pt x="1" y="185473"/>
                </a:lnTo>
                <a:lnTo>
                  <a:pt x="103227" y="0"/>
                </a:lnTo>
                <a:lnTo>
                  <a:pt x="103227" y="74189"/>
                </a:lnTo>
                <a:lnTo>
                  <a:pt x="206454" y="74189"/>
                </a:lnTo>
                <a:lnTo>
                  <a:pt x="206454"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61936" tIns="74189" rIns="-1"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0" name="任意多边形 9"/>
          <p:cNvSpPr/>
          <p:nvPr/>
        </p:nvSpPr>
        <p:spPr>
          <a:xfrm>
            <a:off x="4788028" y="3579865"/>
            <a:ext cx="1438241" cy="1438241"/>
          </a:xfrm>
          <a:custGeom>
            <a:avLst/>
            <a:gdLst>
              <a:gd name="connsiteX0" fmla="*/ 0 w 1438241"/>
              <a:gd name="connsiteY0" fmla="*/ 719121 h 1438241"/>
              <a:gd name="connsiteX1" fmla="*/ 719121 w 1438241"/>
              <a:gd name="connsiteY1" fmla="*/ 0 h 1438241"/>
              <a:gd name="connsiteX2" fmla="*/ 1438242 w 1438241"/>
              <a:gd name="connsiteY2" fmla="*/ 719121 h 1438241"/>
              <a:gd name="connsiteX3" fmla="*/ 719121 w 1438241"/>
              <a:gd name="connsiteY3" fmla="*/ 1438242 h 1438241"/>
              <a:gd name="connsiteX4" fmla="*/ 0 w 1438241"/>
              <a:gd name="connsiteY4" fmla="*/ 719121 h 1438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241" h="1438241">
                <a:moveTo>
                  <a:pt x="0" y="719121"/>
                </a:moveTo>
                <a:cubicBezTo>
                  <a:pt x="0" y="321961"/>
                  <a:pt x="321961" y="0"/>
                  <a:pt x="719121" y="0"/>
                </a:cubicBezTo>
                <a:cubicBezTo>
                  <a:pt x="1116281" y="0"/>
                  <a:pt x="1438242" y="321961"/>
                  <a:pt x="1438242" y="719121"/>
                </a:cubicBezTo>
                <a:cubicBezTo>
                  <a:pt x="1438242" y="1116281"/>
                  <a:pt x="1116281" y="1438242"/>
                  <a:pt x="719121" y="1438242"/>
                </a:cubicBezTo>
                <a:cubicBezTo>
                  <a:pt x="321961" y="1438242"/>
                  <a:pt x="0" y="1116281"/>
                  <a:pt x="0" y="719121"/>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237296" tIns="237296" rIns="237296" bIns="237296"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通用操作系统</a:t>
            </a:r>
            <a:endParaRPr lang="zh-CN" altLang="en-US" sz="2100" b="1" kern="1200" dirty="0">
              <a:solidFill>
                <a:schemeClr val="tx1"/>
              </a:solidFill>
            </a:endParaRPr>
          </a:p>
        </p:txBody>
      </p:sp>
      <p:sp>
        <p:nvSpPr>
          <p:cNvPr id="11" name="任意多边形 10"/>
          <p:cNvSpPr/>
          <p:nvPr/>
        </p:nvSpPr>
        <p:spPr>
          <a:xfrm rot="21407563">
            <a:off x="4378904" y="4168603"/>
            <a:ext cx="290204" cy="370948"/>
          </a:xfrm>
          <a:custGeom>
            <a:avLst/>
            <a:gdLst>
              <a:gd name="connsiteX0" fmla="*/ 0 w 290203"/>
              <a:gd name="connsiteY0" fmla="*/ 74189 h 370947"/>
              <a:gd name="connsiteX1" fmla="*/ 145102 w 290203"/>
              <a:gd name="connsiteY1" fmla="*/ 74189 h 370947"/>
              <a:gd name="connsiteX2" fmla="*/ 145102 w 290203"/>
              <a:gd name="connsiteY2" fmla="*/ 0 h 370947"/>
              <a:gd name="connsiteX3" fmla="*/ 290203 w 290203"/>
              <a:gd name="connsiteY3" fmla="*/ 185474 h 370947"/>
              <a:gd name="connsiteX4" fmla="*/ 145102 w 290203"/>
              <a:gd name="connsiteY4" fmla="*/ 370947 h 370947"/>
              <a:gd name="connsiteX5" fmla="*/ 145102 w 290203"/>
              <a:gd name="connsiteY5" fmla="*/ 296758 h 370947"/>
              <a:gd name="connsiteX6" fmla="*/ 0 w 290203"/>
              <a:gd name="connsiteY6" fmla="*/ 296758 h 370947"/>
              <a:gd name="connsiteX7" fmla="*/ 0 w 290203"/>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203" h="370947">
                <a:moveTo>
                  <a:pt x="290203" y="296758"/>
                </a:moveTo>
                <a:lnTo>
                  <a:pt x="145101" y="296758"/>
                </a:lnTo>
                <a:lnTo>
                  <a:pt x="145101" y="370947"/>
                </a:lnTo>
                <a:lnTo>
                  <a:pt x="0" y="185473"/>
                </a:lnTo>
                <a:lnTo>
                  <a:pt x="145101" y="0"/>
                </a:lnTo>
                <a:lnTo>
                  <a:pt x="145101" y="74189"/>
                </a:lnTo>
                <a:lnTo>
                  <a:pt x="290203" y="74189"/>
                </a:lnTo>
                <a:lnTo>
                  <a:pt x="290203"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87061" tIns="74190" rIns="0"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2" name="任意多边形 11"/>
          <p:cNvSpPr/>
          <p:nvPr/>
        </p:nvSpPr>
        <p:spPr>
          <a:xfrm>
            <a:off x="2771802" y="3675123"/>
            <a:ext cx="1471807" cy="1471807"/>
          </a:xfrm>
          <a:custGeom>
            <a:avLst/>
            <a:gdLst>
              <a:gd name="connsiteX0" fmla="*/ 0 w 1471807"/>
              <a:gd name="connsiteY0" fmla="*/ 735904 h 1471807"/>
              <a:gd name="connsiteX1" fmla="*/ 735904 w 1471807"/>
              <a:gd name="connsiteY1" fmla="*/ 0 h 1471807"/>
              <a:gd name="connsiteX2" fmla="*/ 1471808 w 1471807"/>
              <a:gd name="connsiteY2" fmla="*/ 735904 h 1471807"/>
              <a:gd name="connsiteX3" fmla="*/ 735904 w 1471807"/>
              <a:gd name="connsiteY3" fmla="*/ 1471808 h 1471807"/>
              <a:gd name="connsiteX4" fmla="*/ 0 w 1471807"/>
              <a:gd name="connsiteY4" fmla="*/ 735904 h 1471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1807" h="1471807">
                <a:moveTo>
                  <a:pt x="0" y="735904"/>
                </a:moveTo>
                <a:cubicBezTo>
                  <a:pt x="0" y="329475"/>
                  <a:pt x="329475" y="0"/>
                  <a:pt x="735904" y="0"/>
                </a:cubicBezTo>
                <a:cubicBezTo>
                  <a:pt x="1142333" y="0"/>
                  <a:pt x="1471808" y="329475"/>
                  <a:pt x="1471808" y="735904"/>
                </a:cubicBezTo>
                <a:cubicBezTo>
                  <a:pt x="1471808" y="1142333"/>
                  <a:pt x="1142333" y="1471808"/>
                  <a:pt x="735904" y="1471808"/>
                </a:cubicBezTo>
                <a:cubicBezTo>
                  <a:pt x="329475" y="1471808"/>
                  <a:pt x="0" y="1142333"/>
                  <a:pt x="0" y="735904"/>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242211" tIns="242211" rIns="242211" bIns="242211"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个人计算机操作系统</a:t>
            </a:r>
            <a:endParaRPr lang="zh-CN" altLang="en-US" sz="2100" b="1" kern="1200" dirty="0">
              <a:solidFill>
                <a:schemeClr val="tx1"/>
              </a:solidFill>
            </a:endParaRPr>
          </a:p>
        </p:txBody>
      </p:sp>
      <p:sp>
        <p:nvSpPr>
          <p:cNvPr id="13" name="任意多边形 12"/>
          <p:cNvSpPr/>
          <p:nvPr/>
        </p:nvSpPr>
        <p:spPr>
          <a:xfrm rot="1231906">
            <a:off x="2487679" y="3889194"/>
            <a:ext cx="243830" cy="370948"/>
          </a:xfrm>
          <a:custGeom>
            <a:avLst/>
            <a:gdLst>
              <a:gd name="connsiteX0" fmla="*/ 0 w 243830"/>
              <a:gd name="connsiteY0" fmla="*/ 74189 h 370947"/>
              <a:gd name="connsiteX1" fmla="*/ 121915 w 243830"/>
              <a:gd name="connsiteY1" fmla="*/ 74189 h 370947"/>
              <a:gd name="connsiteX2" fmla="*/ 121915 w 243830"/>
              <a:gd name="connsiteY2" fmla="*/ 0 h 370947"/>
              <a:gd name="connsiteX3" fmla="*/ 243830 w 243830"/>
              <a:gd name="connsiteY3" fmla="*/ 185474 h 370947"/>
              <a:gd name="connsiteX4" fmla="*/ 121915 w 243830"/>
              <a:gd name="connsiteY4" fmla="*/ 370947 h 370947"/>
              <a:gd name="connsiteX5" fmla="*/ 121915 w 243830"/>
              <a:gd name="connsiteY5" fmla="*/ 296758 h 370947"/>
              <a:gd name="connsiteX6" fmla="*/ 0 w 243830"/>
              <a:gd name="connsiteY6" fmla="*/ 296758 h 370947"/>
              <a:gd name="connsiteX7" fmla="*/ 0 w 243830"/>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30" h="370947">
                <a:moveTo>
                  <a:pt x="243829" y="296758"/>
                </a:moveTo>
                <a:lnTo>
                  <a:pt x="121915" y="296758"/>
                </a:lnTo>
                <a:lnTo>
                  <a:pt x="121915" y="370947"/>
                </a:lnTo>
                <a:lnTo>
                  <a:pt x="1" y="185473"/>
                </a:lnTo>
                <a:lnTo>
                  <a:pt x="121915" y="0"/>
                </a:lnTo>
                <a:lnTo>
                  <a:pt x="121915" y="74189"/>
                </a:lnTo>
                <a:lnTo>
                  <a:pt x="243829" y="74189"/>
                </a:lnTo>
                <a:lnTo>
                  <a:pt x="243829" y="29675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73149" tIns="74190" rIns="-1"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14" name="任意多边形 13"/>
          <p:cNvSpPr/>
          <p:nvPr/>
        </p:nvSpPr>
        <p:spPr>
          <a:xfrm>
            <a:off x="971592" y="3003801"/>
            <a:ext cx="1462575" cy="1462575"/>
          </a:xfrm>
          <a:custGeom>
            <a:avLst/>
            <a:gdLst>
              <a:gd name="connsiteX0" fmla="*/ 0 w 1462575"/>
              <a:gd name="connsiteY0" fmla="*/ 731288 h 1462575"/>
              <a:gd name="connsiteX1" fmla="*/ 731288 w 1462575"/>
              <a:gd name="connsiteY1" fmla="*/ 0 h 1462575"/>
              <a:gd name="connsiteX2" fmla="*/ 1462576 w 1462575"/>
              <a:gd name="connsiteY2" fmla="*/ 731288 h 1462575"/>
              <a:gd name="connsiteX3" fmla="*/ 731288 w 1462575"/>
              <a:gd name="connsiteY3" fmla="*/ 1462576 h 1462575"/>
              <a:gd name="connsiteX4" fmla="*/ 0 w 1462575"/>
              <a:gd name="connsiteY4" fmla="*/ 731288 h 146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75" h="1462575">
                <a:moveTo>
                  <a:pt x="0" y="731288"/>
                </a:moveTo>
                <a:cubicBezTo>
                  <a:pt x="0" y="327409"/>
                  <a:pt x="327409" y="0"/>
                  <a:pt x="731288" y="0"/>
                </a:cubicBezTo>
                <a:cubicBezTo>
                  <a:pt x="1135167" y="0"/>
                  <a:pt x="1462576" y="327409"/>
                  <a:pt x="1462576" y="731288"/>
                </a:cubicBezTo>
                <a:cubicBezTo>
                  <a:pt x="1462576" y="1135167"/>
                  <a:pt x="1135167" y="1462576"/>
                  <a:pt x="731288" y="1462576"/>
                </a:cubicBezTo>
                <a:cubicBezTo>
                  <a:pt x="327409" y="1462576"/>
                  <a:pt x="0" y="1135167"/>
                  <a:pt x="0" y="73128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240859" tIns="240859" rIns="240859" bIns="240859" numCol="1" spcCol="1270" anchor="ctr" anchorCtr="0">
            <a:noAutofit/>
          </a:bodyPr>
          <a:lstStyle/>
          <a:p>
            <a:pPr lvl="0" algn="ctr" defTabSz="933450">
              <a:lnSpc>
                <a:spcPct val="90000"/>
              </a:lnSpc>
              <a:spcBef>
                <a:spcPct val="0"/>
              </a:spcBef>
              <a:spcAft>
                <a:spcPct val="35000"/>
              </a:spcAft>
            </a:pPr>
            <a:r>
              <a:rPr lang="zh-CN" altLang="en-US" sz="2100" b="1" kern="1200" dirty="0" smtClean="0">
                <a:solidFill>
                  <a:schemeClr val="tx1"/>
                </a:solidFill>
              </a:rPr>
              <a:t>网络操作系统</a:t>
            </a:r>
            <a:endParaRPr lang="zh-CN" altLang="en-US" sz="2100" b="1" kern="1200" dirty="0">
              <a:solidFill>
                <a:schemeClr val="tx1"/>
              </a:solidFill>
            </a:endParaRPr>
          </a:p>
        </p:txBody>
      </p:sp>
      <p:sp>
        <p:nvSpPr>
          <p:cNvPr id="29" name="任意多边形 28"/>
          <p:cNvSpPr/>
          <p:nvPr/>
        </p:nvSpPr>
        <p:spPr>
          <a:xfrm rot="16565215">
            <a:off x="1702845" y="2647271"/>
            <a:ext cx="192518" cy="370947"/>
          </a:xfrm>
          <a:custGeom>
            <a:avLst/>
            <a:gdLst>
              <a:gd name="connsiteX0" fmla="*/ 0 w 192518"/>
              <a:gd name="connsiteY0" fmla="*/ 74189 h 370947"/>
              <a:gd name="connsiteX1" fmla="*/ 96259 w 192518"/>
              <a:gd name="connsiteY1" fmla="*/ 74189 h 370947"/>
              <a:gd name="connsiteX2" fmla="*/ 96259 w 192518"/>
              <a:gd name="connsiteY2" fmla="*/ 0 h 370947"/>
              <a:gd name="connsiteX3" fmla="*/ 192518 w 192518"/>
              <a:gd name="connsiteY3" fmla="*/ 185474 h 370947"/>
              <a:gd name="connsiteX4" fmla="*/ 96259 w 192518"/>
              <a:gd name="connsiteY4" fmla="*/ 370947 h 370947"/>
              <a:gd name="connsiteX5" fmla="*/ 96259 w 192518"/>
              <a:gd name="connsiteY5" fmla="*/ 296758 h 370947"/>
              <a:gd name="connsiteX6" fmla="*/ 0 w 192518"/>
              <a:gd name="connsiteY6" fmla="*/ 296758 h 370947"/>
              <a:gd name="connsiteX7" fmla="*/ 0 w 192518"/>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518" h="370947">
                <a:moveTo>
                  <a:pt x="0" y="74189"/>
                </a:moveTo>
                <a:lnTo>
                  <a:pt x="96259" y="74189"/>
                </a:lnTo>
                <a:lnTo>
                  <a:pt x="96259" y="0"/>
                </a:lnTo>
                <a:lnTo>
                  <a:pt x="192518" y="185474"/>
                </a:lnTo>
                <a:lnTo>
                  <a:pt x="96259" y="370947"/>
                </a:lnTo>
                <a:lnTo>
                  <a:pt x="96259"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8278230"/>
              <a:satOff val="33176"/>
              <a:lumOff val="7190"/>
              <a:alphaOff val="0"/>
            </a:schemeClr>
          </a:fillRef>
          <a:effectRef idx="2">
            <a:schemeClr val="accent5">
              <a:hueOff val="-8278230"/>
              <a:satOff val="33176"/>
              <a:lumOff val="7190"/>
              <a:alphaOff val="0"/>
            </a:schemeClr>
          </a:effectRef>
          <a:fontRef idx="minor">
            <a:schemeClr val="lt1"/>
          </a:fontRef>
        </p:style>
        <p:txBody>
          <a:bodyPr spcFirstLastPara="0" vert="horz" wrap="square" lIns="-1" tIns="74188" rIns="57755" bIns="7418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30" name="任意多边形 29"/>
          <p:cNvSpPr/>
          <p:nvPr/>
        </p:nvSpPr>
        <p:spPr>
          <a:xfrm>
            <a:off x="1165201" y="1188288"/>
            <a:ext cx="1462564" cy="1462564"/>
          </a:xfrm>
          <a:custGeom>
            <a:avLst/>
            <a:gdLst>
              <a:gd name="connsiteX0" fmla="*/ 0 w 1462564"/>
              <a:gd name="connsiteY0" fmla="*/ 731282 h 1462564"/>
              <a:gd name="connsiteX1" fmla="*/ 731282 w 1462564"/>
              <a:gd name="connsiteY1" fmla="*/ 0 h 1462564"/>
              <a:gd name="connsiteX2" fmla="*/ 1462564 w 1462564"/>
              <a:gd name="connsiteY2" fmla="*/ 731282 h 1462564"/>
              <a:gd name="connsiteX3" fmla="*/ 731282 w 1462564"/>
              <a:gd name="connsiteY3" fmla="*/ 1462564 h 1462564"/>
              <a:gd name="connsiteX4" fmla="*/ 0 w 1462564"/>
              <a:gd name="connsiteY4" fmla="*/ 731282 h 1462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64" h="1462564">
                <a:moveTo>
                  <a:pt x="0" y="731282"/>
                </a:moveTo>
                <a:cubicBezTo>
                  <a:pt x="0" y="327406"/>
                  <a:pt x="327406" y="0"/>
                  <a:pt x="731282" y="0"/>
                </a:cubicBezTo>
                <a:cubicBezTo>
                  <a:pt x="1135158" y="0"/>
                  <a:pt x="1462564" y="327406"/>
                  <a:pt x="1462564" y="731282"/>
                </a:cubicBezTo>
                <a:cubicBezTo>
                  <a:pt x="1462564" y="1135158"/>
                  <a:pt x="1135158" y="1462564"/>
                  <a:pt x="731282" y="1462564"/>
                </a:cubicBezTo>
                <a:cubicBezTo>
                  <a:pt x="327406" y="1462564"/>
                  <a:pt x="0" y="1135158"/>
                  <a:pt x="0" y="731282"/>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240858" tIns="240858" rIns="240858" bIns="240858" numCol="1" spcCol="1270" anchor="ctr" anchorCtr="0">
            <a:noAutofit/>
          </a:bodyPr>
          <a:lstStyle/>
          <a:p>
            <a:pPr lvl="0" algn="ctr" defTabSz="933450">
              <a:lnSpc>
                <a:spcPct val="90000"/>
              </a:lnSpc>
              <a:spcBef>
                <a:spcPct val="0"/>
              </a:spcBef>
              <a:spcAft>
                <a:spcPct val="35000"/>
              </a:spcAft>
            </a:pPr>
            <a:r>
              <a:rPr lang="zh-CN" altLang="en-US" sz="2100" b="1" kern="1200" dirty="0" smtClean="0"/>
              <a:t>分布式操作系统</a:t>
            </a:r>
            <a:endParaRPr lang="zh-CN" altLang="en-US" sz="2100" b="1" kern="1200" dirty="0"/>
          </a:p>
        </p:txBody>
      </p:sp>
      <p:sp>
        <p:nvSpPr>
          <p:cNvPr id="31" name="任意多边形 30"/>
          <p:cNvSpPr/>
          <p:nvPr/>
        </p:nvSpPr>
        <p:spPr>
          <a:xfrm rot="20219890">
            <a:off x="2775247" y="1233559"/>
            <a:ext cx="600647" cy="370947"/>
          </a:xfrm>
          <a:custGeom>
            <a:avLst/>
            <a:gdLst>
              <a:gd name="connsiteX0" fmla="*/ 0 w 600647"/>
              <a:gd name="connsiteY0" fmla="*/ 74189 h 370947"/>
              <a:gd name="connsiteX1" fmla="*/ 415174 w 600647"/>
              <a:gd name="connsiteY1" fmla="*/ 74189 h 370947"/>
              <a:gd name="connsiteX2" fmla="*/ 415174 w 600647"/>
              <a:gd name="connsiteY2" fmla="*/ 0 h 370947"/>
              <a:gd name="connsiteX3" fmla="*/ 600647 w 600647"/>
              <a:gd name="connsiteY3" fmla="*/ 185474 h 370947"/>
              <a:gd name="connsiteX4" fmla="*/ 415174 w 600647"/>
              <a:gd name="connsiteY4" fmla="*/ 370947 h 370947"/>
              <a:gd name="connsiteX5" fmla="*/ 415174 w 600647"/>
              <a:gd name="connsiteY5" fmla="*/ 296758 h 370947"/>
              <a:gd name="connsiteX6" fmla="*/ 0 w 600647"/>
              <a:gd name="connsiteY6" fmla="*/ 296758 h 370947"/>
              <a:gd name="connsiteX7" fmla="*/ 0 w 600647"/>
              <a:gd name="connsiteY7" fmla="*/ 74189 h 37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47" h="370947">
                <a:moveTo>
                  <a:pt x="0" y="74189"/>
                </a:moveTo>
                <a:lnTo>
                  <a:pt x="415174" y="74189"/>
                </a:lnTo>
                <a:lnTo>
                  <a:pt x="415174" y="0"/>
                </a:lnTo>
                <a:lnTo>
                  <a:pt x="600647" y="185474"/>
                </a:lnTo>
                <a:lnTo>
                  <a:pt x="415174" y="370947"/>
                </a:lnTo>
                <a:lnTo>
                  <a:pt x="415174" y="296758"/>
                </a:lnTo>
                <a:lnTo>
                  <a:pt x="0" y="296758"/>
                </a:lnTo>
                <a:lnTo>
                  <a:pt x="0" y="7418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1" tIns="74189" rIns="111284" bIns="74188" numCol="1" spcCol="1270" anchor="ctr" anchorCtr="0">
            <a:noAutofit/>
          </a:bodyPr>
          <a:lstStyle/>
          <a:p>
            <a:pPr lvl="0" algn="ctr" defTabSz="666750">
              <a:lnSpc>
                <a:spcPct val="90000"/>
              </a:lnSpc>
              <a:spcBef>
                <a:spcPct val="0"/>
              </a:spcBef>
              <a:spcAft>
                <a:spcPct val="35000"/>
              </a:spcAft>
            </a:pPr>
            <a:endParaRPr lang="zh-CN" altLang="en-US" sz="1500" kern="1200"/>
          </a:p>
        </p:txBody>
      </p:sp>
    </p:spTree>
    <p:extLst>
      <p:ext uri="{BB962C8B-B14F-4D97-AF65-F5344CB8AC3E}">
        <p14:creationId xmlns:p14="http://schemas.microsoft.com/office/powerpoint/2010/main" val="2449983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heel(1)">
                                      <p:cBhvr>
                                        <p:cTn id="12"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475656" y="987574"/>
            <a:ext cx="6242281" cy="4154984"/>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跟网络操作系统有</a:t>
            </a:r>
            <a:r>
              <a:rPr lang="zh-CN" altLang="en-US" sz="2000" b="1" dirty="0">
                <a:solidFill>
                  <a:schemeClr val="bg1"/>
                </a:solidFill>
                <a:latin typeface="+mn-ea"/>
              </a:rPr>
              <a:t>一些明显的</a:t>
            </a:r>
            <a:r>
              <a:rPr lang="zh-CN" altLang="en-US" sz="2000" b="1" dirty="0" smtClean="0">
                <a:solidFill>
                  <a:srgbClr val="FFFF00"/>
                </a:solidFill>
                <a:latin typeface="+mn-ea"/>
              </a:rPr>
              <a:t>区别</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180975" lvl="1" algn="just">
              <a:lnSpc>
                <a:spcPct val="130000"/>
              </a:lnSpc>
              <a:buClr>
                <a:srgbClr val="BCE292"/>
              </a:buClr>
              <a:buFont typeface="Wingdings" panose="05000000000000000000" pitchFamily="2" charset="2"/>
              <a:buChar char="l"/>
            </a:pPr>
            <a:r>
              <a:rPr lang="zh-CN" altLang="en-US" sz="2000" b="1" dirty="0">
                <a:solidFill>
                  <a:schemeClr val="bg1"/>
                </a:solidFill>
                <a:latin typeface="+mn-ea"/>
              </a:rPr>
              <a:t>计算机网络的开发都遵循协议，而对于各种分布式系统</a:t>
            </a:r>
            <a:r>
              <a:rPr lang="zh-CN" altLang="en-US" sz="2000" b="1" dirty="0">
                <a:solidFill>
                  <a:srgbClr val="FFFF00"/>
                </a:solidFill>
                <a:latin typeface="+mn-ea"/>
              </a:rPr>
              <a:t>并没有制定标准的协议</a:t>
            </a:r>
            <a:r>
              <a:rPr lang="zh-CN" altLang="en-US" sz="2000" b="1" dirty="0">
                <a:solidFill>
                  <a:schemeClr val="bg1"/>
                </a:solidFill>
                <a:latin typeface="+mn-ea"/>
              </a:rPr>
              <a:t>。当然，计算机网络也可认为是一种分布式系统</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180975" lvl="1" algn="just">
              <a:lnSpc>
                <a:spcPct val="130000"/>
              </a:lnSpc>
              <a:buClr>
                <a:srgbClr val="BCE292"/>
              </a:buClr>
              <a:buFont typeface="Wingdings" panose="05000000000000000000" pitchFamily="2" charset="2"/>
              <a:buChar char="l"/>
            </a:pPr>
            <a:r>
              <a:rPr lang="zh-CN" altLang="en-US" sz="2000" b="1" dirty="0">
                <a:solidFill>
                  <a:schemeClr val="bg1"/>
                </a:solidFill>
                <a:latin typeface="+mn-ea"/>
              </a:rPr>
              <a:t>分布式系统要求一个</a:t>
            </a:r>
            <a:r>
              <a:rPr lang="zh-CN" altLang="en-US" sz="2000" b="1" dirty="0">
                <a:solidFill>
                  <a:srgbClr val="FFFF00"/>
                </a:solidFill>
                <a:latin typeface="+mn-ea"/>
              </a:rPr>
              <a:t>统一的</a:t>
            </a:r>
            <a:r>
              <a:rPr lang="zh-CN" altLang="en-US" sz="2000" b="1" dirty="0" smtClean="0">
                <a:solidFill>
                  <a:srgbClr val="FFFF00"/>
                </a:solidFill>
                <a:latin typeface="+mn-ea"/>
              </a:rPr>
              <a:t>操作系统（高级操作系统）</a:t>
            </a:r>
            <a:r>
              <a:rPr lang="zh-CN" altLang="en-US" sz="2000" b="1" dirty="0" smtClean="0">
                <a:solidFill>
                  <a:schemeClr val="bg1"/>
                </a:solidFill>
                <a:latin typeface="+mn-ea"/>
              </a:rPr>
              <a:t>，</a:t>
            </a:r>
            <a:r>
              <a:rPr lang="zh-CN" altLang="en-US" sz="2000" b="1" dirty="0">
                <a:solidFill>
                  <a:schemeClr val="bg1"/>
                </a:solidFill>
                <a:latin typeface="+mn-ea"/>
              </a:rPr>
              <a:t>实现系统操作的</a:t>
            </a:r>
            <a:r>
              <a:rPr lang="zh-CN" altLang="en-US" sz="2000" b="1" dirty="0" smtClean="0">
                <a:solidFill>
                  <a:schemeClr val="bg1"/>
                </a:solidFill>
                <a:latin typeface="+mn-ea"/>
              </a:rPr>
              <a:t>统一性：</a:t>
            </a:r>
            <a:r>
              <a:rPr lang="zh-CN" altLang="en-US" sz="2000" b="1" dirty="0" smtClean="0">
                <a:solidFill>
                  <a:schemeClr val="bg1"/>
                </a:solidFill>
                <a:latin typeface="+mn-ea"/>
                <a:sym typeface="Wingdings 2" panose="05020102010507070707" pitchFamily="18" charset="2"/>
              </a:rPr>
              <a:t>独立于私有操作系统，私有操作系统可以识别和调用它。在私有操作系统的基础之上加以扩展，高级和私有之间不允许有明显的主从管理关系</a:t>
            </a:r>
            <a:endParaRPr lang="zh-CN" altLang="en-US" sz="20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sp>
        <p:nvSpPr>
          <p:cNvPr id="29" name="任意多边形 28"/>
          <p:cNvSpPr/>
          <p:nvPr/>
        </p:nvSpPr>
        <p:spPr>
          <a:xfrm>
            <a:off x="13092" y="2137195"/>
            <a:ext cx="1462564" cy="1462564"/>
          </a:xfrm>
          <a:custGeom>
            <a:avLst/>
            <a:gdLst>
              <a:gd name="connsiteX0" fmla="*/ 0 w 1462564"/>
              <a:gd name="connsiteY0" fmla="*/ 731282 h 1462564"/>
              <a:gd name="connsiteX1" fmla="*/ 731282 w 1462564"/>
              <a:gd name="connsiteY1" fmla="*/ 0 h 1462564"/>
              <a:gd name="connsiteX2" fmla="*/ 1462564 w 1462564"/>
              <a:gd name="connsiteY2" fmla="*/ 731282 h 1462564"/>
              <a:gd name="connsiteX3" fmla="*/ 731282 w 1462564"/>
              <a:gd name="connsiteY3" fmla="*/ 1462564 h 1462564"/>
              <a:gd name="connsiteX4" fmla="*/ 0 w 1462564"/>
              <a:gd name="connsiteY4" fmla="*/ 731282 h 1462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64" h="1462564">
                <a:moveTo>
                  <a:pt x="0" y="731282"/>
                </a:moveTo>
                <a:cubicBezTo>
                  <a:pt x="0" y="327406"/>
                  <a:pt x="327406" y="0"/>
                  <a:pt x="731282" y="0"/>
                </a:cubicBezTo>
                <a:cubicBezTo>
                  <a:pt x="1135158" y="0"/>
                  <a:pt x="1462564" y="327406"/>
                  <a:pt x="1462564" y="731282"/>
                </a:cubicBezTo>
                <a:cubicBezTo>
                  <a:pt x="1462564" y="1135158"/>
                  <a:pt x="1135158" y="1462564"/>
                  <a:pt x="731282" y="1462564"/>
                </a:cubicBezTo>
                <a:cubicBezTo>
                  <a:pt x="327406" y="1462564"/>
                  <a:pt x="0" y="1135158"/>
                  <a:pt x="0" y="731282"/>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240858" tIns="240858" rIns="240858" bIns="240858" numCol="1" spcCol="1270" anchor="ctr" anchorCtr="0">
            <a:noAutofit/>
          </a:bodyPr>
          <a:lstStyle/>
          <a:p>
            <a:pPr lvl="0" algn="ctr" defTabSz="933450">
              <a:lnSpc>
                <a:spcPct val="90000"/>
              </a:lnSpc>
              <a:spcBef>
                <a:spcPct val="0"/>
              </a:spcBef>
              <a:spcAft>
                <a:spcPct val="35000"/>
              </a:spcAft>
            </a:pPr>
            <a:r>
              <a:rPr lang="zh-CN" altLang="en-US" sz="2100" b="1" kern="1200" dirty="0" smtClean="0"/>
              <a:t>分布式操作系统</a:t>
            </a:r>
            <a:endParaRPr lang="zh-CN" altLang="en-US" sz="2100" b="1" kern="1200" dirty="0"/>
          </a:p>
        </p:txBody>
      </p:sp>
    </p:spTree>
    <p:extLst>
      <p:ext uri="{BB962C8B-B14F-4D97-AF65-F5344CB8AC3E}">
        <p14:creationId xmlns:p14="http://schemas.microsoft.com/office/powerpoint/2010/main" val="322723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操作系统的基本类型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475656" y="987574"/>
            <a:ext cx="6242281" cy="455509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跟网络操作系统有</a:t>
            </a:r>
            <a:r>
              <a:rPr lang="zh-CN" altLang="en-US" sz="2000" b="1" dirty="0">
                <a:solidFill>
                  <a:schemeClr val="bg1"/>
                </a:solidFill>
                <a:latin typeface="+mn-ea"/>
              </a:rPr>
              <a:t>一些明显的</a:t>
            </a:r>
            <a:r>
              <a:rPr lang="zh-CN" altLang="en-US" sz="2000" b="1" dirty="0" smtClean="0">
                <a:solidFill>
                  <a:srgbClr val="FFFF00"/>
                </a:solidFill>
                <a:latin typeface="+mn-ea"/>
              </a:rPr>
              <a:t>区别</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180975" lvl="1" algn="just">
              <a:lnSpc>
                <a:spcPct val="130000"/>
              </a:lnSpc>
              <a:buClr>
                <a:srgbClr val="BCE292"/>
              </a:buClr>
              <a:buFont typeface="Wingdings" panose="05000000000000000000" pitchFamily="2" charset="2"/>
              <a:buChar char="l"/>
            </a:pPr>
            <a:r>
              <a:rPr lang="zh-CN" altLang="en-US" sz="2000" b="1" dirty="0">
                <a:solidFill>
                  <a:schemeClr val="bg1"/>
                </a:solidFill>
                <a:latin typeface="+mn-ea"/>
              </a:rPr>
              <a:t>分布式操作系统对用户是</a:t>
            </a:r>
            <a:r>
              <a:rPr lang="zh-CN" altLang="en-US" sz="2000" b="1" dirty="0">
                <a:solidFill>
                  <a:srgbClr val="FFFF00"/>
                </a:solidFill>
                <a:latin typeface="+mn-ea"/>
              </a:rPr>
              <a:t>透明</a:t>
            </a:r>
            <a:r>
              <a:rPr lang="zh-CN" altLang="en-US" sz="2000" b="1" dirty="0">
                <a:solidFill>
                  <a:schemeClr val="bg1"/>
                </a:solidFill>
                <a:latin typeface="+mn-ea"/>
              </a:rPr>
              <a:t>的。但对计算机网络，若一个计算机上的用户希望使用另一台计算机上的资源，则必须明确指明是哪台</a:t>
            </a:r>
            <a:r>
              <a:rPr lang="zh-CN" altLang="en-US" sz="2000" b="1" dirty="0" smtClean="0">
                <a:solidFill>
                  <a:schemeClr val="bg1"/>
                </a:solidFill>
                <a:latin typeface="+mn-ea"/>
              </a:rPr>
              <a:t>计算机</a:t>
            </a:r>
            <a:endParaRPr lang="en-US" altLang="zh-CN" sz="2000" b="1" dirty="0" smtClean="0">
              <a:solidFill>
                <a:schemeClr val="bg1"/>
              </a:solidFill>
              <a:latin typeface="+mn-ea"/>
            </a:endParaRPr>
          </a:p>
          <a:p>
            <a:pPr marL="180975" lvl="1" algn="just">
              <a:lnSpc>
                <a:spcPct val="130000"/>
              </a:lnSpc>
              <a:buClr>
                <a:srgbClr val="BCE292"/>
              </a:buClr>
              <a:buFont typeface="Wingdings" panose="05000000000000000000" pitchFamily="2" charset="2"/>
              <a:buChar char="l"/>
            </a:pPr>
            <a:r>
              <a:rPr lang="zh-CN" altLang="en-US" sz="2000" b="1" dirty="0">
                <a:solidFill>
                  <a:schemeClr val="bg1"/>
                </a:solidFill>
                <a:latin typeface="+mn-ea"/>
              </a:rPr>
              <a:t>分布式系统的基础是网络。分布式系统已不仅是一个物理上的松散耦合系统，同时还是一个逻辑上紧密耦合的系统。</a:t>
            </a:r>
            <a:endParaRPr lang="en-US" altLang="zh-CN" sz="2000" b="1" dirty="0">
              <a:solidFill>
                <a:schemeClr val="bg1"/>
              </a:solidFill>
              <a:latin typeface="+mn-ea"/>
            </a:endParaRPr>
          </a:p>
          <a:p>
            <a:pPr marL="180975" lvl="1" algn="just">
              <a:lnSpc>
                <a:spcPct val="130000"/>
              </a:lnSpc>
              <a:buClr>
                <a:srgbClr val="BCE292"/>
              </a:buClr>
              <a:buFont typeface="Wingdings" panose="05000000000000000000" pitchFamily="2" charset="2"/>
              <a:buChar char="l"/>
            </a:pPr>
            <a:r>
              <a:rPr lang="zh-CN" altLang="en-US" sz="2000" b="1" dirty="0">
                <a:solidFill>
                  <a:schemeClr val="bg1"/>
                </a:solidFill>
                <a:latin typeface="+mn-ea"/>
              </a:rPr>
              <a:t>分布式系统还处在研究阶段。而计算机网络已经在各个领域得到广泛的应用。</a:t>
            </a:r>
          </a:p>
          <a:p>
            <a:pPr marL="180975" lvl="1" indent="-285750" algn="just">
              <a:lnSpc>
                <a:spcPct val="130000"/>
              </a:lnSpc>
              <a:buClr>
                <a:srgbClr val="BCE292"/>
              </a:buClr>
              <a:buFont typeface="Wingdings" panose="05000000000000000000" pitchFamily="2" charset="2"/>
              <a:buChar char="l"/>
            </a:pPr>
            <a:endParaRPr lang="zh-CN" altLang="en-US" sz="20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sp>
        <p:nvSpPr>
          <p:cNvPr id="29" name="任意多边形 28"/>
          <p:cNvSpPr/>
          <p:nvPr/>
        </p:nvSpPr>
        <p:spPr>
          <a:xfrm>
            <a:off x="13092" y="2137195"/>
            <a:ext cx="1462564" cy="1462564"/>
          </a:xfrm>
          <a:custGeom>
            <a:avLst/>
            <a:gdLst>
              <a:gd name="connsiteX0" fmla="*/ 0 w 1462564"/>
              <a:gd name="connsiteY0" fmla="*/ 731282 h 1462564"/>
              <a:gd name="connsiteX1" fmla="*/ 731282 w 1462564"/>
              <a:gd name="connsiteY1" fmla="*/ 0 h 1462564"/>
              <a:gd name="connsiteX2" fmla="*/ 1462564 w 1462564"/>
              <a:gd name="connsiteY2" fmla="*/ 731282 h 1462564"/>
              <a:gd name="connsiteX3" fmla="*/ 731282 w 1462564"/>
              <a:gd name="connsiteY3" fmla="*/ 1462564 h 1462564"/>
              <a:gd name="connsiteX4" fmla="*/ 0 w 1462564"/>
              <a:gd name="connsiteY4" fmla="*/ 731282 h 1462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564" h="1462564">
                <a:moveTo>
                  <a:pt x="0" y="731282"/>
                </a:moveTo>
                <a:cubicBezTo>
                  <a:pt x="0" y="327406"/>
                  <a:pt x="327406" y="0"/>
                  <a:pt x="731282" y="0"/>
                </a:cubicBezTo>
                <a:cubicBezTo>
                  <a:pt x="1135158" y="0"/>
                  <a:pt x="1462564" y="327406"/>
                  <a:pt x="1462564" y="731282"/>
                </a:cubicBezTo>
                <a:cubicBezTo>
                  <a:pt x="1462564" y="1135158"/>
                  <a:pt x="1135158" y="1462564"/>
                  <a:pt x="731282" y="1462564"/>
                </a:cubicBezTo>
                <a:cubicBezTo>
                  <a:pt x="327406" y="1462564"/>
                  <a:pt x="0" y="1135158"/>
                  <a:pt x="0" y="731282"/>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240858" tIns="240858" rIns="240858" bIns="240858" numCol="1" spcCol="1270" anchor="ctr" anchorCtr="0">
            <a:noAutofit/>
          </a:bodyPr>
          <a:lstStyle/>
          <a:p>
            <a:pPr lvl="0" algn="ctr" defTabSz="933450">
              <a:lnSpc>
                <a:spcPct val="90000"/>
              </a:lnSpc>
              <a:spcBef>
                <a:spcPct val="0"/>
              </a:spcBef>
              <a:spcAft>
                <a:spcPct val="35000"/>
              </a:spcAft>
            </a:pPr>
            <a:r>
              <a:rPr lang="zh-CN" altLang="en-US" sz="2100" b="1" kern="1200" dirty="0" smtClean="0"/>
              <a:t>分布式操作系统</a:t>
            </a:r>
            <a:endParaRPr lang="zh-CN" altLang="en-US" sz="2100" b="1" kern="1200" dirty="0"/>
          </a:p>
        </p:txBody>
      </p:sp>
    </p:spTree>
    <p:extLst>
      <p:ext uri="{BB962C8B-B14F-4D97-AF65-F5344CB8AC3E}">
        <p14:creationId xmlns:p14="http://schemas.microsoft.com/office/powerpoint/2010/main" val="247833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操作系统概念及历史</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操作系统的基本类型</a:t>
              </a:r>
              <a:endParaRPr lang="en-US" altLang="zh-CN" b="1" dirty="0">
                <a:solidFill>
                  <a:srgbClr val="000000"/>
                </a:solidFill>
                <a:ea typeface="宋体" pitchFamily="2" charset="-122"/>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操作系统的功能</a:t>
              </a:r>
              <a:endParaRPr lang="en-US" altLang="zh-CN" b="1" dirty="0">
                <a:solidFill>
                  <a:srgbClr val="000000"/>
                </a:solidFill>
                <a:ea typeface="宋体" pitchFamily="2" charset="-122"/>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计算机硬件简介</a:t>
              </a:r>
              <a:endParaRPr lang="en-US" altLang="zh-CN" b="1" dirty="0">
                <a:solidFill>
                  <a:srgbClr val="000000"/>
                </a:solidFill>
                <a:ea typeface="宋体" pitchFamily="2" charset="-122"/>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算法描述及研究操作系统的观点</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936977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10" presetClass="exit" presetSubtype="0" fill="hold" nodeType="withEffect">
                                  <p:stCondLst>
                                    <p:cond delay="0"/>
                                  </p:stCondLst>
                                  <p:childTnLst>
                                    <p:animEffect transition="out" filter="fade">
                                      <p:cBhvr>
                                        <p:cTn id="8" dur="2000"/>
                                        <p:tgtEl>
                                          <p:spTgt spid="27"/>
                                        </p:tgtEl>
                                      </p:cBhvr>
                                    </p:animEffect>
                                    <p:set>
                                      <p:cBhvr>
                                        <p:cTn id="9" dur="1" fill="hold">
                                          <p:stCondLst>
                                            <p:cond delay="1999"/>
                                          </p:stCondLst>
                                        </p:cTn>
                                        <p:tgtEl>
                                          <p:spTgt spid="27"/>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11" dur="2000"/>
                                        <p:tgtEl>
                                          <p:spTgt spid="11"/>
                                        </p:tgtEl>
                                      </p:cBhvr>
                                    </p:animEffect>
                                    <p:set>
                                      <p:cBhvr>
                                        <p:cTn id="12" dur="1" fill="hold">
                                          <p:stCondLst>
                                            <p:cond delay="1999"/>
                                          </p:stCondLst>
                                        </p:cTn>
                                        <p:tgtEl>
                                          <p:spTgt spid="11"/>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000"/>
                                        <p:tgtEl>
                                          <p:spTgt spid="32"/>
                                        </p:tgtEl>
                                      </p:cBhvr>
                                    </p:animEffect>
                                    <p:set>
                                      <p:cBhvr>
                                        <p:cTn id="15" dur="1" fill="hold">
                                          <p:stCondLst>
                                            <p:cond delay="1999"/>
                                          </p:stCondLst>
                                        </p:cTn>
                                        <p:tgtEl>
                                          <p:spTgt spid="32"/>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16"/>
                                        </p:tgtEl>
                                      </p:cBhvr>
                                    </p:animEffect>
                                    <p:set>
                                      <p:cBhvr>
                                        <p:cTn id="18"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功能</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1" name="Group 13"/>
          <p:cNvGrpSpPr>
            <a:grpSpLocks/>
          </p:cNvGrpSpPr>
          <p:nvPr/>
        </p:nvGrpSpPr>
        <p:grpSpPr bwMode="auto">
          <a:xfrm>
            <a:off x="1224633" y="1524406"/>
            <a:ext cx="5760640" cy="2919552"/>
            <a:chOff x="0" y="0"/>
            <a:chExt cx="3279" cy="1380"/>
          </a:xfrm>
        </p:grpSpPr>
        <p:grpSp>
          <p:nvGrpSpPr>
            <p:cNvPr id="32" name="Group 8"/>
            <p:cNvGrpSpPr>
              <a:grpSpLocks/>
            </p:cNvGrpSpPr>
            <p:nvPr/>
          </p:nvGrpSpPr>
          <p:grpSpPr bwMode="auto">
            <a:xfrm>
              <a:off x="0" y="0"/>
              <a:ext cx="3279" cy="460"/>
              <a:chOff x="0" y="0"/>
              <a:chExt cx="3279" cy="460"/>
            </a:xfrm>
          </p:grpSpPr>
          <p:sp>
            <p:nvSpPr>
              <p:cNvPr id="39" name="Rectangle 7"/>
              <p:cNvSpPr>
                <a:spLocks noChangeArrowheads="1"/>
              </p:cNvSpPr>
              <p:nvPr/>
            </p:nvSpPr>
            <p:spPr bwMode="auto">
              <a:xfrm>
                <a:off x="0" y="0"/>
                <a:ext cx="3279"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 name="Rectangle 4"/>
              <p:cNvSpPr>
                <a:spLocks noChangeArrowheads="1"/>
              </p:cNvSpPr>
              <p:nvPr/>
            </p:nvSpPr>
            <p:spPr bwMode="auto">
              <a:xfrm>
                <a:off x="43" y="0"/>
                <a:ext cx="3193"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98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solidFill>
                      <a:srgbClr val="FF0000"/>
                    </a:solidFill>
                  </a:rPr>
                  <a:t>用户接口</a:t>
                </a:r>
              </a:p>
              <a:p>
                <a:pPr algn="ctr"/>
                <a:r>
                  <a:rPr lang="zh-CN" altLang="en-US" sz="2000" dirty="0"/>
                  <a:t>（命令接口、程序接口、图形用户接口）</a:t>
                </a:r>
              </a:p>
              <a:p>
                <a:pPr algn="ctr"/>
                <a:endParaRPr lang="zh-CN" altLang="en-US" sz="2000" dirty="0"/>
              </a:p>
            </p:txBody>
          </p:sp>
        </p:grpSp>
        <p:grpSp>
          <p:nvGrpSpPr>
            <p:cNvPr id="33" name="Group 10"/>
            <p:cNvGrpSpPr>
              <a:grpSpLocks/>
            </p:cNvGrpSpPr>
            <p:nvPr/>
          </p:nvGrpSpPr>
          <p:grpSpPr bwMode="auto">
            <a:xfrm>
              <a:off x="0" y="460"/>
              <a:ext cx="3279" cy="460"/>
              <a:chOff x="0" y="460"/>
              <a:chExt cx="3279" cy="460"/>
            </a:xfrm>
          </p:grpSpPr>
          <p:sp>
            <p:nvSpPr>
              <p:cNvPr id="37" name="Rectangle 9"/>
              <p:cNvSpPr>
                <a:spLocks noChangeArrowheads="1"/>
              </p:cNvSpPr>
              <p:nvPr/>
            </p:nvSpPr>
            <p:spPr bwMode="auto">
              <a:xfrm>
                <a:off x="0" y="460"/>
                <a:ext cx="3279"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8" name="Rectangle 5"/>
              <p:cNvSpPr>
                <a:spLocks noChangeArrowheads="1"/>
              </p:cNvSpPr>
              <p:nvPr/>
            </p:nvSpPr>
            <p:spPr bwMode="auto">
              <a:xfrm>
                <a:off x="43" y="460"/>
                <a:ext cx="3193"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98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2000" dirty="0" smtClean="0"/>
              </a:p>
              <a:p>
                <a:pPr algn="ctr" eaLnBrk="1" hangingPunct="1"/>
                <a:r>
                  <a:rPr lang="zh-CN" altLang="en-US" sz="2000" b="1" dirty="0" smtClean="0">
                    <a:solidFill>
                      <a:srgbClr val="FF0000"/>
                    </a:solidFill>
                  </a:rPr>
                  <a:t>对</a:t>
                </a:r>
                <a:r>
                  <a:rPr lang="zh-CN" altLang="en-US" sz="2000" b="1" dirty="0">
                    <a:solidFill>
                      <a:srgbClr val="FF0000"/>
                    </a:solidFill>
                  </a:rPr>
                  <a:t>对象操纵和管理的软件集合</a:t>
                </a:r>
              </a:p>
              <a:p>
                <a:pPr algn="ctr"/>
                <a:r>
                  <a:rPr lang="zh-CN" altLang="en-US" sz="2000" dirty="0"/>
                  <a:t>（处理机管理软件、存储器管理软件、设备管理软件、文件管理软件）</a:t>
                </a:r>
              </a:p>
              <a:p>
                <a:pPr algn="ctr"/>
                <a:endParaRPr lang="zh-CN" altLang="en-US" sz="2000" dirty="0"/>
              </a:p>
            </p:txBody>
          </p:sp>
        </p:grpSp>
        <p:grpSp>
          <p:nvGrpSpPr>
            <p:cNvPr id="34" name="Group 12"/>
            <p:cNvGrpSpPr>
              <a:grpSpLocks/>
            </p:cNvGrpSpPr>
            <p:nvPr/>
          </p:nvGrpSpPr>
          <p:grpSpPr bwMode="auto">
            <a:xfrm>
              <a:off x="0" y="920"/>
              <a:ext cx="3279" cy="460"/>
              <a:chOff x="0" y="920"/>
              <a:chExt cx="3279" cy="460"/>
            </a:xfrm>
          </p:grpSpPr>
          <p:sp>
            <p:nvSpPr>
              <p:cNvPr id="35" name="Rectangle 11"/>
              <p:cNvSpPr>
                <a:spLocks noChangeArrowheads="1"/>
              </p:cNvSpPr>
              <p:nvPr/>
            </p:nvSpPr>
            <p:spPr bwMode="auto">
              <a:xfrm>
                <a:off x="0" y="920"/>
                <a:ext cx="3279"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 name="Rectangle 6"/>
              <p:cNvSpPr>
                <a:spLocks noChangeArrowheads="1"/>
              </p:cNvSpPr>
              <p:nvPr/>
            </p:nvSpPr>
            <p:spPr bwMode="auto">
              <a:xfrm>
                <a:off x="43" y="920"/>
                <a:ext cx="3193" cy="460"/>
              </a:xfrm>
              <a:prstGeom prst="rect">
                <a:avLst/>
              </a:prstGeom>
              <a:solidFill>
                <a:srgbClr val="FFFFFF"/>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98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solidFill>
                      <a:srgbClr val="FF0000"/>
                    </a:solidFill>
                  </a:rPr>
                  <a:t>操作系统对象</a:t>
                </a:r>
              </a:p>
              <a:p>
                <a:pPr algn="ctr"/>
                <a:r>
                  <a:rPr lang="zh-CN" altLang="en-US" sz="2000" dirty="0"/>
                  <a:t>（处理机、存储器、设备、文件）</a:t>
                </a:r>
              </a:p>
              <a:p>
                <a:pPr algn="ctr"/>
                <a:endParaRPr lang="zh-CN" altLang="en-US" sz="2000" dirty="0"/>
              </a:p>
            </p:txBody>
          </p:sp>
        </p:grpSp>
      </p:grpSp>
      <p:sp>
        <p:nvSpPr>
          <p:cNvPr id="41" name="Text Box 14"/>
          <p:cNvSpPr txBox="1">
            <a:spLocks noChangeArrowheads="1"/>
          </p:cNvSpPr>
          <p:nvPr/>
        </p:nvSpPr>
        <p:spPr bwMode="auto">
          <a:xfrm>
            <a:off x="2627784" y="1062443"/>
            <a:ext cx="29543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FFFF00"/>
                </a:solidFill>
              </a:rPr>
              <a:t>操作系统的逻辑结构</a:t>
            </a:r>
          </a:p>
        </p:txBody>
      </p:sp>
    </p:spTree>
    <p:extLst>
      <p:ext uri="{BB962C8B-B14F-4D97-AF65-F5344CB8AC3E}">
        <p14:creationId xmlns:p14="http://schemas.microsoft.com/office/powerpoint/2010/main" val="3967845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处理机管理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15616" y="1563638"/>
            <a:ext cx="6624736" cy="201285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a:t>
            </a:r>
            <a:r>
              <a:rPr lang="zh-CN" altLang="en-US" sz="2400" b="1" dirty="0">
                <a:solidFill>
                  <a:srgbClr val="FFFF00"/>
                </a:solidFill>
                <a:latin typeface="+mn-ea"/>
              </a:rPr>
              <a:t>多道程序</a:t>
            </a:r>
            <a:r>
              <a:rPr lang="zh-CN" altLang="en-US" sz="2400" b="1" dirty="0">
                <a:solidFill>
                  <a:schemeClr val="bg1"/>
                </a:solidFill>
                <a:latin typeface="+mn-ea"/>
              </a:rPr>
              <a:t>或</a:t>
            </a:r>
            <a:r>
              <a:rPr lang="zh-CN" altLang="en-US" sz="2400" b="1" dirty="0">
                <a:solidFill>
                  <a:srgbClr val="FFFF00"/>
                </a:solidFill>
                <a:latin typeface="+mn-ea"/>
              </a:rPr>
              <a:t>多用户</a:t>
            </a:r>
            <a:r>
              <a:rPr lang="zh-CN" altLang="en-US" sz="2400" b="1" dirty="0">
                <a:solidFill>
                  <a:schemeClr val="bg1"/>
                </a:solidFill>
                <a:latin typeface="+mn-ea"/>
              </a:rPr>
              <a:t>的情况下，要组织多个作业同时运行，就要解决对</a:t>
            </a:r>
            <a:r>
              <a:rPr lang="zh-CN" altLang="en-US" sz="2400" b="1" dirty="0">
                <a:solidFill>
                  <a:srgbClr val="FFFF00"/>
                </a:solidFill>
                <a:latin typeface="+mn-ea"/>
              </a:rPr>
              <a:t>处理机分配调度策略</a:t>
            </a:r>
            <a:r>
              <a:rPr lang="zh-CN" altLang="en-US" sz="2400" b="1" dirty="0">
                <a:solidFill>
                  <a:schemeClr val="bg1"/>
                </a:solidFill>
                <a:latin typeface="+mn-ea"/>
              </a:rPr>
              <a:t>、</a:t>
            </a:r>
            <a:r>
              <a:rPr lang="zh-CN" altLang="en-US" sz="2400" b="1" dirty="0">
                <a:solidFill>
                  <a:srgbClr val="FFFF00"/>
                </a:solidFill>
                <a:latin typeface="+mn-ea"/>
              </a:rPr>
              <a:t>分配实施</a:t>
            </a:r>
            <a:r>
              <a:rPr lang="zh-CN" altLang="en-US" sz="2400" b="1" dirty="0">
                <a:solidFill>
                  <a:schemeClr val="bg1"/>
                </a:solidFill>
                <a:latin typeface="+mn-ea"/>
              </a:rPr>
              <a:t>和</a:t>
            </a:r>
            <a:r>
              <a:rPr lang="zh-CN" altLang="en-US" sz="2400" b="1" dirty="0">
                <a:solidFill>
                  <a:srgbClr val="FFFF00"/>
                </a:solidFill>
                <a:latin typeface="+mn-ea"/>
              </a:rPr>
              <a:t>资源回收</a:t>
            </a:r>
            <a:r>
              <a:rPr lang="zh-CN" altLang="en-US" sz="2400" b="1" dirty="0">
                <a:solidFill>
                  <a:schemeClr val="bg1"/>
                </a:solidFill>
                <a:latin typeface="+mn-ea"/>
              </a:rPr>
              <a:t>等问题。这就是处理机管理功能。</a:t>
            </a:r>
          </a:p>
        </p:txBody>
      </p:sp>
    </p:spTree>
    <p:extLst>
      <p:ext uri="{BB962C8B-B14F-4D97-AF65-F5344CB8AC3E}">
        <p14:creationId xmlns:p14="http://schemas.microsoft.com/office/powerpoint/2010/main" val="289838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存储管理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44017"/>
            <a:ext cx="6624736" cy="984500"/>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存储管理的主要工作是对内部存储器进行分配、保护和扩充</a:t>
            </a:r>
          </a:p>
        </p:txBody>
      </p:sp>
      <p:grpSp>
        <p:nvGrpSpPr>
          <p:cNvPr id="34" name="组合 33"/>
          <p:cNvGrpSpPr/>
          <p:nvPr/>
        </p:nvGrpSpPr>
        <p:grpSpPr>
          <a:xfrm>
            <a:off x="1100812" y="1189236"/>
            <a:ext cx="6451450" cy="3657600"/>
            <a:chOff x="1100812" y="1189236"/>
            <a:chExt cx="6451450" cy="3657600"/>
          </a:xfrm>
        </p:grpSpPr>
        <p:sp>
          <p:nvSpPr>
            <p:cNvPr id="7" name="饼形 6"/>
            <p:cNvSpPr/>
            <p:nvPr/>
          </p:nvSpPr>
          <p:spPr>
            <a:xfrm>
              <a:off x="1100812" y="1189236"/>
              <a:ext cx="2247046" cy="3657600"/>
            </a:xfrm>
            <a:prstGeom prst="pie">
              <a:avLst>
                <a:gd name="adj1" fmla="val 5400000"/>
                <a:gd name="adj2" fmla="val 1620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grpSp>
          <p:nvGrpSpPr>
            <p:cNvPr id="33" name="组合 32"/>
            <p:cNvGrpSpPr/>
            <p:nvPr/>
          </p:nvGrpSpPr>
          <p:grpSpPr>
            <a:xfrm>
              <a:off x="2224336" y="1189236"/>
              <a:ext cx="5327926" cy="3657600"/>
              <a:chOff x="2224336" y="1189236"/>
              <a:chExt cx="5327926" cy="3657600"/>
            </a:xfrm>
          </p:grpSpPr>
          <p:sp>
            <p:nvSpPr>
              <p:cNvPr id="8" name="任意多边形 7"/>
              <p:cNvSpPr/>
              <p:nvPr/>
            </p:nvSpPr>
            <p:spPr>
              <a:xfrm>
                <a:off x="2224336" y="1189236"/>
                <a:ext cx="5327926" cy="3657600"/>
              </a:xfrm>
              <a:custGeom>
                <a:avLst/>
                <a:gdLst>
                  <a:gd name="connsiteX0" fmla="*/ 0 w 4267200"/>
                  <a:gd name="connsiteY0" fmla="*/ 0 h 3657600"/>
                  <a:gd name="connsiteX1" fmla="*/ 4267200 w 4267200"/>
                  <a:gd name="connsiteY1" fmla="*/ 0 h 3657600"/>
                  <a:gd name="connsiteX2" fmla="*/ 4267200 w 4267200"/>
                  <a:gd name="connsiteY2" fmla="*/ 3657600 h 3657600"/>
                  <a:gd name="connsiteX3" fmla="*/ 0 w 4267200"/>
                  <a:gd name="connsiteY3" fmla="*/ 3657600 h 3657600"/>
                  <a:gd name="connsiteX4" fmla="*/ 0 w 4267200"/>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3657600">
                    <a:moveTo>
                      <a:pt x="0" y="0"/>
                    </a:moveTo>
                    <a:lnTo>
                      <a:pt x="4267200" y="0"/>
                    </a:lnTo>
                    <a:lnTo>
                      <a:pt x="4267200" y="3657600"/>
                    </a:lnTo>
                    <a:lnTo>
                      <a:pt x="0" y="36576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6680" tIns="106680" rIns="2240280" bIns="2666998" numCol="1" spcCol="1270" anchor="ctr" anchorCtr="0">
                <a:noAutofit/>
              </a:bodyPr>
              <a:lstStyle/>
              <a:p>
                <a:pPr lvl="0" defTabSz="1244600">
                  <a:lnSpc>
                    <a:spcPct val="90000"/>
                  </a:lnSpc>
                  <a:spcBef>
                    <a:spcPct val="0"/>
                  </a:spcBef>
                  <a:spcAft>
                    <a:spcPct val="35000"/>
                  </a:spcAft>
                </a:pPr>
                <a:r>
                  <a:rPr lang="zh-CN" altLang="en-US" sz="2400" b="1" kern="1200" dirty="0" smtClean="0">
                    <a:solidFill>
                      <a:srgbClr val="FF3300"/>
                    </a:solidFill>
                  </a:rPr>
                  <a:t>内存扩充</a:t>
                </a:r>
                <a:endParaRPr lang="zh-CN" altLang="en-US" sz="2400" b="1" kern="1200" dirty="0">
                  <a:solidFill>
                    <a:srgbClr val="FF3300"/>
                  </a:solidFill>
                </a:endParaRPr>
              </a:p>
            </p:txBody>
          </p:sp>
          <p:sp>
            <p:nvSpPr>
              <p:cNvPr id="13" name="任意多边形 12"/>
              <p:cNvSpPr/>
              <p:nvPr/>
            </p:nvSpPr>
            <p:spPr>
              <a:xfrm>
                <a:off x="3684915" y="1275606"/>
                <a:ext cx="3839413" cy="1097282"/>
              </a:xfrm>
              <a:custGeom>
                <a:avLst/>
                <a:gdLst>
                  <a:gd name="connsiteX0" fmla="*/ 0 w 2133600"/>
                  <a:gd name="connsiteY0" fmla="*/ 0 h 1097282"/>
                  <a:gd name="connsiteX1" fmla="*/ 2133600 w 2133600"/>
                  <a:gd name="connsiteY1" fmla="*/ 0 h 1097282"/>
                  <a:gd name="connsiteX2" fmla="*/ 2133600 w 2133600"/>
                  <a:gd name="connsiteY2" fmla="*/ 1097282 h 1097282"/>
                  <a:gd name="connsiteX3" fmla="*/ 0 w 2133600"/>
                  <a:gd name="connsiteY3" fmla="*/ 1097282 h 1097282"/>
                  <a:gd name="connsiteX4" fmla="*/ 0 w 2133600"/>
                  <a:gd name="connsiteY4" fmla="*/ 0 h 1097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1097282">
                    <a:moveTo>
                      <a:pt x="0" y="0"/>
                    </a:moveTo>
                    <a:lnTo>
                      <a:pt x="2133600" y="0"/>
                    </a:lnTo>
                    <a:lnTo>
                      <a:pt x="2133600" y="1097282"/>
                    </a:lnTo>
                    <a:lnTo>
                      <a:pt x="0" y="1097282"/>
                    </a:lnTo>
                    <a:lnTo>
                      <a:pt x="0" y="0"/>
                    </a:lnTo>
                    <a:close/>
                  </a:path>
                </a:pathLst>
              </a:cu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910" tIns="41910" rIns="41910" bIns="41910" numCol="1" spcCol="1270" anchor="ctr" anchorCtr="0">
                <a:noAutofit/>
              </a:bodyPr>
              <a:lstStyle/>
              <a:p>
                <a:pPr marL="0" lvl="1" algn="l" defTabSz="488950">
                  <a:lnSpc>
                    <a:spcPct val="90000"/>
                  </a:lnSpc>
                  <a:spcBef>
                    <a:spcPct val="0"/>
                  </a:spcBef>
                  <a:spcAft>
                    <a:spcPct val="15000"/>
                  </a:spcAft>
                </a:pPr>
                <a:r>
                  <a:rPr lang="zh-CN" altLang="en-US" b="1" kern="1200" dirty="0" smtClean="0"/>
                  <a:t>当用户作业所需要的内存量超过计算机系统所提供的内存容量时，把内部存储器和外部存储器结合起来管理，为用户提供一个容量比实际内存大得多的虚拟存储器</a:t>
                </a:r>
                <a:r>
                  <a:rPr lang="zh-CN" altLang="en-US" sz="1100" b="1" kern="1200" dirty="0" smtClean="0"/>
                  <a:t>。</a:t>
                </a:r>
                <a:endParaRPr lang="zh-CN" altLang="en-US" sz="1100" b="1" kern="1200" dirty="0"/>
              </a:p>
            </p:txBody>
          </p:sp>
        </p:grpSp>
      </p:grpSp>
      <p:grpSp>
        <p:nvGrpSpPr>
          <p:cNvPr id="32" name="组合 31"/>
          <p:cNvGrpSpPr/>
          <p:nvPr/>
        </p:nvGrpSpPr>
        <p:grpSpPr>
          <a:xfrm>
            <a:off x="1494046" y="2499741"/>
            <a:ext cx="6058216" cy="2164215"/>
            <a:chOff x="1494046" y="2499741"/>
            <a:chExt cx="6058216" cy="2164215"/>
          </a:xfrm>
        </p:grpSpPr>
        <p:sp>
          <p:nvSpPr>
            <p:cNvPr id="9" name="饼形 8"/>
            <p:cNvSpPr/>
            <p:nvPr/>
          </p:nvSpPr>
          <p:spPr>
            <a:xfrm>
              <a:off x="1494046" y="2499742"/>
              <a:ext cx="1493778" cy="2164214"/>
            </a:xfrm>
            <a:prstGeom prst="pie">
              <a:avLst>
                <a:gd name="adj1" fmla="val 5400000"/>
                <a:gd name="adj2" fmla="val 16200000"/>
              </a:avLst>
            </a:prstGeom>
          </p:spPr>
          <p:style>
            <a:lnRef idx="2">
              <a:schemeClr val="lt1">
                <a:hueOff val="0"/>
                <a:satOff val="0"/>
                <a:lumOff val="0"/>
                <a:alphaOff val="0"/>
              </a:schemeClr>
            </a:lnRef>
            <a:fillRef idx="1">
              <a:schemeClr val="accent5">
                <a:hueOff val="-4966938"/>
                <a:satOff val="19906"/>
                <a:lumOff val="4314"/>
                <a:alphaOff val="0"/>
              </a:schemeClr>
            </a:fillRef>
            <a:effectRef idx="0">
              <a:schemeClr val="accent5">
                <a:hueOff val="-4966938"/>
                <a:satOff val="19906"/>
                <a:lumOff val="4314"/>
                <a:alphaOff val="0"/>
              </a:schemeClr>
            </a:effectRef>
            <a:fontRef idx="minor">
              <a:schemeClr val="lt1"/>
            </a:fontRef>
          </p:style>
        </p:sp>
        <p:sp>
          <p:nvSpPr>
            <p:cNvPr id="10" name="任意多边形 9"/>
            <p:cNvSpPr/>
            <p:nvPr/>
          </p:nvSpPr>
          <p:spPr>
            <a:xfrm>
              <a:off x="2224336" y="2499742"/>
              <a:ext cx="5327926" cy="2164214"/>
            </a:xfrm>
            <a:custGeom>
              <a:avLst/>
              <a:gdLst>
                <a:gd name="connsiteX0" fmla="*/ 0 w 4267200"/>
                <a:gd name="connsiteY0" fmla="*/ 0 h 2377437"/>
                <a:gd name="connsiteX1" fmla="*/ 4267200 w 4267200"/>
                <a:gd name="connsiteY1" fmla="*/ 0 h 2377437"/>
                <a:gd name="connsiteX2" fmla="*/ 4267200 w 4267200"/>
                <a:gd name="connsiteY2" fmla="*/ 2377437 h 2377437"/>
                <a:gd name="connsiteX3" fmla="*/ 0 w 4267200"/>
                <a:gd name="connsiteY3" fmla="*/ 2377437 h 2377437"/>
                <a:gd name="connsiteX4" fmla="*/ 0 w 4267200"/>
                <a:gd name="connsiteY4" fmla="*/ 0 h 2377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2377437">
                  <a:moveTo>
                    <a:pt x="0" y="0"/>
                  </a:moveTo>
                  <a:lnTo>
                    <a:pt x="4267200" y="0"/>
                  </a:lnTo>
                  <a:lnTo>
                    <a:pt x="4267200" y="2377437"/>
                  </a:lnTo>
                  <a:lnTo>
                    <a:pt x="0" y="2377437"/>
                  </a:lnTo>
                  <a:lnTo>
                    <a:pt x="0" y="0"/>
                  </a:lnTo>
                  <a:close/>
                </a:path>
              </a:pathLst>
            </a:custGeom>
          </p:spPr>
          <p:style>
            <a:lnRef idx="2">
              <a:schemeClr val="accent5">
                <a:hueOff val="-4966938"/>
                <a:satOff val="19906"/>
                <a:lumOff val="431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6680" tIns="106680" rIns="2240280" bIns="1386839" numCol="1" spcCol="1270" anchor="ctr" anchorCtr="0">
              <a:noAutofit/>
            </a:bodyPr>
            <a:lstStyle/>
            <a:p>
              <a:pPr defTabSz="1244600">
                <a:lnSpc>
                  <a:spcPct val="90000"/>
                </a:lnSpc>
                <a:spcBef>
                  <a:spcPct val="0"/>
                </a:spcBef>
                <a:spcAft>
                  <a:spcPct val="35000"/>
                </a:spcAft>
              </a:pPr>
              <a:r>
                <a:rPr lang="zh-CN" altLang="en-US" sz="2400" b="1" dirty="0">
                  <a:solidFill>
                    <a:srgbClr val="FF3300"/>
                  </a:solidFill>
                </a:rPr>
                <a:t>存储保护</a:t>
              </a:r>
            </a:p>
          </p:txBody>
        </p:sp>
        <p:sp>
          <p:nvSpPr>
            <p:cNvPr id="14" name="任意多边形 13"/>
            <p:cNvSpPr/>
            <p:nvPr/>
          </p:nvSpPr>
          <p:spPr>
            <a:xfrm>
              <a:off x="3707904" y="2499741"/>
              <a:ext cx="3811171" cy="884055"/>
            </a:xfrm>
            <a:custGeom>
              <a:avLst/>
              <a:gdLst>
                <a:gd name="connsiteX0" fmla="*/ 0 w 2133600"/>
                <a:gd name="connsiteY0" fmla="*/ 0 h 1097278"/>
                <a:gd name="connsiteX1" fmla="*/ 2133600 w 2133600"/>
                <a:gd name="connsiteY1" fmla="*/ 0 h 1097278"/>
                <a:gd name="connsiteX2" fmla="*/ 2133600 w 2133600"/>
                <a:gd name="connsiteY2" fmla="*/ 1097278 h 1097278"/>
                <a:gd name="connsiteX3" fmla="*/ 0 w 2133600"/>
                <a:gd name="connsiteY3" fmla="*/ 1097278 h 1097278"/>
                <a:gd name="connsiteX4" fmla="*/ 0 w 21336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1097278">
                  <a:moveTo>
                    <a:pt x="0" y="0"/>
                  </a:moveTo>
                  <a:lnTo>
                    <a:pt x="2133600" y="0"/>
                  </a:lnTo>
                  <a:lnTo>
                    <a:pt x="2133600" y="1097278"/>
                  </a:lnTo>
                  <a:lnTo>
                    <a:pt x="0" y="1097278"/>
                  </a:lnTo>
                  <a:lnTo>
                    <a:pt x="0" y="0"/>
                  </a:lnTo>
                  <a:close/>
                </a:path>
              </a:pathLst>
            </a:cu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910" tIns="41910" rIns="41910" bIns="41910" numCol="1" spcCol="1270" anchor="ctr" anchorCtr="0">
              <a:noAutofit/>
            </a:bodyPr>
            <a:lstStyle/>
            <a:p>
              <a:pPr marL="0" lvl="1" algn="l" defTabSz="488950">
                <a:lnSpc>
                  <a:spcPct val="90000"/>
                </a:lnSpc>
                <a:spcBef>
                  <a:spcPct val="0"/>
                </a:spcBef>
                <a:spcAft>
                  <a:spcPct val="15000"/>
                </a:spcAft>
              </a:pPr>
              <a:r>
                <a:rPr lang="zh-CN" altLang="en-US" b="1" dirty="0"/>
                <a:t>保证一道程序在执行过程中不会有意或无意地破坏另一道程序，保证用户程序不会破坏系统程序。</a:t>
              </a:r>
            </a:p>
          </p:txBody>
        </p:sp>
      </p:grpSp>
      <p:grpSp>
        <p:nvGrpSpPr>
          <p:cNvPr id="31" name="组合 30"/>
          <p:cNvGrpSpPr/>
          <p:nvPr/>
        </p:nvGrpSpPr>
        <p:grpSpPr>
          <a:xfrm>
            <a:off x="1887279" y="3370096"/>
            <a:ext cx="5655892" cy="1110980"/>
            <a:chOff x="1887279" y="3370096"/>
            <a:chExt cx="5655892" cy="1110980"/>
          </a:xfrm>
        </p:grpSpPr>
        <p:grpSp>
          <p:nvGrpSpPr>
            <p:cNvPr id="30" name="组合 29"/>
            <p:cNvGrpSpPr/>
            <p:nvPr/>
          </p:nvGrpSpPr>
          <p:grpSpPr>
            <a:xfrm>
              <a:off x="1887279" y="3383795"/>
              <a:ext cx="5655892" cy="1097281"/>
              <a:chOff x="1887279" y="3383795"/>
              <a:chExt cx="5655892" cy="1097281"/>
            </a:xfrm>
          </p:grpSpPr>
          <p:sp>
            <p:nvSpPr>
              <p:cNvPr id="11" name="饼形 10"/>
              <p:cNvSpPr/>
              <p:nvPr/>
            </p:nvSpPr>
            <p:spPr>
              <a:xfrm>
                <a:off x="1887279" y="3383798"/>
                <a:ext cx="674113" cy="1097278"/>
              </a:xfrm>
              <a:prstGeom prst="pie">
                <a:avLst>
                  <a:gd name="adj1" fmla="val 5400000"/>
                  <a:gd name="adj2" fmla="val 16200000"/>
                </a:avLst>
              </a:prstGeom>
            </p:spPr>
            <p:style>
              <a:lnRef idx="2">
                <a:schemeClr val="lt1">
                  <a:hueOff val="0"/>
                  <a:satOff val="0"/>
                  <a:lumOff val="0"/>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sp>
          <p:sp>
            <p:nvSpPr>
              <p:cNvPr id="12" name="任意多边形 11"/>
              <p:cNvSpPr/>
              <p:nvPr/>
            </p:nvSpPr>
            <p:spPr>
              <a:xfrm>
                <a:off x="2215245" y="3383795"/>
                <a:ext cx="5327926" cy="1069875"/>
              </a:xfrm>
              <a:custGeom>
                <a:avLst/>
                <a:gdLst>
                  <a:gd name="connsiteX0" fmla="*/ 0 w 4267200"/>
                  <a:gd name="connsiteY0" fmla="*/ 0 h 1097278"/>
                  <a:gd name="connsiteX1" fmla="*/ 4267200 w 4267200"/>
                  <a:gd name="connsiteY1" fmla="*/ 0 h 1097278"/>
                  <a:gd name="connsiteX2" fmla="*/ 4267200 w 4267200"/>
                  <a:gd name="connsiteY2" fmla="*/ 1097278 h 1097278"/>
                  <a:gd name="connsiteX3" fmla="*/ 0 w 4267200"/>
                  <a:gd name="connsiteY3" fmla="*/ 1097278 h 1097278"/>
                  <a:gd name="connsiteX4" fmla="*/ 0 w 42672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1097278">
                    <a:moveTo>
                      <a:pt x="0" y="0"/>
                    </a:moveTo>
                    <a:lnTo>
                      <a:pt x="4267200" y="0"/>
                    </a:lnTo>
                    <a:lnTo>
                      <a:pt x="4267200" y="1097278"/>
                    </a:lnTo>
                    <a:lnTo>
                      <a:pt x="0" y="1097278"/>
                    </a:lnTo>
                    <a:lnTo>
                      <a:pt x="0" y="0"/>
                    </a:lnTo>
                    <a:close/>
                  </a:path>
                </a:pathLst>
              </a:custGeom>
            </p:spPr>
            <p:style>
              <a:lnRef idx="2">
                <a:schemeClr val="accent5">
                  <a:hueOff val="-9933876"/>
                  <a:satOff val="39811"/>
                  <a:lumOff val="862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6680" tIns="106680" rIns="2240280" bIns="106680" numCol="1" spcCol="1270" anchor="ctr" anchorCtr="0">
                <a:noAutofit/>
              </a:bodyPr>
              <a:lstStyle/>
              <a:p>
                <a:pPr lvl="0" defTabSz="1244600">
                  <a:lnSpc>
                    <a:spcPct val="90000"/>
                  </a:lnSpc>
                  <a:spcBef>
                    <a:spcPct val="0"/>
                  </a:spcBef>
                  <a:spcAft>
                    <a:spcPct val="35000"/>
                  </a:spcAft>
                </a:pPr>
                <a:r>
                  <a:rPr lang="zh-CN" altLang="en-US" sz="2400" b="1" dirty="0">
                    <a:solidFill>
                      <a:srgbClr val="FF3300"/>
                    </a:solidFill>
                  </a:rPr>
                  <a:t>内存分配</a:t>
                </a:r>
              </a:p>
            </p:txBody>
          </p:sp>
        </p:grpSp>
        <p:sp>
          <p:nvSpPr>
            <p:cNvPr id="29" name="任意多边形 28"/>
            <p:cNvSpPr/>
            <p:nvPr/>
          </p:nvSpPr>
          <p:spPr>
            <a:xfrm>
              <a:off x="3683809" y="3370096"/>
              <a:ext cx="3835266" cy="1097278"/>
            </a:xfrm>
            <a:custGeom>
              <a:avLst/>
              <a:gdLst>
                <a:gd name="connsiteX0" fmla="*/ 0 w 2133600"/>
                <a:gd name="connsiteY0" fmla="*/ 0 h 1097278"/>
                <a:gd name="connsiteX1" fmla="*/ 2133600 w 2133600"/>
                <a:gd name="connsiteY1" fmla="*/ 0 h 1097278"/>
                <a:gd name="connsiteX2" fmla="*/ 2133600 w 2133600"/>
                <a:gd name="connsiteY2" fmla="*/ 1097278 h 1097278"/>
                <a:gd name="connsiteX3" fmla="*/ 0 w 2133600"/>
                <a:gd name="connsiteY3" fmla="*/ 1097278 h 1097278"/>
                <a:gd name="connsiteX4" fmla="*/ 0 w 21336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1097278">
                  <a:moveTo>
                    <a:pt x="0" y="0"/>
                  </a:moveTo>
                  <a:lnTo>
                    <a:pt x="2133600" y="0"/>
                  </a:lnTo>
                  <a:lnTo>
                    <a:pt x="2133600" y="1097278"/>
                  </a:lnTo>
                  <a:lnTo>
                    <a:pt x="0" y="1097278"/>
                  </a:lnTo>
                  <a:lnTo>
                    <a:pt x="0" y="0"/>
                  </a:lnTo>
                  <a:close/>
                </a:path>
              </a:pathLst>
            </a:cu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910" tIns="41910" rIns="41910" bIns="41910" numCol="1" spcCol="1270" anchor="ctr" anchorCtr="0">
              <a:noAutofit/>
            </a:bodyPr>
            <a:lstStyle/>
            <a:p>
              <a:pPr marL="0" lvl="1" algn="l" defTabSz="488950">
                <a:lnSpc>
                  <a:spcPct val="90000"/>
                </a:lnSpc>
                <a:spcBef>
                  <a:spcPct val="0"/>
                </a:spcBef>
                <a:spcAft>
                  <a:spcPct val="15000"/>
                </a:spcAft>
              </a:pPr>
              <a:r>
                <a:rPr lang="zh-CN" altLang="en-US" b="1" dirty="0"/>
                <a:t>如何分配内存，以保证系统及各用户程序的存储区互不冲突。</a:t>
              </a:r>
            </a:p>
          </p:txBody>
        </p:sp>
      </p:grpSp>
    </p:spTree>
    <p:extLst>
      <p:ext uri="{BB962C8B-B14F-4D97-AF65-F5344CB8AC3E}">
        <p14:creationId xmlns:p14="http://schemas.microsoft.com/office/powerpoint/2010/main" val="2632350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设备管理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任意多边形 5"/>
          <p:cNvSpPr/>
          <p:nvPr/>
        </p:nvSpPr>
        <p:spPr>
          <a:xfrm>
            <a:off x="2915816" y="1229306"/>
            <a:ext cx="5154584" cy="1329044"/>
          </a:xfrm>
          <a:custGeom>
            <a:avLst/>
            <a:gdLst>
              <a:gd name="connsiteX0" fmla="*/ 221512 w 1329044"/>
              <a:gd name="connsiteY0" fmla="*/ 0 h 4608512"/>
              <a:gd name="connsiteX1" fmla="*/ 1107532 w 1329044"/>
              <a:gd name="connsiteY1" fmla="*/ 0 h 4608512"/>
              <a:gd name="connsiteX2" fmla="*/ 1329044 w 1329044"/>
              <a:gd name="connsiteY2" fmla="*/ 221512 h 4608512"/>
              <a:gd name="connsiteX3" fmla="*/ 1329044 w 1329044"/>
              <a:gd name="connsiteY3" fmla="*/ 4608512 h 4608512"/>
              <a:gd name="connsiteX4" fmla="*/ 1329044 w 1329044"/>
              <a:gd name="connsiteY4" fmla="*/ 4608512 h 4608512"/>
              <a:gd name="connsiteX5" fmla="*/ 0 w 1329044"/>
              <a:gd name="connsiteY5" fmla="*/ 4608512 h 4608512"/>
              <a:gd name="connsiteX6" fmla="*/ 0 w 1329044"/>
              <a:gd name="connsiteY6" fmla="*/ 4608512 h 4608512"/>
              <a:gd name="connsiteX7" fmla="*/ 0 w 1329044"/>
              <a:gd name="connsiteY7" fmla="*/ 221512 h 4608512"/>
              <a:gd name="connsiteX8" fmla="*/ 221512 w 1329044"/>
              <a:gd name="connsiteY8" fmla="*/ 0 h 460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9044" h="4608512">
                <a:moveTo>
                  <a:pt x="1329044" y="768102"/>
                </a:moveTo>
                <a:lnTo>
                  <a:pt x="1329044" y="3840410"/>
                </a:lnTo>
                <a:cubicBezTo>
                  <a:pt x="1329044" y="4264622"/>
                  <a:pt x="1300443" y="4608512"/>
                  <a:pt x="1265162" y="4608512"/>
                </a:cubicBezTo>
                <a:lnTo>
                  <a:pt x="0" y="4608512"/>
                </a:lnTo>
                <a:lnTo>
                  <a:pt x="0" y="4608512"/>
                </a:lnTo>
                <a:lnTo>
                  <a:pt x="0" y="0"/>
                </a:lnTo>
                <a:lnTo>
                  <a:pt x="0" y="0"/>
                </a:lnTo>
                <a:lnTo>
                  <a:pt x="1265162" y="0"/>
                </a:lnTo>
                <a:cubicBezTo>
                  <a:pt x="1300443" y="0"/>
                  <a:pt x="1329044" y="343890"/>
                  <a:pt x="1329044" y="768102"/>
                </a:cubicBezTo>
                <a:close/>
              </a:path>
            </a:pathLst>
          </a:custGeom>
          <a:scene3d>
            <a:camera prst="orthographicFront"/>
            <a:lightRig rig="flat" dir="t"/>
          </a:scene3d>
          <a:sp3d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9061" tIns="114408" rIns="163938" bIns="114410" numCol="1" spcCol="1270" anchor="ctr" anchorCtr="0">
            <a:noAutofit/>
          </a:bodyPr>
          <a:lstStyle/>
          <a:p>
            <a:pPr marL="85725" lvl="1" algn="l" defTabSz="800100">
              <a:lnSpc>
                <a:spcPct val="90000"/>
              </a:lnSpc>
              <a:spcBef>
                <a:spcPct val="0"/>
              </a:spcBef>
              <a:spcAft>
                <a:spcPct val="15000"/>
              </a:spcAft>
            </a:pPr>
            <a:r>
              <a:rPr lang="zh-CN" altLang="en-US" sz="1800" b="1" kern="1200" dirty="0" smtClean="0"/>
              <a:t>设备管理的任务就是根据一定的分配策略，把通道、控制器和输入输出设备分配给请求输入输出操作的程序，并启动设备完成实际的输入输出操作。为了尽可能发挥设备和主机的并行工作能力，常需要采用虚拟技术和缓冲技术。</a:t>
            </a:r>
            <a:endParaRPr lang="zh-CN" altLang="en-US" sz="1800" b="1" kern="1200" dirty="0"/>
          </a:p>
        </p:txBody>
      </p:sp>
      <p:sp>
        <p:nvSpPr>
          <p:cNvPr id="35" name="任意多边形 34"/>
          <p:cNvSpPr/>
          <p:nvPr/>
        </p:nvSpPr>
        <p:spPr>
          <a:xfrm>
            <a:off x="733511" y="1169654"/>
            <a:ext cx="2304256" cy="1495176"/>
          </a:xfrm>
          <a:custGeom>
            <a:avLst/>
            <a:gdLst>
              <a:gd name="connsiteX0" fmla="*/ 0 w 2592288"/>
              <a:gd name="connsiteY0" fmla="*/ 276890 h 1661305"/>
              <a:gd name="connsiteX1" fmla="*/ 276890 w 2592288"/>
              <a:gd name="connsiteY1" fmla="*/ 0 h 1661305"/>
              <a:gd name="connsiteX2" fmla="*/ 2315398 w 2592288"/>
              <a:gd name="connsiteY2" fmla="*/ 0 h 1661305"/>
              <a:gd name="connsiteX3" fmla="*/ 2592288 w 2592288"/>
              <a:gd name="connsiteY3" fmla="*/ 276890 h 1661305"/>
              <a:gd name="connsiteX4" fmla="*/ 2592288 w 2592288"/>
              <a:gd name="connsiteY4" fmla="*/ 1384415 h 1661305"/>
              <a:gd name="connsiteX5" fmla="*/ 2315398 w 2592288"/>
              <a:gd name="connsiteY5" fmla="*/ 1661305 h 1661305"/>
              <a:gd name="connsiteX6" fmla="*/ 276890 w 2592288"/>
              <a:gd name="connsiteY6" fmla="*/ 1661305 h 1661305"/>
              <a:gd name="connsiteX7" fmla="*/ 0 w 2592288"/>
              <a:gd name="connsiteY7" fmla="*/ 1384415 h 1661305"/>
              <a:gd name="connsiteX8" fmla="*/ 0 w 2592288"/>
              <a:gd name="connsiteY8" fmla="*/ 276890 h 16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88" h="1661305">
                <a:moveTo>
                  <a:pt x="0" y="276890"/>
                </a:moveTo>
                <a:cubicBezTo>
                  <a:pt x="0" y="123968"/>
                  <a:pt x="123968" y="0"/>
                  <a:pt x="276890" y="0"/>
                </a:cubicBezTo>
                <a:lnTo>
                  <a:pt x="2315398" y="0"/>
                </a:lnTo>
                <a:cubicBezTo>
                  <a:pt x="2468320" y="0"/>
                  <a:pt x="2592288" y="123968"/>
                  <a:pt x="2592288" y="276890"/>
                </a:cubicBezTo>
                <a:lnTo>
                  <a:pt x="2592288" y="1384415"/>
                </a:lnTo>
                <a:cubicBezTo>
                  <a:pt x="2592288" y="1537337"/>
                  <a:pt x="2468320" y="1661305"/>
                  <a:pt x="2315398" y="1661305"/>
                </a:cubicBezTo>
                <a:lnTo>
                  <a:pt x="276890" y="1661305"/>
                </a:lnTo>
                <a:cubicBezTo>
                  <a:pt x="123968" y="1661305"/>
                  <a:pt x="0" y="1537337"/>
                  <a:pt x="0" y="1384415"/>
                </a:cubicBezTo>
                <a:lnTo>
                  <a:pt x="0" y="27689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87778" tIns="134438" rIns="187778" bIns="134438" numCol="1" spcCol="1270" anchor="ctr" anchorCtr="0">
            <a:noAutofit/>
          </a:bodyPr>
          <a:lstStyle/>
          <a:p>
            <a:pPr lvl="0" algn="ctr" defTabSz="1244600">
              <a:lnSpc>
                <a:spcPct val="90000"/>
              </a:lnSpc>
              <a:spcBef>
                <a:spcPct val="0"/>
              </a:spcBef>
              <a:spcAft>
                <a:spcPct val="35000"/>
              </a:spcAft>
            </a:pPr>
            <a:r>
              <a:rPr lang="zh-CN" altLang="en-US" sz="2400" b="1" kern="1200" dirty="0" smtClean="0"/>
              <a:t>通道、控制器、输入输出设备的分配和管理</a:t>
            </a:r>
            <a:endParaRPr lang="zh-CN" altLang="en-US" sz="2400" b="1" kern="1200" dirty="0"/>
          </a:p>
        </p:txBody>
      </p:sp>
      <p:sp>
        <p:nvSpPr>
          <p:cNvPr id="36" name="任意多边形 35"/>
          <p:cNvSpPr/>
          <p:nvPr/>
        </p:nvSpPr>
        <p:spPr>
          <a:xfrm>
            <a:off x="2843808" y="2968761"/>
            <a:ext cx="5226592" cy="1269806"/>
          </a:xfrm>
          <a:custGeom>
            <a:avLst/>
            <a:gdLst>
              <a:gd name="connsiteX0" fmla="*/ 221512 w 1329044"/>
              <a:gd name="connsiteY0" fmla="*/ 0 h 4608512"/>
              <a:gd name="connsiteX1" fmla="*/ 1107532 w 1329044"/>
              <a:gd name="connsiteY1" fmla="*/ 0 h 4608512"/>
              <a:gd name="connsiteX2" fmla="*/ 1329044 w 1329044"/>
              <a:gd name="connsiteY2" fmla="*/ 221512 h 4608512"/>
              <a:gd name="connsiteX3" fmla="*/ 1329044 w 1329044"/>
              <a:gd name="connsiteY3" fmla="*/ 4608512 h 4608512"/>
              <a:gd name="connsiteX4" fmla="*/ 1329044 w 1329044"/>
              <a:gd name="connsiteY4" fmla="*/ 4608512 h 4608512"/>
              <a:gd name="connsiteX5" fmla="*/ 0 w 1329044"/>
              <a:gd name="connsiteY5" fmla="*/ 4608512 h 4608512"/>
              <a:gd name="connsiteX6" fmla="*/ 0 w 1329044"/>
              <a:gd name="connsiteY6" fmla="*/ 4608512 h 4608512"/>
              <a:gd name="connsiteX7" fmla="*/ 0 w 1329044"/>
              <a:gd name="connsiteY7" fmla="*/ 221512 h 4608512"/>
              <a:gd name="connsiteX8" fmla="*/ 221512 w 1329044"/>
              <a:gd name="connsiteY8" fmla="*/ 0 h 460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9044" h="4608512">
                <a:moveTo>
                  <a:pt x="1329044" y="768102"/>
                </a:moveTo>
                <a:lnTo>
                  <a:pt x="1329044" y="3840410"/>
                </a:lnTo>
                <a:cubicBezTo>
                  <a:pt x="1329044" y="4264622"/>
                  <a:pt x="1300443" y="4608512"/>
                  <a:pt x="1265162" y="4608512"/>
                </a:cubicBezTo>
                <a:lnTo>
                  <a:pt x="0" y="4608512"/>
                </a:lnTo>
                <a:lnTo>
                  <a:pt x="0" y="4608512"/>
                </a:lnTo>
                <a:lnTo>
                  <a:pt x="0" y="0"/>
                </a:lnTo>
                <a:lnTo>
                  <a:pt x="0" y="0"/>
                </a:lnTo>
                <a:lnTo>
                  <a:pt x="1265162" y="0"/>
                </a:lnTo>
                <a:cubicBezTo>
                  <a:pt x="1300443" y="0"/>
                  <a:pt x="1329044" y="343890"/>
                  <a:pt x="1329044" y="768102"/>
                </a:cubicBezTo>
                <a:close/>
              </a:path>
            </a:pathLst>
          </a:custGeom>
          <a:scene3d>
            <a:camera prst="orthographicFront"/>
            <a:lightRig rig="flat" dir="t"/>
          </a:scene3d>
          <a:sp3d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8581" tIns="99169" rIns="133458" bIns="99169" numCol="1" spcCol="1270" anchor="ctr" anchorCtr="0">
            <a:noAutofit/>
          </a:bodyPr>
          <a:lstStyle/>
          <a:p>
            <a:pPr marL="85725" lvl="1" algn="l" defTabSz="800100">
              <a:lnSpc>
                <a:spcPct val="90000"/>
              </a:lnSpc>
              <a:spcBef>
                <a:spcPct val="0"/>
              </a:spcBef>
              <a:spcAft>
                <a:spcPct val="15000"/>
              </a:spcAft>
            </a:pPr>
            <a:r>
              <a:rPr lang="zh-CN" altLang="en-US" sz="1800" b="1" kern="1200" dirty="0" smtClean="0"/>
              <a:t>输入输出设备种类很多，使用方法各不相同。设备管理应为用户提供一个良好的界面，而不必去涉及具体的设备特性，以使用户能方便、灵活地使用这些设备。</a:t>
            </a:r>
            <a:endParaRPr lang="zh-CN" altLang="en-US" sz="1800" b="1" kern="1200" dirty="0"/>
          </a:p>
        </p:txBody>
      </p:sp>
      <p:sp>
        <p:nvSpPr>
          <p:cNvPr id="37" name="任意多边形 36"/>
          <p:cNvSpPr/>
          <p:nvPr/>
        </p:nvSpPr>
        <p:spPr>
          <a:xfrm>
            <a:off x="734310" y="2935993"/>
            <a:ext cx="2232248" cy="1373315"/>
          </a:xfrm>
          <a:custGeom>
            <a:avLst/>
            <a:gdLst>
              <a:gd name="connsiteX0" fmla="*/ 0 w 2592288"/>
              <a:gd name="connsiteY0" fmla="*/ 276890 h 1661305"/>
              <a:gd name="connsiteX1" fmla="*/ 276890 w 2592288"/>
              <a:gd name="connsiteY1" fmla="*/ 0 h 1661305"/>
              <a:gd name="connsiteX2" fmla="*/ 2315398 w 2592288"/>
              <a:gd name="connsiteY2" fmla="*/ 0 h 1661305"/>
              <a:gd name="connsiteX3" fmla="*/ 2592288 w 2592288"/>
              <a:gd name="connsiteY3" fmla="*/ 276890 h 1661305"/>
              <a:gd name="connsiteX4" fmla="*/ 2592288 w 2592288"/>
              <a:gd name="connsiteY4" fmla="*/ 1384415 h 1661305"/>
              <a:gd name="connsiteX5" fmla="*/ 2315398 w 2592288"/>
              <a:gd name="connsiteY5" fmla="*/ 1661305 h 1661305"/>
              <a:gd name="connsiteX6" fmla="*/ 276890 w 2592288"/>
              <a:gd name="connsiteY6" fmla="*/ 1661305 h 1661305"/>
              <a:gd name="connsiteX7" fmla="*/ 0 w 2592288"/>
              <a:gd name="connsiteY7" fmla="*/ 1384415 h 1661305"/>
              <a:gd name="connsiteX8" fmla="*/ 0 w 2592288"/>
              <a:gd name="connsiteY8" fmla="*/ 276890 h 16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88" h="1661305">
                <a:moveTo>
                  <a:pt x="0" y="276890"/>
                </a:moveTo>
                <a:cubicBezTo>
                  <a:pt x="0" y="123968"/>
                  <a:pt x="123968" y="0"/>
                  <a:pt x="276890" y="0"/>
                </a:cubicBezTo>
                <a:lnTo>
                  <a:pt x="2315398" y="0"/>
                </a:lnTo>
                <a:cubicBezTo>
                  <a:pt x="2468320" y="0"/>
                  <a:pt x="2592288" y="123968"/>
                  <a:pt x="2592288" y="276890"/>
                </a:cubicBezTo>
                <a:lnTo>
                  <a:pt x="2592288" y="1384415"/>
                </a:lnTo>
                <a:cubicBezTo>
                  <a:pt x="2592288" y="1537337"/>
                  <a:pt x="2468320" y="1661305"/>
                  <a:pt x="2315398" y="1661305"/>
                </a:cubicBezTo>
                <a:lnTo>
                  <a:pt x="276890" y="1661305"/>
                </a:lnTo>
                <a:cubicBezTo>
                  <a:pt x="123968" y="1661305"/>
                  <a:pt x="0" y="1537337"/>
                  <a:pt x="0" y="1384415"/>
                </a:cubicBezTo>
                <a:lnTo>
                  <a:pt x="0" y="27689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87778" tIns="134438" rIns="187778" bIns="134438" numCol="1" spcCol="1270" anchor="ctr" anchorCtr="0">
            <a:noAutofit/>
          </a:bodyPr>
          <a:lstStyle/>
          <a:p>
            <a:pPr lvl="0" algn="ctr" defTabSz="1244600">
              <a:lnSpc>
                <a:spcPct val="90000"/>
              </a:lnSpc>
              <a:spcBef>
                <a:spcPct val="0"/>
              </a:spcBef>
              <a:spcAft>
                <a:spcPct val="35000"/>
              </a:spcAft>
            </a:pPr>
            <a:r>
              <a:rPr lang="zh-CN" altLang="en-US" sz="2400" b="1" kern="1200" dirty="0" smtClean="0"/>
              <a:t>设备独立性</a:t>
            </a:r>
            <a:endParaRPr lang="zh-CN" altLang="en-US" sz="2400" b="1" kern="1200" dirty="0"/>
          </a:p>
        </p:txBody>
      </p:sp>
    </p:spTree>
    <p:extLst>
      <p:ext uri="{BB962C8B-B14F-4D97-AF65-F5344CB8AC3E}">
        <p14:creationId xmlns:p14="http://schemas.microsoft.com/office/powerpoint/2010/main" val="9649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5" grpId="0" animBg="1"/>
      <p:bldP spid="36" grpId="0" animBg="1"/>
      <p:bldP spid="3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文件管理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99715"/>
            <a:ext cx="6552728" cy="2973122"/>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上述三种管理是针对计算机的硬件资源的管理。信息管理</a:t>
            </a:r>
            <a:r>
              <a:rPr lang="en-US" altLang="zh-CN" sz="2400" b="1" dirty="0">
                <a:solidFill>
                  <a:schemeClr val="bg1"/>
                </a:solidFill>
                <a:latin typeface="+mn-ea"/>
              </a:rPr>
              <a:t>(</a:t>
            </a:r>
            <a:r>
              <a:rPr lang="zh-CN" altLang="en-US" sz="2400" b="1" dirty="0">
                <a:solidFill>
                  <a:srgbClr val="FFFF00"/>
                </a:solidFill>
                <a:latin typeface="+mn-ea"/>
              </a:rPr>
              <a:t>文件系统管理</a:t>
            </a:r>
            <a:r>
              <a:rPr lang="en-US" altLang="zh-CN" sz="2400" b="1" dirty="0">
                <a:solidFill>
                  <a:schemeClr val="bg1"/>
                </a:solidFill>
                <a:latin typeface="+mn-ea"/>
              </a:rPr>
              <a:t>) </a:t>
            </a:r>
            <a:r>
              <a:rPr lang="zh-CN" altLang="en-US" sz="2400" b="1" dirty="0">
                <a:solidFill>
                  <a:schemeClr val="bg1"/>
                </a:solidFill>
                <a:latin typeface="+mn-ea"/>
              </a:rPr>
              <a:t>是对系统的</a:t>
            </a:r>
            <a:r>
              <a:rPr lang="zh-CN" altLang="en-US" sz="2400" b="1" dirty="0">
                <a:solidFill>
                  <a:srgbClr val="FFFF00"/>
                </a:solidFill>
                <a:latin typeface="+mn-ea"/>
              </a:rPr>
              <a:t>软件资源的管理</a:t>
            </a:r>
            <a:r>
              <a:rPr lang="zh-CN" altLang="en-US" sz="2400" b="1" dirty="0">
                <a:solidFill>
                  <a:schemeClr val="bg1"/>
                </a:solidFill>
                <a:latin typeface="+mn-ea"/>
              </a:rPr>
              <a:t>。</a:t>
            </a: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文件如不能很好管理，就会引起混乱，甚至遭受破坏。这就是管理信息文件需要解决的问题。</a:t>
            </a:r>
          </a:p>
        </p:txBody>
      </p:sp>
    </p:spTree>
    <p:extLst>
      <p:ext uri="{BB962C8B-B14F-4D97-AF65-F5344CB8AC3E}">
        <p14:creationId xmlns:p14="http://schemas.microsoft.com/office/powerpoint/2010/main" val="64257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文件管理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99715"/>
            <a:ext cx="6768752"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a:solidFill>
                  <a:srgbClr val="FFFF00"/>
                </a:solidFill>
                <a:latin typeface="+mn-ea"/>
              </a:rPr>
              <a:t>信息的共享</a:t>
            </a:r>
            <a:r>
              <a:rPr lang="zh-CN" altLang="en-US" sz="2200" b="1" dirty="0">
                <a:solidFill>
                  <a:schemeClr val="bg1"/>
                </a:solidFill>
                <a:latin typeface="+mn-ea"/>
              </a:rPr>
              <a:t>、</a:t>
            </a:r>
            <a:r>
              <a:rPr lang="zh-CN" altLang="en-US" sz="2200" b="1" dirty="0">
                <a:solidFill>
                  <a:srgbClr val="FFFF00"/>
                </a:solidFill>
                <a:latin typeface="+mn-ea"/>
              </a:rPr>
              <a:t>保密</a:t>
            </a:r>
            <a:r>
              <a:rPr lang="zh-CN" altLang="en-US" sz="2200" b="1" dirty="0">
                <a:solidFill>
                  <a:schemeClr val="bg1"/>
                </a:solidFill>
                <a:latin typeface="+mn-ea"/>
              </a:rPr>
              <a:t>和</a:t>
            </a:r>
            <a:r>
              <a:rPr lang="zh-CN" altLang="en-US" sz="2200" b="1" dirty="0">
                <a:solidFill>
                  <a:srgbClr val="FFFF00"/>
                </a:solidFill>
                <a:latin typeface="+mn-ea"/>
              </a:rPr>
              <a:t>保护</a:t>
            </a:r>
            <a:r>
              <a:rPr lang="zh-CN" altLang="en-US" sz="2200" b="1" dirty="0">
                <a:solidFill>
                  <a:schemeClr val="bg1"/>
                </a:solidFill>
                <a:latin typeface="+mn-ea"/>
              </a:rPr>
              <a:t>，也是文件系统所要解决的。如果系统允许多个用户协同工作，那么就应该允许用户共享信息文件。但这种共享应该是</a:t>
            </a:r>
            <a:r>
              <a:rPr lang="zh-CN" altLang="en-US" sz="2200" b="1" dirty="0">
                <a:solidFill>
                  <a:srgbClr val="FFFF00"/>
                </a:solidFill>
                <a:latin typeface="+mn-ea"/>
              </a:rPr>
              <a:t>受控制</a:t>
            </a:r>
            <a:r>
              <a:rPr lang="zh-CN" altLang="en-US" sz="2200" b="1" dirty="0">
                <a:solidFill>
                  <a:schemeClr val="bg1"/>
                </a:solidFill>
                <a:latin typeface="+mn-ea"/>
              </a:rPr>
              <a:t>的，应该有</a:t>
            </a:r>
            <a:r>
              <a:rPr lang="zh-CN" altLang="en-US" sz="2200" b="1" dirty="0">
                <a:solidFill>
                  <a:srgbClr val="FFFF00"/>
                </a:solidFill>
                <a:latin typeface="+mn-ea"/>
              </a:rPr>
              <a:t>授权</a:t>
            </a:r>
            <a:r>
              <a:rPr lang="zh-CN" altLang="en-US" sz="2200" b="1" dirty="0">
                <a:solidFill>
                  <a:schemeClr val="bg1"/>
                </a:solidFill>
                <a:latin typeface="+mn-ea"/>
              </a:rPr>
              <a:t>和</a:t>
            </a:r>
            <a:r>
              <a:rPr lang="zh-CN" altLang="en-US" sz="2200" b="1" dirty="0">
                <a:solidFill>
                  <a:srgbClr val="FFFF00"/>
                </a:solidFill>
                <a:latin typeface="+mn-ea"/>
              </a:rPr>
              <a:t>保密机制</a:t>
            </a:r>
            <a:r>
              <a:rPr lang="zh-CN" altLang="en-US" sz="2200" b="1" dirty="0">
                <a:solidFill>
                  <a:schemeClr val="bg1"/>
                </a:solidFill>
                <a:latin typeface="+mn-ea"/>
              </a:rPr>
              <a:t>。还要有一定的保护机制以免文件被非授权用户调用和修改，即使在</a:t>
            </a:r>
            <a:r>
              <a:rPr lang="zh-CN" altLang="en-US" sz="2200" b="1" dirty="0">
                <a:solidFill>
                  <a:srgbClr val="FFFF00"/>
                </a:solidFill>
                <a:latin typeface="+mn-ea"/>
              </a:rPr>
              <a:t>意外情况下</a:t>
            </a:r>
            <a:r>
              <a:rPr lang="zh-CN" altLang="en-US" sz="2200" b="1" dirty="0">
                <a:solidFill>
                  <a:schemeClr val="bg1"/>
                </a:solidFill>
                <a:latin typeface="+mn-ea"/>
              </a:rPr>
              <a:t>，如系统失效、用户对文件使用不当，也能</a:t>
            </a:r>
            <a:r>
              <a:rPr lang="zh-CN" altLang="en-US" sz="2200" b="1" dirty="0">
                <a:solidFill>
                  <a:srgbClr val="FFFF00"/>
                </a:solidFill>
                <a:latin typeface="+mn-ea"/>
              </a:rPr>
              <a:t>尽量保护信息免遭破坏</a:t>
            </a:r>
            <a:r>
              <a:rPr lang="zh-CN" altLang="en-US" sz="2200" b="1" dirty="0">
                <a:solidFill>
                  <a:schemeClr val="bg1"/>
                </a:solidFill>
                <a:latin typeface="+mn-ea"/>
              </a:rPr>
              <a:t>。也就是说，系统是安全可靠的。</a:t>
            </a:r>
          </a:p>
        </p:txBody>
      </p:sp>
    </p:spTree>
    <p:extLst>
      <p:ext uri="{BB962C8B-B14F-4D97-AF65-F5344CB8AC3E}">
        <p14:creationId xmlns:p14="http://schemas.microsoft.com/office/powerpoint/2010/main" val="405255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的功能</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用户接口</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57329"/>
            <a:ext cx="6855248" cy="1052596"/>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前述的四项功能是操作系统对</a:t>
            </a:r>
            <a:r>
              <a:rPr lang="zh-CN" altLang="en-US" sz="2400" b="1" dirty="0">
                <a:solidFill>
                  <a:srgbClr val="FFFF00"/>
                </a:solidFill>
                <a:latin typeface="+mn-ea"/>
              </a:rPr>
              <a:t>资源</a:t>
            </a:r>
            <a:r>
              <a:rPr lang="zh-CN" altLang="en-US" sz="2400" b="1" dirty="0">
                <a:solidFill>
                  <a:schemeClr val="bg1"/>
                </a:solidFill>
                <a:latin typeface="+mn-ea"/>
              </a:rPr>
              <a:t>的管理。操作系统还为用户提供一个友好的</a:t>
            </a:r>
            <a:r>
              <a:rPr lang="zh-CN" altLang="en-US" sz="2400" b="1" dirty="0">
                <a:solidFill>
                  <a:srgbClr val="FFFF00"/>
                </a:solidFill>
                <a:latin typeface="+mn-ea"/>
              </a:rPr>
              <a:t>用户接口</a:t>
            </a:r>
            <a:r>
              <a:rPr lang="zh-CN" altLang="en-US" sz="2400" b="1" dirty="0">
                <a:solidFill>
                  <a:schemeClr val="bg1"/>
                </a:solidFill>
                <a:latin typeface="+mn-ea"/>
              </a:rPr>
              <a:t>。</a:t>
            </a:r>
          </a:p>
        </p:txBody>
      </p:sp>
      <p:sp>
        <p:nvSpPr>
          <p:cNvPr id="6" name="任意多边形 5"/>
          <p:cNvSpPr/>
          <p:nvPr/>
        </p:nvSpPr>
        <p:spPr>
          <a:xfrm>
            <a:off x="2442246" y="1405457"/>
            <a:ext cx="5658640" cy="1329044"/>
          </a:xfrm>
          <a:custGeom>
            <a:avLst/>
            <a:gdLst>
              <a:gd name="connsiteX0" fmla="*/ 221512 w 1329044"/>
              <a:gd name="connsiteY0" fmla="*/ 0 h 4608512"/>
              <a:gd name="connsiteX1" fmla="*/ 1107532 w 1329044"/>
              <a:gd name="connsiteY1" fmla="*/ 0 h 4608512"/>
              <a:gd name="connsiteX2" fmla="*/ 1329044 w 1329044"/>
              <a:gd name="connsiteY2" fmla="*/ 221512 h 4608512"/>
              <a:gd name="connsiteX3" fmla="*/ 1329044 w 1329044"/>
              <a:gd name="connsiteY3" fmla="*/ 4608512 h 4608512"/>
              <a:gd name="connsiteX4" fmla="*/ 1329044 w 1329044"/>
              <a:gd name="connsiteY4" fmla="*/ 4608512 h 4608512"/>
              <a:gd name="connsiteX5" fmla="*/ 0 w 1329044"/>
              <a:gd name="connsiteY5" fmla="*/ 4608512 h 4608512"/>
              <a:gd name="connsiteX6" fmla="*/ 0 w 1329044"/>
              <a:gd name="connsiteY6" fmla="*/ 4608512 h 4608512"/>
              <a:gd name="connsiteX7" fmla="*/ 0 w 1329044"/>
              <a:gd name="connsiteY7" fmla="*/ 221512 h 4608512"/>
              <a:gd name="connsiteX8" fmla="*/ 221512 w 1329044"/>
              <a:gd name="connsiteY8" fmla="*/ 0 h 460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9044" h="4608512">
                <a:moveTo>
                  <a:pt x="1329044" y="768102"/>
                </a:moveTo>
                <a:lnTo>
                  <a:pt x="1329044" y="3840410"/>
                </a:lnTo>
                <a:cubicBezTo>
                  <a:pt x="1329044" y="4264622"/>
                  <a:pt x="1300443" y="4608512"/>
                  <a:pt x="1265162" y="4608512"/>
                </a:cubicBezTo>
                <a:lnTo>
                  <a:pt x="0" y="4608512"/>
                </a:lnTo>
                <a:lnTo>
                  <a:pt x="0" y="4608512"/>
                </a:lnTo>
                <a:lnTo>
                  <a:pt x="0" y="0"/>
                </a:lnTo>
                <a:lnTo>
                  <a:pt x="0" y="0"/>
                </a:lnTo>
                <a:lnTo>
                  <a:pt x="1265162" y="0"/>
                </a:lnTo>
                <a:cubicBezTo>
                  <a:pt x="1300443" y="0"/>
                  <a:pt x="1329044" y="343890"/>
                  <a:pt x="1329044" y="768102"/>
                </a:cubicBezTo>
                <a:close/>
              </a:path>
            </a:pathLst>
          </a:custGeom>
          <a:scene3d>
            <a:camera prst="orthographicFront"/>
            <a:lightRig rig="flat" dir="t"/>
          </a:scene3d>
          <a:sp3d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9061" tIns="114408" rIns="163938" bIns="114410" numCol="1" spcCol="1270" anchor="ctr" anchorCtr="0">
            <a:noAutofit/>
          </a:bodyPr>
          <a:lstStyle/>
          <a:p>
            <a:pPr marL="85725" lvl="1" defTabSz="800100">
              <a:lnSpc>
                <a:spcPct val="130000"/>
              </a:lnSpc>
              <a:spcBef>
                <a:spcPct val="0"/>
              </a:spcBef>
              <a:spcAft>
                <a:spcPct val="15000"/>
              </a:spcAft>
            </a:pPr>
            <a:r>
              <a:rPr lang="zh-CN" altLang="en-US" sz="2000" b="1" dirty="0"/>
              <a:t>提供一组广义</a:t>
            </a:r>
            <a:r>
              <a:rPr lang="zh-CN" altLang="en-US" sz="2000" b="1" dirty="0" smtClean="0"/>
              <a:t>指令</a:t>
            </a:r>
            <a:r>
              <a:rPr lang="zh-CN" altLang="en-US" sz="2000" b="1" dirty="0"/>
              <a:t>（</a:t>
            </a:r>
            <a:r>
              <a:rPr lang="zh-CN" altLang="en-US" sz="2000" b="1" dirty="0" smtClean="0"/>
              <a:t>或</a:t>
            </a:r>
            <a:r>
              <a:rPr lang="zh-CN" altLang="en-US" sz="2000" b="1" dirty="0"/>
              <a:t>称系统调用、程序</a:t>
            </a:r>
            <a:r>
              <a:rPr lang="zh-CN" altLang="en-US" sz="2000" b="1" dirty="0" smtClean="0"/>
              <a:t>请求）供</a:t>
            </a:r>
            <a:r>
              <a:rPr lang="zh-CN" altLang="en-US" sz="2000" b="1" dirty="0"/>
              <a:t>用户程序和其他系统程序向操作系统提出申请，并由操作系统代为</a:t>
            </a:r>
            <a:r>
              <a:rPr lang="zh-CN" altLang="en-US" sz="2000" b="1" dirty="0" smtClean="0"/>
              <a:t>完成</a:t>
            </a:r>
            <a:r>
              <a:rPr lang="zh-CN" altLang="en-US" sz="2000" b="1" dirty="0"/>
              <a:t>。</a:t>
            </a:r>
          </a:p>
        </p:txBody>
      </p:sp>
      <p:sp>
        <p:nvSpPr>
          <p:cNvPr id="35" name="任意多边形 34"/>
          <p:cNvSpPr/>
          <p:nvPr/>
        </p:nvSpPr>
        <p:spPr>
          <a:xfrm>
            <a:off x="733511" y="1359970"/>
            <a:ext cx="1750257" cy="1495176"/>
          </a:xfrm>
          <a:custGeom>
            <a:avLst/>
            <a:gdLst>
              <a:gd name="connsiteX0" fmla="*/ 0 w 2592288"/>
              <a:gd name="connsiteY0" fmla="*/ 276890 h 1661305"/>
              <a:gd name="connsiteX1" fmla="*/ 276890 w 2592288"/>
              <a:gd name="connsiteY1" fmla="*/ 0 h 1661305"/>
              <a:gd name="connsiteX2" fmla="*/ 2315398 w 2592288"/>
              <a:gd name="connsiteY2" fmla="*/ 0 h 1661305"/>
              <a:gd name="connsiteX3" fmla="*/ 2592288 w 2592288"/>
              <a:gd name="connsiteY3" fmla="*/ 276890 h 1661305"/>
              <a:gd name="connsiteX4" fmla="*/ 2592288 w 2592288"/>
              <a:gd name="connsiteY4" fmla="*/ 1384415 h 1661305"/>
              <a:gd name="connsiteX5" fmla="*/ 2315398 w 2592288"/>
              <a:gd name="connsiteY5" fmla="*/ 1661305 h 1661305"/>
              <a:gd name="connsiteX6" fmla="*/ 276890 w 2592288"/>
              <a:gd name="connsiteY6" fmla="*/ 1661305 h 1661305"/>
              <a:gd name="connsiteX7" fmla="*/ 0 w 2592288"/>
              <a:gd name="connsiteY7" fmla="*/ 1384415 h 1661305"/>
              <a:gd name="connsiteX8" fmla="*/ 0 w 2592288"/>
              <a:gd name="connsiteY8" fmla="*/ 276890 h 16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88" h="1661305">
                <a:moveTo>
                  <a:pt x="0" y="276890"/>
                </a:moveTo>
                <a:cubicBezTo>
                  <a:pt x="0" y="123968"/>
                  <a:pt x="123968" y="0"/>
                  <a:pt x="276890" y="0"/>
                </a:cubicBezTo>
                <a:lnTo>
                  <a:pt x="2315398" y="0"/>
                </a:lnTo>
                <a:cubicBezTo>
                  <a:pt x="2468320" y="0"/>
                  <a:pt x="2592288" y="123968"/>
                  <a:pt x="2592288" y="276890"/>
                </a:cubicBezTo>
                <a:lnTo>
                  <a:pt x="2592288" y="1384415"/>
                </a:lnTo>
                <a:cubicBezTo>
                  <a:pt x="2592288" y="1537337"/>
                  <a:pt x="2468320" y="1661305"/>
                  <a:pt x="2315398" y="1661305"/>
                </a:cubicBezTo>
                <a:lnTo>
                  <a:pt x="276890" y="1661305"/>
                </a:lnTo>
                <a:cubicBezTo>
                  <a:pt x="123968" y="1661305"/>
                  <a:pt x="0" y="1537337"/>
                  <a:pt x="0" y="1384415"/>
                </a:cubicBezTo>
                <a:lnTo>
                  <a:pt x="0" y="27689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87778" tIns="134438" rIns="187778" bIns="134438" numCol="1" spcCol="1270" anchor="ctr" anchorCtr="0">
            <a:noAutofit/>
          </a:bodyPr>
          <a:lstStyle/>
          <a:p>
            <a:pPr lvl="0" algn="ctr" defTabSz="1244600">
              <a:lnSpc>
                <a:spcPct val="90000"/>
              </a:lnSpc>
              <a:spcBef>
                <a:spcPct val="0"/>
              </a:spcBef>
              <a:spcAft>
                <a:spcPct val="35000"/>
              </a:spcAft>
            </a:pPr>
            <a:r>
              <a:rPr lang="zh-CN" altLang="en-US" sz="2400" b="1" dirty="0"/>
              <a:t>程序一级的接口</a:t>
            </a:r>
          </a:p>
        </p:txBody>
      </p:sp>
      <p:sp>
        <p:nvSpPr>
          <p:cNvPr id="36" name="任意多边形 35"/>
          <p:cNvSpPr/>
          <p:nvPr/>
        </p:nvSpPr>
        <p:spPr>
          <a:xfrm>
            <a:off x="2411760" y="3159077"/>
            <a:ext cx="5658640" cy="1269806"/>
          </a:xfrm>
          <a:custGeom>
            <a:avLst/>
            <a:gdLst>
              <a:gd name="connsiteX0" fmla="*/ 221512 w 1329044"/>
              <a:gd name="connsiteY0" fmla="*/ 0 h 4608512"/>
              <a:gd name="connsiteX1" fmla="*/ 1107532 w 1329044"/>
              <a:gd name="connsiteY1" fmla="*/ 0 h 4608512"/>
              <a:gd name="connsiteX2" fmla="*/ 1329044 w 1329044"/>
              <a:gd name="connsiteY2" fmla="*/ 221512 h 4608512"/>
              <a:gd name="connsiteX3" fmla="*/ 1329044 w 1329044"/>
              <a:gd name="connsiteY3" fmla="*/ 4608512 h 4608512"/>
              <a:gd name="connsiteX4" fmla="*/ 1329044 w 1329044"/>
              <a:gd name="connsiteY4" fmla="*/ 4608512 h 4608512"/>
              <a:gd name="connsiteX5" fmla="*/ 0 w 1329044"/>
              <a:gd name="connsiteY5" fmla="*/ 4608512 h 4608512"/>
              <a:gd name="connsiteX6" fmla="*/ 0 w 1329044"/>
              <a:gd name="connsiteY6" fmla="*/ 4608512 h 4608512"/>
              <a:gd name="connsiteX7" fmla="*/ 0 w 1329044"/>
              <a:gd name="connsiteY7" fmla="*/ 221512 h 4608512"/>
              <a:gd name="connsiteX8" fmla="*/ 221512 w 1329044"/>
              <a:gd name="connsiteY8" fmla="*/ 0 h 460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9044" h="4608512">
                <a:moveTo>
                  <a:pt x="1329044" y="768102"/>
                </a:moveTo>
                <a:lnTo>
                  <a:pt x="1329044" y="3840410"/>
                </a:lnTo>
                <a:cubicBezTo>
                  <a:pt x="1329044" y="4264622"/>
                  <a:pt x="1300443" y="4608512"/>
                  <a:pt x="1265162" y="4608512"/>
                </a:cubicBezTo>
                <a:lnTo>
                  <a:pt x="0" y="4608512"/>
                </a:lnTo>
                <a:lnTo>
                  <a:pt x="0" y="4608512"/>
                </a:lnTo>
                <a:lnTo>
                  <a:pt x="0" y="0"/>
                </a:lnTo>
                <a:lnTo>
                  <a:pt x="0" y="0"/>
                </a:lnTo>
                <a:lnTo>
                  <a:pt x="1265162" y="0"/>
                </a:lnTo>
                <a:cubicBezTo>
                  <a:pt x="1300443" y="0"/>
                  <a:pt x="1329044" y="343890"/>
                  <a:pt x="1329044" y="768102"/>
                </a:cubicBezTo>
                <a:close/>
              </a:path>
            </a:pathLst>
          </a:custGeom>
          <a:scene3d>
            <a:camera prst="orthographicFront"/>
            <a:lightRig rig="flat" dir="t"/>
          </a:scene3d>
          <a:sp3d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8581" tIns="99169" rIns="133458" bIns="99169" numCol="1" spcCol="1270" anchor="ctr" anchorCtr="0">
            <a:noAutofit/>
          </a:bodyPr>
          <a:lstStyle/>
          <a:p>
            <a:pPr marL="85725" lvl="1" defTabSz="800100">
              <a:lnSpc>
                <a:spcPct val="130000"/>
              </a:lnSpc>
              <a:spcBef>
                <a:spcPct val="0"/>
              </a:spcBef>
              <a:spcAft>
                <a:spcPct val="15000"/>
              </a:spcAft>
            </a:pPr>
            <a:r>
              <a:rPr lang="zh-CN" altLang="en-US" sz="2000" b="1" dirty="0"/>
              <a:t>提供一组控制操作</a:t>
            </a:r>
            <a:r>
              <a:rPr lang="zh-CN" altLang="en-US" sz="2000" b="1" dirty="0" smtClean="0"/>
              <a:t>命令（或</a:t>
            </a:r>
            <a:r>
              <a:rPr lang="zh-CN" altLang="en-US" sz="2000" b="1" dirty="0"/>
              <a:t>称作业控制语言，或像</a:t>
            </a:r>
            <a:r>
              <a:rPr lang="en-US" altLang="zh-CN" sz="2000" b="1" dirty="0"/>
              <a:t>UNIX</a:t>
            </a:r>
            <a:r>
              <a:rPr lang="zh-CN" altLang="en-US" sz="2000" b="1" dirty="0"/>
              <a:t>中的</a:t>
            </a:r>
            <a:r>
              <a:rPr lang="en-US" altLang="zh-CN" sz="2000" b="1" dirty="0"/>
              <a:t>Shell</a:t>
            </a:r>
            <a:r>
              <a:rPr lang="zh-CN" altLang="en-US" sz="2000" b="1" dirty="0" smtClean="0"/>
              <a:t>命令语言）供</a:t>
            </a:r>
            <a:r>
              <a:rPr lang="zh-CN" altLang="en-US" sz="2000" b="1" dirty="0"/>
              <a:t>用户去组织和控制自己作业的运行。</a:t>
            </a:r>
          </a:p>
        </p:txBody>
      </p:sp>
      <p:sp>
        <p:nvSpPr>
          <p:cNvPr id="37" name="任意多边形 36"/>
          <p:cNvSpPr/>
          <p:nvPr/>
        </p:nvSpPr>
        <p:spPr>
          <a:xfrm>
            <a:off x="734310" y="3126309"/>
            <a:ext cx="1749458" cy="1373315"/>
          </a:xfrm>
          <a:custGeom>
            <a:avLst/>
            <a:gdLst>
              <a:gd name="connsiteX0" fmla="*/ 0 w 2592288"/>
              <a:gd name="connsiteY0" fmla="*/ 276890 h 1661305"/>
              <a:gd name="connsiteX1" fmla="*/ 276890 w 2592288"/>
              <a:gd name="connsiteY1" fmla="*/ 0 h 1661305"/>
              <a:gd name="connsiteX2" fmla="*/ 2315398 w 2592288"/>
              <a:gd name="connsiteY2" fmla="*/ 0 h 1661305"/>
              <a:gd name="connsiteX3" fmla="*/ 2592288 w 2592288"/>
              <a:gd name="connsiteY3" fmla="*/ 276890 h 1661305"/>
              <a:gd name="connsiteX4" fmla="*/ 2592288 w 2592288"/>
              <a:gd name="connsiteY4" fmla="*/ 1384415 h 1661305"/>
              <a:gd name="connsiteX5" fmla="*/ 2315398 w 2592288"/>
              <a:gd name="connsiteY5" fmla="*/ 1661305 h 1661305"/>
              <a:gd name="connsiteX6" fmla="*/ 276890 w 2592288"/>
              <a:gd name="connsiteY6" fmla="*/ 1661305 h 1661305"/>
              <a:gd name="connsiteX7" fmla="*/ 0 w 2592288"/>
              <a:gd name="connsiteY7" fmla="*/ 1384415 h 1661305"/>
              <a:gd name="connsiteX8" fmla="*/ 0 w 2592288"/>
              <a:gd name="connsiteY8" fmla="*/ 276890 h 16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88" h="1661305">
                <a:moveTo>
                  <a:pt x="0" y="276890"/>
                </a:moveTo>
                <a:cubicBezTo>
                  <a:pt x="0" y="123968"/>
                  <a:pt x="123968" y="0"/>
                  <a:pt x="276890" y="0"/>
                </a:cubicBezTo>
                <a:lnTo>
                  <a:pt x="2315398" y="0"/>
                </a:lnTo>
                <a:cubicBezTo>
                  <a:pt x="2468320" y="0"/>
                  <a:pt x="2592288" y="123968"/>
                  <a:pt x="2592288" y="276890"/>
                </a:cubicBezTo>
                <a:lnTo>
                  <a:pt x="2592288" y="1384415"/>
                </a:lnTo>
                <a:cubicBezTo>
                  <a:pt x="2592288" y="1537337"/>
                  <a:pt x="2468320" y="1661305"/>
                  <a:pt x="2315398" y="1661305"/>
                </a:cubicBezTo>
                <a:lnTo>
                  <a:pt x="276890" y="1661305"/>
                </a:lnTo>
                <a:cubicBezTo>
                  <a:pt x="123968" y="1661305"/>
                  <a:pt x="0" y="1537337"/>
                  <a:pt x="0" y="1384415"/>
                </a:cubicBezTo>
                <a:lnTo>
                  <a:pt x="0" y="27689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87778" tIns="134438" rIns="187778" bIns="134438" numCol="1" spcCol="1270" anchor="ctr" anchorCtr="0">
            <a:noAutofit/>
          </a:bodyPr>
          <a:lstStyle/>
          <a:p>
            <a:pPr lvl="0" algn="ctr" defTabSz="1244600">
              <a:lnSpc>
                <a:spcPct val="90000"/>
              </a:lnSpc>
              <a:spcBef>
                <a:spcPct val="0"/>
              </a:spcBef>
              <a:spcAft>
                <a:spcPct val="35000"/>
              </a:spcAft>
            </a:pPr>
            <a:r>
              <a:rPr lang="zh-CN" altLang="en-US" sz="2400" b="1" dirty="0"/>
              <a:t>作业一级的接口</a:t>
            </a:r>
          </a:p>
        </p:txBody>
      </p:sp>
    </p:spTree>
    <p:extLst>
      <p:ext uri="{BB962C8B-B14F-4D97-AF65-F5344CB8AC3E}">
        <p14:creationId xmlns:p14="http://schemas.microsoft.com/office/powerpoint/2010/main" val="37672723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5" grpId="0" animBg="1"/>
      <p:bldP spid="36" grpId="0" animBg="1"/>
      <p:bldP spid="3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操作系统概念及历史</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操作系统的基本类型</a:t>
              </a:r>
              <a:endParaRPr lang="en-US" altLang="zh-CN" b="1" dirty="0">
                <a:solidFill>
                  <a:srgbClr val="000000"/>
                </a:solidFill>
                <a:ea typeface="宋体" pitchFamily="2" charset="-122"/>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操作系统的功能</a:t>
              </a:r>
              <a:endParaRPr lang="en-US" altLang="zh-CN" b="1" dirty="0">
                <a:solidFill>
                  <a:srgbClr val="000000"/>
                </a:solidFill>
                <a:ea typeface="宋体" pitchFamily="2" charset="-122"/>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计算机硬件简介</a:t>
              </a:r>
              <a:endParaRPr lang="en-US" altLang="zh-CN" b="1" dirty="0">
                <a:solidFill>
                  <a:srgbClr val="000000"/>
                </a:solidFill>
                <a:ea typeface="宋体" pitchFamily="2" charset="-122"/>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算法描述及研究操作系统的观点</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156301893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7"/>
                                        </p:tgtEl>
                                      </p:cBhvr>
                                      <p:by x="150000" y="150000"/>
                                    </p:animScale>
                                  </p:childTnLst>
                                </p:cTn>
                              </p:par>
                              <p:par>
                                <p:cTn id="7" presetID="42" presetClass="path" presetSubtype="0" accel="50000" decel="50000" fill="hold" nodeType="withEffect">
                                  <p:stCondLst>
                                    <p:cond delay="0"/>
                                  </p:stCondLst>
                                  <p:childTnLst>
                                    <p:animMotion origin="layout" path="M -3.61111E-6 1.60494E-6 L 0.00139 -0.15062 " pathEditMode="relative" rAng="0" ptsTypes="AA">
                                      <p:cBhvr>
                                        <p:cTn id="8" dur="2000" fill="hold"/>
                                        <p:tgtEl>
                                          <p:spTgt spid="27"/>
                                        </p:tgtEl>
                                        <p:attrNameLst>
                                          <p:attrName>ppt_x</p:attrName>
                                          <p:attrName>ppt_y</p:attrName>
                                        </p:attrNameLst>
                                      </p:cBhvr>
                                      <p:rCtr x="69" y="-7531"/>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1"/>
                                        </p:tgtEl>
                                      </p:cBhvr>
                                    </p:animEffect>
                                    <p:set>
                                      <p:cBhvr>
                                        <p:cTn id="14" dur="1" fill="hold">
                                          <p:stCondLst>
                                            <p:cond delay="1999"/>
                                          </p:stCondLst>
                                        </p:cTn>
                                        <p:tgtEl>
                                          <p:spTgt spid="11"/>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32"/>
                                        </p:tgtEl>
                                      </p:cBhvr>
                                    </p:animEffect>
                                    <p:set>
                                      <p:cBhvr>
                                        <p:cTn id="17" dur="1" fill="hold">
                                          <p:stCondLst>
                                            <p:cond delay="1999"/>
                                          </p:stCondLst>
                                        </p:cTn>
                                        <p:tgtEl>
                                          <p:spTgt spid="3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存储程序计算机的组成</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4" name="图片 3"/>
          <p:cNvPicPr>
            <a:picLocks noChangeAspect="1"/>
          </p:cNvPicPr>
          <p:nvPr/>
        </p:nvPicPr>
        <p:blipFill>
          <a:blip r:embed="rId2"/>
          <a:stretch>
            <a:fillRect/>
          </a:stretch>
        </p:blipFill>
        <p:spPr>
          <a:xfrm>
            <a:off x="1187624" y="1168185"/>
            <a:ext cx="6134100" cy="3257550"/>
          </a:xfrm>
          <a:prstGeom prst="rect">
            <a:avLst/>
          </a:prstGeom>
        </p:spPr>
      </p:pic>
    </p:spTree>
    <p:extLst>
      <p:ext uri="{BB962C8B-B14F-4D97-AF65-F5344CB8AC3E}">
        <p14:creationId xmlns:p14="http://schemas.microsoft.com/office/powerpoint/2010/main" val="268833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计算机的基本硬件元素</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4" descr="JXJ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39400"/>
            <a:ext cx="6696744" cy="3642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1590196" y="2739178"/>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247964" y="3003798"/>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619672" y="4299942"/>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459981" y="2211710"/>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460863" y="3939902"/>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2627784" y="3944291"/>
            <a:ext cx="72008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60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par>
                                <p:cTn id="35" presetID="22" presetClass="entr" presetSubtype="8"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left)">
                                      <p:cBhvr>
                                        <p:cTn id="3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与操作系统相关的几种主要寄存器</a:t>
            </a:r>
          </a:p>
        </p:txBody>
      </p:sp>
      <p:sp>
        <p:nvSpPr>
          <p:cNvPr id="8" name="任意多边形 7"/>
          <p:cNvSpPr/>
          <p:nvPr/>
        </p:nvSpPr>
        <p:spPr>
          <a:xfrm>
            <a:off x="827584" y="1072267"/>
            <a:ext cx="2905562" cy="482107"/>
          </a:xfrm>
          <a:custGeom>
            <a:avLst/>
            <a:gdLst>
              <a:gd name="connsiteX0" fmla="*/ 0 w 2905562"/>
              <a:gd name="connsiteY0" fmla="*/ 53826 h 538262"/>
              <a:gd name="connsiteX1" fmla="*/ 53826 w 2905562"/>
              <a:gd name="connsiteY1" fmla="*/ 0 h 538262"/>
              <a:gd name="connsiteX2" fmla="*/ 2851736 w 2905562"/>
              <a:gd name="connsiteY2" fmla="*/ 0 h 538262"/>
              <a:gd name="connsiteX3" fmla="*/ 2905562 w 2905562"/>
              <a:gd name="connsiteY3" fmla="*/ 53826 h 538262"/>
              <a:gd name="connsiteX4" fmla="*/ 2905562 w 2905562"/>
              <a:gd name="connsiteY4" fmla="*/ 484436 h 538262"/>
              <a:gd name="connsiteX5" fmla="*/ 2851736 w 2905562"/>
              <a:gd name="connsiteY5" fmla="*/ 538262 h 538262"/>
              <a:gd name="connsiteX6" fmla="*/ 53826 w 2905562"/>
              <a:gd name="connsiteY6" fmla="*/ 538262 h 538262"/>
              <a:gd name="connsiteX7" fmla="*/ 0 w 2905562"/>
              <a:gd name="connsiteY7" fmla="*/ 484436 h 538262"/>
              <a:gd name="connsiteX8" fmla="*/ 0 w 2905562"/>
              <a:gd name="connsiteY8" fmla="*/ 53826 h 5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562" h="538262">
                <a:moveTo>
                  <a:pt x="0" y="53826"/>
                </a:moveTo>
                <a:cubicBezTo>
                  <a:pt x="0" y="24099"/>
                  <a:pt x="24099" y="0"/>
                  <a:pt x="53826" y="0"/>
                </a:cubicBezTo>
                <a:lnTo>
                  <a:pt x="2851736" y="0"/>
                </a:lnTo>
                <a:cubicBezTo>
                  <a:pt x="2881463" y="0"/>
                  <a:pt x="2905562" y="24099"/>
                  <a:pt x="2905562" y="53826"/>
                </a:cubicBezTo>
                <a:lnTo>
                  <a:pt x="2905562" y="484436"/>
                </a:lnTo>
                <a:cubicBezTo>
                  <a:pt x="2905562" y="514163"/>
                  <a:pt x="2881463" y="538262"/>
                  <a:pt x="2851736" y="538262"/>
                </a:cubicBezTo>
                <a:lnTo>
                  <a:pt x="53826" y="538262"/>
                </a:lnTo>
                <a:cubicBezTo>
                  <a:pt x="24099" y="538262"/>
                  <a:pt x="0" y="514163"/>
                  <a:pt x="0" y="484436"/>
                </a:cubicBezTo>
                <a:lnTo>
                  <a:pt x="0" y="53826"/>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61485" tIns="46245" rIns="61485" bIns="46245" numCol="1" spcCol="1270" anchor="ctr" anchorCtr="0">
            <a:noAutofit/>
          </a:bodyPr>
          <a:lstStyle/>
          <a:p>
            <a:pPr lvl="0" algn="ctr" defTabSz="1066800">
              <a:lnSpc>
                <a:spcPct val="90000"/>
              </a:lnSpc>
              <a:spcBef>
                <a:spcPct val="0"/>
              </a:spcBef>
              <a:spcAft>
                <a:spcPct val="35000"/>
              </a:spcAft>
            </a:pPr>
            <a:r>
              <a:rPr lang="zh-CN" altLang="en-US" sz="2400" b="1" kern="1200" dirty="0" smtClean="0"/>
              <a:t>用户可编程寄存器</a:t>
            </a:r>
            <a:endParaRPr lang="zh-CN" altLang="en-US" sz="2400" b="1" kern="1200" dirty="0"/>
          </a:p>
        </p:txBody>
      </p:sp>
      <p:sp>
        <p:nvSpPr>
          <p:cNvPr id="10" name="任意多边形 9"/>
          <p:cNvSpPr/>
          <p:nvPr/>
        </p:nvSpPr>
        <p:spPr>
          <a:xfrm>
            <a:off x="1925080" y="1813285"/>
            <a:ext cx="1642430" cy="544428"/>
          </a:xfrm>
          <a:custGeom>
            <a:avLst/>
            <a:gdLst>
              <a:gd name="connsiteX0" fmla="*/ 0 w 1642430"/>
              <a:gd name="connsiteY0" fmla="*/ 54443 h 544428"/>
              <a:gd name="connsiteX1" fmla="*/ 54443 w 1642430"/>
              <a:gd name="connsiteY1" fmla="*/ 0 h 544428"/>
              <a:gd name="connsiteX2" fmla="*/ 1587987 w 1642430"/>
              <a:gd name="connsiteY2" fmla="*/ 0 h 544428"/>
              <a:gd name="connsiteX3" fmla="*/ 1642430 w 1642430"/>
              <a:gd name="connsiteY3" fmla="*/ 54443 h 544428"/>
              <a:gd name="connsiteX4" fmla="*/ 1642430 w 1642430"/>
              <a:gd name="connsiteY4" fmla="*/ 489985 h 544428"/>
              <a:gd name="connsiteX5" fmla="*/ 1587987 w 1642430"/>
              <a:gd name="connsiteY5" fmla="*/ 544428 h 544428"/>
              <a:gd name="connsiteX6" fmla="*/ 54443 w 1642430"/>
              <a:gd name="connsiteY6" fmla="*/ 544428 h 544428"/>
              <a:gd name="connsiteX7" fmla="*/ 0 w 1642430"/>
              <a:gd name="connsiteY7" fmla="*/ 489985 h 544428"/>
              <a:gd name="connsiteX8" fmla="*/ 0 w 1642430"/>
              <a:gd name="connsiteY8" fmla="*/ 54443 h 54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2430" h="544428">
                <a:moveTo>
                  <a:pt x="0" y="54443"/>
                </a:moveTo>
                <a:cubicBezTo>
                  <a:pt x="0" y="24375"/>
                  <a:pt x="24375" y="0"/>
                  <a:pt x="54443" y="0"/>
                </a:cubicBezTo>
                <a:lnTo>
                  <a:pt x="1587987" y="0"/>
                </a:lnTo>
                <a:cubicBezTo>
                  <a:pt x="1618055" y="0"/>
                  <a:pt x="1642430" y="24375"/>
                  <a:pt x="1642430" y="54443"/>
                </a:cubicBezTo>
                <a:lnTo>
                  <a:pt x="1642430" y="489985"/>
                </a:lnTo>
                <a:cubicBezTo>
                  <a:pt x="1642430" y="520053"/>
                  <a:pt x="1618055" y="544428"/>
                  <a:pt x="1587987" y="544428"/>
                </a:cubicBezTo>
                <a:lnTo>
                  <a:pt x="54443" y="544428"/>
                </a:lnTo>
                <a:cubicBezTo>
                  <a:pt x="24375" y="544428"/>
                  <a:pt x="0" y="520053"/>
                  <a:pt x="0" y="489985"/>
                </a:cubicBezTo>
                <a:lnTo>
                  <a:pt x="0" y="54443"/>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4046" tIns="41346" rIns="54046" bIns="41346" numCol="1" spcCol="1270" anchor="ctr" anchorCtr="0">
            <a:noAutofit/>
          </a:bodyPr>
          <a:lstStyle/>
          <a:p>
            <a:pPr lvl="0" algn="ctr" defTabSz="889000">
              <a:lnSpc>
                <a:spcPct val="90000"/>
              </a:lnSpc>
              <a:spcBef>
                <a:spcPct val="0"/>
              </a:spcBef>
              <a:spcAft>
                <a:spcPct val="35000"/>
              </a:spcAft>
            </a:pPr>
            <a:r>
              <a:rPr lang="zh-CN" altLang="en-US" sz="2000" b="1" kern="1200" dirty="0" smtClean="0"/>
              <a:t>数据寄存器</a:t>
            </a:r>
            <a:endParaRPr lang="zh-CN" altLang="en-US" sz="2000" b="1" kern="1200" dirty="0"/>
          </a:p>
        </p:txBody>
      </p:sp>
      <p:sp>
        <p:nvSpPr>
          <p:cNvPr id="12" name="任意多边形 11"/>
          <p:cNvSpPr/>
          <p:nvPr/>
        </p:nvSpPr>
        <p:spPr>
          <a:xfrm>
            <a:off x="1900149" y="2509563"/>
            <a:ext cx="1692274" cy="511784"/>
          </a:xfrm>
          <a:custGeom>
            <a:avLst/>
            <a:gdLst>
              <a:gd name="connsiteX0" fmla="*/ 0 w 1692274"/>
              <a:gd name="connsiteY0" fmla="*/ 51178 h 511784"/>
              <a:gd name="connsiteX1" fmla="*/ 51178 w 1692274"/>
              <a:gd name="connsiteY1" fmla="*/ 0 h 511784"/>
              <a:gd name="connsiteX2" fmla="*/ 1641096 w 1692274"/>
              <a:gd name="connsiteY2" fmla="*/ 0 h 511784"/>
              <a:gd name="connsiteX3" fmla="*/ 1692274 w 1692274"/>
              <a:gd name="connsiteY3" fmla="*/ 51178 h 511784"/>
              <a:gd name="connsiteX4" fmla="*/ 1692274 w 1692274"/>
              <a:gd name="connsiteY4" fmla="*/ 460606 h 511784"/>
              <a:gd name="connsiteX5" fmla="*/ 1641096 w 1692274"/>
              <a:gd name="connsiteY5" fmla="*/ 511784 h 511784"/>
              <a:gd name="connsiteX6" fmla="*/ 51178 w 1692274"/>
              <a:gd name="connsiteY6" fmla="*/ 511784 h 511784"/>
              <a:gd name="connsiteX7" fmla="*/ 0 w 1692274"/>
              <a:gd name="connsiteY7" fmla="*/ 460606 h 511784"/>
              <a:gd name="connsiteX8" fmla="*/ 0 w 1692274"/>
              <a:gd name="connsiteY8" fmla="*/ 51178 h 51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2274" h="511784">
                <a:moveTo>
                  <a:pt x="0" y="51178"/>
                </a:moveTo>
                <a:cubicBezTo>
                  <a:pt x="0" y="22913"/>
                  <a:pt x="22913" y="0"/>
                  <a:pt x="51178" y="0"/>
                </a:cubicBezTo>
                <a:lnTo>
                  <a:pt x="1641096" y="0"/>
                </a:lnTo>
                <a:cubicBezTo>
                  <a:pt x="1669361" y="0"/>
                  <a:pt x="1692274" y="22913"/>
                  <a:pt x="1692274" y="51178"/>
                </a:cubicBezTo>
                <a:lnTo>
                  <a:pt x="1692274" y="460606"/>
                </a:lnTo>
                <a:cubicBezTo>
                  <a:pt x="1692274" y="488871"/>
                  <a:pt x="1669361" y="511784"/>
                  <a:pt x="1641096" y="511784"/>
                </a:cubicBezTo>
                <a:lnTo>
                  <a:pt x="51178" y="511784"/>
                </a:lnTo>
                <a:cubicBezTo>
                  <a:pt x="22913" y="511784"/>
                  <a:pt x="0" y="488871"/>
                  <a:pt x="0" y="460606"/>
                </a:cubicBezTo>
                <a:lnTo>
                  <a:pt x="0" y="51178"/>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3090" tIns="40390" rIns="53090" bIns="40390" numCol="1" spcCol="1270" anchor="ctr" anchorCtr="0">
            <a:noAutofit/>
          </a:bodyPr>
          <a:lstStyle/>
          <a:p>
            <a:pPr lvl="0" algn="ctr" defTabSz="889000">
              <a:lnSpc>
                <a:spcPct val="90000"/>
              </a:lnSpc>
              <a:spcBef>
                <a:spcPct val="0"/>
              </a:spcBef>
              <a:spcAft>
                <a:spcPct val="35000"/>
              </a:spcAft>
            </a:pPr>
            <a:r>
              <a:rPr lang="zh-CN" altLang="en-US" sz="2000" b="1" kern="1200" dirty="0" smtClean="0"/>
              <a:t>地址寄存器</a:t>
            </a:r>
            <a:endParaRPr lang="en-US" altLang="zh-CN" sz="2000" b="1" kern="1200" dirty="0" smtClean="0"/>
          </a:p>
        </p:txBody>
      </p:sp>
      <p:grpSp>
        <p:nvGrpSpPr>
          <p:cNvPr id="48" name="组合 47"/>
          <p:cNvGrpSpPr/>
          <p:nvPr/>
        </p:nvGrpSpPr>
        <p:grpSpPr>
          <a:xfrm>
            <a:off x="1118140" y="1610529"/>
            <a:ext cx="806939" cy="1947016"/>
            <a:chOff x="1287272" y="1610529"/>
            <a:chExt cx="806939" cy="1947016"/>
          </a:xfrm>
        </p:grpSpPr>
        <p:sp>
          <p:nvSpPr>
            <p:cNvPr id="11" name="任意多边形 10"/>
            <p:cNvSpPr/>
            <p:nvPr/>
          </p:nvSpPr>
          <p:spPr>
            <a:xfrm>
              <a:off x="1287272" y="1610529"/>
              <a:ext cx="782008" cy="1154926"/>
            </a:xfrm>
            <a:custGeom>
              <a:avLst/>
              <a:gdLst/>
              <a:ahLst/>
              <a:cxnLst/>
              <a:rect l="0" t="0" r="0" b="0"/>
              <a:pathLst>
                <a:path>
                  <a:moveTo>
                    <a:pt x="0" y="0"/>
                  </a:moveTo>
                  <a:lnTo>
                    <a:pt x="0" y="1154926"/>
                  </a:lnTo>
                  <a:lnTo>
                    <a:pt x="782008" y="1154926"/>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grpSp>
          <p:nvGrpSpPr>
            <p:cNvPr id="47" name="组合 46"/>
            <p:cNvGrpSpPr/>
            <p:nvPr/>
          </p:nvGrpSpPr>
          <p:grpSpPr>
            <a:xfrm>
              <a:off x="1287272" y="1610529"/>
              <a:ext cx="806939" cy="1947016"/>
              <a:chOff x="1287272" y="1610529"/>
              <a:chExt cx="806939" cy="1947016"/>
            </a:xfrm>
          </p:grpSpPr>
          <p:sp>
            <p:nvSpPr>
              <p:cNvPr id="9" name="任意多边形 8"/>
              <p:cNvSpPr/>
              <p:nvPr/>
            </p:nvSpPr>
            <p:spPr>
              <a:xfrm>
                <a:off x="1287272" y="1610529"/>
                <a:ext cx="806939" cy="474969"/>
              </a:xfrm>
              <a:custGeom>
                <a:avLst/>
                <a:gdLst/>
                <a:ahLst/>
                <a:cxnLst/>
                <a:rect l="0" t="0" r="0" b="0"/>
                <a:pathLst>
                  <a:path>
                    <a:moveTo>
                      <a:pt x="0" y="0"/>
                    </a:moveTo>
                    <a:lnTo>
                      <a:pt x="0" y="474969"/>
                    </a:lnTo>
                    <a:lnTo>
                      <a:pt x="806939" y="474969"/>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3" name="任意多边形 12"/>
              <p:cNvSpPr/>
              <p:nvPr/>
            </p:nvSpPr>
            <p:spPr>
              <a:xfrm>
                <a:off x="1287272" y="1610529"/>
                <a:ext cx="782008" cy="1947016"/>
              </a:xfrm>
              <a:custGeom>
                <a:avLst/>
                <a:gdLst/>
                <a:ahLst/>
                <a:cxnLst/>
                <a:rect l="0" t="0" r="0" b="0"/>
                <a:pathLst>
                  <a:path>
                    <a:moveTo>
                      <a:pt x="0" y="0"/>
                    </a:moveTo>
                    <a:lnTo>
                      <a:pt x="0" y="1947016"/>
                    </a:lnTo>
                    <a:lnTo>
                      <a:pt x="782008" y="1947016"/>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grpSp>
      </p:grpSp>
      <p:sp>
        <p:nvSpPr>
          <p:cNvPr id="14" name="任意多边形 13"/>
          <p:cNvSpPr/>
          <p:nvPr/>
        </p:nvSpPr>
        <p:spPr>
          <a:xfrm>
            <a:off x="1900149" y="3229648"/>
            <a:ext cx="1858554" cy="655795"/>
          </a:xfrm>
          <a:custGeom>
            <a:avLst/>
            <a:gdLst>
              <a:gd name="connsiteX0" fmla="*/ 0 w 1858554"/>
              <a:gd name="connsiteY0" fmla="*/ 65580 h 655795"/>
              <a:gd name="connsiteX1" fmla="*/ 65580 w 1858554"/>
              <a:gd name="connsiteY1" fmla="*/ 0 h 655795"/>
              <a:gd name="connsiteX2" fmla="*/ 1792975 w 1858554"/>
              <a:gd name="connsiteY2" fmla="*/ 0 h 655795"/>
              <a:gd name="connsiteX3" fmla="*/ 1858555 w 1858554"/>
              <a:gd name="connsiteY3" fmla="*/ 65580 h 655795"/>
              <a:gd name="connsiteX4" fmla="*/ 1858554 w 1858554"/>
              <a:gd name="connsiteY4" fmla="*/ 590216 h 655795"/>
              <a:gd name="connsiteX5" fmla="*/ 1792974 w 1858554"/>
              <a:gd name="connsiteY5" fmla="*/ 655796 h 655795"/>
              <a:gd name="connsiteX6" fmla="*/ 65580 w 1858554"/>
              <a:gd name="connsiteY6" fmla="*/ 655795 h 655795"/>
              <a:gd name="connsiteX7" fmla="*/ 0 w 1858554"/>
              <a:gd name="connsiteY7" fmla="*/ 590215 h 655795"/>
              <a:gd name="connsiteX8" fmla="*/ 0 w 1858554"/>
              <a:gd name="connsiteY8" fmla="*/ 65580 h 65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554" h="655795">
                <a:moveTo>
                  <a:pt x="0" y="65580"/>
                </a:moveTo>
                <a:cubicBezTo>
                  <a:pt x="0" y="29361"/>
                  <a:pt x="29361" y="0"/>
                  <a:pt x="65580" y="0"/>
                </a:cubicBezTo>
                <a:lnTo>
                  <a:pt x="1792975" y="0"/>
                </a:lnTo>
                <a:cubicBezTo>
                  <a:pt x="1829194" y="0"/>
                  <a:pt x="1858555" y="29361"/>
                  <a:pt x="1858555" y="65580"/>
                </a:cubicBezTo>
                <a:cubicBezTo>
                  <a:pt x="1858555" y="240459"/>
                  <a:pt x="1858554" y="415337"/>
                  <a:pt x="1858554" y="590216"/>
                </a:cubicBezTo>
                <a:cubicBezTo>
                  <a:pt x="1858554" y="626435"/>
                  <a:pt x="1829193" y="655796"/>
                  <a:pt x="1792974" y="655796"/>
                </a:cubicBezTo>
                <a:lnTo>
                  <a:pt x="65580" y="655795"/>
                </a:lnTo>
                <a:cubicBezTo>
                  <a:pt x="29361" y="655795"/>
                  <a:pt x="0" y="626434"/>
                  <a:pt x="0" y="590215"/>
                </a:cubicBezTo>
                <a:lnTo>
                  <a:pt x="0" y="65580"/>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7308" tIns="44608" rIns="57308" bIns="44608" numCol="1" spcCol="1270" anchor="ctr" anchorCtr="0">
            <a:noAutofit/>
          </a:bodyPr>
          <a:lstStyle/>
          <a:p>
            <a:pPr lvl="0" algn="ctr" defTabSz="889000">
              <a:lnSpc>
                <a:spcPct val="90000"/>
              </a:lnSpc>
              <a:spcBef>
                <a:spcPct val="0"/>
              </a:spcBef>
              <a:spcAft>
                <a:spcPct val="35000"/>
              </a:spcAft>
            </a:pPr>
            <a:r>
              <a:rPr lang="zh-CN" altLang="en-US" sz="2000" b="1" kern="1200" dirty="0" smtClean="0"/>
              <a:t>条件码寄存器</a:t>
            </a:r>
            <a:endParaRPr lang="en-US" altLang="zh-CN" sz="2000" b="1" kern="1200" dirty="0" smtClean="0"/>
          </a:p>
        </p:txBody>
      </p:sp>
      <p:sp>
        <p:nvSpPr>
          <p:cNvPr id="35" name="任意多边形 34"/>
          <p:cNvSpPr/>
          <p:nvPr/>
        </p:nvSpPr>
        <p:spPr>
          <a:xfrm>
            <a:off x="4330850" y="1040364"/>
            <a:ext cx="2747814" cy="514010"/>
          </a:xfrm>
          <a:custGeom>
            <a:avLst/>
            <a:gdLst>
              <a:gd name="connsiteX0" fmla="*/ 0 w 2747814"/>
              <a:gd name="connsiteY0" fmla="*/ 61256 h 612556"/>
              <a:gd name="connsiteX1" fmla="*/ 61256 w 2747814"/>
              <a:gd name="connsiteY1" fmla="*/ 0 h 612556"/>
              <a:gd name="connsiteX2" fmla="*/ 2686558 w 2747814"/>
              <a:gd name="connsiteY2" fmla="*/ 0 h 612556"/>
              <a:gd name="connsiteX3" fmla="*/ 2747814 w 2747814"/>
              <a:gd name="connsiteY3" fmla="*/ 61256 h 612556"/>
              <a:gd name="connsiteX4" fmla="*/ 2747814 w 2747814"/>
              <a:gd name="connsiteY4" fmla="*/ 551300 h 612556"/>
              <a:gd name="connsiteX5" fmla="*/ 2686558 w 2747814"/>
              <a:gd name="connsiteY5" fmla="*/ 612556 h 612556"/>
              <a:gd name="connsiteX6" fmla="*/ 61256 w 2747814"/>
              <a:gd name="connsiteY6" fmla="*/ 612556 h 612556"/>
              <a:gd name="connsiteX7" fmla="*/ 0 w 2747814"/>
              <a:gd name="connsiteY7" fmla="*/ 551300 h 612556"/>
              <a:gd name="connsiteX8" fmla="*/ 0 w 2747814"/>
              <a:gd name="connsiteY8" fmla="*/ 61256 h 61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7814" h="612556">
                <a:moveTo>
                  <a:pt x="0" y="61256"/>
                </a:moveTo>
                <a:cubicBezTo>
                  <a:pt x="0" y="27425"/>
                  <a:pt x="27425" y="0"/>
                  <a:pt x="61256" y="0"/>
                </a:cubicBezTo>
                <a:lnTo>
                  <a:pt x="2686558" y="0"/>
                </a:lnTo>
                <a:cubicBezTo>
                  <a:pt x="2720389" y="0"/>
                  <a:pt x="2747814" y="27425"/>
                  <a:pt x="2747814" y="61256"/>
                </a:cubicBezTo>
                <a:lnTo>
                  <a:pt x="2747814" y="551300"/>
                </a:lnTo>
                <a:cubicBezTo>
                  <a:pt x="2747814" y="585131"/>
                  <a:pt x="2720389" y="612556"/>
                  <a:pt x="2686558" y="612556"/>
                </a:cubicBezTo>
                <a:lnTo>
                  <a:pt x="61256" y="612556"/>
                </a:lnTo>
                <a:cubicBezTo>
                  <a:pt x="27425" y="612556"/>
                  <a:pt x="0" y="585131"/>
                  <a:pt x="0" y="551300"/>
                </a:cubicBezTo>
                <a:lnTo>
                  <a:pt x="0" y="61256"/>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63661" tIns="48421" rIns="63661" bIns="48421" numCol="1" spcCol="1270" anchor="ctr" anchorCtr="0">
            <a:noAutofit/>
          </a:bodyPr>
          <a:lstStyle/>
          <a:p>
            <a:pPr lvl="0" algn="ctr" defTabSz="1066800">
              <a:lnSpc>
                <a:spcPct val="90000"/>
              </a:lnSpc>
              <a:spcBef>
                <a:spcPct val="0"/>
              </a:spcBef>
              <a:spcAft>
                <a:spcPct val="35000"/>
              </a:spcAft>
            </a:pPr>
            <a:r>
              <a:rPr lang="zh-CN" altLang="en-US" sz="2400" b="1" kern="1200" dirty="0" smtClean="0"/>
              <a:t>控制与状态寄存器</a:t>
            </a:r>
            <a:endParaRPr lang="zh-CN" altLang="en-US" sz="2400" b="1" kern="1200" dirty="0"/>
          </a:p>
        </p:txBody>
      </p:sp>
    </p:spTree>
    <p:extLst>
      <p:ext uri="{BB962C8B-B14F-4D97-AF65-F5344CB8AC3E}">
        <p14:creationId xmlns:p14="http://schemas.microsoft.com/office/powerpoint/2010/main" val="195282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up)">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3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用户可编程寄存器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987559" y="1330561"/>
            <a:ext cx="6696744" cy="2973122"/>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数据</a:t>
            </a:r>
            <a:r>
              <a:rPr lang="zh-CN" altLang="en-US" sz="2400" b="1" dirty="0">
                <a:solidFill>
                  <a:srgbClr val="FFFF00"/>
                </a:solidFill>
                <a:latin typeface="+mn-ea"/>
              </a:rPr>
              <a:t>寄存器</a:t>
            </a:r>
          </a:p>
          <a:p>
            <a:pPr marL="0" lvl="1" algn="just">
              <a:lnSpc>
                <a:spcPct val="130000"/>
              </a:lnSpc>
              <a:buClr>
                <a:schemeClr val="accent6">
                  <a:lumMod val="60000"/>
                  <a:lumOff val="40000"/>
                </a:schemeClr>
              </a:buClr>
            </a:pPr>
            <a:r>
              <a:rPr lang="zh-CN" altLang="en-US" sz="2400" b="1" dirty="0" smtClean="0">
                <a:solidFill>
                  <a:schemeClr val="bg1"/>
                </a:solidFill>
                <a:latin typeface="+mn-ea"/>
              </a:rPr>
              <a:t>  编程</a:t>
            </a:r>
            <a:r>
              <a:rPr lang="zh-CN" altLang="en-US" sz="2400" b="1" dirty="0">
                <a:solidFill>
                  <a:schemeClr val="bg1"/>
                </a:solidFill>
                <a:latin typeface="+mn-ea"/>
              </a:rPr>
              <a:t>人员可以通过程序赋予数据寄存器众多的功能。一般来说，</a:t>
            </a:r>
            <a:r>
              <a:rPr lang="zh-CN" altLang="en-US" sz="2400" b="1" dirty="0">
                <a:solidFill>
                  <a:srgbClr val="92D050"/>
                </a:solidFill>
                <a:latin typeface="+mn-ea"/>
              </a:rPr>
              <a:t>对数据进行操作的任何机器指令都被允许访问数据寄存器</a:t>
            </a:r>
            <a:r>
              <a:rPr lang="zh-CN" altLang="en-US" sz="2400" b="1" dirty="0">
                <a:solidFill>
                  <a:schemeClr val="bg1"/>
                </a:solidFill>
                <a:latin typeface="+mn-ea"/>
              </a:rPr>
              <a:t>。不过，根据硬件设置的规定，这些寄存器也可能只被允许进行浮点运算或被其他某些规定所限制。</a:t>
            </a:r>
          </a:p>
        </p:txBody>
      </p:sp>
    </p:spTree>
    <p:extLst>
      <p:ext uri="{BB962C8B-B14F-4D97-AF65-F5344CB8AC3E}">
        <p14:creationId xmlns:p14="http://schemas.microsoft.com/office/powerpoint/2010/main" val="47769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用户可编程寄存器</a:t>
            </a:r>
          </a:p>
        </p:txBody>
      </p:sp>
      <p:sp>
        <p:nvSpPr>
          <p:cNvPr id="5" name="矩形 4"/>
          <p:cNvSpPr/>
          <p:nvPr/>
        </p:nvSpPr>
        <p:spPr>
          <a:xfrm>
            <a:off x="827584" y="1131590"/>
            <a:ext cx="6696744" cy="3816429"/>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地址寄存器</a:t>
            </a:r>
          </a:p>
          <a:p>
            <a:pPr marL="0" lvl="1" algn="just">
              <a:lnSpc>
                <a:spcPct val="130000"/>
              </a:lnSpc>
              <a:buClr>
                <a:schemeClr val="accent6">
                  <a:lumMod val="60000"/>
                  <a:lumOff val="40000"/>
                </a:schemeClr>
              </a:buClr>
            </a:pPr>
            <a:r>
              <a:rPr lang="zh-CN" altLang="en-US" sz="2400" b="1" dirty="0" smtClean="0">
                <a:solidFill>
                  <a:schemeClr val="bg1"/>
                </a:solidFill>
                <a:latin typeface="+mn-ea"/>
              </a:rPr>
              <a:t>  地址寄存器</a:t>
            </a:r>
            <a:r>
              <a:rPr lang="zh-CN" altLang="en-US" sz="2400" b="1" dirty="0">
                <a:solidFill>
                  <a:schemeClr val="bg1"/>
                </a:solidFill>
                <a:latin typeface="+mn-ea"/>
              </a:rPr>
              <a:t>一般用来存放内存中</a:t>
            </a:r>
            <a:r>
              <a:rPr lang="zh-CN" altLang="en-US" sz="2400" b="1" dirty="0">
                <a:solidFill>
                  <a:srgbClr val="FFFF00"/>
                </a:solidFill>
                <a:latin typeface="+mn-ea"/>
              </a:rPr>
              <a:t>某个数据或指令的地址</a:t>
            </a:r>
            <a:r>
              <a:rPr lang="zh-CN" altLang="en-US" sz="2400" b="1" dirty="0">
                <a:solidFill>
                  <a:schemeClr val="bg1"/>
                </a:solidFill>
                <a:latin typeface="+mn-ea"/>
              </a:rPr>
              <a:t>，或者存放某段数据与指令的</a:t>
            </a:r>
            <a:r>
              <a:rPr lang="zh-CN" altLang="en-US" sz="2400" b="1" dirty="0">
                <a:solidFill>
                  <a:srgbClr val="FFFF00"/>
                </a:solidFill>
                <a:latin typeface="+mn-ea"/>
              </a:rPr>
              <a:t>入口地址</a:t>
            </a:r>
            <a:r>
              <a:rPr lang="zh-CN" altLang="en-US" sz="2400" b="1" dirty="0">
                <a:solidFill>
                  <a:schemeClr val="bg1"/>
                </a:solidFill>
                <a:latin typeface="+mn-ea"/>
              </a:rPr>
              <a:t>以及被用来进行更复杂的地址计算。下面几种寄存器都可被认为是地址寄存器</a:t>
            </a:r>
            <a:r>
              <a:rPr lang="zh-CN" altLang="en-US" sz="2400" b="1" dirty="0" smtClean="0">
                <a:solidFill>
                  <a:schemeClr val="bg1"/>
                </a:solidFill>
                <a:latin typeface="+mn-ea"/>
              </a:rPr>
              <a:t>：</a:t>
            </a:r>
            <a:endParaRPr lang="en-US" altLang="zh-CN" sz="2400" b="1" dirty="0" smtClean="0">
              <a:solidFill>
                <a:schemeClr val="bg1"/>
              </a:solidFill>
              <a:latin typeface="+mn-ea"/>
            </a:endParaRPr>
          </a:p>
          <a:p>
            <a:r>
              <a:rPr lang="zh-CN" altLang="en-US" dirty="0"/>
              <a:t> </a:t>
            </a:r>
            <a:r>
              <a:rPr lang="zh-CN" altLang="en-US" dirty="0" smtClean="0"/>
              <a:t>    </a:t>
            </a:r>
            <a:r>
              <a:rPr lang="zh-CN" altLang="en-US" sz="2000" b="1" dirty="0">
                <a:solidFill>
                  <a:schemeClr val="bg1"/>
                </a:solidFill>
                <a:latin typeface="+mn-ea"/>
              </a:rPr>
              <a:t>（</a:t>
            </a:r>
            <a:r>
              <a:rPr lang="en-US" altLang="zh-CN" sz="2000" b="1" dirty="0">
                <a:solidFill>
                  <a:schemeClr val="bg1"/>
                </a:solidFill>
                <a:latin typeface="+mn-ea"/>
              </a:rPr>
              <a:t>1</a:t>
            </a:r>
            <a:r>
              <a:rPr lang="zh-CN" altLang="en-US" sz="2000" b="1" dirty="0">
                <a:solidFill>
                  <a:schemeClr val="bg1"/>
                </a:solidFill>
                <a:latin typeface="+mn-ea"/>
              </a:rPr>
              <a:t>）地址标识位寄存器</a:t>
            </a:r>
            <a:r>
              <a:rPr lang="zh-CN" altLang="en-US" sz="2000" b="1" dirty="0" smtClean="0">
                <a:solidFill>
                  <a:schemeClr val="bg1"/>
                </a:solidFill>
                <a:latin typeface="+mn-ea"/>
              </a:rPr>
              <a:t>；      （</a:t>
            </a:r>
            <a:r>
              <a:rPr lang="en-US" altLang="zh-CN" sz="2000" b="1" dirty="0" smtClean="0">
                <a:solidFill>
                  <a:schemeClr val="bg1"/>
                </a:solidFill>
                <a:latin typeface="+mn-ea"/>
              </a:rPr>
              <a:t>2</a:t>
            </a:r>
            <a:r>
              <a:rPr lang="zh-CN" altLang="en-US" sz="2000" b="1" dirty="0" smtClean="0">
                <a:solidFill>
                  <a:schemeClr val="bg1"/>
                </a:solidFill>
                <a:latin typeface="+mn-ea"/>
              </a:rPr>
              <a:t>）堆栈</a:t>
            </a:r>
            <a:r>
              <a:rPr lang="zh-CN" altLang="en-US" sz="2000" b="1" dirty="0">
                <a:solidFill>
                  <a:schemeClr val="bg1"/>
                </a:solidFill>
                <a:latin typeface="+mn-ea"/>
              </a:rPr>
              <a:t>指针； </a:t>
            </a:r>
            <a:endParaRPr lang="en-US" altLang="zh-CN" sz="2000" b="1" dirty="0" smtClean="0">
              <a:solidFill>
                <a:schemeClr val="bg1"/>
              </a:solidFill>
              <a:latin typeface="+mn-ea"/>
            </a:endParaRPr>
          </a:p>
          <a:p>
            <a:r>
              <a:rPr lang="en-US" altLang="zh-CN" sz="2000" b="1" dirty="0">
                <a:solidFill>
                  <a:schemeClr val="bg1"/>
                </a:solidFill>
                <a:latin typeface="+mn-ea"/>
              </a:rPr>
              <a:t> </a:t>
            </a:r>
            <a:r>
              <a:rPr lang="en-US" altLang="zh-CN" sz="2000" b="1" dirty="0" smtClean="0">
                <a:solidFill>
                  <a:schemeClr val="bg1"/>
                </a:solidFill>
                <a:latin typeface="+mn-ea"/>
              </a:rPr>
              <a:t> </a:t>
            </a:r>
            <a:r>
              <a:rPr lang="zh-CN" altLang="en-US" sz="2000" b="1" dirty="0" smtClean="0">
                <a:solidFill>
                  <a:schemeClr val="bg1"/>
                </a:solidFill>
                <a:latin typeface="+mn-ea"/>
              </a:rPr>
              <a:t>（</a:t>
            </a:r>
            <a:r>
              <a:rPr lang="en-US" altLang="zh-CN" sz="2000" b="1" dirty="0" smtClean="0">
                <a:solidFill>
                  <a:schemeClr val="bg1"/>
                </a:solidFill>
                <a:latin typeface="+mn-ea"/>
              </a:rPr>
              <a:t>3</a:t>
            </a:r>
            <a:r>
              <a:rPr lang="zh-CN" altLang="en-US" sz="2000" b="1" dirty="0" smtClean="0">
                <a:solidFill>
                  <a:schemeClr val="bg1"/>
                </a:solidFill>
                <a:latin typeface="+mn-ea"/>
              </a:rPr>
              <a:t>）内存</a:t>
            </a:r>
            <a:r>
              <a:rPr lang="zh-CN" altLang="en-US" sz="2000" b="1" dirty="0">
                <a:solidFill>
                  <a:schemeClr val="bg1"/>
                </a:solidFill>
                <a:latin typeface="+mn-ea"/>
              </a:rPr>
              <a:t>管理用各种始地址寄存器；</a:t>
            </a:r>
          </a:p>
          <a:p>
            <a:r>
              <a:rPr lang="zh-CN" altLang="en-US" sz="2000" b="1" dirty="0" smtClean="0">
                <a:solidFill>
                  <a:schemeClr val="bg1"/>
                </a:solidFill>
                <a:latin typeface="+mn-ea"/>
              </a:rPr>
              <a:t>  （</a:t>
            </a:r>
            <a:r>
              <a:rPr lang="en-US" altLang="zh-CN" sz="2000" b="1" dirty="0">
                <a:solidFill>
                  <a:schemeClr val="bg1"/>
                </a:solidFill>
                <a:latin typeface="+mn-ea"/>
              </a:rPr>
              <a:t>4</a:t>
            </a:r>
            <a:r>
              <a:rPr lang="zh-CN" altLang="en-US" sz="2000" b="1" dirty="0" smtClean="0">
                <a:solidFill>
                  <a:schemeClr val="bg1"/>
                </a:solidFill>
                <a:latin typeface="+mn-ea"/>
              </a:rPr>
              <a:t>）设备地址</a:t>
            </a:r>
            <a:r>
              <a:rPr lang="zh-CN" altLang="en-US" sz="2000" b="1" dirty="0">
                <a:solidFill>
                  <a:schemeClr val="bg1"/>
                </a:solidFill>
                <a:latin typeface="+mn-ea"/>
              </a:rPr>
              <a:t>寄存器等。</a:t>
            </a:r>
          </a:p>
          <a:p>
            <a:pPr marL="0" lvl="1" algn="just">
              <a:lnSpc>
                <a:spcPct val="130000"/>
              </a:lnSpc>
              <a:buClr>
                <a:schemeClr val="accent6">
                  <a:lumMod val="60000"/>
                  <a:lumOff val="40000"/>
                </a:schemeClr>
              </a:buClr>
            </a:pPr>
            <a:endParaRPr lang="zh-CN" altLang="en-US" sz="2000" b="1" dirty="0">
              <a:solidFill>
                <a:schemeClr val="bg1"/>
              </a:solidFill>
              <a:latin typeface="+mn-ea"/>
            </a:endParaRPr>
          </a:p>
        </p:txBody>
      </p:sp>
    </p:spTree>
    <p:extLst>
      <p:ext uri="{BB962C8B-B14F-4D97-AF65-F5344CB8AC3E}">
        <p14:creationId xmlns:p14="http://schemas.microsoft.com/office/powerpoint/2010/main" val="114694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用户可编程寄存器</a:t>
            </a:r>
          </a:p>
        </p:txBody>
      </p:sp>
      <p:sp>
        <p:nvSpPr>
          <p:cNvPr id="5" name="矩形 4"/>
          <p:cNvSpPr/>
          <p:nvPr/>
        </p:nvSpPr>
        <p:spPr>
          <a:xfrm>
            <a:off x="827584" y="1131590"/>
            <a:ext cx="6696744" cy="3453253"/>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条件码寄存器</a:t>
            </a:r>
            <a:endParaRPr lang="zh-CN" altLang="en-US" sz="2400" b="1" dirty="0">
              <a:solidFill>
                <a:srgbClr val="FFFF00"/>
              </a:solidFill>
              <a:latin typeface="+mn-ea"/>
            </a:endParaRPr>
          </a:p>
          <a:p>
            <a:pPr marL="0" lvl="1" algn="just">
              <a:lnSpc>
                <a:spcPct val="130000"/>
              </a:lnSpc>
              <a:buClr>
                <a:schemeClr val="accent6">
                  <a:lumMod val="60000"/>
                  <a:lumOff val="40000"/>
                </a:schemeClr>
              </a:buClr>
            </a:pPr>
            <a:r>
              <a:rPr lang="zh-CN" altLang="en-US" sz="2400" b="1" dirty="0" smtClean="0">
                <a:solidFill>
                  <a:schemeClr val="bg1"/>
                </a:solidFill>
                <a:latin typeface="+mn-ea"/>
              </a:rPr>
              <a:t>  条件码</a:t>
            </a:r>
            <a:r>
              <a:rPr lang="zh-CN" altLang="en-US" sz="2400" b="1" dirty="0">
                <a:solidFill>
                  <a:schemeClr val="bg1"/>
                </a:solidFill>
                <a:latin typeface="+mn-ea"/>
              </a:rPr>
              <a:t>寄存器也称标志</a:t>
            </a:r>
            <a:r>
              <a:rPr lang="zh-CN" altLang="en-US" sz="2400" b="1" dirty="0" smtClean="0">
                <a:solidFill>
                  <a:schemeClr val="bg1"/>
                </a:solidFill>
                <a:latin typeface="+mn-ea"/>
              </a:rPr>
              <a:t>寄存器，存储</a:t>
            </a:r>
            <a:r>
              <a:rPr lang="zh-CN" altLang="en-US" sz="2400" b="1" dirty="0" smtClean="0">
                <a:solidFill>
                  <a:srgbClr val="FFFF00"/>
                </a:solidFill>
                <a:latin typeface="+mn-ea"/>
              </a:rPr>
              <a:t>指令执行结果的各种状态信息</a:t>
            </a:r>
            <a:r>
              <a:rPr lang="zh-CN" altLang="en-US" sz="2400" b="1" dirty="0" smtClean="0">
                <a:solidFill>
                  <a:schemeClr val="bg1"/>
                </a:solidFill>
                <a:latin typeface="+mn-ea"/>
              </a:rPr>
              <a:t>（条件名）。例如：有无进位，有无溢出、结果正负；也可以存放一些</a:t>
            </a:r>
            <a:r>
              <a:rPr lang="zh-CN" altLang="en-US" sz="2400" b="1" dirty="0" smtClean="0">
                <a:solidFill>
                  <a:srgbClr val="FFFF00"/>
                </a:solidFill>
                <a:latin typeface="+mn-ea"/>
              </a:rPr>
              <a:t>控制信息</a:t>
            </a:r>
            <a:r>
              <a:rPr lang="zh-CN" altLang="en-US" sz="2400" b="1" dirty="0" smtClean="0">
                <a:solidFill>
                  <a:schemeClr val="bg1"/>
                </a:solidFill>
                <a:latin typeface="+mn-ea"/>
              </a:rPr>
              <a:t>，例如：是否允许中断，跟踪标志。</a:t>
            </a:r>
            <a:endParaRPr lang="en-US" altLang="zh-CN" sz="2400" b="1" dirty="0" smtClean="0">
              <a:solidFill>
                <a:schemeClr val="bg1"/>
              </a:solidFill>
              <a:latin typeface="+mn-ea"/>
            </a:endParaRPr>
          </a:p>
          <a:p>
            <a:pPr marL="0" lvl="1" algn="just">
              <a:lnSpc>
                <a:spcPct val="130000"/>
              </a:lnSpc>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chemeClr val="bg1"/>
                </a:solidFill>
                <a:latin typeface="+mn-ea"/>
              </a:rPr>
              <a:t>条件码</a:t>
            </a:r>
            <a:r>
              <a:rPr lang="zh-CN" altLang="en-US" sz="2400" b="1" dirty="0">
                <a:solidFill>
                  <a:schemeClr val="bg1"/>
                </a:solidFill>
                <a:latin typeface="+mn-ea"/>
              </a:rPr>
              <a:t>寄存器的比特位由处理机硬件设置。</a:t>
            </a:r>
          </a:p>
          <a:p>
            <a:pPr marL="0" lvl="1" algn="just">
              <a:lnSpc>
                <a:spcPct val="130000"/>
              </a:lnSpc>
              <a:buClr>
                <a:schemeClr val="accent6">
                  <a:lumMod val="60000"/>
                  <a:lumOff val="40000"/>
                </a:schemeClr>
              </a:buClr>
            </a:pPr>
            <a:endParaRPr lang="zh-CN" altLang="en-US" sz="2400" b="1" dirty="0">
              <a:solidFill>
                <a:schemeClr val="bg1"/>
              </a:solidFill>
              <a:latin typeface="+mn-ea"/>
            </a:endParaRPr>
          </a:p>
        </p:txBody>
      </p:sp>
    </p:spTree>
    <p:extLst>
      <p:ext uri="{BB962C8B-B14F-4D97-AF65-F5344CB8AC3E}">
        <p14:creationId xmlns:p14="http://schemas.microsoft.com/office/powerpoint/2010/main" val="270128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与操作系统相关的几种主要寄存器</a:t>
            </a:r>
          </a:p>
        </p:txBody>
      </p:sp>
      <p:sp>
        <p:nvSpPr>
          <p:cNvPr id="8" name="任意多边形 7"/>
          <p:cNvSpPr/>
          <p:nvPr/>
        </p:nvSpPr>
        <p:spPr>
          <a:xfrm>
            <a:off x="827584" y="1072267"/>
            <a:ext cx="2905562" cy="482107"/>
          </a:xfrm>
          <a:custGeom>
            <a:avLst/>
            <a:gdLst>
              <a:gd name="connsiteX0" fmla="*/ 0 w 2905562"/>
              <a:gd name="connsiteY0" fmla="*/ 53826 h 538262"/>
              <a:gd name="connsiteX1" fmla="*/ 53826 w 2905562"/>
              <a:gd name="connsiteY1" fmla="*/ 0 h 538262"/>
              <a:gd name="connsiteX2" fmla="*/ 2851736 w 2905562"/>
              <a:gd name="connsiteY2" fmla="*/ 0 h 538262"/>
              <a:gd name="connsiteX3" fmla="*/ 2905562 w 2905562"/>
              <a:gd name="connsiteY3" fmla="*/ 53826 h 538262"/>
              <a:gd name="connsiteX4" fmla="*/ 2905562 w 2905562"/>
              <a:gd name="connsiteY4" fmla="*/ 484436 h 538262"/>
              <a:gd name="connsiteX5" fmla="*/ 2851736 w 2905562"/>
              <a:gd name="connsiteY5" fmla="*/ 538262 h 538262"/>
              <a:gd name="connsiteX6" fmla="*/ 53826 w 2905562"/>
              <a:gd name="connsiteY6" fmla="*/ 538262 h 538262"/>
              <a:gd name="connsiteX7" fmla="*/ 0 w 2905562"/>
              <a:gd name="connsiteY7" fmla="*/ 484436 h 538262"/>
              <a:gd name="connsiteX8" fmla="*/ 0 w 2905562"/>
              <a:gd name="connsiteY8" fmla="*/ 53826 h 5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562" h="538262">
                <a:moveTo>
                  <a:pt x="0" y="53826"/>
                </a:moveTo>
                <a:cubicBezTo>
                  <a:pt x="0" y="24099"/>
                  <a:pt x="24099" y="0"/>
                  <a:pt x="53826" y="0"/>
                </a:cubicBezTo>
                <a:lnTo>
                  <a:pt x="2851736" y="0"/>
                </a:lnTo>
                <a:cubicBezTo>
                  <a:pt x="2881463" y="0"/>
                  <a:pt x="2905562" y="24099"/>
                  <a:pt x="2905562" y="53826"/>
                </a:cubicBezTo>
                <a:lnTo>
                  <a:pt x="2905562" y="484436"/>
                </a:lnTo>
                <a:cubicBezTo>
                  <a:pt x="2905562" y="514163"/>
                  <a:pt x="2881463" y="538262"/>
                  <a:pt x="2851736" y="538262"/>
                </a:cubicBezTo>
                <a:lnTo>
                  <a:pt x="53826" y="538262"/>
                </a:lnTo>
                <a:cubicBezTo>
                  <a:pt x="24099" y="538262"/>
                  <a:pt x="0" y="514163"/>
                  <a:pt x="0" y="484436"/>
                </a:cubicBezTo>
                <a:lnTo>
                  <a:pt x="0" y="53826"/>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61485" tIns="46245" rIns="61485" bIns="46245" numCol="1" spcCol="1270" anchor="ctr" anchorCtr="0">
            <a:noAutofit/>
          </a:bodyPr>
          <a:lstStyle/>
          <a:p>
            <a:pPr lvl="0" algn="ctr" defTabSz="1066800">
              <a:lnSpc>
                <a:spcPct val="90000"/>
              </a:lnSpc>
              <a:spcBef>
                <a:spcPct val="0"/>
              </a:spcBef>
              <a:spcAft>
                <a:spcPct val="35000"/>
              </a:spcAft>
            </a:pPr>
            <a:r>
              <a:rPr lang="zh-CN" altLang="en-US" sz="2400" b="1" kern="1200" dirty="0" smtClean="0"/>
              <a:t>用户可编程寄存器</a:t>
            </a:r>
            <a:endParaRPr lang="zh-CN" altLang="en-US" sz="2400" b="1" kern="1200" dirty="0"/>
          </a:p>
        </p:txBody>
      </p:sp>
      <p:sp>
        <p:nvSpPr>
          <p:cNvPr id="10" name="任意多边形 9"/>
          <p:cNvSpPr/>
          <p:nvPr/>
        </p:nvSpPr>
        <p:spPr>
          <a:xfrm>
            <a:off x="1925080" y="1813285"/>
            <a:ext cx="1642430" cy="544428"/>
          </a:xfrm>
          <a:custGeom>
            <a:avLst/>
            <a:gdLst>
              <a:gd name="connsiteX0" fmla="*/ 0 w 1642430"/>
              <a:gd name="connsiteY0" fmla="*/ 54443 h 544428"/>
              <a:gd name="connsiteX1" fmla="*/ 54443 w 1642430"/>
              <a:gd name="connsiteY1" fmla="*/ 0 h 544428"/>
              <a:gd name="connsiteX2" fmla="*/ 1587987 w 1642430"/>
              <a:gd name="connsiteY2" fmla="*/ 0 h 544428"/>
              <a:gd name="connsiteX3" fmla="*/ 1642430 w 1642430"/>
              <a:gd name="connsiteY3" fmla="*/ 54443 h 544428"/>
              <a:gd name="connsiteX4" fmla="*/ 1642430 w 1642430"/>
              <a:gd name="connsiteY4" fmla="*/ 489985 h 544428"/>
              <a:gd name="connsiteX5" fmla="*/ 1587987 w 1642430"/>
              <a:gd name="connsiteY5" fmla="*/ 544428 h 544428"/>
              <a:gd name="connsiteX6" fmla="*/ 54443 w 1642430"/>
              <a:gd name="connsiteY6" fmla="*/ 544428 h 544428"/>
              <a:gd name="connsiteX7" fmla="*/ 0 w 1642430"/>
              <a:gd name="connsiteY7" fmla="*/ 489985 h 544428"/>
              <a:gd name="connsiteX8" fmla="*/ 0 w 1642430"/>
              <a:gd name="connsiteY8" fmla="*/ 54443 h 54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2430" h="544428">
                <a:moveTo>
                  <a:pt x="0" y="54443"/>
                </a:moveTo>
                <a:cubicBezTo>
                  <a:pt x="0" y="24375"/>
                  <a:pt x="24375" y="0"/>
                  <a:pt x="54443" y="0"/>
                </a:cubicBezTo>
                <a:lnTo>
                  <a:pt x="1587987" y="0"/>
                </a:lnTo>
                <a:cubicBezTo>
                  <a:pt x="1618055" y="0"/>
                  <a:pt x="1642430" y="24375"/>
                  <a:pt x="1642430" y="54443"/>
                </a:cubicBezTo>
                <a:lnTo>
                  <a:pt x="1642430" y="489985"/>
                </a:lnTo>
                <a:cubicBezTo>
                  <a:pt x="1642430" y="520053"/>
                  <a:pt x="1618055" y="544428"/>
                  <a:pt x="1587987" y="544428"/>
                </a:cubicBezTo>
                <a:lnTo>
                  <a:pt x="54443" y="544428"/>
                </a:lnTo>
                <a:cubicBezTo>
                  <a:pt x="24375" y="544428"/>
                  <a:pt x="0" y="520053"/>
                  <a:pt x="0" y="489985"/>
                </a:cubicBezTo>
                <a:lnTo>
                  <a:pt x="0" y="54443"/>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4046" tIns="41346" rIns="54046" bIns="41346" numCol="1" spcCol="1270" anchor="ctr" anchorCtr="0">
            <a:noAutofit/>
          </a:bodyPr>
          <a:lstStyle/>
          <a:p>
            <a:pPr lvl="0" algn="ctr" defTabSz="889000">
              <a:lnSpc>
                <a:spcPct val="90000"/>
              </a:lnSpc>
              <a:spcBef>
                <a:spcPct val="0"/>
              </a:spcBef>
              <a:spcAft>
                <a:spcPct val="35000"/>
              </a:spcAft>
            </a:pPr>
            <a:r>
              <a:rPr lang="zh-CN" altLang="en-US" sz="2000" b="1" kern="1200" dirty="0" smtClean="0"/>
              <a:t>数据寄存器</a:t>
            </a:r>
            <a:endParaRPr lang="zh-CN" altLang="en-US" sz="2000" b="1" kern="1200" dirty="0"/>
          </a:p>
        </p:txBody>
      </p:sp>
      <p:sp>
        <p:nvSpPr>
          <p:cNvPr id="12" name="任意多边形 11"/>
          <p:cNvSpPr/>
          <p:nvPr/>
        </p:nvSpPr>
        <p:spPr>
          <a:xfrm>
            <a:off x="1900149" y="2509563"/>
            <a:ext cx="1692274" cy="511784"/>
          </a:xfrm>
          <a:custGeom>
            <a:avLst/>
            <a:gdLst>
              <a:gd name="connsiteX0" fmla="*/ 0 w 1692274"/>
              <a:gd name="connsiteY0" fmla="*/ 51178 h 511784"/>
              <a:gd name="connsiteX1" fmla="*/ 51178 w 1692274"/>
              <a:gd name="connsiteY1" fmla="*/ 0 h 511784"/>
              <a:gd name="connsiteX2" fmla="*/ 1641096 w 1692274"/>
              <a:gd name="connsiteY2" fmla="*/ 0 h 511784"/>
              <a:gd name="connsiteX3" fmla="*/ 1692274 w 1692274"/>
              <a:gd name="connsiteY3" fmla="*/ 51178 h 511784"/>
              <a:gd name="connsiteX4" fmla="*/ 1692274 w 1692274"/>
              <a:gd name="connsiteY4" fmla="*/ 460606 h 511784"/>
              <a:gd name="connsiteX5" fmla="*/ 1641096 w 1692274"/>
              <a:gd name="connsiteY5" fmla="*/ 511784 h 511784"/>
              <a:gd name="connsiteX6" fmla="*/ 51178 w 1692274"/>
              <a:gd name="connsiteY6" fmla="*/ 511784 h 511784"/>
              <a:gd name="connsiteX7" fmla="*/ 0 w 1692274"/>
              <a:gd name="connsiteY7" fmla="*/ 460606 h 511784"/>
              <a:gd name="connsiteX8" fmla="*/ 0 w 1692274"/>
              <a:gd name="connsiteY8" fmla="*/ 51178 h 51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2274" h="511784">
                <a:moveTo>
                  <a:pt x="0" y="51178"/>
                </a:moveTo>
                <a:cubicBezTo>
                  <a:pt x="0" y="22913"/>
                  <a:pt x="22913" y="0"/>
                  <a:pt x="51178" y="0"/>
                </a:cubicBezTo>
                <a:lnTo>
                  <a:pt x="1641096" y="0"/>
                </a:lnTo>
                <a:cubicBezTo>
                  <a:pt x="1669361" y="0"/>
                  <a:pt x="1692274" y="22913"/>
                  <a:pt x="1692274" y="51178"/>
                </a:cubicBezTo>
                <a:lnTo>
                  <a:pt x="1692274" y="460606"/>
                </a:lnTo>
                <a:cubicBezTo>
                  <a:pt x="1692274" y="488871"/>
                  <a:pt x="1669361" y="511784"/>
                  <a:pt x="1641096" y="511784"/>
                </a:cubicBezTo>
                <a:lnTo>
                  <a:pt x="51178" y="511784"/>
                </a:lnTo>
                <a:cubicBezTo>
                  <a:pt x="22913" y="511784"/>
                  <a:pt x="0" y="488871"/>
                  <a:pt x="0" y="460606"/>
                </a:cubicBezTo>
                <a:lnTo>
                  <a:pt x="0" y="51178"/>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3090" tIns="40390" rIns="53090" bIns="40390" numCol="1" spcCol="1270" anchor="ctr" anchorCtr="0">
            <a:noAutofit/>
          </a:bodyPr>
          <a:lstStyle/>
          <a:p>
            <a:pPr lvl="0" algn="ctr" defTabSz="889000">
              <a:lnSpc>
                <a:spcPct val="90000"/>
              </a:lnSpc>
              <a:spcBef>
                <a:spcPct val="0"/>
              </a:spcBef>
              <a:spcAft>
                <a:spcPct val="35000"/>
              </a:spcAft>
            </a:pPr>
            <a:r>
              <a:rPr lang="zh-CN" altLang="en-US" sz="2000" b="1" kern="1200" dirty="0" smtClean="0"/>
              <a:t>地址寄存器</a:t>
            </a:r>
            <a:endParaRPr lang="en-US" altLang="zh-CN" sz="2000" b="1" kern="1200" dirty="0" smtClean="0"/>
          </a:p>
        </p:txBody>
      </p:sp>
      <p:grpSp>
        <p:nvGrpSpPr>
          <p:cNvPr id="48" name="组合 47"/>
          <p:cNvGrpSpPr/>
          <p:nvPr/>
        </p:nvGrpSpPr>
        <p:grpSpPr>
          <a:xfrm>
            <a:off x="1118140" y="1610529"/>
            <a:ext cx="806939" cy="1947016"/>
            <a:chOff x="1287272" y="1610529"/>
            <a:chExt cx="806939" cy="1947016"/>
          </a:xfrm>
        </p:grpSpPr>
        <p:sp>
          <p:nvSpPr>
            <p:cNvPr id="11" name="任意多边形 10"/>
            <p:cNvSpPr/>
            <p:nvPr/>
          </p:nvSpPr>
          <p:spPr>
            <a:xfrm>
              <a:off x="1287272" y="1610529"/>
              <a:ext cx="782008" cy="1154926"/>
            </a:xfrm>
            <a:custGeom>
              <a:avLst/>
              <a:gdLst/>
              <a:ahLst/>
              <a:cxnLst/>
              <a:rect l="0" t="0" r="0" b="0"/>
              <a:pathLst>
                <a:path>
                  <a:moveTo>
                    <a:pt x="0" y="0"/>
                  </a:moveTo>
                  <a:lnTo>
                    <a:pt x="0" y="1154926"/>
                  </a:lnTo>
                  <a:lnTo>
                    <a:pt x="782008" y="1154926"/>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grpSp>
          <p:nvGrpSpPr>
            <p:cNvPr id="47" name="组合 46"/>
            <p:cNvGrpSpPr/>
            <p:nvPr/>
          </p:nvGrpSpPr>
          <p:grpSpPr>
            <a:xfrm>
              <a:off x="1287272" y="1610529"/>
              <a:ext cx="806939" cy="1947016"/>
              <a:chOff x="1287272" y="1610529"/>
              <a:chExt cx="806939" cy="1947016"/>
            </a:xfrm>
          </p:grpSpPr>
          <p:sp>
            <p:nvSpPr>
              <p:cNvPr id="9" name="任意多边形 8"/>
              <p:cNvSpPr/>
              <p:nvPr/>
            </p:nvSpPr>
            <p:spPr>
              <a:xfrm>
                <a:off x="1287272" y="1610529"/>
                <a:ext cx="806939" cy="474969"/>
              </a:xfrm>
              <a:custGeom>
                <a:avLst/>
                <a:gdLst/>
                <a:ahLst/>
                <a:cxnLst/>
                <a:rect l="0" t="0" r="0" b="0"/>
                <a:pathLst>
                  <a:path>
                    <a:moveTo>
                      <a:pt x="0" y="0"/>
                    </a:moveTo>
                    <a:lnTo>
                      <a:pt x="0" y="474969"/>
                    </a:lnTo>
                    <a:lnTo>
                      <a:pt x="806939" y="474969"/>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3" name="任意多边形 12"/>
              <p:cNvSpPr/>
              <p:nvPr/>
            </p:nvSpPr>
            <p:spPr>
              <a:xfrm>
                <a:off x="1287272" y="1610529"/>
                <a:ext cx="782008" cy="1947016"/>
              </a:xfrm>
              <a:custGeom>
                <a:avLst/>
                <a:gdLst/>
                <a:ahLst/>
                <a:cxnLst/>
                <a:rect l="0" t="0" r="0" b="0"/>
                <a:pathLst>
                  <a:path>
                    <a:moveTo>
                      <a:pt x="0" y="0"/>
                    </a:moveTo>
                    <a:lnTo>
                      <a:pt x="0" y="1947016"/>
                    </a:lnTo>
                    <a:lnTo>
                      <a:pt x="782008" y="1947016"/>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grpSp>
      </p:grpSp>
      <p:sp>
        <p:nvSpPr>
          <p:cNvPr id="14" name="任意多边形 13"/>
          <p:cNvSpPr/>
          <p:nvPr/>
        </p:nvSpPr>
        <p:spPr>
          <a:xfrm>
            <a:off x="1900149" y="3229648"/>
            <a:ext cx="1858554" cy="655795"/>
          </a:xfrm>
          <a:custGeom>
            <a:avLst/>
            <a:gdLst>
              <a:gd name="connsiteX0" fmla="*/ 0 w 1858554"/>
              <a:gd name="connsiteY0" fmla="*/ 65580 h 655795"/>
              <a:gd name="connsiteX1" fmla="*/ 65580 w 1858554"/>
              <a:gd name="connsiteY1" fmla="*/ 0 h 655795"/>
              <a:gd name="connsiteX2" fmla="*/ 1792975 w 1858554"/>
              <a:gd name="connsiteY2" fmla="*/ 0 h 655795"/>
              <a:gd name="connsiteX3" fmla="*/ 1858555 w 1858554"/>
              <a:gd name="connsiteY3" fmla="*/ 65580 h 655795"/>
              <a:gd name="connsiteX4" fmla="*/ 1858554 w 1858554"/>
              <a:gd name="connsiteY4" fmla="*/ 590216 h 655795"/>
              <a:gd name="connsiteX5" fmla="*/ 1792974 w 1858554"/>
              <a:gd name="connsiteY5" fmla="*/ 655796 h 655795"/>
              <a:gd name="connsiteX6" fmla="*/ 65580 w 1858554"/>
              <a:gd name="connsiteY6" fmla="*/ 655795 h 655795"/>
              <a:gd name="connsiteX7" fmla="*/ 0 w 1858554"/>
              <a:gd name="connsiteY7" fmla="*/ 590215 h 655795"/>
              <a:gd name="connsiteX8" fmla="*/ 0 w 1858554"/>
              <a:gd name="connsiteY8" fmla="*/ 65580 h 65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554" h="655795">
                <a:moveTo>
                  <a:pt x="0" y="65580"/>
                </a:moveTo>
                <a:cubicBezTo>
                  <a:pt x="0" y="29361"/>
                  <a:pt x="29361" y="0"/>
                  <a:pt x="65580" y="0"/>
                </a:cubicBezTo>
                <a:lnTo>
                  <a:pt x="1792975" y="0"/>
                </a:lnTo>
                <a:cubicBezTo>
                  <a:pt x="1829194" y="0"/>
                  <a:pt x="1858555" y="29361"/>
                  <a:pt x="1858555" y="65580"/>
                </a:cubicBezTo>
                <a:cubicBezTo>
                  <a:pt x="1858555" y="240459"/>
                  <a:pt x="1858554" y="415337"/>
                  <a:pt x="1858554" y="590216"/>
                </a:cubicBezTo>
                <a:cubicBezTo>
                  <a:pt x="1858554" y="626435"/>
                  <a:pt x="1829193" y="655796"/>
                  <a:pt x="1792974" y="655796"/>
                </a:cubicBezTo>
                <a:lnTo>
                  <a:pt x="65580" y="655795"/>
                </a:lnTo>
                <a:cubicBezTo>
                  <a:pt x="29361" y="655795"/>
                  <a:pt x="0" y="626434"/>
                  <a:pt x="0" y="590215"/>
                </a:cubicBezTo>
                <a:lnTo>
                  <a:pt x="0" y="65580"/>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7308" tIns="44608" rIns="57308" bIns="44608" numCol="1" spcCol="1270" anchor="ctr" anchorCtr="0">
            <a:noAutofit/>
          </a:bodyPr>
          <a:lstStyle/>
          <a:p>
            <a:pPr lvl="0" algn="ctr" defTabSz="889000">
              <a:lnSpc>
                <a:spcPct val="90000"/>
              </a:lnSpc>
              <a:spcBef>
                <a:spcPct val="0"/>
              </a:spcBef>
              <a:spcAft>
                <a:spcPct val="35000"/>
              </a:spcAft>
            </a:pPr>
            <a:r>
              <a:rPr lang="zh-CN" altLang="en-US" sz="2000" b="1" kern="1200" dirty="0" smtClean="0"/>
              <a:t>条件码寄存器</a:t>
            </a:r>
            <a:endParaRPr lang="en-US" altLang="zh-CN" sz="2000" b="1" kern="1200" dirty="0" smtClean="0"/>
          </a:p>
        </p:txBody>
      </p:sp>
      <p:sp>
        <p:nvSpPr>
          <p:cNvPr id="37" name="任意多边形 36"/>
          <p:cNvSpPr/>
          <p:nvPr/>
        </p:nvSpPr>
        <p:spPr>
          <a:xfrm>
            <a:off x="5341253" y="1691440"/>
            <a:ext cx="2240906" cy="443774"/>
          </a:xfrm>
          <a:custGeom>
            <a:avLst/>
            <a:gdLst>
              <a:gd name="connsiteX0" fmla="*/ 0 w 2240906"/>
              <a:gd name="connsiteY0" fmla="*/ 44377 h 443774"/>
              <a:gd name="connsiteX1" fmla="*/ 44377 w 2240906"/>
              <a:gd name="connsiteY1" fmla="*/ 0 h 443774"/>
              <a:gd name="connsiteX2" fmla="*/ 2196529 w 2240906"/>
              <a:gd name="connsiteY2" fmla="*/ 0 h 443774"/>
              <a:gd name="connsiteX3" fmla="*/ 2240906 w 2240906"/>
              <a:gd name="connsiteY3" fmla="*/ 44377 h 443774"/>
              <a:gd name="connsiteX4" fmla="*/ 2240906 w 2240906"/>
              <a:gd name="connsiteY4" fmla="*/ 399397 h 443774"/>
              <a:gd name="connsiteX5" fmla="*/ 2196529 w 2240906"/>
              <a:gd name="connsiteY5" fmla="*/ 443774 h 443774"/>
              <a:gd name="connsiteX6" fmla="*/ 44377 w 2240906"/>
              <a:gd name="connsiteY6" fmla="*/ 443774 h 443774"/>
              <a:gd name="connsiteX7" fmla="*/ 0 w 2240906"/>
              <a:gd name="connsiteY7" fmla="*/ 399397 h 443774"/>
              <a:gd name="connsiteX8" fmla="*/ 0 w 2240906"/>
              <a:gd name="connsiteY8" fmla="*/ 44377 h 443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906" h="443774">
                <a:moveTo>
                  <a:pt x="0" y="44377"/>
                </a:moveTo>
                <a:cubicBezTo>
                  <a:pt x="0" y="19868"/>
                  <a:pt x="19868" y="0"/>
                  <a:pt x="44377" y="0"/>
                </a:cubicBezTo>
                <a:lnTo>
                  <a:pt x="2196529" y="0"/>
                </a:lnTo>
                <a:cubicBezTo>
                  <a:pt x="2221038" y="0"/>
                  <a:pt x="2240906" y="19868"/>
                  <a:pt x="2240906" y="44377"/>
                </a:cubicBezTo>
                <a:lnTo>
                  <a:pt x="2240906" y="399397"/>
                </a:lnTo>
                <a:cubicBezTo>
                  <a:pt x="2240906" y="423906"/>
                  <a:pt x="2221038" y="443774"/>
                  <a:pt x="2196529" y="443774"/>
                </a:cubicBezTo>
                <a:lnTo>
                  <a:pt x="44377" y="443774"/>
                </a:lnTo>
                <a:cubicBezTo>
                  <a:pt x="19868" y="443774"/>
                  <a:pt x="0" y="423906"/>
                  <a:pt x="0" y="399397"/>
                </a:cubicBezTo>
                <a:lnTo>
                  <a:pt x="0" y="44377"/>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098" tIns="38398" rIns="51098" bIns="38398" numCol="1" spcCol="1270" anchor="ctr" anchorCtr="0">
            <a:noAutofit/>
          </a:bodyPr>
          <a:lstStyle/>
          <a:p>
            <a:pPr lvl="0" algn="ctr" defTabSz="889000">
              <a:lnSpc>
                <a:spcPct val="90000"/>
              </a:lnSpc>
              <a:spcBef>
                <a:spcPct val="0"/>
              </a:spcBef>
              <a:spcAft>
                <a:spcPct val="35000"/>
              </a:spcAft>
            </a:pPr>
            <a:r>
              <a:rPr lang="zh-CN" altLang="en-US" sz="2000" b="1" kern="1200" dirty="0" smtClean="0"/>
              <a:t>程序计数器</a:t>
            </a:r>
            <a:endParaRPr lang="zh-CN" altLang="en-US" sz="2000" b="1" kern="1200" dirty="0"/>
          </a:p>
        </p:txBody>
      </p:sp>
      <p:sp>
        <p:nvSpPr>
          <p:cNvPr id="39" name="任意多边形 38"/>
          <p:cNvSpPr/>
          <p:nvPr/>
        </p:nvSpPr>
        <p:spPr>
          <a:xfrm>
            <a:off x="5340971" y="2308668"/>
            <a:ext cx="2272717" cy="401790"/>
          </a:xfrm>
          <a:custGeom>
            <a:avLst/>
            <a:gdLst>
              <a:gd name="connsiteX0" fmla="*/ 0 w 2272717"/>
              <a:gd name="connsiteY0" fmla="*/ 40179 h 401790"/>
              <a:gd name="connsiteX1" fmla="*/ 40179 w 2272717"/>
              <a:gd name="connsiteY1" fmla="*/ 0 h 401790"/>
              <a:gd name="connsiteX2" fmla="*/ 2232538 w 2272717"/>
              <a:gd name="connsiteY2" fmla="*/ 0 h 401790"/>
              <a:gd name="connsiteX3" fmla="*/ 2272717 w 2272717"/>
              <a:gd name="connsiteY3" fmla="*/ 40179 h 401790"/>
              <a:gd name="connsiteX4" fmla="*/ 2272717 w 2272717"/>
              <a:gd name="connsiteY4" fmla="*/ 361611 h 401790"/>
              <a:gd name="connsiteX5" fmla="*/ 2232538 w 2272717"/>
              <a:gd name="connsiteY5" fmla="*/ 401790 h 401790"/>
              <a:gd name="connsiteX6" fmla="*/ 40179 w 2272717"/>
              <a:gd name="connsiteY6" fmla="*/ 401790 h 401790"/>
              <a:gd name="connsiteX7" fmla="*/ 0 w 2272717"/>
              <a:gd name="connsiteY7" fmla="*/ 361611 h 401790"/>
              <a:gd name="connsiteX8" fmla="*/ 0 w 2272717"/>
              <a:gd name="connsiteY8" fmla="*/ 40179 h 40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2717" h="401790">
                <a:moveTo>
                  <a:pt x="0" y="40179"/>
                </a:moveTo>
                <a:cubicBezTo>
                  <a:pt x="0" y="17989"/>
                  <a:pt x="17989" y="0"/>
                  <a:pt x="40179" y="0"/>
                </a:cubicBezTo>
                <a:lnTo>
                  <a:pt x="2232538" y="0"/>
                </a:lnTo>
                <a:cubicBezTo>
                  <a:pt x="2254728" y="0"/>
                  <a:pt x="2272717" y="17989"/>
                  <a:pt x="2272717" y="40179"/>
                </a:cubicBezTo>
                <a:lnTo>
                  <a:pt x="2272717" y="361611"/>
                </a:lnTo>
                <a:cubicBezTo>
                  <a:pt x="2272717" y="383801"/>
                  <a:pt x="2254728" y="401790"/>
                  <a:pt x="2232538" y="401790"/>
                </a:cubicBezTo>
                <a:lnTo>
                  <a:pt x="40179" y="401790"/>
                </a:lnTo>
                <a:cubicBezTo>
                  <a:pt x="17989" y="401790"/>
                  <a:pt x="0" y="383801"/>
                  <a:pt x="0" y="361611"/>
                </a:cubicBezTo>
                <a:lnTo>
                  <a:pt x="0" y="40179"/>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9868" tIns="37168" rIns="49868" bIns="37168" numCol="1" spcCol="1270" anchor="ctr" anchorCtr="0">
            <a:noAutofit/>
          </a:bodyPr>
          <a:lstStyle/>
          <a:p>
            <a:pPr lvl="0" algn="ctr" defTabSz="889000">
              <a:lnSpc>
                <a:spcPct val="90000"/>
              </a:lnSpc>
              <a:spcBef>
                <a:spcPct val="0"/>
              </a:spcBef>
              <a:spcAft>
                <a:spcPct val="35000"/>
              </a:spcAft>
            </a:pPr>
            <a:r>
              <a:rPr lang="zh-CN" altLang="en-US" sz="2000" b="1" kern="1200" dirty="0" smtClean="0"/>
              <a:t>指令寄存器</a:t>
            </a:r>
            <a:endParaRPr lang="zh-CN" altLang="en-US" sz="2000" b="1" kern="1200" dirty="0"/>
          </a:p>
        </p:txBody>
      </p:sp>
      <p:sp>
        <p:nvSpPr>
          <p:cNvPr id="41" name="任意多边形 40"/>
          <p:cNvSpPr/>
          <p:nvPr/>
        </p:nvSpPr>
        <p:spPr>
          <a:xfrm>
            <a:off x="5115336" y="2910218"/>
            <a:ext cx="2481669" cy="438648"/>
          </a:xfrm>
          <a:custGeom>
            <a:avLst/>
            <a:gdLst>
              <a:gd name="connsiteX0" fmla="*/ 0 w 2481669"/>
              <a:gd name="connsiteY0" fmla="*/ 43865 h 438648"/>
              <a:gd name="connsiteX1" fmla="*/ 43865 w 2481669"/>
              <a:gd name="connsiteY1" fmla="*/ 0 h 438648"/>
              <a:gd name="connsiteX2" fmla="*/ 2437804 w 2481669"/>
              <a:gd name="connsiteY2" fmla="*/ 0 h 438648"/>
              <a:gd name="connsiteX3" fmla="*/ 2481669 w 2481669"/>
              <a:gd name="connsiteY3" fmla="*/ 43865 h 438648"/>
              <a:gd name="connsiteX4" fmla="*/ 2481669 w 2481669"/>
              <a:gd name="connsiteY4" fmla="*/ 394783 h 438648"/>
              <a:gd name="connsiteX5" fmla="*/ 2437804 w 2481669"/>
              <a:gd name="connsiteY5" fmla="*/ 438648 h 438648"/>
              <a:gd name="connsiteX6" fmla="*/ 43865 w 2481669"/>
              <a:gd name="connsiteY6" fmla="*/ 438648 h 438648"/>
              <a:gd name="connsiteX7" fmla="*/ 0 w 2481669"/>
              <a:gd name="connsiteY7" fmla="*/ 394783 h 438648"/>
              <a:gd name="connsiteX8" fmla="*/ 0 w 2481669"/>
              <a:gd name="connsiteY8" fmla="*/ 43865 h 43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669" h="438648">
                <a:moveTo>
                  <a:pt x="0" y="43865"/>
                </a:moveTo>
                <a:cubicBezTo>
                  <a:pt x="0" y="19639"/>
                  <a:pt x="19639" y="0"/>
                  <a:pt x="43865" y="0"/>
                </a:cubicBezTo>
                <a:lnTo>
                  <a:pt x="2437804" y="0"/>
                </a:lnTo>
                <a:cubicBezTo>
                  <a:pt x="2462030" y="0"/>
                  <a:pt x="2481669" y="19639"/>
                  <a:pt x="2481669" y="43865"/>
                </a:cubicBezTo>
                <a:lnTo>
                  <a:pt x="2481669" y="394783"/>
                </a:lnTo>
                <a:cubicBezTo>
                  <a:pt x="2481669" y="419009"/>
                  <a:pt x="2462030" y="438648"/>
                  <a:pt x="2437804" y="438648"/>
                </a:cubicBezTo>
                <a:lnTo>
                  <a:pt x="43865" y="438648"/>
                </a:lnTo>
                <a:cubicBezTo>
                  <a:pt x="19639" y="438648"/>
                  <a:pt x="0" y="419009"/>
                  <a:pt x="0" y="394783"/>
                </a:cubicBezTo>
                <a:lnTo>
                  <a:pt x="0" y="43865"/>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0948" tIns="38248" rIns="50948" bIns="38248" numCol="1" spcCol="1270" anchor="ctr" anchorCtr="0">
            <a:noAutofit/>
          </a:bodyPr>
          <a:lstStyle/>
          <a:p>
            <a:pPr lvl="0" algn="ctr" defTabSz="889000">
              <a:lnSpc>
                <a:spcPct val="90000"/>
              </a:lnSpc>
              <a:spcBef>
                <a:spcPct val="0"/>
              </a:spcBef>
              <a:spcAft>
                <a:spcPct val="35000"/>
              </a:spcAft>
            </a:pPr>
            <a:r>
              <a:rPr lang="zh-CN" altLang="en-US" sz="2000" b="1" kern="1200" dirty="0" smtClean="0"/>
              <a:t>程序状态字寄存器</a:t>
            </a:r>
            <a:endParaRPr lang="zh-CN" altLang="en-US" sz="2000" b="1" kern="1200" dirty="0"/>
          </a:p>
        </p:txBody>
      </p:sp>
      <p:sp>
        <p:nvSpPr>
          <p:cNvPr id="43" name="任意多边形 42"/>
          <p:cNvSpPr/>
          <p:nvPr/>
        </p:nvSpPr>
        <p:spPr>
          <a:xfrm>
            <a:off x="4967291" y="3509254"/>
            <a:ext cx="2614868" cy="438785"/>
          </a:xfrm>
          <a:custGeom>
            <a:avLst/>
            <a:gdLst>
              <a:gd name="connsiteX0" fmla="*/ 0 w 2614868"/>
              <a:gd name="connsiteY0" fmla="*/ 54625 h 546251"/>
              <a:gd name="connsiteX1" fmla="*/ 54625 w 2614868"/>
              <a:gd name="connsiteY1" fmla="*/ 0 h 546251"/>
              <a:gd name="connsiteX2" fmla="*/ 2560243 w 2614868"/>
              <a:gd name="connsiteY2" fmla="*/ 0 h 546251"/>
              <a:gd name="connsiteX3" fmla="*/ 2614868 w 2614868"/>
              <a:gd name="connsiteY3" fmla="*/ 54625 h 546251"/>
              <a:gd name="connsiteX4" fmla="*/ 2614868 w 2614868"/>
              <a:gd name="connsiteY4" fmla="*/ 491626 h 546251"/>
              <a:gd name="connsiteX5" fmla="*/ 2560243 w 2614868"/>
              <a:gd name="connsiteY5" fmla="*/ 546251 h 546251"/>
              <a:gd name="connsiteX6" fmla="*/ 54625 w 2614868"/>
              <a:gd name="connsiteY6" fmla="*/ 546251 h 546251"/>
              <a:gd name="connsiteX7" fmla="*/ 0 w 2614868"/>
              <a:gd name="connsiteY7" fmla="*/ 491626 h 546251"/>
              <a:gd name="connsiteX8" fmla="*/ 0 w 2614868"/>
              <a:gd name="connsiteY8" fmla="*/ 54625 h 54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4868" h="546251">
                <a:moveTo>
                  <a:pt x="0" y="54625"/>
                </a:moveTo>
                <a:cubicBezTo>
                  <a:pt x="0" y="24456"/>
                  <a:pt x="24456" y="0"/>
                  <a:pt x="54625" y="0"/>
                </a:cubicBezTo>
                <a:lnTo>
                  <a:pt x="2560243" y="0"/>
                </a:lnTo>
                <a:cubicBezTo>
                  <a:pt x="2590412" y="0"/>
                  <a:pt x="2614868" y="24456"/>
                  <a:pt x="2614868" y="54625"/>
                </a:cubicBezTo>
                <a:lnTo>
                  <a:pt x="2614868" y="491626"/>
                </a:lnTo>
                <a:cubicBezTo>
                  <a:pt x="2614868" y="521795"/>
                  <a:pt x="2590412" y="546251"/>
                  <a:pt x="2560243" y="546251"/>
                </a:cubicBezTo>
                <a:lnTo>
                  <a:pt x="54625" y="546251"/>
                </a:lnTo>
                <a:cubicBezTo>
                  <a:pt x="24456" y="546251"/>
                  <a:pt x="0" y="521795"/>
                  <a:pt x="0" y="491626"/>
                </a:cubicBezTo>
                <a:lnTo>
                  <a:pt x="0" y="54625"/>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4099" tIns="41399" rIns="54099" bIns="41399" numCol="1" spcCol="1270" anchor="ctr" anchorCtr="0">
            <a:noAutofit/>
          </a:bodyPr>
          <a:lstStyle/>
          <a:p>
            <a:pPr lvl="0" algn="ctr" defTabSz="889000">
              <a:lnSpc>
                <a:spcPct val="90000"/>
              </a:lnSpc>
              <a:spcBef>
                <a:spcPct val="0"/>
              </a:spcBef>
              <a:spcAft>
                <a:spcPct val="35000"/>
              </a:spcAft>
            </a:pPr>
            <a:r>
              <a:rPr lang="zh-CN" altLang="en-US" sz="2000" b="1" kern="1200" dirty="0" smtClean="0"/>
              <a:t>中断现场保护寄存器</a:t>
            </a:r>
            <a:endParaRPr lang="zh-CN" altLang="en-US" sz="2000" b="1" kern="1200" dirty="0"/>
          </a:p>
        </p:txBody>
      </p:sp>
      <p:grpSp>
        <p:nvGrpSpPr>
          <p:cNvPr id="50" name="组合 49"/>
          <p:cNvGrpSpPr/>
          <p:nvPr/>
        </p:nvGrpSpPr>
        <p:grpSpPr>
          <a:xfrm>
            <a:off x="4651229" y="1208419"/>
            <a:ext cx="789661" cy="2776605"/>
            <a:chOff x="4820361" y="1208419"/>
            <a:chExt cx="789661" cy="2776605"/>
          </a:xfrm>
        </p:grpSpPr>
        <p:sp>
          <p:nvSpPr>
            <p:cNvPr id="36" name="任意多边形 35"/>
            <p:cNvSpPr/>
            <p:nvPr/>
          </p:nvSpPr>
          <p:spPr>
            <a:xfrm>
              <a:off x="4820704" y="1451329"/>
              <a:ext cx="681582" cy="378516"/>
            </a:xfrm>
            <a:custGeom>
              <a:avLst/>
              <a:gdLst/>
              <a:ahLst/>
              <a:cxnLst/>
              <a:rect l="0" t="0" r="0" b="0"/>
              <a:pathLst>
                <a:path>
                  <a:moveTo>
                    <a:pt x="0" y="0"/>
                  </a:moveTo>
                  <a:lnTo>
                    <a:pt x="0" y="430331"/>
                  </a:lnTo>
                  <a:lnTo>
                    <a:pt x="681582" y="430331"/>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38" name="任意多边形 37"/>
            <p:cNvSpPr/>
            <p:nvPr/>
          </p:nvSpPr>
          <p:spPr>
            <a:xfrm>
              <a:off x="4825977" y="1336590"/>
              <a:ext cx="649770" cy="808784"/>
            </a:xfrm>
            <a:custGeom>
              <a:avLst/>
              <a:gdLst/>
              <a:ahLst/>
              <a:cxnLst/>
              <a:rect l="0" t="0" r="0" b="0"/>
              <a:pathLst>
                <a:path>
                  <a:moveTo>
                    <a:pt x="0" y="0"/>
                  </a:moveTo>
                  <a:lnTo>
                    <a:pt x="0" y="1139268"/>
                  </a:lnTo>
                  <a:lnTo>
                    <a:pt x="649770" y="1139268"/>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40" name="任意多边形 39"/>
            <p:cNvSpPr/>
            <p:nvPr/>
          </p:nvSpPr>
          <p:spPr>
            <a:xfrm>
              <a:off x="4820704" y="1304085"/>
              <a:ext cx="440818" cy="1563581"/>
            </a:xfrm>
            <a:custGeom>
              <a:avLst/>
              <a:gdLst/>
              <a:ahLst/>
              <a:cxnLst/>
              <a:rect l="0" t="0" r="0" b="0"/>
              <a:pathLst>
                <a:path>
                  <a:moveTo>
                    <a:pt x="0" y="0"/>
                  </a:moveTo>
                  <a:lnTo>
                    <a:pt x="0" y="1777621"/>
                  </a:lnTo>
                  <a:lnTo>
                    <a:pt x="440818" y="1777621"/>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42" name="任意多边形 41"/>
            <p:cNvSpPr/>
            <p:nvPr/>
          </p:nvSpPr>
          <p:spPr>
            <a:xfrm>
              <a:off x="4820361" y="1208419"/>
              <a:ext cx="307620" cy="2225835"/>
            </a:xfrm>
            <a:custGeom>
              <a:avLst/>
              <a:gdLst/>
              <a:ahLst/>
              <a:cxnLst/>
              <a:rect l="0" t="0" r="0" b="0"/>
              <a:pathLst>
                <a:path>
                  <a:moveTo>
                    <a:pt x="0" y="0"/>
                  </a:moveTo>
                  <a:lnTo>
                    <a:pt x="0" y="2530532"/>
                  </a:lnTo>
                  <a:lnTo>
                    <a:pt x="307620" y="2530532"/>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44" name="任意多边形 43"/>
            <p:cNvSpPr/>
            <p:nvPr/>
          </p:nvSpPr>
          <p:spPr>
            <a:xfrm>
              <a:off x="4820361" y="1208419"/>
              <a:ext cx="789661" cy="2776605"/>
            </a:xfrm>
            <a:custGeom>
              <a:avLst/>
              <a:gdLst/>
              <a:ahLst/>
              <a:cxnLst/>
              <a:rect l="0" t="0" r="0" b="0"/>
              <a:pathLst>
                <a:path>
                  <a:moveTo>
                    <a:pt x="0" y="0"/>
                  </a:moveTo>
                  <a:lnTo>
                    <a:pt x="0" y="3156697"/>
                  </a:lnTo>
                  <a:lnTo>
                    <a:pt x="789661" y="3156697"/>
                  </a:lnTo>
                </a:path>
              </a:pathLst>
            </a:custGeom>
            <a:noFill/>
            <a:ln>
              <a:solidFill>
                <a:schemeClr val="accent6">
                  <a:lumMod val="60000"/>
                  <a:lumOff val="40000"/>
                </a:schemeClr>
              </a:solidFill>
            </a:ln>
            <a:scene3d>
              <a:camera prst="orthographicFront"/>
              <a:lightRig rig="threePt" dir="t">
                <a:rot lat="0" lon="0" rev="7500000"/>
              </a:lightRig>
            </a:scene3d>
            <a:sp3d z="-40000" prstMaterial="matte"/>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grpSp>
      <p:sp>
        <p:nvSpPr>
          <p:cNvPr id="46" name="任意多边形 45"/>
          <p:cNvSpPr/>
          <p:nvPr/>
        </p:nvSpPr>
        <p:spPr>
          <a:xfrm>
            <a:off x="5239840" y="4095291"/>
            <a:ext cx="2132827" cy="445189"/>
          </a:xfrm>
          <a:custGeom>
            <a:avLst/>
            <a:gdLst>
              <a:gd name="connsiteX0" fmla="*/ 0 w 2132827"/>
              <a:gd name="connsiteY0" fmla="*/ 44519 h 445189"/>
              <a:gd name="connsiteX1" fmla="*/ 44519 w 2132827"/>
              <a:gd name="connsiteY1" fmla="*/ 0 h 445189"/>
              <a:gd name="connsiteX2" fmla="*/ 2088308 w 2132827"/>
              <a:gd name="connsiteY2" fmla="*/ 0 h 445189"/>
              <a:gd name="connsiteX3" fmla="*/ 2132827 w 2132827"/>
              <a:gd name="connsiteY3" fmla="*/ 44519 h 445189"/>
              <a:gd name="connsiteX4" fmla="*/ 2132827 w 2132827"/>
              <a:gd name="connsiteY4" fmla="*/ 400670 h 445189"/>
              <a:gd name="connsiteX5" fmla="*/ 2088308 w 2132827"/>
              <a:gd name="connsiteY5" fmla="*/ 445189 h 445189"/>
              <a:gd name="connsiteX6" fmla="*/ 44519 w 2132827"/>
              <a:gd name="connsiteY6" fmla="*/ 445189 h 445189"/>
              <a:gd name="connsiteX7" fmla="*/ 0 w 2132827"/>
              <a:gd name="connsiteY7" fmla="*/ 400670 h 445189"/>
              <a:gd name="connsiteX8" fmla="*/ 0 w 2132827"/>
              <a:gd name="connsiteY8" fmla="*/ 44519 h 44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2827" h="445189">
                <a:moveTo>
                  <a:pt x="0" y="44519"/>
                </a:moveTo>
                <a:cubicBezTo>
                  <a:pt x="0" y="19932"/>
                  <a:pt x="19932" y="0"/>
                  <a:pt x="44519" y="0"/>
                </a:cubicBezTo>
                <a:lnTo>
                  <a:pt x="2088308" y="0"/>
                </a:lnTo>
                <a:cubicBezTo>
                  <a:pt x="2112895" y="0"/>
                  <a:pt x="2132827" y="19932"/>
                  <a:pt x="2132827" y="44519"/>
                </a:cubicBezTo>
                <a:lnTo>
                  <a:pt x="2132827" y="400670"/>
                </a:lnTo>
                <a:cubicBezTo>
                  <a:pt x="2132827" y="425257"/>
                  <a:pt x="2112895" y="445189"/>
                  <a:pt x="2088308" y="445189"/>
                </a:cubicBezTo>
                <a:lnTo>
                  <a:pt x="44519" y="445189"/>
                </a:lnTo>
                <a:cubicBezTo>
                  <a:pt x="19932" y="445189"/>
                  <a:pt x="0" y="425257"/>
                  <a:pt x="0" y="400670"/>
                </a:cubicBezTo>
                <a:lnTo>
                  <a:pt x="0" y="44519"/>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39" tIns="38439" rIns="51139" bIns="38439" numCol="1" spcCol="1270" anchor="ctr" anchorCtr="0">
            <a:noAutofit/>
          </a:bodyPr>
          <a:lstStyle/>
          <a:p>
            <a:pPr lvl="0" algn="ctr" defTabSz="889000">
              <a:lnSpc>
                <a:spcPct val="90000"/>
              </a:lnSpc>
              <a:spcBef>
                <a:spcPct val="0"/>
              </a:spcBef>
              <a:spcAft>
                <a:spcPct val="35000"/>
              </a:spcAft>
            </a:pPr>
            <a:r>
              <a:rPr lang="zh-CN" altLang="en-US" sz="2000" b="1" kern="1200" dirty="0" smtClean="0"/>
              <a:t>过程调用堆栈</a:t>
            </a:r>
            <a:endParaRPr lang="zh-CN" altLang="en-US" sz="2000" b="1" kern="1200" dirty="0"/>
          </a:p>
        </p:txBody>
      </p:sp>
      <p:sp>
        <p:nvSpPr>
          <p:cNvPr id="35" name="任意多边形 34"/>
          <p:cNvSpPr/>
          <p:nvPr/>
        </p:nvSpPr>
        <p:spPr>
          <a:xfrm>
            <a:off x="4330850" y="1040364"/>
            <a:ext cx="2747814" cy="514010"/>
          </a:xfrm>
          <a:custGeom>
            <a:avLst/>
            <a:gdLst>
              <a:gd name="connsiteX0" fmla="*/ 0 w 2747814"/>
              <a:gd name="connsiteY0" fmla="*/ 61256 h 612556"/>
              <a:gd name="connsiteX1" fmla="*/ 61256 w 2747814"/>
              <a:gd name="connsiteY1" fmla="*/ 0 h 612556"/>
              <a:gd name="connsiteX2" fmla="*/ 2686558 w 2747814"/>
              <a:gd name="connsiteY2" fmla="*/ 0 h 612556"/>
              <a:gd name="connsiteX3" fmla="*/ 2747814 w 2747814"/>
              <a:gd name="connsiteY3" fmla="*/ 61256 h 612556"/>
              <a:gd name="connsiteX4" fmla="*/ 2747814 w 2747814"/>
              <a:gd name="connsiteY4" fmla="*/ 551300 h 612556"/>
              <a:gd name="connsiteX5" fmla="*/ 2686558 w 2747814"/>
              <a:gd name="connsiteY5" fmla="*/ 612556 h 612556"/>
              <a:gd name="connsiteX6" fmla="*/ 61256 w 2747814"/>
              <a:gd name="connsiteY6" fmla="*/ 612556 h 612556"/>
              <a:gd name="connsiteX7" fmla="*/ 0 w 2747814"/>
              <a:gd name="connsiteY7" fmla="*/ 551300 h 612556"/>
              <a:gd name="connsiteX8" fmla="*/ 0 w 2747814"/>
              <a:gd name="connsiteY8" fmla="*/ 61256 h 61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7814" h="612556">
                <a:moveTo>
                  <a:pt x="0" y="61256"/>
                </a:moveTo>
                <a:cubicBezTo>
                  <a:pt x="0" y="27425"/>
                  <a:pt x="27425" y="0"/>
                  <a:pt x="61256" y="0"/>
                </a:cubicBezTo>
                <a:lnTo>
                  <a:pt x="2686558" y="0"/>
                </a:lnTo>
                <a:cubicBezTo>
                  <a:pt x="2720389" y="0"/>
                  <a:pt x="2747814" y="27425"/>
                  <a:pt x="2747814" y="61256"/>
                </a:cubicBezTo>
                <a:lnTo>
                  <a:pt x="2747814" y="551300"/>
                </a:lnTo>
                <a:cubicBezTo>
                  <a:pt x="2747814" y="585131"/>
                  <a:pt x="2720389" y="612556"/>
                  <a:pt x="2686558" y="612556"/>
                </a:cubicBezTo>
                <a:lnTo>
                  <a:pt x="61256" y="612556"/>
                </a:lnTo>
                <a:cubicBezTo>
                  <a:pt x="27425" y="612556"/>
                  <a:pt x="0" y="585131"/>
                  <a:pt x="0" y="551300"/>
                </a:cubicBezTo>
                <a:lnTo>
                  <a:pt x="0" y="61256"/>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63661" tIns="48421" rIns="63661" bIns="48421" numCol="1" spcCol="1270" anchor="ctr" anchorCtr="0">
            <a:noAutofit/>
          </a:bodyPr>
          <a:lstStyle/>
          <a:p>
            <a:pPr lvl="0" algn="ctr" defTabSz="1066800">
              <a:lnSpc>
                <a:spcPct val="90000"/>
              </a:lnSpc>
              <a:spcBef>
                <a:spcPct val="0"/>
              </a:spcBef>
              <a:spcAft>
                <a:spcPct val="35000"/>
              </a:spcAft>
            </a:pPr>
            <a:r>
              <a:rPr lang="zh-CN" altLang="en-US" sz="2400" b="1" kern="1200" dirty="0" smtClean="0"/>
              <a:t>控制与状态寄存器</a:t>
            </a:r>
            <a:endParaRPr lang="zh-CN" altLang="en-US" sz="2400" b="1" kern="1200" dirty="0"/>
          </a:p>
        </p:txBody>
      </p:sp>
    </p:spTree>
    <p:extLst>
      <p:ext uri="{BB962C8B-B14F-4D97-AF65-F5344CB8AC3E}">
        <p14:creationId xmlns:p14="http://schemas.microsoft.com/office/powerpoint/2010/main" val="121108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left)">
                                      <p:cBhvr>
                                        <p:cTn id="3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41" grpId="0" animBg="1"/>
      <p:bldP spid="43" grpId="0" animBg="1"/>
      <p:bldP spid="4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控制与状态寄存器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683568" y="1103381"/>
            <a:ext cx="7056784" cy="4420697"/>
          </a:xfrm>
          <a:prstGeom prst="rect">
            <a:avLst/>
          </a:prstGeom>
        </p:spPr>
        <p:txBody>
          <a:bodyPr wrap="square">
            <a:spAutoFit/>
          </a:bodyPr>
          <a:lstStyle/>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程序计数器（</a:t>
            </a:r>
            <a:r>
              <a:rPr lang="en-US" altLang="zh-CN" sz="2400" b="1" dirty="0" smtClean="0">
                <a:solidFill>
                  <a:srgbClr val="FFFF00"/>
                </a:solidFill>
                <a:latin typeface="+mn-ea"/>
              </a:rPr>
              <a:t>PC</a:t>
            </a:r>
            <a:r>
              <a:rPr lang="zh-CN" altLang="en-US" sz="2400" b="1" dirty="0" smtClean="0">
                <a:solidFill>
                  <a:srgbClr val="FFFF00"/>
                </a:solidFill>
                <a:latin typeface="+mn-ea"/>
              </a:rPr>
              <a:t>）</a:t>
            </a:r>
            <a:endParaRPr lang="en-US" altLang="zh-CN" sz="2400" b="1" dirty="0">
              <a:solidFill>
                <a:srgbClr val="FFFF00"/>
              </a:solidFill>
              <a:latin typeface="+mn-ea"/>
            </a:endParaRPr>
          </a:p>
          <a:p>
            <a:pPr marL="0" lvl="1" algn="just">
              <a:lnSpc>
                <a:spcPct val="114000"/>
              </a:lnSpc>
              <a:buClr>
                <a:schemeClr val="accent6">
                  <a:lumMod val="60000"/>
                  <a:lumOff val="40000"/>
                </a:schemeClr>
              </a:buClr>
            </a:pPr>
            <a:r>
              <a:rPr lang="zh-CN" altLang="en-US" sz="2400" b="1" dirty="0" smtClean="0">
                <a:solidFill>
                  <a:schemeClr val="bg1"/>
                </a:solidFill>
                <a:latin typeface="+mn-ea"/>
              </a:rPr>
              <a:t>  程序计数器</a:t>
            </a:r>
            <a:r>
              <a:rPr lang="zh-CN" altLang="en-US" sz="2400" b="1" dirty="0">
                <a:solidFill>
                  <a:schemeClr val="bg1"/>
                </a:solidFill>
                <a:latin typeface="+mn-ea"/>
              </a:rPr>
              <a:t>内装有下一周期被执行指令的地址</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指令寄存器（</a:t>
            </a:r>
            <a:r>
              <a:rPr lang="en-US" altLang="zh-CN" sz="2400" b="1" dirty="0" smtClean="0">
                <a:solidFill>
                  <a:srgbClr val="FFFF00"/>
                </a:solidFill>
                <a:latin typeface="+mn-ea"/>
              </a:rPr>
              <a:t>IR</a:t>
            </a:r>
            <a:r>
              <a:rPr lang="zh-CN" altLang="en-US" sz="2400" b="1" dirty="0" smtClean="0">
                <a:solidFill>
                  <a:srgbClr val="FFFF00"/>
                </a:solidFill>
                <a:latin typeface="+mn-ea"/>
              </a:rPr>
              <a:t>）</a:t>
            </a:r>
            <a:endParaRPr lang="en-US" altLang="zh-CN" sz="2400" b="1" dirty="0">
              <a:solidFill>
                <a:srgbClr val="FFFF00"/>
              </a:solidFill>
              <a:latin typeface="+mn-ea"/>
            </a:endParaRPr>
          </a:p>
          <a:p>
            <a:pPr marL="0" lvl="1" algn="just">
              <a:lnSpc>
                <a:spcPct val="114000"/>
              </a:lnSpc>
              <a:buClr>
                <a:schemeClr val="accent6">
                  <a:lumMod val="60000"/>
                  <a:lumOff val="40000"/>
                </a:schemeClr>
              </a:buClr>
            </a:pPr>
            <a:r>
              <a:rPr lang="zh-CN" altLang="en-US" sz="2400" b="1" dirty="0" smtClean="0">
                <a:solidFill>
                  <a:schemeClr val="bg1"/>
                </a:solidFill>
                <a:latin typeface="+mn-ea"/>
              </a:rPr>
              <a:t>  指令寄存器</a:t>
            </a:r>
            <a:r>
              <a:rPr lang="zh-CN" altLang="en-US" sz="2400" b="1" dirty="0">
                <a:solidFill>
                  <a:schemeClr val="bg1"/>
                </a:solidFill>
                <a:latin typeface="+mn-ea"/>
              </a:rPr>
              <a:t>内装有待执行指令</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程序状态字（</a:t>
            </a:r>
            <a:r>
              <a:rPr lang="en-US" altLang="zh-CN" sz="2400" b="1" dirty="0" smtClean="0">
                <a:solidFill>
                  <a:srgbClr val="FFFF00"/>
                </a:solidFill>
                <a:latin typeface="+mn-ea"/>
              </a:rPr>
              <a:t>PSW</a:t>
            </a:r>
            <a:r>
              <a:rPr lang="zh-CN" altLang="en-US" sz="2400" b="1" dirty="0" smtClean="0">
                <a:solidFill>
                  <a:srgbClr val="FFFF00"/>
                </a:solidFill>
                <a:latin typeface="+mn-ea"/>
              </a:rPr>
              <a:t>）</a:t>
            </a:r>
            <a:endParaRPr lang="en-US" altLang="zh-CN" sz="2400" b="1" dirty="0">
              <a:solidFill>
                <a:srgbClr val="FFFF00"/>
              </a:solidFill>
              <a:latin typeface="+mn-ea"/>
            </a:endParaRPr>
          </a:p>
          <a:p>
            <a:pPr marL="0" lvl="1" algn="just">
              <a:lnSpc>
                <a:spcPct val="114000"/>
              </a:lnSpc>
              <a:buClr>
                <a:schemeClr val="accent6">
                  <a:lumMod val="60000"/>
                  <a:lumOff val="40000"/>
                </a:schemeClr>
              </a:buClr>
            </a:pPr>
            <a:r>
              <a:rPr lang="zh-CN" altLang="en-US" sz="2400" b="1" dirty="0" smtClean="0">
                <a:solidFill>
                  <a:schemeClr val="bg1"/>
                </a:solidFill>
                <a:latin typeface="+mn-ea"/>
              </a:rPr>
              <a:t>  程序状态字</a:t>
            </a:r>
            <a:r>
              <a:rPr lang="zh-CN" altLang="en-US" sz="2400" b="1" dirty="0">
                <a:solidFill>
                  <a:schemeClr val="bg1"/>
                </a:solidFill>
                <a:latin typeface="+mn-ea"/>
              </a:rPr>
              <a:t>寄存器的各个比特位代表系统中当前的各种不同状态与信息。如执行模式是否</a:t>
            </a:r>
            <a:r>
              <a:rPr lang="zh-CN" altLang="en-US" sz="2400" b="1" dirty="0" smtClean="0">
                <a:solidFill>
                  <a:schemeClr val="bg1"/>
                </a:solidFill>
                <a:latin typeface="+mn-ea"/>
              </a:rPr>
              <a:t>允许中断，增量</a:t>
            </a:r>
            <a:r>
              <a:rPr lang="en-US" altLang="zh-CN" sz="2400" b="1" dirty="0" smtClean="0">
                <a:solidFill>
                  <a:schemeClr val="bg1"/>
                </a:solidFill>
                <a:latin typeface="+mn-ea"/>
              </a:rPr>
              <a:t>/</a:t>
            </a:r>
            <a:r>
              <a:rPr lang="zh-CN" altLang="en-US" sz="2400" b="1" dirty="0" smtClean="0">
                <a:solidFill>
                  <a:schemeClr val="bg1"/>
                </a:solidFill>
                <a:latin typeface="+mn-ea"/>
              </a:rPr>
              <a:t>减量，暂停</a:t>
            </a:r>
            <a:r>
              <a:rPr lang="en-US" altLang="zh-CN" sz="2400" b="1" dirty="0" smtClean="0">
                <a:solidFill>
                  <a:schemeClr val="bg1"/>
                </a:solidFill>
                <a:latin typeface="+mn-ea"/>
              </a:rPr>
              <a:t>/</a:t>
            </a:r>
            <a:r>
              <a:rPr lang="zh-CN" altLang="en-US" sz="2400" b="1" dirty="0" smtClean="0">
                <a:solidFill>
                  <a:schemeClr val="bg1"/>
                </a:solidFill>
                <a:latin typeface="+mn-ea"/>
              </a:rPr>
              <a:t>不暂停，奇偶校验，</a:t>
            </a:r>
            <a:r>
              <a:rPr lang="en-US" altLang="zh-CN" sz="2400" b="1" dirty="0" smtClean="0">
                <a:solidFill>
                  <a:schemeClr val="bg1"/>
                </a:solidFill>
                <a:latin typeface="+mn-ea"/>
              </a:rPr>
              <a:t>0</a:t>
            </a:r>
            <a:r>
              <a:rPr lang="zh-CN" altLang="en-US" sz="2400" b="1" dirty="0" smtClean="0">
                <a:solidFill>
                  <a:schemeClr val="bg1"/>
                </a:solidFill>
                <a:latin typeface="+mn-ea"/>
              </a:rPr>
              <a:t>标志。</a:t>
            </a:r>
            <a:endParaRPr lang="zh-CN" altLang="en-US" sz="2400" b="1" dirty="0">
              <a:solidFill>
                <a:schemeClr val="bg1"/>
              </a:solidFill>
              <a:latin typeface="+mn-ea"/>
            </a:endParaRPr>
          </a:p>
          <a:p>
            <a:pPr marL="0" lvl="1" algn="just">
              <a:lnSpc>
                <a:spcPct val="130000"/>
              </a:lnSpc>
              <a:buClr>
                <a:schemeClr val="accent6">
                  <a:lumMod val="60000"/>
                  <a:lumOff val="40000"/>
                </a:schemeClr>
              </a:buClr>
            </a:pPr>
            <a:endParaRPr lang="zh-CN" altLang="en-US" sz="2400" b="1" dirty="0">
              <a:solidFill>
                <a:schemeClr val="bg1"/>
              </a:solidFill>
              <a:latin typeface="+mn-ea"/>
            </a:endParaRPr>
          </a:p>
          <a:p>
            <a:pPr marL="0" lvl="1" algn="just">
              <a:lnSpc>
                <a:spcPct val="130000"/>
              </a:lnSpc>
              <a:buClr>
                <a:schemeClr val="accent6">
                  <a:lumMod val="60000"/>
                  <a:lumOff val="40000"/>
                </a:schemeClr>
              </a:buClr>
            </a:pPr>
            <a:r>
              <a:rPr lang="en-US" altLang="zh-CN" sz="2400" b="1" dirty="0" smtClean="0">
                <a:solidFill>
                  <a:schemeClr val="bg1"/>
                </a:solidFill>
                <a:latin typeface="+mn-ea"/>
              </a:rPr>
              <a:t>  </a:t>
            </a:r>
            <a:endParaRPr lang="zh-CN" altLang="en-US" sz="2400" b="1" dirty="0">
              <a:solidFill>
                <a:schemeClr val="bg1"/>
              </a:solidFill>
              <a:latin typeface="+mn-ea"/>
            </a:endParaRPr>
          </a:p>
        </p:txBody>
      </p:sp>
    </p:spTree>
    <p:extLst>
      <p:ext uri="{BB962C8B-B14F-4D97-AF65-F5344CB8AC3E}">
        <p14:creationId xmlns:p14="http://schemas.microsoft.com/office/powerpoint/2010/main" val="263088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控制与状态寄存器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827584" y="1103381"/>
            <a:ext cx="6696744" cy="3933384"/>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中断现场保护寄存器</a:t>
            </a:r>
          </a:p>
          <a:p>
            <a:pPr marL="0" lvl="1" algn="just">
              <a:lnSpc>
                <a:spcPct val="130000"/>
              </a:lnSpc>
              <a:buClr>
                <a:schemeClr val="accent6">
                  <a:lumMod val="60000"/>
                  <a:lumOff val="40000"/>
                </a:schemeClr>
              </a:buClr>
            </a:pPr>
            <a:r>
              <a:rPr lang="zh-CN" altLang="en-US" sz="2400" b="1" dirty="0" smtClean="0">
                <a:solidFill>
                  <a:schemeClr val="bg1"/>
                </a:solidFill>
                <a:latin typeface="+mn-ea"/>
              </a:rPr>
              <a:t>  如果</a:t>
            </a:r>
            <a:r>
              <a:rPr lang="zh-CN" altLang="en-US" sz="2400" b="1" dirty="0">
                <a:solidFill>
                  <a:schemeClr val="bg1"/>
                </a:solidFill>
                <a:latin typeface="+mn-ea"/>
              </a:rPr>
              <a:t>系统允许不同类型的中断存在，则会设置一组中断现场保护寄存器以便保存被中断程序的现场和链接中断恢复处。</a:t>
            </a: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过程调用堆栈</a:t>
            </a:r>
            <a:endParaRPr lang="zh-CN" altLang="en-US" sz="2400" b="1" dirty="0">
              <a:solidFill>
                <a:srgbClr val="FFFF00"/>
              </a:solidFill>
              <a:latin typeface="+mn-ea"/>
            </a:endParaRPr>
          </a:p>
          <a:p>
            <a:pPr marL="0" lvl="1" algn="just">
              <a:lnSpc>
                <a:spcPct val="130000"/>
              </a:lnSpc>
              <a:buClr>
                <a:schemeClr val="accent6">
                  <a:lumMod val="60000"/>
                  <a:lumOff val="40000"/>
                </a:schemeClr>
              </a:buClr>
            </a:pPr>
            <a:r>
              <a:rPr lang="zh-CN" altLang="en-US" sz="2400" b="1" dirty="0" smtClean="0">
                <a:solidFill>
                  <a:schemeClr val="bg1"/>
                </a:solidFill>
                <a:latin typeface="+mn-ea"/>
              </a:rPr>
              <a:t>  堆栈</a:t>
            </a:r>
            <a:r>
              <a:rPr lang="zh-CN" altLang="en-US" sz="2400" b="1" dirty="0">
                <a:solidFill>
                  <a:schemeClr val="bg1"/>
                </a:solidFill>
                <a:latin typeface="+mn-ea"/>
              </a:rPr>
              <a:t>被用来存放过程调用时的调用名、调用参数、以及返回地址等</a:t>
            </a:r>
          </a:p>
          <a:p>
            <a:pPr marL="0" lvl="1" algn="just">
              <a:lnSpc>
                <a:spcPct val="130000"/>
              </a:lnSpc>
              <a:buClr>
                <a:schemeClr val="accent6">
                  <a:lumMod val="60000"/>
                  <a:lumOff val="40000"/>
                </a:schemeClr>
              </a:buClr>
            </a:pPr>
            <a:r>
              <a:rPr lang="en-US" altLang="zh-CN" sz="2400" b="1" dirty="0">
                <a:solidFill>
                  <a:schemeClr val="bg1"/>
                </a:solidFill>
                <a:latin typeface="+mn-ea"/>
              </a:rPr>
              <a:t>  </a:t>
            </a:r>
            <a:endParaRPr lang="zh-CN" altLang="en-US" sz="2400" b="1" dirty="0">
              <a:solidFill>
                <a:schemeClr val="bg1"/>
              </a:solidFill>
              <a:latin typeface="+mn-ea"/>
            </a:endParaRPr>
          </a:p>
        </p:txBody>
      </p:sp>
    </p:spTree>
    <p:extLst>
      <p:ext uri="{BB962C8B-B14F-4D97-AF65-F5344CB8AC3E}">
        <p14:creationId xmlns:p14="http://schemas.microsoft.com/office/powerpoint/2010/main" val="303082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存储器的访问速度</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655" y="1088450"/>
            <a:ext cx="4968552" cy="346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920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out)">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指令的执行与中断</a:t>
            </a:r>
          </a:p>
        </p:txBody>
      </p:sp>
      <p:sp>
        <p:nvSpPr>
          <p:cNvPr id="5" name="矩形 4"/>
          <p:cNvSpPr/>
          <p:nvPr/>
        </p:nvSpPr>
        <p:spPr>
          <a:xfrm>
            <a:off x="827584" y="1281469"/>
            <a:ext cx="6696744" cy="2973122"/>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执行指令的基本过程分为两步，即</a:t>
            </a:r>
            <a:r>
              <a:rPr lang="zh-CN" altLang="en-US" sz="2400" b="1" dirty="0">
                <a:solidFill>
                  <a:srgbClr val="FFFF00"/>
                </a:solidFill>
                <a:latin typeface="+mn-ea"/>
              </a:rPr>
              <a:t>处理机从内存把指令读入的过程</a:t>
            </a:r>
            <a:r>
              <a:rPr lang="zh-CN" altLang="en-US" sz="2400" b="1" dirty="0">
                <a:solidFill>
                  <a:schemeClr val="bg1"/>
                </a:solidFill>
                <a:latin typeface="+mn-ea"/>
              </a:rPr>
              <a:t>和</a:t>
            </a:r>
            <a:r>
              <a:rPr lang="zh-CN" altLang="en-US" sz="2400" b="1" dirty="0">
                <a:solidFill>
                  <a:srgbClr val="FFFF00"/>
                </a:solidFill>
                <a:latin typeface="+mn-ea"/>
              </a:rPr>
              <a:t>执行的过程</a:t>
            </a:r>
            <a:r>
              <a:rPr lang="zh-CN" altLang="en-US" sz="2400" b="1" dirty="0">
                <a:solidFill>
                  <a:schemeClr val="bg1"/>
                </a:solidFill>
                <a:latin typeface="+mn-ea"/>
              </a:rPr>
              <a:t>。其中，读指令是根据程序计数器</a:t>
            </a:r>
            <a:r>
              <a:rPr lang="en-US" altLang="zh-CN" sz="2400" b="1" dirty="0">
                <a:solidFill>
                  <a:schemeClr val="bg1"/>
                </a:solidFill>
                <a:latin typeface="+mn-ea"/>
              </a:rPr>
              <a:t>PC</a:t>
            </a:r>
            <a:r>
              <a:rPr lang="zh-CN" altLang="en-US" sz="2400" b="1" dirty="0">
                <a:solidFill>
                  <a:schemeClr val="bg1"/>
                </a:solidFill>
                <a:latin typeface="+mn-ea"/>
              </a:rPr>
              <a:t>所指的地址读入，而执行的指令则是指令寄存器</a:t>
            </a:r>
            <a:r>
              <a:rPr lang="en-US" altLang="zh-CN" sz="2400" b="1" dirty="0">
                <a:solidFill>
                  <a:schemeClr val="bg1"/>
                </a:solidFill>
                <a:latin typeface="+mn-ea"/>
              </a:rPr>
              <a:t>IR</a:t>
            </a:r>
            <a:r>
              <a:rPr lang="zh-CN" altLang="en-US" sz="2400" b="1" dirty="0">
                <a:solidFill>
                  <a:schemeClr val="bg1"/>
                </a:solidFill>
                <a:latin typeface="+mn-ea"/>
              </a:rPr>
              <a:t>中的指令。</a:t>
            </a: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我们把指令的</a:t>
            </a:r>
            <a:r>
              <a:rPr lang="zh-CN" altLang="en-US" sz="2400" b="1" dirty="0">
                <a:solidFill>
                  <a:srgbClr val="FFFF00"/>
                </a:solidFill>
                <a:latin typeface="+mn-ea"/>
              </a:rPr>
              <a:t>读入和执行过程</a:t>
            </a:r>
            <a:r>
              <a:rPr lang="zh-CN" altLang="en-US" sz="2400" b="1" dirty="0">
                <a:solidFill>
                  <a:schemeClr val="bg1"/>
                </a:solidFill>
                <a:latin typeface="+mn-ea"/>
              </a:rPr>
              <a:t>称为一个</a:t>
            </a:r>
            <a:r>
              <a:rPr lang="zh-CN" altLang="en-US" sz="2400" b="1" dirty="0" smtClean="0">
                <a:solidFill>
                  <a:srgbClr val="FFFF00"/>
                </a:solidFill>
                <a:latin typeface="+mn-ea"/>
              </a:rPr>
              <a:t>执行周期</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Picture 3" descr="图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3233363"/>
            <a:ext cx="56388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486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circle(out)">
                                      <p:cBhvr>
                                        <p:cTn id="1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AutoShape 11"/>
          <p:cNvSpPr>
            <a:spLocks noChangeArrowheads="1"/>
          </p:cNvSpPr>
          <p:nvPr/>
        </p:nvSpPr>
        <p:spPr bwMode="auto">
          <a:xfrm rot="14400000">
            <a:off x="4007552" y="994118"/>
            <a:ext cx="3028950" cy="2773362"/>
          </a:xfrm>
          <a:prstGeom prst="triangle">
            <a:avLst>
              <a:gd name="adj" fmla="val 50000"/>
            </a:avLst>
          </a:prstGeom>
          <a:gradFill rotWithShape="1">
            <a:gsLst>
              <a:gs pos="0">
                <a:srgbClr val="347AF8"/>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811" name="AutoShape 12"/>
          <p:cNvSpPr>
            <a:spLocks noChangeArrowheads="1"/>
          </p:cNvSpPr>
          <p:nvPr/>
        </p:nvSpPr>
        <p:spPr bwMode="auto">
          <a:xfrm rot="7200000" flipH="1">
            <a:off x="1451740" y="912063"/>
            <a:ext cx="3519252" cy="2773362"/>
          </a:xfrm>
          <a:prstGeom prst="triangle">
            <a:avLst>
              <a:gd name="adj" fmla="val 50000"/>
            </a:avLst>
          </a:prstGeom>
          <a:gradFill rotWithShape="1">
            <a:gsLst>
              <a:gs pos="0">
                <a:srgbClr val="3FEDB7"/>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768" name="页脚占位符 3"/>
          <p:cNvSpPr txBox="1">
            <a:spLocks noGrp="1"/>
          </p:cNvSpPr>
          <p:nvPr/>
        </p:nvSpPr>
        <p:spPr bwMode="auto">
          <a:xfrm>
            <a:off x="7046913" y="4926265"/>
            <a:ext cx="2133600" cy="183356"/>
          </a:xfrm>
          <a:prstGeom prst="rect">
            <a:avLst/>
          </a:prstGeom>
          <a:noFill/>
          <a:ln w="9525">
            <a:noFill/>
            <a:miter lim="800000"/>
            <a:headEnd/>
            <a:tailEnd/>
          </a:ln>
        </p:spPr>
        <p:txBody>
          <a:bodyPr/>
          <a:lstStyle/>
          <a:p>
            <a:r>
              <a:rPr lang="en-US" altLang="zh-CN"/>
              <a:t>   </a:t>
            </a:r>
          </a:p>
          <a:p>
            <a:r>
              <a:rPr lang="en-US" altLang="zh-CN"/>
              <a:t>   </a:t>
            </a:r>
          </a:p>
        </p:txBody>
      </p:sp>
      <p:sp>
        <p:nvSpPr>
          <p:cNvPr id="770" name="AutoShape 13"/>
          <p:cNvSpPr>
            <a:spLocks noChangeArrowheads="1"/>
          </p:cNvSpPr>
          <p:nvPr/>
        </p:nvSpPr>
        <p:spPr bwMode="auto">
          <a:xfrm rot="7200000" flipV="1">
            <a:off x="4630738" y="2100118"/>
            <a:ext cx="2271713" cy="2773362"/>
          </a:xfrm>
          <a:prstGeom prst="triangle">
            <a:avLst>
              <a:gd name="adj" fmla="val 50000"/>
            </a:avLst>
          </a:prstGeom>
          <a:gradFill rotWithShape="1">
            <a:gsLst>
              <a:gs pos="0">
                <a:srgbClr val="4628F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1" name="AutoShape 14"/>
          <p:cNvSpPr>
            <a:spLocks noChangeArrowheads="1"/>
          </p:cNvSpPr>
          <p:nvPr/>
        </p:nvSpPr>
        <p:spPr bwMode="auto">
          <a:xfrm rot="-7200000" flipH="1" flipV="1">
            <a:off x="2217738" y="2100118"/>
            <a:ext cx="2271713" cy="2773362"/>
          </a:xfrm>
          <a:prstGeom prst="triangle">
            <a:avLst>
              <a:gd name="adj" fmla="val 50000"/>
            </a:avLst>
          </a:prstGeom>
          <a:gradFill rotWithShape="1">
            <a:gsLst>
              <a:gs pos="0">
                <a:srgbClr val="72E41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2" name="AutoShape 15"/>
          <p:cNvSpPr>
            <a:spLocks noChangeArrowheads="1"/>
          </p:cNvSpPr>
          <p:nvPr/>
        </p:nvSpPr>
        <p:spPr bwMode="auto">
          <a:xfrm rot="10800000" flipH="1" flipV="1">
            <a:off x="2705075" y="2859782"/>
            <a:ext cx="3667125" cy="2301478"/>
          </a:xfrm>
          <a:prstGeom prst="triangle">
            <a:avLst>
              <a:gd name="adj" fmla="val 50000"/>
            </a:avLst>
          </a:prstGeom>
          <a:gradFill rotWithShape="1">
            <a:gsLst>
              <a:gs pos="0">
                <a:schemeClr val="bg1"/>
              </a:gs>
              <a:gs pos="100000">
                <a:schemeClr val="bg1">
                  <a:alpha val="0"/>
                </a:schemeClr>
              </a:gs>
            </a:gsLst>
            <a:lin ang="5400000" scaled="1"/>
          </a:gradFill>
          <a:ln w="9525">
            <a:noFill/>
            <a:miter lim="800000"/>
            <a:headEnd/>
            <a:tailEnd/>
          </a:ln>
        </p:spPr>
        <p:txBody>
          <a:bodyPr wrap="none" anchor="ctr"/>
          <a:lstStyle/>
          <a:p>
            <a:endParaRPr lang="zh-CN" altLang="zh-CN"/>
          </a:p>
        </p:txBody>
      </p:sp>
      <p:sp>
        <p:nvSpPr>
          <p:cNvPr id="773" name="Oval 19"/>
          <p:cNvSpPr>
            <a:spLocks noChangeArrowheads="1"/>
          </p:cNvSpPr>
          <p:nvPr/>
        </p:nvSpPr>
        <p:spPr bwMode="auto">
          <a:xfrm>
            <a:off x="2864298" y="2078441"/>
            <a:ext cx="3095625" cy="2321719"/>
          </a:xfrm>
          <a:prstGeom prst="ellipse">
            <a:avLst/>
          </a:prstGeom>
          <a:solidFill>
            <a:schemeClr val="bg1">
              <a:alpha val="25098"/>
            </a:schemeClr>
          </a:solidFill>
          <a:ln w="12700">
            <a:solidFill>
              <a:schemeClr val="bg1"/>
            </a:solidFill>
            <a:round/>
            <a:headEnd/>
            <a:tailEnd/>
          </a:ln>
        </p:spPr>
        <p:txBody>
          <a:bodyPr wrap="none" anchor="ctr"/>
          <a:lstStyle/>
          <a:p>
            <a:endParaRPr lang="zh-CN" altLang="zh-CN"/>
          </a:p>
        </p:txBody>
      </p:sp>
      <p:sp>
        <p:nvSpPr>
          <p:cNvPr id="774" name="Oval 20"/>
          <p:cNvSpPr>
            <a:spLocks noChangeArrowheads="1"/>
          </p:cNvSpPr>
          <p:nvPr/>
        </p:nvSpPr>
        <p:spPr bwMode="auto">
          <a:xfrm>
            <a:off x="2991297" y="2173691"/>
            <a:ext cx="2843212" cy="2132409"/>
          </a:xfrm>
          <a:prstGeom prst="ellipse">
            <a:avLst/>
          </a:prstGeom>
          <a:solidFill>
            <a:srgbClr val="99CCFF">
              <a:alpha val="50195"/>
            </a:srgbClr>
          </a:solidFill>
          <a:ln w="57150">
            <a:solidFill>
              <a:srgbClr val="99CCFF"/>
            </a:solidFill>
            <a:round/>
            <a:headEnd/>
            <a:tailEnd/>
          </a:ln>
        </p:spPr>
        <p:txBody>
          <a:bodyPr wrap="none" anchor="ctr"/>
          <a:lstStyle/>
          <a:p>
            <a:endParaRPr lang="zh-CN" altLang="zh-CN"/>
          </a:p>
        </p:txBody>
      </p:sp>
      <p:sp>
        <p:nvSpPr>
          <p:cNvPr id="775" name="Arc 38"/>
          <p:cNvSpPr>
            <a:spLocks/>
          </p:cNvSpPr>
          <p:nvPr/>
        </p:nvSpPr>
        <p:spPr bwMode="auto">
          <a:xfrm rot="-2700000">
            <a:off x="3832303" y="2009535"/>
            <a:ext cx="1121087" cy="1043841"/>
          </a:xfrm>
          <a:custGeom>
            <a:avLst/>
            <a:gdLst>
              <a:gd name="T0" fmla="*/ 2147483647 w 20772"/>
              <a:gd name="T1" fmla="*/ 0 h 20677"/>
              <a:gd name="T2" fmla="*/ 2147483647 w 20772"/>
              <a:gd name="T3" fmla="*/ 2147483647 h 20677"/>
              <a:gd name="T4" fmla="*/ 0 w 20772"/>
              <a:gd name="T5" fmla="*/ 2147483647 h 20677"/>
              <a:gd name="T6" fmla="*/ 0 60000 65536"/>
              <a:gd name="T7" fmla="*/ 0 60000 65536"/>
              <a:gd name="T8" fmla="*/ 0 60000 65536"/>
              <a:gd name="T9" fmla="*/ 0 w 20772"/>
              <a:gd name="T10" fmla="*/ 0 h 20677"/>
              <a:gd name="T11" fmla="*/ 20772 w 20772"/>
              <a:gd name="T12" fmla="*/ 20677 h 20677"/>
            </a:gdLst>
            <a:ahLst/>
            <a:cxnLst>
              <a:cxn ang="T6">
                <a:pos x="T0" y="T1"/>
              </a:cxn>
              <a:cxn ang="T7">
                <a:pos x="T2" y="T3"/>
              </a:cxn>
              <a:cxn ang="T8">
                <a:pos x="T4" y="T5"/>
              </a:cxn>
            </a:cxnLst>
            <a:rect l="T9" t="T10" r="T11" b="T12"/>
            <a:pathLst>
              <a:path w="20772" h="20677" fill="none" extrusionOk="0">
                <a:moveTo>
                  <a:pt x="6246" y="0"/>
                </a:moveTo>
                <a:cubicBezTo>
                  <a:pt x="13283" y="2126"/>
                  <a:pt x="18756" y="7684"/>
                  <a:pt x="20772" y="14753"/>
                </a:cubicBezTo>
              </a:path>
              <a:path w="20772" h="20677" stroke="0" extrusionOk="0">
                <a:moveTo>
                  <a:pt x="6246" y="0"/>
                </a:moveTo>
                <a:cubicBezTo>
                  <a:pt x="13283" y="2126"/>
                  <a:pt x="18756" y="7684"/>
                  <a:pt x="20772" y="14753"/>
                </a:cubicBezTo>
                <a:lnTo>
                  <a:pt x="0" y="20677"/>
                </a:lnTo>
                <a:close/>
              </a:path>
            </a:pathLst>
          </a:custGeom>
          <a:gradFill rotWithShape="1">
            <a:gsLst>
              <a:gs pos="0">
                <a:srgbClr val="1C93E4"/>
              </a:gs>
              <a:gs pos="100000">
                <a:srgbClr val="69B8E9"/>
              </a:gs>
            </a:gsLst>
            <a:lin ang="5400000" scaled="1"/>
          </a:gradFill>
          <a:ln w="9525">
            <a:noFill/>
            <a:round/>
            <a:headEnd/>
            <a:tailEnd/>
          </a:ln>
        </p:spPr>
        <p:txBody>
          <a:bodyPr wrap="none" anchor="ctr"/>
          <a:lstStyle/>
          <a:p>
            <a:endParaRPr lang="zh-CN" altLang="en-US"/>
          </a:p>
        </p:txBody>
      </p:sp>
      <p:sp>
        <p:nvSpPr>
          <p:cNvPr id="776" name="Arc 39"/>
          <p:cNvSpPr>
            <a:spLocks/>
          </p:cNvSpPr>
          <p:nvPr/>
        </p:nvSpPr>
        <p:spPr bwMode="auto">
          <a:xfrm rot="884024">
            <a:off x="4543872" y="2477300"/>
            <a:ext cx="1200150" cy="897731"/>
          </a:xfrm>
          <a:custGeom>
            <a:avLst/>
            <a:gdLst>
              <a:gd name="T0" fmla="*/ 2147483647 w 20646"/>
              <a:gd name="T1" fmla="*/ 0 h 20637"/>
              <a:gd name="T2" fmla="*/ 2147483647 w 20646"/>
              <a:gd name="T3" fmla="*/ 2147483647 h 20637"/>
              <a:gd name="T4" fmla="*/ 0 w 20646"/>
              <a:gd name="T5" fmla="*/ 2147483647 h 20637"/>
              <a:gd name="T6" fmla="*/ 0 60000 65536"/>
              <a:gd name="T7" fmla="*/ 0 60000 65536"/>
              <a:gd name="T8" fmla="*/ 0 60000 65536"/>
              <a:gd name="T9" fmla="*/ 0 w 20646"/>
              <a:gd name="T10" fmla="*/ 0 h 20637"/>
              <a:gd name="T11" fmla="*/ 20646 w 20646"/>
              <a:gd name="T12" fmla="*/ 20637 h 20637"/>
            </a:gdLst>
            <a:ahLst/>
            <a:cxnLst>
              <a:cxn ang="T6">
                <a:pos x="T0" y="T1"/>
              </a:cxn>
              <a:cxn ang="T7">
                <a:pos x="T2" y="T3"/>
              </a:cxn>
              <a:cxn ang="T8">
                <a:pos x="T4" y="T5"/>
              </a:cxn>
            </a:cxnLst>
            <a:rect l="T9" t="T10" r="T11" b="T12"/>
            <a:pathLst>
              <a:path w="20646" h="20637" fill="none" extrusionOk="0">
                <a:moveTo>
                  <a:pt x="6378" y="0"/>
                </a:moveTo>
                <a:cubicBezTo>
                  <a:pt x="13205" y="2110"/>
                  <a:pt x="18546" y="7460"/>
                  <a:pt x="20646" y="14289"/>
                </a:cubicBezTo>
              </a:path>
              <a:path w="20646" h="20637" stroke="0" extrusionOk="0">
                <a:moveTo>
                  <a:pt x="6378" y="0"/>
                </a:moveTo>
                <a:cubicBezTo>
                  <a:pt x="13205" y="2110"/>
                  <a:pt x="18546" y="7460"/>
                  <a:pt x="20646" y="14289"/>
                </a:cubicBezTo>
                <a:lnTo>
                  <a:pt x="0" y="20637"/>
                </a:lnTo>
                <a:close/>
              </a:path>
            </a:pathLst>
          </a:custGeom>
          <a:gradFill rotWithShape="1">
            <a:gsLst>
              <a:gs pos="0">
                <a:srgbClr val="2648A6"/>
              </a:gs>
              <a:gs pos="100000">
                <a:srgbClr val="446AD4"/>
              </a:gs>
            </a:gsLst>
            <a:lin ang="5400000" scaled="1"/>
          </a:gradFill>
          <a:ln w="9525">
            <a:noFill/>
            <a:round/>
            <a:headEnd/>
            <a:tailEnd/>
          </a:ln>
        </p:spPr>
        <p:txBody>
          <a:bodyPr wrap="none" anchor="ctr"/>
          <a:lstStyle/>
          <a:p>
            <a:endParaRPr lang="zh-CN" altLang="en-US"/>
          </a:p>
        </p:txBody>
      </p:sp>
      <p:sp>
        <p:nvSpPr>
          <p:cNvPr id="777" name="Arc 40"/>
          <p:cNvSpPr>
            <a:spLocks/>
          </p:cNvSpPr>
          <p:nvPr/>
        </p:nvSpPr>
        <p:spPr bwMode="auto">
          <a:xfrm rot="4500000">
            <a:off x="4681706" y="2956328"/>
            <a:ext cx="900113" cy="1216025"/>
          </a:xfrm>
          <a:custGeom>
            <a:avLst/>
            <a:gdLst>
              <a:gd name="T0" fmla="*/ 2147483647 w 20690"/>
              <a:gd name="T1" fmla="*/ 0 h 20919"/>
              <a:gd name="T2" fmla="*/ 2147483647 w 20690"/>
              <a:gd name="T3" fmla="*/ 2147483647 h 20919"/>
              <a:gd name="T4" fmla="*/ 0 w 20690"/>
              <a:gd name="T5" fmla="*/ 2147483647 h 20919"/>
              <a:gd name="T6" fmla="*/ 0 60000 65536"/>
              <a:gd name="T7" fmla="*/ 0 60000 65536"/>
              <a:gd name="T8" fmla="*/ 0 60000 65536"/>
              <a:gd name="T9" fmla="*/ 0 w 20690"/>
              <a:gd name="T10" fmla="*/ 0 h 20919"/>
              <a:gd name="T11" fmla="*/ 20690 w 20690"/>
              <a:gd name="T12" fmla="*/ 20919 h 20919"/>
            </a:gdLst>
            <a:ahLst/>
            <a:cxnLst>
              <a:cxn ang="T6">
                <a:pos x="T0" y="T1"/>
              </a:cxn>
              <a:cxn ang="T7">
                <a:pos x="T2" y="T3"/>
              </a:cxn>
              <a:cxn ang="T8">
                <a:pos x="T4" y="T5"/>
              </a:cxn>
            </a:cxnLst>
            <a:rect l="T9" t="T10" r="T11" b="T12"/>
            <a:pathLst>
              <a:path w="20690" h="20919" fill="none" extrusionOk="0">
                <a:moveTo>
                  <a:pt x="5380" y="-1"/>
                </a:moveTo>
                <a:cubicBezTo>
                  <a:pt x="12709" y="1884"/>
                  <a:pt x="18517" y="7467"/>
                  <a:pt x="20690" y="14716"/>
                </a:cubicBezTo>
              </a:path>
              <a:path w="20690" h="20919" stroke="0" extrusionOk="0">
                <a:moveTo>
                  <a:pt x="5380" y="-1"/>
                </a:moveTo>
                <a:cubicBezTo>
                  <a:pt x="12709" y="1884"/>
                  <a:pt x="18517" y="7467"/>
                  <a:pt x="20690" y="14716"/>
                </a:cubicBezTo>
                <a:lnTo>
                  <a:pt x="0" y="20919"/>
                </a:lnTo>
                <a:close/>
              </a:path>
            </a:pathLst>
          </a:custGeom>
          <a:gradFill rotWithShape="1">
            <a:gsLst>
              <a:gs pos="0">
                <a:srgbClr val="3C3C90"/>
              </a:gs>
              <a:gs pos="100000">
                <a:srgbClr val="336699"/>
              </a:gs>
            </a:gsLst>
            <a:lin ang="5400000" scaled="1"/>
          </a:gradFill>
          <a:ln w="9525">
            <a:noFill/>
            <a:round/>
            <a:headEnd/>
            <a:tailEnd/>
          </a:ln>
        </p:spPr>
        <p:txBody>
          <a:bodyPr wrap="none" anchor="ctr"/>
          <a:lstStyle/>
          <a:p>
            <a:endParaRPr lang="zh-CN" altLang="en-US"/>
          </a:p>
        </p:txBody>
      </p:sp>
      <p:sp>
        <p:nvSpPr>
          <p:cNvPr id="778" name="Arc 41"/>
          <p:cNvSpPr>
            <a:spLocks/>
          </p:cNvSpPr>
          <p:nvPr/>
        </p:nvSpPr>
        <p:spPr bwMode="auto">
          <a:xfrm rot="20724172" flipH="1">
            <a:off x="3073848" y="2472537"/>
            <a:ext cx="1203325" cy="902494"/>
          </a:xfrm>
          <a:custGeom>
            <a:avLst/>
            <a:gdLst>
              <a:gd name="T0" fmla="*/ 2147483647 w 20704"/>
              <a:gd name="T1" fmla="*/ 0 h 20739"/>
              <a:gd name="T2" fmla="*/ 2147483647 w 20704"/>
              <a:gd name="T3" fmla="*/ 2147483647 h 20739"/>
              <a:gd name="T4" fmla="*/ 0 w 20704"/>
              <a:gd name="T5" fmla="*/ 2147483647 h 20739"/>
              <a:gd name="T6" fmla="*/ 0 60000 65536"/>
              <a:gd name="T7" fmla="*/ 0 60000 65536"/>
              <a:gd name="T8" fmla="*/ 0 60000 65536"/>
              <a:gd name="T9" fmla="*/ 0 w 20704"/>
              <a:gd name="T10" fmla="*/ 0 h 20739"/>
              <a:gd name="T11" fmla="*/ 20704 w 20704"/>
              <a:gd name="T12" fmla="*/ 20739 h 20739"/>
            </a:gdLst>
            <a:ahLst/>
            <a:cxnLst>
              <a:cxn ang="T6">
                <a:pos x="T0" y="T1"/>
              </a:cxn>
              <a:cxn ang="T7">
                <a:pos x="T2" y="T3"/>
              </a:cxn>
              <a:cxn ang="T8">
                <a:pos x="T4" y="T5"/>
              </a:cxn>
            </a:cxnLst>
            <a:rect l="T9" t="T10" r="T11" b="T12"/>
            <a:pathLst>
              <a:path w="20704" h="20739" fill="none" extrusionOk="0">
                <a:moveTo>
                  <a:pt x="6037" y="0"/>
                </a:moveTo>
                <a:cubicBezTo>
                  <a:pt x="13087" y="2052"/>
                  <a:pt x="18611" y="7545"/>
                  <a:pt x="20704" y="14582"/>
                </a:cubicBezTo>
              </a:path>
              <a:path w="20704" h="20739" stroke="0" extrusionOk="0">
                <a:moveTo>
                  <a:pt x="6037" y="0"/>
                </a:moveTo>
                <a:cubicBezTo>
                  <a:pt x="13087" y="2052"/>
                  <a:pt x="18611" y="7545"/>
                  <a:pt x="20704" y="14582"/>
                </a:cubicBezTo>
                <a:lnTo>
                  <a:pt x="0" y="20739"/>
                </a:lnTo>
                <a:close/>
              </a:path>
            </a:pathLst>
          </a:custGeom>
          <a:gradFill rotWithShape="1">
            <a:gsLst>
              <a:gs pos="0">
                <a:srgbClr val="296540"/>
              </a:gs>
              <a:gs pos="100000">
                <a:srgbClr val="3D9983"/>
              </a:gs>
            </a:gsLst>
            <a:lin ang="5400000" scaled="1"/>
          </a:gradFill>
          <a:ln w="9525">
            <a:noFill/>
            <a:round/>
            <a:headEnd/>
            <a:tailEnd/>
          </a:ln>
        </p:spPr>
        <p:txBody>
          <a:bodyPr wrap="none" anchor="ctr"/>
          <a:lstStyle/>
          <a:p>
            <a:endParaRPr lang="zh-CN" altLang="en-US"/>
          </a:p>
        </p:txBody>
      </p:sp>
      <p:sp>
        <p:nvSpPr>
          <p:cNvPr id="779" name="Arc 42"/>
          <p:cNvSpPr>
            <a:spLocks/>
          </p:cNvSpPr>
          <p:nvPr/>
        </p:nvSpPr>
        <p:spPr bwMode="auto">
          <a:xfrm rot="17100000" flipH="1">
            <a:off x="3234978" y="2957519"/>
            <a:ext cx="895350" cy="1211262"/>
          </a:xfrm>
          <a:custGeom>
            <a:avLst/>
            <a:gdLst>
              <a:gd name="T0" fmla="*/ 2147483647 w 20584"/>
              <a:gd name="T1" fmla="*/ 0 h 20851"/>
              <a:gd name="T2" fmla="*/ 2147483647 w 20584"/>
              <a:gd name="T3" fmla="*/ 2147483647 h 20851"/>
              <a:gd name="T4" fmla="*/ 0 w 20584"/>
              <a:gd name="T5" fmla="*/ 2147483647 h 20851"/>
              <a:gd name="T6" fmla="*/ 0 60000 65536"/>
              <a:gd name="T7" fmla="*/ 0 60000 65536"/>
              <a:gd name="T8" fmla="*/ 0 60000 65536"/>
              <a:gd name="T9" fmla="*/ 0 w 20584"/>
              <a:gd name="T10" fmla="*/ 0 h 20851"/>
              <a:gd name="T11" fmla="*/ 20584 w 20584"/>
              <a:gd name="T12" fmla="*/ 20851 h 20851"/>
            </a:gdLst>
            <a:ahLst/>
            <a:cxnLst>
              <a:cxn ang="T6">
                <a:pos x="T0" y="T1"/>
              </a:cxn>
              <a:cxn ang="T7">
                <a:pos x="T2" y="T3"/>
              </a:cxn>
              <a:cxn ang="T8">
                <a:pos x="T4" y="T5"/>
              </a:cxn>
            </a:cxnLst>
            <a:rect l="T9" t="T10" r="T11" b="T12"/>
            <a:pathLst>
              <a:path w="20584" h="20851" fill="none" extrusionOk="0">
                <a:moveTo>
                  <a:pt x="5637" y="-1"/>
                </a:moveTo>
                <a:cubicBezTo>
                  <a:pt x="12728" y="1916"/>
                  <a:pt x="18358" y="7305"/>
                  <a:pt x="20584" y="14305"/>
                </a:cubicBezTo>
              </a:path>
              <a:path w="20584" h="20851" stroke="0" extrusionOk="0">
                <a:moveTo>
                  <a:pt x="5637" y="-1"/>
                </a:moveTo>
                <a:cubicBezTo>
                  <a:pt x="12728" y="1916"/>
                  <a:pt x="18358" y="7305"/>
                  <a:pt x="20584" y="14305"/>
                </a:cubicBezTo>
                <a:lnTo>
                  <a:pt x="0" y="20851"/>
                </a:lnTo>
                <a:close/>
              </a:path>
            </a:pathLst>
          </a:custGeom>
          <a:gradFill rotWithShape="1">
            <a:gsLst>
              <a:gs pos="0">
                <a:srgbClr val="57902C"/>
              </a:gs>
              <a:gs pos="100000">
                <a:srgbClr val="90C94B"/>
              </a:gs>
            </a:gsLst>
            <a:lin ang="5400000" scaled="1"/>
          </a:gradFill>
          <a:ln w="9525">
            <a:noFill/>
            <a:round/>
            <a:headEnd/>
            <a:tailEnd/>
          </a:ln>
        </p:spPr>
        <p:txBody>
          <a:bodyPr wrap="none" anchor="ctr"/>
          <a:lstStyle/>
          <a:p>
            <a:endParaRPr lang="zh-CN" altLang="en-US"/>
          </a:p>
        </p:txBody>
      </p:sp>
      <p:sp>
        <p:nvSpPr>
          <p:cNvPr id="780" name="Arc 43"/>
          <p:cNvSpPr>
            <a:spLocks/>
          </p:cNvSpPr>
          <p:nvPr/>
        </p:nvSpPr>
        <p:spPr bwMode="auto">
          <a:xfrm rot="-2700000">
            <a:off x="3999359" y="2499922"/>
            <a:ext cx="831850" cy="621506"/>
          </a:xfrm>
          <a:custGeom>
            <a:avLst/>
            <a:gdLst>
              <a:gd name="T0" fmla="*/ 2147483647 w 20757"/>
              <a:gd name="T1" fmla="*/ 0 h 20712"/>
              <a:gd name="T2" fmla="*/ 2147483647 w 20757"/>
              <a:gd name="T3" fmla="*/ 2147483647 h 20712"/>
              <a:gd name="T4" fmla="*/ 0 w 20757"/>
              <a:gd name="T5" fmla="*/ 2147483647 h 20712"/>
              <a:gd name="T6" fmla="*/ 0 60000 65536"/>
              <a:gd name="T7" fmla="*/ 0 60000 65536"/>
              <a:gd name="T8" fmla="*/ 0 60000 65536"/>
              <a:gd name="T9" fmla="*/ 0 w 20757"/>
              <a:gd name="T10" fmla="*/ 0 h 20712"/>
              <a:gd name="T11" fmla="*/ 20757 w 20757"/>
              <a:gd name="T12" fmla="*/ 20712 h 20712"/>
            </a:gdLst>
            <a:ahLst/>
            <a:cxnLst>
              <a:cxn ang="T6">
                <a:pos x="T0" y="T1"/>
              </a:cxn>
              <a:cxn ang="T7">
                <a:pos x="T2" y="T3"/>
              </a:cxn>
              <a:cxn ang="T8">
                <a:pos x="T4" y="T5"/>
              </a:cxn>
            </a:cxnLst>
            <a:rect l="T9" t="T10" r="T11" b="T12"/>
            <a:pathLst>
              <a:path w="20757" h="20712" fill="none" extrusionOk="0">
                <a:moveTo>
                  <a:pt x="6129" y="-1"/>
                </a:moveTo>
                <a:cubicBezTo>
                  <a:pt x="13201" y="2092"/>
                  <a:pt x="18716" y="7649"/>
                  <a:pt x="20757" y="14736"/>
                </a:cubicBezTo>
              </a:path>
              <a:path w="20757" h="20712" stroke="0" extrusionOk="0">
                <a:moveTo>
                  <a:pt x="6129" y="-1"/>
                </a:moveTo>
                <a:cubicBezTo>
                  <a:pt x="13201" y="2092"/>
                  <a:pt x="18716" y="7649"/>
                  <a:pt x="20757" y="14736"/>
                </a:cubicBezTo>
                <a:lnTo>
                  <a:pt x="0" y="20712"/>
                </a:lnTo>
                <a:close/>
              </a:path>
            </a:pathLst>
          </a:custGeom>
          <a:gradFill rotWithShape="1">
            <a:gsLst>
              <a:gs pos="0">
                <a:srgbClr val="136AA5"/>
              </a:gs>
              <a:gs pos="100000">
                <a:srgbClr val="69B8E9"/>
              </a:gs>
            </a:gsLst>
            <a:lin ang="5400000" scaled="1"/>
          </a:gradFill>
          <a:ln w="3175">
            <a:solidFill>
              <a:srgbClr val="C0C0C0"/>
            </a:solidFill>
            <a:round/>
            <a:headEnd/>
            <a:tailEnd/>
          </a:ln>
        </p:spPr>
        <p:txBody>
          <a:bodyPr wrap="none" anchor="ctr"/>
          <a:lstStyle/>
          <a:p>
            <a:endParaRPr lang="zh-CN" altLang="en-US"/>
          </a:p>
        </p:txBody>
      </p:sp>
      <p:sp>
        <p:nvSpPr>
          <p:cNvPr id="781" name="Arc 44"/>
          <p:cNvSpPr>
            <a:spLocks/>
          </p:cNvSpPr>
          <p:nvPr/>
        </p:nvSpPr>
        <p:spPr bwMode="auto">
          <a:xfrm rot="884024">
            <a:off x="4507359" y="2711853"/>
            <a:ext cx="827088" cy="622697"/>
          </a:xfrm>
          <a:custGeom>
            <a:avLst/>
            <a:gdLst>
              <a:gd name="T0" fmla="*/ 2147483647 w 20590"/>
              <a:gd name="T1" fmla="*/ 0 h 20754"/>
              <a:gd name="T2" fmla="*/ 2147483647 w 20590"/>
              <a:gd name="T3" fmla="*/ 2147483647 h 20754"/>
              <a:gd name="T4" fmla="*/ 0 w 20590"/>
              <a:gd name="T5" fmla="*/ 2147483647 h 20754"/>
              <a:gd name="T6" fmla="*/ 0 60000 65536"/>
              <a:gd name="T7" fmla="*/ 0 60000 65536"/>
              <a:gd name="T8" fmla="*/ 0 60000 65536"/>
              <a:gd name="T9" fmla="*/ 0 w 20590"/>
              <a:gd name="T10" fmla="*/ 0 h 20754"/>
              <a:gd name="T11" fmla="*/ 20590 w 20590"/>
              <a:gd name="T12" fmla="*/ 20754 h 20754"/>
            </a:gdLst>
            <a:ahLst/>
            <a:cxnLst>
              <a:cxn ang="T6">
                <a:pos x="T0" y="T1"/>
              </a:cxn>
              <a:cxn ang="T7">
                <a:pos x="T2" y="T3"/>
              </a:cxn>
              <a:cxn ang="T8">
                <a:pos x="T4" y="T5"/>
              </a:cxn>
            </a:cxnLst>
            <a:rect l="T9" t="T10" r="T11" b="T12"/>
            <a:pathLst>
              <a:path w="20590" h="20754" fill="none" extrusionOk="0">
                <a:moveTo>
                  <a:pt x="5985" y="0"/>
                </a:moveTo>
                <a:cubicBezTo>
                  <a:pt x="12926" y="2001"/>
                  <a:pt x="18406" y="7339"/>
                  <a:pt x="20589" y="14225"/>
                </a:cubicBezTo>
              </a:path>
              <a:path w="20590" h="20754" stroke="0" extrusionOk="0">
                <a:moveTo>
                  <a:pt x="5985" y="0"/>
                </a:moveTo>
                <a:cubicBezTo>
                  <a:pt x="12926" y="2001"/>
                  <a:pt x="18406" y="7339"/>
                  <a:pt x="20589" y="14225"/>
                </a:cubicBezTo>
                <a:lnTo>
                  <a:pt x="0" y="20754"/>
                </a:lnTo>
                <a:close/>
              </a:path>
            </a:pathLst>
          </a:custGeom>
          <a:gradFill rotWithShape="1">
            <a:gsLst>
              <a:gs pos="0">
                <a:srgbClr val="1C357A"/>
              </a:gs>
              <a:gs pos="100000">
                <a:srgbClr val="446AD4"/>
              </a:gs>
            </a:gsLst>
            <a:lin ang="5400000" scaled="1"/>
          </a:gradFill>
          <a:ln w="3175">
            <a:solidFill>
              <a:srgbClr val="C0C0C0"/>
            </a:solidFill>
            <a:round/>
            <a:headEnd/>
            <a:tailEnd/>
          </a:ln>
        </p:spPr>
        <p:txBody>
          <a:bodyPr wrap="none" anchor="ctr"/>
          <a:lstStyle/>
          <a:p>
            <a:endParaRPr lang="zh-CN" altLang="en-US"/>
          </a:p>
        </p:txBody>
      </p:sp>
      <p:sp>
        <p:nvSpPr>
          <p:cNvPr id="782" name="Arc 45"/>
          <p:cNvSpPr>
            <a:spLocks/>
          </p:cNvSpPr>
          <p:nvPr/>
        </p:nvSpPr>
        <p:spPr bwMode="auto">
          <a:xfrm rot="4500000">
            <a:off x="4622850" y="3047213"/>
            <a:ext cx="621506" cy="836612"/>
          </a:xfrm>
          <a:custGeom>
            <a:avLst/>
            <a:gdLst>
              <a:gd name="T0" fmla="*/ 2147483647 w 20718"/>
              <a:gd name="T1" fmla="*/ 0 h 20863"/>
              <a:gd name="T2" fmla="*/ 2147483647 w 20718"/>
              <a:gd name="T3" fmla="*/ 2147483647 h 20863"/>
              <a:gd name="T4" fmla="*/ 0 w 20718"/>
              <a:gd name="T5" fmla="*/ 2147483647 h 20863"/>
              <a:gd name="T6" fmla="*/ 0 60000 65536"/>
              <a:gd name="T7" fmla="*/ 0 60000 65536"/>
              <a:gd name="T8" fmla="*/ 0 60000 65536"/>
              <a:gd name="T9" fmla="*/ 0 w 20718"/>
              <a:gd name="T10" fmla="*/ 0 h 20863"/>
              <a:gd name="T11" fmla="*/ 20718 w 20718"/>
              <a:gd name="T12" fmla="*/ 20863 h 20863"/>
            </a:gdLst>
            <a:ahLst/>
            <a:cxnLst>
              <a:cxn ang="T6">
                <a:pos x="T0" y="T1"/>
              </a:cxn>
              <a:cxn ang="T7">
                <a:pos x="T2" y="T3"/>
              </a:cxn>
              <a:cxn ang="T8">
                <a:pos x="T4" y="T5"/>
              </a:cxn>
            </a:cxnLst>
            <a:rect l="T9" t="T10" r="T11" b="T12"/>
            <a:pathLst>
              <a:path w="20718" h="20863" fill="none" extrusionOk="0">
                <a:moveTo>
                  <a:pt x="5593" y="-1"/>
                </a:moveTo>
                <a:cubicBezTo>
                  <a:pt x="12859" y="1947"/>
                  <a:pt x="18589" y="7536"/>
                  <a:pt x="20717" y="14753"/>
                </a:cubicBezTo>
              </a:path>
              <a:path w="20718" h="20863" stroke="0" extrusionOk="0">
                <a:moveTo>
                  <a:pt x="5593" y="-1"/>
                </a:moveTo>
                <a:cubicBezTo>
                  <a:pt x="12859" y="1947"/>
                  <a:pt x="18589" y="7536"/>
                  <a:pt x="20717" y="14753"/>
                </a:cubicBezTo>
                <a:lnTo>
                  <a:pt x="0" y="20863"/>
                </a:lnTo>
                <a:close/>
              </a:path>
            </a:pathLst>
          </a:custGeom>
          <a:gradFill rotWithShape="1">
            <a:gsLst>
              <a:gs pos="0">
                <a:srgbClr val="2E2E70"/>
              </a:gs>
              <a:gs pos="100000">
                <a:srgbClr val="336699"/>
              </a:gs>
            </a:gsLst>
            <a:lin ang="5400000" scaled="1"/>
          </a:gradFill>
          <a:ln w="3175">
            <a:solidFill>
              <a:srgbClr val="C0C0C0"/>
            </a:solidFill>
            <a:round/>
            <a:headEnd/>
            <a:tailEnd/>
          </a:ln>
        </p:spPr>
        <p:txBody>
          <a:bodyPr wrap="none" anchor="ctr"/>
          <a:lstStyle/>
          <a:p>
            <a:endParaRPr lang="zh-CN" altLang="en-US"/>
          </a:p>
        </p:txBody>
      </p:sp>
      <p:sp>
        <p:nvSpPr>
          <p:cNvPr id="783" name="Arc 46"/>
          <p:cNvSpPr>
            <a:spLocks/>
          </p:cNvSpPr>
          <p:nvPr/>
        </p:nvSpPr>
        <p:spPr bwMode="auto">
          <a:xfrm rot="20724172" flipH="1">
            <a:off x="3496122" y="2716616"/>
            <a:ext cx="827087" cy="619125"/>
          </a:xfrm>
          <a:custGeom>
            <a:avLst/>
            <a:gdLst>
              <a:gd name="T0" fmla="*/ 2147483647 w 20600"/>
              <a:gd name="T1" fmla="*/ 0 h 20650"/>
              <a:gd name="T2" fmla="*/ 2147483647 w 20600"/>
              <a:gd name="T3" fmla="*/ 2147483647 h 20650"/>
              <a:gd name="T4" fmla="*/ 0 w 20600"/>
              <a:gd name="T5" fmla="*/ 2147483647 h 20650"/>
              <a:gd name="T6" fmla="*/ 0 60000 65536"/>
              <a:gd name="T7" fmla="*/ 0 60000 65536"/>
              <a:gd name="T8" fmla="*/ 0 60000 65536"/>
              <a:gd name="T9" fmla="*/ 0 w 20600"/>
              <a:gd name="T10" fmla="*/ 0 h 20650"/>
              <a:gd name="T11" fmla="*/ 20600 w 20600"/>
              <a:gd name="T12" fmla="*/ 20650 h 20650"/>
            </a:gdLst>
            <a:ahLst/>
            <a:cxnLst>
              <a:cxn ang="T6">
                <a:pos x="T0" y="T1"/>
              </a:cxn>
              <a:cxn ang="T7">
                <a:pos x="T2" y="T3"/>
              </a:cxn>
              <a:cxn ang="T8">
                <a:pos x="T4" y="T5"/>
              </a:cxn>
            </a:cxnLst>
            <a:rect l="T9" t="T10" r="T11" b="T12"/>
            <a:pathLst>
              <a:path w="20600" h="20650" fill="none" extrusionOk="0">
                <a:moveTo>
                  <a:pt x="6335" y="-1"/>
                </a:moveTo>
                <a:cubicBezTo>
                  <a:pt x="13128" y="2084"/>
                  <a:pt x="18462" y="7376"/>
                  <a:pt x="20600" y="14153"/>
                </a:cubicBezTo>
              </a:path>
              <a:path w="20600" h="20650" stroke="0" extrusionOk="0">
                <a:moveTo>
                  <a:pt x="6335" y="-1"/>
                </a:moveTo>
                <a:cubicBezTo>
                  <a:pt x="13128" y="2084"/>
                  <a:pt x="18462" y="7376"/>
                  <a:pt x="20600" y="14153"/>
                </a:cubicBezTo>
                <a:lnTo>
                  <a:pt x="0" y="20650"/>
                </a:lnTo>
                <a:close/>
              </a:path>
            </a:pathLst>
          </a:custGeom>
          <a:gradFill rotWithShape="1">
            <a:gsLst>
              <a:gs pos="0">
                <a:srgbClr val="163622"/>
              </a:gs>
              <a:gs pos="100000">
                <a:srgbClr val="3D9983"/>
              </a:gs>
            </a:gsLst>
            <a:lin ang="5400000" scaled="1"/>
          </a:gradFill>
          <a:ln w="3175">
            <a:solidFill>
              <a:srgbClr val="C0C0C0"/>
            </a:solidFill>
            <a:round/>
            <a:headEnd/>
            <a:tailEnd/>
          </a:ln>
        </p:spPr>
        <p:txBody>
          <a:bodyPr wrap="none" anchor="ctr"/>
          <a:lstStyle/>
          <a:p>
            <a:endParaRPr lang="zh-CN" altLang="en-US"/>
          </a:p>
        </p:txBody>
      </p:sp>
      <p:sp>
        <p:nvSpPr>
          <p:cNvPr id="784" name="Arc 47"/>
          <p:cNvSpPr>
            <a:spLocks/>
          </p:cNvSpPr>
          <p:nvPr/>
        </p:nvSpPr>
        <p:spPr bwMode="auto">
          <a:xfrm rot="17100000" flipH="1">
            <a:off x="3598516" y="3047609"/>
            <a:ext cx="619125" cy="833438"/>
          </a:xfrm>
          <a:custGeom>
            <a:avLst/>
            <a:gdLst>
              <a:gd name="T0" fmla="*/ 2147483647 w 20653"/>
              <a:gd name="T1" fmla="*/ 0 h 20821"/>
              <a:gd name="T2" fmla="*/ 2147483647 w 20653"/>
              <a:gd name="T3" fmla="*/ 2147483647 h 20821"/>
              <a:gd name="T4" fmla="*/ 0 w 20653"/>
              <a:gd name="T5" fmla="*/ 2147483647 h 20821"/>
              <a:gd name="T6" fmla="*/ 0 60000 65536"/>
              <a:gd name="T7" fmla="*/ 0 60000 65536"/>
              <a:gd name="T8" fmla="*/ 0 60000 65536"/>
              <a:gd name="T9" fmla="*/ 0 w 20653"/>
              <a:gd name="T10" fmla="*/ 0 h 20821"/>
              <a:gd name="T11" fmla="*/ 20653 w 20653"/>
              <a:gd name="T12" fmla="*/ 20821 h 20821"/>
            </a:gdLst>
            <a:ahLst/>
            <a:cxnLst>
              <a:cxn ang="T6">
                <a:pos x="T0" y="T1"/>
              </a:cxn>
              <a:cxn ang="T7">
                <a:pos x="T2" y="T3"/>
              </a:cxn>
              <a:cxn ang="T8">
                <a:pos x="T4" y="T5"/>
              </a:cxn>
            </a:cxnLst>
            <a:rect l="T9" t="T10" r="T11" b="T12"/>
            <a:pathLst>
              <a:path w="20653" h="20821" fill="none" extrusionOk="0">
                <a:moveTo>
                  <a:pt x="5747" y="-1"/>
                </a:moveTo>
                <a:cubicBezTo>
                  <a:pt x="12867" y="1965"/>
                  <a:pt x="18490" y="7432"/>
                  <a:pt x="20653" y="14495"/>
                </a:cubicBezTo>
              </a:path>
              <a:path w="20653" h="20821" stroke="0" extrusionOk="0">
                <a:moveTo>
                  <a:pt x="5747" y="-1"/>
                </a:moveTo>
                <a:cubicBezTo>
                  <a:pt x="12867" y="1965"/>
                  <a:pt x="18490" y="7432"/>
                  <a:pt x="20653" y="14495"/>
                </a:cubicBezTo>
                <a:lnTo>
                  <a:pt x="0" y="20821"/>
                </a:lnTo>
                <a:close/>
              </a:path>
            </a:pathLst>
          </a:custGeom>
          <a:gradFill rotWithShape="1">
            <a:gsLst>
              <a:gs pos="0">
                <a:srgbClr val="426D21"/>
              </a:gs>
              <a:gs pos="100000">
                <a:srgbClr val="90C94B"/>
              </a:gs>
            </a:gsLst>
            <a:lin ang="5400000" scaled="1"/>
          </a:gradFill>
          <a:ln w="3175">
            <a:solidFill>
              <a:srgbClr val="C0C0C0"/>
            </a:solidFill>
            <a:round/>
            <a:headEnd/>
            <a:tailEnd/>
          </a:ln>
        </p:spPr>
        <p:txBody>
          <a:bodyPr wrap="none" anchor="ctr"/>
          <a:lstStyle/>
          <a:p>
            <a:endParaRPr lang="zh-CN" altLang="en-US"/>
          </a:p>
        </p:txBody>
      </p:sp>
      <p:sp>
        <p:nvSpPr>
          <p:cNvPr id="785" name="Oval 48"/>
          <p:cNvSpPr>
            <a:spLocks noChangeArrowheads="1"/>
          </p:cNvSpPr>
          <p:nvPr/>
        </p:nvSpPr>
        <p:spPr bwMode="auto">
          <a:xfrm>
            <a:off x="3743773" y="2724950"/>
            <a:ext cx="1368425" cy="1026319"/>
          </a:xfrm>
          <a:prstGeom prst="ellipse">
            <a:avLst/>
          </a:prstGeom>
          <a:gradFill rotWithShape="1">
            <a:gsLst>
              <a:gs pos="0">
                <a:srgbClr val="BDE6FF"/>
              </a:gs>
              <a:gs pos="100000">
                <a:srgbClr val="CCECFF"/>
              </a:gs>
            </a:gsLst>
            <a:lin ang="5400000" scaled="1"/>
          </a:gradFill>
          <a:ln w="9525">
            <a:noFill/>
            <a:round/>
            <a:headEnd/>
            <a:tailEnd/>
          </a:ln>
        </p:spPr>
        <p:txBody>
          <a:bodyPr wrap="none" anchor="ctr"/>
          <a:lstStyle/>
          <a:p>
            <a:endParaRPr lang="zh-CN" altLang="zh-CN"/>
          </a:p>
        </p:txBody>
      </p:sp>
      <p:sp>
        <p:nvSpPr>
          <p:cNvPr id="786" name="Oval 49"/>
          <p:cNvSpPr>
            <a:spLocks noChangeArrowheads="1"/>
          </p:cNvSpPr>
          <p:nvPr/>
        </p:nvSpPr>
        <p:spPr bwMode="auto">
          <a:xfrm>
            <a:off x="3815210" y="2788053"/>
            <a:ext cx="1223963" cy="915590"/>
          </a:xfrm>
          <a:prstGeom prst="ellipse">
            <a:avLst/>
          </a:prstGeom>
          <a:gradFill rotWithShape="0">
            <a:gsLst>
              <a:gs pos="0">
                <a:srgbClr val="A1BAD3">
                  <a:alpha val="64998"/>
                </a:srgbClr>
              </a:gs>
              <a:gs pos="100000">
                <a:srgbClr val="E4EBF2">
                  <a:alpha val="62999"/>
                </a:srgbClr>
              </a:gs>
            </a:gsLst>
            <a:lin ang="5400000" scaled="1"/>
          </a:gradFill>
          <a:ln w="9525">
            <a:noFill/>
            <a:round/>
            <a:headEnd/>
            <a:tailEnd/>
          </a:ln>
        </p:spPr>
        <p:txBody>
          <a:bodyPr wrap="none" anchor="ctr"/>
          <a:lstStyle/>
          <a:p>
            <a:pPr algn="ctr" latinLnBrk="1"/>
            <a:endParaRPr kumimoji="1" lang="zh-CN" altLang="zh-CN" sz="1600">
              <a:ea typeface="HY견고딕"/>
              <a:cs typeface="HY견고딕"/>
            </a:endParaRPr>
          </a:p>
        </p:txBody>
      </p:sp>
      <p:sp>
        <p:nvSpPr>
          <p:cNvPr id="787" name="AutoShape 52"/>
          <p:cNvSpPr>
            <a:spLocks noChangeAspect="1" noChangeArrowheads="1"/>
          </p:cNvSpPr>
          <p:nvPr/>
        </p:nvSpPr>
        <p:spPr bwMode="auto">
          <a:xfrm>
            <a:off x="3816798" y="2789243"/>
            <a:ext cx="1220787" cy="915591"/>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51" y="10800"/>
                </a:moveTo>
                <a:cubicBezTo>
                  <a:pt x="451" y="16516"/>
                  <a:pt x="5084" y="21149"/>
                  <a:pt x="10800" y="21149"/>
                </a:cubicBezTo>
                <a:cubicBezTo>
                  <a:pt x="16516" y="21149"/>
                  <a:pt x="21149" y="16516"/>
                  <a:pt x="21149" y="10800"/>
                </a:cubicBezTo>
                <a:cubicBezTo>
                  <a:pt x="21149" y="5084"/>
                  <a:pt x="16516" y="451"/>
                  <a:pt x="10800" y="451"/>
                </a:cubicBezTo>
                <a:cubicBezTo>
                  <a:pt x="5084" y="451"/>
                  <a:pt x="451" y="5084"/>
                  <a:pt x="451" y="10800"/>
                </a:cubicBezTo>
                <a:close/>
              </a:path>
            </a:pathLst>
          </a:custGeom>
          <a:gradFill rotWithShape="1">
            <a:gsLst>
              <a:gs pos="0">
                <a:srgbClr val="CCECFF">
                  <a:alpha val="0"/>
                </a:srgbClr>
              </a:gs>
              <a:gs pos="100000">
                <a:srgbClr val="068ECC"/>
              </a:gs>
            </a:gsLst>
            <a:lin ang="5400000" scaled="1"/>
          </a:gradFill>
          <a:ln w="9525">
            <a:noFill/>
            <a:round/>
            <a:headEnd/>
            <a:tailEnd/>
          </a:ln>
        </p:spPr>
        <p:txBody>
          <a:bodyPr wrap="none" anchor="ctr"/>
          <a:lstStyle/>
          <a:p>
            <a:endParaRPr lang="zh-CN" altLang="en-US"/>
          </a:p>
        </p:txBody>
      </p:sp>
      <p:pic>
        <p:nvPicPr>
          <p:cNvPr id="788" name="Picture 74" descr="02章_05-2"/>
          <p:cNvPicPr>
            <a:picLocks noChangeAspect="1" noChangeArrowheads="1"/>
          </p:cNvPicPr>
          <p:nvPr/>
        </p:nvPicPr>
        <p:blipFill>
          <a:blip r:embed="rId2" cstate="print"/>
          <a:srcRect b="22370"/>
          <a:stretch>
            <a:fillRect/>
          </a:stretch>
        </p:blipFill>
        <p:spPr bwMode="auto">
          <a:xfrm>
            <a:off x="3635896" y="3687893"/>
            <a:ext cx="1657350" cy="756065"/>
          </a:xfrm>
          <a:prstGeom prst="rect">
            <a:avLst/>
          </a:prstGeom>
          <a:noFill/>
          <a:ln w="9525">
            <a:noFill/>
            <a:miter lim="800000"/>
            <a:headEnd/>
            <a:tailEnd/>
          </a:ln>
        </p:spPr>
      </p:pic>
      <p:pic>
        <p:nvPicPr>
          <p:cNvPr id="789" name="Picture 105" descr="02章_05-1"/>
          <p:cNvPicPr>
            <a:picLocks noChangeAspect="1" noChangeArrowheads="1"/>
          </p:cNvPicPr>
          <p:nvPr/>
        </p:nvPicPr>
        <p:blipFill>
          <a:blip r:embed="rId3" cstate="print"/>
          <a:srcRect/>
          <a:stretch>
            <a:fillRect/>
          </a:stretch>
        </p:blipFill>
        <p:spPr bwMode="auto">
          <a:xfrm>
            <a:off x="3564385" y="3463138"/>
            <a:ext cx="188913" cy="136922"/>
          </a:xfrm>
          <a:prstGeom prst="rect">
            <a:avLst/>
          </a:prstGeom>
          <a:noFill/>
          <a:ln w="9525">
            <a:noFill/>
            <a:miter lim="800000"/>
            <a:headEnd/>
            <a:tailEnd/>
          </a:ln>
        </p:spPr>
      </p:pic>
      <p:pic>
        <p:nvPicPr>
          <p:cNvPr id="790" name="Picture 106" descr="02章_05-1"/>
          <p:cNvPicPr>
            <a:picLocks noChangeAspect="1" noChangeArrowheads="1"/>
          </p:cNvPicPr>
          <p:nvPr/>
        </p:nvPicPr>
        <p:blipFill>
          <a:blip r:embed="rId3" cstate="print"/>
          <a:srcRect/>
          <a:stretch>
            <a:fillRect/>
          </a:stretch>
        </p:blipFill>
        <p:spPr bwMode="auto">
          <a:xfrm>
            <a:off x="3591372" y="2815438"/>
            <a:ext cx="188912" cy="136922"/>
          </a:xfrm>
          <a:prstGeom prst="rect">
            <a:avLst/>
          </a:prstGeom>
          <a:noFill/>
          <a:ln w="9525">
            <a:noFill/>
            <a:miter lim="800000"/>
            <a:headEnd/>
            <a:tailEnd/>
          </a:ln>
        </p:spPr>
      </p:pic>
      <p:pic>
        <p:nvPicPr>
          <p:cNvPr id="791" name="Picture 107" descr="02章_05-1"/>
          <p:cNvPicPr>
            <a:picLocks noChangeAspect="1" noChangeArrowheads="1"/>
          </p:cNvPicPr>
          <p:nvPr/>
        </p:nvPicPr>
        <p:blipFill>
          <a:blip r:embed="rId3" cstate="print"/>
          <a:srcRect/>
          <a:stretch>
            <a:fillRect/>
          </a:stretch>
        </p:blipFill>
        <p:spPr bwMode="auto">
          <a:xfrm>
            <a:off x="4332735" y="2545165"/>
            <a:ext cx="188913" cy="136922"/>
          </a:xfrm>
          <a:prstGeom prst="rect">
            <a:avLst/>
          </a:prstGeom>
          <a:noFill/>
          <a:ln w="9525">
            <a:noFill/>
            <a:miter lim="800000"/>
            <a:headEnd/>
            <a:tailEnd/>
          </a:ln>
        </p:spPr>
      </p:pic>
      <p:pic>
        <p:nvPicPr>
          <p:cNvPr id="792" name="Picture 108" descr="02章_05-1"/>
          <p:cNvPicPr>
            <a:picLocks noChangeAspect="1" noChangeArrowheads="1"/>
          </p:cNvPicPr>
          <p:nvPr/>
        </p:nvPicPr>
        <p:blipFill>
          <a:blip r:embed="rId3" cstate="print"/>
          <a:srcRect/>
          <a:stretch>
            <a:fillRect/>
          </a:stretch>
        </p:blipFill>
        <p:spPr bwMode="auto">
          <a:xfrm>
            <a:off x="5075685" y="2869015"/>
            <a:ext cx="188913" cy="136922"/>
          </a:xfrm>
          <a:prstGeom prst="rect">
            <a:avLst/>
          </a:prstGeom>
          <a:noFill/>
          <a:ln w="9525">
            <a:noFill/>
            <a:miter lim="800000"/>
            <a:headEnd/>
            <a:tailEnd/>
          </a:ln>
        </p:spPr>
      </p:pic>
      <p:pic>
        <p:nvPicPr>
          <p:cNvPr id="793" name="Picture 109" descr="02章_05-1"/>
          <p:cNvPicPr>
            <a:picLocks noChangeAspect="1" noChangeArrowheads="1"/>
          </p:cNvPicPr>
          <p:nvPr/>
        </p:nvPicPr>
        <p:blipFill>
          <a:blip r:embed="rId3" cstate="print"/>
          <a:srcRect/>
          <a:stretch>
            <a:fillRect/>
          </a:stretch>
        </p:blipFill>
        <p:spPr bwMode="auto">
          <a:xfrm>
            <a:off x="5075685" y="3463138"/>
            <a:ext cx="188913" cy="136922"/>
          </a:xfrm>
          <a:prstGeom prst="rect">
            <a:avLst/>
          </a:prstGeom>
          <a:noFill/>
          <a:ln w="9525">
            <a:noFill/>
            <a:miter lim="800000"/>
            <a:headEnd/>
            <a:tailEnd/>
          </a:ln>
        </p:spPr>
      </p:pic>
      <p:sp>
        <p:nvSpPr>
          <p:cNvPr id="794" name="Text Box 112"/>
          <p:cNvSpPr txBox="1">
            <a:spLocks noChangeArrowheads="1"/>
          </p:cNvSpPr>
          <p:nvPr/>
        </p:nvSpPr>
        <p:spPr bwMode="auto">
          <a:xfrm>
            <a:off x="5360635" y="1457857"/>
            <a:ext cx="2448272" cy="830997"/>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数据处理（算</a:t>
            </a:r>
            <a:r>
              <a:rPr lang="zh-CN" altLang="en-US" sz="2400" b="1" dirty="0">
                <a:solidFill>
                  <a:srgbClr val="FFFF00"/>
                </a:solidFill>
                <a:latin typeface="+mn-ea"/>
              </a:rPr>
              <a:t>术</a:t>
            </a:r>
            <a:r>
              <a:rPr lang="zh-CN" altLang="en-US" sz="2400" b="1" dirty="0" smtClean="0">
                <a:solidFill>
                  <a:srgbClr val="FFFF00"/>
                </a:solidFill>
                <a:latin typeface="+mn-ea"/>
              </a:rPr>
              <a:t>运算、逻辑运算）</a:t>
            </a:r>
            <a:endParaRPr lang="en-US" altLang="ko-KR" sz="2400" b="1" dirty="0" smtClean="0">
              <a:solidFill>
                <a:srgbClr val="FFFF00"/>
              </a:solidFill>
              <a:latin typeface="+mn-ea"/>
            </a:endParaRPr>
          </a:p>
        </p:txBody>
      </p:sp>
      <p:sp>
        <p:nvSpPr>
          <p:cNvPr id="796" name="Text Box 111"/>
          <p:cNvSpPr txBox="1">
            <a:spLocks noChangeArrowheads="1"/>
          </p:cNvSpPr>
          <p:nvPr/>
        </p:nvSpPr>
        <p:spPr bwMode="auto">
          <a:xfrm>
            <a:off x="689604" y="3530709"/>
            <a:ext cx="2455680" cy="830997"/>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处理机与内存之间的数据传输</a:t>
            </a:r>
            <a:endParaRPr lang="en-US" altLang="ko-KR" sz="2400" b="1" dirty="0" smtClean="0">
              <a:solidFill>
                <a:srgbClr val="FFFF00"/>
              </a:solidFill>
              <a:latin typeface="+mn-ea"/>
            </a:endParaRPr>
          </a:p>
        </p:txBody>
      </p:sp>
      <p:sp>
        <p:nvSpPr>
          <p:cNvPr id="799" name="Text Box 114"/>
          <p:cNvSpPr txBox="1">
            <a:spLocks noChangeArrowheads="1"/>
          </p:cNvSpPr>
          <p:nvPr/>
        </p:nvSpPr>
        <p:spPr bwMode="auto">
          <a:xfrm>
            <a:off x="5805869" y="3485162"/>
            <a:ext cx="1976439" cy="830997"/>
          </a:xfrm>
          <a:prstGeom prst="rect">
            <a:avLst/>
          </a:prstGeom>
          <a:noFill/>
          <a:ln w="9525">
            <a:noFill/>
            <a:miter lim="800000"/>
            <a:headEnd/>
            <a:tailEnd/>
          </a:ln>
        </p:spPr>
        <p:txBody>
          <a:bodyPr wrap="square">
            <a:spAutoFit/>
          </a:bodyPr>
          <a:lstStyle/>
          <a:p>
            <a:pPr algn="ctr" latinLnBrk="1"/>
            <a:r>
              <a:rPr lang="zh-CN" altLang="en-US" sz="2400" b="1" dirty="0" smtClean="0">
                <a:solidFill>
                  <a:schemeClr val="bg1"/>
                </a:solidFill>
                <a:latin typeface="+mn-ea"/>
              </a:rPr>
              <a:t>对其他指令的控制过程</a:t>
            </a:r>
            <a:endParaRPr lang="ko-KR" altLang="en-US" sz="2400" b="1" dirty="0" smtClean="0">
              <a:solidFill>
                <a:schemeClr val="bg1"/>
              </a:solidFill>
              <a:latin typeface="+mn-ea"/>
            </a:endParaRPr>
          </a:p>
        </p:txBody>
      </p:sp>
      <p:sp>
        <p:nvSpPr>
          <p:cNvPr id="801" name="AutoShape 121"/>
          <p:cNvSpPr>
            <a:spLocks noChangeArrowheads="1"/>
          </p:cNvSpPr>
          <p:nvPr/>
        </p:nvSpPr>
        <p:spPr bwMode="auto">
          <a:xfrm>
            <a:off x="3167509" y="3490522"/>
            <a:ext cx="604838" cy="230981"/>
          </a:xfrm>
          <a:prstGeom prst="roundRect">
            <a:avLst>
              <a:gd name="adj" fmla="val 50000"/>
            </a:avLst>
          </a:prstGeom>
          <a:noFill/>
          <a:ln w="12700">
            <a:noFill/>
            <a:round/>
            <a:headEnd/>
            <a:tailEnd/>
          </a:ln>
        </p:spPr>
        <p:txBody>
          <a:bodyPr wrap="none" anchor="ctr"/>
          <a:lstStyle/>
          <a:p>
            <a:pPr algn="ctr"/>
            <a:r>
              <a:rPr lang="en-US" altLang="ko-KR" sz="2400" b="1">
                <a:solidFill>
                  <a:srgbClr val="FFFFFF"/>
                </a:solidFill>
                <a:latin typeface="Century Gothic" pitchFamily="34" charset="0"/>
                <a:ea typeface="Gulim" pitchFamily="34" charset="-127"/>
              </a:rPr>
              <a:t>1</a:t>
            </a:r>
          </a:p>
        </p:txBody>
      </p:sp>
      <p:sp>
        <p:nvSpPr>
          <p:cNvPr id="802" name="AutoShape 122"/>
          <p:cNvSpPr>
            <a:spLocks noChangeArrowheads="1"/>
          </p:cNvSpPr>
          <p:nvPr/>
        </p:nvSpPr>
        <p:spPr bwMode="auto">
          <a:xfrm>
            <a:off x="5076056" y="3507854"/>
            <a:ext cx="604837" cy="229790"/>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4</a:t>
            </a:r>
            <a:endParaRPr lang="en-US" altLang="ko-KR" sz="2400" b="1" dirty="0">
              <a:solidFill>
                <a:srgbClr val="FFFFFF"/>
              </a:solidFill>
              <a:latin typeface="Century Gothic" pitchFamily="34" charset="0"/>
              <a:ea typeface="Gulim" pitchFamily="34" charset="-127"/>
            </a:endParaRPr>
          </a:p>
        </p:txBody>
      </p:sp>
      <p:sp>
        <p:nvSpPr>
          <p:cNvPr id="803" name="AutoShape 123"/>
          <p:cNvSpPr>
            <a:spLocks noChangeArrowheads="1"/>
          </p:cNvSpPr>
          <p:nvPr/>
        </p:nvSpPr>
        <p:spPr bwMode="auto">
          <a:xfrm>
            <a:off x="5112198" y="2788054"/>
            <a:ext cx="604837" cy="229790"/>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3</a:t>
            </a:r>
            <a:endParaRPr lang="en-US" altLang="ko-KR" sz="2400" b="1" dirty="0">
              <a:solidFill>
                <a:srgbClr val="FFFFFF"/>
              </a:solidFill>
              <a:latin typeface="Century Gothic" pitchFamily="34" charset="0"/>
              <a:ea typeface="Gulim" pitchFamily="34" charset="-127"/>
            </a:endParaRPr>
          </a:p>
        </p:txBody>
      </p:sp>
      <p:sp>
        <p:nvSpPr>
          <p:cNvPr id="804" name="AutoShape 124"/>
          <p:cNvSpPr>
            <a:spLocks noChangeArrowheads="1"/>
          </p:cNvSpPr>
          <p:nvPr/>
        </p:nvSpPr>
        <p:spPr bwMode="auto">
          <a:xfrm>
            <a:off x="3138934" y="2788054"/>
            <a:ext cx="604838" cy="229790"/>
          </a:xfrm>
          <a:prstGeom prst="roundRect">
            <a:avLst>
              <a:gd name="adj" fmla="val 50000"/>
            </a:avLst>
          </a:prstGeom>
          <a:noFill/>
          <a:ln w="12700">
            <a:noFill/>
            <a:round/>
            <a:headEnd/>
            <a:tailEnd/>
          </a:ln>
        </p:spPr>
        <p:txBody>
          <a:bodyPr wrap="none" anchor="ctr"/>
          <a:lstStyle/>
          <a:p>
            <a:pPr algn="ctr"/>
            <a:r>
              <a:rPr lang="en-US" altLang="ko-KR" sz="2400" b="1" dirty="0">
                <a:solidFill>
                  <a:srgbClr val="FFFFFF"/>
                </a:solidFill>
                <a:latin typeface="Century Gothic" pitchFamily="34" charset="0"/>
                <a:ea typeface="Gulim" pitchFamily="34" charset="-127"/>
              </a:rPr>
              <a:t>2</a:t>
            </a:r>
          </a:p>
        </p:txBody>
      </p:sp>
      <p:sp>
        <p:nvSpPr>
          <p:cNvPr id="805" name="Text Box 125"/>
          <p:cNvSpPr txBox="1">
            <a:spLocks noChangeArrowheads="1"/>
          </p:cNvSpPr>
          <p:nvPr/>
        </p:nvSpPr>
        <p:spPr bwMode="auto">
          <a:xfrm>
            <a:off x="4102501" y="2907680"/>
            <a:ext cx="700833" cy="495585"/>
          </a:xfrm>
          <a:prstGeom prst="rect">
            <a:avLst/>
          </a:prstGeom>
          <a:noFill/>
          <a:ln w="9525">
            <a:noFill/>
            <a:miter lim="800000"/>
            <a:headEnd/>
            <a:tailEnd/>
          </a:ln>
        </p:spPr>
        <p:txBody>
          <a:bodyPr wrap="none">
            <a:spAutoFit/>
          </a:bodyPr>
          <a:lstStyle/>
          <a:p>
            <a:pPr algn="ctr" latinLnBrk="1">
              <a:lnSpc>
                <a:spcPct val="150000"/>
              </a:lnSpc>
            </a:pPr>
            <a:r>
              <a:rPr kumimoji="1" lang="zh-CN" altLang="en-US" sz="2000" b="1" dirty="0" smtClean="0">
                <a:solidFill>
                  <a:schemeClr val="tx1">
                    <a:lumMod val="50000"/>
                  </a:schemeClr>
                </a:solidFill>
                <a:latin typeface="Times New Roman" pitchFamily="18" charset="0"/>
                <a:ea typeface="HY견고딕"/>
                <a:cs typeface="Times New Roman" pitchFamily="18" charset="0"/>
              </a:rPr>
              <a:t>类型</a:t>
            </a:r>
            <a:endParaRPr kumimoji="1" lang="ko-KR" altLang="en-US" sz="2000" b="1" dirty="0">
              <a:solidFill>
                <a:schemeClr val="tx1">
                  <a:lumMod val="50000"/>
                </a:schemeClr>
              </a:solidFill>
              <a:latin typeface="Times New Roman" pitchFamily="18" charset="0"/>
              <a:ea typeface="HY견고딕"/>
              <a:cs typeface="Times New Roman" pitchFamily="18" charset="0"/>
            </a:endParaRPr>
          </a:p>
        </p:txBody>
      </p:sp>
      <p:sp>
        <p:nvSpPr>
          <p:cNvPr id="808" name="Text Box 112"/>
          <p:cNvSpPr txBox="1">
            <a:spLocks noChangeArrowheads="1"/>
          </p:cNvSpPr>
          <p:nvPr/>
        </p:nvSpPr>
        <p:spPr bwMode="auto">
          <a:xfrm>
            <a:off x="642910" y="1428742"/>
            <a:ext cx="2857520" cy="892552"/>
          </a:xfrm>
          <a:prstGeom prst="rect">
            <a:avLst/>
          </a:prstGeom>
          <a:noFill/>
          <a:ln w="9525">
            <a:noFill/>
            <a:miter lim="800000"/>
            <a:headEnd/>
            <a:tailEnd/>
          </a:ln>
        </p:spPr>
        <p:txBody>
          <a:bodyPr wrap="square">
            <a:spAutoFit/>
          </a:bodyPr>
          <a:lstStyle/>
          <a:p>
            <a:pPr marL="0" lvl="1" algn="ctr"/>
            <a:r>
              <a:rPr lang="en-US" altLang="zh-CN" sz="2800" b="0" dirty="0" smtClean="0">
                <a:latin typeface="Times New Roman" pitchFamily="18" charset="0"/>
                <a:cs typeface="Times New Roman" pitchFamily="18" charset="0"/>
              </a:rPr>
              <a:t> </a:t>
            </a:r>
            <a:r>
              <a:rPr lang="zh-CN" altLang="en-US" sz="2400" b="1" dirty="0" smtClean="0">
                <a:solidFill>
                  <a:schemeClr val="bg1"/>
                </a:solidFill>
                <a:latin typeface="+mn-ea"/>
              </a:rPr>
              <a:t>处理机与外部设备之间的数据传输</a:t>
            </a:r>
            <a:endParaRPr lang="ko-KR" altLang="en-US" b="1" dirty="0" smtClean="0">
              <a:solidFill>
                <a:schemeClr val="accent2">
                  <a:lumMod val="40000"/>
                  <a:lumOff val="60000"/>
                </a:schemeClr>
              </a:solidFill>
              <a:latin typeface="+mn-ea"/>
            </a:endParaRPr>
          </a:p>
        </p:txBody>
      </p:sp>
      <p:sp>
        <p:nvSpPr>
          <p:cNvPr id="61" name="제목 1"/>
          <p:cNvSpPr txBox="1">
            <a:spLocks/>
          </p:cNvSpPr>
          <p:nvPr/>
        </p:nvSpPr>
        <p:spPr>
          <a:xfrm>
            <a:off x="571472" y="142858"/>
            <a:ext cx="731289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指令的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000713" y="951399"/>
            <a:ext cx="4804520" cy="572464"/>
          </a:xfrm>
          <a:prstGeom prst="rect">
            <a:avLst/>
          </a:prstGeom>
        </p:spPr>
        <p:txBody>
          <a:bodyPr wrap="none">
            <a:spAutoFit/>
          </a:bodyPr>
          <a:lstStyle/>
          <a:p>
            <a:pPr marL="0" lvl="1" indent="-285750" algn="just">
              <a:lnSpc>
                <a:spcPct val="130000"/>
              </a:lnSpc>
              <a:spcBef>
                <a:spcPct val="0"/>
              </a:spcBef>
              <a:buClr>
                <a:schemeClr val="accent6">
                  <a:lumMod val="60000"/>
                  <a:lumOff val="40000"/>
                </a:schemeClr>
              </a:buClr>
              <a:buFont typeface="Wingdings" panose="05000000000000000000" pitchFamily="2" charset="2"/>
              <a:buChar char="Ø"/>
              <a:defRPr/>
            </a:pPr>
            <a:r>
              <a:rPr lang="zh-CN" altLang="en-US" sz="2400" b="1" dirty="0">
                <a:solidFill>
                  <a:schemeClr val="bg1"/>
                </a:solidFill>
                <a:latin typeface="+mn-ea"/>
              </a:rPr>
              <a:t>指令</a:t>
            </a:r>
            <a:r>
              <a:rPr lang="zh-CN" altLang="en-US" sz="2400" b="1" dirty="0" smtClean="0">
                <a:solidFill>
                  <a:schemeClr val="bg1"/>
                </a:solidFill>
                <a:latin typeface="+mn-ea"/>
              </a:rPr>
              <a:t>的执行</a:t>
            </a:r>
            <a:r>
              <a:rPr lang="zh-CN" altLang="en-US" sz="2400" b="1" dirty="0">
                <a:solidFill>
                  <a:schemeClr val="bg1"/>
                </a:solidFill>
                <a:latin typeface="+mn-ea"/>
              </a:rPr>
              <a:t>可能会涉及四种类型</a:t>
            </a:r>
            <a:endParaRPr lang="ko-KR" altLang="en-US" sz="2400" b="1" dirty="0">
              <a:solidFill>
                <a:schemeClr val="bg1"/>
              </a:solidFill>
              <a:latin typeface="+mn-ea"/>
            </a:endParaRPr>
          </a:p>
        </p:txBody>
      </p:sp>
    </p:spTree>
    <p:extLst>
      <p:ext uri="{BB962C8B-B14F-4D97-AF65-F5344CB8AC3E}">
        <p14:creationId xmlns:p14="http://schemas.microsoft.com/office/powerpoint/2010/main" val="326979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96">
                                            <p:txEl>
                                              <p:pRg st="0" end="0"/>
                                            </p:txEl>
                                          </p:spTgt>
                                        </p:tgtEl>
                                        <p:attrNameLst>
                                          <p:attrName>style.visibility</p:attrName>
                                        </p:attrNameLst>
                                      </p:cBhvr>
                                      <p:to>
                                        <p:strVal val="visible"/>
                                      </p:to>
                                    </p:set>
                                    <p:animEffect transition="in" filter="wipe(left)">
                                      <p:cBhvr>
                                        <p:cTn id="7" dur="500"/>
                                        <p:tgtEl>
                                          <p:spTgt spid="7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08">
                                            <p:txEl>
                                              <p:pRg st="0" end="0"/>
                                            </p:txEl>
                                          </p:spTgt>
                                        </p:tgtEl>
                                        <p:attrNameLst>
                                          <p:attrName>style.visibility</p:attrName>
                                        </p:attrNameLst>
                                      </p:cBhvr>
                                      <p:to>
                                        <p:strVal val="visible"/>
                                      </p:to>
                                    </p:set>
                                    <p:animEffect transition="in" filter="wipe(left)">
                                      <p:cBhvr>
                                        <p:cTn id="12" dur="500"/>
                                        <p:tgtEl>
                                          <p:spTgt spid="80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94">
                                            <p:txEl>
                                              <p:pRg st="0" end="0"/>
                                            </p:txEl>
                                          </p:spTgt>
                                        </p:tgtEl>
                                        <p:attrNameLst>
                                          <p:attrName>style.visibility</p:attrName>
                                        </p:attrNameLst>
                                      </p:cBhvr>
                                      <p:to>
                                        <p:strVal val="visible"/>
                                      </p:to>
                                    </p:set>
                                    <p:animEffect transition="in" filter="wipe(left)">
                                      <p:cBhvr>
                                        <p:cTn id="17" dur="500"/>
                                        <p:tgtEl>
                                          <p:spTgt spid="79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99">
                                            <p:txEl>
                                              <p:pRg st="0" end="0"/>
                                            </p:txEl>
                                          </p:spTgt>
                                        </p:tgtEl>
                                        <p:attrNameLst>
                                          <p:attrName>style.visibility</p:attrName>
                                        </p:attrNameLst>
                                      </p:cBhvr>
                                      <p:to>
                                        <p:strVal val="visible"/>
                                      </p:to>
                                    </p:set>
                                    <p:animEffect transition="in" filter="wipe(left)">
                                      <p:cBhvr>
                                        <p:cTn id="22" dur="500"/>
                                        <p:tgtEl>
                                          <p:spTgt spid="7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指令</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的中断</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79547" y="1277677"/>
            <a:ext cx="6912768" cy="2492990"/>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外部设备或计算机内部可能会发来</a:t>
            </a:r>
            <a:r>
              <a:rPr lang="zh-CN" altLang="en-US" sz="2400" b="1" dirty="0">
                <a:solidFill>
                  <a:srgbClr val="FFFF00"/>
                </a:solidFill>
                <a:latin typeface="+mn-ea"/>
              </a:rPr>
              <a:t>亟须处理的数据</a:t>
            </a:r>
            <a:r>
              <a:rPr lang="zh-CN" altLang="en-US" sz="2400" b="1" dirty="0">
                <a:solidFill>
                  <a:schemeClr val="bg1"/>
                </a:solidFill>
                <a:latin typeface="+mn-ea"/>
              </a:rPr>
              <a:t>或其他</a:t>
            </a:r>
            <a:r>
              <a:rPr lang="zh-CN" altLang="en-US" sz="2400" b="1" dirty="0">
                <a:solidFill>
                  <a:srgbClr val="FFFF00"/>
                </a:solidFill>
                <a:latin typeface="+mn-ea"/>
              </a:rPr>
              <a:t>紧急事件处理信号</a:t>
            </a:r>
            <a:r>
              <a:rPr lang="zh-CN" altLang="en-US" sz="2400" b="1" dirty="0">
                <a:solidFill>
                  <a:schemeClr val="bg1"/>
                </a:solidFill>
                <a:latin typeface="+mn-ea"/>
              </a:rPr>
              <a:t>。这就需要处理机暂停正在执行的程序，转去处理相应的紧急事件，待处理完毕后再返回原处继续执行，这一过程称为</a:t>
            </a:r>
            <a:r>
              <a:rPr lang="zh-CN" altLang="en-US" sz="2400" b="1" dirty="0" smtClean="0">
                <a:solidFill>
                  <a:srgbClr val="FFFF00"/>
                </a:solidFill>
                <a:latin typeface="+mn-ea"/>
              </a:rPr>
              <a:t>中断</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30" name="Picture 3" descr="JXJ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466744"/>
            <a:ext cx="6223449" cy="294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线形标注 1 2"/>
          <p:cNvSpPr/>
          <p:nvPr/>
        </p:nvSpPr>
        <p:spPr>
          <a:xfrm>
            <a:off x="2406136" y="640849"/>
            <a:ext cx="3894056" cy="1426845"/>
          </a:xfrm>
          <a:prstGeom prst="borderCallout1">
            <a:avLst>
              <a:gd name="adj1" fmla="val 34271"/>
              <a:gd name="adj2" fmla="val 102863"/>
              <a:gd name="adj3" fmla="val 131780"/>
              <a:gd name="adj4" fmla="val 11628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t>首先使得实时处理许多紧急事件成为可能；再者，中断可以增加处理机的执行效率；另外，中断还可以简化操作系统的程序设计</a:t>
            </a:r>
          </a:p>
        </p:txBody>
      </p:sp>
    </p:spTree>
    <p:extLst>
      <p:ext uri="{BB962C8B-B14F-4D97-AF65-F5344CB8AC3E}">
        <p14:creationId xmlns:p14="http://schemas.microsoft.com/office/powerpoint/2010/main" val="2842488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circle(out)">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752892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具有中断处理时的指令执行过程</a:t>
            </a:r>
          </a:p>
        </p:txBody>
      </p:sp>
      <p:pic>
        <p:nvPicPr>
          <p:cNvPr id="29" name="Picture 3" descr="图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231" y="1268554"/>
            <a:ext cx="72390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493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out)">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揭开操作系统神秘的面纱</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75" name="Text Box 114"/>
          <p:cNvSpPr txBox="1">
            <a:spLocks noChangeArrowheads="1"/>
          </p:cNvSpPr>
          <p:nvPr/>
        </p:nvSpPr>
        <p:spPr bwMode="auto">
          <a:xfrm>
            <a:off x="857224" y="1186208"/>
            <a:ext cx="6858048" cy="1200329"/>
          </a:xfrm>
          <a:prstGeom prst="rect">
            <a:avLst/>
          </a:prstGeom>
          <a:noFill/>
          <a:ln w="9525">
            <a:noFill/>
            <a:miter lim="800000"/>
            <a:headEnd/>
            <a:tailEnd/>
          </a:ln>
        </p:spPr>
        <p:txBody>
          <a:bodyPr wrap="square">
            <a:spAutoFit/>
          </a:bodyPr>
          <a:lstStyle/>
          <a:p>
            <a:pPr marL="342900" lvl="1" indent="-342900">
              <a:lnSpc>
                <a:spcPct val="150000"/>
              </a:lnSpc>
              <a:buClr>
                <a:srgbClr val="FFFF00"/>
              </a:buClr>
              <a:buFont typeface="Wingdings" panose="05000000000000000000" pitchFamily="2" charset="2"/>
              <a:buChar char="Ø"/>
            </a:pPr>
            <a:r>
              <a:rPr lang="zh-CN" altLang="en-US" sz="2400" b="1" dirty="0">
                <a:solidFill>
                  <a:schemeClr val="bg1"/>
                </a:solidFill>
                <a:latin typeface="+mn-ea"/>
              </a:rPr>
              <a:t>打开电源，计算机就要开始工作</a:t>
            </a:r>
            <a:r>
              <a:rPr lang="zh-CN" altLang="en-US" sz="2400" b="1" dirty="0" smtClean="0">
                <a:solidFill>
                  <a:schemeClr val="bg1"/>
                </a:solidFill>
                <a:latin typeface="+mn-ea"/>
              </a:rPr>
              <a:t>了</a:t>
            </a:r>
            <a:endParaRPr lang="en-US" altLang="zh-CN" sz="2400" b="1" dirty="0">
              <a:solidFill>
                <a:schemeClr val="bg1"/>
              </a:solidFill>
              <a:latin typeface="+mn-ea"/>
            </a:endParaRPr>
          </a:p>
          <a:p>
            <a:pPr marL="0" lvl="1">
              <a:lnSpc>
                <a:spcPct val="150000"/>
              </a:lnSpc>
            </a:pPr>
            <a:endParaRPr lang="zh-CN" altLang="en-US" sz="2400" b="1" dirty="0">
              <a:solidFill>
                <a:schemeClr val="bg1"/>
              </a:solidFill>
              <a:latin typeface="+mn-ea"/>
            </a:endParaRPr>
          </a:p>
        </p:txBody>
      </p:sp>
      <p:pic>
        <p:nvPicPr>
          <p:cNvPr id="2" name="图片 1"/>
          <p:cNvPicPr>
            <a:picLocks noChangeAspect="1"/>
          </p:cNvPicPr>
          <p:nvPr/>
        </p:nvPicPr>
        <p:blipFill>
          <a:blip r:embed="rId2"/>
          <a:stretch>
            <a:fillRect/>
          </a:stretch>
        </p:blipFill>
        <p:spPr>
          <a:xfrm>
            <a:off x="1691680" y="1786263"/>
            <a:ext cx="4248472" cy="2636984"/>
          </a:xfrm>
          <a:prstGeom prst="rect">
            <a:avLst/>
          </a:prstGeom>
        </p:spPr>
      </p:pic>
    </p:spTree>
    <p:extLst>
      <p:ext uri="{BB962C8B-B14F-4D97-AF65-F5344CB8AC3E}">
        <p14:creationId xmlns:p14="http://schemas.microsoft.com/office/powerpoint/2010/main" val="15699834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animEffect transition="in" filter="wipe(left)">
                                      <p:cBhvr>
                                        <p:cTn id="7" dur="500"/>
                                        <p:tgtEl>
                                          <p:spTgt spid="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5" name="矩形 4"/>
          <p:cNvSpPr/>
          <p:nvPr/>
        </p:nvSpPr>
        <p:spPr>
          <a:xfrm>
            <a:off x="827584" y="1491630"/>
            <a:ext cx="6912768" cy="2424895"/>
          </a:xfrm>
          <a:prstGeom prst="rect">
            <a:avLst/>
          </a:prstGeom>
        </p:spPr>
        <p:txBody>
          <a:bodyPr wrap="square">
            <a:spAutoFit/>
          </a:bodyPr>
          <a:lstStyle/>
          <a:p>
            <a:pPr marL="0" lvl="1" indent="85725"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当用户</a:t>
            </a:r>
            <a:r>
              <a:rPr lang="zh-CN" altLang="en-US" sz="2400" b="1" dirty="0" smtClean="0">
                <a:solidFill>
                  <a:srgbClr val="FFFF00"/>
                </a:solidFill>
                <a:latin typeface="+mn-ea"/>
              </a:rPr>
              <a:t>启动</a:t>
            </a:r>
            <a:r>
              <a:rPr lang="zh-CN" altLang="en-US" sz="2400" b="1" dirty="0" smtClean="0">
                <a:solidFill>
                  <a:schemeClr val="bg1"/>
                </a:solidFill>
                <a:latin typeface="+mn-ea"/>
              </a:rPr>
              <a:t>计算机的</a:t>
            </a:r>
            <a:r>
              <a:rPr lang="zh-CN" altLang="en-US" sz="2400" b="1" dirty="0" smtClean="0">
                <a:solidFill>
                  <a:srgbClr val="FFFF00"/>
                </a:solidFill>
                <a:latin typeface="+mn-ea"/>
              </a:rPr>
              <a:t>电源</a:t>
            </a:r>
            <a:r>
              <a:rPr lang="zh-CN" altLang="en-US" sz="2400" b="1" dirty="0" smtClean="0">
                <a:solidFill>
                  <a:schemeClr val="bg1"/>
                </a:solidFill>
                <a:latin typeface="+mn-ea"/>
              </a:rPr>
              <a:t>时，计算机</a:t>
            </a:r>
            <a:r>
              <a:rPr lang="zh-CN" altLang="en-US" sz="2400" b="1" dirty="0" smtClean="0">
                <a:solidFill>
                  <a:srgbClr val="FFFF00"/>
                </a:solidFill>
                <a:latin typeface="+mn-ea"/>
              </a:rPr>
              <a:t>硬件</a:t>
            </a:r>
            <a:r>
              <a:rPr lang="zh-CN" altLang="en-US" sz="2400" b="1" dirty="0" smtClean="0">
                <a:solidFill>
                  <a:schemeClr val="bg1"/>
                </a:solidFill>
                <a:latin typeface="+mn-ea"/>
              </a:rPr>
              <a:t>会自动产生一个</a:t>
            </a:r>
            <a:r>
              <a:rPr lang="zh-CN" altLang="en-US" sz="2400" b="1" dirty="0" smtClean="0">
                <a:solidFill>
                  <a:srgbClr val="FFFF00"/>
                </a:solidFill>
                <a:latin typeface="+mn-ea"/>
              </a:rPr>
              <a:t>中断信号</a:t>
            </a:r>
            <a:r>
              <a:rPr lang="zh-CN" altLang="en-US" sz="2400" b="1" dirty="0" smtClean="0">
                <a:solidFill>
                  <a:schemeClr val="bg1"/>
                </a:solidFill>
                <a:latin typeface="+mn-ea"/>
              </a:rPr>
              <a:t>，这个中断信号触发计算机处理器（</a:t>
            </a:r>
            <a:r>
              <a:rPr lang="en-US" altLang="zh-CN" sz="2400" b="1" dirty="0" smtClean="0">
                <a:solidFill>
                  <a:srgbClr val="FFFF00"/>
                </a:solidFill>
                <a:latin typeface="+mn-ea"/>
              </a:rPr>
              <a:t>CPU</a:t>
            </a:r>
            <a:r>
              <a:rPr lang="zh-CN" altLang="en-US" sz="2400" b="1" dirty="0" smtClean="0">
                <a:solidFill>
                  <a:schemeClr val="bg1"/>
                </a:solidFill>
                <a:latin typeface="+mn-ea"/>
              </a:rPr>
              <a:t>）中的一段</a:t>
            </a:r>
            <a:r>
              <a:rPr lang="zh-CN" altLang="en-US" sz="2400" b="1" dirty="0" smtClean="0">
                <a:solidFill>
                  <a:srgbClr val="FFFF00"/>
                </a:solidFill>
                <a:latin typeface="+mn-ea"/>
              </a:rPr>
              <a:t>指令执行</a:t>
            </a:r>
            <a:r>
              <a:rPr lang="zh-CN" altLang="en-US" sz="2400" b="1" dirty="0" smtClean="0">
                <a:solidFill>
                  <a:schemeClr val="bg1"/>
                </a:solidFill>
                <a:latin typeface="+mn-ea"/>
              </a:rPr>
              <a:t>。该阶段的执行结果是将</a:t>
            </a:r>
            <a:r>
              <a:rPr lang="zh-CN" altLang="en-US" sz="2400" b="1" dirty="0" smtClean="0">
                <a:solidFill>
                  <a:srgbClr val="FFFF00"/>
                </a:solidFill>
                <a:latin typeface="+mn-ea"/>
              </a:rPr>
              <a:t>发现</a:t>
            </a:r>
            <a:r>
              <a:rPr lang="zh-CN" altLang="en-US" sz="2400" b="1" dirty="0" smtClean="0">
                <a:solidFill>
                  <a:schemeClr val="bg1"/>
                </a:solidFill>
                <a:latin typeface="+mn-ea"/>
              </a:rPr>
              <a:t>外部存储设备中</a:t>
            </a:r>
            <a:r>
              <a:rPr lang="zh-CN" altLang="en-US" sz="2400" b="1" dirty="0" smtClean="0">
                <a:solidFill>
                  <a:srgbClr val="FFFF00"/>
                </a:solidFill>
                <a:latin typeface="+mn-ea"/>
              </a:rPr>
              <a:t>操作系统引导区</a:t>
            </a:r>
            <a:r>
              <a:rPr lang="zh-CN" altLang="en-US" sz="2400" b="1" dirty="0" smtClean="0">
                <a:solidFill>
                  <a:schemeClr val="bg1"/>
                </a:solidFill>
                <a:latin typeface="+mn-ea"/>
              </a:rPr>
              <a:t>（</a:t>
            </a:r>
            <a:r>
              <a:rPr lang="en-US" altLang="zh-CN" sz="2400" b="1" dirty="0" smtClean="0">
                <a:solidFill>
                  <a:schemeClr val="bg1"/>
                </a:solidFill>
                <a:latin typeface="+mn-ea"/>
              </a:rPr>
              <a:t>book block</a:t>
            </a:r>
            <a:r>
              <a:rPr lang="zh-CN" altLang="en-US" sz="2400" b="1" dirty="0" smtClean="0">
                <a:solidFill>
                  <a:schemeClr val="bg1"/>
                </a:solidFill>
                <a:latin typeface="+mn-ea"/>
              </a:rPr>
              <a:t>）的位置。</a:t>
            </a:r>
            <a:endParaRPr lang="zh-CN" altLang="en-US" sz="2400" b="1" dirty="0">
              <a:solidFill>
                <a:schemeClr val="bg1"/>
              </a:solidFill>
              <a:latin typeface="+mn-ea"/>
            </a:endParaRPr>
          </a:p>
        </p:txBody>
      </p:sp>
      <p:sp>
        <p:nvSpPr>
          <p:cNvPr id="29" name="제목 1"/>
          <p:cNvSpPr txBox="1">
            <a:spLocks/>
          </p:cNvSpPr>
          <p:nvPr/>
        </p:nvSpPr>
        <p:spPr>
          <a:xfrm>
            <a:off x="323528" y="104297"/>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276375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5" name="组合 4"/>
          <p:cNvGrpSpPr/>
          <p:nvPr/>
        </p:nvGrpSpPr>
        <p:grpSpPr>
          <a:xfrm>
            <a:off x="467544" y="1214056"/>
            <a:ext cx="8352928" cy="3666545"/>
            <a:chOff x="571471" y="1159834"/>
            <a:chExt cx="7527496" cy="3120684"/>
          </a:xfrm>
        </p:grpSpPr>
        <p:pic>
          <p:nvPicPr>
            <p:cNvPr id="3" name="图片 2"/>
            <p:cNvPicPr>
              <a:picLocks noChangeAspect="1"/>
            </p:cNvPicPr>
            <p:nvPr/>
          </p:nvPicPr>
          <p:blipFill>
            <a:blip r:embed="rId2"/>
            <a:stretch>
              <a:fillRect/>
            </a:stretch>
          </p:blipFill>
          <p:spPr>
            <a:xfrm>
              <a:off x="571471" y="1159834"/>
              <a:ext cx="7527496" cy="3120684"/>
            </a:xfrm>
            <a:prstGeom prst="rect">
              <a:avLst/>
            </a:prstGeom>
          </p:spPr>
        </p:pic>
        <p:pic>
          <p:nvPicPr>
            <p:cNvPr id="4" name="图片 3"/>
            <p:cNvPicPr>
              <a:picLocks noChangeAspect="1"/>
            </p:cNvPicPr>
            <p:nvPr/>
          </p:nvPicPr>
          <p:blipFill>
            <a:blip r:embed="rId3"/>
            <a:stretch>
              <a:fillRect/>
            </a:stretch>
          </p:blipFill>
          <p:spPr>
            <a:xfrm>
              <a:off x="6010906" y="3472728"/>
              <a:ext cx="2088061" cy="807790"/>
            </a:xfrm>
            <a:prstGeom prst="rect">
              <a:avLst/>
            </a:prstGeom>
          </p:spPr>
        </p:pic>
      </p:grpSp>
      <p:grpSp>
        <p:nvGrpSpPr>
          <p:cNvPr id="8" name="组合 7"/>
          <p:cNvGrpSpPr/>
          <p:nvPr/>
        </p:nvGrpSpPr>
        <p:grpSpPr>
          <a:xfrm>
            <a:off x="1331640" y="2931790"/>
            <a:ext cx="1944216" cy="1512168"/>
            <a:chOff x="1331640" y="2931790"/>
            <a:chExt cx="1944216" cy="1512168"/>
          </a:xfrm>
        </p:grpSpPr>
        <p:sp>
          <p:nvSpPr>
            <p:cNvPr id="6" name="矩形 5"/>
            <p:cNvSpPr/>
            <p:nvPr/>
          </p:nvSpPr>
          <p:spPr>
            <a:xfrm>
              <a:off x="1331640" y="4155926"/>
              <a:ext cx="1008112"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标注 6"/>
            <p:cNvSpPr/>
            <p:nvPr/>
          </p:nvSpPr>
          <p:spPr>
            <a:xfrm>
              <a:off x="2195736" y="2931790"/>
              <a:ext cx="1080120" cy="720080"/>
            </a:xfrm>
            <a:prstGeom prst="wedgeRectCallout">
              <a:avLst>
                <a:gd name="adj1" fmla="val -77977"/>
                <a:gd name="adj2" fmla="val 11329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 </a:t>
              </a:r>
              <a:r>
                <a:rPr lang="zh-CN" altLang="en-US" sz="1600" b="1" dirty="0" smtClean="0"/>
                <a:t>操作系统引导扇区</a:t>
              </a:r>
              <a:endParaRPr lang="zh-CN" altLang="en-US" sz="1600" b="1" dirty="0"/>
            </a:p>
          </p:txBody>
        </p:sp>
      </p:grpSp>
    </p:spTree>
    <p:extLst>
      <p:ext uri="{BB962C8B-B14F-4D97-AF65-F5344CB8AC3E}">
        <p14:creationId xmlns:p14="http://schemas.microsoft.com/office/powerpoint/2010/main" val="99591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5" name="矩形 4"/>
          <p:cNvSpPr/>
          <p:nvPr/>
        </p:nvSpPr>
        <p:spPr>
          <a:xfrm>
            <a:off x="827584" y="1310280"/>
            <a:ext cx="6912768" cy="2905026"/>
          </a:xfrm>
          <a:prstGeom prst="rect">
            <a:avLst/>
          </a:prstGeom>
        </p:spPr>
        <p:txBody>
          <a:bodyPr wrap="square">
            <a:spAutoFit/>
          </a:bodyPr>
          <a:lstStyle/>
          <a:p>
            <a:pPr marL="0" lvl="1" indent="85725"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如果计算机的外部存储设备中已经安装了操作系统，则</a:t>
            </a:r>
            <a:r>
              <a:rPr lang="zh-CN" altLang="en-US" sz="2400" b="1" dirty="0" smtClean="0">
                <a:solidFill>
                  <a:srgbClr val="FFFF00"/>
                </a:solidFill>
                <a:latin typeface="+mn-ea"/>
              </a:rPr>
              <a:t>操作系统引导区中的代码将被自动导入计算机的内存</a:t>
            </a:r>
            <a:r>
              <a:rPr lang="zh-CN" altLang="en-US" sz="2400" b="1" dirty="0" smtClean="0">
                <a:solidFill>
                  <a:schemeClr val="bg1"/>
                </a:solidFill>
                <a:latin typeface="+mn-ea"/>
              </a:rPr>
              <a:t>，并开始执行。引导区代码的执行结果是将操作系统加载到计算机内存中的执行区域，并初始化计算机的有关硬件以及计算机运行所需的数据结构。至此，操作系统程序开始启动。</a:t>
            </a:r>
            <a:endParaRPr lang="zh-CN" altLang="en-US" sz="2400" b="1" dirty="0">
              <a:solidFill>
                <a:schemeClr val="bg1"/>
              </a:solidFill>
              <a:latin typeface="+mn-ea"/>
            </a:endParaRPr>
          </a:p>
        </p:txBody>
      </p:sp>
      <p:sp>
        <p:nvSpPr>
          <p:cNvPr id="29" name="제목 1"/>
          <p:cNvSpPr txBox="1">
            <a:spLocks/>
          </p:cNvSpPr>
          <p:nvPr/>
        </p:nvSpPr>
        <p:spPr>
          <a:xfrm>
            <a:off x="323528" y="104297"/>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椭圆形标注 1"/>
          <p:cNvSpPr/>
          <p:nvPr/>
        </p:nvSpPr>
        <p:spPr>
          <a:xfrm>
            <a:off x="5580112" y="280356"/>
            <a:ext cx="1728192" cy="1077636"/>
          </a:xfrm>
          <a:prstGeom prst="wedgeEllipseCallout">
            <a:avLst>
              <a:gd name="adj1" fmla="val -83966"/>
              <a:gd name="adj2" fmla="val 107483"/>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err="1" smtClean="0"/>
              <a:t>Bootsect.s</a:t>
            </a:r>
            <a:r>
              <a:rPr lang="en-US" altLang="zh-CN" dirty="0" smtClean="0"/>
              <a:t>.</a:t>
            </a:r>
            <a:endParaRPr lang="zh-CN" altLang="en-US" dirty="0"/>
          </a:p>
        </p:txBody>
      </p:sp>
    </p:spTree>
    <p:extLst>
      <p:ext uri="{BB962C8B-B14F-4D97-AF65-F5344CB8AC3E}">
        <p14:creationId xmlns:p14="http://schemas.microsoft.com/office/powerpoint/2010/main" val="278215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0" name="组合 9"/>
          <p:cNvGrpSpPr/>
          <p:nvPr/>
        </p:nvGrpSpPr>
        <p:grpSpPr>
          <a:xfrm>
            <a:off x="203050" y="595108"/>
            <a:ext cx="8794573" cy="4534610"/>
            <a:chOff x="132807" y="373462"/>
            <a:chExt cx="8794573" cy="4534610"/>
          </a:xfrm>
        </p:grpSpPr>
        <p:pic>
          <p:nvPicPr>
            <p:cNvPr id="2" name="图片 1"/>
            <p:cNvPicPr>
              <a:picLocks noChangeAspect="1"/>
            </p:cNvPicPr>
            <p:nvPr/>
          </p:nvPicPr>
          <p:blipFill>
            <a:blip r:embed="rId2"/>
            <a:stretch>
              <a:fillRect/>
            </a:stretch>
          </p:blipFill>
          <p:spPr>
            <a:xfrm>
              <a:off x="132807" y="373462"/>
              <a:ext cx="8794573" cy="4534610"/>
            </a:xfrm>
            <a:prstGeom prst="rect">
              <a:avLst/>
            </a:prstGeom>
          </p:spPr>
        </p:pic>
        <p:pic>
          <p:nvPicPr>
            <p:cNvPr id="9" name="图片 8"/>
            <p:cNvPicPr>
              <a:picLocks noChangeAspect="1"/>
            </p:cNvPicPr>
            <p:nvPr/>
          </p:nvPicPr>
          <p:blipFill>
            <a:blip r:embed="rId3"/>
            <a:stretch>
              <a:fillRect/>
            </a:stretch>
          </p:blipFill>
          <p:spPr>
            <a:xfrm>
              <a:off x="5632911" y="3219822"/>
              <a:ext cx="3294469" cy="1688250"/>
            </a:xfrm>
            <a:prstGeom prst="rect">
              <a:avLst/>
            </a:prstGeom>
          </p:spPr>
        </p:pic>
      </p:grpSp>
    </p:spTree>
    <p:extLst>
      <p:ext uri="{BB962C8B-B14F-4D97-AF65-F5344CB8AC3E}">
        <p14:creationId xmlns:p14="http://schemas.microsoft.com/office/powerpoint/2010/main" val="261343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5" name="组合 4"/>
          <p:cNvGrpSpPr/>
          <p:nvPr/>
        </p:nvGrpSpPr>
        <p:grpSpPr>
          <a:xfrm>
            <a:off x="683568" y="736481"/>
            <a:ext cx="7632848" cy="4144826"/>
            <a:chOff x="683568" y="736481"/>
            <a:chExt cx="7632848" cy="4144826"/>
          </a:xfrm>
        </p:grpSpPr>
        <p:pic>
          <p:nvPicPr>
            <p:cNvPr id="3" name="图片 2"/>
            <p:cNvPicPr>
              <a:picLocks noChangeAspect="1"/>
            </p:cNvPicPr>
            <p:nvPr/>
          </p:nvPicPr>
          <p:blipFill>
            <a:blip r:embed="rId2"/>
            <a:stretch>
              <a:fillRect/>
            </a:stretch>
          </p:blipFill>
          <p:spPr>
            <a:xfrm>
              <a:off x="683568" y="736481"/>
              <a:ext cx="7632848" cy="4144826"/>
            </a:xfrm>
            <a:prstGeom prst="rect">
              <a:avLst/>
            </a:prstGeom>
          </p:spPr>
        </p:pic>
        <p:pic>
          <p:nvPicPr>
            <p:cNvPr id="4" name="图片 3"/>
            <p:cNvPicPr>
              <a:picLocks noChangeAspect="1"/>
            </p:cNvPicPr>
            <p:nvPr/>
          </p:nvPicPr>
          <p:blipFill>
            <a:blip r:embed="rId3"/>
            <a:stretch>
              <a:fillRect/>
            </a:stretch>
          </p:blipFill>
          <p:spPr>
            <a:xfrm>
              <a:off x="6444208" y="3723878"/>
              <a:ext cx="1872208" cy="1157429"/>
            </a:xfrm>
            <a:prstGeom prst="rect">
              <a:avLst/>
            </a:prstGeom>
          </p:spPr>
        </p:pic>
      </p:grpSp>
    </p:spTree>
    <p:extLst>
      <p:ext uri="{BB962C8B-B14F-4D97-AF65-F5344CB8AC3E}">
        <p14:creationId xmlns:p14="http://schemas.microsoft.com/office/powerpoint/2010/main" val="7789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7" name="组合 6"/>
          <p:cNvGrpSpPr/>
          <p:nvPr/>
        </p:nvGrpSpPr>
        <p:grpSpPr>
          <a:xfrm>
            <a:off x="882770" y="600838"/>
            <a:ext cx="7348360" cy="3916948"/>
            <a:chOff x="969710" y="671233"/>
            <a:chExt cx="7348360" cy="3916948"/>
          </a:xfrm>
        </p:grpSpPr>
        <p:pic>
          <p:nvPicPr>
            <p:cNvPr id="2" name="图片 1"/>
            <p:cNvPicPr>
              <a:picLocks noChangeAspect="1"/>
            </p:cNvPicPr>
            <p:nvPr/>
          </p:nvPicPr>
          <p:blipFill>
            <a:blip r:embed="rId2"/>
            <a:stretch>
              <a:fillRect/>
            </a:stretch>
          </p:blipFill>
          <p:spPr>
            <a:xfrm>
              <a:off x="969710" y="671233"/>
              <a:ext cx="7348360" cy="3916947"/>
            </a:xfrm>
            <a:prstGeom prst="rect">
              <a:avLst/>
            </a:prstGeom>
          </p:spPr>
        </p:pic>
        <p:pic>
          <p:nvPicPr>
            <p:cNvPr id="6" name="图片 5"/>
            <p:cNvPicPr>
              <a:picLocks noChangeAspect="1"/>
            </p:cNvPicPr>
            <p:nvPr/>
          </p:nvPicPr>
          <p:blipFill>
            <a:blip r:embed="rId3"/>
            <a:stretch>
              <a:fillRect/>
            </a:stretch>
          </p:blipFill>
          <p:spPr>
            <a:xfrm>
              <a:off x="6542456" y="3579863"/>
              <a:ext cx="1775614" cy="1008318"/>
            </a:xfrm>
            <a:prstGeom prst="rect">
              <a:avLst/>
            </a:prstGeom>
          </p:spPr>
        </p:pic>
      </p:grpSp>
    </p:spTree>
    <p:extLst>
      <p:ext uri="{BB962C8B-B14F-4D97-AF65-F5344CB8AC3E}">
        <p14:creationId xmlns:p14="http://schemas.microsoft.com/office/powerpoint/2010/main" val="29536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5" name="组合 4"/>
          <p:cNvGrpSpPr/>
          <p:nvPr/>
        </p:nvGrpSpPr>
        <p:grpSpPr>
          <a:xfrm>
            <a:off x="779790" y="616731"/>
            <a:ext cx="7468015" cy="3950851"/>
            <a:chOff x="779790" y="616731"/>
            <a:chExt cx="7468015" cy="3950851"/>
          </a:xfrm>
        </p:grpSpPr>
        <p:pic>
          <p:nvPicPr>
            <p:cNvPr id="3" name="图片 2"/>
            <p:cNvPicPr>
              <a:picLocks noChangeAspect="1"/>
            </p:cNvPicPr>
            <p:nvPr/>
          </p:nvPicPr>
          <p:blipFill>
            <a:blip r:embed="rId2"/>
            <a:stretch>
              <a:fillRect/>
            </a:stretch>
          </p:blipFill>
          <p:spPr>
            <a:xfrm>
              <a:off x="779790" y="616731"/>
              <a:ext cx="7468015" cy="3950851"/>
            </a:xfrm>
            <a:prstGeom prst="rect">
              <a:avLst/>
            </a:prstGeom>
          </p:spPr>
        </p:pic>
        <p:pic>
          <p:nvPicPr>
            <p:cNvPr id="4" name="图片 3"/>
            <p:cNvPicPr>
              <a:picLocks noChangeAspect="1"/>
            </p:cNvPicPr>
            <p:nvPr/>
          </p:nvPicPr>
          <p:blipFill>
            <a:blip r:embed="rId3"/>
            <a:stretch>
              <a:fillRect/>
            </a:stretch>
          </p:blipFill>
          <p:spPr>
            <a:xfrm>
              <a:off x="6411226" y="3683585"/>
              <a:ext cx="1836579" cy="883997"/>
            </a:xfrm>
            <a:prstGeom prst="rect">
              <a:avLst/>
            </a:prstGeom>
          </p:spPr>
        </p:pic>
      </p:grpSp>
    </p:spTree>
    <p:extLst>
      <p:ext uri="{BB962C8B-B14F-4D97-AF65-F5344CB8AC3E}">
        <p14:creationId xmlns:p14="http://schemas.microsoft.com/office/powerpoint/2010/main" val="220002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bootsect.s</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7" name="组合 6"/>
          <p:cNvGrpSpPr/>
          <p:nvPr/>
        </p:nvGrpSpPr>
        <p:grpSpPr>
          <a:xfrm>
            <a:off x="571471" y="628161"/>
            <a:ext cx="7835613" cy="4049144"/>
            <a:chOff x="571471" y="628161"/>
            <a:chExt cx="7835613" cy="4049144"/>
          </a:xfrm>
        </p:grpSpPr>
        <p:pic>
          <p:nvPicPr>
            <p:cNvPr id="2" name="图片 1"/>
            <p:cNvPicPr>
              <a:picLocks noChangeAspect="1"/>
            </p:cNvPicPr>
            <p:nvPr/>
          </p:nvPicPr>
          <p:blipFill>
            <a:blip r:embed="rId2"/>
            <a:stretch>
              <a:fillRect/>
            </a:stretch>
          </p:blipFill>
          <p:spPr>
            <a:xfrm>
              <a:off x="571471" y="628161"/>
              <a:ext cx="7835613" cy="4049144"/>
            </a:xfrm>
            <a:prstGeom prst="rect">
              <a:avLst/>
            </a:prstGeom>
          </p:spPr>
        </p:pic>
        <p:pic>
          <p:nvPicPr>
            <p:cNvPr id="6" name="图片 5"/>
            <p:cNvPicPr>
              <a:picLocks noChangeAspect="1"/>
            </p:cNvPicPr>
            <p:nvPr/>
          </p:nvPicPr>
          <p:blipFill>
            <a:blip r:embed="rId3"/>
            <a:stretch>
              <a:fillRect/>
            </a:stretch>
          </p:blipFill>
          <p:spPr>
            <a:xfrm>
              <a:off x="6410471" y="3732343"/>
              <a:ext cx="1996613" cy="944962"/>
            </a:xfrm>
            <a:prstGeom prst="rect">
              <a:avLst/>
            </a:prstGeom>
          </p:spPr>
        </p:pic>
      </p:grpSp>
    </p:spTree>
    <p:extLst>
      <p:ext uri="{BB962C8B-B14F-4D97-AF65-F5344CB8AC3E}">
        <p14:creationId xmlns:p14="http://schemas.microsoft.com/office/powerpoint/2010/main" val="18723418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---setup</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模块（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set </a:t>
            </a:r>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up.s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2"/>
          <a:stretch>
            <a:fillRect/>
          </a:stretch>
        </p:blipFill>
        <p:spPr>
          <a:xfrm>
            <a:off x="331563" y="855027"/>
            <a:ext cx="8416901" cy="4205097"/>
          </a:xfrm>
          <a:prstGeom prst="rect">
            <a:avLst/>
          </a:prstGeom>
        </p:spPr>
      </p:pic>
    </p:spTree>
    <p:extLst>
      <p:ext uri="{BB962C8B-B14F-4D97-AF65-F5344CB8AC3E}">
        <p14:creationId xmlns:p14="http://schemas.microsoft.com/office/powerpoint/2010/main" val="168840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操作系统的启动</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进入保护模式</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219603" y="472093"/>
            <a:ext cx="8817104" cy="4648603"/>
          </a:xfrm>
          <a:prstGeom prst="rect">
            <a:avLst/>
          </a:prstGeom>
        </p:spPr>
      </p:pic>
    </p:spTree>
    <p:extLst>
      <p:ext uri="{BB962C8B-B14F-4D97-AF65-F5344CB8AC3E}">
        <p14:creationId xmlns:p14="http://schemas.microsoft.com/office/powerpoint/2010/main" val="2575970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altLang="zh-CN" sz="3600" b="1"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head.s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（保护模式下运行的代码）</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4" name="图片 3"/>
          <p:cNvPicPr>
            <a:picLocks noChangeAspect="1"/>
          </p:cNvPicPr>
          <p:nvPr/>
        </p:nvPicPr>
        <p:blipFill>
          <a:blip r:embed="rId2"/>
          <a:stretch>
            <a:fillRect/>
          </a:stretch>
        </p:blipFill>
        <p:spPr>
          <a:xfrm>
            <a:off x="179512" y="871364"/>
            <a:ext cx="8890843" cy="4029083"/>
          </a:xfrm>
          <a:prstGeom prst="rect">
            <a:avLst/>
          </a:prstGeom>
        </p:spPr>
      </p:pic>
    </p:spTree>
    <p:extLst>
      <p:ext uri="{BB962C8B-B14F-4D97-AF65-F5344CB8AC3E}">
        <p14:creationId xmlns:p14="http://schemas.microsoft.com/office/powerpoint/2010/main" val="2482537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操作系统启动相关代码的学习</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50438"/>
            <a:ext cx="7056784" cy="3320396"/>
          </a:xfrm>
          <a:prstGeom prst="rect">
            <a:avLst/>
          </a:prstGeom>
        </p:spPr>
        <p:txBody>
          <a:bodyPr wrap="square">
            <a:spAutoFit/>
          </a:bodyPr>
          <a:lstStyle/>
          <a:p>
            <a:pPr marL="0" lvl="1" indent="85725" algn="just">
              <a:lnSpc>
                <a:spcPct val="114000"/>
              </a:lnSpc>
              <a:buClr>
                <a:schemeClr val="accent6">
                  <a:lumMod val="60000"/>
                  <a:lumOff val="40000"/>
                </a:schemeClr>
              </a:buClr>
              <a:buFont typeface="Wingdings" panose="05000000000000000000" pitchFamily="2" charset="2"/>
              <a:buChar char="Ø"/>
            </a:pPr>
            <a:r>
              <a:rPr lang="zh-CN" altLang="en-US" sz="2300" b="1" dirty="0" smtClean="0">
                <a:solidFill>
                  <a:schemeClr val="bg1"/>
                </a:solidFill>
                <a:latin typeface="+mn-ea"/>
              </a:rPr>
              <a:t>请同学们课下观看以下教学视频，理解操作系统启动相关代码，为第一章的课后作业（实验</a:t>
            </a:r>
            <a:r>
              <a:rPr lang="en-US" altLang="zh-CN" sz="2300" b="1" dirty="0" smtClean="0">
                <a:solidFill>
                  <a:schemeClr val="bg1"/>
                </a:solidFill>
                <a:latin typeface="+mn-ea"/>
              </a:rPr>
              <a:t>1</a:t>
            </a:r>
            <a:r>
              <a:rPr lang="zh-CN" altLang="en-US" sz="2300" b="1" dirty="0" smtClean="0">
                <a:solidFill>
                  <a:schemeClr val="bg1"/>
                </a:solidFill>
                <a:latin typeface="+mn-ea"/>
              </a:rPr>
              <a:t>、实验</a:t>
            </a:r>
            <a:r>
              <a:rPr lang="en-US" altLang="zh-CN" sz="2300" b="1" dirty="0" smtClean="0">
                <a:solidFill>
                  <a:schemeClr val="bg1"/>
                </a:solidFill>
                <a:latin typeface="+mn-ea"/>
              </a:rPr>
              <a:t>2</a:t>
            </a:r>
            <a:r>
              <a:rPr lang="zh-CN" altLang="en-US" sz="2300" b="1" dirty="0">
                <a:solidFill>
                  <a:schemeClr val="bg1"/>
                </a:solidFill>
                <a:latin typeface="+mn-ea"/>
              </a:rPr>
              <a:t>）的</a:t>
            </a:r>
            <a:r>
              <a:rPr lang="zh-CN" altLang="en-US" sz="2300" b="1" dirty="0" smtClean="0">
                <a:solidFill>
                  <a:schemeClr val="bg1"/>
                </a:solidFill>
                <a:latin typeface="+mn-ea"/>
              </a:rPr>
              <a:t>完成做准备</a:t>
            </a:r>
            <a:endParaRPr lang="en-US" altLang="zh-CN" sz="2300" b="1" dirty="0" smtClean="0">
              <a:solidFill>
                <a:schemeClr val="bg1"/>
              </a:solidFill>
              <a:latin typeface="+mn-ea"/>
            </a:endParaRPr>
          </a:p>
          <a:p>
            <a:pPr marL="0" lvl="1" indent="85725" algn="just">
              <a:lnSpc>
                <a:spcPct val="114000"/>
              </a:lnSpc>
              <a:buClr>
                <a:schemeClr val="accent6">
                  <a:lumMod val="60000"/>
                  <a:lumOff val="40000"/>
                </a:schemeClr>
              </a:buClr>
              <a:buFont typeface="Wingdings" panose="05000000000000000000" pitchFamily="2" charset="2"/>
              <a:buChar char="Ø"/>
            </a:pPr>
            <a:r>
              <a:rPr lang="en-US" altLang="zh-CN" sz="2300" b="1" dirty="0">
                <a:solidFill>
                  <a:schemeClr val="bg1"/>
                </a:solidFill>
                <a:latin typeface="+mn-ea"/>
              </a:rPr>
              <a:t>https://</a:t>
            </a:r>
            <a:r>
              <a:rPr lang="en-US" altLang="zh-CN" sz="2300" b="1" dirty="0" smtClean="0">
                <a:solidFill>
                  <a:schemeClr val="bg1"/>
                </a:solidFill>
                <a:latin typeface="+mn-ea"/>
              </a:rPr>
              <a:t>www.bilibili.com/video/BV19r4y1b7Aw?p=2&amp;vd_source=3890c386258705c903d8eba25827411b</a:t>
            </a:r>
          </a:p>
          <a:p>
            <a:pPr marL="0" lvl="1" indent="85725" algn="just">
              <a:lnSpc>
                <a:spcPct val="114000"/>
              </a:lnSpc>
              <a:buClr>
                <a:schemeClr val="accent6">
                  <a:lumMod val="60000"/>
                  <a:lumOff val="40000"/>
                </a:schemeClr>
              </a:buClr>
              <a:buFont typeface="Wingdings" panose="05000000000000000000" pitchFamily="2" charset="2"/>
              <a:buChar char="Ø"/>
            </a:pPr>
            <a:r>
              <a:rPr lang="en-US" altLang="zh-CN" sz="2300" b="1" dirty="0">
                <a:solidFill>
                  <a:schemeClr val="bg1"/>
                </a:solidFill>
                <a:latin typeface="+mn-ea"/>
              </a:rPr>
              <a:t>https://www.bilibili.com/video/BV19r4y1b7Aw?p=3&amp;vd_source=3890c386258705c903d8eba25827411b</a:t>
            </a:r>
            <a:r>
              <a:rPr lang="en-US" altLang="zh-CN" sz="2300" b="1" dirty="0" smtClean="0">
                <a:solidFill>
                  <a:schemeClr val="bg1"/>
                </a:solidFill>
                <a:latin typeface="+mn-ea"/>
              </a:rPr>
              <a:t>?p=6</a:t>
            </a:r>
            <a:endParaRPr lang="zh-CN" altLang="en-US" sz="2300" b="1" dirty="0">
              <a:solidFill>
                <a:schemeClr val="bg1"/>
              </a:solidFill>
              <a:latin typeface="+mn-ea"/>
            </a:endParaRPr>
          </a:p>
        </p:txBody>
      </p:sp>
    </p:spTree>
    <p:extLst>
      <p:ext uri="{BB962C8B-B14F-4D97-AF65-F5344CB8AC3E}">
        <p14:creationId xmlns:p14="http://schemas.microsoft.com/office/powerpoint/2010/main" val="9910444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课后作业</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107671"/>
            <a:ext cx="7056784" cy="2862322"/>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实验一：搭建</a:t>
            </a:r>
            <a:r>
              <a:rPr lang="zh-CN" altLang="en-US" sz="2000" b="1" dirty="0">
                <a:solidFill>
                  <a:schemeClr val="bg1"/>
                </a:solidFill>
                <a:latin typeface="+mn-ea"/>
              </a:rPr>
              <a:t>实验环境</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pPr>
            <a:r>
              <a:rPr lang="zh-CN" altLang="en-US" sz="2000" b="1" dirty="0">
                <a:solidFill>
                  <a:schemeClr val="bg1"/>
                </a:solidFill>
                <a:latin typeface="+mn-ea"/>
              </a:rPr>
              <a:t>（</a:t>
            </a:r>
            <a:r>
              <a:rPr lang="en-US" altLang="zh-CN" sz="2000" b="1" dirty="0" smtClean="0">
                <a:solidFill>
                  <a:schemeClr val="bg1"/>
                </a:solidFill>
                <a:latin typeface="+mn-ea"/>
              </a:rPr>
              <a:t>1</a:t>
            </a:r>
            <a:r>
              <a:rPr lang="zh-CN" altLang="en-US" sz="2000" b="1" dirty="0">
                <a:solidFill>
                  <a:schemeClr val="bg1"/>
                </a:solidFill>
                <a:latin typeface="+mn-ea"/>
              </a:rPr>
              <a:t>）可以利用实验楼提供的虚拟机来作为实验</a:t>
            </a:r>
            <a:r>
              <a:rPr lang="zh-CN" altLang="en-US" sz="2000" b="1" dirty="0" smtClean="0">
                <a:solidFill>
                  <a:schemeClr val="bg1"/>
                </a:solidFill>
                <a:latin typeface="+mn-ea"/>
              </a:rPr>
              <a:t>环境</a:t>
            </a:r>
            <a:r>
              <a:rPr lang="en-US" altLang="zh-CN" sz="2000" b="1" dirty="0">
                <a:solidFill>
                  <a:schemeClr val="bg1"/>
                </a:solidFill>
                <a:latin typeface="+mn-ea"/>
              </a:rPr>
              <a:t>https://www.lanqiao.cn/courses/115/learning/?id=374</a:t>
            </a:r>
            <a:endParaRPr lang="zh-CN" altLang="en-US" sz="2000" b="1" dirty="0">
              <a:solidFill>
                <a:schemeClr val="bg1"/>
              </a:solidFill>
              <a:latin typeface="+mn-ea"/>
            </a:endParaRPr>
          </a:p>
          <a:p>
            <a:pPr marL="0" lvl="1" algn="just">
              <a:lnSpc>
                <a:spcPct val="150000"/>
              </a:lnSpc>
              <a:buClr>
                <a:schemeClr val="accent6">
                  <a:lumMod val="60000"/>
                  <a:lumOff val="40000"/>
                </a:schemeClr>
              </a:buClr>
            </a:pPr>
            <a:r>
              <a:rPr lang="zh-CN" altLang="en-US" sz="2000" b="1" dirty="0" smtClean="0">
                <a:solidFill>
                  <a:schemeClr val="bg1"/>
                </a:solidFill>
                <a:latin typeface="+mn-ea"/>
              </a:rPr>
              <a:t>（</a:t>
            </a:r>
            <a:r>
              <a:rPr lang="en-US" altLang="zh-CN" sz="2000" b="1" dirty="0">
                <a:solidFill>
                  <a:schemeClr val="bg1"/>
                </a:solidFill>
                <a:latin typeface="+mn-ea"/>
              </a:rPr>
              <a:t>2</a:t>
            </a:r>
            <a:r>
              <a:rPr lang="zh-CN" altLang="en-US" sz="2000" b="1" dirty="0">
                <a:solidFill>
                  <a:schemeClr val="bg1"/>
                </a:solidFill>
                <a:latin typeface="+mn-ea"/>
              </a:rPr>
              <a:t>）也可以自己下载实验环境包，在自己的机器上</a:t>
            </a:r>
            <a:r>
              <a:rPr lang="zh-CN" altLang="en-US" sz="2000" b="1" dirty="0" smtClean="0">
                <a:solidFill>
                  <a:schemeClr val="bg1"/>
                </a:solidFill>
                <a:latin typeface="+mn-ea"/>
              </a:rPr>
              <a:t>搭建</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pPr>
            <a:r>
              <a:rPr lang="zh-CN" altLang="en-US" sz="2000" b="1" dirty="0">
                <a:solidFill>
                  <a:schemeClr val="bg1"/>
                </a:solidFill>
                <a:latin typeface="+mn-ea"/>
              </a:rPr>
              <a:t>链接</a:t>
            </a:r>
            <a:r>
              <a:rPr lang="en-US" altLang="zh-CN" sz="2000" b="1" dirty="0">
                <a:solidFill>
                  <a:schemeClr val="bg1"/>
                </a:solidFill>
                <a:latin typeface="+mn-ea"/>
              </a:rPr>
              <a:t>: https://pan.baidu.com/s/1rP0Bc1_DUVCL-7_g_YJHeQ </a:t>
            </a:r>
            <a:r>
              <a:rPr lang="zh-CN" altLang="en-US" sz="2000" b="1" dirty="0">
                <a:solidFill>
                  <a:schemeClr val="bg1"/>
                </a:solidFill>
                <a:latin typeface="+mn-ea"/>
              </a:rPr>
              <a:t>提取码</a:t>
            </a:r>
            <a:r>
              <a:rPr lang="en-US" altLang="zh-CN" sz="2000" b="1" dirty="0">
                <a:solidFill>
                  <a:schemeClr val="bg1"/>
                </a:solidFill>
                <a:latin typeface="+mn-ea"/>
              </a:rPr>
              <a:t>: u3nb </a:t>
            </a:r>
          </a:p>
        </p:txBody>
      </p:sp>
    </p:spTree>
    <p:extLst>
      <p:ext uri="{BB962C8B-B14F-4D97-AF65-F5344CB8AC3E}">
        <p14:creationId xmlns:p14="http://schemas.microsoft.com/office/powerpoint/2010/main" val="1311421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课后作业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44876"/>
            <a:ext cx="6696744" cy="1667764"/>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实验二：完成</a:t>
            </a:r>
            <a:r>
              <a:rPr lang="zh-CN" altLang="en-US" sz="2400" b="1" dirty="0">
                <a:solidFill>
                  <a:schemeClr val="bg1"/>
                </a:solidFill>
                <a:latin typeface="+mn-ea"/>
              </a:rPr>
              <a:t>对操作系统引导过程的控制</a:t>
            </a:r>
            <a:r>
              <a:rPr lang="zh-CN" altLang="en-US" sz="2400" b="1" dirty="0" smtClean="0">
                <a:solidFill>
                  <a:schemeClr val="bg1"/>
                </a:solidFill>
                <a:latin typeface="+mn-ea"/>
              </a:rPr>
              <a:t>，要求同学们在</a:t>
            </a:r>
            <a:r>
              <a:rPr lang="zh-CN" altLang="en-US" sz="2400" b="1" dirty="0">
                <a:solidFill>
                  <a:schemeClr val="bg1"/>
                </a:solidFill>
                <a:latin typeface="+mn-ea"/>
              </a:rPr>
              <a:t>引导过程中打出自己设计的</a:t>
            </a:r>
            <a:r>
              <a:rPr lang="en-US" altLang="zh-CN" sz="2400" b="1" dirty="0">
                <a:solidFill>
                  <a:schemeClr val="bg1"/>
                </a:solidFill>
                <a:latin typeface="+mn-ea"/>
              </a:rPr>
              <a:t>Logo</a:t>
            </a:r>
            <a:r>
              <a:rPr lang="zh-CN" altLang="en-US" sz="2400" b="1" dirty="0">
                <a:solidFill>
                  <a:schemeClr val="bg1"/>
                </a:solidFill>
                <a:latin typeface="+mn-ea"/>
              </a:rPr>
              <a:t>，并且输出一些基本的硬件</a:t>
            </a:r>
            <a:r>
              <a:rPr lang="zh-CN" altLang="en-US" sz="2400" b="1" dirty="0" smtClean="0">
                <a:solidFill>
                  <a:schemeClr val="bg1"/>
                </a:solidFill>
                <a:latin typeface="+mn-ea"/>
              </a:rPr>
              <a:t>参数</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7820768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课后作业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实验目的</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696744" cy="2775760"/>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熟悉 </a:t>
            </a:r>
            <a:r>
              <a:rPr lang="en-US" altLang="zh-CN" sz="2400" b="1" dirty="0">
                <a:solidFill>
                  <a:schemeClr val="bg1"/>
                </a:solidFill>
                <a:latin typeface="+mn-ea"/>
              </a:rPr>
              <a:t>hit-</a:t>
            </a:r>
            <a:r>
              <a:rPr lang="en-US" altLang="zh-CN" sz="2400" b="1" dirty="0" err="1">
                <a:solidFill>
                  <a:schemeClr val="bg1"/>
                </a:solidFill>
                <a:latin typeface="+mn-ea"/>
              </a:rPr>
              <a:t>oslab</a:t>
            </a:r>
            <a:r>
              <a:rPr lang="en-US" altLang="zh-CN" sz="2400" b="1" dirty="0">
                <a:solidFill>
                  <a:schemeClr val="bg1"/>
                </a:solidFill>
                <a:latin typeface="+mn-ea"/>
              </a:rPr>
              <a:t> </a:t>
            </a:r>
            <a:r>
              <a:rPr lang="zh-CN" altLang="en-US" sz="2400" b="1" dirty="0">
                <a:solidFill>
                  <a:schemeClr val="bg1"/>
                </a:solidFill>
                <a:latin typeface="+mn-ea"/>
              </a:rPr>
              <a:t>实验环境；</a:t>
            </a: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建立对操作系统引导过程的深入认识；</a:t>
            </a: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掌握操作系统的基本开发过程；</a:t>
            </a: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能对操作系统代码进行简单的控制，揭开操作系统的神秘面纱</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43429939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课后作业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实验内容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755575" y="972420"/>
            <a:ext cx="4881369" cy="1743346"/>
          </a:xfrm>
          <a:prstGeom prst="rect">
            <a:avLst/>
          </a:prstGeom>
        </p:spPr>
      </p:pic>
      <p:pic>
        <p:nvPicPr>
          <p:cNvPr id="4" name="图片 3"/>
          <p:cNvPicPr>
            <a:picLocks noChangeAspect="1"/>
          </p:cNvPicPr>
          <p:nvPr/>
        </p:nvPicPr>
        <p:blipFill>
          <a:blip r:embed="rId3"/>
          <a:stretch>
            <a:fillRect/>
          </a:stretch>
        </p:blipFill>
        <p:spPr>
          <a:xfrm>
            <a:off x="3347864" y="2990566"/>
            <a:ext cx="4752528" cy="2056058"/>
          </a:xfrm>
          <a:prstGeom prst="rect">
            <a:avLst/>
          </a:prstGeom>
        </p:spPr>
      </p:pic>
    </p:spTree>
    <p:extLst>
      <p:ext uri="{BB962C8B-B14F-4D97-AF65-F5344CB8AC3E}">
        <p14:creationId xmlns:p14="http://schemas.microsoft.com/office/powerpoint/2010/main" val="87409740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8176993"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课后</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作业要求</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882628"/>
            <a:ext cx="6840760" cy="4293483"/>
          </a:xfrm>
          <a:prstGeom prst="rect">
            <a:avLst/>
          </a:prstGeom>
        </p:spPr>
        <p:txBody>
          <a:bodyPr wrap="square">
            <a:spAutoFit/>
          </a:bodyPr>
          <a:lstStyle/>
          <a:p>
            <a:pPr marL="0" lvl="1" indent="85725" algn="just">
              <a:lnSpc>
                <a:spcPct val="150000"/>
              </a:lnSpc>
              <a:buClr>
                <a:schemeClr val="accent6">
                  <a:lumMod val="60000"/>
                  <a:lumOff val="40000"/>
                </a:schemeClr>
              </a:buClr>
              <a:buFont typeface="Wingdings" panose="05000000000000000000" pitchFamily="2" charset="2"/>
              <a:buChar char="Ø"/>
            </a:pPr>
            <a:r>
              <a:rPr lang="zh-CN" altLang="en-US" b="1" dirty="0" smtClean="0">
                <a:solidFill>
                  <a:schemeClr val="bg1"/>
                </a:solidFill>
                <a:latin typeface="+mn-ea"/>
              </a:rPr>
              <a:t>记录实验过程：</a:t>
            </a:r>
            <a:endParaRPr lang="en-US" altLang="zh-CN" b="1" dirty="0" smtClean="0">
              <a:solidFill>
                <a:schemeClr val="bg1"/>
              </a:solidFill>
              <a:latin typeface="+mn-ea"/>
            </a:endParaRP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b="1" dirty="0" smtClean="0">
                <a:solidFill>
                  <a:schemeClr val="bg1"/>
                </a:solidFill>
                <a:latin typeface="+mn-ea"/>
              </a:rPr>
              <a:t>提交</a:t>
            </a:r>
            <a:r>
              <a:rPr lang="zh-CN" altLang="en-US" b="1" dirty="0">
                <a:solidFill>
                  <a:schemeClr val="bg1"/>
                </a:solidFill>
                <a:latin typeface="+mn-ea"/>
              </a:rPr>
              <a:t>能证明自己完成该实验的截</a:t>
            </a:r>
            <a:r>
              <a:rPr lang="zh-CN" altLang="en-US" b="1" dirty="0" smtClean="0">
                <a:solidFill>
                  <a:schemeClr val="bg1"/>
                </a:solidFill>
                <a:latin typeface="+mn-ea"/>
              </a:rPr>
              <a:t>图，</a:t>
            </a:r>
            <a:r>
              <a:rPr lang="zh-CN" altLang="en-US" b="1" dirty="0">
                <a:solidFill>
                  <a:schemeClr val="bg1"/>
                </a:solidFill>
                <a:latin typeface="+mn-ea"/>
              </a:rPr>
              <a:t>即要提交包含有个人</a:t>
            </a:r>
            <a:r>
              <a:rPr lang="en-US" altLang="zh-CN" b="1" dirty="0">
                <a:solidFill>
                  <a:schemeClr val="bg1"/>
                </a:solidFill>
                <a:latin typeface="+mn-ea"/>
              </a:rPr>
              <a:t>ID</a:t>
            </a:r>
            <a:r>
              <a:rPr lang="zh-CN" altLang="en-US" b="1" dirty="0">
                <a:solidFill>
                  <a:schemeClr val="bg1"/>
                </a:solidFill>
                <a:latin typeface="+mn-ea"/>
              </a:rPr>
              <a:t>的</a:t>
            </a:r>
            <a:r>
              <a:rPr lang="en-US" altLang="zh-CN" b="1" dirty="0" err="1">
                <a:solidFill>
                  <a:schemeClr val="bg1"/>
                </a:solidFill>
                <a:latin typeface="+mn-ea"/>
              </a:rPr>
              <a:t>Bochs</a:t>
            </a:r>
            <a:r>
              <a:rPr lang="zh-CN" altLang="en-US" b="1" dirty="0">
                <a:solidFill>
                  <a:schemeClr val="bg1"/>
                </a:solidFill>
                <a:latin typeface="+mn-ea"/>
              </a:rPr>
              <a:t>运行界面。</a:t>
            </a:r>
            <a:r>
              <a:rPr lang="zh-CN" altLang="en-US" b="1" dirty="0" smtClean="0">
                <a:solidFill>
                  <a:schemeClr val="bg1"/>
                </a:solidFill>
                <a:latin typeface="+mn-ea"/>
              </a:rPr>
              <a:t>例如，</a:t>
            </a:r>
            <a:r>
              <a:rPr lang="zh-CN" altLang="en-US" b="1" dirty="0">
                <a:solidFill>
                  <a:schemeClr val="bg1"/>
                </a:solidFill>
                <a:latin typeface="+mn-ea"/>
              </a:rPr>
              <a:t>在系统启动</a:t>
            </a:r>
            <a:r>
              <a:rPr lang="en-US" altLang="zh-CN" b="1" dirty="0">
                <a:solidFill>
                  <a:schemeClr val="bg1"/>
                </a:solidFill>
                <a:latin typeface="+mn-ea"/>
              </a:rPr>
              <a:t>Logo</a:t>
            </a:r>
            <a:r>
              <a:rPr lang="zh-CN" altLang="en-US" b="1" dirty="0">
                <a:solidFill>
                  <a:schemeClr val="bg1"/>
                </a:solidFill>
                <a:latin typeface="+mn-ea"/>
              </a:rPr>
              <a:t>处打印自己的</a:t>
            </a:r>
            <a:r>
              <a:rPr lang="en-US" altLang="zh-CN" b="1" dirty="0" smtClean="0">
                <a:solidFill>
                  <a:schemeClr val="bg1"/>
                </a:solidFill>
                <a:latin typeface="+mn-ea"/>
              </a:rPr>
              <a:t>ID</a:t>
            </a:r>
            <a:r>
              <a:rPr lang="zh-CN" altLang="en-US" b="1" dirty="0" smtClean="0">
                <a:solidFill>
                  <a:schemeClr val="bg1"/>
                </a:solidFill>
                <a:latin typeface="+mn-ea"/>
              </a:rPr>
              <a:t>。</a:t>
            </a:r>
            <a:endParaRPr lang="en-US" altLang="zh-CN" b="1" dirty="0" smtClean="0">
              <a:solidFill>
                <a:schemeClr val="bg1"/>
              </a:solidFill>
              <a:latin typeface="+mn-ea"/>
            </a:endParaRP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b="1" dirty="0" smtClean="0">
                <a:solidFill>
                  <a:schemeClr val="bg1"/>
                </a:solidFill>
                <a:latin typeface="+mn-ea"/>
              </a:rPr>
              <a:t>将获取的硬件参数截图</a:t>
            </a:r>
            <a:endParaRPr lang="en-US" altLang="zh-CN" b="1" dirty="0" smtClean="0">
              <a:solidFill>
                <a:schemeClr val="bg1"/>
              </a:solidFill>
              <a:latin typeface="+mn-ea"/>
            </a:endParaRPr>
          </a:p>
          <a:p>
            <a:pPr marL="0" lvl="1" indent="85725" algn="just">
              <a:lnSpc>
                <a:spcPct val="150000"/>
              </a:lnSpc>
              <a:buClr>
                <a:schemeClr val="accent6">
                  <a:lumMod val="60000"/>
                  <a:lumOff val="40000"/>
                </a:schemeClr>
              </a:buClr>
              <a:buFont typeface="Wingdings" panose="05000000000000000000" pitchFamily="2" charset="2"/>
              <a:buChar char="Ø"/>
            </a:pPr>
            <a:r>
              <a:rPr lang="zh-CN" altLang="en-US" b="1" dirty="0" smtClean="0">
                <a:solidFill>
                  <a:schemeClr val="bg1"/>
                </a:solidFill>
                <a:latin typeface="+mn-ea"/>
              </a:rPr>
              <a:t>讨论：回答以下问题</a:t>
            </a:r>
            <a:r>
              <a:rPr lang="en-US" altLang="zh-CN" b="1" dirty="0" smtClean="0">
                <a:solidFill>
                  <a:schemeClr val="bg1"/>
                </a:solidFill>
                <a:latin typeface="+mn-ea"/>
              </a:rPr>
              <a:t>--</a:t>
            </a:r>
            <a:r>
              <a:rPr lang="zh-CN" altLang="en-US" b="1" dirty="0" smtClean="0">
                <a:solidFill>
                  <a:schemeClr val="bg1"/>
                </a:solidFill>
                <a:latin typeface="+mn-ea"/>
              </a:rPr>
              <a:t>有时</a:t>
            </a:r>
            <a:r>
              <a:rPr lang="zh-CN" altLang="en-US" b="1" dirty="0">
                <a:solidFill>
                  <a:schemeClr val="bg1"/>
                </a:solidFill>
                <a:latin typeface="+mn-ea"/>
              </a:rPr>
              <a:t>，继承传统意味着别手蹩脚。</a:t>
            </a:r>
            <a:r>
              <a:rPr lang="en-US" altLang="zh-CN" b="1" dirty="0">
                <a:solidFill>
                  <a:schemeClr val="bg1"/>
                </a:solidFill>
                <a:latin typeface="+mn-ea"/>
              </a:rPr>
              <a:t>x86 </a:t>
            </a:r>
            <a:r>
              <a:rPr lang="zh-CN" altLang="en-US" b="1" dirty="0">
                <a:solidFill>
                  <a:schemeClr val="bg1"/>
                </a:solidFill>
                <a:latin typeface="+mn-ea"/>
              </a:rPr>
              <a:t>计算机为了向下兼容，导致启动过程比较复杂。请找出 </a:t>
            </a:r>
            <a:r>
              <a:rPr lang="en-US" altLang="zh-CN" b="1" dirty="0">
                <a:solidFill>
                  <a:schemeClr val="bg1"/>
                </a:solidFill>
                <a:latin typeface="+mn-ea"/>
              </a:rPr>
              <a:t>x86 </a:t>
            </a:r>
            <a:r>
              <a:rPr lang="zh-CN" altLang="en-US" b="1" dirty="0">
                <a:solidFill>
                  <a:schemeClr val="bg1"/>
                </a:solidFill>
                <a:latin typeface="+mn-ea"/>
              </a:rPr>
              <a:t>计算机启动过程中，被硬件强制，软件必须遵守的两个“多此一举”的步骤（多找几个也无妨），说说它们为什么多此一举，并设计更简洁的替代方案。</a:t>
            </a:r>
          </a:p>
          <a:p>
            <a:pPr marL="0" lvl="1" indent="85725" algn="just">
              <a:lnSpc>
                <a:spcPct val="150000"/>
              </a:lnSpc>
              <a:buClr>
                <a:schemeClr val="accent6">
                  <a:lumMod val="60000"/>
                  <a:lumOff val="40000"/>
                </a:schemeClr>
              </a:buClr>
              <a:buFont typeface="Wingdings" panose="05000000000000000000" pitchFamily="2" charset="2"/>
              <a:buChar char="Ø"/>
            </a:pPr>
            <a:endParaRPr lang="en-US" altLang="zh-CN" sz="2000" b="1" dirty="0">
              <a:solidFill>
                <a:schemeClr val="bg1"/>
              </a:solidFill>
              <a:latin typeface="+mn-ea"/>
            </a:endParaRPr>
          </a:p>
        </p:txBody>
      </p:sp>
    </p:spTree>
    <p:extLst>
      <p:ext uri="{BB962C8B-B14F-4D97-AF65-F5344CB8AC3E}">
        <p14:creationId xmlns:p14="http://schemas.microsoft.com/office/powerpoint/2010/main" val="101222017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操作系统概念及历史</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操作系统的基本类型</a:t>
              </a:r>
              <a:endParaRPr lang="en-US" altLang="zh-CN" b="1" dirty="0">
                <a:solidFill>
                  <a:srgbClr val="000000"/>
                </a:solidFill>
                <a:ea typeface="宋体" pitchFamily="2" charset="-122"/>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操作系统的功能</a:t>
              </a:r>
              <a:endParaRPr lang="en-US" altLang="zh-CN" b="1" dirty="0">
                <a:solidFill>
                  <a:srgbClr val="000000"/>
                </a:solidFill>
                <a:ea typeface="宋体" pitchFamily="2" charset="-122"/>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计算机硬件简介</a:t>
              </a:r>
              <a:endParaRPr lang="en-US" altLang="zh-CN" b="1" dirty="0">
                <a:solidFill>
                  <a:srgbClr val="000000"/>
                </a:solidFill>
                <a:ea typeface="宋体" pitchFamily="2" charset="-122"/>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ea typeface="宋体" pitchFamily="2" charset="-122"/>
                </a:rPr>
                <a:t>算法描述及研究操作系统的观点</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8518997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2"/>
                                        </p:tgtEl>
                                      </p:cBhvr>
                                      <p:by x="150000" y="150000"/>
                                    </p:animScale>
                                  </p:childTnLst>
                                </p:cTn>
                              </p:par>
                              <p:par>
                                <p:cTn id="7" presetID="42" presetClass="path" presetSubtype="0" accel="50000" decel="50000" fill="hold" nodeType="withEffect">
                                  <p:stCondLst>
                                    <p:cond delay="0"/>
                                  </p:stCondLst>
                                  <p:childTnLst>
                                    <p:animMotion origin="layout" path="M 1.11111E-6 -1.23457E-6 L 0.00017 -0.30679 " pathEditMode="relative" rAng="0" ptsTypes="AA">
                                      <p:cBhvr>
                                        <p:cTn id="8" dur="2000" fill="hold"/>
                                        <p:tgtEl>
                                          <p:spTgt spid="32"/>
                                        </p:tgtEl>
                                        <p:attrNameLst>
                                          <p:attrName>ppt_x</p:attrName>
                                          <p:attrName>ppt_y</p:attrName>
                                        </p:attrNameLst>
                                      </p:cBhvr>
                                      <p:rCtr x="0" y="-15340"/>
                                    </p:animMotion>
                                  </p:childTnLst>
                                </p:cTn>
                              </p:par>
                              <p:par>
                                <p:cTn id="9" presetID="10" presetClass="exit" presetSubtype="0" fill="hold" nodeType="withEffect">
                                  <p:stCondLst>
                                    <p:cond delay="0"/>
                                  </p:stCondLst>
                                  <p:childTnLst>
                                    <p:animEffect transition="out" filter="fade">
                                      <p:cBhvr>
                                        <p:cTn id="10" dur="2000"/>
                                        <p:tgtEl>
                                          <p:spTgt spid="11"/>
                                        </p:tgtEl>
                                      </p:cBhvr>
                                    </p:animEffect>
                                    <p:set>
                                      <p:cBhvr>
                                        <p:cTn id="11" dur="1" fill="hold">
                                          <p:stCondLst>
                                            <p:cond delay="1999"/>
                                          </p:stCondLst>
                                        </p:cTn>
                                        <p:tgtEl>
                                          <p:spTgt spid="11"/>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6"/>
                                        </p:tgtEl>
                                      </p:cBhvr>
                                    </p:animEffect>
                                    <p:set>
                                      <p:cBhvr>
                                        <p:cTn id="14" dur="1" fill="hold">
                                          <p:stCondLst>
                                            <p:cond delay="1999"/>
                                          </p:stCondLst>
                                        </p:cTn>
                                        <p:tgtEl>
                                          <p:spTgt spid="16"/>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22"/>
                                        </p:tgtEl>
                                      </p:cBhvr>
                                    </p:animEffect>
                                    <p:set>
                                      <p:cBhvr>
                                        <p:cTn id="17" dur="1" fill="hold">
                                          <p:stCondLst>
                                            <p:cond delay="1999"/>
                                          </p:stCondLst>
                                        </p:cTn>
                                        <p:tgtEl>
                                          <p:spTgt spid="2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27"/>
                                        </p:tgtEl>
                                      </p:cBhvr>
                                    </p:animEffect>
                                    <p:set>
                                      <p:cBhvr>
                                        <p:cTn id="20" dur="1" fill="hold">
                                          <p:stCondLst>
                                            <p:cond delay="19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算法的描述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99715"/>
            <a:ext cx="6768752" cy="83580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操作系统设计和原理描述中涉及到许多算法。为了描述简单起见，本书定义下述关键词描述算法中有关过程</a:t>
            </a:r>
          </a:p>
        </p:txBody>
      </p:sp>
      <p:grpSp>
        <p:nvGrpSpPr>
          <p:cNvPr id="43" name="组合 42"/>
          <p:cNvGrpSpPr/>
          <p:nvPr/>
        </p:nvGrpSpPr>
        <p:grpSpPr>
          <a:xfrm>
            <a:off x="323528" y="2283718"/>
            <a:ext cx="1926383" cy="2063878"/>
            <a:chOff x="323528" y="2283718"/>
            <a:chExt cx="1926383" cy="2063878"/>
          </a:xfrm>
        </p:grpSpPr>
        <p:sp>
          <p:nvSpPr>
            <p:cNvPr id="5" name="任意多边形 4"/>
            <p:cNvSpPr/>
            <p:nvPr/>
          </p:nvSpPr>
          <p:spPr>
            <a:xfrm>
              <a:off x="323528" y="2283718"/>
              <a:ext cx="1779546" cy="1328393"/>
            </a:xfrm>
            <a:custGeom>
              <a:avLst/>
              <a:gdLst>
                <a:gd name="connsiteX0" fmla="*/ 106271 w 1779546"/>
                <a:gd name="connsiteY0" fmla="*/ 0 h 1328393"/>
                <a:gd name="connsiteX1" fmla="*/ 1673275 w 1779546"/>
                <a:gd name="connsiteY1" fmla="*/ 0 h 1328393"/>
                <a:gd name="connsiteX2" fmla="*/ 1779546 w 1779546"/>
                <a:gd name="connsiteY2" fmla="*/ 106271 h 1328393"/>
                <a:gd name="connsiteX3" fmla="*/ 1779546 w 1779546"/>
                <a:gd name="connsiteY3" fmla="*/ 1328393 h 1328393"/>
                <a:gd name="connsiteX4" fmla="*/ 1779546 w 1779546"/>
                <a:gd name="connsiteY4" fmla="*/ 1328393 h 1328393"/>
                <a:gd name="connsiteX5" fmla="*/ 0 w 1779546"/>
                <a:gd name="connsiteY5" fmla="*/ 1328393 h 1328393"/>
                <a:gd name="connsiteX6" fmla="*/ 0 w 1779546"/>
                <a:gd name="connsiteY6" fmla="*/ 1328393 h 1328393"/>
                <a:gd name="connsiteX7" fmla="*/ 0 w 1779546"/>
                <a:gd name="connsiteY7" fmla="*/ 106271 h 1328393"/>
                <a:gd name="connsiteX8" fmla="*/ 106271 w 1779546"/>
                <a:gd name="connsiteY8" fmla="*/ 0 h 132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9546" h="1328393">
                  <a:moveTo>
                    <a:pt x="106271" y="0"/>
                  </a:moveTo>
                  <a:lnTo>
                    <a:pt x="1673275" y="0"/>
                  </a:lnTo>
                  <a:cubicBezTo>
                    <a:pt x="1731967" y="0"/>
                    <a:pt x="1779546" y="47579"/>
                    <a:pt x="1779546" y="106271"/>
                  </a:cubicBezTo>
                  <a:lnTo>
                    <a:pt x="1779546" y="1328393"/>
                  </a:lnTo>
                  <a:lnTo>
                    <a:pt x="1779546" y="1328393"/>
                  </a:lnTo>
                  <a:lnTo>
                    <a:pt x="0" y="1328393"/>
                  </a:lnTo>
                  <a:lnTo>
                    <a:pt x="0" y="1328393"/>
                  </a:lnTo>
                  <a:lnTo>
                    <a:pt x="0" y="106271"/>
                  </a:lnTo>
                  <a:cubicBezTo>
                    <a:pt x="0" y="47579"/>
                    <a:pt x="47579" y="0"/>
                    <a:pt x="106271" y="0"/>
                  </a:cubicBez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6846" tIns="168286" rIns="76846" bIns="45720" numCol="1" spcCol="1270" anchor="t" anchorCtr="0">
              <a:noAutofit/>
            </a:bodyPr>
            <a:lstStyle/>
            <a:p>
              <a:pPr marL="0" lvl="1" algn="l" defTabSz="1600200">
                <a:lnSpc>
                  <a:spcPct val="90000"/>
                </a:lnSpc>
                <a:spcBef>
                  <a:spcPct val="0"/>
                </a:spcBef>
                <a:spcAft>
                  <a:spcPct val="15000"/>
                </a:spcAft>
              </a:pPr>
              <a:r>
                <a:rPr lang="en-US" altLang="zh-CN" kern="1200" dirty="0" smtClean="0"/>
                <a:t>begin</a:t>
              </a:r>
              <a:endParaRPr lang="zh-CN" altLang="en-US" kern="1200" dirty="0"/>
            </a:p>
            <a:p>
              <a:pPr marL="0" lvl="1" algn="l" defTabSz="1600200">
                <a:lnSpc>
                  <a:spcPct val="90000"/>
                </a:lnSpc>
                <a:spcBef>
                  <a:spcPct val="0"/>
                </a:spcBef>
                <a:spcAft>
                  <a:spcPct val="15000"/>
                </a:spcAft>
              </a:pPr>
              <a:r>
                <a:rPr lang="en-US" altLang="zh-CN" kern="1200" dirty="0" smtClean="0"/>
                <a:t>end </a:t>
              </a:r>
              <a:endParaRPr lang="zh-CN" altLang="en-US" kern="1200" dirty="0"/>
            </a:p>
          </p:txBody>
        </p:sp>
        <p:sp>
          <p:nvSpPr>
            <p:cNvPr id="6" name="任意多边形 5"/>
            <p:cNvSpPr/>
            <p:nvPr/>
          </p:nvSpPr>
          <p:spPr>
            <a:xfrm>
              <a:off x="323528" y="3432942"/>
              <a:ext cx="1779546" cy="772291"/>
            </a:xfrm>
            <a:custGeom>
              <a:avLst/>
              <a:gdLst>
                <a:gd name="connsiteX0" fmla="*/ 0 w 1779546"/>
                <a:gd name="connsiteY0" fmla="*/ 0 h 571209"/>
                <a:gd name="connsiteX1" fmla="*/ 1779546 w 1779546"/>
                <a:gd name="connsiteY1" fmla="*/ 0 h 571209"/>
                <a:gd name="connsiteX2" fmla="*/ 1779546 w 1779546"/>
                <a:gd name="connsiteY2" fmla="*/ 571209 h 571209"/>
                <a:gd name="connsiteX3" fmla="*/ 0 w 1779546"/>
                <a:gd name="connsiteY3" fmla="*/ 571209 h 571209"/>
                <a:gd name="connsiteX4" fmla="*/ 0 w 1779546"/>
                <a:gd name="connsiteY4" fmla="*/ 0 h 57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546" h="571209">
                  <a:moveTo>
                    <a:pt x="0" y="0"/>
                  </a:moveTo>
                  <a:lnTo>
                    <a:pt x="1779546" y="0"/>
                  </a:lnTo>
                  <a:lnTo>
                    <a:pt x="1779546" y="571209"/>
                  </a:lnTo>
                  <a:lnTo>
                    <a:pt x="0" y="571209"/>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50" tIns="0" rIns="545395" bIns="0" numCol="1" spcCol="1270" anchor="ctr" anchorCtr="0">
              <a:noAutofit/>
            </a:bodyPr>
            <a:lstStyle/>
            <a:p>
              <a:pPr lvl="0" algn="l" defTabSz="666750">
                <a:lnSpc>
                  <a:spcPct val="90000"/>
                </a:lnSpc>
                <a:spcBef>
                  <a:spcPct val="0"/>
                </a:spcBef>
                <a:spcAft>
                  <a:spcPct val="35000"/>
                </a:spcAft>
              </a:pPr>
              <a:r>
                <a:rPr lang="zh-CN" altLang="en-US" b="1" kern="1200" dirty="0" smtClean="0"/>
                <a:t>表示算法的开头和结束</a:t>
              </a:r>
              <a:endParaRPr lang="zh-CN" altLang="en-US" b="1" kern="1200" dirty="0"/>
            </a:p>
          </p:txBody>
        </p:sp>
        <p:sp>
          <p:nvSpPr>
            <p:cNvPr id="7" name="椭圆 6"/>
            <p:cNvSpPr/>
            <p:nvPr/>
          </p:nvSpPr>
          <p:spPr>
            <a:xfrm>
              <a:off x="1627070" y="3724755"/>
              <a:ext cx="622841" cy="622841"/>
            </a:xfrm>
            <a:prstGeom prst="ellipse">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grpSp>
      <p:grpSp>
        <p:nvGrpSpPr>
          <p:cNvPr id="44" name="组合 43"/>
          <p:cNvGrpSpPr/>
          <p:nvPr/>
        </p:nvGrpSpPr>
        <p:grpSpPr>
          <a:xfrm>
            <a:off x="2282135" y="2283718"/>
            <a:ext cx="2161252" cy="1975116"/>
            <a:chOff x="2282135" y="2283718"/>
            <a:chExt cx="2161252" cy="1975116"/>
          </a:xfrm>
        </p:grpSpPr>
        <p:sp>
          <p:nvSpPr>
            <p:cNvPr id="8" name="同侧圆角矩形 7"/>
            <p:cNvSpPr/>
            <p:nvPr/>
          </p:nvSpPr>
          <p:spPr>
            <a:xfrm>
              <a:off x="2282135" y="2283718"/>
              <a:ext cx="2088233" cy="1328393"/>
            </a:xfrm>
            <a:prstGeom prst="round2SameRect">
              <a:avLst>
                <a:gd name="adj1" fmla="val 8000"/>
                <a:gd name="adj2" fmla="val 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spcBef>
                  <a:spcPct val="0"/>
                </a:spcBef>
              </a:pPr>
              <a:r>
                <a:rPr lang="en-US" altLang="zh-CN" dirty="0" smtClean="0"/>
                <a:t>Repeat</a:t>
              </a:r>
              <a:r>
                <a:rPr lang="en-US" altLang="zh-CN" dirty="0"/>
                <a:t>	</a:t>
              </a:r>
              <a:endParaRPr lang="en-US" altLang="zh-CN" dirty="0" smtClean="0"/>
            </a:p>
            <a:p>
              <a:pPr>
                <a:spcBef>
                  <a:spcPct val="0"/>
                </a:spcBef>
              </a:pPr>
              <a:r>
                <a:rPr lang="en-US" altLang="zh-CN" dirty="0"/>
                <a:t> </a:t>
              </a:r>
              <a:r>
                <a:rPr lang="en-US" altLang="zh-CN" dirty="0" smtClean="0"/>
                <a:t>     </a:t>
              </a:r>
              <a:r>
                <a:rPr lang="zh-CN" altLang="en-US" dirty="0" smtClean="0"/>
                <a:t>操作</a:t>
              </a:r>
              <a:r>
                <a:rPr lang="zh-CN" altLang="en-US" dirty="0"/>
                <a:t>	</a:t>
              </a:r>
              <a:endParaRPr lang="en-US" altLang="zh-CN" dirty="0" smtClean="0"/>
            </a:p>
            <a:p>
              <a:pPr>
                <a:spcBef>
                  <a:spcPct val="0"/>
                </a:spcBef>
              </a:pPr>
              <a:r>
                <a:rPr lang="en-US" altLang="zh-CN" dirty="0"/>
                <a:t> </a:t>
              </a:r>
              <a:r>
                <a:rPr lang="en-US" altLang="zh-CN" dirty="0" smtClean="0"/>
                <a:t>      …</a:t>
              </a:r>
            </a:p>
            <a:p>
              <a:pPr>
                <a:spcBef>
                  <a:spcPct val="0"/>
                </a:spcBef>
              </a:pPr>
              <a:r>
                <a:rPr lang="en-US" altLang="zh-CN" dirty="0" smtClean="0"/>
                <a:t>Until </a:t>
              </a:r>
              <a:r>
                <a:rPr lang="zh-CN" altLang="en-US" dirty="0"/>
                <a:t>条件</a:t>
              </a:r>
            </a:p>
            <a:p>
              <a:endParaRPr lang="zh-CN" altLang="en-US" dirty="0"/>
            </a:p>
          </p:txBody>
        </p:sp>
        <p:sp>
          <p:nvSpPr>
            <p:cNvPr id="9" name="任意多边形 8"/>
            <p:cNvSpPr/>
            <p:nvPr/>
          </p:nvSpPr>
          <p:spPr>
            <a:xfrm>
              <a:off x="2282135" y="3454854"/>
              <a:ext cx="2088233" cy="750379"/>
            </a:xfrm>
            <a:custGeom>
              <a:avLst/>
              <a:gdLst>
                <a:gd name="connsiteX0" fmla="*/ 0 w 1779546"/>
                <a:gd name="connsiteY0" fmla="*/ 0 h 571209"/>
                <a:gd name="connsiteX1" fmla="*/ 1779546 w 1779546"/>
                <a:gd name="connsiteY1" fmla="*/ 0 h 571209"/>
                <a:gd name="connsiteX2" fmla="*/ 1779546 w 1779546"/>
                <a:gd name="connsiteY2" fmla="*/ 571209 h 571209"/>
                <a:gd name="connsiteX3" fmla="*/ 0 w 1779546"/>
                <a:gd name="connsiteY3" fmla="*/ 571209 h 571209"/>
                <a:gd name="connsiteX4" fmla="*/ 0 w 1779546"/>
                <a:gd name="connsiteY4" fmla="*/ 0 h 57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546" h="571209">
                  <a:moveTo>
                    <a:pt x="0" y="0"/>
                  </a:moveTo>
                  <a:lnTo>
                    <a:pt x="1779546" y="0"/>
                  </a:lnTo>
                  <a:lnTo>
                    <a:pt x="1779546" y="571209"/>
                  </a:lnTo>
                  <a:lnTo>
                    <a:pt x="0" y="571209"/>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7150" tIns="0" rIns="545395" bIns="0" numCol="1" spcCol="1270" anchor="ctr" anchorCtr="0">
              <a:noAutofit/>
            </a:bodyPr>
            <a:lstStyle/>
            <a:p>
              <a:pPr lvl="0" defTabSz="666750">
                <a:lnSpc>
                  <a:spcPct val="90000"/>
                </a:lnSpc>
                <a:spcBef>
                  <a:spcPct val="0"/>
                </a:spcBef>
                <a:spcAft>
                  <a:spcPct val="35000"/>
                </a:spcAft>
              </a:pPr>
              <a:r>
                <a:rPr lang="zh-CN" altLang="en-US" sz="1600" b="1" dirty="0" smtClean="0"/>
                <a:t>当</a:t>
              </a:r>
              <a:r>
                <a:rPr lang="zh-CN" altLang="en-US" sz="1600" b="1" dirty="0"/>
                <a:t>“条件”未被满足时重复所描述的“操作”</a:t>
              </a:r>
            </a:p>
          </p:txBody>
        </p:sp>
        <p:sp>
          <p:nvSpPr>
            <p:cNvPr id="10" name="椭圆 9"/>
            <p:cNvSpPr/>
            <p:nvPr/>
          </p:nvSpPr>
          <p:spPr>
            <a:xfrm>
              <a:off x="3820546" y="3635993"/>
              <a:ext cx="622841" cy="622841"/>
            </a:xfrm>
            <a:prstGeom prst="ellipse">
              <a:avLst/>
            </a:pr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a:lstStyle/>
            <a:p>
              <a:endParaRPr lang="zh-CN" altLang="en-US"/>
            </a:p>
          </p:txBody>
        </p:sp>
      </p:grpSp>
      <p:grpSp>
        <p:nvGrpSpPr>
          <p:cNvPr id="46" name="组合 45"/>
          <p:cNvGrpSpPr/>
          <p:nvPr/>
        </p:nvGrpSpPr>
        <p:grpSpPr>
          <a:xfrm>
            <a:off x="4499992" y="2283718"/>
            <a:ext cx="1926384" cy="2041966"/>
            <a:chOff x="4499992" y="2283718"/>
            <a:chExt cx="1926384" cy="2041966"/>
          </a:xfrm>
        </p:grpSpPr>
        <p:sp>
          <p:nvSpPr>
            <p:cNvPr id="11" name="同侧圆角矩形 10"/>
            <p:cNvSpPr/>
            <p:nvPr/>
          </p:nvSpPr>
          <p:spPr>
            <a:xfrm>
              <a:off x="4499993" y="2283718"/>
              <a:ext cx="1926382" cy="1328393"/>
            </a:xfrm>
            <a:prstGeom prst="round2SameRect">
              <a:avLst>
                <a:gd name="adj1" fmla="val 8000"/>
                <a:gd name="adj2" fmla="val 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spcBef>
                  <a:spcPct val="0"/>
                </a:spcBef>
              </a:pPr>
              <a:r>
                <a:rPr lang="en-US" altLang="zh-CN" dirty="0"/>
                <a:t>While </a:t>
              </a:r>
              <a:r>
                <a:rPr lang="zh-CN" altLang="en-US" dirty="0" smtClean="0"/>
                <a:t>条件</a:t>
              </a:r>
              <a:endParaRPr lang="en-US" altLang="zh-CN" dirty="0" smtClean="0"/>
            </a:p>
            <a:p>
              <a:pPr>
                <a:spcBef>
                  <a:spcPct val="0"/>
                </a:spcBef>
              </a:pPr>
              <a:r>
                <a:rPr lang="en-US" altLang="zh-CN" dirty="0" smtClean="0"/>
                <a:t>do</a:t>
              </a:r>
              <a:r>
                <a:rPr lang="en-US" altLang="zh-CN" dirty="0"/>
                <a:t>	</a:t>
              </a:r>
              <a:endParaRPr lang="en-US" altLang="zh-CN" dirty="0" smtClean="0"/>
            </a:p>
            <a:p>
              <a:pPr>
                <a:spcBef>
                  <a:spcPct val="0"/>
                </a:spcBef>
              </a:pPr>
              <a:r>
                <a:rPr lang="en-US" altLang="zh-CN" dirty="0"/>
                <a:t> </a:t>
              </a:r>
              <a:r>
                <a:rPr lang="en-US" altLang="zh-CN" dirty="0" smtClean="0"/>
                <a:t>        </a:t>
              </a:r>
              <a:r>
                <a:rPr lang="zh-CN" altLang="en-US" dirty="0" smtClean="0"/>
                <a:t>操作   </a:t>
              </a:r>
              <a:r>
                <a:rPr lang="en-US" altLang="zh-CN" dirty="0" smtClean="0"/>
                <a:t>…</a:t>
              </a:r>
            </a:p>
            <a:p>
              <a:pPr>
                <a:spcBef>
                  <a:spcPct val="0"/>
                </a:spcBef>
              </a:pPr>
              <a:r>
                <a:rPr lang="en-US" altLang="zh-CN" dirty="0" smtClean="0"/>
                <a:t>od</a:t>
              </a:r>
              <a:endParaRPr lang="en-US" altLang="zh-CN" dirty="0"/>
            </a:p>
            <a:p>
              <a:endParaRPr lang="zh-CN" altLang="en-US" dirty="0"/>
            </a:p>
          </p:txBody>
        </p:sp>
        <p:sp>
          <p:nvSpPr>
            <p:cNvPr id="12" name="任意多边形 11"/>
            <p:cNvSpPr/>
            <p:nvPr/>
          </p:nvSpPr>
          <p:spPr>
            <a:xfrm>
              <a:off x="4499992" y="3432942"/>
              <a:ext cx="1926383" cy="750379"/>
            </a:xfrm>
            <a:custGeom>
              <a:avLst/>
              <a:gdLst>
                <a:gd name="connsiteX0" fmla="*/ 0 w 1779546"/>
                <a:gd name="connsiteY0" fmla="*/ 0 h 571209"/>
                <a:gd name="connsiteX1" fmla="*/ 1779546 w 1779546"/>
                <a:gd name="connsiteY1" fmla="*/ 0 h 571209"/>
                <a:gd name="connsiteX2" fmla="*/ 1779546 w 1779546"/>
                <a:gd name="connsiteY2" fmla="*/ 571209 h 571209"/>
                <a:gd name="connsiteX3" fmla="*/ 0 w 1779546"/>
                <a:gd name="connsiteY3" fmla="*/ 571209 h 571209"/>
                <a:gd name="connsiteX4" fmla="*/ 0 w 1779546"/>
                <a:gd name="connsiteY4" fmla="*/ 0 h 57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546" h="571209">
                  <a:moveTo>
                    <a:pt x="0" y="0"/>
                  </a:moveTo>
                  <a:lnTo>
                    <a:pt x="1779546" y="0"/>
                  </a:lnTo>
                  <a:lnTo>
                    <a:pt x="1779546" y="571209"/>
                  </a:lnTo>
                  <a:lnTo>
                    <a:pt x="0" y="571209"/>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57150" tIns="0" rIns="545395" bIns="0" numCol="1" spcCol="1270" anchor="ctr" anchorCtr="0">
              <a:noAutofit/>
            </a:bodyPr>
            <a:lstStyle/>
            <a:p>
              <a:pPr defTabSz="666750">
                <a:lnSpc>
                  <a:spcPct val="90000"/>
                </a:lnSpc>
                <a:spcBef>
                  <a:spcPct val="0"/>
                </a:spcBef>
                <a:spcAft>
                  <a:spcPct val="35000"/>
                </a:spcAft>
              </a:pPr>
              <a:r>
                <a:rPr lang="zh-CN" altLang="en-US" sz="1600" b="1" dirty="0"/>
                <a:t>当“条件”满足时，进行相应的“操作”</a:t>
              </a:r>
            </a:p>
          </p:txBody>
        </p:sp>
        <p:sp>
          <p:nvSpPr>
            <p:cNvPr id="13" name="椭圆 12"/>
            <p:cNvSpPr/>
            <p:nvPr/>
          </p:nvSpPr>
          <p:spPr>
            <a:xfrm>
              <a:off x="5803535" y="3702843"/>
              <a:ext cx="622841" cy="622841"/>
            </a:xfrm>
            <a:prstGeom prst="ellipse">
              <a:avLst/>
            </a:pr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a:lstStyle/>
            <a:p>
              <a:endParaRPr lang="zh-CN" altLang="en-US"/>
            </a:p>
          </p:txBody>
        </p:sp>
      </p:grpSp>
      <p:grpSp>
        <p:nvGrpSpPr>
          <p:cNvPr id="47" name="组合 46"/>
          <p:cNvGrpSpPr/>
          <p:nvPr/>
        </p:nvGrpSpPr>
        <p:grpSpPr>
          <a:xfrm>
            <a:off x="6571082" y="1131590"/>
            <a:ext cx="2393407" cy="3051732"/>
            <a:chOff x="6571082" y="1131590"/>
            <a:chExt cx="2393407" cy="3051732"/>
          </a:xfrm>
        </p:grpSpPr>
        <p:sp>
          <p:nvSpPr>
            <p:cNvPr id="40" name="同侧圆角矩形 39"/>
            <p:cNvSpPr/>
            <p:nvPr/>
          </p:nvSpPr>
          <p:spPr>
            <a:xfrm>
              <a:off x="6571082" y="1131590"/>
              <a:ext cx="2393406" cy="2352248"/>
            </a:xfrm>
            <a:prstGeom prst="round2SameRect">
              <a:avLst>
                <a:gd name="adj1" fmla="val 8000"/>
                <a:gd name="adj2" fmla="val 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spcBef>
                  <a:spcPct val="0"/>
                </a:spcBef>
              </a:pPr>
              <a:r>
                <a:rPr lang="en-US" altLang="zh-CN" dirty="0"/>
                <a:t>If </a:t>
              </a:r>
              <a:r>
                <a:rPr lang="zh-CN" altLang="en-US" dirty="0" smtClean="0"/>
                <a:t>条件</a:t>
              </a:r>
              <a:endParaRPr lang="en-US" altLang="zh-CN" dirty="0" smtClean="0"/>
            </a:p>
            <a:p>
              <a:pPr>
                <a:spcBef>
                  <a:spcPct val="0"/>
                </a:spcBef>
              </a:pPr>
              <a:r>
                <a:rPr lang="en-US" altLang="zh-CN" dirty="0" smtClean="0"/>
                <a:t>Then</a:t>
              </a:r>
            </a:p>
            <a:p>
              <a:pPr>
                <a:spcBef>
                  <a:spcPct val="0"/>
                </a:spcBef>
              </a:pPr>
              <a:r>
                <a:rPr lang="en-US" altLang="zh-CN" dirty="0"/>
                <a:t> </a:t>
              </a:r>
              <a:r>
                <a:rPr lang="en-US" altLang="zh-CN" dirty="0" smtClean="0"/>
                <a:t>     </a:t>
              </a:r>
              <a:r>
                <a:rPr lang="zh-CN" altLang="en-US" dirty="0" smtClean="0"/>
                <a:t>操作</a:t>
              </a:r>
              <a:endParaRPr lang="en-US" altLang="zh-CN" dirty="0"/>
            </a:p>
            <a:p>
              <a:pPr>
                <a:spcBef>
                  <a:spcPct val="0"/>
                </a:spcBef>
              </a:pPr>
              <a:r>
                <a:rPr lang="en-US" altLang="zh-CN" dirty="0" smtClean="0"/>
                <a:t>Else</a:t>
              </a:r>
            </a:p>
            <a:p>
              <a:pPr>
                <a:spcBef>
                  <a:spcPct val="0"/>
                </a:spcBef>
              </a:pPr>
              <a:r>
                <a:rPr lang="zh-CN" altLang="en-US" dirty="0" smtClean="0"/>
                <a:t>      操作</a:t>
              </a:r>
              <a:endParaRPr lang="zh-CN" altLang="en-US" dirty="0"/>
            </a:p>
            <a:p>
              <a:pPr>
                <a:spcBef>
                  <a:spcPct val="0"/>
                </a:spcBef>
              </a:pPr>
              <a:r>
                <a:rPr lang="en-US" altLang="zh-CN" dirty="0" smtClean="0"/>
                <a:t>fi</a:t>
              </a:r>
              <a:endParaRPr lang="en-US" altLang="zh-CN" dirty="0"/>
            </a:p>
            <a:p>
              <a:endParaRPr lang="zh-CN" altLang="en-US" dirty="0"/>
            </a:p>
          </p:txBody>
        </p:sp>
        <p:sp>
          <p:nvSpPr>
            <p:cNvPr id="41" name="任意多边形 40"/>
            <p:cNvSpPr/>
            <p:nvPr/>
          </p:nvSpPr>
          <p:spPr>
            <a:xfrm>
              <a:off x="6571082" y="2931790"/>
              <a:ext cx="2393406" cy="1251532"/>
            </a:xfrm>
            <a:custGeom>
              <a:avLst/>
              <a:gdLst>
                <a:gd name="connsiteX0" fmla="*/ 0 w 1644981"/>
                <a:gd name="connsiteY0" fmla="*/ 0 h 528015"/>
                <a:gd name="connsiteX1" fmla="*/ 1644981 w 1644981"/>
                <a:gd name="connsiteY1" fmla="*/ 0 h 528015"/>
                <a:gd name="connsiteX2" fmla="*/ 1644981 w 1644981"/>
                <a:gd name="connsiteY2" fmla="*/ 528015 h 528015"/>
                <a:gd name="connsiteX3" fmla="*/ 0 w 1644981"/>
                <a:gd name="connsiteY3" fmla="*/ 528015 h 528015"/>
                <a:gd name="connsiteX4" fmla="*/ 0 w 1644981"/>
                <a:gd name="connsiteY4" fmla="*/ 0 h 52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4981" h="528015">
                  <a:moveTo>
                    <a:pt x="0" y="0"/>
                  </a:moveTo>
                  <a:lnTo>
                    <a:pt x="1644981" y="0"/>
                  </a:lnTo>
                  <a:lnTo>
                    <a:pt x="1644981" y="528015"/>
                  </a:lnTo>
                  <a:lnTo>
                    <a:pt x="0" y="528015"/>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40970" tIns="0" rIns="533534" bIns="0" numCol="1" spcCol="1270" anchor="ctr" anchorCtr="0">
              <a:noAutofit/>
            </a:bodyPr>
            <a:lstStyle/>
            <a:p>
              <a:pPr lvl="0" defTabSz="1644650">
                <a:lnSpc>
                  <a:spcPct val="90000"/>
                </a:lnSpc>
                <a:spcBef>
                  <a:spcPct val="0"/>
                </a:spcBef>
                <a:spcAft>
                  <a:spcPct val="35000"/>
                </a:spcAft>
              </a:pPr>
              <a:r>
                <a:rPr lang="zh-CN" altLang="en-US" sz="1600" b="1" dirty="0" smtClean="0"/>
                <a:t>满足“</a:t>
              </a:r>
              <a:r>
                <a:rPr lang="en-US" altLang="zh-CN" sz="1600" b="1" dirty="0" smtClean="0"/>
                <a:t>if”</a:t>
              </a:r>
              <a:r>
                <a:rPr lang="zh-CN" altLang="en-US" sz="1600" b="1" dirty="0" smtClean="0"/>
                <a:t>所指“条件”，</a:t>
              </a:r>
              <a:r>
                <a:rPr lang="zh-CN" altLang="en-US" sz="1600" b="1" dirty="0"/>
                <a:t>进行“</a:t>
              </a:r>
              <a:r>
                <a:rPr lang="en-US" altLang="zh-CN" sz="1600" b="1" dirty="0"/>
                <a:t>then”</a:t>
              </a:r>
              <a:r>
                <a:rPr lang="zh-CN" altLang="en-US" sz="1600" b="1" dirty="0"/>
                <a:t>后的相关“操作”，否则完成“</a:t>
              </a:r>
              <a:r>
                <a:rPr lang="en-US" altLang="zh-CN" sz="1600" b="1" dirty="0"/>
                <a:t>else”</a:t>
              </a:r>
              <a:r>
                <a:rPr lang="zh-CN" altLang="en-US" sz="1600" b="1" dirty="0"/>
                <a:t>后的相关操作</a:t>
              </a:r>
            </a:p>
          </p:txBody>
        </p:sp>
        <p:sp>
          <p:nvSpPr>
            <p:cNvPr id="42" name="椭圆 41"/>
            <p:cNvSpPr/>
            <p:nvPr/>
          </p:nvSpPr>
          <p:spPr>
            <a:xfrm>
              <a:off x="8394827" y="3604211"/>
              <a:ext cx="569662" cy="579110"/>
            </a:xfrm>
            <a:prstGeom prst="ellipse">
              <a:avLst/>
            </a:pr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55290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down)">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down)">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down)">
                                      <p:cBhvr>
                                        <p:cTn id="2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1" y="142858"/>
            <a:ext cx="641380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算法的描述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3" name="组合 42"/>
          <p:cNvGrpSpPr/>
          <p:nvPr/>
        </p:nvGrpSpPr>
        <p:grpSpPr>
          <a:xfrm>
            <a:off x="971600" y="1347614"/>
            <a:ext cx="2518740" cy="2927430"/>
            <a:chOff x="323527" y="2615956"/>
            <a:chExt cx="2518740" cy="2927430"/>
          </a:xfrm>
        </p:grpSpPr>
        <p:sp>
          <p:nvSpPr>
            <p:cNvPr id="5" name="任意多边形 4"/>
            <p:cNvSpPr/>
            <p:nvPr/>
          </p:nvSpPr>
          <p:spPr>
            <a:xfrm>
              <a:off x="323528" y="2615956"/>
              <a:ext cx="2448272" cy="1944216"/>
            </a:xfrm>
            <a:custGeom>
              <a:avLst/>
              <a:gdLst>
                <a:gd name="connsiteX0" fmla="*/ 106271 w 1779546"/>
                <a:gd name="connsiteY0" fmla="*/ 0 h 1328393"/>
                <a:gd name="connsiteX1" fmla="*/ 1673275 w 1779546"/>
                <a:gd name="connsiteY1" fmla="*/ 0 h 1328393"/>
                <a:gd name="connsiteX2" fmla="*/ 1779546 w 1779546"/>
                <a:gd name="connsiteY2" fmla="*/ 106271 h 1328393"/>
                <a:gd name="connsiteX3" fmla="*/ 1779546 w 1779546"/>
                <a:gd name="connsiteY3" fmla="*/ 1328393 h 1328393"/>
                <a:gd name="connsiteX4" fmla="*/ 1779546 w 1779546"/>
                <a:gd name="connsiteY4" fmla="*/ 1328393 h 1328393"/>
                <a:gd name="connsiteX5" fmla="*/ 0 w 1779546"/>
                <a:gd name="connsiteY5" fmla="*/ 1328393 h 1328393"/>
                <a:gd name="connsiteX6" fmla="*/ 0 w 1779546"/>
                <a:gd name="connsiteY6" fmla="*/ 1328393 h 1328393"/>
                <a:gd name="connsiteX7" fmla="*/ 0 w 1779546"/>
                <a:gd name="connsiteY7" fmla="*/ 106271 h 1328393"/>
                <a:gd name="connsiteX8" fmla="*/ 106271 w 1779546"/>
                <a:gd name="connsiteY8" fmla="*/ 0 h 132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9546" h="1328393">
                  <a:moveTo>
                    <a:pt x="106271" y="0"/>
                  </a:moveTo>
                  <a:lnTo>
                    <a:pt x="1673275" y="0"/>
                  </a:lnTo>
                  <a:cubicBezTo>
                    <a:pt x="1731967" y="0"/>
                    <a:pt x="1779546" y="47579"/>
                    <a:pt x="1779546" y="106271"/>
                  </a:cubicBezTo>
                  <a:lnTo>
                    <a:pt x="1779546" y="1328393"/>
                  </a:lnTo>
                  <a:lnTo>
                    <a:pt x="1779546" y="1328393"/>
                  </a:lnTo>
                  <a:lnTo>
                    <a:pt x="0" y="1328393"/>
                  </a:lnTo>
                  <a:lnTo>
                    <a:pt x="0" y="1328393"/>
                  </a:lnTo>
                  <a:lnTo>
                    <a:pt x="0" y="106271"/>
                  </a:lnTo>
                  <a:cubicBezTo>
                    <a:pt x="0" y="47579"/>
                    <a:pt x="47579" y="0"/>
                    <a:pt x="106271" y="0"/>
                  </a:cubicBez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6846" tIns="168286" rIns="76846" bIns="45720" numCol="1" spcCol="1270" anchor="t" anchorCtr="0">
              <a:noAutofit/>
            </a:bodyPr>
            <a:lstStyle/>
            <a:p>
              <a:pPr>
                <a:spcBef>
                  <a:spcPct val="0"/>
                </a:spcBef>
              </a:pPr>
              <a:r>
                <a:rPr lang="en-US" altLang="zh-CN" dirty="0"/>
                <a:t>Repeat	IR←</a:t>
              </a:r>
              <a:r>
                <a:rPr lang="en-US" altLang="zh-CN" dirty="0" smtClean="0"/>
                <a:t>M[PC</a:t>
              </a:r>
              <a:r>
                <a:rPr lang="zh-CN" altLang="en-US" dirty="0"/>
                <a:t>］</a:t>
              </a:r>
              <a:r>
                <a:rPr lang="en-US" altLang="zh-CN" dirty="0"/>
                <a:t>;</a:t>
              </a:r>
            </a:p>
            <a:p>
              <a:pPr>
                <a:spcBef>
                  <a:spcPct val="0"/>
                </a:spcBef>
              </a:pPr>
              <a:r>
                <a:rPr lang="en-US" altLang="zh-CN" dirty="0"/>
                <a:t>	</a:t>
              </a:r>
              <a:r>
                <a:rPr lang="en-US" altLang="zh-CN" dirty="0" smtClean="0"/>
                <a:t>PC</a:t>
              </a:r>
              <a:r>
                <a:rPr lang="en-US" altLang="zh-CN" dirty="0"/>
                <a:t>←PC + 1;</a:t>
              </a:r>
            </a:p>
            <a:p>
              <a:pPr>
                <a:spcBef>
                  <a:spcPct val="0"/>
                </a:spcBef>
              </a:pPr>
              <a:r>
                <a:rPr lang="en-US" altLang="zh-CN" dirty="0"/>
                <a:t>	</a:t>
              </a:r>
              <a:r>
                <a:rPr lang="en-US" altLang="zh-CN" dirty="0" smtClean="0"/>
                <a:t>Execute[IR</a:t>
              </a:r>
              <a:r>
                <a:rPr lang="zh-CN" altLang="en-US" dirty="0"/>
                <a:t>］</a:t>
              </a:r>
              <a:r>
                <a:rPr lang="en-US" altLang="zh-CN" dirty="0"/>
                <a:t>;</a:t>
              </a:r>
            </a:p>
            <a:p>
              <a:pPr>
                <a:spcBef>
                  <a:spcPct val="0"/>
                </a:spcBef>
              </a:pPr>
              <a:r>
                <a:rPr lang="en-US" altLang="zh-CN" dirty="0" smtClean="0"/>
                <a:t>Until</a:t>
              </a:r>
              <a:r>
                <a:rPr lang="en-US" altLang="zh-CN" dirty="0"/>
                <a:t>	</a:t>
              </a:r>
              <a:r>
                <a:rPr lang="en-US" altLang="zh-CN" dirty="0" smtClean="0"/>
                <a:t>CPU </a:t>
              </a:r>
              <a:r>
                <a:rPr lang="en-US" altLang="zh-CN" dirty="0"/>
                <a:t>halt;</a:t>
              </a:r>
            </a:p>
          </p:txBody>
        </p:sp>
        <p:sp>
          <p:nvSpPr>
            <p:cNvPr id="6" name="任意多边形 5"/>
            <p:cNvSpPr/>
            <p:nvPr/>
          </p:nvSpPr>
          <p:spPr>
            <a:xfrm>
              <a:off x="323527" y="4560172"/>
              <a:ext cx="2448273" cy="983214"/>
            </a:xfrm>
            <a:custGeom>
              <a:avLst/>
              <a:gdLst>
                <a:gd name="connsiteX0" fmla="*/ 0 w 1779546"/>
                <a:gd name="connsiteY0" fmla="*/ 0 h 571209"/>
                <a:gd name="connsiteX1" fmla="*/ 1779546 w 1779546"/>
                <a:gd name="connsiteY1" fmla="*/ 0 h 571209"/>
                <a:gd name="connsiteX2" fmla="*/ 1779546 w 1779546"/>
                <a:gd name="connsiteY2" fmla="*/ 571209 h 571209"/>
                <a:gd name="connsiteX3" fmla="*/ 0 w 1779546"/>
                <a:gd name="connsiteY3" fmla="*/ 571209 h 571209"/>
                <a:gd name="connsiteX4" fmla="*/ 0 w 1779546"/>
                <a:gd name="connsiteY4" fmla="*/ 0 h 57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546" h="571209">
                  <a:moveTo>
                    <a:pt x="0" y="0"/>
                  </a:moveTo>
                  <a:lnTo>
                    <a:pt x="1779546" y="0"/>
                  </a:lnTo>
                  <a:lnTo>
                    <a:pt x="1779546" y="571209"/>
                  </a:lnTo>
                  <a:lnTo>
                    <a:pt x="0" y="571209"/>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50" tIns="0" rIns="545395" bIns="0" numCol="1" spcCol="1270" anchor="ctr" anchorCtr="0">
              <a:noAutofit/>
            </a:bodyPr>
            <a:lstStyle/>
            <a:p>
              <a:pPr lvl="0" defTabSz="666750">
                <a:lnSpc>
                  <a:spcPct val="130000"/>
                </a:lnSpc>
                <a:spcBef>
                  <a:spcPct val="0"/>
                </a:spcBef>
                <a:spcAft>
                  <a:spcPct val="35000"/>
                </a:spcAft>
              </a:pPr>
              <a:r>
                <a:rPr lang="zh-CN" altLang="en-US" sz="2000" b="1" dirty="0"/>
                <a:t>图</a:t>
              </a:r>
              <a:r>
                <a:rPr lang="en-US" altLang="zh-CN" sz="2000" b="1" dirty="0"/>
                <a:t>1.8</a:t>
              </a:r>
              <a:r>
                <a:rPr lang="zh-CN" altLang="en-US" sz="2000" b="1" dirty="0"/>
                <a:t>所示指令执行周期</a:t>
              </a:r>
            </a:p>
          </p:txBody>
        </p:sp>
        <p:sp>
          <p:nvSpPr>
            <p:cNvPr id="7" name="椭圆 6"/>
            <p:cNvSpPr/>
            <p:nvPr/>
          </p:nvSpPr>
          <p:spPr>
            <a:xfrm>
              <a:off x="2219426" y="4920545"/>
              <a:ext cx="622841" cy="622841"/>
            </a:xfrm>
            <a:prstGeom prst="ellipse">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grpSp>
      <p:grpSp>
        <p:nvGrpSpPr>
          <p:cNvPr id="34" name="组合 33"/>
          <p:cNvGrpSpPr/>
          <p:nvPr/>
        </p:nvGrpSpPr>
        <p:grpSpPr>
          <a:xfrm>
            <a:off x="4067943" y="142858"/>
            <a:ext cx="3719186" cy="4242910"/>
            <a:chOff x="2282134" y="1092195"/>
            <a:chExt cx="3719186" cy="4242910"/>
          </a:xfrm>
        </p:grpSpPr>
        <p:sp>
          <p:nvSpPr>
            <p:cNvPr id="35" name="同侧圆角矩形 34"/>
            <p:cNvSpPr/>
            <p:nvPr/>
          </p:nvSpPr>
          <p:spPr>
            <a:xfrm>
              <a:off x="2282135" y="1092195"/>
              <a:ext cx="3540169" cy="3148971"/>
            </a:xfrm>
            <a:prstGeom prst="round2SameRect">
              <a:avLst>
                <a:gd name="adj1" fmla="val 8000"/>
                <a:gd name="adj2" fmla="val 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spcBef>
                  <a:spcPct val="0"/>
                </a:spcBef>
              </a:pPr>
              <a:r>
                <a:rPr lang="en-US" altLang="zh-CN" dirty="0"/>
                <a:t>begin</a:t>
              </a:r>
            </a:p>
            <a:p>
              <a:pPr>
                <a:spcBef>
                  <a:spcPct val="0"/>
                </a:spcBef>
              </a:pPr>
              <a:r>
                <a:rPr lang="en-US" altLang="zh-CN" dirty="0" smtClean="0"/>
                <a:t>      local</a:t>
              </a:r>
              <a:r>
                <a:rPr lang="en-US" altLang="zh-CN" dirty="0"/>
                <a:t>	x, k;</a:t>
              </a:r>
            </a:p>
            <a:p>
              <a:pPr>
                <a:spcBef>
                  <a:spcPct val="0"/>
                </a:spcBef>
              </a:pPr>
              <a:r>
                <a:rPr lang="en-US" altLang="zh-CN" dirty="0" smtClean="0"/>
                <a:t>      k</a:t>
              </a:r>
              <a:r>
                <a:rPr lang="en-US" altLang="zh-CN" dirty="0"/>
                <a:t>←1;</a:t>
              </a:r>
            </a:p>
            <a:p>
              <a:pPr>
                <a:spcBef>
                  <a:spcPct val="0"/>
                </a:spcBef>
              </a:pPr>
              <a:r>
                <a:rPr lang="en-US" altLang="zh-CN" dirty="0" smtClean="0"/>
                <a:t>      while</a:t>
              </a:r>
              <a:r>
                <a:rPr lang="en-US" altLang="zh-CN" dirty="0"/>
                <a:t>	k&lt;=7	do</a:t>
              </a:r>
            </a:p>
            <a:p>
              <a:pPr>
                <a:spcBef>
                  <a:spcPct val="0"/>
                </a:spcBef>
              </a:pPr>
              <a:r>
                <a:rPr lang="en-US" altLang="zh-CN" dirty="0"/>
                <a:t>	</a:t>
              </a:r>
              <a:r>
                <a:rPr lang="en-US" altLang="zh-CN" dirty="0" err="1" smtClean="0"/>
                <a:t>x</a:t>
              </a:r>
              <a:r>
                <a:rPr lang="en-US" altLang="zh-CN" dirty="0" err="1"/>
                <a:t>←</a:t>
              </a:r>
              <a:r>
                <a:rPr lang="en-US" altLang="zh-CN" dirty="0" err="1" smtClean="0"/>
                <a:t>k</a:t>
              </a:r>
              <a:r>
                <a:rPr lang="en-US" altLang="zh-CN" dirty="0" smtClean="0"/>
                <a:t>;</a:t>
              </a:r>
            </a:p>
            <a:p>
              <a:pPr>
                <a:spcBef>
                  <a:spcPct val="0"/>
                </a:spcBef>
              </a:pPr>
              <a:r>
                <a:rPr lang="en-US" altLang="zh-CN" dirty="0"/>
                <a:t> </a:t>
              </a:r>
              <a:r>
                <a:rPr lang="en-US" altLang="zh-CN" dirty="0" smtClean="0"/>
                <a:t>                repeat</a:t>
              </a:r>
              <a:r>
                <a:rPr lang="en-US" altLang="zh-CN" dirty="0"/>
                <a:t>	print(x);</a:t>
              </a:r>
            </a:p>
            <a:p>
              <a:pPr>
                <a:spcBef>
                  <a:spcPct val="0"/>
                </a:spcBef>
              </a:pPr>
              <a:r>
                <a:rPr lang="en-US" altLang="zh-CN" dirty="0"/>
                <a:t>	</a:t>
              </a:r>
              <a:r>
                <a:rPr lang="en-US" altLang="zh-CN" dirty="0" smtClean="0"/>
                <a:t>                 </a:t>
              </a:r>
              <a:r>
                <a:rPr lang="en-US" altLang="zh-CN" dirty="0" err="1" smtClean="0"/>
                <a:t>x</a:t>
              </a:r>
              <a:r>
                <a:rPr lang="en-US" altLang="zh-CN" dirty="0" err="1"/>
                <a:t>→p</a:t>
              </a:r>
              <a:r>
                <a:rPr lang="zh-CN" altLang="en-US" dirty="0"/>
                <a:t>［</a:t>
              </a:r>
              <a:r>
                <a:rPr lang="en-US" altLang="zh-CN" dirty="0"/>
                <a:t>x</a:t>
              </a:r>
              <a:r>
                <a:rPr lang="zh-CN" altLang="en-US" dirty="0"/>
                <a:t>］</a:t>
              </a:r>
              <a:r>
                <a:rPr lang="en-US" altLang="zh-CN" dirty="0"/>
                <a:t>;</a:t>
              </a:r>
            </a:p>
            <a:p>
              <a:pPr>
                <a:spcBef>
                  <a:spcPct val="0"/>
                </a:spcBef>
              </a:pPr>
              <a:r>
                <a:rPr lang="en-US" altLang="zh-CN" dirty="0"/>
                <a:t>	</a:t>
              </a:r>
              <a:r>
                <a:rPr lang="en-US" altLang="zh-CN" dirty="0" smtClean="0"/>
                <a:t>until </a:t>
              </a:r>
              <a:r>
                <a:rPr lang="en-US" altLang="zh-CN" dirty="0"/>
                <a:t>x=k</a:t>
              </a:r>
              <a:r>
                <a:rPr lang="en-US" altLang="zh-CN" dirty="0" smtClean="0"/>
                <a:t>;</a:t>
              </a:r>
              <a:r>
                <a:rPr lang="en-US" altLang="zh-CN" dirty="0"/>
                <a:t>			k←k+1;</a:t>
              </a:r>
            </a:p>
            <a:p>
              <a:pPr>
                <a:spcBef>
                  <a:spcPct val="0"/>
                </a:spcBef>
              </a:pPr>
              <a:r>
                <a:rPr lang="en-US" altLang="zh-CN" dirty="0" smtClean="0"/>
                <a:t>      od</a:t>
              </a:r>
              <a:endParaRPr lang="en-US" altLang="zh-CN" dirty="0"/>
            </a:p>
            <a:p>
              <a:pPr>
                <a:spcBef>
                  <a:spcPct val="0"/>
                </a:spcBef>
              </a:pPr>
              <a:r>
                <a:rPr lang="en-US" altLang="zh-CN" dirty="0" smtClean="0"/>
                <a:t>end</a:t>
              </a:r>
              <a:endParaRPr lang="en-US" altLang="zh-CN" dirty="0"/>
            </a:p>
            <a:p>
              <a:endParaRPr lang="zh-CN" altLang="en-US" dirty="0"/>
            </a:p>
          </p:txBody>
        </p:sp>
        <p:sp>
          <p:nvSpPr>
            <p:cNvPr id="36" name="任意多边形 35"/>
            <p:cNvSpPr/>
            <p:nvPr/>
          </p:nvSpPr>
          <p:spPr>
            <a:xfrm>
              <a:off x="2282134" y="4241166"/>
              <a:ext cx="3540169" cy="983215"/>
            </a:xfrm>
            <a:custGeom>
              <a:avLst/>
              <a:gdLst>
                <a:gd name="connsiteX0" fmla="*/ 0 w 1779546"/>
                <a:gd name="connsiteY0" fmla="*/ 0 h 571209"/>
                <a:gd name="connsiteX1" fmla="*/ 1779546 w 1779546"/>
                <a:gd name="connsiteY1" fmla="*/ 0 h 571209"/>
                <a:gd name="connsiteX2" fmla="*/ 1779546 w 1779546"/>
                <a:gd name="connsiteY2" fmla="*/ 571209 h 571209"/>
                <a:gd name="connsiteX3" fmla="*/ 0 w 1779546"/>
                <a:gd name="connsiteY3" fmla="*/ 571209 h 571209"/>
                <a:gd name="connsiteX4" fmla="*/ 0 w 1779546"/>
                <a:gd name="connsiteY4" fmla="*/ 0 h 57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546" h="571209">
                  <a:moveTo>
                    <a:pt x="0" y="0"/>
                  </a:moveTo>
                  <a:lnTo>
                    <a:pt x="1779546" y="0"/>
                  </a:lnTo>
                  <a:lnTo>
                    <a:pt x="1779546" y="571209"/>
                  </a:lnTo>
                  <a:lnTo>
                    <a:pt x="0" y="571209"/>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7150" tIns="0" rIns="545395" bIns="0" numCol="1" spcCol="1270" anchor="ctr" anchorCtr="0">
              <a:noAutofit/>
            </a:bodyPr>
            <a:lstStyle/>
            <a:p>
              <a:pPr defTabSz="666750">
                <a:lnSpc>
                  <a:spcPct val="90000"/>
                </a:lnSpc>
                <a:spcBef>
                  <a:spcPct val="0"/>
                </a:spcBef>
                <a:spcAft>
                  <a:spcPct val="35000"/>
                </a:spcAft>
              </a:pPr>
              <a:r>
                <a:rPr lang="en-US" altLang="zh-CN" b="1" dirty="0">
                  <a:latin typeface="+mj-ea"/>
                  <a:ea typeface="+mj-ea"/>
                </a:rPr>
                <a:t>p</a:t>
              </a:r>
              <a:r>
                <a:rPr lang="zh-CN" altLang="en-US" b="1" dirty="0">
                  <a:latin typeface="+mj-ea"/>
                  <a:ea typeface="+mj-ea"/>
                </a:rPr>
                <a:t>［</a:t>
              </a:r>
              <a:r>
                <a:rPr lang="en-US" altLang="zh-CN" b="1" dirty="0" err="1">
                  <a:latin typeface="+mj-ea"/>
                  <a:ea typeface="+mj-ea"/>
                </a:rPr>
                <a:t>i</a:t>
              </a:r>
              <a:r>
                <a:rPr lang="zh-CN" altLang="en-US" b="1" dirty="0">
                  <a:latin typeface="+mj-ea"/>
                  <a:ea typeface="+mj-ea"/>
                </a:rPr>
                <a:t>］的巡回置换算法。（巡回置换指</a:t>
              </a:r>
              <a:r>
                <a:rPr lang="en-US" altLang="zh-CN" b="1" dirty="0">
                  <a:latin typeface="+mj-ea"/>
                  <a:ea typeface="+mj-ea"/>
                </a:rPr>
                <a:t>k∈</a:t>
              </a:r>
              <a:r>
                <a:rPr lang="zh-CN" altLang="en-US" b="1" dirty="0">
                  <a:latin typeface="+mj-ea"/>
                  <a:ea typeface="+mj-ea"/>
                </a:rPr>
                <a:t>［</a:t>
              </a:r>
              <a:r>
                <a:rPr lang="en-US" altLang="zh-CN" b="1" dirty="0">
                  <a:latin typeface="+mj-ea"/>
                  <a:ea typeface="+mj-ea"/>
                </a:rPr>
                <a:t>1</a:t>
              </a:r>
              <a:r>
                <a:rPr lang="zh-CN" altLang="en-US" b="1" dirty="0">
                  <a:latin typeface="+mj-ea"/>
                  <a:ea typeface="+mj-ea"/>
                </a:rPr>
                <a:t>：</a:t>
              </a:r>
              <a:r>
                <a:rPr lang="en-US" altLang="zh-CN" b="1" dirty="0">
                  <a:latin typeface="+mj-ea"/>
                  <a:ea typeface="+mj-ea"/>
                </a:rPr>
                <a:t>n</a:t>
              </a:r>
              <a:r>
                <a:rPr lang="zh-CN" altLang="en-US" b="1" dirty="0">
                  <a:latin typeface="+mj-ea"/>
                  <a:ea typeface="+mj-ea"/>
                </a:rPr>
                <a:t>］时，</a:t>
              </a:r>
              <a:r>
                <a:rPr lang="en-US" altLang="zh-CN" b="1" dirty="0">
                  <a:latin typeface="+mj-ea"/>
                  <a:ea typeface="+mj-ea"/>
                </a:rPr>
                <a:t>k=p</a:t>
              </a:r>
              <a:r>
                <a:rPr lang="zh-CN" altLang="en-US" b="1" dirty="0" smtClean="0">
                  <a:latin typeface="+mj-ea"/>
                  <a:ea typeface="+mj-ea"/>
                </a:rPr>
                <a:t>［</a:t>
              </a:r>
              <a:r>
                <a:rPr lang="en-US" altLang="zh-CN" b="1" dirty="0" smtClean="0">
                  <a:latin typeface="+mj-ea"/>
                  <a:ea typeface="+mj-ea"/>
                </a:rPr>
                <a:t>p[...</a:t>
              </a:r>
              <a:r>
                <a:rPr lang="en-US" altLang="zh-CN" b="1" dirty="0">
                  <a:latin typeface="+mj-ea"/>
                  <a:ea typeface="+mj-ea"/>
                </a:rPr>
                <a:t>p</a:t>
              </a:r>
              <a:r>
                <a:rPr lang="zh-CN" altLang="en-US" b="1" dirty="0">
                  <a:latin typeface="+mj-ea"/>
                  <a:ea typeface="+mj-ea"/>
                </a:rPr>
                <a:t>［</a:t>
              </a:r>
              <a:r>
                <a:rPr lang="en-US" altLang="zh-CN" b="1" dirty="0">
                  <a:latin typeface="+mj-ea"/>
                  <a:ea typeface="+mj-ea"/>
                </a:rPr>
                <a:t>k</a:t>
              </a:r>
              <a:r>
                <a:rPr lang="zh-CN" altLang="en-US" b="1" dirty="0">
                  <a:latin typeface="+mj-ea"/>
                  <a:ea typeface="+mj-ea"/>
                </a:rPr>
                <a:t>］</a:t>
              </a:r>
              <a:r>
                <a:rPr lang="en-US" altLang="zh-CN" b="1" dirty="0" smtClean="0">
                  <a:latin typeface="+mj-ea"/>
                  <a:ea typeface="+mj-ea"/>
                </a:rPr>
                <a:t>...]</a:t>
              </a:r>
              <a:r>
                <a:rPr lang="zh-CN" altLang="en-US" b="1" dirty="0" smtClean="0">
                  <a:latin typeface="+mj-ea"/>
                  <a:ea typeface="+mj-ea"/>
                </a:rPr>
                <a:t>］</a:t>
              </a:r>
              <a:r>
                <a:rPr lang="zh-CN" altLang="en-US" b="1" dirty="0">
                  <a:latin typeface="+mj-ea"/>
                  <a:ea typeface="+mj-ea"/>
                </a:rPr>
                <a:t>的置换。</a:t>
              </a:r>
            </a:p>
          </p:txBody>
        </p:sp>
        <p:sp>
          <p:nvSpPr>
            <p:cNvPr id="37" name="椭圆 36"/>
            <p:cNvSpPr/>
            <p:nvPr/>
          </p:nvSpPr>
          <p:spPr>
            <a:xfrm>
              <a:off x="5378479" y="4712264"/>
              <a:ext cx="622841" cy="622841"/>
            </a:xfrm>
            <a:prstGeom prst="ellipse">
              <a:avLst/>
            </a:pr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a:lstStyle/>
            <a:p>
              <a:endParaRPr lang="zh-CN" altLang="en-US"/>
            </a:p>
          </p:txBody>
        </p:sp>
      </p:grpSp>
    </p:spTree>
    <p:extLst>
      <p:ext uri="{BB962C8B-B14F-4D97-AF65-F5344CB8AC3E}">
        <p14:creationId xmlns:p14="http://schemas.microsoft.com/office/powerpoint/2010/main" val="163393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研究操作系统的几种观点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03" name="Rectangle 247"/>
          <p:cNvSpPr>
            <a:spLocks noChangeArrowheads="1"/>
          </p:cNvSpPr>
          <p:nvPr/>
        </p:nvSpPr>
        <p:spPr bwMode="auto">
          <a:xfrm>
            <a:off x="745974" y="1285866"/>
            <a:ext cx="5842250" cy="2985328"/>
          </a:xfrm>
          <a:prstGeom prst="rect">
            <a:avLst/>
          </a:prstGeom>
          <a:noFill/>
          <a:ln w="57150">
            <a:solidFill>
              <a:srgbClr val="FF5050"/>
            </a:solidFill>
            <a:prstDash val="dash"/>
            <a:miter lim="800000"/>
            <a:headEnd/>
            <a:tailEnd/>
          </a:ln>
        </p:spPr>
        <p:txBody>
          <a:bodyPr wrap="none" anchor="ctr"/>
          <a:lstStyle/>
          <a:p>
            <a:endParaRPr lang="zh-CN" altLang="zh-CN"/>
          </a:p>
        </p:txBody>
      </p:sp>
      <p:grpSp>
        <p:nvGrpSpPr>
          <p:cNvPr id="405" name="组合 404"/>
          <p:cNvGrpSpPr/>
          <p:nvPr/>
        </p:nvGrpSpPr>
        <p:grpSpPr>
          <a:xfrm>
            <a:off x="971600" y="1392034"/>
            <a:ext cx="5472608" cy="769441"/>
            <a:chOff x="549275" y="1663060"/>
            <a:chExt cx="5101032" cy="769441"/>
          </a:xfrm>
        </p:grpSpPr>
        <p:grpSp>
          <p:nvGrpSpPr>
            <p:cNvPr id="406" name="Group 656"/>
            <p:cNvGrpSpPr>
              <a:grpSpLocks/>
            </p:cNvGrpSpPr>
            <p:nvPr/>
          </p:nvGrpSpPr>
          <p:grpSpPr bwMode="auto">
            <a:xfrm>
              <a:off x="549275" y="1670050"/>
              <a:ext cx="1871663" cy="557213"/>
              <a:chOff x="299" y="760"/>
              <a:chExt cx="1856" cy="553"/>
            </a:xfrm>
          </p:grpSpPr>
          <p:grpSp>
            <p:nvGrpSpPr>
              <p:cNvPr id="408" name="Group 657"/>
              <p:cNvGrpSpPr>
                <a:grpSpLocks noChangeAspect="1"/>
              </p:cNvGrpSpPr>
              <p:nvPr/>
            </p:nvGrpSpPr>
            <p:grpSpPr bwMode="auto">
              <a:xfrm>
                <a:off x="991" y="763"/>
                <a:ext cx="496" cy="318"/>
                <a:chOff x="4685" y="1252"/>
                <a:chExt cx="834" cy="536"/>
              </a:xfrm>
            </p:grpSpPr>
            <p:sp>
              <p:nvSpPr>
                <p:cNvPr id="457" name="AutoShape 658"/>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58" name="AutoShape 659"/>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59" name="AutoShape 660"/>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09" name="Group 661"/>
              <p:cNvGrpSpPr>
                <a:grpSpLocks noChangeAspect="1"/>
              </p:cNvGrpSpPr>
              <p:nvPr/>
            </p:nvGrpSpPr>
            <p:grpSpPr bwMode="auto">
              <a:xfrm>
                <a:off x="1218" y="802"/>
                <a:ext cx="496" cy="318"/>
                <a:chOff x="4685" y="1252"/>
                <a:chExt cx="834" cy="536"/>
              </a:xfrm>
            </p:grpSpPr>
            <p:sp>
              <p:nvSpPr>
                <p:cNvPr id="454" name="AutoShape 662"/>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55" name="AutoShape 663"/>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56" name="AutoShape 664"/>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0" name="Group 665"/>
              <p:cNvGrpSpPr>
                <a:grpSpLocks noChangeAspect="1"/>
              </p:cNvGrpSpPr>
              <p:nvPr/>
            </p:nvGrpSpPr>
            <p:grpSpPr bwMode="auto">
              <a:xfrm>
                <a:off x="1445" y="842"/>
                <a:ext cx="496" cy="318"/>
                <a:chOff x="4685" y="1252"/>
                <a:chExt cx="834" cy="536"/>
              </a:xfrm>
            </p:grpSpPr>
            <p:sp>
              <p:nvSpPr>
                <p:cNvPr id="451" name="AutoShape 666"/>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52" name="AutoShape 667"/>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53" name="AutoShape 668"/>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1" name="Group 669"/>
              <p:cNvGrpSpPr>
                <a:grpSpLocks noChangeAspect="1"/>
              </p:cNvGrpSpPr>
              <p:nvPr/>
            </p:nvGrpSpPr>
            <p:grpSpPr bwMode="auto">
              <a:xfrm>
                <a:off x="1672" y="881"/>
                <a:ext cx="496" cy="318"/>
                <a:chOff x="4685" y="1252"/>
                <a:chExt cx="834" cy="536"/>
              </a:xfrm>
            </p:grpSpPr>
            <p:sp>
              <p:nvSpPr>
                <p:cNvPr id="448" name="AutoShape 670"/>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49" name="AutoShape 671"/>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50" name="AutoShape 672"/>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2" name="Group 673"/>
              <p:cNvGrpSpPr>
                <a:grpSpLocks noChangeAspect="1"/>
              </p:cNvGrpSpPr>
              <p:nvPr/>
            </p:nvGrpSpPr>
            <p:grpSpPr bwMode="auto">
              <a:xfrm>
                <a:off x="764" y="802"/>
                <a:ext cx="496" cy="318"/>
                <a:chOff x="4685" y="1252"/>
                <a:chExt cx="834" cy="536"/>
              </a:xfrm>
            </p:grpSpPr>
            <p:sp>
              <p:nvSpPr>
                <p:cNvPr id="445" name="AutoShape 674"/>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46" name="AutoShape 675"/>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47" name="AutoShape 676"/>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3" name="Group 677"/>
              <p:cNvGrpSpPr>
                <a:grpSpLocks noChangeAspect="1"/>
              </p:cNvGrpSpPr>
              <p:nvPr/>
            </p:nvGrpSpPr>
            <p:grpSpPr bwMode="auto">
              <a:xfrm>
                <a:off x="1218" y="882"/>
                <a:ext cx="496" cy="318"/>
                <a:chOff x="4685" y="1252"/>
                <a:chExt cx="834" cy="536"/>
              </a:xfrm>
            </p:grpSpPr>
            <p:sp>
              <p:nvSpPr>
                <p:cNvPr id="442" name="AutoShape 678"/>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43" name="AutoShape 679"/>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44" name="AutoShape 680"/>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4" name="Group 681"/>
              <p:cNvGrpSpPr>
                <a:grpSpLocks noChangeAspect="1"/>
              </p:cNvGrpSpPr>
              <p:nvPr/>
            </p:nvGrpSpPr>
            <p:grpSpPr bwMode="auto">
              <a:xfrm>
                <a:off x="1445" y="920"/>
                <a:ext cx="496" cy="318"/>
                <a:chOff x="4685" y="1252"/>
                <a:chExt cx="834" cy="536"/>
              </a:xfrm>
            </p:grpSpPr>
            <p:sp>
              <p:nvSpPr>
                <p:cNvPr id="439" name="AutoShape 682"/>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40" name="AutoShape 683"/>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41" name="AutoShape 684"/>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5" name="Group 685"/>
              <p:cNvGrpSpPr>
                <a:grpSpLocks noChangeAspect="1"/>
              </p:cNvGrpSpPr>
              <p:nvPr/>
            </p:nvGrpSpPr>
            <p:grpSpPr bwMode="auto">
              <a:xfrm>
                <a:off x="537" y="842"/>
                <a:ext cx="496" cy="318"/>
                <a:chOff x="4685" y="1252"/>
                <a:chExt cx="834" cy="536"/>
              </a:xfrm>
            </p:grpSpPr>
            <p:sp>
              <p:nvSpPr>
                <p:cNvPr id="436" name="AutoShape 686"/>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37" name="AutoShape 687"/>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38" name="AutoShape 688"/>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6" name="Group 689"/>
              <p:cNvGrpSpPr>
                <a:grpSpLocks noChangeAspect="1"/>
              </p:cNvGrpSpPr>
              <p:nvPr/>
            </p:nvGrpSpPr>
            <p:grpSpPr bwMode="auto">
              <a:xfrm>
                <a:off x="1218" y="960"/>
                <a:ext cx="496" cy="318"/>
                <a:chOff x="4685" y="1252"/>
                <a:chExt cx="834" cy="536"/>
              </a:xfrm>
            </p:grpSpPr>
            <p:sp>
              <p:nvSpPr>
                <p:cNvPr id="433" name="AutoShape 690"/>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34" name="AutoShape 691"/>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35" name="AutoShape 692"/>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7" name="Group 693"/>
              <p:cNvGrpSpPr>
                <a:grpSpLocks noChangeAspect="1"/>
              </p:cNvGrpSpPr>
              <p:nvPr/>
            </p:nvGrpSpPr>
            <p:grpSpPr bwMode="auto">
              <a:xfrm>
                <a:off x="310" y="881"/>
                <a:ext cx="496" cy="318"/>
                <a:chOff x="4685" y="1252"/>
                <a:chExt cx="834" cy="536"/>
              </a:xfrm>
            </p:grpSpPr>
            <p:sp>
              <p:nvSpPr>
                <p:cNvPr id="430" name="AutoShape 694"/>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31" name="AutoShape 695"/>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32" name="AutoShape 696"/>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8" name="Group 697"/>
              <p:cNvGrpSpPr>
                <a:grpSpLocks noChangeAspect="1"/>
              </p:cNvGrpSpPr>
              <p:nvPr/>
            </p:nvGrpSpPr>
            <p:grpSpPr bwMode="auto">
              <a:xfrm>
                <a:off x="537" y="920"/>
                <a:ext cx="496" cy="318"/>
                <a:chOff x="4685" y="1252"/>
                <a:chExt cx="834" cy="536"/>
              </a:xfrm>
            </p:grpSpPr>
            <p:sp>
              <p:nvSpPr>
                <p:cNvPr id="427" name="AutoShape 698"/>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28" name="AutoShape 699"/>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29" name="AutoShape 700"/>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19" name="Group 701"/>
              <p:cNvGrpSpPr>
                <a:grpSpLocks noChangeAspect="1"/>
              </p:cNvGrpSpPr>
              <p:nvPr/>
            </p:nvGrpSpPr>
            <p:grpSpPr bwMode="auto">
              <a:xfrm>
                <a:off x="764" y="960"/>
                <a:ext cx="496" cy="318"/>
                <a:chOff x="4685" y="1252"/>
                <a:chExt cx="834" cy="536"/>
              </a:xfrm>
            </p:grpSpPr>
            <p:sp>
              <p:nvSpPr>
                <p:cNvPr id="424" name="AutoShape 702"/>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25" name="AutoShape 703"/>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26" name="AutoShape 704"/>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nvGrpSpPr>
              <p:cNvPr id="420" name="Group 705"/>
              <p:cNvGrpSpPr>
                <a:grpSpLocks noChangeAspect="1"/>
              </p:cNvGrpSpPr>
              <p:nvPr/>
            </p:nvGrpSpPr>
            <p:grpSpPr bwMode="auto">
              <a:xfrm>
                <a:off x="991" y="999"/>
                <a:ext cx="496" cy="318"/>
                <a:chOff x="4685" y="1252"/>
                <a:chExt cx="834" cy="536"/>
              </a:xfrm>
            </p:grpSpPr>
            <p:sp>
              <p:nvSpPr>
                <p:cNvPr id="421" name="AutoShape 706"/>
                <p:cNvSpPr>
                  <a:spLocks noChangeAspect="1" noChangeArrowheads="1"/>
                </p:cNvSpPr>
                <p:nvPr/>
              </p:nvSpPr>
              <p:spPr bwMode="auto">
                <a:xfrm>
                  <a:off x="4723" y="1252"/>
                  <a:ext cx="754" cy="125"/>
                </a:xfrm>
                <a:prstGeom prst="diamond">
                  <a:avLst/>
                </a:prstGeom>
                <a:solidFill>
                  <a:srgbClr val="FFFF66"/>
                </a:solidFill>
                <a:ln w="9525" algn="ctr">
                  <a:noFill/>
                  <a:miter lim="800000"/>
                  <a:headEnd/>
                  <a:tailEnd/>
                </a:ln>
              </p:spPr>
              <p:txBody>
                <a:bodyPr anchor="ctr">
                  <a:spAutoFit/>
                </a:bodyPr>
                <a:lstStyle/>
                <a:p>
                  <a:endParaRPr lang="zh-CN" altLang="zh-CN"/>
                </a:p>
              </p:txBody>
            </p:sp>
            <p:sp>
              <p:nvSpPr>
                <p:cNvPr id="422" name="AutoShape 707"/>
                <p:cNvSpPr>
                  <a:spLocks noChangeAspect="1" noChangeArrowheads="1"/>
                </p:cNvSpPr>
                <p:nvPr/>
              </p:nvSpPr>
              <p:spPr bwMode="auto">
                <a:xfrm rot="583211" flipH="1">
                  <a:off x="4685" y="1349"/>
                  <a:ext cx="455" cy="438"/>
                </a:xfrm>
                <a:prstGeom prst="parallelogram">
                  <a:avLst>
                    <a:gd name="adj" fmla="val 16068"/>
                  </a:avLst>
                </a:prstGeom>
                <a:solidFill>
                  <a:srgbClr val="FFCC00"/>
                </a:solidFill>
                <a:ln w="12700" algn="ctr">
                  <a:noFill/>
                  <a:miter lim="800000"/>
                  <a:headEnd/>
                  <a:tailEnd/>
                </a:ln>
              </p:spPr>
              <p:txBody>
                <a:bodyPr wrap="none" lIns="87313" tIns="44450" rIns="87313" bIns="44450" anchor="ctr"/>
                <a:lstStyle/>
                <a:p>
                  <a:endParaRPr lang="zh-CN" altLang="zh-CN"/>
                </a:p>
              </p:txBody>
            </p:sp>
            <p:sp>
              <p:nvSpPr>
                <p:cNvPr id="423" name="AutoShape 708"/>
                <p:cNvSpPr>
                  <a:spLocks noChangeAspect="1" noChangeArrowheads="1"/>
                </p:cNvSpPr>
                <p:nvPr/>
              </p:nvSpPr>
              <p:spPr bwMode="auto">
                <a:xfrm rot="-569323">
                  <a:off x="5056" y="1349"/>
                  <a:ext cx="463" cy="439"/>
                </a:xfrm>
                <a:prstGeom prst="parallelogram">
                  <a:avLst>
                    <a:gd name="adj" fmla="val 17900"/>
                  </a:avLst>
                </a:prstGeom>
                <a:solidFill>
                  <a:srgbClr val="FF9900"/>
                </a:solidFill>
                <a:ln w="12700" algn="ctr">
                  <a:noFill/>
                  <a:miter lim="800000"/>
                  <a:headEnd/>
                  <a:tailEnd/>
                </a:ln>
              </p:spPr>
              <p:txBody>
                <a:bodyPr wrap="none" lIns="87313" tIns="44450" rIns="87313" bIns="44450" anchor="ctr"/>
                <a:lstStyle/>
                <a:p>
                  <a:endParaRPr lang="zh-CN" altLang="zh-CN"/>
                </a:p>
              </p:txBody>
            </p:sp>
          </p:grpSp>
        </p:grpSp>
        <p:sp>
          <p:nvSpPr>
            <p:cNvPr id="407" name="Text Box 1186"/>
            <p:cNvSpPr txBox="1">
              <a:spLocks noChangeArrowheads="1"/>
            </p:cNvSpPr>
            <p:nvPr/>
          </p:nvSpPr>
          <p:spPr bwMode="auto">
            <a:xfrm>
              <a:off x="2411758" y="1663060"/>
              <a:ext cx="3238549" cy="769441"/>
            </a:xfrm>
            <a:prstGeom prst="rect">
              <a:avLst/>
            </a:prstGeom>
            <a:noFill/>
            <a:ln w="9525">
              <a:noFill/>
              <a:miter lim="800000"/>
              <a:headEnd/>
              <a:tailEnd/>
            </a:ln>
            <a:effectLst>
              <a:outerShdw dist="17961" dir="2700000" algn="ctr" rotWithShape="0">
                <a:schemeClr val="tx1"/>
              </a:outerShdw>
            </a:effectLst>
          </p:spPr>
          <p:txBody>
            <a:bodyPr wrap="square">
              <a:spAutoFit/>
            </a:bodyPr>
            <a:lstStyle/>
            <a:p>
              <a:r>
                <a:rPr lang="zh-CN" altLang="en-US" sz="2200" b="1" dirty="0" smtClean="0">
                  <a:solidFill>
                    <a:schemeClr val="bg1"/>
                  </a:solidFill>
                </a:rPr>
                <a:t>计算机资源管理者的观点</a:t>
              </a:r>
              <a:endParaRPr lang="en-US" altLang="zh-CN" sz="2200" b="1" dirty="0" smtClean="0">
                <a:solidFill>
                  <a:schemeClr val="bg1"/>
                </a:solidFill>
              </a:endParaRPr>
            </a:p>
          </p:txBody>
        </p:sp>
      </p:grpSp>
      <p:grpSp>
        <p:nvGrpSpPr>
          <p:cNvPr id="460" name="组合 459"/>
          <p:cNvGrpSpPr/>
          <p:nvPr/>
        </p:nvGrpSpPr>
        <p:grpSpPr>
          <a:xfrm>
            <a:off x="1835696" y="2100519"/>
            <a:ext cx="4496285" cy="831271"/>
            <a:chOff x="-1576981" y="2711947"/>
            <a:chExt cx="4496285" cy="831271"/>
          </a:xfrm>
        </p:grpSpPr>
        <p:grpSp>
          <p:nvGrpSpPr>
            <p:cNvPr id="461" name="Group 543"/>
            <p:cNvGrpSpPr>
              <a:grpSpLocks/>
            </p:cNvGrpSpPr>
            <p:nvPr/>
          </p:nvGrpSpPr>
          <p:grpSpPr bwMode="auto">
            <a:xfrm>
              <a:off x="1045625" y="2711947"/>
              <a:ext cx="1873679" cy="831271"/>
              <a:chOff x="301" y="1354"/>
              <a:chExt cx="1858" cy="824"/>
            </a:xfrm>
          </p:grpSpPr>
          <p:grpSp>
            <p:nvGrpSpPr>
              <p:cNvPr id="463" name="Group 544"/>
              <p:cNvGrpSpPr>
                <a:grpSpLocks noChangeAspect="1"/>
              </p:cNvGrpSpPr>
              <p:nvPr/>
            </p:nvGrpSpPr>
            <p:grpSpPr bwMode="auto">
              <a:xfrm>
                <a:off x="982" y="1624"/>
                <a:ext cx="496" cy="318"/>
                <a:chOff x="240" y="1253"/>
                <a:chExt cx="834" cy="536"/>
              </a:xfrm>
            </p:grpSpPr>
            <p:sp>
              <p:nvSpPr>
                <p:cNvPr id="572" name="AutoShape 54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73" name="AutoShape 54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74" name="AutoShape 54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4" name="Group 548"/>
              <p:cNvGrpSpPr>
                <a:grpSpLocks noChangeAspect="1"/>
              </p:cNvGrpSpPr>
              <p:nvPr/>
            </p:nvGrpSpPr>
            <p:grpSpPr bwMode="auto">
              <a:xfrm>
                <a:off x="1209" y="1663"/>
                <a:ext cx="496" cy="318"/>
                <a:chOff x="240" y="1253"/>
                <a:chExt cx="834" cy="536"/>
              </a:xfrm>
            </p:grpSpPr>
            <p:sp>
              <p:nvSpPr>
                <p:cNvPr id="569" name="AutoShape 54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70" name="AutoShape 55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71" name="AutoShape 55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5" name="Group 552"/>
              <p:cNvGrpSpPr>
                <a:grpSpLocks noChangeAspect="1"/>
              </p:cNvGrpSpPr>
              <p:nvPr/>
            </p:nvGrpSpPr>
            <p:grpSpPr bwMode="auto">
              <a:xfrm>
                <a:off x="1436" y="1703"/>
                <a:ext cx="496" cy="318"/>
                <a:chOff x="240" y="1253"/>
                <a:chExt cx="834" cy="536"/>
              </a:xfrm>
            </p:grpSpPr>
            <p:sp>
              <p:nvSpPr>
                <p:cNvPr id="566" name="AutoShape 55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67" name="AutoShape 55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68" name="AutoShape 55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6" name="Group 556"/>
              <p:cNvGrpSpPr>
                <a:grpSpLocks noChangeAspect="1"/>
              </p:cNvGrpSpPr>
              <p:nvPr/>
            </p:nvGrpSpPr>
            <p:grpSpPr bwMode="auto">
              <a:xfrm>
                <a:off x="755" y="1663"/>
                <a:ext cx="496" cy="318"/>
                <a:chOff x="240" y="1253"/>
                <a:chExt cx="834" cy="536"/>
              </a:xfrm>
            </p:grpSpPr>
            <p:sp>
              <p:nvSpPr>
                <p:cNvPr id="563" name="AutoShape 557"/>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64" name="AutoShape 558"/>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65" name="AutoShape 559"/>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7" name="Group 560"/>
              <p:cNvGrpSpPr>
                <a:grpSpLocks noChangeAspect="1"/>
              </p:cNvGrpSpPr>
              <p:nvPr/>
            </p:nvGrpSpPr>
            <p:grpSpPr bwMode="auto">
              <a:xfrm>
                <a:off x="982" y="1702"/>
                <a:ext cx="496" cy="318"/>
                <a:chOff x="240" y="1253"/>
                <a:chExt cx="834" cy="536"/>
              </a:xfrm>
            </p:grpSpPr>
            <p:sp>
              <p:nvSpPr>
                <p:cNvPr id="560" name="AutoShape 561"/>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61" name="AutoShape 562"/>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62" name="AutoShape 563"/>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8" name="Group 564"/>
              <p:cNvGrpSpPr>
                <a:grpSpLocks noChangeAspect="1"/>
              </p:cNvGrpSpPr>
              <p:nvPr/>
            </p:nvGrpSpPr>
            <p:grpSpPr bwMode="auto">
              <a:xfrm>
                <a:off x="1209" y="1742"/>
                <a:ext cx="496" cy="318"/>
                <a:chOff x="240" y="1253"/>
                <a:chExt cx="834" cy="536"/>
              </a:xfrm>
            </p:grpSpPr>
            <p:sp>
              <p:nvSpPr>
                <p:cNvPr id="557" name="AutoShape 56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58" name="AutoShape 56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59" name="AutoShape 56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69" name="Group 568"/>
              <p:cNvGrpSpPr>
                <a:grpSpLocks noChangeAspect="1"/>
              </p:cNvGrpSpPr>
              <p:nvPr/>
            </p:nvGrpSpPr>
            <p:grpSpPr bwMode="auto">
              <a:xfrm>
                <a:off x="1436" y="1781"/>
                <a:ext cx="496" cy="318"/>
                <a:chOff x="240" y="1253"/>
                <a:chExt cx="834" cy="536"/>
              </a:xfrm>
            </p:grpSpPr>
            <p:sp>
              <p:nvSpPr>
                <p:cNvPr id="554" name="AutoShape 56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55" name="AutoShape 57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56" name="AutoShape 57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0" name="Group 572"/>
              <p:cNvGrpSpPr>
                <a:grpSpLocks noChangeAspect="1"/>
              </p:cNvGrpSpPr>
              <p:nvPr/>
            </p:nvGrpSpPr>
            <p:grpSpPr bwMode="auto">
              <a:xfrm>
                <a:off x="528" y="1703"/>
                <a:ext cx="496" cy="318"/>
                <a:chOff x="240" y="1253"/>
                <a:chExt cx="834" cy="536"/>
              </a:xfrm>
            </p:grpSpPr>
            <p:sp>
              <p:nvSpPr>
                <p:cNvPr id="551" name="AutoShape 57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52" name="AutoShape 57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53" name="AutoShape 57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1" name="Group 576"/>
              <p:cNvGrpSpPr>
                <a:grpSpLocks noChangeAspect="1"/>
              </p:cNvGrpSpPr>
              <p:nvPr/>
            </p:nvGrpSpPr>
            <p:grpSpPr bwMode="auto">
              <a:xfrm>
                <a:off x="982" y="1782"/>
                <a:ext cx="496" cy="318"/>
                <a:chOff x="240" y="1253"/>
                <a:chExt cx="834" cy="536"/>
              </a:xfrm>
            </p:grpSpPr>
            <p:sp>
              <p:nvSpPr>
                <p:cNvPr id="548" name="AutoShape 577"/>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49" name="AutoShape 578"/>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50" name="AutoShape 579"/>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2" name="Group 580"/>
              <p:cNvGrpSpPr>
                <a:grpSpLocks noChangeAspect="1"/>
              </p:cNvGrpSpPr>
              <p:nvPr/>
            </p:nvGrpSpPr>
            <p:grpSpPr bwMode="auto">
              <a:xfrm>
                <a:off x="1209" y="1821"/>
                <a:ext cx="496" cy="318"/>
                <a:chOff x="240" y="1253"/>
                <a:chExt cx="834" cy="536"/>
              </a:xfrm>
            </p:grpSpPr>
            <p:sp>
              <p:nvSpPr>
                <p:cNvPr id="545" name="AutoShape 581"/>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46" name="AutoShape 582"/>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47" name="AutoShape 583"/>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3" name="Group 584"/>
              <p:cNvGrpSpPr>
                <a:grpSpLocks noChangeAspect="1"/>
              </p:cNvGrpSpPr>
              <p:nvPr/>
            </p:nvGrpSpPr>
            <p:grpSpPr bwMode="auto">
              <a:xfrm>
                <a:off x="301" y="1742"/>
                <a:ext cx="496" cy="318"/>
                <a:chOff x="240" y="1253"/>
                <a:chExt cx="834" cy="536"/>
              </a:xfrm>
            </p:grpSpPr>
            <p:sp>
              <p:nvSpPr>
                <p:cNvPr id="542" name="AutoShape 58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43" name="AutoShape 58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44" name="AutoShape 58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4" name="Group 588"/>
              <p:cNvGrpSpPr>
                <a:grpSpLocks noChangeAspect="1"/>
              </p:cNvGrpSpPr>
              <p:nvPr/>
            </p:nvGrpSpPr>
            <p:grpSpPr bwMode="auto">
              <a:xfrm>
                <a:off x="982" y="1860"/>
                <a:ext cx="496" cy="318"/>
                <a:chOff x="240" y="1253"/>
                <a:chExt cx="834" cy="536"/>
              </a:xfrm>
            </p:grpSpPr>
            <p:sp>
              <p:nvSpPr>
                <p:cNvPr id="539" name="AutoShape 58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40" name="AutoShape 59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41" name="AutoShape 59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5" name="Group 592"/>
              <p:cNvGrpSpPr>
                <a:grpSpLocks noChangeAspect="1"/>
              </p:cNvGrpSpPr>
              <p:nvPr/>
            </p:nvGrpSpPr>
            <p:grpSpPr bwMode="auto">
              <a:xfrm>
                <a:off x="982" y="1354"/>
                <a:ext cx="496" cy="318"/>
                <a:chOff x="240" y="1253"/>
                <a:chExt cx="834" cy="536"/>
              </a:xfrm>
            </p:grpSpPr>
            <p:sp>
              <p:nvSpPr>
                <p:cNvPr id="536" name="AutoShape 59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37" name="AutoShape 59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38" name="AutoShape 59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6" name="Group 596"/>
              <p:cNvGrpSpPr>
                <a:grpSpLocks noChangeAspect="1"/>
              </p:cNvGrpSpPr>
              <p:nvPr/>
            </p:nvGrpSpPr>
            <p:grpSpPr bwMode="auto">
              <a:xfrm>
                <a:off x="1209" y="1393"/>
                <a:ext cx="496" cy="318"/>
                <a:chOff x="240" y="1253"/>
                <a:chExt cx="834" cy="536"/>
              </a:xfrm>
            </p:grpSpPr>
            <p:sp>
              <p:nvSpPr>
                <p:cNvPr id="533" name="AutoShape 597"/>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34" name="AutoShape 598"/>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35" name="AutoShape 599"/>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7" name="Group 600"/>
              <p:cNvGrpSpPr>
                <a:grpSpLocks noChangeAspect="1"/>
              </p:cNvGrpSpPr>
              <p:nvPr/>
            </p:nvGrpSpPr>
            <p:grpSpPr bwMode="auto">
              <a:xfrm>
                <a:off x="1436" y="1433"/>
                <a:ext cx="496" cy="318"/>
                <a:chOff x="240" y="1253"/>
                <a:chExt cx="834" cy="536"/>
              </a:xfrm>
            </p:grpSpPr>
            <p:sp>
              <p:nvSpPr>
                <p:cNvPr id="530" name="AutoShape 601"/>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31" name="AutoShape 602"/>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32" name="AutoShape 603"/>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8" name="Group 604"/>
              <p:cNvGrpSpPr>
                <a:grpSpLocks noChangeAspect="1"/>
              </p:cNvGrpSpPr>
              <p:nvPr/>
            </p:nvGrpSpPr>
            <p:grpSpPr bwMode="auto">
              <a:xfrm>
                <a:off x="1663" y="1472"/>
                <a:ext cx="496" cy="318"/>
                <a:chOff x="240" y="1253"/>
                <a:chExt cx="834" cy="536"/>
              </a:xfrm>
            </p:grpSpPr>
            <p:sp>
              <p:nvSpPr>
                <p:cNvPr id="527" name="AutoShape 60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28" name="AutoShape 60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29" name="AutoShape 60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79" name="Group 608"/>
              <p:cNvGrpSpPr>
                <a:grpSpLocks noChangeAspect="1"/>
              </p:cNvGrpSpPr>
              <p:nvPr/>
            </p:nvGrpSpPr>
            <p:grpSpPr bwMode="auto">
              <a:xfrm>
                <a:off x="755" y="1393"/>
                <a:ext cx="496" cy="318"/>
                <a:chOff x="240" y="1253"/>
                <a:chExt cx="834" cy="536"/>
              </a:xfrm>
            </p:grpSpPr>
            <p:sp>
              <p:nvSpPr>
                <p:cNvPr id="524" name="AutoShape 60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25" name="AutoShape 61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26" name="AutoShape 61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0" name="Group 612"/>
              <p:cNvGrpSpPr>
                <a:grpSpLocks noChangeAspect="1"/>
              </p:cNvGrpSpPr>
              <p:nvPr/>
            </p:nvGrpSpPr>
            <p:grpSpPr bwMode="auto">
              <a:xfrm>
                <a:off x="982" y="1432"/>
                <a:ext cx="496" cy="318"/>
                <a:chOff x="240" y="1253"/>
                <a:chExt cx="834" cy="536"/>
              </a:xfrm>
            </p:grpSpPr>
            <p:sp>
              <p:nvSpPr>
                <p:cNvPr id="521" name="AutoShape 61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22" name="AutoShape 61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23" name="AutoShape 61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1" name="Group 616"/>
              <p:cNvGrpSpPr>
                <a:grpSpLocks noChangeAspect="1"/>
              </p:cNvGrpSpPr>
              <p:nvPr/>
            </p:nvGrpSpPr>
            <p:grpSpPr bwMode="auto">
              <a:xfrm>
                <a:off x="1209" y="1472"/>
                <a:ext cx="496" cy="318"/>
                <a:chOff x="240" y="1253"/>
                <a:chExt cx="834" cy="536"/>
              </a:xfrm>
            </p:grpSpPr>
            <p:sp>
              <p:nvSpPr>
                <p:cNvPr id="518" name="AutoShape 617"/>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19" name="AutoShape 618"/>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20" name="AutoShape 619"/>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2" name="Group 620"/>
              <p:cNvGrpSpPr>
                <a:grpSpLocks noChangeAspect="1"/>
              </p:cNvGrpSpPr>
              <p:nvPr/>
            </p:nvGrpSpPr>
            <p:grpSpPr bwMode="auto">
              <a:xfrm>
                <a:off x="1436" y="1511"/>
                <a:ext cx="496" cy="318"/>
                <a:chOff x="240" y="1253"/>
                <a:chExt cx="834" cy="536"/>
              </a:xfrm>
            </p:grpSpPr>
            <p:sp>
              <p:nvSpPr>
                <p:cNvPr id="515" name="AutoShape 621"/>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16" name="AutoShape 622"/>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17" name="AutoShape 623"/>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3" name="Group 624"/>
              <p:cNvGrpSpPr>
                <a:grpSpLocks noChangeAspect="1"/>
              </p:cNvGrpSpPr>
              <p:nvPr/>
            </p:nvGrpSpPr>
            <p:grpSpPr bwMode="auto">
              <a:xfrm>
                <a:off x="528" y="1433"/>
                <a:ext cx="496" cy="318"/>
                <a:chOff x="240" y="1253"/>
                <a:chExt cx="834" cy="536"/>
              </a:xfrm>
            </p:grpSpPr>
            <p:sp>
              <p:nvSpPr>
                <p:cNvPr id="512" name="AutoShape 62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13" name="AutoShape 62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14" name="AutoShape 62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4" name="Group 628"/>
              <p:cNvGrpSpPr>
                <a:grpSpLocks noChangeAspect="1"/>
              </p:cNvGrpSpPr>
              <p:nvPr/>
            </p:nvGrpSpPr>
            <p:grpSpPr bwMode="auto">
              <a:xfrm>
                <a:off x="755" y="1472"/>
                <a:ext cx="496" cy="318"/>
                <a:chOff x="240" y="1253"/>
                <a:chExt cx="834" cy="536"/>
              </a:xfrm>
            </p:grpSpPr>
            <p:sp>
              <p:nvSpPr>
                <p:cNvPr id="509" name="AutoShape 62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10" name="AutoShape 63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11" name="AutoShape 63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5" name="Group 632"/>
              <p:cNvGrpSpPr>
                <a:grpSpLocks noChangeAspect="1"/>
              </p:cNvGrpSpPr>
              <p:nvPr/>
            </p:nvGrpSpPr>
            <p:grpSpPr bwMode="auto">
              <a:xfrm>
                <a:off x="982" y="1512"/>
                <a:ext cx="496" cy="318"/>
                <a:chOff x="240" y="1253"/>
                <a:chExt cx="834" cy="536"/>
              </a:xfrm>
            </p:grpSpPr>
            <p:sp>
              <p:nvSpPr>
                <p:cNvPr id="506" name="AutoShape 63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07" name="AutoShape 63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08" name="AutoShape 63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6" name="Group 636"/>
              <p:cNvGrpSpPr>
                <a:grpSpLocks noChangeAspect="1"/>
              </p:cNvGrpSpPr>
              <p:nvPr/>
            </p:nvGrpSpPr>
            <p:grpSpPr bwMode="auto">
              <a:xfrm>
                <a:off x="1209" y="1551"/>
                <a:ext cx="496" cy="318"/>
                <a:chOff x="240" y="1253"/>
                <a:chExt cx="834" cy="536"/>
              </a:xfrm>
            </p:grpSpPr>
            <p:sp>
              <p:nvSpPr>
                <p:cNvPr id="503" name="AutoShape 637"/>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04" name="AutoShape 638"/>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05" name="AutoShape 639"/>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7" name="Group 640"/>
              <p:cNvGrpSpPr>
                <a:grpSpLocks noChangeAspect="1"/>
              </p:cNvGrpSpPr>
              <p:nvPr/>
            </p:nvGrpSpPr>
            <p:grpSpPr bwMode="auto">
              <a:xfrm>
                <a:off x="301" y="1472"/>
                <a:ext cx="496" cy="318"/>
                <a:chOff x="240" y="1253"/>
                <a:chExt cx="834" cy="536"/>
              </a:xfrm>
            </p:grpSpPr>
            <p:sp>
              <p:nvSpPr>
                <p:cNvPr id="500" name="AutoShape 641"/>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501" name="AutoShape 642"/>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502" name="AutoShape 643"/>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8" name="Group 644"/>
              <p:cNvGrpSpPr>
                <a:grpSpLocks noChangeAspect="1"/>
              </p:cNvGrpSpPr>
              <p:nvPr/>
            </p:nvGrpSpPr>
            <p:grpSpPr bwMode="auto">
              <a:xfrm>
                <a:off x="528" y="1511"/>
                <a:ext cx="496" cy="318"/>
                <a:chOff x="240" y="1253"/>
                <a:chExt cx="834" cy="536"/>
              </a:xfrm>
            </p:grpSpPr>
            <p:sp>
              <p:nvSpPr>
                <p:cNvPr id="497" name="AutoShape 645"/>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498" name="AutoShape 646"/>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499" name="AutoShape 647"/>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89" name="Group 648"/>
              <p:cNvGrpSpPr>
                <a:grpSpLocks noChangeAspect="1"/>
              </p:cNvGrpSpPr>
              <p:nvPr/>
            </p:nvGrpSpPr>
            <p:grpSpPr bwMode="auto">
              <a:xfrm>
                <a:off x="755" y="1551"/>
                <a:ext cx="496" cy="318"/>
                <a:chOff x="240" y="1253"/>
                <a:chExt cx="834" cy="536"/>
              </a:xfrm>
            </p:grpSpPr>
            <p:sp>
              <p:nvSpPr>
                <p:cNvPr id="494" name="AutoShape 649"/>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495" name="AutoShape 650"/>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496" name="AutoShape 651"/>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nvGrpSpPr>
              <p:cNvPr id="490" name="Group 652"/>
              <p:cNvGrpSpPr>
                <a:grpSpLocks noChangeAspect="1"/>
              </p:cNvGrpSpPr>
              <p:nvPr/>
            </p:nvGrpSpPr>
            <p:grpSpPr bwMode="auto">
              <a:xfrm>
                <a:off x="982" y="1590"/>
                <a:ext cx="496" cy="318"/>
                <a:chOff x="240" y="1253"/>
                <a:chExt cx="834" cy="536"/>
              </a:xfrm>
            </p:grpSpPr>
            <p:sp>
              <p:nvSpPr>
                <p:cNvPr id="491" name="AutoShape 653"/>
                <p:cNvSpPr>
                  <a:spLocks noChangeAspect="1" noChangeArrowheads="1"/>
                </p:cNvSpPr>
                <p:nvPr/>
              </p:nvSpPr>
              <p:spPr bwMode="auto">
                <a:xfrm>
                  <a:off x="278" y="1253"/>
                  <a:ext cx="754" cy="125"/>
                </a:xfrm>
                <a:prstGeom prst="diamond">
                  <a:avLst/>
                </a:prstGeom>
                <a:solidFill>
                  <a:srgbClr val="FF33CC"/>
                </a:solidFill>
                <a:ln w="9525" algn="ctr">
                  <a:noFill/>
                  <a:miter lim="800000"/>
                  <a:headEnd/>
                  <a:tailEnd/>
                </a:ln>
              </p:spPr>
              <p:txBody>
                <a:bodyPr anchor="ctr">
                  <a:spAutoFit/>
                </a:bodyPr>
                <a:lstStyle/>
                <a:p>
                  <a:endParaRPr lang="zh-CN" altLang="zh-CN"/>
                </a:p>
              </p:txBody>
            </p:sp>
            <p:sp>
              <p:nvSpPr>
                <p:cNvPr id="492" name="AutoShape 654"/>
                <p:cNvSpPr>
                  <a:spLocks noChangeAspect="1" noChangeArrowheads="1"/>
                </p:cNvSpPr>
                <p:nvPr/>
              </p:nvSpPr>
              <p:spPr bwMode="auto">
                <a:xfrm rot="583211" flipH="1">
                  <a:off x="240" y="1350"/>
                  <a:ext cx="455" cy="438"/>
                </a:xfrm>
                <a:prstGeom prst="parallelogram">
                  <a:avLst>
                    <a:gd name="adj" fmla="val 16068"/>
                  </a:avLst>
                </a:prstGeom>
                <a:solidFill>
                  <a:srgbClr val="CC0099"/>
                </a:solidFill>
                <a:ln w="12700" algn="ctr">
                  <a:noFill/>
                  <a:miter lim="800000"/>
                  <a:headEnd/>
                  <a:tailEnd/>
                </a:ln>
              </p:spPr>
              <p:txBody>
                <a:bodyPr wrap="none" lIns="87313" tIns="44450" rIns="87313" bIns="44450" anchor="ctr"/>
                <a:lstStyle/>
                <a:p>
                  <a:endParaRPr lang="zh-CN" altLang="zh-CN"/>
                </a:p>
              </p:txBody>
            </p:sp>
            <p:sp>
              <p:nvSpPr>
                <p:cNvPr id="493" name="AutoShape 655"/>
                <p:cNvSpPr>
                  <a:spLocks noChangeAspect="1" noChangeArrowheads="1"/>
                </p:cNvSpPr>
                <p:nvPr/>
              </p:nvSpPr>
              <p:spPr bwMode="auto">
                <a:xfrm rot="-569323">
                  <a:off x="611" y="1350"/>
                  <a:ext cx="463" cy="439"/>
                </a:xfrm>
                <a:prstGeom prst="parallelogram">
                  <a:avLst>
                    <a:gd name="adj" fmla="val 17900"/>
                  </a:avLst>
                </a:prstGeom>
                <a:solidFill>
                  <a:srgbClr val="660066"/>
                </a:solidFill>
                <a:ln w="12700" algn="ctr">
                  <a:noFill/>
                  <a:miter lim="800000"/>
                  <a:headEnd/>
                  <a:tailEnd/>
                </a:ln>
              </p:spPr>
              <p:txBody>
                <a:bodyPr wrap="none" lIns="87313" tIns="44450" rIns="87313" bIns="44450" anchor="ctr"/>
                <a:lstStyle/>
                <a:p>
                  <a:endParaRPr lang="zh-CN" altLang="zh-CN"/>
                </a:p>
              </p:txBody>
            </p:sp>
          </p:grpSp>
        </p:grpSp>
        <p:sp>
          <p:nvSpPr>
            <p:cNvPr id="462" name="Text Box 1187"/>
            <p:cNvSpPr txBox="1">
              <a:spLocks noChangeArrowheads="1"/>
            </p:cNvSpPr>
            <p:nvPr/>
          </p:nvSpPr>
          <p:spPr bwMode="auto">
            <a:xfrm>
              <a:off x="-1576981" y="2887402"/>
              <a:ext cx="2480447" cy="430887"/>
            </a:xfrm>
            <a:prstGeom prst="rect">
              <a:avLst/>
            </a:prstGeom>
            <a:noFill/>
            <a:ln w="9525">
              <a:noFill/>
              <a:miter lim="800000"/>
              <a:headEnd/>
              <a:tailEnd/>
            </a:ln>
            <a:effectLst>
              <a:outerShdw dist="17961" dir="2700000" algn="ctr" rotWithShape="0">
                <a:schemeClr val="tx1"/>
              </a:outerShdw>
            </a:effectLst>
          </p:spPr>
          <p:txBody>
            <a:bodyPr wrap="square">
              <a:spAutoFit/>
            </a:bodyPr>
            <a:lstStyle/>
            <a:p>
              <a:r>
                <a:rPr lang="zh-CN" altLang="en-US" sz="2200" b="1" dirty="0" smtClean="0">
                  <a:solidFill>
                    <a:srgbClr val="FFFF00"/>
                  </a:solidFill>
                </a:rPr>
                <a:t>用户界面的观点</a:t>
              </a:r>
              <a:endParaRPr lang="en-US" altLang="ko-KR" sz="2200" b="1" dirty="0" smtClean="0">
                <a:solidFill>
                  <a:srgbClr val="FFFF00"/>
                </a:solidFill>
              </a:endParaRPr>
            </a:p>
          </p:txBody>
        </p:sp>
      </p:grpSp>
      <p:grpSp>
        <p:nvGrpSpPr>
          <p:cNvPr id="575" name="组合 574"/>
          <p:cNvGrpSpPr/>
          <p:nvPr/>
        </p:nvGrpSpPr>
        <p:grpSpPr>
          <a:xfrm>
            <a:off x="1067527" y="3120374"/>
            <a:ext cx="4827332" cy="791583"/>
            <a:chOff x="3566450" y="4342397"/>
            <a:chExt cx="4827332" cy="791583"/>
          </a:xfrm>
        </p:grpSpPr>
        <p:grpSp>
          <p:nvGrpSpPr>
            <p:cNvPr id="576" name="Group 442"/>
            <p:cNvGrpSpPr>
              <a:grpSpLocks/>
            </p:cNvGrpSpPr>
            <p:nvPr/>
          </p:nvGrpSpPr>
          <p:grpSpPr bwMode="auto">
            <a:xfrm>
              <a:off x="3566450" y="4342397"/>
              <a:ext cx="1873680" cy="791583"/>
              <a:chOff x="301" y="2256"/>
              <a:chExt cx="1858" cy="785"/>
            </a:xfrm>
          </p:grpSpPr>
          <p:grpSp>
            <p:nvGrpSpPr>
              <p:cNvPr id="578" name="Group 443"/>
              <p:cNvGrpSpPr>
                <a:grpSpLocks noChangeAspect="1"/>
              </p:cNvGrpSpPr>
              <p:nvPr/>
            </p:nvGrpSpPr>
            <p:grpSpPr bwMode="auto">
              <a:xfrm>
                <a:off x="982" y="2487"/>
                <a:ext cx="496" cy="318"/>
                <a:chOff x="232" y="2750"/>
                <a:chExt cx="834" cy="536"/>
              </a:xfrm>
            </p:grpSpPr>
            <p:sp>
              <p:nvSpPr>
                <p:cNvPr id="675" name="AutoShape 444"/>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76" name="AutoShape 445"/>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77" name="AutoShape 446"/>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79" name="Group 447"/>
              <p:cNvGrpSpPr>
                <a:grpSpLocks noChangeAspect="1"/>
              </p:cNvGrpSpPr>
              <p:nvPr/>
            </p:nvGrpSpPr>
            <p:grpSpPr bwMode="auto">
              <a:xfrm>
                <a:off x="1209" y="2526"/>
                <a:ext cx="496" cy="318"/>
                <a:chOff x="232" y="2750"/>
                <a:chExt cx="834" cy="536"/>
              </a:xfrm>
            </p:grpSpPr>
            <p:sp>
              <p:nvSpPr>
                <p:cNvPr id="672" name="AutoShape 448"/>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73" name="AutoShape 449"/>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74" name="AutoShape 450"/>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0" name="Group 451"/>
              <p:cNvGrpSpPr>
                <a:grpSpLocks noChangeAspect="1"/>
              </p:cNvGrpSpPr>
              <p:nvPr/>
            </p:nvGrpSpPr>
            <p:grpSpPr bwMode="auto">
              <a:xfrm>
                <a:off x="1436" y="2566"/>
                <a:ext cx="496" cy="318"/>
                <a:chOff x="232" y="2750"/>
                <a:chExt cx="834" cy="536"/>
              </a:xfrm>
            </p:grpSpPr>
            <p:sp>
              <p:nvSpPr>
                <p:cNvPr id="669" name="AutoShape 452"/>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70" name="AutoShape 453"/>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71" name="AutoShape 454"/>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1" name="Group 455"/>
              <p:cNvGrpSpPr>
                <a:grpSpLocks noChangeAspect="1"/>
              </p:cNvGrpSpPr>
              <p:nvPr/>
            </p:nvGrpSpPr>
            <p:grpSpPr bwMode="auto">
              <a:xfrm>
                <a:off x="1663" y="2605"/>
                <a:ext cx="496" cy="318"/>
                <a:chOff x="232" y="2750"/>
                <a:chExt cx="834" cy="536"/>
              </a:xfrm>
            </p:grpSpPr>
            <p:sp>
              <p:nvSpPr>
                <p:cNvPr id="666" name="AutoShape 456"/>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67" name="AutoShape 457"/>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68" name="AutoShape 458"/>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82" name="Group 459"/>
              <p:cNvGrpSpPr>
                <a:grpSpLocks noChangeAspect="1"/>
              </p:cNvGrpSpPr>
              <p:nvPr/>
            </p:nvGrpSpPr>
            <p:grpSpPr bwMode="auto">
              <a:xfrm>
                <a:off x="755" y="2526"/>
                <a:ext cx="496" cy="318"/>
                <a:chOff x="232" y="2750"/>
                <a:chExt cx="834" cy="536"/>
              </a:xfrm>
            </p:grpSpPr>
            <p:sp>
              <p:nvSpPr>
                <p:cNvPr id="663" name="AutoShape 460"/>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64" name="AutoShape 461"/>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65" name="AutoShape 462"/>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3" name="Group 463"/>
              <p:cNvGrpSpPr>
                <a:grpSpLocks noChangeAspect="1"/>
              </p:cNvGrpSpPr>
              <p:nvPr/>
            </p:nvGrpSpPr>
            <p:grpSpPr bwMode="auto">
              <a:xfrm>
                <a:off x="982" y="2565"/>
                <a:ext cx="496" cy="318"/>
                <a:chOff x="232" y="2750"/>
                <a:chExt cx="834" cy="536"/>
              </a:xfrm>
            </p:grpSpPr>
            <p:sp>
              <p:nvSpPr>
                <p:cNvPr id="660" name="AutoShape 464"/>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61" name="AutoShape 465"/>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62" name="AutoShape 466"/>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4" name="Group 467"/>
              <p:cNvGrpSpPr>
                <a:grpSpLocks noChangeAspect="1"/>
              </p:cNvGrpSpPr>
              <p:nvPr/>
            </p:nvGrpSpPr>
            <p:grpSpPr bwMode="auto">
              <a:xfrm>
                <a:off x="1209" y="2605"/>
                <a:ext cx="496" cy="318"/>
                <a:chOff x="232" y="2750"/>
                <a:chExt cx="834" cy="536"/>
              </a:xfrm>
            </p:grpSpPr>
            <p:sp>
              <p:nvSpPr>
                <p:cNvPr id="657" name="AutoShape 468"/>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58" name="AutoShape 469"/>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59" name="AutoShape 470"/>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5" name="Group 471"/>
              <p:cNvGrpSpPr>
                <a:grpSpLocks noChangeAspect="1"/>
              </p:cNvGrpSpPr>
              <p:nvPr/>
            </p:nvGrpSpPr>
            <p:grpSpPr bwMode="auto">
              <a:xfrm>
                <a:off x="1436" y="2644"/>
                <a:ext cx="496" cy="318"/>
                <a:chOff x="232" y="2750"/>
                <a:chExt cx="834" cy="536"/>
              </a:xfrm>
            </p:grpSpPr>
            <p:sp>
              <p:nvSpPr>
                <p:cNvPr id="654" name="AutoShape 472"/>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55" name="AutoShape 473"/>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56" name="AutoShape 474"/>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86" name="Group 475"/>
              <p:cNvGrpSpPr>
                <a:grpSpLocks noChangeAspect="1"/>
              </p:cNvGrpSpPr>
              <p:nvPr/>
            </p:nvGrpSpPr>
            <p:grpSpPr bwMode="auto">
              <a:xfrm>
                <a:off x="528" y="2566"/>
                <a:ext cx="496" cy="318"/>
                <a:chOff x="232" y="2750"/>
                <a:chExt cx="834" cy="536"/>
              </a:xfrm>
            </p:grpSpPr>
            <p:sp>
              <p:nvSpPr>
                <p:cNvPr id="651" name="AutoShape 476"/>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52" name="AutoShape 477"/>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53" name="AutoShape 478"/>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7" name="Group 479"/>
              <p:cNvGrpSpPr>
                <a:grpSpLocks noChangeAspect="1"/>
              </p:cNvGrpSpPr>
              <p:nvPr/>
            </p:nvGrpSpPr>
            <p:grpSpPr bwMode="auto">
              <a:xfrm>
                <a:off x="755" y="2605"/>
                <a:ext cx="496" cy="318"/>
                <a:chOff x="232" y="2750"/>
                <a:chExt cx="834" cy="536"/>
              </a:xfrm>
            </p:grpSpPr>
            <p:sp>
              <p:nvSpPr>
                <p:cNvPr id="648" name="AutoShape 480"/>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49" name="AutoShape 481"/>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50" name="AutoShape 482"/>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8" name="Group 483"/>
              <p:cNvGrpSpPr>
                <a:grpSpLocks noChangeAspect="1"/>
              </p:cNvGrpSpPr>
              <p:nvPr/>
            </p:nvGrpSpPr>
            <p:grpSpPr bwMode="auto">
              <a:xfrm>
                <a:off x="982" y="2645"/>
                <a:ext cx="496" cy="318"/>
                <a:chOff x="232" y="2750"/>
                <a:chExt cx="834" cy="536"/>
              </a:xfrm>
            </p:grpSpPr>
            <p:sp>
              <p:nvSpPr>
                <p:cNvPr id="645" name="AutoShape 484"/>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46" name="AutoShape 485"/>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47" name="AutoShape 486"/>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89" name="Group 487"/>
              <p:cNvGrpSpPr>
                <a:grpSpLocks noChangeAspect="1"/>
              </p:cNvGrpSpPr>
              <p:nvPr/>
            </p:nvGrpSpPr>
            <p:grpSpPr bwMode="auto">
              <a:xfrm>
                <a:off x="1209" y="2684"/>
                <a:ext cx="496" cy="318"/>
                <a:chOff x="232" y="2750"/>
                <a:chExt cx="834" cy="536"/>
              </a:xfrm>
            </p:grpSpPr>
            <p:sp>
              <p:nvSpPr>
                <p:cNvPr id="642" name="AutoShape 488"/>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43" name="AutoShape 489"/>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44" name="AutoShape 490"/>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90" name="Group 491"/>
              <p:cNvGrpSpPr>
                <a:grpSpLocks noChangeAspect="1"/>
              </p:cNvGrpSpPr>
              <p:nvPr/>
            </p:nvGrpSpPr>
            <p:grpSpPr bwMode="auto">
              <a:xfrm>
                <a:off x="301" y="2605"/>
                <a:ext cx="496" cy="318"/>
                <a:chOff x="232" y="2750"/>
                <a:chExt cx="834" cy="536"/>
              </a:xfrm>
            </p:grpSpPr>
            <p:sp>
              <p:nvSpPr>
                <p:cNvPr id="639" name="AutoShape 492"/>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40" name="AutoShape 493"/>
                <p:cNvSpPr>
                  <a:spLocks noChangeAspect="1" noChangeArrowheads="1"/>
                </p:cNvSpPr>
                <p:nvPr/>
              </p:nvSpPr>
              <p:spPr bwMode="auto">
                <a:xfrm rot="583211" flipH="1">
                  <a:off x="232" y="2847"/>
                  <a:ext cx="455" cy="438"/>
                </a:xfrm>
                <a:prstGeom prst="parallelogram">
                  <a:avLst>
                    <a:gd name="adj" fmla="val 16068"/>
                  </a:avLst>
                </a:prstGeom>
                <a:solidFill>
                  <a:srgbClr val="008000"/>
                </a:solidFill>
                <a:ln w="12700" algn="ctr">
                  <a:noFill/>
                  <a:miter lim="800000"/>
                  <a:headEnd/>
                  <a:tailEnd/>
                </a:ln>
              </p:spPr>
              <p:txBody>
                <a:bodyPr wrap="none" lIns="87313" tIns="44450" rIns="87313" bIns="44450" anchor="ctr"/>
                <a:lstStyle/>
                <a:p>
                  <a:endParaRPr lang="zh-CN" altLang="zh-CN"/>
                </a:p>
              </p:txBody>
            </p:sp>
            <p:sp>
              <p:nvSpPr>
                <p:cNvPr id="641" name="AutoShape 494"/>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1" name="Group 495"/>
              <p:cNvGrpSpPr>
                <a:grpSpLocks noChangeAspect="1"/>
              </p:cNvGrpSpPr>
              <p:nvPr/>
            </p:nvGrpSpPr>
            <p:grpSpPr bwMode="auto">
              <a:xfrm>
                <a:off x="528" y="2644"/>
                <a:ext cx="496" cy="318"/>
                <a:chOff x="232" y="2750"/>
                <a:chExt cx="834" cy="536"/>
              </a:xfrm>
            </p:grpSpPr>
            <p:sp>
              <p:nvSpPr>
                <p:cNvPr id="636" name="AutoShape 496"/>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37" name="AutoShape 497"/>
                <p:cNvSpPr>
                  <a:spLocks noChangeAspect="1" noChangeArrowheads="1"/>
                </p:cNvSpPr>
                <p:nvPr/>
              </p:nvSpPr>
              <p:spPr bwMode="auto">
                <a:xfrm rot="583211" flipH="1">
                  <a:off x="232" y="2847"/>
                  <a:ext cx="455" cy="438"/>
                </a:xfrm>
                <a:prstGeom prst="parallelogram">
                  <a:avLst>
                    <a:gd name="adj" fmla="val 16068"/>
                  </a:avLst>
                </a:prstGeom>
                <a:solidFill>
                  <a:srgbClr val="008000"/>
                </a:solidFill>
                <a:ln w="12700" algn="ctr">
                  <a:noFill/>
                  <a:miter lim="800000"/>
                  <a:headEnd/>
                  <a:tailEnd/>
                </a:ln>
              </p:spPr>
              <p:txBody>
                <a:bodyPr wrap="none" lIns="87313" tIns="44450" rIns="87313" bIns="44450" anchor="ctr"/>
                <a:lstStyle/>
                <a:p>
                  <a:endParaRPr lang="zh-CN" altLang="zh-CN"/>
                </a:p>
              </p:txBody>
            </p:sp>
            <p:sp>
              <p:nvSpPr>
                <p:cNvPr id="638" name="AutoShape 498"/>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2" name="Group 499"/>
              <p:cNvGrpSpPr>
                <a:grpSpLocks noChangeAspect="1"/>
              </p:cNvGrpSpPr>
              <p:nvPr/>
            </p:nvGrpSpPr>
            <p:grpSpPr bwMode="auto">
              <a:xfrm>
                <a:off x="755" y="2684"/>
                <a:ext cx="496" cy="318"/>
                <a:chOff x="232" y="2750"/>
                <a:chExt cx="834" cy="536"/>
              </a:xfrm>
            </p:grpSpPr>
            <p:sp>
              <p:nvSpPr>
                <p:cNvPr id="633" name="AutoShape 500"/>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34" name="AutoShape 501"/>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35" name="AutoShape 502"/>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3" name="Group 503"/>
              <p:cNvGrpSpPr>
                <a:grpSpLocks noChangeAspect="1"/>
              </p:cNvGrpSpPr>
              <p:nvPr/>
            </p:nvGrpSpPr>
            <p:grpSpPr bwMode="auto">
              <a:xfrm>
                <a:off x="982" y="2723"/>
                <a:ext cx="496" cy="318"/>
                <a:chOff x="232" y="2750"/>
                <a:chExt cx="834" cy="536"/>
              </a:xfrm>
            </p:grpSpPr>
            <p:sp>
              <p:nvSpPr>
                <p:cNvPr id="630" name="AutoShape 504"/>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31" name="AutoShape 505"/>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32" name="AutoShape 506"/>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94" name="Group 507"/>
              <p:cNvGrpSpPr>
                <a:grpSpLocks noChangeAspect="1"/>
              </p:cNvGrpSpPr>
              <p:nvPr/>
            </p:nvGrpSpPr>
            <p:grpSpPr bwMode="auto">
              <a:xfrm>
                <a:off x="1209" y="2256"/>
                <a:ext cx="496" cy="318"/>
                <a:chOff x="232" y="2750"/>
                <a:chExt cx="834" cy="536"/>
              </a:xfrm>
            </p:grpSpPr>
            <p:sp>
              <p:nvSpPr>
                <p:cNvPr id="627" name="AutoShape 508"/>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28" name="AutoShape 509"/>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29" name="AutoShape 510"/>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5" name="Group 511"/>
              <p:cNvGrpSpPr>
                <a:grpSpLocks noChangeAspect="1"/>
              </p:cNvGrpSpPr>
              <p:nvPr/>
            </p:nvGrpSpPr>
            <p:grpSpPr bwMode="auto">
              <a:xfrm>
                <a:off x="1436" y="2296"/>
                <a:ext cx="496" cy="318"/>
                <a:chOff x="232" y="2750"/>
                <a:chExt cx="834" cy="536"/>
              </a:xfrm>
            </p:grpSpPr>
            <p:sp>
              <p:nvSpPr>
                <p:cNvPr id="624" name="AutoShape 512"/>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25" name="AutoShape 513"/>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26" name="AutoShape 514"/>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6" name="Group 515"/>
              <p:cNvGrpSpPr>
                <a:grpSpLocks noChangeAspect="1"/>
              </p:cNvGrpSpPr>
              <p:nvPr/>
            </p:nvGrpSpPr>
            <p:grpSpPr bwMode="auto">
              <a:xfrm>
                <a:off x="1663" y="2335"/>
                <a:ext cx="496" cy="318"/>
                <a:chOff x="232" y="2750"/>
                <a:chExt cx="834" cy="536"/>
              </a:xfrm>
            </p:grpSpPr>
            <p:sp>
              <p:nvSpPr>
                <p:cNvPr id="621" name="AutoShape 516"/>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22" name="AutoShape 517"/>
                <p:cNvSpPr>
                  <a:spLocks noChangeAspect="1" noChangeArrowheads="1"/>
                </p:cNvSpPr>
                <p:nvPr/>
              </p:nvSpPr>
              <p:spPr bwMode="auto">
                <a:xfrm rot="583211" flipH="1">
                  <a:off x="232" y="2847"/>
                  <a:ext cx="455" cy="438"/>
                </a:xfrm>
                <a:prstGeom prst="parallelogram">
                  <a:avLst>
                    <a:gd name="adj" fmla="val 16068"/>
                  </a:avLst>
                </a:prstGeom>
                <a:solidFill>
                  <a:srgbClr val="008000"/>
                </a:solidFill>
                <a:ln w="12700" algn="ctr">
                  <a:noFill/>
                  <a:miter lim="800000"/>
                  <a:headEnd/>
                  <a:tailEnd/>
                </a:ln>
              </p:spPr>
              <p:txBody>
                <a:bodyPr wrap="none" lIns="87313" tIns="44450" rIns="87313" bIns="44450" anchor="ctr"/>
                <a:lstStyle/>
                <a:p>
                  <a:endParaRPr lang="zh-CN" altLang="zh-CN"/>
                </a:p>
              </p:txBody>
            </p:sp>
            <p:sp>
              <p:nvSpPr>
                <p:cNvPr id="623" name="AutoShape 518"/>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97" name="Group 519"/>
              <p:cNvGrpSpPr>
                <a:grpSpLocks noChangeAspect="1"/>
              </p:cNvGrpSpPr>
              <p:nvPr/>
            </p:nvGrpSpPr>
            <p:grpSpPr bwMode="auto">
              <a:xfrm>
                <a:off x="982" y="2295"/>
                <a:ext cx="496" cy="318"/>
                <a:chOff x="232" y="2750"/>
                <a:chExt cx="834" cy="536"/>
              </a:xfrm>
            </p:grpSpPr>
            <p:sp>
              <p:nvSpPr>
                <p:cNvPr id="618" name="AutoShape 520"/>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19" name="AutoShape 521"/>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20" name="AutoShape 522"/>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598" name="Group 523"/>
              <p:cNvGrpSpPr>
                <a:grpSpLocks noChangeAspect="1"/>
              </p:cNvGrpSpPr>
              <p:nvPr/>
            </p:nvGrpSpPr>
            <p:grpSpPr bwMode="auto">
              <a:xfrm>
                <a:off x="1209" y="2335"/>
                <a:ext cx="496" cy="318"/>
                <a:chOff x="232" y="2750"/>
                <a:chExt cx="834" cy="536"/>
              </a:xfrm>
            </p:grpSpPr>
            <p:sp>
              <p:nvSpPr>
                <p:cNvPr id="615" name="AutoShape 524"/>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16" name="AutoShape 525"/>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17" name="AutoShape 526"/>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599" name="Group 527"/>
              <p:cNvGrpSpPr>
                <a:grpSpLocks noChangeAspect="1"/>
              </p:cNvGrpSpPr>
              <p:nvPr/>
            </p:nvGrpSpPr>
            <p:grpSpPr bwMode="auto">
              <a:xfrm>
                <a:off x="755" y="2335"/>
                <a:ext cx="496" cy="318"/>
                <a:chOff x="232" y="2750"/>
                <a:chExt cx="834" cy="536"/>
              </a:xfrm>
            </p:grpSpPr>
            <p:sp>
              <p:nvSpPr>
                <p:cNvPr id="612" name="AutoShape 528"/>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13" name="AutoShape 529"/>
                <p:cNvSpPr>
                  <a:spLocks noChangeAspect="1" noChangeArrowheads="1"/>
                </p:cNvSpPr>
                <p:nvPr/>
              </p:nvSpPr>
              <p:spPr bwMode="auto">
                <a:xfrm rot="583211" flipH="1">
                  <a:off x="232" y="2847"/>
                  <a:ext cx="455" cy="438"/>
                </a:xfrm>
                <a:prstGeom prst="parallelogram">
                  <a:avLst>
                    <a:gd name="adj" fmla="val 16068"/>
                  </a:avLst>
                </a:prstGeom>
                <a:solidFill>
                  <a:srgbClr val="33CC33"/>
                </a:solidFill>
                <a:ln w="12700" algn="ctr">
                  <a:noFill/>
                  <a:miter lim="800000"/>
                  <a:headEnd/>
                  <a:tailEnd/>
                </a:ln>
              </p:spPr>
              <p:txBody>
                <a:bodyPr wrap="none" lIns="87313" tIns="44450" rIns="87313" bIns="44450" anchor="ctr"/>
                <a:lstStyle/>
                <a:p>
                  <a:endParaRPr lang="zh-CN" altLang="zh-CN"/>
                </a:p>
              </p:txBody>
            </p:sp>
            <p:sp>
              <p:nvSpPr>
                <p:cNvPr id="614" name="AutoShape 530"/>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600" name="Group 531"/>
              <p:cNvGrpSpPr>
                <a:grpSpLocks noChangeAspect="1"/>
              </p:cNvGrpSpPr>
              <p:nvPr/>
            </p:nvGrpSpPr>
            <p:grpSpPr bwMode="auto">
              <a:xfrm>
                <a:off x="982" y="2375"/>
                <a:ext cx="496" cy="318"/>
                <a:chOff x="232" y="2750"/>
                <a:chExt cx="834" cy="536"/>
              </a:xfrm>
            </p:grpSpPr>
            <p:sp>
              <p:nvSpPr>
                <p:cNvPr id="609" name="AutoShape 532"/>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10" name="AutoShape 533"/>
                <p:cNvSpPr>
                  <a:spLocks noChangeAspect="1" noChangeArrowheads="1"/>
                </p:cNvSpPr>
                <p:nvPr/>
              </p:nvSpPr>
              <p:spPr bwMode="auto">
                <a:xfrm rot="583211" flipH="1">
                  <a:off x="232" y="2847"/>
                  <a:ext cx="455" cy="438"/>
                </a:xfrm>
                <a:prstGeom prst="parallelogram">
                  <a:avLst>
                    <a:gd name="adj" fmla="val 16068"/>
                  </a:avLst>
                </a:prstGeom>
                <a:solidFill>
                  <a:srgbClr val="006600"/>
                </a:solidFill>
                <a:ln w="12700" algn="ctr">
                  <a:noFill/>
                  <a:miter lim="800000"/>
                  <a:headEnd/>
                  <a:tailEnd/>
                </a:ln>
              </p:spPr>
              <p:txBody>
                <a:bodyPr wrap="none" lIns="87313" tIns="44450" rIns="87313" bIns="44450" anchor="ctr"/>
                <a:lstStyle/>
                <a:p>
                  <a:endParaRPr lang="zh-CN" altLang="zh-CN"/>
                </a:p>
              </p:txBody>
            </p:sp>
            <p:sp>
              <p:nvSpPr>
                <p:cNvPr id="611" name="AutoShape 534"/>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nvGrpSpPr>
              <p:cNvPr id="601" name="Group 535"/>
              <p:cNvGrpSpPr>
                <a:grpSpLocks noChangeAspect="1"/>
              </p:cNvGrpSpPr>
              <p:nvPr/>
            </p:nvGrpSpPr>
            <p:grpSpPr bwMode="auto">
              <a:xfrm>
                <a:off x="528" y="2374"/>
                <a:ext cx="496" cy="318"/>
                <a:chOff x="232" y="2750"/>
                <a:chExt cx="834" cy="536"/>
              </a:xfrm>
            </p:grpSpPr>
            <p:sp>
              <p:nvSpPr>
                <p:cNvPr id="606" name="AutoShape 536"/>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07" name="AutoShape 537"/>
                <p:cNvSpPr>
                  <a:spLocks noChangeAspect="1" noChangeArrowheads="1"/>
                </p:cNvSpPr>
                <p:nvPr/>
              </p:nvSpPr>
              <p:spPr bwMode="auto">
                <a:xfrm rot="583211" flipH="1">
                  <a:off x="232" y="2847"/>
                  <a:ext cx="455" cy="438"/>
                </a:xfrm>
                <a:prstGeom prst="parallelogram">
                  <a:avLst>
                    <a:gd name="adj" fmla="val 16068"/>
                  </a:avLst>
                </a:prstGeom>
                <a:solidFill>
                  <a:srgbClr val="008000"/>
                </a:solidFill>
                <a:ln w="12700" algn="ctr">
                  <a:noFill/>
                  <a:miter lim="800000"/>
                  <a:headEnd/>
                  <a:tailEnd/>
                </a:ln>
              </p:spPr>
              <p:txBody>
                <a:bodyPr wrap="none" lIns="87313" tIns="44450" rIns="87313" bIns="44450" anchor="ctr"/>
                <a:lstStyle/>
                <a:p>
                  <a:endParaRPr lang="zh-CN" altLang="zh-CN"/>
                </a:p>
              </p:txBody>
            </p:sp>
            <p:sp>
              <p:nvSpPr>
                <p:cNvPr id="608" name="AutoShape 538"/>
                <p:cNvSpPr>
                  <a:spLocks noChangeAspect="1" noChangeArrowheads="1"/>
                </p:cNvSpPr>
                <p:nvPr/>
              </p:nvSpPr>
              <p:spPr bwMode="auto">
                <a:xfrm rot="-569323">
                  <a:off x="603" y="2847"/>
                  <a:ext cx="463" cy="439"/>
                </a:xfrm>
                <a:prstGeom prst="parallelogram">
                  <a:avLst>
                    <a:gd name="adj" fmla="val 17900"/>
                  </a:avLst>
                </a:prstGeom>
                <a:solidFill>
                  <a:srgbClr val="003300"/>
                </a:solidFill>
                <a:ln w="12700" algn="ctr">
                  <a:noFill/>
                  <a:miter lim="800000"/>
                  <a:headEnd/>
                  <a:tailEnd/>
                </a:ln>
              </p:spPr>
              <p:txBody>
                <a:bodyPr wrap="none" lIns="87313" tIns="44450" rIns="87313" bIns="44450" anchor="ctr"/>
                <a:lstStyle/>
                <a:p>
                  <a:endParaRPr lang="zh-CN" altLang="zh-CN"/>
                </a:p>
              </p:txBody>
            </p:sp>
          </p:grpSp>
          <p:grpSp>
            <p:nvGrpSpPr>
              <p:cNvPr id="602" name="Group 539"/>
              <p:cNvGrpSpPr>
                <a:grpSpLocks noChangeAspect="1"/>
              </p:cNvGrpSpPr>
              <p:nvPr/>
            </p:nvGrpSpPr>
            <p:grpSpPr bwMode="auto">
              <a:xfrm>
                <a:off x="755" y="2414"/>
                <a:ext cx="496" cy="318"/>
                <a:chOff x="232" y="2750"/>
                <a:chExt cx="834" cy="536"/>
              </a:xfrm>
            </p:grpSpPr>
            <p:sp>
              <p:nvSpPr>
                <p:cNvPr id="603" name="AutoShape 540"/>
                <p:cNvSpPr>
                  <a:spLocks noChangeAspect="1" noChangeArrowheads="1"/>
                </p:cNvSpPr>
                <p:nvPr/>
              </p:nvSpPr>
              <p:spPr bwMode="auto">
                <a:xfrm>
                  <a:off x="270" y="2750"/>
                  <a:ext cx="754" cy="125"/>
                </a:xfrm>
                <a:prstGeom prst="diamond">
                  <a:avLst/>
                </a:prstGeom>
                <a:solidFill>
                  <a:srgbClr val="33CC33"/>
                </a:solidFill>
                <a:ln w="9525" algn="ctr">
                  <a:noFill/>
                  <a:miter lim="800000"/>
                  <a:headEnd/>
                  <a:tailEnd/>
                </a:ln>
              </p:spPr>
              <p:txBody>
                <a:bodyPr anchor="ctr">
                  <a:spAutoFit/>
                </a:bodyPr>
                <a:lstStyle/>
                <a:p>
                  <a:endParaRPr lang="zh-CN" altLang="zh-CN"/>
                </a:p>
              </p:txBody>
            </p:sp>
            <p:sp>
              <p:nvSpPr>
                <p:cNvPr id="604" name="AutoShape 541"/>
                <p:cNvSpPr>
                  <a:spLocks noChangeAspect="1" noChangeArrowheads="1"/>
                </p:cNvSpPr>
                <p:nvPr/>
              </p:nvSpPr>
              <p:spPr bwMode="auto">
                <a:xfrm rot="583211" flipH="1">
                  <a:off x="232" y="2847"/>
                  <a:ext cx="455" cy="438"/>
                </a:xfrm>
                <a:prstGeom prst="parallelogram">
                  <a:avLst>
                    <a:gd name="adj" fmla="val 16068"/>
                  </a:avLst>
                </a:prstGeom>
                <a:solidFill>
                  <a:srgbClr val="008000"/>
                </a:solidFill>
                <a:ln w="12700" algn="ctr">
                  <a:noFill/>
                  <a:miter lim="800000"/>
                  <a:headEnd/>
                  <a:tailEnd/>
                </a:ln>
              </p:spPr>
              <p:txBody>
                <a:bodyPr wrap="none" lIns="87313" tIns="44450" rIns="87313" bIns="44450" anchor="ctr"/>
                <a:lstStyle/>
                <a:p>
                  <a:endParaRPr lang="zh-CN" altLang="zh-CN"/>
                </a:p>
              </p:txBody>
            </p:sp>
            <p:sp>
              <p:nvSpPr>
                <p:cNvPr id="605" name="AutoShape 542"/>
                <p:cNvSpPr>
                  <a:spLocks noChangeAspect="1" noChangeArrowheads="1"/>
                </p:cNvSpPr>
                <p:nvPr/>
              </p:nvSpPr>
              <p:spPr bwMode="auto">
                <a:xfrm rot="-569323">
                  <a:off x="603" y="2847"/>
                  <a:ext cx="463" cy="439"/>
                </a:xfrm>
                <a:prstGeom prst="parallelogram">
                  <a:avLst>
                    <a:gd name="adj" fmla="val 17900"/>
                  </a:avLst>
                </a:prstGeom>
                <a:solidFill>
                  <a:srgbClr val="006600"/>
                </a:solidFill>
                <a:ln w="12700" algn="ctr">
                  <a:noFill/>
                  <a:miter lim="800000"/>
                  <a:headEnd/>
                  <a:tailEnd/>
                </a:ln>
              </p:spPr>
              <p:txBody>
                <a:bodyPr wrap="none" lIns="87313" tIns="44450" rIns="87313" bIns="44450" anchor="ctr"/>
                <a:lstStyle/>
                <a:p>
                  <a:endParaRPr lang="zh-CN" altLang="zh-CN"/>
                </a:p>
              </p:txBody>
            </p:sp>
          </p:grpSp>
        </p:grpSp>
        <p:sp>
          <p:nvSpPr>
            <p:cNvPr id="577" name="Text Box 1188"/>
            <p:cNvSpPr txBox="1">
              <a:spLocks noChangeArrowheads="1"/>
            </p:cNvSpPr>
            <p:nvPr/>
          </p:nvSpPr>
          <p:spPr bwMode="auto">
            <a:xfrm>
              <a:off x="5883490" y="4449357"/>
              <a:ext cx="2510292" cy="430887"/>
            </a:xfrm>
            <a:prstGeom prst="rect">
              <a:avLst/>
            </a:prstGeom>
            <a:noFill/>
            <a:ln w="9525">
              <a:noFill/>
              <a:miter lim="800000"/>
              <a:headEnd/>
              <a:tailEnd/>
            </a:ln>
            <a:effectLst>
              <a:outerShdw dist="17961" dir="2700000" algn="ctr" rotWithShape="0">
                <a:schemeClr val="tx1"/>
              </a:outerShdw>
            </a:effectLst>
          </p:spPr>
          <p:txBody>
            <a:bodyPr wrap="square">
              <a:spAutoFit/>
            </a:bodyPr>
            <a:lstStyle/>
            <a:p>
              <a:r>
                <a:rPr lang="zh-CN" altLang="en-US" sz="2200" b="1" dirty="0" smtClean="0">
                  <a:solidFill>
                    <a:schemeClr val="bg1"/>
                  </a:solidFill>
                </a:rPr>
                <a:t>进程管理的观点</a:t>
              </a:r>
              <a:endParaRPr lang="en-US" altLang="ko-KR" sz="2200" b="1" dirty="0" smtClean="0">
                <a:solidFill>
                  <a:schemeClr val="bg1"/>
                </a:solidFill>
              </a:endParaRPr>
            </a:p>
          </p:txBody>
        </p:sp>
      </p:grpSp>
    </p:spTree>
    <p:extLst>
      <p:ext uri="{BB962C8B-B14F-4D97-AF65-F5344CB8AC3E}">
        <p14:creationId xmlns:p14="http://schemas.microsoft.com/office/powerpoint/2010/main" val="336691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2000"/>
                                        <p:tgtEl>
                                          <p:spTgt spid="4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0"/>
                                        </p:tgtEl>
                                        <p:attrNameLst>
                                          <p:attrName>style.visibility</p:attrName>
                                        </p:attrNameLst>
                                      </p:cBhvr>
                                      <p:to>
                                        <p:strVal val="visible"/>
                                      </p:to>
                                    </p:set>
                                    <p:animEffect transition="in" filter="fade">
                                      <p:cBhvr>
                                        <p:cTn id="12" dur="2000"/>
                                        <p:tgtEl>
                                          <p:spTgt spid="4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5"/>
                                        </p:tgtEl>
                                        <p:attrNameLst>
                                          <p:attrName>style.visibility</p:attrName>
                                        </p:attrNameLst>
                                      </p:cBhvr>
                                      <p:to>
                                        <p:strVal val="visible"/>
                                      </p:to>
                                    </p:set>
                                    <p:animEffect transition="in" filter="fade">
                                      <p:cBhvr>
                                        <p:cTn id="17" dur="2000"/>
                                        <p:tgtEl>
                                          <p:spTgt spid="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计算机资源管理者的观点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 name="矩形 1"/>
          <p:cNvSpPr/>
          <p:nvPr/>
        </p:nvSpPr>
        <p:spPr>
          <a:xfrm>
            <a:off x="899592" y="1307908"/>
            <a:ext cx="6873208" cy="1052596"/>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操作系统就是指用来管理和控制计算机系统软硬资源的程序的</a:t>
            </a:r>
            <a:r>
              <a:rPr lang="zh-CN" altLang="en-US" sz="2400" b="1" dirty="0" smtClean="0">
                <a:solidFill>
                  <a:schemeClr val="bg1"/>
                </a:solidFill>
                <a:latin typeface="+mn-ea"/>
              </a:rPr>
              <a:t>集合。</a:t>
            </a:r>
            <a:endParaRPr lang="zh-CN" altLang="en-US" sz="2400" b="1" dirty="0">
              <a:solidFill>
                <a:schemeClr val="bg1"/>
              </a:solidFill>
              <a:latin typeface="+mn-ea"/>
            </a:endParaRPr>
          </a:p>
        </p:txBody>
      </p:sp>
      <p:graphicFrame>
        <p:nvGraphicFramePr>
          <p:cNvPr id="4" name="图示 3"/>
          <p:cNvGraphicFramePr/>
          <p:nvPr>
            <p:extLst>
              <p:ext uri="{D42A27DB-BD31-4B8C-83A1-F6EECF244321}">
                <p14:modId xmlns:p14="http://schemas.microsoft.com/office/powerpoint/2010/main" val="61582506"/>
              </p:ext>
            </p:extLst>
          </p:nvPr>
        </p:nvGraphicFramePr>
        <p:xfrm>
          <a:off x="3275856" y="1750353"/>
          <a:ext cx="4896544" cy="2837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横卷形 5"/>
          <p:cNvSpPr/>
          <p:nvPr/>
        </p:nvSpPr>
        <p:spPr>
          <a:xfrm>
            <a:off x="1115616" y="2643758"/>
            <a:ext cx="2736304" cy="1368152"/>
          </a:xfrm>
          <a:prstGeom prst="horizontalScroll">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zh-CN" altLang="en-US" sz="2000" b="1" dirty="0"/>
              <a:t>资源情况记录、资源分配策略、资源分配和资源回收</a:t>
            </a:r>
          </a:p>
        </p:txBody>
      </p:sp>
    </p:spTree>
    <p:extLst>
      <p:ext uri="{BB962C8B-B14F-4D97-AF65-F5344CB8AC3E}">
        <p14:creationId xmlns:p14="http://schemas.microsoft.com/office/powerpoint/2010/main" val="224210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用户界面的观点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 name="矩形 1"/>
          <p:cNvSpPr/>
          <p:nvPr/>
        </p:nvSpPr>
        <p:spPr>
          <a:xfrm>
            <a:off x="899592" y="1563638"/>
            <a:ext cx="6873208" cy="2492990"/>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对于用户来说，对操作系统的内部结构并没有多大的兴趣，他们最关心的是如何利用操作系统提供的服务来有效地使用计算机。因此操作系统</a:t>
            </a:r>
            <a:r>
              <a:rPr lang="zh-CN" altLang="en-US" sz="2400" b="1" dirty="0">
                <a:solidFill>
                  <a:srgbClr val="FFFF00"/>
                </a:solidFill>
                <a:latin typeface="+mn-ea"/>
              </a:rPr>
              <a:t>提供了什么样的用户界面</a:t>
            </a:r>
            <a:r>
              <a:rPr lang="zh-CN" altLang="en-US" sz="2400" b="1" dirty="0">
                <a:solidFill>
                  <a:schemeClr val="bg1"/>
                </a:solidFill>
                <a:latin typeface="+mn-ea"/>
              </a:rPr>
              <a:t>成为关键问题，即上节中所提出的程序一级和作业一级的两种接口。</a:t>
            </a:r>
          </a:p>
        </p:txBody>
      </p:sp>
    </p:spTree>
    <p:extLst>
      <p:ext uri="{BB962C8B-B14F-4D97-AF65-F5344CB8AC3E}">
        <p14:creationId xmlns:p14="http://schemas.microsoft.com/office/powerpoint/2010/main" val="3146329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71472"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进程管理的观点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2" name="矩形 1"/>
          <p:cNvSpPr/>
          <p:nvPr/>
        </p:nvSpPr>
        <p:spPr>
          <a:xfrm>
            <a:off x="899592" y="1419622"/>
            <a:ext cx="6873208" cy="2973122"/>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前面两种观点是静态的观点，没有揭示一个程序在系统中运行的本质过程和管理资源的各种子程序存在的关系。</a:t>
            </a:r>
            <a:endParaRPr lang="en-US" altLang="zh-CN" sz="2400" b="1" dirty="0" smtClean="0">
              <a:solidFill>
                <a:schemeClr val="bg1"/>
              </a:solidFill>
              <a:latin typeface="+mn-ea"/>
            </a:endParaRP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要从“进程” 的概念，从程序执行的</a:t>
            </a:r>
            <a:r>
              <a:rPr lang="zh-CN" altLang="en-US" sz="2400" b="1" dirty="0">
                <a:solidFill>
                  <a:srgbClr val="FFFF00"/>
                </a:solidFill>
                <a:latin typeface="+mn-ea"/>
              </a:rPr>
              <a:t>并发性</a:t>
            </a:r>
            <a:r>
              <a:rPr lang="zh-CN" altLang="en-US" sz="2400" b="1" dirty="0">
                <a:solidFill>
                  <a:schemeClr val="bg1"/>
                </a:solidFill>
                <a:latin typeface="+mn-ea"/>
              </a:rPr>
              <a:t>上，即并发程序执行过程来讨论操作系统。研究“这些资源管理程序在系统中进行活动的过程”</a:t>
            </a:r>
          </a:p>
        </p:txBody>
      </p:sp>
    </p:spTree>
    <p:extLst>
      <p:ext uri="{BB962C8B-B14F-4D97-AF65-F5344CB8AC3E}">
        <p14:creationId xmlns:p14="http://schemas.microsoft.com/office/powerpoint/2010/main" val="392507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clrChange>
              <a:clrFrom>
                <a:srgbClr val="F5F5F2">
                  <a:alpha val="80000"/>
                </a:srgbClr>
              </a:clrFrom>
              <a:clrTo>
                <a:srgbClr val="F5F5F2">
                  <a:alpha val="0"/>
                </a:srgbClr>
              </a:clrTo>
            </a:clrChange>
            <a:extLst>
              <a:ext uri="{BEBA8EAE-BF5A-486C-A8C5-ECC9F3942E4B}">
                <a14:imgProps xmlns:a14="http://schemas.microsoft.com/office/drawing/2010/main">
                  <a14:imgLayer r:embed="rId3">
                    <a14:imgEffect>
                      <a14:artisticPastelsSmooth/>
                    </a14:imgEffect>
                  </a14:imgLayer>
                </a14:imgProps>
              </a:ext>
            </a:extLst>
          </a:blip>
          <a:srcRect/>
          <a:stretch>
            <a:fillRect/>
          </a:stretch>
        </p:blipFill>
        <p:spPr bwMode="auto">
          <a:xfrm rot="21163559">
            <a:off x="2670789" y="1565488"/>
            <a:ext cx="3498851" cy="901700"/>
          </a:xfrm>
          <a:prstGeom prst="rect">
            <a:avLst/>
          </a:prstGeom>
          <a:noFill/>
          <a:ln w="9525">
            <a:noFill/>
            <a:miter lim="800000"/>
            <a:headEnd/>
            <a:tailEnd/>
          </a:ln>
          <a:effectLst/>
        </p:spPr>
      </p:pic>
      <p:grpSp>
        <p:nvGrpSpPr>
          <p:cNvPr id="10" name="组合 27"/>
          <p:cNvGrpSpPr/>
          <p:nvPr/>
        </p:nvGrpSpPr>
        <p:grpSpPr>
          <a:xfrm>
            <a:off x="763792" y="475567"/>
            <a:ext cx="1704074" cy="840074"/>
            <a:chOff x="728490" y="483518"/>
            <a:chExt cx="1704075" cy="840074"/>
          </a:xfrm>
        </p:grpSpPr>
        <p:pic>
          <p:nvPicPr>
            <p:cNvPr id="11" name="图片 10" descr="贴贴子4张（空）.png"/>
            <p:cNvPicPr>
              <a:picLocks noChangeAspect="1"/>
            </p:cNvPicPr>
            <p:nvPr/>
          </p:nvPicPr>
          <p:blipFill>
            <a:blip r:embed="rId4" cstate="print"/>
            <a:srcRect t="33018" r="77449" b="52860"/>
            <a:stretch>
              <a:fillRect/>
            </a:stretch>
          </p:blipFill>
          <p:spPr>
            <a:xfrm>
              <a:off x="728490" y="483518"/>
              <a:ext cx="1512168" cy="615496"/>
            </a:xfrm>
            <a:prstGeom prst="rect">
              <a:avLst/>
            </a:prstGeom>
          </p:spPr>
        </p:pic>
        <p:sp>
          <p:nvSpPr>
            <p:cNvPr id="12" name="TextBox 11"/>
            <p:cNvSpPr txBox="1"/>
            <p:nvPr/>
          </p:nvSpPr>
          <p:spPr>
            <a:xfrm>
              <a:off x="1187623" y="731481"/>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O</a:t>
              </a:r>
              <a:endParaRPr lang="zh-CN" altLang="en-US" sz="1900" dirty="0">
                <a:solidFill>
                  <a:prstClr val="black"/>
                </a:solidFill>
                <a:latin typeface="微软雅黑" pitchFamily="34" charset="-122"/>
                <a:ea typeface="微软雅黑" pitchFamily="34" charset="-122"/>
              </a:endParaRPr>
            </a:p>
          </p:txBody>
        </p:sp>
        <p:pic>
          <p:nvPicPr>
            <p:cNvPr id="13" name="图片 12" descr="贴贴子4张（空）.png"/>
            <p:cNvPicPr>
              <a:picLocks/>
            </p:cNvPicPr>
            <p:nvPr/>
          </p:nvPicPr>
          <p:blipFill>
            <a:blip r:embed="rId4" cstate="print"/>
            <a:srcRect l="6702" t="47905" r="86794" b="38897"/>
            <a:stretch>
              <a:fillRect/>
            </a:stretch>
          </p:blipFill>
          <p:spPr>
            <a:xfrm rot="-180000">
              <a:off x="2000565" y="731480"/>
              <a:ext cx="432000" cy="592112"/>
            </a:xfrm>
            <a:prstGeom prst="rect">
              <a:avLst/>
            </a:prstGeom>
          </p:spPr>
        </p:pic>
        <p:sp>
          <p:nvSpPr>
            <p:cNvPr id="14" name="TextBox 13"/>
            <p:cNvSpPr txBox="1"/>
            <p:nvPr/>
          </p:nvSpPr>
          <p:spPr>
            <a:xfrm rot="599039">
              <a:off x="1667523" y="747677"/>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S</a:t>
              </a:r>
              <a:endParaRPr lang="zh-CN" altLang="en-US" sz="1900" dirty="0">
                <a:solidFill>
                  <a:prstClr val="black"/>
                </a:solidFill>
                <a:latin typeface="微软雅黑" pitchFamily="34" charset="-122"/>
                <a:ea typeface="微软雅黑" pitchFamily="34" charset="-122"/>
              </a:endParaRPr>
            </a:p>
          </p:txBody>
        </p:sp>
        <p:sp>
          <p:nvSpPr>
            <p:cNvPr id="15" name="TextBox 14"/>
            <p:cNvSpPr txBox="1"/>
            <p:nvPr/>
          </p:nvSpPr>
          <p:spPr>
            <a:xfrm rot="20890714">
              <a:off x="2046654" y="743345"/>
              <a:ext cx="352179" cy="384721"/>
            </a:xfrm>
            <a:prstGeom prst="rect">
              <a:avLst/>
            </a:prstGeom>
            <a:noFill/>
          </p:spPr>
          <p:txBody>
            <a:bodyPr wrap="square" rtlCol="0">
              <a:spAutoFit/>
            </a:bodyPr>
            <a:lstStyle/>
            <a:p>
              <a:pPr defTabSz="914399"/>
              <a:r>
                <a:rPr lang="en-US" altLang="zh-CN" sz="1900" dirty="0">
                  <a:solidFill>
                    <a:prstClr val="black"/>
                  </a:solidFill>
                  <a:latin typeface="微软雅黑" pitchFamily="34" charset="-122"/>
                  <a:ea typeface="微软雅黑" pitchFamily="34" charset="-122"/>
                </a:rPr>
                <a:t>Y</a:t>
              </a:r>
              <a:endParaRPr lang="zh-CN" altLang="en-US" sz="1900" dirty="0">
                <a:solidFill>
                  <a:prstClr val="black"/>
                </a:solidFill>
                <a:latin typeface="微软雅黑" pitchFamily="34" charset="-122"/>
                <a:ea typeface="微软雅黑" pitchFamily="34" charset="-122"/>
              </a:endParaRPr>
            </a:p>
          </p:txBody>
        </p:sp>
      </p:grpSp>
      <p:sp>
        <p:nvSpPr>
          <p:cNvPr id="17" name="矩形 16"/>
          <p:cNvSpPr/>
          <p:nvPr/>
        </p:nvSpPr>
        <p:spPr>
          <a:xfrm rot="20036968">
            <a:off x="6164792" y="2110566"/>
            <a:ext cx="1432894" cy="338553"/>
          </a:xfrm>
          <a:prstGeom prst="rect">
            <a:avLst/>
          </a:prstGeom>
        </p:spPr>
        <p:txBody>
          <a:bodyPr wrap="none" lIns="91441" tIns="45721" rIns="91441" bIns="45721">
            <a:spAutoFit/>
          </a:bodyPr>
          <a:lstStyle/>
          <a:p>
            <a:pPr defTabSz="914399"/>
            <a:r>
              <a:rPr lang="en-US" altLang="zh-CN" sz="1600" dirty="0">
                <a:solidFill>
                  <a:prstClr val="white">
                    <a:lumMod val="75000"/>
                  </a:prstClr>
                </a:solidFill>
                <a:latin typeface="Arial" pitchFamily="34" charset="0"/>
                <a:ea typeface="微软雅黑"/>
                <a:cs typeface="Arial" pitchFamily="34" charset="0"/>
              </a:rPr>
              <a:t>THANK</a:t>
            </a:r>
            <a:r>
              <a:rPr lang="zh-CN" altLang="en-US" sz="1600" dirty="0">
                <a:solidFill>
                  <a:prstClr val="white">
                    <a:lumMod val="75000"/>
                  </a:prstClr>
                </a:solidFill>
                <a:latin typeface="Arial" pitchFamily="34" charset="0"/>
                <a:ea typeface="微软雅黑"/>
                <a:cs typeface="Arial" pitchFamily="34" charset="0"/>
              </a:rPr>
              <a:t> </a:t>
            </a:r>
            <a:r>
              <a:rPr lang="en-US" altLang="zh-CN" sz="1600" dirty="0">
                <a:solidFill>
                  <a:prstClr val="white">
                    <a:lumMod val="75000"/>
                  </a:prstClr>
                </a:solidFill>
                <a:latin typeface="Arial" pitchFamily="34" charset="0"/>
                <a:ea typeface="微软雅黑"/>
                <a:cs typeface="Arial" pitchFamily="34" charset="0"/>
              </a:rPr>
              <a:t>YOU!</a:t>
            </a:r>
            <a:endParaRPr lang="zh-CN" altLang="en-US" sz="1600" dirty="0">
              <a:solidFill>
                <a:prstClr val="white">
                  <a:lumMod val="75000"/>
                </a:prstClr>
              </a:solidFill>
              <a:latin typeface="Arial" pitchFamily="34" charset="0"/>
              <a:ea typeface="微软雅黑"/>
              <a:cs typeface="Arial" pitchFamily="34" charset="0"/>
            </a:endParaRPr>
          </a:p>
        </p:txBody>
      </p:sp>
      <p:pic>
        <p:nvPicPr>
          <p:cNvPr id="1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Tree>
    <p:extLst>
      <p:ext uri="{BB962C8B-B14F-4D97-AF65-F5344CB8AC3E}">
        <p14:creationId xmlns:p14="http://schemas.microsoft.com/office/powerpoint/2010/main" val="28050002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12026</TotalTime>
  <Words>6581</Words>
  <Application>Microsoft Office PowerPoint</Application>
  <PresentationFormat>全屏显示(16:9)</PresentationFormat>
  <Paragraphs>765</Paragraphs>
  <Slides>130</Slides>
  <Notes>29</Notes>
  <HiddenSlides>3</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130</vt:i4>
      </vt:variant>
    </vt:vector>
  </HeadingPairs>
  <TitlesOfParts>
    <vt:vector size="147" baseType="lpstr">
      <vt:lpstr>Gulim</vt:lpstr>
      <vt:lpstr>HY견고딕</vt:lpstr>
      <vt:lpstr>맑은 고딕</vt:lpstr>
      <vt:lpstr>方正特粗光辉简体</vt:lpstr>
      <vt:lpstr>黑体</vt:lpstr>
      <vt:lpstr>华文楷体</vt:lpstr>
      <vt:lpstr>华文行楷</vt:lpstr>
      <vt:lpstr>宋体</vt:lpstr>
      <vt:lpstr>微软雅黑</vt:lpstr>
      <vt:lpstr>Arial</vt:lpstr>
      <vt:lpstr>Calibri</vt:lpstr>
      <vt:lpstr>Century Gothic</vt:lpstr>
      <vt:lpstr>Segoe UI</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qian gao</cp:lastModifiedBy>
  <cp:revision>654</cp:revision>
  <dcterms:created xsi:type="dcterms:W3CDTF">2014-04-24T10:36:34Z</dcterms:created>
  <dcterms:modified xsi:type="dcterms:W3CDTF">2025-09-21T09:56:27Z</dcterms:modified>
</cp:coreProperties>
</file>