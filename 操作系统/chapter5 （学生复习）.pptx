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1"/>
  </p:notesMasterIdLst>
  <p:sldIdLst>
    <p:sldId id="256" r:id="rId2"/>
    <p:sldId id="262" r:id="rId3"/>
    <p:sldId id="291" r:id="rId4"/>
    <p:sldId id="867" r:id="rId5"/>
    <p:sldId id="691" r:id="rId6"/>
    <p:sldId id="941" r:id="rId7"/>
    <p:sldId id="942" r:id="rId8"/>
    <p:sldId id="943" r:id="rId9"/>
    <p:sldId id="944" r:id="rId10"/>
    <p:sldId id="945" r:id="rId11"/>
    <p:sldId id="946" r:id="rId12"/>
    <p:sldId id="947" r:id="rId13"/>
    <p:sldId id="759" r:id="rId14"/>
    <p:sldId id="948" r:id="rId15"/>
    <p:sldId id="949" r:id="rId16"/>
    <p:sldId id="950" r:id="rId17"/>
    <p:sldId id="951" r:id="rId18"/>
    <p:sldId id="952" r:id="rId19"/>
    <p:sldId id="763" r:id="rId20"/>
    <p:sldId id="953" r:id="rId21"/>
    <p:sldId id="954" r:id="rId22"/>
    <p:sldId id="955" r:id="rId23"/>
    <p:sldId id="956" r:id="rId24"/>
    <p:sldId id="862" r:id="rId25"/>
    <p:sldId id="870" r:id="rId26"/>
    <p:sldId id="865" r:id="rId27"/>
    <p:sldId id="871" r:id="rId28"/>
    <p:sldId id="957" r:id="rId29"/>
    <p:sldId id="958" r:id="rId30"/>
    <p:sldId id="959" r:id="rId31"/>
    <p:sldId id="869" r:id="rId32"/>
    <p:sldId id="960" r:id="rId33"/>
    <p:sldId id="961" r:id="rId34"/>
    <p:sldId id="963" r:id="rId35"/>
    <p:sldId id="971" r:id="rId36"/>
    <p:sldId id="970" r:id="rId37"/>
    <p:sldId id="965" r:id="rId38"/>
    <p:sldId id="966" r:id="rId39"/>
    <p:sldId id="994" r:id="rId40"/>
    <p:sldId id="968" r:id="rId41"/>
    <p:sldId id="993" r:id="rId42"/>
    <p:sldId id="972" r:id="rId43"/>
    <p:sldId id="992" r:id="rId44"/>
    <p:sldId id="991" r:id="rId45"/>
    <p:sldId id="975" r:id="rId46"/>
    <p:sldId id="1173" r:id="rId47"/>
    <p:sldId id="1175" r:id="rId48"/>
    <p:sldId id="1176" r:id="rId49"/>
    <p:sldId id="976" r:id="rId50"/>
    <p:sldId id="977" r:id="rId51"/>
    <p:sldId id="1177" r:id="rId52"/>
    <p:sldId id="982" r:id="rId53"/>
    <p:sldId id="983" r:id="rId54"/>
    <p:sldId id="1087" r:id="rId55"/>
    <p:sldId id="1088" r:id="rId56"/>
    <p:sldId id="1089" r:id="rId57"/>
    <p:sldId id="1090" r:id="rId58"/>
    <p:sldId id="1091" r:id="rId59"/>
    <p:sldId id="1092" r:id="rId60"/>
    <p:sldId id="1093" r:id="rId61"/>
    <p:sldId id="1094" r:id="rId62"/>
    <p:sldId id="1095" r:id="rId63"/>
    <p:sldId id="1096" r:id="rId64"/>
    <p:sldId id="1097" r:id="rId65"/>
    <p:sldId id="1098" r:id="rId66"/>
    <p:sldId id="1099" r:id="rId67"/>
    <p:sldId id="1100" r:id="rId68"/>
    <p:sldId id="1101" r:id="rId69"/>
    <p:sldId id="1102" r:id="rId70"/>
    <p:sldId id="1103" r:id="rId71"/>
    <p:sldId id="1104" r:id="rId72"/>
    <p:sldId id="1105" r:id="rId73"/>
    <p:sldId id="1106" r:id="rId74"/>
    <p:sldId id="1107" r:id="rId75"/>
    <p:sldId id="1108" r:id="rId76"/>
    <p:sldId id="1109" r:id="rId77"/>
    <p:sldId id="1110" r:id="rId78"/>
    <p:sldId id="1111" r:id="rId79"/>
    <p:sldId id="1112" r:id="rId80"/>
    <p:sldId id="1113" r:id="rId81"/>
    <p:sldId id="1114" r:id="rId82"/>
    <p:sldId id="1115" r:id="rId83"/>
    <p:sldId id="1116" r:id="rId84"/>
    <p:sldId id="1117" r:id="rId85"/>
    <p:sldId id="1118" r:id="rId86"/>
    <p:sldId id="1119" r:id="rId87"/>
    <p:sldId id="1120" r:id="rId88"/>
    <p:sldId id="1121" r:id="rId89"/>
    <p:sldId id="1122" r:id="rId90"/>
    <p:sldId id="1123" r:id="rId91"/>
    <p:sldId id="1124" r:id="rId92"/>
    <p:sldId id="1125" r:id="rId93"/>
    <p:sldId id="1126" r:id="rId94"/>
    <p:sldId id="1127" r:id="rId95"/>
    <p:sldId id="1128" r:id="rId96"/>
    <p:sldId id="1129" r:id="rId97"/>
    <p:sldId id="1130" r:id="rId98"/>
    <p:sldId id="1131" r:id="rId99"/>
    <p:sldId id="1132" r:id="rId100"/>
    <p:sldId id="1182" r:id="rId101"/>
    <p:sldId id="1183" r:id="rId102"/>
    <p:sldId id="1184" r:id="rId103"/>
    <p:sldId id="1185" r:id="rId104"/>
    <p:sldId id="1187" r:id="rId105"/>
    <p:sldId id="1188" r:id="rId106"/>
    <p:sldId id="1133" r:id="rId107"/>
    <p:sldId id="1134" r:id="rId108"/>
    <p:sldId id="1135" r:id="rId109"/>
    <p:sldId id="1136" r:id="rId110"/>
    <p:sldId id="1137" r:id="rId111"/>
    <p:sldId id="1138" r:id="rId112"/>
    <p:sldId id="1139" r:id="rId113"/>
    <p:sldId id="1140" r:id="rId114"/>
    <p:sldId id="1141" r:id="rId115"/>
    <p:sldId id="1142" r:id="rId116"/>
    <p:sldId id="1143" r:id="rId117"/>
    <p:sldId id="1144" r:id="rId118"/>
    <p:sldId id="1145" r:id="rId119"/>
    <p:sldId id="1146" r:id="rId120"/>
    <p:sldId id="1147" r:id="rId121"/>
    <p:sldId id="1148" r:id="rId122"/>
    <p:sldId id="1149" r:id="rId123"/>
    <p:sldId id="1150" r:id="rId124"/>
    <p:sldId id="1151" r:id="rId125"/>
    <p:sldId id="1152" r:id="rId126"/>
    <p:sldId id="1153" r:id="rId127"/>
    <p:sldId id="1154" r:id="rId128"/>
    <p:sldId id="1155" r:id="rId129"/>
    <p:sldId id="1156" r:id="rId130"/>
    <p:sldId id="1157" r:id="rId131"/>
    <p:sldId id="1158" r:id="rId132"/>
    <p:sldId id="1159" r:id="rId133"/>
    <p:sldId id="1160" r:id="rId134"/>
    <p:sldId id="1161" r:id="rId135"/>
    <p:sldId id="1162" r:id="rId136"/>
    <p:sldId id="1163" r:id="rId137"/>
    <p:sldId id="1164" r:id="rId138"/>
    <p:sldId id="1165" r:id="rId139"/>
    <p:sldId id="1166" r:id="rId140"/>
    <p:sldId id="1167" r:id="rId141"/>
    <p:sldId id="1168" r:id="rId142"/>
    <p:sldId id="1169" r:id="rId143"/>
    <p:sldId id="1170" r:id="rId144"/>
    <p:sldId id="1171" r:id="rId145"/>
    <p:sldId id="1172" r:id="rId146"/>
    <p:sldId id="1179" r:id="rId147"/>
    <p:sldId id="1189" r:id="rId148"/>
    <p:sldId id="1180" r:id="rId149"/>
    <p:sldId id="1190" r:id="rId150"/>
    <p:sldId id="1192" r:id="rId151"/>
    <p:sldId id="1191" r:id="rId152"/>
    <p:sldId id="1193" r:id="rId153"/>
    <p:sldId id="1194" r:id="rId154"/>
    <p:sldId id="1195" r:id="rId155"/>
    <p:sldId id="1196" r:id="rId156"/>
    <p:sldId id="984" r:id="rId157"/>
    <p:sldId id="876" r:id="rId158"/>
    <p:sldId id="985" r:id="rId159"/>
    <p:sldId id="986" r:id="rId160"/>
    <p:sldId id="987" r:id="rId161"/>
    <p:sldId id="988" r:id="rId162"/>
    <p:sldId id="1036" r:id="rId163"/>
    <p:sldId id="989" r:id="rId164"/>
    <p:sldId id="990" r:id="rId165"/>
    <p:sldId id="1076" r:id="rId166"/>
    <p:sldId id="1077" r:id="rId167"/>
    <p:sldId id="1078" r:id="rId168"/>
    <p:sldId id="1079" r:id="rId169"/>
    <p:sldId id="260" r:id="rId17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E292"/>
    <a:srgbClr val="008000"/>
    <a:srgbClr val="0E2D07"/>
    <a:srgbClr val="FF3300"/>
    <a:srgbClr val="006600"/>
    <a:srgbClr val="FF5050"/>
    <a:srgbClr val="33CC33"/>
    <a:srgbClr val="8FCF49"/>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06" autoAdjust="0"/>
    <p:restoredTop sz="85045" autoAdjust="0"/>
  </p:normalViewPr>
  <p:slideViewPr>
    <p:cSldViewPr>
      <p:cViewPr varScale="1">
        <p:scale>
          <a:sx n="95" d="100"/>
          <a:sy n="95" d="100"/>
        </p:scale>
        <p:origin x="946" y="7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30086BE-501D-49D7-BA11-429D03BC1587}" type="doc">
      <dgm:prSet loTypeId="urn:microsoft.com/office/officeart/2005/8/layout/target3" loCatId="list" qsTypeId="urn:microsoft.com/office/officeart/2005/8/quickstyle/simple5#1" qsCatId="simple" csTypeId="urn:microsoft.com/office/officeart/2005/8/colors/colorful4#1" csCatId="colorful" phldr="1"/>
      <dgm:spPr/>
      <dgm:t>
        <a:bodyPr/>
        <a:lstStyle/>
        <a:p>
          <a:endParaRPr lang="zh-CN" altLang="en-US"/>
        </a:p>
      </dgm:t>
    </dgm:pt>
    <dgm:pt modelId="{1EBDA25B-BC45-4792-B509-D1FB9981905B}">
      <dgm:prSet phldrT="[文本]" custT="1"/>
      <dgm:spPr/>
      <dgm:t>
        <a:bodyPr/>
        <a:lstStyle/>
        <a:p>
          <a:pPr algn="just"/>
          <a:r>
            <a:rPr lang="zh-CN" altLang="en-US" sz="2400" b="1" dirty="0" smtClean="0"/>
            <a:t>对于请求表中的要求内存长度，从可用表或自由链中寻找出合适的空闲区分配程序。</a:t>
          </a:r>
          <a:endParaRPr lang="zh-CN" altLang="en-US" sz="2400" b="1" dirty="0"/>
        </a:p>
      </dgm:t>
    </dgm:pt>
    <dgm:pt modelId="{20376E0B-3EED-4655-A8F1-3D73062E8C9B}" type="parTrans" cxnId="{5A58A3D3-791B-4B34-9AAB-D4A8EE43C99F}">
      <dgm:prSet/>
      <dgm:spPr/>
      <dgm:t>
        <a:bodyPr/>
        <a:lstStyle/>
        <a:p>
          <a:endParaRPr lang="zh-CN" altLang="en-US"/>
        </a:p>
      </dgm:t>
    </dgm:pt>
    <dgm:pt modelId="{86512425-8A0F-459B-A67A-22477F9FA594}" type="sibTrans" cxnId="{5A58A3D3-791B-4B34-9AAB-D4A8EE43C99F}">
      <dgm:prSet/>
      <dgm:spPr/>
      <dgm:t>
        <a:bodyPr/>
        <a:lstStyle/>
        <a:p>
          <a:endParaRPr lang="zh-CN" altLang="en-US"/>
        </a:p>
      </dgm:t>
    </dgm:pt>
    <dgm:pt modelId="{2A72ECD0-5DB9-4759-A3B1-4BFBDCED3369}">
      <dgm:prSet phldrT="[文本]" custT="1"/>
      <dgm:spPr/>
      <dgm:t>
        <a:bodyPr/>
        <a:lstStyle/>
        <a:p>
          <a:pPr algn="just"/>
          <a:r>
            <a:rPr lang="zh-CN" altLang="en-US" sz="2400" b="1" dirty="0" smtClean="0"/>
            <a:t>分配空闲区之后，更新可用表或自由链</a:t>
          </a:r>
          <a:endParaRPr lang="zh-CN" altLang="en-US" sz="2400" b="1" dirty="0"/>
        </a:p>
      </dgm:t>
    </dgm:pt>
    <dgm:pt modelId="{B11D93C6-8C7D-4109-A13E-72D5BDFE1C9D}" type="parTrans" cxnId="{783253E5-4EC5-4469-BB93-4FA557EEE25C}">
      <dgm:prSet/>
      <dgm:spPr/>
      <dgm:t>
        <a:bodyPr/>
        <a:lstStyle/>
        <a:p>
          <a:endParaRPr lang="zh-CN" altLang="en-US"/>
        </a:p>
      </dgm:t>
    </dgm:pt>
    <dgm:pt modelId="{DBA11054-F7D3-4A99-8B4A-65F9AC71E966}" type="sibTrans" cxnId="{783253E5-4EC5-4469-BB93-4FA557EEE25C}">
      <dgm:prSet/>
      <dgm:spPr/>
      <dgm:t>
        <a:bodyPr/>
        <a:lstStyle/>
        <a:p>
          <a:endParaRPr lang="zh-CN" altLang="en-US"/>
        </a:p>
      </dgm:t>
    </dgm:pt>
    <dgm:pt modelId="{8E11B2CA-33D4-4D12-BC19-763CB8D548F3}">
      <dgm:prSet phldrT="[文本]" custT="1"/>
      <dgm:spPr/>
      <dgm:t>
        <a:bodyPr/>
        <a:lstStyle/>
        <a:p>
          <a:pPr algn="just"/>
          <a:r>
            <a:rPr lang="zh-CN" altLang="en-US" sz="2400" b="1" dirty="0" smtClean="0"/>
            <a:t>进程或作业释放内存资源时，和相邻的空闲区进行链接合并，更新可用表或自由链。</a:t>
          </a:r>
          <a:endParaRPr lang="zh-CN" altLang="en-US" sz="2400" b="1" dirty="0"/>
        </a:p>
      </dgm:t>
    </dgm:pt>
    <dgm:pt modelId="{83093DC2-7919-46A4-99B4-4B4715867EDD}" type="parTrans" cxnId="{A8DD1E67-1115-437F-B826-40DEA69E5827}">
      <dgm:prSet/>
      <dgm:spPr/>
      <dgm:t>
        <a:bodyPr/>
        <a:lstStyle/>
        <a:p>
          <a:endParaRPr lang="zh-CN" altLang="en-US"/>
        </a:p>
      </dgm:t>
    </dgm:pt>
    <dgm:pt modelId="{66CA95CB-149C-473E-9967-AA630A096FBF}" type="sibTrans" cxnId="{A8DD1E67-1115-437F-B826-40DEA69E5827}">
      <dgm:prSet/>
      <dgm:spPr/>
      <dgm:t>
        <a:bodyPr/>
        <a:lstStyle/>
        <a:p>
          <a:endParaRPr lang="zh-CN" altLang="en-US"/>
        </a:p>
      </dgm:t>
    </dgm:pt>
    <dgm:pt modelId="{3CA7A24D-10F0-4A19-BF49-FE7409D720EE}" type="pres">
      <dgm:prSet presAssocID="{D30086BE-501D-49D7-BA11-429D03BC1587}" presName="Name0" presStyleCnt="0">
        <dgm:presLayoutVars>
          <dgm:chMax val="7"/>
          <dgm:dir/>
          <dgm:animLvl val="lvl"/>
          <dgm:resizeHandles val="exact"/>
        </dgm:presLayoutVars>
      </dgm:prSet>
      <dgm:spPr/>
      <dgm:t>
        <a:bodyPr/>
        <a:lstStyle/>
        <a:p>
          <a:endParaRPr lang="zh-CN" altLang="en-US"/>
        </a:p>
      </dgm:t>
    </dgm:pt>
    <dgm:pt modelId="{289A6C2A-FB47-4288-A8C0-01CCC3B35B6E}" type="pres">
      <dgm:prSet presAssocID="{1EBDA25B-BC45-4792-B509-D1FB9981905B}" presName="circle1" presStyleLbl="node1" presStyleIdx="0" presStyleCnt="3"/>
      <dgm:spPr/>
    </dgm:pt>
    <dgm:pt modelId="{44E14107-FE64-4FA0-AF20-7E1B78365079}" type="pres">
      <dgm:prSet presAssocID="{1EBDA25B-BC45-4792-B509-D1FB9981905B}" presName="space" presStyleCnt="0"/>
      <dgm:spPr/>
    </dgm:pt>
    <dgm:pt modelId="{BCBD1F02-9AF2-4787-9CE3-453082711039}" type="pres">
      <dgm:prSet presAssocID="{1EBDA25B-BC45-4792-B509-D1FB9981905B}" presName="rect1" presStyleLbl="alignAcc1" presStyleIdx="0" presStyleCnt="3"/>
      <dgm:spPr/>
      <dgm:t>
        <a:bodyPr/>
        <a:lstStyle/>
        <a:p>
          <a:endParaRPr lang="zh-CN" altLang="en-US"/>
        </a:p>
      </dgm:t>
    </dgm:pt>
    <dgm:pt modelId="{315FE81F-057F-4AA0-B84B-BE7D84C39A2E}" type="pres">
      <dgm:prSet presAssocID="{2A72ECD0-5DB9-4759-A3B1-4BFBDCED3369}" presName="vertSpace2" presStyleLbl="node1" presStyleIdx="0" presStyleCnt="3"/>
      <dgm:spPr/>
    </dgm:pt>
    <dgm:pt modelId="{8692292F-2A88-4D6A-8E1E-41A01C545A62}" type="pres">
      <dgm:prSet presAssocID="{2A72ECD0-5DB9-4759-A3B1-4BFBDCED3369}" presName="circle2" presStyleLbl="node1" presStyleIdx="1" presStyleCnt="3"/>
      <dgm:spPr/>
    </dgm:pt>
    <dgm:pt modelId="{BA943675-2A19-401B-966F-7C41E1400838}" type="pres">
      <dgm:prSet presAssocID="{2A72ECD0-5DB9-4759-A3B1-4BFBDCED3369}" presName="rect2" presStyleLbl="alignAcc1" presStyleIdx="1" presStyleCnt="3"/>
      <dgm:spPr/>
      <dgm:t>
        <a:bodyPr/>
        <a:lstStyle/>
        <a:p>
          <a:endParaRPr lang="zh-CN" altLang="en-US"/>
        </a:p>
      </dgm:t>
    </dgm:pt>
    <dgm:pt modelId="{4C38B85D-4C60-41A7-8362-D783F1A911F6}" type="pres">
      <dgm:prSet presAssocID="{8E11B2CA-33D4-4D12-BC19-763CB8D548F3}" presName="vertSpace3" presStyleLbl="node1" presStyleIdx="1" presStyleCnt="3"/>
      <dgm:spPr/>
    </dgm:pt>
    <dgm:pt modelId="{9754A648-9A6F-4413-B9D0-414625B4E9C0}" type="pres">
      <dgm:prSet presAssocID="{8E11B2CA-33D4-4D12-BC19-763CB8D548F3}" presName="circle3" presStyleLbl="node1" presStyleIdx="2" presStyleCnt="3"/>
      <dgm:spPr/>
    </dgm:pt>
    <dgm:pt modelId="{C8307D51-7E08-4944-A19E-197B6CCE2B6D}" type="pres">
      <dgm:prSet presAssocID="{8E11B2CA-33D4-4D12-BC19-763CB8D548F3}" presName="rect3" presStyleLbl="alignAcc1" presStyleIdx="2" presStyleCnt="3"/>
      <dgm:spPr/>
      <dgm:t>
        <a:bodyPr/>
        <a:lstStyle/>
        <a:p>
          <a:endParaRPr lang="zh-CN" altLang="en-US"/>
        </a:p>
      </dgm:t>
    </dgm:pt>
    <dgm:pt modelId="{BE9947E1-E330-43A8-B55C-A6497B3E22B5}" type="pres">
      <dgm:prSet presAssocID="{1EBDA25B-BC45-4792-B509-D1FB9981905B}" presName="rect1ParTxNoCh" presStyleLbl="alignAcc1" presStyleIdx="2" presStyleCnt="3">
        <dgm:presLayoutVars>
          <dgm:chMax val="1"/>
          <dgm:bulletEnabled val="1"/>
        </dgm:presLayoutVars>
      </dgm:prSet>
      <dgm:spPr/>
      <dgm:t>
        <a:bodyPr/>
        <a:lstStyle/>
        <a:p>
          <a:endParaRPr lang="zh-CN" altLang="en-US"/>
        </a:p>
      </dgm:t>
    </dgm:pt>
    <dgm:pt modelId="{BE1C9ADD-38E2-4D70-A935-620B0DD2A1E5}" type="pres">
      <dgm:prSet presAssocID="{2A72ECD0-5DB9-4759-A3B1-4BFBDCED3369}" presName="rect2ParTxNoCh" presStyleLbl="alignAcc1" presStyleIdx="2" presStyleCnt="3">
        <dgm:presLayoutVars>
          <dgm:chMax val="1"/>
          <dgm:bulletEnabled val="1"/>
        </dgm:presLayoutVars>
      </dgm:prSet>
      <dgm:spPr/>
      <dgm:t>
        <a:bodyPr/>
        <a:lstStyle/>
        <a:p>
          <a:endParaRPr lang="zh-CN" altLang="en-US"/>
        </a:p>
      </dgm:t>
    </dgm:pt>
    <dgm:pt modelId="{11A0FEFF-4082-412D-8FE6-4B0C11327BC5}" type="pres">
      <dgm:prSet presAssocID="{8E11B2CA-33D4-4D12-BC19-763CB8D548F3}" presName="rect3ParTxNoCh" presStyleLbl="alignAcc1" presStyleIdx="2" presStyleCnt="3">
        <dgm:presLayoutVars>
          <dgm:chMax val="1"/>
          <dgm:bulletEnabled val="1"/>
        </dgm:presLayoutVars>
      </dgm:prSet>
      <dgm:spPr/>
      <dgm:t>
        <a:bodyPr/>
        <a:lstStyle/>
        <a:p>
          <a:endParaRPr lang="zh-CN" altLang="en-US"/>
        </a:p>
      </dgm:t>
    </dgm:pt>
  </dgm:ptLst>
  <dgm:cxnLst>
    <dgm:cxn modelId="{CA1F6FD5-702A-408B-AD92-6EFC52307C95}" type="presOf" srcId="{1EBDA25B-BC45-4792-B509-D1FB9981905B}" destId="{BCBD1F02-9AF2-4787-9CE3-453082711039}" srcOrd="0" destOrd="0" presId="urn:microsoft.com/office/officeart/2005/8/layout/target3"/>
    <dgm:cxn modelId="{6C61D3D7-F265-45C6-B06D-2819C71DE001}" type="presOf" srcId="{8E11B2CA-33D4-4D12-BC19-763CB8D548F3}" destId="{C8307D51-7E08-4944-A19E-197B6CCE2B6D}" srcOrd="0" destOrd="0" presId="urn:microsoft.com/office/officeart/2005/8/layout/target3"/>
    <dgm:cxn modelId="{ED3D9E27-C0D2-4352-8D8A-89BEE7740133}" type="presOf" srcId="{D30086BE-501D-49D7-BA11-429D03BC1587}" destId="{3CA7A24D-10F0-4A19-BF49-FE7409D720EE}" srcOrd="0" destOrd="0" presId="urn:microsoft.com/office/officeart/2005/8/layout/target3"/>
    <dgm:cxn modelId="{E24CF343-8990-4F6D-9645-5B8894033F34}" type="presOf" srcId="{2A72ECD0-5DB9-4759-A3B1-4BFBDCED3369}" destId="{BE1C9ADD-38E2-4D70-A935-620B0DD2A1E5}" srcOrd="1" destOrd="0" presId="urn:microsoft.com/office/officeart/2005/8/layout/target3"/>
    <dgm:cxn modelId="{A8DD1E67-1115-437F-B826-40DEA69E5827}" srcId="{D30086BE-501D-49D7-BA11-429D03BC1587}" destId="{8E11B2CA-33D4-4D12-BC19-763CB8D548F3}" srcOrd="2" destOrd="0" parTransId="{83093DC2-7919-46A4-99B4-4B4715867EDD}" sibTransId="{66CA95CB-149C-473E-9967-AA630A096FBF}"/>
    <dgm:cxn modelId="{99940364-7D1F-4871-AC05-A95132D5AE0B}" type="presOf" srcId="{1EBDA25B-BC45-4792-B509-D1FB9981905B}" destId="{BE9947E1-E330-43A8-B55C-A6497B3E22B5}" srcOrd="1" destOrd="0" presId="urn:microsoft.com/office/officeart/2005/8/layout/target3"/>
    <dgm:cxn modelId="{4E5A780C-8034-4236-88F8-BCF9C31B7F20}" type="presOf" srcId="{8E11B2CA-33D4-4D12-BC19-763CB8D548F3}" destId="{11A0FEFF-4082-412D-8FE6-4B0C11327BC5}" srcOrd="1" destOrd="0" presId="urn:microsoft.com/office/officeart/2005/8/layout/target3"/>
    <dgm:cxn modelId="{5A58A3D3-791B-4B34-9AAB-D4A8EE43C99F}" srcId="{D30086BE-501D-49D7-BA11-429D03BC1587}" destId="{1EBDA25B-BC45-4792-B509-D1FB9981905B}" srcOrd="0" destOrd="0" parTransId="{20376E0B-3EED-4655-A8F1-3D73062E8C9B}" sibTransId="{86512425-8A0F-459B-A67A-22477F9FA594}"/>
    <dgm:cxn modelId="{03AC6BB9-E70A-426B-8778-93A5C52BE9DE}" type="presOf" srcId="{2A72ECD0-5DB9-4759-A3B1-4BFBDCED3369}" destId="{BA943675-2A19-401B-966F-7C41E1400838}" srcOrd="0" destOrd="0" presId="urn:microsoft.com/office/officeart/2005/8/layout/target3"/>
    <dgm:cxn modelId="{783253E5-4EC5-4469-BB93-4FA557EEE25C}" srcId="{D30086BE-501D-49D7-BA11-429D03BC1587}" destId="{2A72ECD0-5DB9-4759-A3B1-4BFBDCED3369}" srcOrd="1" destOrd="0" parTransId="{B11D93C6-8C7D-4109-A13E-72D5BDFE1C9D}" sibTransId="{DBA11054-F7D3-4A99-8B4A-65F9AC71E966}"/>
    <dgm:cxn modelId="{7E061621-2AFF-499D-8E12-A8BDAF9020F2}" type="presParOf" srcId="{3CA7A24D-10F0-4A19-BF49-FE7409D720EE}" destId="{289A6C2A-FB47-4288-A8C0-01CCC3B35B6E}" srcOrd="0" destOrd="0" presId="urn:microsoft.com/office/officeart/2005/8/layout/target3"/>
    <dgm:cxn modelId="{49C9191A-6608-4E25-A625-D9F7A2E0E9FA}" type="presParOf" srcId="{3CA7A24D-10F0-4A19-BF49-FE7409D720EE}" destId="{44E14107-FE64-4FA0-AF20-7E1B78365079}" srcOrd="1" destOrd="0" presId="urn:microsoft.com/office/officeart/2005/8/layout/target3"/>
    <dgm:cxn modelId="{22C2B57C-3665-449A-9BDF-50576DF59187}" type="presParOf" srcId="{3CA7A24D-10F0-4A19-BF49-FE7409D720EE}" destId="{BCBD1F02-9AF2-4787-9CE3-453082711039}" srcOrd="2" destOrd="0" presId="urn:microsoft.com/office/officeart/2005/8/layout/target3"/>
    <dgm:cxn modelId="{D32AB4EC-9FE0-4ED5-AE5F-8566509A1CD1}" type="presParOf" srcId="{3CA7A24D-10F0-4A19-BF49-FE7409D720EE}" destId="{315FE81F-057F-4AA0-B84B-BE7D84C39A2E}" srcOrd="3" destOrd="0" presId="urn:microsoft.com/office/officeart/2005/8/layout/target3"/>
    <dgm:cxn modelId="{D1D6D17E-DCF0-41F7-BCBF-97CD9B4E96A2}" type="presParOf" srcId="{3CA7A24D-10F0-4A19-BF49-FE7409D720EE}" destId="{8692292F-2A88-4D6A-8E1E-41A01C545A62}" srcOrd="4" destOrd="0" presId="urn:microsoft.com/office/officeart/2005/8/layout/target3"/>
    <dgm:cxn modelId="{41655EC0-38F6-457D-87C0-620DC34A9420}" type="presParOf" srcId="{3CA7A24D-10F0-4A19-BF49-FE7409D720EE}" destId="{BA943675-2A19-401B-966F-7C41E1400838}" srcOrd="5" destOrd="0" presId="urn:microsoft.com/office/officeart/2005/8/layout/target3"/>
    <dgm:cxn modelId="{B6A5F2DB-A613-4B65-AC74-04F7ED68C0FE}" type="presParOf" srcId="{3CA7A24D-10F0-4A19-BF49-FE7409D720EE}" destId="{4C38B85D-4C60-41A7-8362-D783F1A911F6}" srcOrd="6" destOrd="0" presId="urn:microsoft.com/office/officeart/2005/8/layout/target3"/>
    <dgm:cxn modelId="{16C1C8A6-920A-4157-B2F3-CA6F15D7BBFE}" type="presParOf" srcId="{3CA7A24D-10F0-4A19-BF49-FE7409D720EE}" destId="{9754A648-9A6F-4413-B9D0-414625B4E9C0}" srcOrd="7" destOrd="0" presId="urn:microsoft.com/office/officeart/2005/8/layout/target3"/>
    <dgm:cxn modelId="{1092EC05-D589-4563-990A-EA74F5DFBAE9}" type="presParOf" srcId="{3CA7A24D-10F0-4A19-BF49-FE7409D720EE}" destId="{C8307D51-7E08-4944-A19E-197B6CCE2B6D}" srcOrd="8" destOrd="0" presId="urn:microsoft.com/office/officeart/2005/8/layout/target3"/>
    <dgm:cxn modelId="{588CB684-587D-4570-9E9C-DEA3D9F61855}" type="presParOf" srcId="{3CA7A24D-10F0-4A19-BF49-FE7409D720EE}" destId="{BE9947E1-E330-43A8-B55C-A6497B3E22B5}" srcOrd="9" destOrd="0" presId="urn:microsoft.com/office/officeart/2005/8/layout/target3"/>
    <dgm:cxn modelId="{E4569BD5-1CA0-4BE1-9062-076D9B8BD660}" type="presParOf" srcId="{3CA7A24D-10F0-4A19-BF49-FE7409D720EE}" destId="{BE1C9ADD-38E2-4D70-A935-620B0DD2A1E5}" srcOrd="10" destOrd="0" presId="urn:microsoft.com/office/officeart/2005/8/layout/target3"/>
    <dgm:cxn modelId="{5264F69A-9D12-4160-895C-780E04564D8A}" type="presParOf" srcId="{3CA7A24D-10F0-4A19-BF49-FE7409D720EE}" destId="{11A0FEFF-4082-412D-8FE6-4B0C11327BC5}"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9A6C2A-FB47-4288-A8C0-01CCC3B35B6E}">
      <dsp:nvSpPr>
        <dsp:cNvPr id="0" name=""/>
        <dsp:cNvSpPr/>
      </dsp:nvSpPr>
      <dsp:spPr>
        <a:xfrm>
          <a:off x="0" y="203199"/>
          <a:ext cx="3657600" cy="3657600"/>
        </a:xfrm>
        <a:prstGeom prst="pie">
          <a:avLst>
            <a:gd name="adj1" fmla="val 5400000"/>
            <a:gd name="adj2" fmla="val 1620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CBD1F02-9AF2-4787-9CE3-453082711039}">
      <dsp:nvSpPr>
        <dsp:cNvPr id="0" name=""/>
        <dsp:cNvSpPr/>
      </dsp:nvSpPr>
      <dsp:spPr>
        <a:xfrm>
          <a:off x="1828800" y="203199"/>
          <a:ext cx="4267200" cy="3657600"/>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zh-CN" altLang="en-US" sz="2400" b="1" kern="1200" dirty="0" smtClean="0"/>
            <a:t>对于请求表中的要求内存长度，从可用表或自由链中寻找出合适的空闲区分配程序。</a:t>
          </a:r>
          <a:endParaRPr lang="zh-CN" altLang="en-US" sz="2400" b="1" kern="1200" dirty="0"/>
        </a:p>
      </dsp:txBody>
      <dsp:txXfrm>
        <a:off x="1828800" y="203199"/>
        <a:ext cx="4267200" cy="1097282"/>
      </dsp:txXfrm>
    </dsp:sp>
    <dsp:sp modelId="{8692292F-2A88-4D6A-8E1E-41A01C545A62}">
      <dsp:nvSpPr>
        <dsp:cNvPr id="0" name=""/>
        <dsp:cNvSpPr/>
      </dsp:nvSpPr>
      <dsp:spPr>
        <a:xfrm>
          <a:off x="640081" y="1300482"/>
          <a:ext cx="2377437" cy="2377437"/>
        </a:xfrm>
        <a:prstGeom prst="pie">
          <a:avLst>
            <a:gd name="adj1" fmla="val 5400000"/>
            <a:gd name="adj2" fmla="val 16200000"/>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A943675-2A19-401B-966F-7C41E1400838}">
      <dsp:nvSpPr>
        <dsp:cNvPr id="0" name=""/>
        <dsp:cNvSpPr/>
      </dsp:nvSpPr>
      <dsp:spPr>
        <a:xfrm>
          <a:off x="1828800" y="1300482"/>
          <a:ext cx="4267200" cy="2377437"/>
        </a:xfrm>
        <a:prstGeom prst="rect">
          <a:avLst/>
        </a:prstGeom>
        <a:solidFill>
          <a:schemeClr val="lt1">
            <a:alpha val="90000"/>
            <a:hueOff val="0"/>
            <a:satOff val="0"/>
            <a:lumOff val="0"/>
            <a:alphaOff val="0"/>
          </a:schemeClr>
        </a:solidFill>
        <a:ln w="9525" cap="flat" cmpd="sng" algn="ctr">
          <a:solidFill>
            <a:schemeClr val="accent4">
              <a:hueOff val="-2232385"/>
              <a:satOff val="13449"/>
              <a:lumOff val="1078"/>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zh-CN" altLang="en-US" sz="2400" b="1" kern="1200" dirty="0" smtClean="0"/>
            <a:t>分配空闲区之后，更新可用表或自由链</a:t>
          </a:r>
          <a:endParaRPr lang="zh-CN" altLang="en-US" sz="2400" b="1" kern="1200" dirty="0"/>
        </a:p>
      </dsp:txBody>
      <dsp:txXfrm>
        <a:off x="1828800" y="1300482"/>
        <a:ext cx="4267200" cy="1097278"/>
      </dsp:txXfrm>
    </dsp:sp>
    <dsp:sp modelId="{9754A648-9A6F-4413-B9D0-414625B4E9C0}">
      <dsp:nvSpPr>
        <dsp:cNvPr id="0" name=""/>
        <dsp:cNvSpPr/>
      </dsp:nvSpPr>
      <dsp:spPr>
        <a:xfrm>
          <a:off x="1280160" y="2397761"/>
          <a:ext cx="1097278" cy="1097278"/>
        </a:xfrm>
        <a:prstGeom prst="pie">
          <a:avLst>
            <a:gd name="adj1" fmla="val 5400000"/>
            <a:gd name="adj2" fmla="val 16200000"/>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C8307D51-7E08-4944-A19E-197B6CCE2B6D}">
      <dsp:nvSpPr>
        <dsp:cNvPr id="0" name=""/>
        <dsp:cNvSpPr/>
      </dsp:nvSpPr>
      <dsp:spPr>
        <a:xfrm>
          <a:off x="1828800" y="2397761"/>
          <a:ext cx="4267200" cy="1097278"/>
        </a:xfrm>
        <a:prstGeom prst="rect">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zh-CN" altLang="en-US" sz="2400" b="1" kern="1200" dirty="0" smtClean="0"/>
            <a:t>进程或作业释放内存资源时，和相邻的空闲区进行链接合并，更新可用表或自由链。</a:t>
          </a:r>
          <a:endParaRPr lang="zh-CN" altLang="en-US" sz="2400" b="1" kern="1200" dirty="0"/>
        </a:p>
      </dsp:txBody>
      <dsp:txXfrm>
        <a:off x="1828800" y="2397761"/>
        <a:ext cx="4267200" cy="1097278"/>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E70C7-2C26-4505-8578-4D978357873D}"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63B0A5-B27C-4FBD-B1E5-E777625DAE1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29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32</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35</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39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40</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41</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42</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43</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44</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45</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46</a:t>
            </a:fld>
            <a:endParaRPr lang="zh-CN" altLang="en-US"/>
          </a:p>
        </p:txBody>
      </p:sp>
    </p:spTree>
    <p:extLst>
      <p:ext uri="{BB962C8B-B14F-4D97-AF65-F5344CB8AC3E}">
        <p14:creationId xmlns:p14="http://schemas.microsoft.com/office/powerpoint/2010/main" val="1625338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47</a:t>
            </a:fld>
            <a:endParaRPr lang="zh-CN" altLang="en-US"/>
          </a:p>
        </p:txBody>
      </p:sp>
    </p:spTree>
    <p:extLst>
      <p:ext uri="{BB962C8B-B14F-4D97-AF65-F5344CB8AC3E}">
        <p14:creationId xmlns:p14="http://schemas.microsoft.com/office/powerpoint/2010/main" val="27544511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48</a:t>
            </a:fld>
            <a:endParaRPr lang="zh-CN" altLang="en-US"/>
          </a:p>
        </p:txBody>
      </p:sp>
    </p:spTree>
    <p:extLst>
      <p:ext uri="{BB962C8B-B14F-4D97-AF65-F5344CB8AC3E}">
        <p14:creationId xmlns:p14="http://schemas.microsoft.com/office/powerpoint/2010/main" val="5764932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49</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50</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51</a:t>
            </a:fld>
            <a:endParaRPr lang="zh-CN" altLang="en-US"/>
          </a:p>
        </p:txBody>
      </p:sp>
    </p:spTree>
    <p:extLst>
      <p:ext uri="{BB962C8B-B14F-4D97-AF65-F5344CB8AC3E}">
        <p14:creationId xmlns:p14="http://schemas.microsoft.com/office/powerpoint/2010/main" val="38115538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52</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53</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54</a:t>
            </a:fld>
            <a:endParaRPr lang="zh-CN" altLang="en-US"/>
          </a:p>
        </p:txBody>
      </p:sp>
    </p:spTree>
    <p:extLst>
      <p:ext uri="{BB962C8B-B14F-4D97-AF65-F5344CB8AC3E}">
        <p14:creationId xmlns:p14="http://schemas.microsoft.com/office/powerpoint/2010/main" val="32274927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55</a:t>
            </a:fld>
            <a:endParaRPr lang="zh-CN" altLang="en-US"/>
          </a:p>
        </p:txBody>
      </p:sp>
    </p:spTree>
    <p:extLst>
      <p:ext uri="{BB962C8B-B14F-4D97-AF65-F5344CB8AC3E}">
        <p14:creationId xmlns:p14="http://schemas.microsoft.com/office/powerpoint/2010/main" val="4056570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56</a:t>
            </a:fld>
            <a:endParaRPr lang="zh-CN" altLang="en-US"/>
          </a:p>
        </p:txBody>
      </p:sp>
    </p:spTree>
    <p:extLst>
      <p:ext uri="{BB962C8B-B14F-4D97-AF65-F5344CB8AC3E}">
        <p14:creationId xmlns:p14="http://schemas.microsoft.com/office/powerpoint/2010/main" val="9466461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57</a:t>
            </a:fld>
            <a:endParaRPr lang="zh-CN" altLang="en-US"/>
          </a:p>
        </p:txBody>
      </p:sp>
    </p:spTree>
    <p:extLst>
      <p:ext uri="{BB962C8B-B14F-4D97-AF65-F5344CB8AC3E}">
        <p14:creationId xmlns:p14="http://schemas.microsoft.com/office/powerpoint/2010/main" val="14861593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58</a:t>
            </a:fld>
            <a:endParaRPr lang="zh-CN" altLang="en-US"/>
          </a:p>
        </p:txBody>
      </p:sp>
    </p:spTree>
    <p:extLst>
      <p:ext uri="{BB962C8B-B14F-4D97-AF65-F5344CB8AC3E}">
        <p14:creationId xmlns:p14="http://schemas.microsoft.com/office/powerpoint/2010/main" val="4518737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59</a:t>
            </a:fld>
            <a:endParaRPr lang="zh-CN" altLang="en-US"/>
          </a:p>
        </p:txBody>
      </p:sp>
    </p:spTree>
    <p:extLst>
      <p:ext uri="{BB962C8B-B14F-4D97-AF65-F5344CB8AC3E}">
        <p14:creationId xmlns:p14="http://schemas.microsoft.com/office/powerpoint/2010/main" val="2049754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60</a:t>
            </a:fld>
            <a:endParaRPr lang="zh-CN" altLang="en-US"/>
          </a:p>
        </p:txBody>
      </p:sp>
    </p:spTree>
    <p:extLst>
      <p:ext uri="{BB962C8B-B14F-4D97-AF65-F5344CB8AC3E}">
        <p14:creationId xmlns:p14="http://schemas.microsoft.com/office/powerpoint/2010/main" val="16771769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61</a:t>
            </a:fld>
            <a:endParaRPr lang="zh-CN" altLang="en-US"/>
          </a:p>
        </p:txBody>
      </p:sp>
    </p:spTree>
    <p:extLst>
      <p:ext uri="{BB962C8B-B14F-4D97-AF65-F5344CB8AC3E}">
        <p14:creationId xmlns:p14="http://schemas.microsoft.com/office/powerpoint/2010/main" val="41344546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62</a:t>
            </a:fld>
            <a:endParaRPr lang="zh-CN" altLang="en-US"/>
          </a:p>
        </p:txBody>
      </p:sp>
    </p:spTree>
    <p:extLst>
      <p:ext uri="{BB962C8B-B14F-4D97-AF65-F5344CB8AC3E}">
        <p14:creationId xmlns:p14="http://schemas.microsoft.com/office/powerpoint/2010/main" val="21210653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63</a:t>
            </a:fld>
            <a:endParaRPr lang="zh-CN" altLang="en-US"/>
          </a:p>
        </p:txBody>
      </p:sp>
    </p:spTree>
    <p:extLst>
      <p:ext uri="{BB962C8B-B14F-4D97-AF65-F5344CB8AC3E}">
        <p14:creationId xmlns:p14="http://schemas.microsoft.com/office/powerpoint/2010/main" val="11168922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64</a:t>
            </a:fld>
            <a:endParaRPr lang="zh-CN" altLang="en-US"/>
          </a:p>
        </p:txBody>
      </p:sp>
    </p:spTree>
    <p:extLst>
      <p:ext uri="{BB962C8B-B14F-4D97-AF65-F5344CB8AC3E}">
        <p14:creationId xmlns:p14="http://schemas.microsoft.com/office/powerpoint/2010/main" val="13774806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65</a:t>
            </a:fld>
            <a:endParaRPr lang="zh-CN" altLang="en-US"/>
          </a:p>
        </p:txBody>
      </p:sp>
    </p:spTree>
    <p:extLst>
      <p:ext uri="{BB962C8B-B14F-4D97-AF65-F5344CB8AC3E}">
        <p14:creationId xmlns:p14="http://schemas.microsoft.com/office/powerpoint/2010/main" val="36417130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66</a:t>
            </a:fld>
            <a:endParaRPr lang="zh-CN" altLang="en-US"/>
          </a:p>
        </p:txBody>
      </p:sp>
    </p:spTree>
    <p:extLst>
      <p:ext uri="{BB962C8B-B14F-4D97-AF65-F5344CB8AC3E}">
        <p14:creationId xmlns:p14="http://schemas.microsoft.com/office/powerpoint/2010/main" val="3685275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67</a:t>
            </a:fld>
            <a:endParaRPr lang="zh-CN" altLang="en-US"/>
          </a:p>
        </p:txBody>
      </p:sp>
    </p:spTree>
    <p:extLst>
      <p:ext uri="{BB962C8B-B14F-4D97-AF65-F5344CB8AC3E}">
        <p14:creationId xmlns:p14="http://schemas.microsoft.com/office/powerpoint/2010/main" val="18193198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68</a:t>
            </a:fld>
            <a:endParaRPr lang="zh-CN" altLang="en-US"/>
          </a:p>
        </p:txBody>
      </p:sp>
    </p:spTree>
    <p:extLst>
      <p:ext uri="{BB962C8B-B14F-4D97-AF65-F5344CB8AC3E}">
        <p14:creationId xmlns:p14="http://schemas.microsoft.com/office/powerpoint/2010/main" val="7906932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69</a:t>
            </a:fld>
            <a:endParaRPr lang="zh-CN" altLang="en-US"/>
          </a:p>
        </p:txBody>
      </p:sp>
    </p:spTree>
    <p:extLst>
      <p:ext uri="{BB962C8B-B14F-4D97-AF65-F5344CB8AC3E}">
        <p14:creationId xmlns:p14="http://schemas.microsoft.com/office/powerpoint/2010/main" val="40821918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70</a:t>
            </a:fld>
            <a:endParaRPr lang="zh-CN" altLang="en-US"/>
          </a:p>
        </p:txBody>
      </p:sp>
    </p:spTree>
    <p:extLst>
      <p:ext uri="{BB962C8B-B14F-4D97-AF65-F5344CB8AC3E}">
        <p14:creationId xmlns:p14="http://schemas.microsoft.com/office/powerpoint/2010/main" val="26352342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71</a:t>
            </a:fld>
            <a:endParaRPr lang="zh-CN" altLang="en-US"/>
          </a:p>
        </p:txBody>
      </p:sp>
    </p:spTree>
    <p:extLst>
      <p:ext uri="{BB962C8B-B14F-4D97-AF65-F5344CB8AC3E}">
        <p14:creationId xmlns:p14="http://schemas.microsoft.com/office/powerpoint/2010/main" val="1512708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72</a:t>
            </a:fld>
            <a:endParaRPr lang="zh-CN" altLang="en-US"/>
          </a:p>
        </p:txBody>
      </p:sp>
    </p:spTree>
    <p:extLst>
      <p:ext uri="{BB962C8B-B14F-4D97-AF65-F5344CB8AC3E}">
        <p14:creationId xmlns:p14="http://schemas.microsoft.com/office/powerpoint/2010/main" val="40078417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73</a:t>
            </a:fld>
            <a:endParaRPr lang="zh-CN" altLang="en-US"/>
          </a:p>
        </p:txBody>
      </p:sp>
    </p:spTree>
    <p:extLst>
      <p:ext uri="{BB962C8B-B14F-4D97-AF65-F5344CB8AC3E}">
        <p14:creationId xmlns:p14="http://schemas.microsoft.com/office/powerpoint/2010/main" val="4760024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74</a:t>
            </a:fld>
            <a:endParaRPr lang="zh-CN" altLang="en-US"/>
          </a:p>
        </p:txBody>
      </p:sp>
    </p:spTree>
    <p:extLst>
      <p:ext uri="{BB962C8B-B14F-4D97-AF65-F5344CB8AC3E}">
        <p14:creationId xmlns:p14="http://schemas.microsoft.com/office/powerpoint/2010/main" val="28905326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75</a:t>
            </a:fld>
            <a:endParaRPr lang="zh-CN" altLang="en-US"/>
          </a:p>
        </p:txBody>
      </p:sp>
    </p:spTree>
    <p:extLst>
      <p:ext uri="{BB962C8B-B14F-4D97-AF65-F5344CB8AC3E}">
        <p14:creationId xmlns:p14="http://schemas.microsoft.com/office/powerpoint/2010/main" val="41927768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76</a:t>
            </a:fld>
            <a:endParaRPr lang="zh-CN" altLang="en-US"/>
          </a:p>
        </p:txBody>
      </p:sp>
    </p:spTree>
    <p:extLst>
      <p:ext uri="{BB962C8B-B14F-4D97-AF65-F5344CB8AC3E}">
        <p14:creationId xmlns:p14="http://schemas.microsoft.com/office/powerpoint/2010/main" val="39737251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77</a:t>
            </a:fld>
            <a:endParaRPr lang="zh-CN" altLang="en-US"/>
          </a:p>
        </p:txBody>
      </p:sp>
    </p:spTree>
    <p:extLst>
      <p:ext uri="{BB962C8B-B14F-4D97-AF65-F5344CB8AC3E}">
        <p14:creationId xmlns:p14="http://schemas.microsoft.com/office/powerpoint/2010/main" val="34043923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78</a:t>
            </a:fld>
            <a:endParaRPr lang="zh-CN" altLang="en-US"/>
          </a:p>
        </p:txBody>
      </p:sp>
    </p:spTree>
    <p:extLst>
      <p:ext uri="{BB962C8B-B14F-4D97-AF65-F5344CB8AC3E}">
        <p14:creationId xmlns:p14="http://schemas.microsoft.com/office/powerpoint/2010/main" val="12079335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79</a:t>
            </a:fld>
            <a:endParaRPr lang="zh-CN" altLang="en-US"/>
          </a:p>
        </p:txBody>
      </p:sp>
    </p:spTree>
    <p:extLst>
      <p:ext uri="{BB962C8B-B14F-4D97-AF65-F5344CB8AC3E}">
        <p14:creationId xmlns:p14="http://schemas.microsoft.com/office/powerpoint/2010/main" val="6942482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80</a:t>
            </a:fld>
            <a:endParaRPr lang="zh-CN" altLang="en-US"/>
          </a:p>
        </p:txBody>
      </p:sp>
    </p:spTree>
    <p:extLst>
      <p:ext uri="{BB962C8B-B14F-4D97-AF65-F5344CB8AC3E}">
        <p14:creationId xmlns:p14="http://schemas.microsoft.com/office/powerpoint/2010/main" val="30923561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81</a:t>
            </a:fld>
            <a:endParaRPr lang="zh-CN" altLang="en-US"/>
          </a:p>
        </p:txBody>
      </p:sp>
    </p:spTree>
    <p:extLst>
      <p:ext uri="{BB962C8B-B14F-4D97-AF65-F5344CB8AC3E}">
        <p14:creationId xmlns:p14="http://schemas.microsoft.com/office/powerpoint/2010/main" val="40486343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82</a:t>
            </a:fld>
            <a:endParaRPr lang="zh-CN" altLang="en-US"/>
          </a:p>
        </p:txBody>
      </p:sp>
    </p:spTree>
    <p:extLst>
      <p:ext uri="{BB962C8B-B14F-4D97-AF65-F5344CB8AC3E}">
        <p14:creationId xmlns:p14="http://schemas.microsoft.com/office/powerpoint/2010/main" val="13755583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83</a:t>
            </a:fld>
            <a:endParaRPr lang="zh-CN" altLang="en-US"/>
          </a:p>
        </p:txBody>
      </p:sp>
    </p:spTree>
    <p:extLst>
      <p:ext uri="{BB962C8B-B14F-4D97-AF65-F5344CB8AC3E}">
        <p14:creationId xmlns:p14="http://schemas.microsoft.com/office/powerpoint/2010/main" val="7019154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84</a:t>
            </a:fld>
            <a:endParaRPr lang="zh-CN" altLang="en-US"/>
          </a:p>
        </p:txBody>
      </p:sp>
    </p:spTree>
    <p:extLst>
      <p:ext uri="{BB962C8B-B14F-4D97-AF65-F5344CB8AC3E}">
        <p14:creationId xmlns:p14="http://schemas.microsoft.com/office/powerpoint/2010/main" val="40954191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85</a:t>
            </a:fld>
            <a:endParaRPr lang="zh-CN" altLang="en-US"/>
          </a:p>
        </p:txBody>
      </p:sp>
    </p:spTree>
    <p:extLst>
      <p:ext uri="{BB962C8B-B14F-4D97-AF65-F5344CB8AC3E}">
        <p14:creationId xmlns:p14="http://schemas.microsoft.com/office/powerpoint/2010/main" val="17086369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86</a:t>
            </a:fld>
            <a:endParaRPr lang="zh-CN" altLang="en-US"/>
          </a:p>
        </p:txBody>
      </p:sp>
    </p:spTree>
    <p:extLst>
      <p:ext uri="{BB962C8B-B14F-4D97-AF65-F5344CB8AC3E}">
        <p14:creationId xmlns:p14="http://schemas.microsoft.com/office/powerpoint/2010/main" val="2965796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87</a:t>
            </a:fld>
            <a:endParaRPr lang="zh-CN" altLang="en-US"/>
          </a:p>
        </p:txBody>
      </p:sp>
    </p:spTree>
    <p:extLst>
      <p:ext uri="{BB962C8B-B14F-4D97-AF65-F5344CB8AC3E}">
        <p14:creationId xmlns:p14="http://schemas.microsoft.com/office/powerpoint/2010/main" val="181742392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88</a:t>
            </a:fld>
            <a:endParaRPr lang="zh-CN" altLang="en-US"/>
          </a:p>
        </p:txBody>
      </p:sp>
    </p:spTree>
    <p:extLst>
      <p:ext uri="{BB962C8B-B14F-4D97-AF65-F5344CB8AC3E}">
        <p14:creationId xmlns:p14="http://schemas.microsoft.com/office/powerpoint/2010/main" val="8171589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89</a:t>
            </a:fld>
            <a:endParaRPr lang="zh-CN" altLang="en-US"/>
          </a:p>
        </p:txBody>
      </p:sp>
    </p:spTree>
    <p:extLst>
      <p:ext uri="{BB962C8B-B14F-4D97-AF65-F5344CB8AC3E}">
        <p14:creationId xmlns:p14="http://schemas.microsoft.com/office/powerpoint/2010/main" val="23592570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90</a:t>
            </a:fld>
            <a:endParaRPr lang="zh-CN" altLang="en-US"/>
          </a:p>
        </p:txBody>
      </p:sp>
    </p:spTree>
    <p:extLst>
      <p:ext uri="{BB962C8B-B14F-4D97-AF65-F5344CB8AC3E}">
        <p14:creationId xmlns:p14="http://schemas.microsoft.com/office/powerpoint/2010/main" val="78394761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91</a:t>
            </a:fld>
            <a:endParaRPr lang="zh-CN" altLang="en-US"/>
          </a:p>
        </p:txBody>
      </p:sp>
    </p:spTree>
    <p:extLst>
      <p:ext uri="{BB962C8B-B14F-4D97-AF65-F5344CB8AC3E}">
        <p14:creationId xmlns:p14="http://schemas.microsoft.com/office/powerpoint/2010/main" val="40314345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92</a:t>
            </a:fld>
            <a:endParaRPr lang="zh-CN" altLang="en-US"/>
          </a:p>
        </p:txBody>
      </p:sp>
    </p:spTree>
    <p:extLst>
      <p:ext uri="{BB962C8B-B14F-4D97-AF65-F5344CB8AC3E}">
        <p14:creationId xmlns:p14="http://schemas.microsoft.com/office/powerpoint/2010/main" val="366429681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93</a:t>
            </a:fld>
            <a:endParaRPr lang="zh-CN" altLang="en-US"/>
          </a:p>
        </p:txBody>
      </p:sp>
    </p:spTree>
    <p:extLst>
      <p:ext uri="{BB962C8B-B14F-4D97-AF65-F5344CB8AC3E}">
        <p14:creationId xmlns:p14="http://schemas.microsoft.com/office/powerpoint/2010/main" val="398170800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95</a:t>
            </a:fld>
            <a:endParaRPr lang="zh-CN" altLang="en-US"/>
          </a:p>
        </p:txBody>
      </p:sp>
    </p:spTree>
    <p:extLst>
      <p:ext uri="{BB962C8B-B14F-4D97-AF65-F5344CB8AC3E}">
        <p14:creationId xmlns:p14="http://schemas.microsoft.com/office/powerpoint/2010/main" val="42816576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96</a:t>
            </a:fld>
            <a:endParaRPr lang="zh-CN" altLang="en-US"/>
          </a:p>
        </p:txBody>
      </p:sp>
    </p:spTree>
    <p:extLst>
      <p:ext uri="{BB962C8B-B14F-4D97-AF65-F5344CB8AC3E}">
        <p14:creationId xmlns:p14="http://schemas.microsoft.com/office/powerpoint/2010/main" val="182919266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97</a:t>
            </a:fld>
            <a:endParaRPr lang="zh-CN" altLang="en-US"/>
          </a:p>
        </p:txBody>
      </p:sp>
    </p:spTree>
    <p:extLst>
      <p:ext uri="{BB962C8B-B14F-4D97-AF65-F5344CB8AC3E}">
        <p14:creationId xmlns:p14="http://schemas.microsoft.com/office/powerpoint/2010/main" val="15221942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98</a:t>
            </a:fld>
            <a:endParaRPr lang="zh-CN" altLang="en-US"/>
          </a:p>
        </p:txBody>
      </p:sp>
    </p:spTree>
    <p:extLst>
      <p:ext uri="{BB962C8B-B14F-4D97-AF65-F5344CB8AC3E}">
        <p14:creationId xmlns:p14="http://schemas.microsoft.com/office/powerpoint/2010/main" val="24281828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99</a:t>
            </a:fld>
            <a:endParaRPr lang="zh-CN" altLang="en-US"/>
          </a:p>
        </p:txBody>
      </p:sp>
    </p:spTree>
    <p:extLst>
      <p:ext uri="{BB962C8B-B14F-4D97-AF65-F5344CB8AC3E}">
        <p14:creationId xmlns:p14="http://schemas.microsoft.com/office/powerpoint/2010/main" val="3418110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100</a:t>
            </a:fld>
            <a:endParaRPr lang="zh-CN" altLang="en-US"/>
          </a:p>
        </p:txBody>
      </p:sp>
    </p:spTree>
    <p:extLst>
      <p:ext uri="{BB962C8B-B14F-4D97-AF65-F5344CB8AC3E}">
        <p14:creationId xmlns:p14="http://schemas.microsoft.com/office/powerpoint/2010/main" val="267611528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101</a:t>
            </a:fld>
            <a:endParaRPr lang="zh-CN" altLang="en-US"/>
          </a:p>
        </p:txBody>
      </p:sp>
    </p:spTree>
    <p:extLst>
      <p:ext uri="{BB962C8B-B14F-4D97-AF65-F5344CB8AC3E}">
        <p14:creationId xmlns:p14="http://schemas.microsoft.com/office/powerpoint/2010/main" val="32486461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102</a:t>
            </a:fld>
            <a:endParaRPr lang="zh-CN" altLang="en-US"/>
          </a:p>
        </p:txBody>
      </p:sp>
    </p:spTree>
    <p:extLst>
      <p:ext uri="{BB962C8B-B14F-4D97-AF65-F5344CB8AC3E}">
        <p14:creationId xmlns:p14="http://schemas.microsoft.com/office/powerpoint/2010/main" val="17884449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103</a:t>
            </a:fld>
            <a:endParaRPr lang="zh-CN" altLang="en-US"/>
          </a:p>
        </p:txBody>
      </p:sp>
    </p:spTree>
    <p:extLst>
      <p:ext uri="{BB962C8B-B14F-4D97-AF65-F5344CB8AC3E}">
        <p14:creationId xmlns:p14="http://schemas.microsoft.com/office/powerpoint/2010/main" val="106051194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104</a:t>
            </a:fld>
            <a:endParaRPr lang="zh-CN" altLang="en-US"/>
          </a:p>
        </p:txBody>
      </p:sp>
    </p:spTree>
    <p:extLst>
      <p:ext uri="{BB962C8B-B14F-4D97-AF65-F5344CB8AC3E}">
        <p14:creationId xmlns:p14="http://schemas.microsoft.com/office/powerpoint/2010/main" val="187341665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105</a:t>
            </a:fld>
            <a:endParaRPr lang="zh-CN" altLang="en-US"/>
          </a:p>
        </p:txBody>
      </p:sp>
    </p:spTree>
    <p:extLst>
      <p:ext uri="{BB962C8B-B14F-4D97-AF65-F5344CB8AC3E}">
        <p14:creationId xmlns:p14="http://schemas.microsoft.com/office/powerpoint/2010/main" val="363480383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106</a:t>
            </a:fld>
            <a:endParaRPr lang="zh-CN" altLang="en-US"/>
          </a:p>
        </p:txBody>
      </p:sp>
    </p:spTree>
    <p:extLst>
      <p:ext uri="{BB962C8B-B14F-4D97-AF65-F5344CB8AC3E}">
        <p14:creationId xmlns:p14="http://schemas.microsoft.com/office/powerpoint/2010/main" val="24925254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107</a:t>
            </a:fld>
            <a:endParaRPr lang="zh-CN" altLang="en-US"/>
          </a:p>
        </p:txBody>
      </p:sp>
    </p:spTree>
    <p:extLst>
      <p:ext uri="{BB962C8B-B14F-4D97-AF65-F5344CB8AC3E}">
        <p14:creationId xmlns:p14="http://schemas.microsoft.com/office/powerpoint/2010/main" val="361584356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108</a:t>
            </a:fld>
            <a:endParaRPr lang="zh-CN" altLang="en-US"/>
          </a:p>
        </p:txBody>
      </p:sp>
    </p:spTree>
    <p:extLst>
      <p:ext uri="{BB962C8B-B14F-4D97-AF65-F5344CB8AC3E}">
        <p14:creationId xmlns:p14="http://schemas.microsoft.com/office/powerpoint/2010/main" val="205401286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109</a:t>
            </a:fld>
            <a:endParaRPr lang="zh-CN" altLang="en-US"/>
          </a:p>
        </p:txBody>
      </p:sp>
    </p:spTree>
    <p:extLst>
      <p:ext uri="{BB962C8B-B14F-4D97-AF65-F5344CB8AC3E}">
        <p14:creationId xmlns:p14="http://schemas.microsoft.com/office/powerpoint/2010/main" val="83382496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110</a:t>
            </a:fld>
            <a:endParaRPr lang="zh-CN" altLang="en-US"/>
          </a:p>
        </p:txBody>
      </p:sp>
    </p:spTree>
    <p:extLst>
      <p:ext uri="{BB962C8B-B14F-4D97-AF65-F5344CB8AC3E}">
        <p14:creationId xmlns:p14="http://schemas.microsoft.com/office/powerpoint/2010/main" val="370837418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111</a:t>
            </a:fld>
            <a:endParaRPr lang="zh-CN" altLang="en-US"/>
          </a:p>
        </p:txBody>
      </p:sp>
    </p:spTree>
    <p:extLst>
      <p:ext uri="{BB962C8B-B14F-4D97-AF65-F5344CB8AC3E}">
        <p14:creationId xmlns:p14="http://schemas.microsoft.com/office/powerpoint/2010/main" val="289720862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112</a:t>
            </a:fld>
            <a:endParaRPr lang="zh-CN" altLang="en-US"/>
          </a:p>
        </p:txBody>
      </p:sp>
    </p:spTree>
    <p:extLst>
      <p:ext uri="{BB962C8B-B14F-4D97-AF65-F5344CB8AC3E}">
        <p14:creationId xmlns:p14="http://schemas.microsoft.com/office/powerpoint/2010/main" val="21130456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113</a:t>
            </a:fld>
            <a:endParaRPr lang="zh-CN" altLang="en-US"/>
          </a:p>
        </p:txBody>
      </p:sp>
    </p:spTree>
    <p:extLst>
      <p:ext uri="{BB962C8B-B14F-4D97-AF65-F5344CB8AC3E}">
        <p14:creationId xmlns:p14="http://schemas.microsoft.com/office/powerpoint/2010/main" val="85486980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114</a:t>
            </a:fld>
            <a:endParaRPr lang="zh-CN" altLang="en-US"/>
          </a:p>
        </p:txBody>
      </p:sp>
    </p:spTree>
    <p:extLst>
      <p:ext uri="{BB962C8B-B14F-4D97-AF65-F5344CB8AC3E}">
        <p14:creationId xmlns:p14="http://schemas.microsoft.com/office/powerpoint/2010/main" val="148000228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115</a:t>
            </a:fld>
            <a:endParaRPr lang="zh-CN" altLang="en-US"/>
          </a:p>
        </p:txBody>
      </p:sp>
    </p:spTree>
    <p:extLst>
      <p:ext uri="{BB962C8B-B14F-4D97-AF65-F5344CB8AC3E}">
        <p14:creationId xmlns:p14="http://schemas.microsoft.com/office/powerpoint/2010/main" val="277420380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116</a:t>
            </a:fld>
            <a:endParaRPr lang="zh-CN" altLang="en-US"/>
          </a:p>
        </p:txBody>
      </p:sp>
    </p:spTree>
    <p:extLst>
      <p:ext uri="{BB962C8B-B14F-4D97-AF65-F5344CB8AC3E}">
        <p14:creationId xmlns:p14="http://schemas.microsoft.com/office/powerpoint/2010/main" val="416888681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117</a:t>
            </a:fld>
            <a:endParaRPr lang="zh-CN" altLang="en-US"/>
          </a:p>
        </p:txBody>
      </p:sp>
    </p:spTree>
    <p:extLst>
      <p:ext uri="{BB962C8B-B14F-4D97-AF65-F5344CB8AC3E}">
        <p14:creationId xmlns:p14="http://schemas.microsoft.com/office/powerpoint/2010/main" val="252300065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118</a:t>
            </a:fld>
            <a:endParaRPr lang="zh-CN" altLang="en-US"/>
          </a:p>
        </p:txBody>
      </p:sp>
    </p:spTree>
    <p:extLst>
      <p:ext uri="{BB962C8B-B14F-4D97-AF65-F5344CB8AC3E}">
        <p14:creationId xmlns:p14="http://schemas.microsoft.com/office/powerpoint/2010/main" val="336241819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119</a:t>
            </a:fld>
            <a:endParaRPr lang="zh-CN" altLang="en-US"/>
          </a:p>
        </p:txBody>
      </p:sp>
    </p:spTree>
    <p:extLst>
      <p:ext uri="{BB962C8B-B14F-4D97-AF65-F5344CB8AC3E}">
        <p14:creationId xmlns:p14="http://schemas.microsoft.com/office/powerpoint/2010/main" val="138491637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120</a:t>
            </a:fld>
            <a:endParaRPr lang="zh-CN" altLang="en-US"/>
          </a:p>
        </p:txBody>
      </p:sp>
    </p:spTree>
    <p:extLst>
      <p:ext uri="{BB962C8B-B14F-4D97-AF65-F5344CB8AC3E}">
        <p14:creationId xmlns:p14="http://schemas.microsoft.com/office/powerpoint/2010/main" val="400090081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121</a:t>
            </a:fld>
            <a:endParaRPr lang="zh-CN" altLang="en-US"/>
          </a:p>
        </p:txBody>
      </p:sp>
    </p:spTree>
    <p:extLst>
      <p:ext uri="{BB962C8B-B14F-4D97-AF65-F5344CB8AC3E}">
        <p14:creationId xmlns:p14="http://schemas.microsoft.com/office/powerpoint/2010/main" val="175460755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122</a:t>
            </a:fld>
            <a:endParaRPr lang="zh-CN" altLang="en-US"/>
          </a:p>
        </p:txBody>
      </p:sp>
    </p:spTree>
    <p:extLst>
      <p:ext uri="{BB962C8B-B14F-4D97-AF65-F5344CB8AC3E}">
        <p14:creationId xmlns:p14="http://schemas.microsoft.com/office/powerpoint/2010/main" val="120799472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123</a:t>
            </a:fld>
            <a:endParaRPr lang="zh-CN" altLang="en-US"/>
          </a:p>
        </p:txBody>
      </p:sp>
    </p:spTree>
    <p:extLst>
      <p:ext uri="{BB962C8B-B14F-4D97-AF65-F5344CB8AC3E}">
        <p14:creationId xmlns:p14="http://schemas.microsoft.com/office/powerpoint/2010/main" val="1297750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124</a:t>
            </a:fld>
            <a:endParaRPr lang="zh-CN" altLang="en-US"/>
          </a:p>
        </p:txBody>
      </p:sp>
    </p:spTree>
    <p:extLst>
      <p:ext uri="{BB962C8B-B14F-4D97-AF65-F5344CB8AC3E}">
        <p14:creationId xmlns:p14="http://schemas.microsoft.com/office/powerpoint/2010/main" val="24805746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125</a:t>
            </a:fld>
            <a:endParaRPr lang="zh-CN" altLang="en-US"/>
          </a:p>
        </p:txBody>
      </p:sp>
    </p:spTree>
    <p:extLst>
      <p:ext uri="{BB962C8B-B14F-4D97-AF65-F5344CB8AC3E}">
        <p14:creationId xmlns:p14="http://schemas.microsoft.com/office/powerpoint/2010/main" val="132674064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126</a:t>
            </a:fld>
            <a:endParaRPr lang="zh-CN" altLang="en-US"/>
          </a:p>
        </p:txBody>
      </p:sp>
    </p:spTree>
    <p:extLst>
      <p:ext uri="{BB962C8B-B14F-4D97-AF65-F5344CB8AC3E}">
        <p14:creationId xmlns:p14="http://schemas.microsoft.com/office/powerpoint/2010/main" val="154351573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127</a:t>
            </a:fld>
            <a:endParaRPr lang="zh-CN" altLang="en-US"/>
          </a:p>
        </p:txBody>
      </p:sp>
    </p:spTree>
    <p:extLst>
      <p:ext uri="{BB962C8B-B14F-4D97-AF65-F5344CB8AC3E}">
        <p14:creationId xmlns:p14="http://schemas.microsoft.com/office/powerpoint/2010/main" val="325757142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128</a:t>
            </a:fld>
            <a:endParaRPr lang="zh-CN" altLang="en-US"/>
          </a:p>
        </p:txBody>
      </p:sp>
    </p:spTree>
    <p:extLst>
      <p:ext uri="{BB962C8B-B14F-4D97-AF65-F5344CB8AC3E}">
        <p14:creationId xmlns:p14="http://schemas.microsoft.com/office/powerpoint/2010/main" val="31809487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129</a:t>
            </a:fld>
            <a:endParaRPr lang="zh-CN" altLang="en-US"/>
          </a:p>
        </p:txBody>
      </p:sp>
    </p:spTree>
    <p:extLst>
      <p:ext uri="{BB962C8B-B14F-4D97-AF65-F5344CB8AC3E}">
        <p14:creationId xmlns:p14="http://schemas.microsoft.com/office/powerpoint/2010/main" val="355747799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130</a:t>
            </a:fld>
            <a:endParaRPr lang="zh-CN" altLang="en-US"/>
          </a:p>
        </p:txBody>
      </p:sp>
    </p:spTree>
    <p:extLst>
      <p:ext uri="{BB962C8B-B14F-4D97-AF65-F5344CB8AC3E}">
        <p14:creationId xmlns:p14="http://schemas.microsoft.com/office/powerpoint/2010/main" val="278695245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131</a:t>
            </a:fld>
            <a:endParaRPr lang="zh-CN" altLang="en-US"/>
          </a:p>
        </p:txBody>
      </p:sp>
    </p:spTree>
    <p:extLst>
      <p:ext uri="{BB962C8B-B14F-4D97-AF65-F5344CB8AC3E}">
        <p14:creationId xmlns:p14="http://schemas.microsoft.com/office/powerpoint/2010/main" val="68466661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132</a:t>
            </a:fld>
            <a:endParaRPr lang="zh-CN" altLang="en-US"/>
          </a:p>
        </p:txBody>
      </p:sp>
    </p:spTree>
    <p:extLst>
      <p:ext uri="{BB962C8B-B14F-4D97-AF65-F5344CB8AC3E}">
        <p14:creationId xmlns:p14="http://schemas.microsoft.com/office/powerpoint/2010/main" val="268793301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133</a:t>
            </a:fld>
            <a:endParaRPr lang="zh-CN" altLang="en-US"/>
          </a:p>
        </p:txBody>
      </p:sp>
    </p:spTree>
    <p:extLst>
      <p:ext uri="{BB962C8B-B14F-4D97-AF65-F5344CB8AC3E}">
        <p14:creationId xmlns:p14="http://schemas.microsoft.com/office/powerpoint/2010/main" val="216430426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134</a:t>
            </a:fld>
            <a:endParaRPr lang="zh-CN" altLang="en-US"/>
          </a:p>
        </p:txBody>
      </p:sp>
    </p:spTree>
    <p:extLst>
      <p:ext uri="{BB962C8B-B14F-4D97-AF65-F5344CB8AC3E}">
        <p14:creationId xmlns:p14="http://schemas.microsoft.com/office/powerpoint/2010/main" val="3478731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135</a:t>
            </a:fld>
            <a:endParaRPr lang="zh-CN" altLang="en-US"/>
          </a:p>
        </p:txBody>
      </p:sp>
    </p:spTree>
    <p:extLst>
      <p:ext uri="{BB962C8B-B14F-4D97-AF65-F5344CB8AC3E}">
        <p14:creationId xmlns:p14="http://schemas.microsoft.com/office/powerpoint/2010/main" val="107875022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136</a:t>
            </a:fld>
            <a:endParaRPr lang="zh-CN" altLang="en-US"/>
          </a:p>
        </p:txBody>
      </p:sp>
    </p:spTree>
    <p:extLst>
      <p:ext uri="{BB962C8B-B14F-4D97-AF65-F5344CB8AC3E}">
        <p14:creationId xmlns:p14="http://schemas.microsoft.com/office/powerpoint/2010/main" val="89852855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137</a:t>
            </a:fld>
            <a:endParaRPr lang="zh-CN" altLang="en-US"/>
          </a:p>
        </p:txBody>
      </p:sp>
    </p:spTree>
    <p:extLst>
      <p:ext uri="{BB962C8B-B14F-4D97-AF65-F5344CB8AC3E}">
        <p14:creationId xmlns:p14="http://schemas.microsoft.com/office/powerpoint/2010/main" val="231964167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138</a:t>
            </a:fld>
            <a:endParaRPr lang="zh-CN" altLang="en-US"/>
          </a:p>
        </p:txBody>
      </p:sp>
    </p:spTree>
    <p:extLst>
      <p:ext uri="{BB962C8B-B14F-4D97-AF65-F5344CB8AC3E}">
        <p14:creationId xmlns:p14="http://schemas.microsoft.com/office/powerpoint/2010/main" val="97668228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139</a:t>
            </a:fld>
            <a:endParaRPr lang="zh-CN" altLang="en-US"/>
          </a:p>
        </p:txBody>
      </p:sp>
    </p:spTree>
    <p:extLst>
      <p:ext uri="{BB962C8B-B14F-4D97-AF65-F5344CB8AC3E}">
        <p14:creationId xmlns:p14="http://schemas.microsoft.com/office/powerpoint/2010/main" val="170385107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140</a:t>
            </a:fld>
            <a:endParaRPr lang="zh-CN" altLang="en-US"/>
          </a:p>
        </p:txBody>
      </p:sp>
    </p:spTree>
    <p:extLst>
      <p:ext uri="{BB962C8B-B14F-4D97-AF65-F5344CB8AC3E}">
        <p14:creationId xmlns:p14="http://schemas.microsoft.com/office/powerpoint/2010/main" val="404137305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141</a:t>
            </a:fld>
            <a:endParaRPr lang="zh-CN" altLang="en-US"/>
          </a:p>
        </p:txBody>
      </p:sp>
    </p:spTree>
    <p:extLst>
      <p:ext uri="{BB962C8B-B14F-4D97-AF65-F5344CB8AC3E}">
        <p14:creationId xmlns:p14="http://schemas.microsoft.com/office/powerpoint/2010/main" val="219203982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142</a:t>
            </a:fld>
            <a:endParaRPr lang="zh-CN" altLang="en-US"/>
          </a:p>
        </p:txBody>
      </p:sp>
    </p:spTree>
    <p:extLst>
      <p:ext uri="{BB962C8B-B14F-4D97-AF65-F5344CB8AC3E}">
        <p14:creationId xmlns:p14="http://schemas.microsoft.com/office/powerpoint/2010/main" val="78657074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143</a:t>
            </a:fld>
            <a:endParaRPr lang="zh-CN" altLang="en-US"/>
          </a:p>
        </p:txBody>
      </p:sp>
    </p:spTree>
    <p:extLst>
      <p:ext uri="{BB962C8B-B14F-4D97-AF65-F5344CB8AC3E}">
        <p14:creationId xmlns:p14="http://schemas.microsoft.com/office/powerpoint/2010/main" val="163347718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144</a:t>
            </a:fld>
            <a:endParaRPr lang="zh-CN" altLang="en-US"/>
          </a:p>
        </p:txBody>
      </p:sp>
    </p:spTree>
    <p:extLst>
      <p:ext uri="{BB962C8B-B14F-4D97-AF65-F5344CB8AC3E}">
        <p14:creationId xmlns:p14="http://schemas.microsoft.com/office/powerpoint/2010/main" val="267178452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145</a:t>
            </a:fld>
            <a:endParaRPr lang="zh-CN" altLang="en-US"/>
          </a:p>
        </p:txBody>
      </p:sp>
    </p:spTree>
    <p:extLst>
      <p:ext uri="{BB962C8B-B14F-4D97-AF65-F5344CB8AC3E}">
        <p14:creationId xmlns:p14="http://schemas.microsoft.com/office/powerpoint/2010/main" val="341863723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146</a:t>
            </a:fld>
            <a:endParaRPr lang="zh-CN" altLang="en-US"/>
          </a:p>
        </p:txBody>
      </p:sp>
    </p:spTree>
    <p:extLst>
      <p:ext uri="{BB962C8B-B14F-4D97-AF65-F5344CB8AC3E}">
        <p14:creationId xmlns:p14="http://schemas.microsoft.com/office/powerpoint/2010/main" val="369896677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147</a:t>
            </a:fld>
            <a:endParaRPr lang="zh-CN" altLang="en-US"/>
          </a:p>
        </p:txBody>
      </p:sp>
    </p:spTree>
    <p:extLst>
      <p:ext uri="{BB962C8B-B14F-4D97-AF65-F5344CB8AC3E}">
        <p14:creationId xmlns:p14="http://schemas.microsoft.com/office/powerpoint/2010/main" val="23900631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148</a:t>
            </a:fld>
            <a:endParaRPr lang="zh-CN" altLang="en-US"/>
          </a:p>
        </p:txBody>
      </p:sp>
    </p:spTree>
    <p:extLst>
      <p:ext uri="{BB962C8B-B14F-4D97-AF65-F5344CB8AC3E}">
        <p14:creationId xmlns:p14="http://schemas.microsoft.com/office/powerpoint/2010/main" val="129681735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149</a:t>
            </a:fld>
            <a:endParaRPr lang="zh-CN" altLang="en-US"/>
          </a:p>
        </p:txBody>
      </p:sp>
    </p:spTree>
    <p:extLst>
      <p:ext uri="{BB962C8B-B14F-4D97-AF65-F5344CB8AC3E}">
        <p14:creationId xmlns:p14="http://schemas.microsoft.com/office/powerpoint/2010/main" val="189886910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150</a:t>
            </a:fld>
            <a:endParaRPr lang="zh-CN" altLang="en-US"/>
          </a:p>
        </p:txBody>
      </p:sp>
    </p:spTree>
    <p:extLst>
      <p:ext uri="{BB962C8B-B14F-4D97-AF65-F5344CB8AC3E}">
        <p14:creationId xmlns:p14="http://schemas.microsoft.com/office/powerpoint/2010/main" val="129682833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151</a:t>
            </a:fld>
            <a:endParaRPr lang="zh-CN" altLang="en-US"/>
          </a:p>
        </p:txBody>
      </p:sp>
    </p:spTree>
    <p:extLst>
      <p:ext uri="{BB962C8B-B14F-4D97-AF65-F5344CB8AC3E}">
        <p14:creationId xmlns:p14="http://schemas.microsoft.com/office/powerpoint/2010/main" val="341586417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152</a:t>
            </a:fld>
            <a:endParaRPr lang="zh-CN" altLang="en-US"/>
          </a:p>
        </p:txBody>
      </p:sp>
    </p:spTree>
    <p:extLst>
      <p:ext uri="{BB962C8B-B14F-4D97-AF65-F5344CB8AC3E}">
        <p14:creationId xmlns:p14="http://schemas.microsoft.com/office/powerpoint/2010/main" val="189652301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153</a:t>
            </a:fld>
            <a:endParaRPr lang="zh-CN" altLang="en-US"/>
          </a:p>
        </p:txBody>
      </p:sp>
    </p:spTree>
    <p:extLst>
      <p:ext uri="{BB962C8B-B14F-4D97-AF65-F5344CB8AC3E}">
        <p14:creationId xmlns:p14="http://schemas.microsoft.com/office/powerpoint/2010/main" val="20260260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154</a:t>
            </a:fld>
            <a:endParaRPr lang="zh-CN" altLang="en-US"/>
          </a:p>
        </p:txBody>
      </p:sp>
    </p:spTree>
    <p:extLst>
      <p:ext uri="{BB962C8B-B14F-4D97-AF65-F5344CB8AC3E}">
        <p14:creationId xmlns:p14="http://schemas.microsoft.com/office/powerpoint/2010/main" val="428886855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155</a:t>
            </a:fld>
            <a:endParaRPr lang="zh-CN" altLang="en-US"/>
          </a:p>
        </p:txBody>
      </p:sp>
    </p:spTree>
    <p:extLst>
      <p:ext uri="{BB962C8B-B14F-4D97-AF65-F5344CB8AC3E}">
        <p14:creationId xmlns:p14="http://schemas.microsoft.com/office/powerpoint/2010/main" val="281388152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156</a:t>
            </a:fld>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157</a:t>
            </a:fld>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158</a:t>
            </a:fld>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159</a:t>
            </a:fld>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160</a:t>
            </a:fld>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161</a:t>
            </a:fld>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162</a:t>
            </a:fld>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163</a:t>
            </a:fld>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164</a:t>
            </a:fld>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165</a:t>
            </a:fld>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166</a:t>
            </a:fld>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167</a:t>
            </a:fld>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t>168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17" name="组合 16"/>
          <p:cNvGrpSpPr/>
          <p:nvPr userDrawn="1"/>
        </p:nvGrpSpPr>
        <p:grpSpPr>
          <a:xfrm>
            <a:off x="-11499" y="0"/>
            <a:ext cx="9174890" cy="5143500"/>
            <a:chOff x="-11499" y="0"/>
            <a:chExt cx="2891224" cy="1620838"/>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61" y="7637"/>
              <a:ext cx="2709804" cy="1443102"/>
            </a:xfrm>
            <a:prstGeom prst="rect">
              <a:avLst/>
            </a:prstGeom>
          </p:spPr>
        </p:pic>
        <p:pic>
          <p:nvPicPr>
            <p:cNvPr id="8" name="图片 7"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pic>
          <p:nvPicPr>
            <p:cNvPr id="9" name="图片 8" descr="桌子.png"/>
            <p:cNvPicPr>
              <a:picLocks noChangeAspect="1"/>
            </p:cNvPicPr>
            <p:nvPr userDrawn="1"/>
          </p:nvPicPr>
          <p:blipFill>
            <a:blip r:embed="rId4" cstate="print"/>
            <a:srcRect t="80530" r="40938"/>
            <a:stretch>
              <a:fillRect/>
            </a:stretch>
          </p:blipFill>
          <p:spPr>
            <a:xfrm>
              <a:off x="-11499" y="1353415"/>
              <a:ext cx="1247264" cy="267423"/>
            </a:xfrm>
            <a:prstGeom prst="rect">
              <a:avLst/>
            </a:prstGeom>
          </p:spPr>
        </p:pic>
        <p:pic>
          <p:nvPicPr>
            <p:cNvPr id="10" name="图片 9" descr="粉笔画.png"/>
            <p:cNvPicPr>
              <a:picLocks noChangeAspect="1"/>
            </p:cNvPicPr>
            <p:nvPr userDrawn="1"/>
          </p:nvPicPr>
          <p:blipFill>
            <a:blip r:embed="rId5" cstate="print"/>
            <a:srcRect l="49934" t="39179" b="17915"/>
            <a:stretch>
              <a:fillRect/>
            </a:stretch>
          </p:blipFill>
          <p:spPr>
            <a:xfrm>
              <a:off x="1632621" y="799729"/>
              <a:ext cx="1057298" cy="589321"/>
            </a:xfrm>
            <a:prstGeom prst="rect">
              <a:avLst/>
            </a:prstGeom>
          </p:spPr>
        </p:pic>
        <p:pic>
          <p:nvPicPr>
            <p:cNvPr id="11" name="图片 10" descr="书本.png"/>
            <p:cNvPicPr>
              <a:picLocks noChangeAspect="1"/>
            </p:cNvPicPr>
            <p:nvPr userDrawn="1"/>
          </p:nvPicPr>
          <p:blipFill>
            <a:blip r:embed="rId6" cstate="print"/>
            <a:stretch>
              <a:fillRect/>
            </a:stretch>
          </p:blipFill>
          <p:spPr>
            <a:xfrm>
              <a:off x="135905" y="1264247"/>
              <a:ext cx="331633" cy="283611"/>
            </a:xfrm>
            <a:prstGeom prst="rect">
              <a:avLst/>
            </a:prstGeom>
          </p:spPr>
        </p:pic>
        <p:pic>
          <p:nvPicPr>
            <p:cNvPr id="12" name="图片 11" descr="钟.PNG"/>
            <p:cNvPicPr>
              <a:picLocks noChangeAspect="1"/>
            </p:cNvPicPr>
            <p:nvPr userDrawn="1"/>
          </p:nvPicPr>
          <p:blipFill>
            <a:blip r:embed="rId7" cstate="print"/>
            <a:stretch>
              <a:fillRect/>
            </a:stretch>
          </p:blipFill>
          <p:spPr>
            <a:xfrm>
              <a:off x="586523" y="1346308"/>
              <a:ext cx="168944" cy="161364"/>
            </a:xfrm>
            <a:prstGeom prst="rect">
              <a:avLst/>
            </a:prstGeom>
          </p:spPr>
        </p:pic>
        <p:pic>
          <p:nvPicPr>
            <p:cNvPr id="13" name="图片 12" descr="铅笔筒.PNG"/>
            <p:cNvPicPr>
              <a:picLocks noChangeAspect="1"/>
            </p:cNvPicPr>
            <p:nvPr userDrawn="1"/>
          </p:nvPicPr>
          <p:blipFill>
            <a:blip r:embed="rId8" cstate="print"/>
            <a:stretch>
              <a:fillRect/>
            </a:stretch>
          </p:blipFill>
          <p:spPr>
            <a:xfrm>
              <a:off x="447336" y="1270428"/>
              <a:ext cx="223659" cy="242046"/>
            </a:xfrm>
            <a:prstGeom prst="rect">
              <a:avLst/>
            </a:prstGeom>
          </p:spPr>
        </p:pic>
        <p:pic>
          <p:nvPicPr>
            <p:cNvPr id="14" name="图片 13" descr="眼镜.PNG"/>
            <p:cNvPicPr>
              <a:picLocks noChangeAspect="1"/>
            </p:cNvPicPr>
            <p:nvPr userDrawn="1"/>
          </p:nvPicPr>
          <p:blipFill>
            <a:blip r:embed="rId9" cstate="print"/>
            <a:stretch>
              <a:fillRect/>
            </a:stretch>
          </p:blipFill>
          <p:spPr>
            <a:xfrm>
              <a:off x="818232" y="1467966"/>
              <a:ext cx="172083" cy="79411"/>
            </a:xfrm>
            <a:prstGeom prst="rect">
              <a:avLst/>
            </a:prstGeom>
          </p:spPr>
        </p:pic>
        <p:pic>
          <p:nvPicPr>
            <p:cNvPr id="15" name="图片 14" descr="贴贴子4张（空）.png"/>
            <p:cNvPicPr>
              <a:picLocks noChangeAspect="1"/>
            </p:cNvPicPr>
            <p:nvPr userDrawn="1"/>
          </p:nvPicPr>
          <p:blipFill>
            <a:blip r:embed="rId10" cstate="print"/>
            <a:srcRect t="33018" r="77449" b="52860"/>
            <a:stretch>
              <a:fillRect/>
            </a:stretch>
          </p:blipFill>
          <p:spPr>
            <a:xfrm>
              <a:off x="229424" y="152368"/>
              <a:ext cx="476228" cy="193957"/>
            </a:xfrm>
            <a:prstGeom prst="rect">
              <a:avLst/>
            </a:prstGeom>
          </p:spPr>
        </p:pic>
        <p:pic>
          <p:nvPicPr>
            <p:cNvPr id="16" name="图片 15" descr="贴贴子4张（空）.png"/>
            <p:cNvPicPr/>
            <p:nvPr userDrawn="1"/>
          </p:nvPicPr>
          <p:blipFill>
            <a:blip r:embed="rId10" cstate="print"/>
            <a:srcRect l="6702" t="47905" r="86794" b="38897"/>
            <a:stretch>
              <a:fillRect/>
            </a:stretch>
          </p:blipFill>
          <p:spPr>
            <a:xfrm rot="21420000">
              <a:off x="630039" y="230507"/>
              <a:ext cx="136050" cy="186588"/>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9" name="组合 8"/>
          <p:cNvGrpSpPr/>
          <p:nvPr userDrawn="1"/>
        </p:nvGrpSpPr>
        <p:grpSpPr>
          <a:xfrm>
            <a:off x="13811" y="-236562"/>
            <a:ext cx="9238709" cy="5353378"/>
            <a:chOff x="-7497" y="-117332"/>
            <a:chExt cx="3007002" cy="1742410"/>
          </a:xfrm>
        </p:grpSpPr>
        <p:pic>
          <p:nvPicPr>
            <p:cNvPr id="7" name="图片 6"/>
            <p:cNvPicPr/>
            <p:nvPr userDrawn="1"/>
          </p:nvPicPr>
          <p:blipFill>
            <a:blip r:embed="rId2" cstate="print">
              <a:extLst>
                <a:ext uri="{28A0092B-C50C-407E-A947-70E740481C1C}">
                  <a14:useLocalDpi xmlns:a14="http://schemas.microsoft.com/office/drawing/2010/main" val="0"/>
                </a:ext>
              </a:extLst>
            </a:blip>
            <a:stretch>
              <a:fillRect/>
            </a:stretch>
          </p:blipFill>
          <p:spPr>
            <a:xfrm>
              <a:off x="-7497" y="129677"/>
              <a:ext cx="2808011" cy="1495401"/>
            </a:xfrm>
            <a:prstGeom prst="rect">
              <a:avLst/>
            </a:prstGeom>
          </p:spPr>
        </p:pic>
        <p:pic>
          <p:nvPicPr>
            <p:cNvPr id="8" name="图片 7" descr="照片夹.png"/>
            <p:cNvPicPr>
              <a:picLocks noChangeAspect="1"/>
            </p:cNvPicPr>
            <p:nvPr userDrawn="1"/>
          </p:nvPicPr>
          <p:blipFill>
            <a:blip r:embed="rId3" cstate="print"/>
            <a:srcRect r="66645" b="79232"/>
            <a:stretch>
              <a:fillRect/>
            </a:stretch>
          </p:blipFill>
          <p:spPr>
            <a:xfrm flipH="1">
              <a:off x="1530573" y="-117332"/>
              <a:ext cx="1468932" cy="594851"/>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11" name="组合 10"/>
          <p:cNvGrpSpPr/>
          <p:nvPr userDrawn="1"/>
        </p:nvGrpSpPr>
        <p:grpSpPr>
          <a:xfrm>
            <a:off x="59328" y="-7204"/>
            <a:ext cx="9100573" cy="5243250"/>
            <a:chOff x="43427" y="0"/>
            <a:chExt cx="2836298" cy="1634119"/>
          </a:xfrm>
        </p:grpSpPr>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43427" y="152903"/>
              <a:ext cx="2781373" cy="1481216"/>
            </a:xfrm>
            <a:prstGeom prst="rect">
              <a:avLst/>
            </a:prstGeom>
          </p:spPr>
        </p:pic>
        <p:pic>
          <p:nvPicPr>
            <p:cNvPr id="10" name="图片 9"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12" name="组合 11"/>
          <p:cNvGrpSpPr/>
          <p:nvPr userDrawn="1"/>
        </p:nvGrpSpPr>
        <p:grpSpPr>
          <a:xfrm>
            <a:off x="-11499" y="0"/>
            <a:ext cx="9174890" cy="5143500"/>
            <a:chOff x="-11499" y="0"/>
            <a:chExt cx="2891224" cy="1620838"/>
          </a:xfrm>
        </p:grpSpPr>
        <p:pic>
          <p:nvPicPr>
            <p:cNvPr id="10" name="图片 9"/>
            <p:cNvPicPr/>
            <p:nvPr userDrawn="1"/>
          </p:nvPicPr>
          <p:blipFill>
            <a:blip r:embed="rId2" cstate="print">
              <a:extLst>
                <a:ext uri="{28A0092B-C50C-407E-A947-70E740481C1C}">
                  <a14:useLocalDpi xmlns:a14="http://schemas.microsoft.com/office/drawing/2010/main" val="0"/>
                </a:ext>
              </a:extLst>
            </a:blip>
            <a:stretch>
              <a:fillRect/>
            </a:stretch>
          </p:blipFill>
          <p:spPr>
            <a:xfrm>
              <a:off x="-11499" y="0"/>
              <a:ext cx="2890797" cy="1620838"/>
            </a:xfrm>
            <a:prstGeom prst="rect">
              <a:avLst/>
            </a:prstGeom>
          </p:spPr>
        </p:pic>
        <p:pic>
          <p:nvPicPr>
            <p:cNvPr id="11" name="图片 10"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jpg"/>
          <p:cNvPicPr>
            <a:picLocks noChangeAspect="1"/>
          </p:cNvPicPr>
          <p:nvPr/>
        </p:nvPicPr>
        <p:blipFill>
          <a:blip r:embed="rId6" cstate="print"/>
          <a:srcRect r="2304" b="7492"/>
          <a:stretch>
            <a:fillRect/>
          </a:stretch>
        </p:blipFill>
        <p:spPr>
          <a:xfrm>
            <a:off x="-11499" y="0"/>
            <a:ext cx="917489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1.png"/></Relationships>
</file>

<file path=ppt/slides/_rels/slide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8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slide" Target="slide124.xml"/><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slide" Target="slide12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0.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1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1.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0.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1357290" y="1307333"/>
            <a:ext cx="6357982" cy="1200331"/>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ctr" defTabSz="913765"/>
            <a:r>
              <a:rPr lang="zh-CN" altLang="en-US" sz="7200" b="1" dirty="0">
                <a:ln w="50800"/>
                <a:solidFill>
                  <a:schemeClr val="bg1">
                    <a:shade val="50000"/>
                  </a:schemeClr>
                </a:solidFill>
                <a:latin typeface="黑体" panose="02010609060101010101" pitchFamily="49" charset="-122"/>
                <a:ea typeface="黑体" panose="02010609060101010101" pitchFamily="49" charset="-122"/>
              </a:rPr>
              <a:t>操作系统</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p:cTn id="7" dur="500" decel="50000" fill="hold">
                                          <p:stCondLst>
                                            <p:cond delay="0"/>
                                          </p:stCondLst>
                                        </p:cTn>
                                        <p:tgtEl>
                                          <p:spTgt spid="20">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0">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0">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0">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0">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0">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0">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sp>
        <p:nvSpPr>
          <p:cNvPr id="88" name="矩形 87"/>
          <p:cNvSpPr/>
          <p:nvPr/>
        </p:nvSpPr>
        <p:spPr>
          <a:xfrm>
            <a:off x="2531923" y="2214560"/>
            <a:ext cx="3874392" cy="769443"/>
          </a:xfrm>
          <a:prstGeom prst="rect">
            <a:avLst/>
          </a:prstGeom>
        </p:spPr>
        <p:txBody>
          <a:bodyPr wrap="square" lIns="91441" tIns="45721" rIns="91441" bIns="45721">
            <a:spAutoFit/>
          </a:bodyPr>
          <a:lstStyle/>
          <a:p>
            <a:pPr algn="ctr" defTabSz="913765"/>
            <a:r>
              <a:rPr lang="zh-CN" altLang="en-US" sz="4400" b="1" dirty="0" smtClean="0">
                <a:solidFill>
                  <a:prstClr val="white">
                    <a:lumMod val="75000"/>
                  </a:prstClr>
                </a:solidFill>
                <a:latin typeface="方正特粗光辉简体" panose="02000000000000000000" pitchFamily="2" charset="-122"/>
                <a:ea typeface="方正特粗光辉简体" panose="02000000000000000000" pitchFamily="2" charset="-122"/>
              </a:rPr>
              <a:t>存储管理</a:t>
            </a:r>
            <a:endParaRPr lang="zh-CN" altLang="zh-CN" sz="4400" b="1" dirty="0">
              <a:solidFill>
                <a:prstClr val="white">
                  <a:lumMod val="75000"/>
                </a:prstClr>
              </a:solidFill>
              <a:latin typeface="方正特粗光辉简体" panose="02000000000000000000" pitchFamily="2" charset="-122"/>
              <a:ea typeface="方正特粗光辉简体" panose="02000000000000000000" pitchFamily="2" charset="-122"/>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229162" y="1307333"/>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3765"/>
            <a:r>
              <a:rPr lang="en-US" altLang="zh-CN" sz="5400" b="1" dirty="0">
                <a:ln w="50800"/>
                <a:solidFill>
                  <a:schemeClr val="bg1">
                    <a:shade val="50000"/>
                  </a:schemeClr>
                </a:solidFill>
                <a:latin typeface="黑体" panose="02010609060101010101" pitchFamily="49" charset="-122"/>
                <a:ea typeface="黑体" panose="02010609060101010101" pitchFamily="49" charset="-122"/>
              </a:rPr>
              <a:t>Chapter </a:t>
            </a:r>
            <a:r>
              <a:rPr lang="en-US" altLang="zh-CN" sz="5400" b="1" dirty="0" smtClean="0">
                <a:ln w="50800"/>
                <a:solidFill>
                  <a:schemeClr val="bg1">
                    <a:shade val="50000"/>
                  </a:schemeClr>
                </a:solidFill>
                <a:latin typeface="黑体" panose="02010609060101010101" pitchFamily="49" charset="-122"/>
                <a:ea typeface="黑体" panose="02010609060101010101" pitchFamily="49" charset="-122"/>
              </a:rPr>
              <a:t>5</a:t>
            </a:r>
            <a:endParaRPr lang="zh-CN" altLang="en-US" sz="5400" b="1" dirty="0">
              <a:ln w="50800"/>
              <a:solidFill>
                <a:schemeClr val="bg1">
                  <a:shade val="50000"/>
                </a:schemeClr>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ea typeface="宋体" panose="02010600030101010101" pitchFamily="2" charset="-122"/>
                </a:rPr>
                <a:t>存储管理</a:t>
              </a:r>
              <a:r>
                <a:rPr lang="zh-CN" altLang="en-US" b="1" dirty="0" smtClean="0">
                  <a:solidFill>
                    <a:srgbClr val="000000"/>
                  </a:solidFill>
                  <a:ea typeface="宋体" panose="02010600030101010101" pitchFamily="2" charset="-122"/>
                </a:rPr>
                <a:t>的功能</a:t>
              </a:r>
              <a:endParaRPr lang="zh-CN" altLang="en-US"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338" cy="232"/>
            </a:xfrm>
            <a:prstGeom prst="rect">
              <a:avLst/>
            </a:prstGeom>
            <a:noFill/>
            <a:ln w="9525" algn="ctr">
              <a:noFill/>
              <a:miter lim="800000"/>
            </a:ln>
            <a:effectLst/>
          </p:spPr>
          <p:txBody>
            <a:bodyPr wrap="square">
              <a:spAutoFit/>
            </a:bodyPr>
            <a:lstStyle/>
            <a:p>
              <a:pPr algn="ctr" eaLnBrk="0" hangingPunct="0"/>
              <a:r>
                <a:rPr lang="en-US" altLang="zh-CN" b="1" dirty="0">
                  <a:solidFill>
                    <a:srgbClr val="000000"/>
                  </a:solidFill>
                </a:rPr>
                <a:t>   </a:t>
              </a:r>
              <a:r>
                <a:rPr lang="zh-CN" altLang="en-US" b="1" dirty="0" smtClean="0">
                  <a:solidFill>
                    <a:srgbClr val="000000"/>
                  </a:solidFill>
                </a:rPr>
                <a:t>分区存储管理</a:t>
              </a:r>
              <a:endParaRPr lang="zh-CN" altLang="en-US"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rPr>
                <a:t>页式</a:t>
              </a:r>
              <a:r>
                <a:rPr lang="zh-CN" altLang="en-US" b="1" dirty="0" smtClean="0">
                  <a:solidFill>
                    <a:srgbClr val="000000"/>
                  </a:solidFill>
                </a:rPr>
                <a:t>管理</a:t>
              </a:r>
              <a:endParaRPr lang="zh-CN" altLang="en-US"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2"/>
            <a:ext cx="4724400" cy="814388"/>
            <a:chOff x="1296" y="1824"/>
            <a:chExt cx="2976" cy="513"/>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407"/>
            </a:xfrm>
            <a:prstGeom prst="rect">
              <a:avLst/>
            </a:prstGeom>
            <a:noFill/>
            <a:ln w="9525" algn="ctr">
              <a:noFill/>
              <a:miter lim="800000"/>
            </a:ln>
            <a:effectLst/>
          </p:spPr>
          <p:txBody>
            <a:bodyPr wrap="square">
              <a:spAutoFit/>
            </a:bodyPr>
            <a:lstStyle/>
            <a:p>
              <a:pPr algn="ctr" eaLnBrk="0" hangingPunct="0"/>
              <a:r>
                <a:rPr lang="zh-CN" altLang="en-US" b="1" dirty="0">
                  <a:solidFill>
                    <a:srgbClr val="000000"/>
                  </a:solidFill>
                </a:rPr>
                <a:t>段式与段页式管理</a:t>
              </a:r>
            </a:p>
            <a:p>
              <a:pPr algn="ctr" eaLnBrk="0" hangingPunct="0"/>
              <a:endParaRPr lang="zh-CN" altLang="en-US"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4" name="组合 3"/>
          <p:cNvGrpSpPr/>
          <p:nvPr/>
        </p:nvGrpSpPr>
        <p:grpSpPr>
          <a:xfrm>
            <a:off x="2279895" y="3734902"/>
            <a:ext cx="4724400" cy="685800"/>
            <a:chOff x="2279895" y="3734902"/>
            <a:chExt cx="4724400" cy="685800"/>
          </a:xfrm>
        </p:grpSpPr>
        <p:grpSp>
          <p:nvGrpSpPr>
            <p:cNvPr id="32" name="Group 51"/>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776" y="1934"/>
                <a:ext cx="2386" cy="233"/>
              </a:xfrm>
              <a:prstGeom prst="rect">
                <a:avLst/>
              </a:prstGeom>
              <a:noFill/>
              <a:ln w="9525" algn="ctr">
                <a:noFill/>
                <a:miter lim="800000"/>
              </a:ln>
              <a:effectLst/>
            </p:spPr>
            <p:txBody>
              <a:bodyPr wrap="square">
                <a:spAutoFit/>
              </a:bodyPr>
              <a:lstStyle/>
              <a:p>
                <a:pPr algn="ctr" eaLnBrk="0" hangingPunct="0"/>
                <a:endParaRPr lang="zh-CN" altLang="en-US"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a:solidFill>
                      <a:schemeClr val="bg1"/>
                    </a:solidFill>
                    <a:ea typeface="宋体" panose="02010600030101010101" pitchFamily="2" charset="-122"/>
                  </a:rPr>
                  <a:t>5</a:t>
                </a:r>
              </a:p>
            </p:txBody>
          </p:sp>
        </p:grpSp>
        <p:sp>
          <p:nvSpPr>
            <p:cNvPr id="37" name="Text Box 59"/>
            <p:cNvSpPr txBox="1">
              <a:spLocks noChangeArrowheads="1"/>
            </p:cNvSpPr>
            <p:nvPr/>
          </p:nvSpPr>
          <p:spPr bwMode="gray">
            <a:xfrm>
              <a:off x="2974809" y="3897621"/>
              <a:ext cx="3429000" cy="369888"/>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覆盖与交换</a:t>
              </a:r>
              <a:endParaRPr lang="zh-CN" altLang="en-US" b="1"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1000" fill="hold"/>
                                        <p:tgtEl>
                                          <p:spTgt spid="16"/>
                                        </p:tgtEl>
                                        <p:attrNameLst>
                                          <p:attrName>ppt_w</p:attrName>
                                        </p:attrNameLst>
                                      </p:cBhvr>
                                      <p:tavLst>
                                        <p:tav tm="0">
                                          <p:val>
                                            <p:strVal val="#ppt_w*0.70"/>
                                          </p:val>
                                        </p:tav>
                                        <p:tav tm="100000">
                                          <p:val>
                                            <p:strVal val="#ppt_w"/>
                                          </p:val>
                                        </p:tav>
                                      </p:tavLst>
                                    </p:anim>
                                    <p:anim calcmode="lin" valueType="num">
                                      <p:cBhvr>
                                        <p:cTn id="15" dur="1000" fill="hold"/>
                                        <p:tgtEl>
                                          <p:spTgt spid="16"/>
                                        </p:tgtEl>
                                        <p:attrNameLst>
                                          <p:attrName>ppt_h</p:attrName>
                                        </p:attrNameLst>
                                      </p:cBhvr>
                                      <p:tavLst>
                                        <p:tav tm="0">
                                          <p:val>
                                            <p:strVal val="#ppt_h"/>
                                          </p:val>
                                        </p:tav>
                                        <p:tav tm="100000">
                                          <p:val>
                                            <p:strVal val="#ppt_h"/>
                                          </p:val>
                                        </p:tav>
                                      </p:tavLst>
                                    </p:anim>
                                    <p:animEffect transition="in" filter="fade">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1000" fill="hold"/>
                                        <p:tgtEl>
                                          <p:spTgt spid="22"/>
                                        </p:tgtEl>
                                        <p:attrNameLst>
                                          <p:attrName>ppt_w</p:attrName>
                                        </p:attrNameLst>
                                      </p:cBhvr>
                                      <p:tavLst>
                                        <p:tav tm="0">
                                          <p:val>
                                            <p:strVal val="#ppt_w*0.70"/>
                                          </p:val>
                                        </p:tav>
                                        <p:tav tm="100000">
                                          <p:val>
                                            <p:strVal val="#ppt_w"/>
                                          </p:val>
                                        </p:tav>
                                      </p:tavLst>
                                    </p:anim>
                                    <p:anim calcmode="lin" valueType="num">
                                      <p:cBhvr>
                                        <p:cTn id="22" dur="1000" fill="hold"/>
                                        <p:tgtEl>
                                          <p:spTgt spid="22"/>
                                        </p:tgtEl>
                                        <p:attrNameLst>
                                          <p:attrName>ppt_h</p:attrName>
                                        </p:attrNameLst>
                                      </p:cBhvr>
                                      <p:tavLst>
                                        <p:tav tm="0">
                                          <p:val>
                                            <p:strVal val="#ppt_h"/>
                                          </p:val>
                                        </p:tav>
                                        <p:tav tm="100000">
                                          <p:val>
                                            <p:strVal val="#ppt_h"/>
                                          </p:val>
                                        </p:tav>
                                      </p:tavLst>
                                    </p:anim>
                                    <p:animEffect transition="in" filter="fade">
                                      <p:cBhvr>
                                        <p:cTn id="23" dur="10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strVal val="#ppt_w*0.70"/>
                                          </p:val>
                                        </p:tav>
                                        <p:tav tm="100000">
                                          <p:val>
                                            <p:strVal val="#ppt_w"/>
                                          </p:val>
                                        </p:tav>
                                      </p:tavLst>
                                    </p:anim>
                                    <p:anim calcmode="lin" valueType="num">
                                      <p:cBhvr>
                                        <p:cTn id="29" dur="1000" fill="hold"/>
                                        <p:tgtEl>
                                          <p:spTgt spid="27"/>
                                        </p:tgtEl>
                                        <p:attrNameLst>
                                          <p:attrName>ppt_h</p:attrName>
                                        </p:attrNameLst>
                                      </p:cBhvr>
                                      <p:tavLst>
                                        <p:tav tm="0">
                                          <p:val>
                                            <p:strVal val="#ppt_h"/>
                                          </p:val>
                                        </p:tav>
                                        <p:tav tm="100000">
                                          <p:val>
                                            <p:strVal val="#ppt_h"/>
                                          </p:val>
                                        </p:tav>
                                      </p:tavLst>
                                    </p:anim>
                                    <p:animEffect transition="in" filter="fade">
                                      <p:cBhvr>
                                        <p:cTn id="30" dur="10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500" fill="hold"/>
                                        <p:tgtEl>
                                          <p:spTgt spid="4"/>
                                        </p:tgtEl>
                                        <p:attrNameLst>
                                          <p:attrName>ppt_w</p:attrName>
                                        </p:attrNameLst>
                                      </p:cBhvr>
                                      <p:tavLst>
                                        <p:tav tm="0">
                                          <p:val>
                                            <p:fltVal val="0"/>
                                          </p:val>
                                        </p:tav>
                                        <p:tav tm="100000">
                                          <p:val>
                                            <p:strVal val="#ppt_w"/>
                                          </p:val>
                                        </p:tav>
                                      </p:tavLst>
                                    </p:anim>
                                    <p:anim calcmode="lin" valueType="num">
                                      <p:cBhvr>
                                        <p:cTn id="36" dur="500" fill="hold"/>
                                        <p:tgtEl>
                                          <p:spTgt spid="4"/>
                                        </p:tgtEl>
                                        <p:attrNameLst>
                                          <p:attrName>ppt_h</p:attrName>
                                        </p:attrNameLst>
                                      </p:cBhvr>
                                      <p:tavLst>
                                        <p:tav tm="0">
                                          <p:val>
                                            <p:fltVal val="0"/>
                                          </p:val>
                                        </p:tav>
                                        <p:tav tm="100000">
                                          <p:val>
                                            <p:strVal val="#ppt_h"/>
                                          </p:val>
                                        </p:tav>
                                      </p:tavLst>
                                    </p:anim>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nodeType="clickEffect">
                                  <p:stCondLst>
                                    <p:cond delay="0"/>
                                  </p:stCondLst>
                                  <p:childTnLst>
                                    <p:animScale>
                                      <p:cBhvr>
                                        <p:cTn id="41" dur="2000" fill="hold"/>
                                        <p:tgtEl>
                                          <p:spTgt spid="11"/>
                                        </p:tgtEl>
                                      </p:cBhvr>
                                      <p:by x="150000" y="150000"/>
                                    </p:animScale>
                                  </p:childTnLst>
                                </p:cTn>
                              </p:par>
                              <p:par>
                                <p:cTn id="42" presetID="42" presetClass="path" presetSubtype="0" accel="50000" decel="50000" fill="hold" nodeType="withEffect">
                                  <p:stCondLst>
                                    <p:cond delay="0"/>
                                  </p:stCondLst>
                                  <p:childTnLst>
                                    <p:animMotion origin="layout" path="M 3.05556E-6 -3.95062E-6 L -0.00643 0.25525 " pathEditMode="relative" rAng="0" ptsTypes="AA">
                                      <p:cBhvr>
                                        <p:cTn id="43" dur="2000" fill="hold"/>
                                        <p:tgtEl>
                                          <p:spTgt spid="11"/>
                                        </p:tgtEl>
                                        <p:attrNameLst>
                                          <p:attrName>ppt_x</p:attrName>
                                          <p:attrName>ppt_y</p:attrName>
                                        </p:attrNameLst>
                                      </p:cBhvr>
                                      <p:rCtr x="-330" y="12747"/>
                                    </p:animMotion>
                                  </p:childTnLst>
                                </p:cTn>
                              </p:par>
                              <p:par>
                                <p:cTn id="44" presetID="10" presetClass="exit" presetSubtype="0" fill="hold" nodeType="withEffect">
                                  <p:stCondLst>
                                    <p:cond delay="0"/>
                                  </p:stCondLst>
                                  <p:childTnLst>
                                    <p:animEffect transition="out" filter="fade">
                                      <p:cBhvr>
                                        <p:cTn id="45" dur="2000"/>
                                        <p:tgtEl>
                                          <p:spTgt spid="16"/>
                                        </p:tgtEl>
                                      </p:cBhvr>
                                    </p:animEffect>
                                    <p:set>
                                      <p:cBhvr>
                                        <p:cTn id="46" dur="1" fill="hold">
                                          <p:stCondLst>
                                            <p:cond delay="1999"/>
                                          </p:stCondLst>
                                        </p:cTn>
                                        <p:tgtEl>
                                          <p:spTgt spid="1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2000"/>
                                        <p:tgtEl>
                                          <p:spTgt spid="22"/>
                                        </p:tgtEl>
                                      </p:cBhvr>
                                    </p:animEffect>
                                    <p:set>
                                      <p:cBhvr>
                                        <p:cTn id="49" dur="1" fill="hold">
                                          <p:stCondLst>
                                            <p:cond delay="1999"/>
                                          </p:stCondLst>
                                        </p:cTn>
                                        <p:tgtEl>
                                          <p:spTgt spid="2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000"/>
                                        <p:tgtEl>
                                          <p:spTgt spid="27"/>
                                        </p:tgtEl>
                                      </p:cBhvr>
                                    </p:animEffect>
                                    <p:set>
                                      <p:cBhvr>
                                        <p:cTn id="52" dur="1" fill="hold">
                                          <p:stCondLst>
                                            <p:cond delay="1999"/>
                                          </p:stCondLst>
                                        </p:cTn>
                                        <p:tgtEl>
                                          <p:spTgt spid="27"/>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4"/>
                                        </p:tgtEl>
                                      </p:cBhvr>
                                    </p:animEffect>
                                    <p:set>
                                      <p:cBhvr>
                                        <p:cTn id="55"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06129"/>
            <a:ext cx="6912768"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由用户编写的源程序，首先要由编译程序编译成</a:t>
            </a:r>
            <a:r>
              <a:rPr lang="en-US" altLang="zh-CN" sz="2400" b="1" dirty="0">
                <a:solidFill>
                  <a:schemeClr val="bg1"/>
                </a:solidFill>
                <a:latin typeface="+mn-ea"/>
              </a:rPr>
              <a:t>CPU</a:t>
            </a:r>
            <a:r>
              <a:rPr lang="zh-CN" altLang="en-US" sz="2400" b="1" dirty="0">
                <a:solidFill>
                  <a:schemeClr val="bg1"/>
                </a:solidFill>
                <a:latin typeface="+mn-ea"/>
              </a:rPr>
              <a:t>可执行的目标代码。然后，链接程序把一个进程的不同程序段链接起来以完成所要求的功能。显然，对于不同的程序段，应具有不同的地址。</a:t>
            </a:r>
            <a:endParaRPr lang="zh-CN" altLang="en-US" sz="2400" b="1" dirty="0">
              <a:solidFill>
                <a:schemeClr val="bg1"/>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58610" y="2067694"/>
            <a:ext cx="4104456"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sym typeface="+mn-ea"/>
              </a:rPr>
              <a:t>如何安排编译后的目标代码的地址？</a:t>
            </a:r>
            <a:endParaRPr lang="zh-CN" altLang="en-US" sz="2400" b="1" dirty="0">
              <a:solidFill>
                <a:schemeClr val="bg1"/>
              </a:solidFill>
              <a:latin typeface="+mn-ea"/>
              <a:sym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992" y="1281469"/>
            <a:ext cx="3219822" cy="32198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1" name="组合 10"/>
          <p:cNvGrpSpPr/>
          <p:nvPr/>
        </p:nvGrpSpPr>
        <p:grpSpPr>
          <a:xfrm>
            <a:off x="1057248" y="1062443"/>
            <a:ext cx="6549741" cy="3340450"/>
            <a:chOff x="1057248" y="1062443"/>
            <a:chExt cx="6549741" cy="3340450"/>
          </a:xfrm>
        </p:grpSpPr>
        <p:sp>
          <p:nvSpPr>
            <p:cNvPr id="5" name="任意多边形 4"/>
            <p:cNvSpPr/>
            <p:nvPr/>
          </p:nvSpPr>
          <p:spPr>
            <a:xfrm>
              <a:off x="1057248" y="1062443"/>
              <a:ext cx="6323063" cy="2617240"/>
            </a:xfrm>
            <a:custGeom>
              <a:avLst/>
              <a:gdLst>
                <a:gd name="connsiteX0" fmla="*/ 161539 w 2705020"/>
                <a:gd name="connsiteY0" fmla="*/ 0 h 2019240"/>
                <a:gd name="connsiteX1" fmla="*/ 2543481 w 2705020"/>
                <a:gd name="connsiteY1" fmla="*/ 0 h 2019240"/>
                <a:gd name="connsiteX2" fmla="*/ 2705020 w 2705020"/>
                <a:gd name="connsiteY2" fmla="*/ 161539 h 2019240"/>
                <a:gd name="connsiteX3" fmla="*/ 2705020 w 2705020"/>
                <a:gd name="connsiteY3" fmla="*/ 2019240 h 2019240"/>
                <a:gd name="connsiteX4" fmla="*/ 2705020 w 2705020"/>
                <a:gd name="connsiteY4" fmla="*/ 2019240 h 2019240"/>
                <a:gd name="connsiteX5" fmla="*/ 0 w 2705020"/>
                <a:gd name="connsiteY5" fmla="*/ 2019240 h 2019240"/>
                <a:gd name="connsiteX6" fmla="*/ 0 w 2705020"/>
                <a:gd name="connsiteY6" fmla="*/ 2019240 h 2019240"/>
                <a:gd name="connsiteX7" fmla="*/ 0 w 2705020"/>
                <a:gd name="connsiteY7" fmla="*/ 161539 h 2019240"/>
                <a:gd name="connsiteX8" fmla="*/ 161539 w 2705020"/>
                <a:gd name="connsiteY8" fmla="*/ 0 h 201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5020" h="2019240">
                  <a:moveTo>
                    <a:pt x="161539" y="0"/>
                  </a:moveTo>
                  <a:lnTo>
                    <a:pt x="2543481" y="0"/>
                  </a:lnTo>
                  <a:cubicBezTo>
                    <a:pt x="2632697" y="0"/>
                    <a:pt x="2705020" y="72323"/>
                    <a:pt x="2705020" y="161539"/>
                  </a:cubicBezTo>
                  <a:lnTo>
                    <a:pt x="2705020" y="2019240"/>
                  </a:lnTo>
                  <a:lnTo>
                    <a:pt x="2705020" y="2019240"/>
                  </a:lnTo>
                  <a:lnTo>
                    <a:pt x="0" y="2019240"/>
                  </a:lnTo>
                  <a:lnTo>
                    <a:pt x="0" y="2019240"/>
                  </a:lnTo>
                  <a:lnTo>
                    <a:pt x="0" y="161539"/>
                  </a:lnTo>
                  <a:cubicBezTo>
                    <a:pt x="0" y="72323"/>
                    <a:pt x="72323" y="0"/>
                    <a:pt x="161539" y="0"/>
                  </a:cubicBez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7793" tIns="138753" rIns="77793" bIns="30480"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按照物理存储器中的位置赋予实际物理地址。</a:t>
              </a:r>
              <a:endParaRPr lang="en-US" altLang="zh-CN" sz="2400" b="1" dirty="0" smtClean="0"/>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能装入内存并发执行的进程数将会大大减少</a:t>
              </a:r>
              <a:endParaRPr lang="en-US" altLang="zh-CN" sz="2400" b="1" dirty="0" smtClean="0"/>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对于较大的进程，当其所要求的总内存容量超过内存容量时将无法执行，</a:t>
              </a:r>
              <a:endParaRPr lang="en-US" altLang="zh-CN" sz="2400" b="1" dirty="0" smtClean="0"/>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编译程序必须知道当前内存的空闲部分及其地址，编译程序将非常复杂</a:t>
              </a:r>
              <a:endParaRPr lang="zh-CN" altLang="en-US" sz="2400" b="1" dirty="0"/>
            </a:p>
          </p:txBody>
        </p:sp>
        <p:sp>
          <p:nvSpPr>
            <p:cNvPr id="6" name="任意多边形 5"/>
            <p:cNvSpPr/>
            <p:nvPr/>
          </p:nvSpPr>
          <p:spPr>
            <a:xfrm>
              <a:off x="1057249" y="3526260"/>
              <a:ext cx="6323062" cy="868273"/>
            </a:xfrm>
            <a:custGeom>
              <a:avLst/>
              <a:gdLst>
                <a:gd name="connsiteX0" fmla="*/ 0 w 2705020"/>
                <a:gd name="connsiteY0" fmla="*/ 0 h 868273"/>
                <a:gd name="connsiteX1" fmla="*/ 2705020 w 2705020"/>
                <a:gd name="connsiteY1" fmla="*/ 0 h 868273"/>
                <a:gd name="connsiteX2" fmla="*/ 2705020 w 2705020"/>
                <a:gd name="connsiteY2" fmla="*/ 868273 h 868273"/>
                <a:gd name="connsiteX3" fmla="*/ 0 w 2705020"/>
                <a:gd name="connsiteY3" fmla="*/ 868273 h 868273"/>
                <a:gd name="connsiteX4" fmla="*/ 0 w 2705020"/>
                <a:gd name="connsiteY4" fmla="*/ 0 h 868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5020" h="868273">
                  <a:moveTo>
                    <a:pt x="0" y="0"/>
                  </a:moveTo>
                  <a:lnTo>
                    <a:pt x="2705020" y="0"/>
                  </a:lnTo>
                  <a:lnTo>
                    <a:pt x="2705020" y="868273"/>
                  </a:lnTo>
                  <a:lnTo>
                    <a:pt x="0" y="868273"/>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25730" tIns="0" rIns="841987" bIns="0" numCol="1" spcCol="1270" anchor="ctr" anchorCtr="0">
              <a:noAutofit/>
            </a:bodyPr>
            <a:lstStyle/>
            <a:p>
              <a:pPr lvl="0" algn="ctr" defTabSz="1466850">
                <a:lnSpc>
                  <a:spcPct val="90000"/>
                </a:lnSpc>
                <a:spcBef>
                  <a:spcPct val="0"/>
                </a:spcBef>
                <a:spcAft>
                  <a:spcPct val="35000"/>
                </a:spcAft>
              </a:pPr>
              <a:r>
                <a:rPr lang="zh-CN" altLang="en-US" sz="3200" b="1" kern="1200" dirty="0" smtClean="0">
                  <a:latin typeface="+mn-ea"/>
                  <a:sym typeface="+mn-ea"/>
                </a:rPr>
                <a:t>解决方案</a:t>
              </a:r>
              <a:r>
                <a:rPr lang="en-US" altLang="zh-CN" sz="3200" b="1" kern="1200" dirty="0" smtClean="0">
                  <a:latin typeface="+mn-ea"/>
                  <a:sym typeface="+mn-ea"/>
                </a:rPr>
                <a:t>1</a:t>
              </a:r>
              <a:endParaRPr lang="zh-CN" altLang="en-US" sz="3200" kern="1200" dirty="0"/>
            </a:p>
          </p:txBody>
        </p:sp>
        <p:sp>
          <p:nvSpPr>
            <p:cNvPr id="7" name="椭圆 6"/>
            <p:cNvSpPr/>
            <p:nvPr/>
          </p:nvSpPr>
          <p:spPr>
            <a:xfrm>
              <a:off x="6660232" y="3456136"/>
              <a:ext cx="946757" cy="946757"/>
            </a:xfrm>
            <a:prstGeom prst="ellipse">
              <a:avLst/>
            </a:prstGeom>
            <a:scene3d>
              <a:camera prst="orthographicFront"/>
              <a:lightRig rig="threePt" dir="t">
                <a:rot lat="0" lon="0" rev="7500000"/>
              </a:lightRig>
            </a:scene3d>
            <a:sp3d z="152400" extrusionH="63500" prstMaterial="dkEdge">
              <a:bevelT w="125400" h="36350" prst="relaxedInset"/>
              <a:contourClr>
                <a:schemeClr val="bg1"/>
              </a:contourClr>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2" name="组合 11"/>
          <p:cNvGrpSpPr/>
          <p:nvPr/>
        </p:nvGrpSpPr>
        <p:grpSpPr>
          <a:xfrm>
            <a:off x="899592" y="984631"/>
            <a:ext cx="6923421" cy="3701169"/>
            <a:chOff x="966022" y="750225"/>
            <a:chExt cx="6923421" cy="3701169"/>
          </a:xfrm>
        </p:grpSpPr>
        <p:sp>
          <p:nvSpPr>
            <p:cNvPr id="8" name="任意多边形 7"/>
            <p:cNvSpPr/>
            <p:nvPr/>
          </p:nvSpPr>
          <p:spPr>
            <a:xfrm>
              <a:off x="966022" y="750225"/>
              <a:ext cx="6702322" cy="2789717"/>
            </a:xfrm>
            <a:custGeom>
              <a:avLst/>
              <a:gdLst>
                <a:gd name="connsiteX0" fmla="*/ 161539 w 2705020"/>
                <a:gd name="connsiteY0" fmla="*/ 0 h 2019240"/>
                <a:gd name="connsiteX1" fmla="*/ 2543481 w 2705020"/>
                <a:gd name="connsiteY1" fmla="*/ 0 h 2019240"/>
                <a:gd name="connsiteX2" fmla="*/ 2705020 w 2705020"/>
                <a:gd name="connsiteY2" fmla="*/ 161539 h 2019240"/>
                <a:gd name="connsiteX3" fmla="*/ 2705020 w 2705020"/>
                <a:gd name="connsiteY3" fmla="*/ 2019240 h 2019240"/>
                <a:gd name="connsiteX4" fmla="*/ 2705020 w 2705020"/>
                <a:gd name="connsiteY4" fmla="*/ 2019240 h 2019240"/>
                <a:gd name="connsiteX5" fmla="*/ 0 w 2705020"/>
                <a:gd name="connsiteY5" fmla="*/ 2019240 h 2019240"/>
                <a:gd name="connsiteX6" fmla="*/ 0 w 2705020"/>
                <a:gd name="connsiteY6" fmla="*/ 2019240 h 2019240"/>
                <a:gd name="connsiteX7" fmla="*/ 0 w 2705020"/>
                <a:gd name="connsiteY7" fmla="*/ 161539 h 2019240"/>
                <a:gd name="connsiteX8" fmla="*/ 161539 w 2705020"/>
                <a:gd name="connsiteY8" fmla="*/ 0 h 201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5020" h="2019240">
                  <a:moveTo>
                    <a:pt x="161539" y="0"/>
                  </a:moveTo>
                  <a:lnTo>
                    <a:pt x="2543481" y="0"/>
                  </a:lnTo>
                  <a:cubicBezTo>
                    <a:pt x="2632697" y="0"/>
                    <a:pt x="2705020" y="72323"/>
                    <a:pt x="2705020" y="161539"/>
                  </a:cubicBezTo>
                  <a:lnTo>
                    <a:pt x="2705020" y="2019240"/>
                  </a:lnTo>
                  <a:lnTo>
                    <a:pt x="2705020" y="2019240"/>
                  </a:lnTo>
                  <a:lnTo>
                    <a:pt x="0" y="2019240"/>
                  </a:lnTo>
                  <a:lnTo>
                    <a:pt x="0" y="2019240"/>
                  </a:lnTo>
                  <a:lnTo>
                    <a:pt x="0" y="161539"/>
                  </a:lnTo>
                  <a:cubicBezTo>
                    <a:pt x="0" y="72323"/>
                    <a:pt x="72323" y="0"/>
                    <a:pt x="161539" y="0"/>
                  </a:cubicBez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713" tIns="123513" rIns="72713" bIns="25400" numCol="1" spcCol="1270" anchor="t" anchorCtr="0">
              <a:noAutofit/>
            </a:bodyPr>
            <a:lstStyle/>
            <a:p>
              <a:pPr marL="0" lvl="1" algn="just"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编译链接程序把用户源程序编译后链接到一个以“</a:t>
              </a:r>
              <a:r>
                <a:rPr lang="en-US" altLang="zh-CN" sz="2400" b="1" dirty="0" smtClean="0"/>
                <a:t>0</a:t>
              </a:r>
              <a:r>
                <a:rPr lang="zh-CN" altLang="en-US" sz="2400" b="1" dirty="0" smtClean="0"/>
                <a:t>”为始地址的线性或多维</a:t>
              </a:r>
              <a:r>
                <a:rPr lang="zh-CN" altLang="en-US" sz="2400" b="1" dirty="0" smtClean="0">
                  <a:solidFill>
                    <a:srgbClr val="FF0000"/>
                  </a:solidFill>
                </a:rPr>
                <a:t>虚拟地址空间</a:t>
              </a:r>
              <a:r>
                <a:rPr lang="zh-CN" altLang="en-US" sz="2400" b="1" dirty="0" smtClean="0"/>
                <a:t>。</a:t>
              </a:r>
              <a:endParaRPr lang="en-US" altLang="zh-CN" sz="2400" b="1" dirty="0" smtClean="0"/>
            </a:p>
            <a:p>
              <a:pPr marL="0" lvl="1" algn="just"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每个进程都拥有这样一个空间。每个指令或数据单元都在这个虚拟空间中拥有确定的地址（</a:t>
              </a:r>
              <a:r>
                <a:rPr lang="zh-CN" altLang="en-US" sz="2400" b="1" dirty="0" smtClean="0">
                  <a:solidFill>
                    <a:srgbClr val="FF0000"/>
                  </a:solidFill>
                </a:rPr>
                <a:t>虚拟地址</a:t>
              </a:r>
              <a:r>
                <a:rPr lang="zh-CN" altLang="en-US" sz="2400" b="1" dirty="0" smtClean="0"/>
                <a:t>）。</a:t>
              </a:r>
              <a:endParaRPr lang="en-US" altLang="zh-CN" sz="2400" b="1" dirty="0" smtClean="0"/>
            </a:p>
            <a:p>
              <a:pPr marL="0" lvl="1" algn="just" defTabSz="622300">
                <a:lnSpc>
                  <a:spcPct val="90000"/>
                </a:lnSpc>
                <a:spcBef>
                  <a:spcPct val="0"/>
                </a:spcBef>
                <a:spcAft>
                  <a:spcPct val="15000"/>
                </a:spcAft>
                <a:buClr>
                  <a:srgbClr val="002060"/>
                </a:buClr>
                <a:buFont typeface="Wingdings" panose="05000000000000000000" pitchFamily="2" charset="2"/>
                <a:buChar char="Ø"/>
              </a:pPr>
              <a:r>
                <a:rPr lang="zh-CN" altLang="en-US" sz="2400" b="1" dirty="0" smtClean="0"/>
                <a:t>进程在该空间的地址排列可以是非连续的，其实际物理地址由虚拟地址到实际地址的变换得到</a:t>
              </a:r>
              <a:endParaRPr lang="zh-CN" altLang="en-US" sz="2400" b="1" dirty="0"/>
            </a:p>
          </p:txBody>
        </p:sp>
        <p:sp>
          <p:nvSpPr>
            <p:cNvPr id="9" name="任意多边形 8"/>
            <p:cNvSpPr/>
            <p:nvPr/>
          </p:nvSpPr>
          <p:spPr>
            <a:xfrm>
              <a:off x="966022" y="3543880"/>
              <a:ext cx="6702322" cy="868273"/>
            </a:xfrm>
            <a:custGeom>
              <a:avLst/>
              <a:gdLst>
                <a:gd name="connsiteX0" fmla="*/ 0 w 2705020"/>
                <a:gd name="connsiteY0" fmla="*/ 0 h 868273"/>
                <a:gd name="connsiteX1" fmla="*/ 2705020 w 2705020"/>
                <a:gd name="connsiteY1" fmla="*/ 0 h 868273"/>
                <a:gd name="connsiteX2" fmla="*/ 2705020 w 2705020"/>
                <a:gd name="connsiteY2" fmla="*/ 868273 h 868273"/>
                <a:gd name="connsiteX3" fmla="*/ 0 w 2705020"/>
                <a:gd name="connsiteY3" fmla="*/ 868273 h 868273"/>
                <a:gd name="connsiteX4" fmla="*/ 0 w 2705020"/>
                <a:gd name="connsiteY4" fmla="*/ 0 h 868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5020" h="868273">
                  <a:moveTo>
                    <a:pt x="0" y="0"/>
                  </a:moveTo>
                  <a:lnTo>
                    <a:pt x="2705020" y="0"/>
                  </a:lnTo>
                  <a:lnTo>
                    <a:pt x="2705020" y="868273"/>
                  </a:lnTo>
                  <a:lnTo>
                    <a:pt x="0" y="868273"/>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25730" tIns="0" rIns="841987" bIns="0" numCol="1" spcCol="1270" anchor="ctr" anchorCtr="0">
              <a:noAutofit/>
            </a:bodyPr>
            <a:lstStyle/>
            <a:p>
              <a:pPr lvl="0" algn="ctr" defTabSz="1466850">
                <a:lnSpc>
                  <a:spcPct val="90000"/>
                </a:lnSpc>
                <a:spcBef>
                  <a:spcPct val="0"/>
                </a:spcBef>
                <a:spcAft>
                  <a:spcPct val="35000"/>
                </a:spcAft>
              </a:pPr>
              <a:r>
                <a:rPr lang="zh-CN" altLang="en-US" sz="3300" b="1" kern="1200" dirty="0" smtClean="0">
                  <a:latin typeface="+mn-ea"/>
                  <a:sym typeface="+mn-ea"/>
                </a:rPr>
                <a:t>解决方案</a:t>
              </a:r>
              <a:r>
                <a:rPr lang="en-US" altLang="zh-CN" sz="3300" b="1" kern="1200" dirty="0" smtClean="0">
                  <a:latin typeface="+mn-ea"/>
                  <a:sym typeface="+mn-ea"/>
                </a:rPr>
                <a:t>2</a:t>
              </a:r>
              <a:endParaRPr lang="zh-CN" altLang="en-US" sz="3300" kern="1200" dirty="0"/>
            </a:p>
          </p:txBody>
        </p:sp>
        <p:sp>
          <p:nvSpPr>
            <p:cNvPr id="10" name="椭圆 9"/>
            <p:cNvSpPr/>
            <p:nvPr/>
          </p:nvSpPr>
          <p:spPr>
            <a:xfrm>
              <a:off x="6942686" y="3504637"/>
              <a:ext cx="946757" cy="946757"/>
            </a:xfrm>
            <a:prstGeom prst="ellipse">
              <a:avLst/>
            </a:prstGeom>
            <a:scene3d>
              <a:camera prst="orthographicFront"/>
              <a:lightRig rig="threePt" dir="t">
                <a:rot lat="0" lon="0" rev="7500000"/>
              </a:lightRig>
            </a:scene3d>
            <a:sp3d z="152400" extrusionH="63500" prstMaterial="dkEdge">
              <a:bevelT w="125400" h="36350" prst="relaxedInset"/>
              <a:contourClr>
                <a:schemeClr val="bg1"/>
              </a:contourClr>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2" descr="E:\操作系统教材编写\张校长教材\新版\e1.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5680" y="1750353"/>
            <a:ext cx="6762788" cy="669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683568" y="1247736"/>
            <a:ext cx="4032448" cy="1538864"/>
            <a:chOff x="683568" y="1247736"/>
            <a:chExt cx="4032448" cy="1538864"/>
          </a:xfrm>
        </p:grpSpPr>
        <p:sp>
          <p:nvSpPr>
            <p:cNvPr id="2" name="椭圆 1"/>
            <p:cNvSpPr/>
            <p:nvPr/>
          </p:nvSpPr>
          <p:spPr>
            <a:xfrm>
              <a:off x="683568" y="1247736"/>
              <a:ext cx="4032448" cy="1538864"/>
            </a:xfrm>
            <a:prstGeom prst="ellipse">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1835696" y="1315436"/>
              <a:ext cx="2232248" cy="461665"/>
            </a:xfrm>
            <a:prstGeom prst="rect">
              <a:avLst/>
            </a:prstGeom>
            <a:noFill/>
          </p:spPr>
          <p:txBody>
            <a:bodyPr wrap="square" rtlCol="0">
              <a:spAutoFit/>
            </a:bodyPr>
            <a:lstStyle/>
            <a:p>
              <a:r>
                <a:rPr lang="zh-CN" altLang="en-US" sz="2400" b="1" dirty="0" smtClean="0">
                  <a:solidFill>
                    <a:schemeClr val="bg1"/>
                  </a:solidFill>
                </a:rPr>
                <a:t>语言系统解决</a:t>
              </a:r>
              <a:endParaRPr lang="zh-CN" altLang="en-US" sz="2400" b="1" dirty="0">
                <a:solidFill>
                  <a:schemeClr val="bg1"/>
                </a:solidFill>
              </a:endParaRPr>
            </a:p>
          </p:txBody>
        </p:sp>
      </p:grpSp>
      <p:grpSp>
        <p:nvGrpSpPr>
          <p:cNvPr id="30" name="组合 29"/>
          <p:cNvGrpSpPr/>
          <p:nvPr/>
        </p:nvGrpSpPr>
        <p:grpSpPr>
          <a:xfrm>
            <a:off x="3213972" y="1247736"/>
            <a:ext cx="4464496" cy="1538864"/>
            <a:chOff x="683568" y="1247736"/>
            <a:chExt cx="4032448" cy="1538864"/>
          </a:xfrm>
        </p:grpSpPr>
        <p:sp>
          <p:nvSpPr>
            <p:cNvPr id="31" name="椭圆 30"/>
            <p:cNvSpPr/>
            <p:nvPr/>
          </p:nvSpPr>
          <p:spPr>
            <a:xfrm>
              <a:off x="683568" y="1247736"/>
              <a:ext cx="4032448" cy="1538864"/>
            </a:xfrm>
            <a:prstGeom prst="ellipse">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文本框 31"/>
            <p:cNvSpPr txBox="1"/>
            <p:nvPr/>
          </p:nvSpPr>
          <p:spPr>
            <a:xfrm>
              <a:off x="1835696" y="1315436"/>
              <a:ext cx="2232248" cy="461665"/>
            </a:xfrm>
            <a:prstGeom prst="rect">
              <a:avLst/>
            </a:prstGeom>
            <a:noFill/>
          </p:spPr>
          <p:txBody>
            <a:bodyPr wrap="square" rtlCol="0">
              <a:spAutoFit/>
            </a:bodyPr>
            <a:lstStyle/>
            <a:p>
              <a:r>
                <a:rPr lang="zh-CN" altLang="en-US" sz="2400" b="1" dirty="0" smtClean="0">
                  <a:solidFill>
                    <a:schemeClr val="bg1"/>
                  </a:solidFill>
                </a:rPr>
                <a:t>操作系统解决</a:t>
              </a:r>
              <a:endParaRPr lang="zh-CN" altLang="en-US" sz="2400" b="1" dirty="0">
                <a:solidFill>
                  <a:schemeClr val="bg1"/>
                </a:solidFill>
              </a:endParaRPr>
            </a:p>
          </p:txBody>
        </p:sp>
      </p:grpSp>
      <p:sp>
        <p:nvSpPr>
          <p:cNvPr id="5" name="矩形 4"/>
          <p:cNvSpPr/>
          <p:nvPr/>
        </p:nvSpPr>
        <p:spPr>
          <a:xfrm>
            <a:off x="913944" y="2922001"/>
            <a:ext cx="6762788"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将进程中的目标代码、数据等的虚拟地址组成的虚拟空间称为</a:t>
            </a:r>
            <a:r>
              <a:rPr lang="zh-CN" altLang="en-US" sz="2400" b="1" dirty="0" smtClean="0">
                <a:solidFill>
                  <a:srgbClr val="FFFF00"/>
                </a:solidFill>
                <a:latin typeface="+mn-ea"/>
              </a:rPr>
              <a:t>虚拟内存</a:t>
            </a:r>
            <a:r>
              <a:rPr lang="en-US" altLang="zh-CN" sz="2400" b="1" dirty="0" smtClean="0">
                <a:solidFill>
                  <a:schemeClr val="bg1"/>
                </a:solidFill>
                <a:latin typeface="+mn-ea"/>
              </a:rPr>
              <a:t>(virtual store</a:t>
            </a:r>
            <a:r>
              <a:rPr lang="zh-CN" altLang="en-US" sz="2400" b="1" dirty="0" smtClean="0">
                <a:solidFill>
                  <a:schemeClr val="bg1"/>
                </a:solidFill>
                <a:latin typeface="+mn-ea"/>
              </a:rPr>
              <a:t>或</a:t>
            </a:r>
            <a:r>
              <a:rPr lang="en-US" altLang="zh-CN" sz="2400" b="1" dirty="0" smtClean="0">
                <a:solidFill>
                  <a:schemeClr val="bg1"/>
                </a:solidFill>
                <a:latin typeface="+mn-ea"/>
              </a:rPr>
              <a:t>virtual memory)</a:t>
            </a:r>
            <a:r>
              <a:rPr lang="zh-CN" altLang="en-US" sz="2400" b="1" dirty="0" smtClean="0">
                <a:solidFill>
                  <a:schemeClr val="bg1"/>
                </a:solidFill>
                <a:latin typeface="+mn-ea"/>
              </a:rPr>
              <a:t>。</a:t>
            </a:r>
            <a:endParaRPr lang="zh-CN" altLang="en-US" sz="2400" b="1" dirty="0">
              <a:solidFill>
                <a:schemeClr val="bg1"/>
              </a:solidFill>
              <a:latin typeface="+mn-ea"/>
            </a:endParaRPr>
          </a:p>
        </p:txBody>
      </p:sp>
      <p:sp>
        <p:nvSpPr>
          <p:cNvPr id="6" name="线形标注 1 5"/>
          <p:cNvSpPr/>
          <p:nvPr/>
        </p:nvSpPr>
        <p:spPr>
          <a:xfrm>
            <a:off x="5436096" y="2922001"/>
            <a:ext cx="3312368" cy="1592526"/>
          </a:xfrm>
          <a:prstGeom prst="borderCallout1">
            <a:avLst>
              <a:gd name="adj1" fmla="val 18750"/>
              <a:gd name="adj2" fmla="val -8333"/>
              <a:gd name="adj3" fmla="val -10312"/>
              <a:gd name="adj4" fmla="val -26207"/>
            </a:avLst>
          </a:prstGeom>
          <a:ln w="57150"/>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a:t>要实现这个变换，必须要有相应的硬件支持，并使这些硬件能够完成统一管理内存和外存之间数据和程序段自动交换的虚拟存储器功能。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6"/>
                                        </p:tgtEl>
                                      </p:cBhvr>
                                    </p:animEffect>
                                    <p:set>
                                      <p:cBhvr>
                                        <p:cTn id="3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755576" y="1257112"/>
            <a:ext cx="6886102" cy="3410164"/>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虚拟内存不</a:t>
            </a:r>
            <a:r>
              <a:rPr lang="zh-CN" altLang="en-US" sz="2200" b="1" dirty="0">
                <a:solidFill>
                  <a:schemeClr val="bg1"/>
                </a:solidFill>
                <a:latin typeface="+mn-ea"/>
              </a:rPr>
              <a:t>考虑物理存储器的大小和信息存放的实际位置，</a:t>
            </a:r>
            <a:r>
              <a:rPr lang="zh-CN" altLang="en-US" sz="2200" b="1" dirty="0">
                <a:solidFill>
                  <a:srgbClr val="FFFF00"/>
                </a:solidFill>
                <a:latin typeface="+mn-ea"/>
              </a:rPr>
              <a:t>只规定每个进程中互相关连信息的相对位置</a:t>
            </a:r>
            <a:r>
              <a:rPr lang="zh-CN" altLang="en-US" sz="2200" b="1" dirty="0">
                <a:solidFill>
                  <a:schemeClr val="bg1"/>
                </a:solidFill>
                <a:latin typeface="+mn-ea"/>
              </a:rPr>
              <a:t>。与实际物理存储器数量有限，且被所有进程共享不一样，</a:t>
            </a:r>
            <a:r>
              <a:rPr lang="zh-CN" altLang="en-US" sz="2200" b="1" dirty="0">
                <a:solidFill>
                  <a:srgbClr val="FFFF00"/>
                </a:solidFill>
                <a:latin typeface="+mn-ea"/>
              </a:rPr>
              <a:t>每个进程都拥有自己的</a:t>
            </a:r>
            <a:r>
              <a:rPr lang="zh-CN" altLang="en-US" sz="2200" b="1" dirty="0" smtClean="0">
                <a:solidFill>
                  <a:srgbClr val="FFFF00"/>
                </a:solidFill>
                <a:latin typeface="+mn-ea"/>
              </a:rPr>
              <a:t>虚拟内存</a:t>
            </a:r>
            <a:r>
              <a:rPr lang="zh-CN" altLang="en-US" sz="2200" b="1" dirty="0" smtClean="0">
                <a:solidFill>
                  <a:schemeClr val="bg1"/>
                </a:solidFill>
                <a:latin typeface="+mn-ea"/>
              </a:rPr>
              <a:t>，</a:t>
            </a:r>
            <a:r>
              <a:rPr lang="zh-CN" altLang="en-US" sz="2200" b="1" dirty="0">
                <a:solidFill>
                  <a:schemeClr val="bg1"/>
                </a:solidFill>
                <a:latin typeface="+mn-ea"/>
              </a:rPr>
              <a:t>且</a:t>
            </a:r>
            <a:r>
              <a:rPr lang="zh-CN" altLang="en-US" sz="2200" b="1" dirty="0" smtClean="0">
                <a:solidFill>
                  <a:schemeClr val="bg1"/>
                </a:solidFill>
                <a:latin typeface="+mn-ea"/>
              </a:rPr>
              <a:t>虚拟内存的</a:t>
            </a:r>
            <a:r>
              <a:rPr lang="zh-CN" altLang="en-US" sz="2200" b="1" dirty="0">
                <a:solidFill>
                  <a:schemeClr val="bg1"/>
                </a:solidFill>
                <a:latin typeface="+mn-ea"/>
              </a:rPr>
              <a:t>容量是由计算机的地址结构和寻址方式确定的。</a:t>
            </a:r>
          </a:p>
          <a:p>
            <a:pPr marL="0" lvl="1" algn="just">
              <a:lnSpc>
                <a:spcPct val="14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直接寻址时，如果</a:t>
            </a:r>
            <a:r>
              <a:rPr lang="en-US" altLang="zh-CN" sz="2200" b="1" dirty="0">
                <a:solidFill>
                  <a:schemeClr val="bg1"/>
                </a:solidFill>
                <a:latin typeface="+mn-ea"/>
              </a:rPr>
              <a:t>CPU</a:t>
            </a:r>
            <a:r>
              <a:rPr lang="zh-CN" altLang="en-US" sz="2200" b="1" dirty="0">
                <a:solidFill>
                  <a:schemeClr val="bg1"/>
                </a:solidFill>
                <a:latin typeface="+mn-ea"/>
              </a:rPr>
              <a:t>的有效地址长度为</a:t>
            </a:r>
            <a:r>
              <a:rPr lang="en-US" altLang="zh-CN" sz="2200" b="1" dirty="0">
                <a:solidFill>
                  <a:schemeClr val="bg1"/>
                </a:solidFill>
                <a:latin typeface="+mn-ea"/>
              </a:rPr>
              <a:t>16</a:t>
            </a:r>
            <a:r>
              <a:rPr lang="zh-CN" altLang="en-US" sz="2200" b="1" dirty="0">
                <a:solidFill>
                  <a:schemeClr val="bg1"/>
                </a:solidFill>
                <a:latin typeface="+mn-ea"/>
              </a:rPr>
              <a:t>位，则其寻址范围为</a:t>
            </a:r>
            <a:r>
              <a:rPr lang="en-US" altLang="zh-CN" sz="2200" b="1" dirty="0">
                <a:solidFill>
                  <a:schemeClr val="bg1"/>
                </a:solidFill>
                <a:latin typeface="+mn-ea"/>
              </a:rPr>
              <a:t>0</a:t>
            </a:r>
            <a:r>
              <a:rPr lang="zh-CN" altLang="en-US" sz="2200" b="1" dirty="0">
                <a:solidFill>
                  <a:schemeClr val="bg1"/>
                </a:solidFill>
                <a:latin typeface="+mn-ea"/>
              </a:rPr>
              <a:t>到</a:t>
            </a:r>
            <a:r>
              <a:rPr lang="en-US" altLang="zh-CN" sz="2200" b="1" dirty="0">
                <a:solidFill>
                  <a:schemeClr val="bg1"/>
                </a:solidFill>
                <a:latin typeface="+mn-ea"/>
              </a:rPr>
              <a:t>64K</a:t>
            </a:r>
            <a:r>
              <a:rPr lang="zh-CN" altLang="en-US" sz="2200" b="1" dirty="0">
                <a:solidFill>
                  <a:schemeClr val="bg1"/>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虚拟内存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755576" y="1257112"/>
            <a:ext cx="6886102" cy="3410164"/>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由于每个进程都拥有自己的虚存，且每个虚</a:t>
            </a:r>
            <a:r>
              <a:rPr lang="zh-CN" altLang="en-US" sz="2200" b="1" dirty="0">
                <a:solidFill>
                  <a:srgbClr val="FFFF00"/>
                </a:solidFill>
                <a:latin typeface="+mn-ea"/>
              </a:rPr>
              <a:t>存的大小不受实际物理存储器的限制</a:t>
            </a:r>
            <a:r>
              <a:rPr lang="zh-CN" altLang="en-US" sz="2200" b="1" dirty="0">
                <a:solidFill>
                  <a:schemeClr val="bg1"/>
                </a:solidFill>
                <a:latin typeface="+mn-ea"/>
              </a:rPr>
              <a:t>，因此，系统不可能提供足够大的内存来存放所有进程的内容。</a:t>
            </a:r>
            <a:r>
              <a:rPr lang="zh-CN" altLang="en-US" sz="2200" b="1" dirty="0">
                <a:solidFill>
                  <a:srgbClr val="FFFF00"/>
                </a:solidFill>
                <a:latin typeface="+mn-ea"/>
              </a:rPr>
              <a:t>内存中只能存放那些经常被访问的程序和数据段</a:t>
            </a:r>
            <a:r>
              <a:rPr lang="zh-CN" altLang="en-US" sz="2200" b="1" dirty="0">
                <a:solidFill>
                  <a:schemeClr val="bg1"/>
                </a:solidFill>
                <a:latin typeface="+mn-ea"/>
              </a:rPr>
              <a:t>等。这就需要有相当大的</a:t>
            </a:r>
            <a:r>
              <a:rPr lang="zh-CN" altLang="en-US" sz="2200" b="1" dirty="0">
                <a:solidFill>
                  <a:srgbClr val="FFFF00"/>
                </a:solidFill>
                <a:latin typeface="+mn-ea"/>
              </a:rPr>
              <a:t>外部存储器</a:t>
            </a:r>
            <a:r>
              <a:rPr lang="zh-CN" altLang="en-US" sz="2200" b="1" dirty="0">
                <a:solidFill>
                  <a:schemeClr val="bg1"/>
                </a:solidFill>
                <a:latin typeface="+mn-ea"/>
              </a:rPr>
              <a:t>，以存储那些</a:t>
            </a:r>
            <a:r>
              <a:rPr lang="zh-CN" altLang="en-US" sz="2200" b="1" dirty="0">
                <a:solidFill>
                  <a:srgbClr val="FFFF00"/>
                </a:solidFill>
                <a:latin typeface="+mn-ea"/>
              </a:rPr>
              <a:t>不经常被访问或在某一段时间内不会被访问的信息</a:t>
            </a:r>
            <a:r>
              <a:rPr lang="zh-CN" altLang="en-US" sz="2200" b="1" dirty="0">
                <a:solidFill>
                  <a:schemeClr val="bg1"/>
                </a:solidFill>
                <a:latin typeface="+mn-ea"/>
              </a:rPr>
              <a:t>。待到进程执行过程中需要这些信息时，再从外存中自动调入主存。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899592" y="1491630"/>
            <a:ext cx="6624736" cy="2160591"/>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内存地址的集合</a:t>
            </a:r>
            <a:r>
              <a:rPr lang="zh-CN" altLang="en-US" sz="2400" b="1" dirty="0">
                <a:solidFill>
                  <a:schemeClr val="bg1"/>
                </a:solidFill>
                <a:latin typeface="+mn-ea"/>
              </a:rPr>
              <a:t>称为</a:t>
            </a:r>
            <a:r>
              <a:rPr lang="zh-CN" altLang="en-US" sz="2400" b="1" dirty="0">
                <a:solidFill>
                  <a:srgbClr val="FFFF00"/>
                </a:solidFill>
                <a:latin typeface="+mn-ea"/>
              </a:rPr>
              <a:t>内存空间</a:t>
            </a:r>
            <a:r>
              <a:rPr lang="zh-CN" altLang="en-US" sz="2400" b="1" dirty="0">
                <a:solidFill>
                  <a:schemeClr val="bg1"/>
                </a:solidFill>
                <a:latin typeface="+mn-ea"/>
              </a:rPr>
              <a:t>或</a:t>
            </a:r>
            <a:r>
              <a:rPr lang="zh-CN" altLang="en-US" sz="2400" b="1" dirty="0">
                <a:solidFill>
                  <a:srgbClr val="FFFF00"/>
                </a:solidFill>
                <a:latin typeface="+mn-ea"/>
              </a:rPr>
              <a:t>物理地址空间</a:t>
            </a:r>
            <a:r>
              <a:rPr lang="zh-CN" altLang="en-US" sz="2400" b="1" dirty="0">
                <a:solidFill>
                  <a:schemeClr val="bg1"/>
                </a:solidFill>
                <a:latin typeface="+mn-ea"/>
              </a:rPr>
              <a:t>。内存中，每一个存储单元都与相应的称为内存地址的编号相对应。显然，内存空间是</a:t>
            </a:r>
            <a:r>
              <a:rPr lang="zh-CN" altLang="en-US" sz="2400" b="1" dirty="0">
                <a:solidFill>
                  <a:srgbClr val="FFFF00"/>
                </a:solidFill>
                <a:latin typeface="+mn-ea"/>
              </a:rPr>
              <a:t>一维线性空间</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23106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a:t>
            </a:r>
            <a:r>
              <a:rPr lang="zh-CN" altLang="en-US" sz="3600" b="1"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827584" y="1563638"/>
            <a:ext cx="6886102"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如何把几个虚拟内存的一维线性空间或多维空间变换到内存唯一的一维物理线性空间</a:t>
            </a:r>
            <a:endParaRPr lang="en-US" altLang="zh-CN"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空心弧 3"/>
          <p:cNvSpPr/>
          <p:nvPr/>
        </p:nvSpPr>
        <p:spPr>
          <a:xfrm>
            <a:off x="-3276872" y="443375"/>
            <a:ext cx="5472816" cy="5472816"/>
          </a:xfrm>
          <a:prstGeom prst="blockArc">
            <a:avLst>
              <a:gd name="adj1" fmla="val 18900000"/>
              <a:gd name="adj2" fmla="val 2700000"/>
              <a:gd name="adj3" fmla="val 395"/>
            </a:avLst>
          </a:prstGeom>
          <a:scene3d>
            <a:camera prst="orthographicFront"/>
            <a:lightRig rig="flat" dir="t"/>
          </a:scene3d>
          <a:sp3d prstMaterial="matte"/>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sp>
      <p:grpSp>
        <p:nvGrpSpPr>
          <p:cNvPr id="12" name="组合 11"/>
          <p:cNvGrpSpPr/>
          <p:nvPr/>
        </p:nvGrpSpPr>
        <p:grpSpPr>
          <a:xfrm>
            <a:off x="1374442" y="1452582"/>
            <a:ext cx="4637719" cy="1016000"/>
            <a:chOff x="1374442" y="1452582"/>
            <a:chExt cx="4637719" cy="1016000"/>
          </a:xfrm>
        </p:grpSpPr>
        <p:sp>
          <p:nvSpPr>
            <p:cNvPr id="5" name="任意多边形 4"/>
            <p:cNvSpPr/>
            <p:nvPr/>
          </p:nvSpPr>
          <p:spPr>
            <a:xfrm>
              <a:off x="1882443" y="1554181"/>
              <a:ext cx="4129718" cy="869101"/>
            </a:xfrm>
            <a:custGeom>
              <a:avLst/>
              <a:gdLst>
                <a:gd name="connsiteX0" fmla="*/ 0 w 5475833"/>
                <a:gd name="connsiteY0" fmla="*/ 0 h 812800"/>
                <a:gd name="connsiteX1" fmla="*/ 5475833 w 5475833"/>
                <a:gd name="connsiteY1" fmla="*/ 0 h 812800"/>
                <a:gd name="connsiteX2" fmla="*/ 5475833 w 5475833"/>
                <a:gd name="connsiteY2" fmla="*/ 812800 h 812800"/>
                <a:gd name="connsiteX3" fmla="*/ 0 w 5475833"/>
                <a:gd name="connsiteY3" fmla="*/ 812800 h 812800"/>
                <a:gd name="connsiteX4" fmla="*/ 0 w 5475833"/>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5833" h="812800">
                  <a:moveTo>
                    <a:pt x="0" y="0"/>
                  </a:moveTo>
                  <a:lnTo>
                    <a:pt x="5475833" y="0"/>
                  </a:lnTo>
                  <a:lnTo>
                    <a:pt x="5475833" y="812800"/>
                  </a:lnTo>
                  <a:lnTo>
                    <a:pt x="0" y="812800"/>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645160" tIns="58420" rIns="58420" bIns="58420" numCol="1" spcCol="1270" anchor="ctr" anchorCtr="0">
              <a:noAutofit/>
            </a:bodyPr>
            <a:lstStyle/>
            <a:p>
              <a:pPr algn="ctr" defTabSz="1200150">
                <a:lnSpc>
                  <a:spcPct val="90000"/>
                </a:lnSpc>
                <a:spcBef>
                  <a:spcPct val="0"/>
                </a:spcBef>
                <a:spcAft>
                  <a:spcPct val="35000"/>
                </a:spcAft>
              </a:pPr>
              <a:r>
                <a:rPr lang="zh-CN" altLang="en-US" sz="2400" b="1" dirty="0"/>
                <a:t>虚拟空间的</a:t>
              </a:r>
              <a:r>
                <a:rPr lang="zh-CN" altLang="en-US" sz="2400" b="1" dirty="0">
                  <a:solidFill>
                    <a:srgbClr val="FFFF00"/>
                  </a:solidFill>
                </a:rPr>
                <a:t>划分</a:t>
              </a:r>
              <a:r>
                <a:rPr lang="zh-CN" altLang="en-US" sz="2400" b="1" dirty="0"/>
                <a:t>问题</a:t>
              </a:r>
            </a:p>
          </p:txBody>
        </p:sp>
        <p:sp>
          <p:nvSpPr>
            <p:cNvPr id="6" name="椭圆 5"/>
            <p:cNvSpPr/>
            <p:nvPr/>
          </p:nvSpPr>
          <p:spPr>
            <a:xfrm>
              <a:off x="1374442" y="1452582"/>
              <a:ext cx="1016000" cy="1016000"/>
            </a:xfrm>
            <a:prstGeom prst="ellipse">
              <a:avLst/>
            </a:pr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sp>
          <p:nvSpPr>
            <p:cNvPr id="11" name="文本框 10"/>
            <p:cNvSpPr txBox="1"/>
            <p:nvPr/>
          </p:nvSpPr>
          <p:spPr>
            <a:xfrm>
              <a:off x="1644913" y="1600684"/>
              <a:ext cx="648280" cy="646331"/>
            </a:xfrm>
            <a:prstGeom prst="rect">
              <a:avLst/>
            </a:prstGeom>
            <a:noFill/>
          </p:spPr>
          <p:txBody>
            <a:bodyPr wrap="square" rtlCol="0">
              <a:spAutoFit/>
            </a:bodyPr>
            <a:lstStyle/>
            <a:p>
              <a:r>
                <a:rPr lang="en-US" altLang="zh-CN" sz="3600" b="1" dirty="0" smtClean="0">
                  <a:ln w="6600">
                    <a:solidFill>
                      <a:schemeClr val="accent2"/>
                    </a:solidFill>
                    <a:prstDash val="solid"/>
                  </a:ln>
                  <a:solidFill>
                    <a:srgbClr val="FFFFFF"/>
                  </a:solidFill>
                  <a:effectLst>
                    <a:outerShdw dist="38100" dir="2700000" algn="tl" rotWithShape="0">
                      <a:schemeClr val="accent2"/>
                    </a:outerShdw>
                  </a:effectLst>
                </a:rPr>
                <a:t>1</a:t>
              </a:r>
              <a:endParaRPr lang="zh-CN" altLang="en-US" sz="3600" dirty="0"/>
            </a:p>
          </p:txBody>
        </p:sp>
      </p:grpSp>
      <p:grpSp>
        <p:nvGrpSpPr>
          <p:cNvPr id="13" name="组合 12"/>
          <p:cNvGrpSpPr/>
          <p:nvPr/>
        </p:nvGrpSpPr>
        <p:grpSpPr>
          <a:xfrm>
            <a:off x="1461053" y="2957005"/>
            <a:ext cx="6440799" cy="1520619"/>
            <a:chOff x="1461053" y="2957005"/>
            <a:chExt cx="6440799" cy="1520619"/>
          </a:xfrm>
        </p:grpSpPr>
        <p:sp>
          <p:nvSpPr>
            <p:cNvPr id="7" name="任意多边形 6"/>
            <p:cNvSpPr/>
            <p:nvPr/>
          </p:nvSpPr>
          <p:spPr>
            <a:xfrm>
              <a:off x="1907346" y="2957005"/>
              <a:ext cx="5994506" cy="1520619"/>
            </a:xfrm>
            <a:custGeom>
              <a:avLst/>
              <a:gdLst>
                <a:gd name="connsiteX0" fmla="*/ 0 w 5180380"/>
                <a:gd name="connsiteY0" fmla="*/ 0 h 812800"/>
                <a:gd name="connsiteX1" fmla="*/ 5180380 w 5180380"/>
                <a:gd name="connsiteY1" fmla="*/ 0 h 812800"/>
                <a:gd name="connsiteX2" fmla="*/ 5180380 w 5180380"/>
                <a:gd name="connsiteY2" fmla="*/ 812800 h 812800"/>
                <a:gd name="connsiteX3" fmla="*/ 0 w 5180380"/>
                <a:gd name="connsiteY3" fmla="*/ 812800 h 812800"/>
                <a:gd name="connsiteX4" fmla="*/ 0 w 5180380"/>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812800">
                  <a:moveTo>
                    <a:pt x="0" y="0"/>
                  </a:moveTo>
                  <a:lnTo>
                    <a:pt x="5180380" y="0"/>
                  </a:lnTo>
                  <a:lnTo>
                    <a:pt x="5180380" y="812800"/>
                  </a:lnTo>
                  <a:lnTo>
                    <a:pt x="0" y="812800"/>
                  </a:lnTo>
                  <a:lnTo>
                    <a:pt x="0" y="0"/>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2232385"/>
                <a:satOff val="13449"/>
                <a:lumOff val="1078"/>
                <a:alphaOff val="0"/>
              </a:schemeClr>
            </a:fillRef>
            <a:effectRef idx="2">
              <a:schemeClr val="accent4">
                <a:hueOff val="-2232385"/>
                <a:satOff val="13449"/>
                <a:lumOff val="1078"/>
                <a:alphaOff val="0"/>
              </a:schemeClr>
            </a:effectRef>
            <a:fontRef idx="minor">
              <a:schemeClr val="lt1"/>
            </a:fontRef>
          </p:style>
          <p:txBody>
            <a:bodyPr spcFirstLastPara="0" vert="horz" wrap="square" lIns="645160" tIns="58420" rIns="58420" bIns="58420" numCol="1" spcCol="1270" anchor="ctr" anchorCtr="0">
              <a:noAutofit/>
            </a:bodyPr>
            <a:lstStyle/>
            <a:p>
              <a:pPr defTabSz="1022350">
                <a:lnSpc>
                  <a:spcPct val="120000"/>
                </a:lnSpc>
                <a:spcBef>
                  <a:spcPct val="0"/>
                </a:spcBef>
                <a:spcAft>
                  <a:spcPct val="35000"/>
                </a:spcAft>
              </a:pPr>
              <a:r>
                <a:rPr lang="zh-CN" altLang="en-US" sz="2400" b="1" dirty="0"/>
                <a:t>把虚拟空间中已链接和划分好的内容装入内存，并将虚拟地址映射为内存地址的问题，称之为</a:t>
              </a:r>
              <a:r>
                <a:rPr lang="zh-CN" altLang="en-US" sz="2400" b="1" dirty="0">
                  <a:solidFill>
                    <a:srgbClr val="FFFF00"/>
                  </a:solidFill>
                </a:rPr>
                <a:t>地址重定位</a:t>
              </a:r>
              <a:r>
                <a:rPr lang="zh-CN" altLang="en-US" sz="2400" b="1" dirty="0"/>
                <a:t>或</a:t>
              </a:r>
              <a:r>
                <a:rPr lang="zh-CN" altLang="en-US" sz="2400" b="1" dirty="0">
                  <a:solidFill>
                    <a:srgbClr val="FFFF00"/>
                  </a:solidFill>
                </a:rPr>
                <a:t>地址映射</a:t>
              </a:r>
            </a:p>
          </p:txBody>
        </p:sp>
        <p:sp>
          <p:nvSpPr>
            <p:cNvPr id="8" name="椭圆 7"/>
            <p:cNvSpPr/>
            <p:nvPr/>
          </p:nvSpPr>
          <p:spPr>
            <a:xfrm>
              <a:off x="1461053" y="3353419"/>
              <a:ext cx="1016000" cy="1016000"/>
            </a:xfrm>
            <a:prstGeom prst="ellipse">
              <a:avLst/>
            </a:prstGeom>
            <a:scene3d>
              <a:camera prst="orthographicFront"/>
              <a:lightRig rig="flat" dir="t"/>
            </a:scene3d>
            <a:sp3d z="190500" extrusionH="12700" prstMaterial="plastic">
              <a:bevelT w="50800" h="50800"/>
            </a:sp3d>
          </p:spPr>
          <p:style>
            <a:lnRef idx="1">
              <a:schemeClr val="accent4">
                <a:hueOff val="-2232385"/>
                <a:satOff val="13449"/>
                <a:lumOff val="1078"/>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sp>
        <p:sp>
          <p:nvSpPr>
            <p:cNvPr id="29" name="文本框 28"/>
            <p:cNvSpPr txBox="1"/>
            <p:nvPr/>
          </p:nvSpPr>
          <p:spPr>
            <a:xfrm>
              <a:off x="1818915" y="3538253"/>
              <a:ext cx="648280" cy="646331"/>
            </a:xfrm>
            <a:prstGeom prst="rect">
              <a:avLst/>
            </a:prstGeom>
            <a:noFill/>
          </p:spPr>
          <p:txBody>
            <a:bodyPr wrap="square" rtlCol="0">
              <a:spAutoFit/>
            </a:bodyPr>
            <a:lstStyle/>
            <a:p>
              <a:r>
                <a:rPr lang="en-US" altLang="zh-CN" sz="3600" b="1" dirty="0" smtClean="0">
                  <a:ln w="6600">
                    <a:solidFill>
                      <a:schemeClr val="accent2"/>
                    </a:solidFill>
                    <a:prstDash val="solid"/>
                  </a:ln>
                  <a:solidFill>
                    <a:srgbClr val="FFFFFF"/>
                  </a:solidFill>
                  <a:effectLst>
                    <a:outerShdw dist="38100" dir="2700000" algn="tl" rotWithShape="0">
                      <a:schemeClr val="accent2"/>
                    </a:outerShdw>
                  </a:effectLst>
                </a:rPr>
                <a:t>2</a:t>
              </a:r>
              <a:endParaRPr lang="zh-CN" altLang="en-US" sz="36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23106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变换</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虚拟空间划分问题</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755576" y="1206162"/>
            <a:ext cx="6886102" cy="3847207"/>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VAX-11</a:t>
            </a:r>
            <a:r>
              <a:rPr lang="zh-CN" altLang="en-US" sz="2000" b="1" dirty="0">
                <a:solidFill>
                  <a:schemeClr val="bg1"/>
                </a:solidFill>
                <a:latin typeface="+mn-ea"/>
              </a:rPr>
              <a:t>型机中的虚拟空间就是划分为</a:t>
            </a:r>
            <a:r>
              <a:rPr lang="zh-CN" altLang="en-US" sz="2000" b="1" dirty="0">
                <a:solidFill>
                  <a:srgbClr val="FFFF00"/>
                </a:solidFill>
                <a:latin typeface="+mn-ea"/>
              </a:rPr>
              <a:t>进程空间</a:t>
            </a:r>
            <a:r>
              <a:rPr lang="zh-CN" altLang="en-US" sz="2000" b="1" dirty="0">
                <a:solidFill>
                  <a:schemeClr val="bg1"/>
                </a:solidFill>
                <a:latin typeface="+mn-ea"/>
              </a:rPr>
              <a:t>和</a:t>
            </a:r>
            <a:r>
              <a:rPr lang="zh-CN" altLang="en-US" sz="2000" b="1" dirty="0">
                <a:solidFill>
                  <a:srgbClr val="FFFF00"/>
                </a:solidFill>
                <a:latin typeface="+mn-ea"/>
              </a:rPr>
              <a:t>系统空间</a:t>
            </a:r>
            <a:r>
              <a:rPr lang="zh-CN" altLang="en-US" sz="2000" b="1" dirty="0">
                <a:solidFill>
                  <a:schemeClr val="bg1"/>
                </a:solidFill>
                <a:latin typeface="+mn-ea"/>
              </a:rPr>
              <a:t>两大部分，而进程空间又更进一步划分为</a:t>
            </a:r>
            <a:r>
              <a:rPr lang="zh-CN" altLang="en-US" sz="2000" b="1" dirty="0">
                <a:solidFill>
                  <a:srgbClr val="FFFF00"/>
                </a:solidFill>
                <a:latin typeface="+mn-ea"/>
              </a:rPr>
              <a:t>程序区</a:t>
            </a:r>
            <a:r>
              <a:rPr lang="zh-CN" altLang="en-US" sz="2000" b="1" dirty="0">
                <a:solidFill>
                  <a:schemeClr val="bg1"/>
                </a:solidFill>
                <a:latin typeface="+mn-ea"/>
              </a:rPr>
              <a:t>和</a:t>
            </a:r>
            <a:r>
              <a:rPr lang="zh-CN" altLang="en-US" sz="2000" b="1" dirty="0">
                <a:solidFill>
                  <a:srgbClr val="FFFF00"/>
                </a:solidFill>
                <a:latin typeface="+mn-ea"/>
              </a:rPr>
              <a:t>控制区</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en-US" altLang="zh-CN" sz="2000" b="1" dirty="0" smtClean="0">
                <a:solidFill>
                  <a:schemeClr val="bg1"/>
                </a:solidFill>
              </a:rPr>
              <a:t>VAX-11</a:t>
            </a:r>
            <a:r>
              <a:rPr lang="zh-CN" altLang="en-US" sz="2000" b="1" dirty="0">
                <a:solidFill>
                  <a:schemeClr val="bg1"/>
                </a:solidFill>
              </a:rPr>
              <a:t>的虚拟空间容量为</a:t>
            </a:r>
            <a:r>
              <a:rPr lang="en-US" altLang="zh-CN" sz="2000" b="1" dirty="0">
                <a:solidFill>
                  <a:schemeClr val="bg1"/>
                </a:solidFill>
              </a:rPr>
              <a:t>2</a:t>
            </a:r>
            <a:r>
              <a:rPr lang="en-US" altLang="zh-CN" sz="2000" b="1" baseline="30000" dirty="0">
                <a:solidFill>
                  <a:schemeClr val="bg1"/>
                </a:solidFill>
              </a:rPr>
              <a:t>32</a:t>
            </a:r>
            <a:r>
              <a:rPr lang="zh-CN" altLang="en-US" sz="2000" b="1" dirty="0">
                <a:solidFill>
                  <a:schemeClr val="bg1"/>
                </a:solidFill>
              </a:rPr>
              <a:t>单元，其中程序区占</a:t>
            </a:r>
            <a:r>
              <a:rPr lang="en-US" altLang="zh-CN" sz="2000" b="1" dirty="0">
                <a:solidFill>
                  <a:schemeClr val="bg1"/>
                </a:solidFill>
              </a:rPr>
              <a:t>2</a:t>
            </a:r>
            <a:r>
              <a:rPr lang="en-US" altLang="zh-CN" sz="2000" b="1" baseline="30000" dirty="0">
                <a:solidFill>
                  <a:schemeClr val="bg1"/>
                </a:solidFill>
              </a:rPr>
              <a:t>30</a:t>
            </a:r>
            <a:r>
              <a:rPr lang="zh-CN" altLang="en-US" sz="2000" b="1" dirty="0">
                <a:solidFill>
                  <a:schemeClr val="bg1"/>
                </a:solidFill>
              </a:rPr>
              <a:t>单元，用来存放用户程序，程</a:t>
            </a:r>
            <a:r>
              <a:rPr lang="zh-CN" altLang="en-US" sz="2000" b="1" dirty="0">
                <a:solidFill>
                  <a:srgbClr val="FFFF00"/>
                </a:solidFill>
              </a:rPr>
              <a:t>序段以零为基址动态地向高地址方向增长</a:t>
            </a:r>
            <a:r>
              <a:rPr lang="zh-CN" altLang="en-US" sz="2000" b="1" dirty="0">
                <a:solidFill>
                  <a:schemeClr val="bg1"/>
                </a:solidFill>
              </a:rPr>
              <a:t>，最大可达</a:t>
            </a:r>
            <a:r>
              <a:rPr lang="en-US" altLang="zh-CN" sz="2000" b="1" dirty="0">
                <a:solidFill>
                  <a:schemeClr val="bg1"/>
                </a:solidFill>
              </a:rPr>
              <a:t>2</a:t>
            </a:r>
            <a:r>
              <a:rPr lang="en-US" altLang="zh-CN" sz="2000" b="1" baseline="30000" dirty="0">
                <a:solidFill>
                  <a:schemeClr val="bg1"/>
                </a:solidFill>
              </a:rPr>
              <a:t>30</a:t>
            </a:r>
            <a:r>
              <a:rPr lang="en-US" altLang="zh-CN" sz="2000" b="1" dirty="0">
                <a:solidFill>
                  <a:schemeClr val="bg1"/>
                </a:solidFill>
              </a:rPr>
              <a:t>-1</a:t>
            </a:r>
            <a:r>
              <a:rPr lang="zh-CN" altLang="en-US" sz="2000" b="1" dirty="0">
                <a:solidFill>
                  <a:schemeClr val="bg1"/>
                </a:solidFill>
              </a:rPr>
              <a:t>号单元。控制区也占</a:t>
            </a:r>
            <a:r>
              <a:rPr lang="en-US" altLang="zh-CN" sz="2000" b="1" dirty="0">
                <a:solidFill>
                  <a:schemeClr val="bg1"/>
                </a:solidFill>
              </a:rPr>
              <a:t>2</a:t>
            </a:r>
            <a:r>
              <a:rPr lang="en-US" altLang="zh-CN" sz="2000" b="1" baseline="30000" dirty="0">
                <a:solidFill>
                  <a:schemeClr val="bg1"/>
                </a:solidFill>
              </a:rPr>
              <a:t>30</a:t>
            </a:r>
            <a:r>
              <a:rPr lang="zh-CN" altLang="en-US" sz="2000" b="1" dirty="0">
                <a:solidFill>
                  <a:schemeClr val="bg1"/>
                </a:solidFill>
              </a:rPr>
              <a:t>个单元，存放各种方式和状态下的</a:t>
            </a:r>
            <a:r>
              <a:rPr lang="zh-CN" altLang="en-US" sz="2000" b="1" dirty="0">
                <a:solidFill>
                  <a:srgbClr val="FFFF00"/>
                </a:solidFill>
              </a:rPr>
              <a:t>堆栈结构</a:t>
            </a:r>
            <a:r>
              <a:rPr lang="zh-CN" altLang="en-US" sz="2000" b="1" dirty="0">
                <a:solidFill>
                  <a:schemeClr val="bg1"/>
                </a:solidFill>
              </a:rPr>
              <a:t>及</a:t>
            </a:r>
            <a:r>
              <a:rPr lang="zh-CN" altLang="en-US" sz="2000" b="1" dirty="0">
                <a:solidFill>
                  <a:srgbClr val="FFFF00"/>
                </a:solidFill>
              </a:rPr>
              <a:t>数据</a:t>
            </a:r>
            <a:r>
              <a:rPr lang="zh-CN" altLang="en-US" sz="2000" b="1" dirty="0">
                <a:solidFill>
                  <a:schemeClr val="bg1"/>
                </a:solidFill>
              </a:rPr>
              <a:t>等，其虚拟地址由</a:t>
            </a:r>
            <a:r>
              <a:rPr lang="en-US" altLang="zh-CN" sz="2000" b="1" dirty="0">
                <a:solidFill>
                  <a:schemeClr val="bg1"/>
                </a:solidFill>
              </a:rPr>
              <a:t>2</a:t>
            </a:r>
            <a:r>
              <a:rPr lang="en-US" altLang="zh-CN" sz="2000" b="1" baseline="30000" dirty="0">
                <a:solidFill>
                  <a:schemeClr val="bg1"/>
                </a:solidFill>
              </a:rPr>
              <a:t>31</a:t>
            </a:r>
            <a:r>
              <a:rPr lang="en-US" altLang="zh-CN" sz="2000" b="1" dirty="0">
                <a:solidFill>
                  <a:schemeClr val="bg1"/>
                </a:solidFill>
              </a:rPr>
              <a:t>-1</a:t>
            </a:r>
            <a:r>
              <a:rPr lang="zh-CN" altLang="en-US" sz="2000" b="1" dirty="0">
                <a:solidFill>
                  <a:schemeClr val="bg1"/>
                </a:solidFill>
              </a:rPr>
              <a:t>号地址开始</a:t>
            </a:r>
            <a:r>
              <a:rPr lang="zh-CN" altLang="en-US" sz="2000" b="1" dirty="0">
                <a:solidFill>
                  <a:srgbClr val="FFFF00"/>
                </a:solidFill>
              </a:rPr>
              <a:t>由高向低地址方向增长</a:t>
            </a:r>
            <a:r>
              <a:rPr lang="zh-CN" altLang="en-US" sz="2000" b="1" dirty="0">
                <a:solidFill>
                  <a:schemeClr val="bg1"/>
                </a:solidFill>
              </a:rPr>
              <a:t>。系统空间占</a:t>
            </a:r>
            <a:r>
              <a:rPr lang="en-US" altLang="zh-CN" sz="2000" b="1" dirty="0">
                <a:solidFill>
                  <a:schemeClr val="bg1"/>
                </a:solidFill>
              </a:rPr>
              <a:t>2</a:t>
            </a:r>
            <a:r>
              <a:rPr lang="en-US" altLang="zh-CN" sz="2000" b="1" baseline="30000" dirty="0">
                <a:solidFill>
                  <a:schemeClr val="bg1"/>
                </a:solidFill>
              </a:rPr>
              <a:t>31</a:t>
            </a:r>
            <a:r>
              <a:rPr lang="zh-CN" altLang="en-US" sz="2000" b="1" dirty="0">
                <a:solidFill>
                  <a:schemeClr val="bg1"/>
                </a:solidFill>
              </a:rPr>
              <a:t>个单元，用来存放操作系统程序。</a:t>
            </a:r>
          </a:p>
          <a:p>
            <a:pPr marL="0" lvl="1"/>
            <a:endParaRPr lang="zh-CN" altLang="en-US" sz="2000" b="1" dirty="0">
              <a:solidFill>
                <a:schemeClr val="bg1"/>
              </a:solidFill>
            </a:endParaRPr>
          </a:p>
        </p:txBody>
      </p:sp>
      <p:pic>
        <p:nvPicPr>
          <p:cNvPr id="29" name="Picture 3" descr="E:\操作系统教材编写\张校长教材\新版\e2.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3775" y="126433"/>
            <a:ext cx="2370225" cy="1699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74323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变换</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地址重定位或地址映射</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785724" y="1491630"/>
            <a:ext cx="6886102" cy="1566198"/>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地址映射就是要建立虚拟地址与内存地址的关系。实现地址重定位或地址映射的方法有两种：</a:t>
            </a:r>
            <a:r>
              <a:rPr lang="zh-CN" altLang="en-US" sz="2400" b="1" dirty="0">
                <a:solidFill>
                  <a:srgbClr val="FFFF00"/>
                </a:solidFill>
                <a:latin typeface="+mn-ea"/>
              </a:rPr>
              <a:t>静态地址重定位</a:t>
            </a:r>
            <a:r>
              <a:rPr lang="zh-CN" altLang="en-US" sz="2400" b="1" dirty="0">
                <a:solidFill>
                  <a:schemeClr val="bg1"/>
                </a:solidFill>
                <a:latin typeface="+mn-ea"/>
              </a:rPr>
              <a:t>和</a:t>
            </a:r>
            <a:r>
              <a:rPr lang="zh-CN" altLang="en-US" sz="2400" b="1" dirty="0">
                <a:solidFill>
                  <a:srgbClr val="FFFF00"/>
                </a:solidFill>
                <a:latin typeface="+mn-ea"/>
              </a:rPr>
              <a:t>动态地址重定位</a:t>
            </a:r>
            <a:r>
              <a:rPr lang="zh-CN" altLang="en-US" sz="2400" b="1" dirty="0">
                <a:solidFill>
                  <a:schemeClr val="bg1"/>
                </a:solidFill>
                <a:latin typeface="+mn-ea"/>
              </a:rPr>
              <a:t>。</a:t>
            </a:r>
            <a:endParaRPr lang="en-US" altLang="zh-CN" sz="2400" b="1" dirty="0">
              <a:solidFill>
                <a:schemeClr val="bg1"/>
              </a:solidFill>
              <a:latin typeface="+mn-ea"/>
            </a:endParaRPr>
          </a:p>
        </p:txBody>
      </p:sp>
      <p:sp>
        <p:nvSpPr>
          <p:cNvPr id="2" name="线形标注 1 1"/>
          <p:cNvSpPr/>
          <p:nvPr/>
        </p:nvSpPr>
        <p:spPr>
          <a:xfrm>
            <a:off x="1331640" y="3291830"/>
            <a:ext cx="2304256" cy="1440160"/>
          </a:xfrm>
          <a:prstGeom prst="borderCallout1">
            <a:avLst>
              <a:gd name="adj1" fmla="val 22900"/>
              <a:gd name="adj2" fmla="val -3411"/>
              <a:gd name="adj3" fmla="val -19155"/>
              <a:gd name="adj4" fmla="val -13762"/>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algn="just"/>
            <a:r>
              <a:rPr lang="zh-CN" altLang="en-US" sz="2400" b="1" dirty="0" smtClean="0"/>
              <a:t>在程序调入内存之前由</a:t>
            </a:r>
            <a:r>
              <a:rPr lang="zh-CN" altLang="en-US" sz="2400" b="1" smtClean="0"/>
              <a:t>装配程序完成</a:t>
            </a:r>
            <a:r>
              <a:rPr lang="zh-CN" altLang="en-US" sz="2400" b="1" dirty="0"/>
              <a:t>地址映射工作</a:t>
            </a:r>
          </a:p>
        </p:txBody>
      </p:sp>
      <p:sp>
        <p:nvSpPr>
          <p:cNvPr id="29" name="线形标注 1 28"/>
          <p:cNvSpPr/>
          <p:nvPr/>
        </p:nvSpPr>
        <p:spPr>
          <a:xfrm>
            <a:off x="4550826" y="3135157"/>
            <a:ext cx="3981614" cy="1884865"/>
          </a:xfrm>
          <a:prstGeom prst="borderCallout1">
            <a:avLst>
              <a:gd name="adj1" fmla="val 22900"/>
              <a:gd name="adj2" fmla="val -3411"/>
              <a:gd name="adj3" fmla="val -9014"/>
              <a:gd name="adj4" fmla="val -16915"/>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algn="just"/>
            <a:r>
              <a:rPr lang="zh-CN" altLang="en-US" sz="2400" b="1" dirty="0"/>
              <a:t>在程序执行过程中，在</a:t>
            </a:r>
            <a:r>
              <a:rPr lang="en-US" altLang="zh-CN" sz="2400" b="1" dirty="0"/>
              <a:t>CPU</a:t>
            </a:r>
            <a:r>
              <a:rPr lang="zh-CN" altLang="en-US" sz="2400" b="1" dirty="0"/>
              <a:t>访问内存之前，将要访问的程序或数据地址转换成内存地址。动态重定位依靠硬件地址变换机构完成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6793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重定位或</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地址映射</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静态地址重定位</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785724" y="1491630"/>
            <a:ext cx="6886102" cy="2677656"/>
          </a:xfrm>
          <a:prstGeom prst="rect">
            <a:avLst/>
          </a:prstGeom>
        </p:spPr>
        <p:txBody>
          <a:bodyPr wrap="square">
            <a:spAutoFit/>
          </a:bodyPr>
          <a:lstStyle/>
          <a:p>
            <a:pPr marL="0" lvl="1" indent="-285750"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对于虚拟空间内的指令或数据来说，</a:t>
            </a:r>
            <a:r>
              <a:rPr lang="zh-CN" altLang="en-US" sz="2400" b="1" dirty="0">
                <a:solidFill>
                  <a:srgbClr val="FFFF00"/>
                </a:solidFill>
                <a:latin typeface="+mn-ea"/>
              </a:rPr>
              <a:t>静态地址重定位</a:t>
            </a:r>
            <a:r>
              <a:rPr lang="zh-CN" altLang="en-US" sz="2400" b="1" dirty="0">
                <a:solidFill>
                  <a:schemeClr val="bg1"/>
                </a:solidFill>
                <a:latin typeface="+mn-ea"/>
              </a:rPr>
              <a:t>只完成一个首地址不同的连续地址变换。</a:t>
            </a:r>
            <a:endParaRPr lang="en-US" altLang="zh-CN" sz="2400" b="1" dirty="0">
              <a:solidFill>
                <a:schemeClr val="bg1"/>
              </a:solidFill>
              <a:latin typeface="+mn-ea"/>
            </a:endParaRPr>
          </a:p>
          <a:p>
            <a:pPr marL="0" lvl="1" indent="-285750"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它要求所有待执行的程序必须在执行之前完成它们之间的链接，否则将无法得到正确的内存地址和内存空间。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地址重定位或地址映射</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静态地址重定位</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2203345" y="1344876"/>
            <a:ext cx="6886102" cy="532069"/>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不需要硬件</a:t>
            </a:r>
            <a:r>
              <a:rPr lang="zh-CN" altLang="en-US" sz="2400" b="1" dirty="0" smtClean="0">
                <a:solidFill>
                  <a:schemeClr val="bg1"/>
                </a:solidFill>
                <a:latin typeface="+mn-ea"/>
              </a:rPr>
              <a:t>支持</a:t>
            </a:r>
            <a:endParaRPr lang="zh-CN" altLang="en-US" sz="2400" b="1" dirty="0">
              <a:solidFill>
                <a:schemeClr val="bg1"/>
              </a:solidFill>
              <a:latin typeface="+mn-ea"/>
            </a:endParaRPr>
          </a:p>
        </p:txBody>
      </p:sp>
      <p:pic>
        <p:nvPicPr>
          <p:cNvPr id="29" name="图片 28"/>
          <p:cNvPicPr>
            <a:picLocks noChangeAspect="1"/>
          </p:cNvPicPr>
          <p:nvPr/>
        </p:nvPicPr>
        <p:blipFill rotWithShape="1">
          <a:blip r:embed="rId2">
            <a:extLst>
              <a:ext uri="{28A0092B-C50C-407E-A947-70E740481C1C}">
                <a14:useLocalDpi xmlns:a14="http://schemas.microsoft.com/office/drawing/2010/main" val="0"/>
              </a:ext>
            </a:extLst>
          </a:blip>
          <a:srcRect l="45359" b="21891"/>
          <a:stretch>
            <a:fillRect/>
          </a:stretch>
        </p:blipFill>
        <p:spPr>
          <a:xfrm>
            <a:off x="800057" y="1067998"/>
            <a:ext cx="1040904" cy="1101108"/>
          </a:xfrm>
          <a:prstGeom prst="rect">
            <a:avLst/>
          </a:prstGeom>
        </p:spPr>
      </p:pic>
      <p:pic>
        <p:nvPicPr>
          <p:cNvPr id="30" name="图片 29"/>
          <p:cNvPicPr>
            <a:picLocks noChangeAspect="1"/>
          </p:cNvPicPr>
          <p:nvPr/>
        </p:nvPicPr>
        <p:blipFill rotWithShape="1">
          <a:blip r:embed="rId2">
            <a:extLst>
              <a:ext uri="{28A0092B-C50C-407E-A947-70E740481C1C}">
                <a14:useLocalDpi xmlns:a14="http://schemas.microsoft.com/office/drawing/2010/main" val="0"/>
              </a:ext>
            </a:extLst>
          </a:blip>
          <a:srcRect l="45359" b="21891"/>
          <a:stretch>
            <a:fillRect/>
          </a:stretch>
        </p:blipFill>
        <p:spPr>
          <a:xfrm rot="10510380">
            <a:off x="844538" y="2685601"/>
            <a:ext cx="1040904" cy="1101108"/>
          </a:xfrm>
          <a:prstGeom prst="rect">
            <a:avLst/>
          </a:prstGeom>
        </p:spPr>
      </p:pic>
      <p:sp>
        <p:nvSpPr>
          <p:cNvPr id="31" name="矩形 30"/>
          <p:cNvSpPr/>
          <p:nvPr/>
        </p:nvSpPr>
        <p:spPr>
          <a:xfrm>
            <a:off x="2203345" y="2242733"/>
            <a:ext cx="5392991" cy="2160591"/>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使用静态重定位方法进行地址变换无法实现虚拟存储器。</a:t>
            </a:r>
            <a:endParaRPr lang="en-US" altLang="zh-CN" sz="2400" b="1" dirty="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必须</a:t>
            </a:r>
            <a:r>
              <a:rPr lang="zh-CN" altLang="en-US" sz="2400" b="1" dirty="0">
                <a:solidFill>
                  <a:schemeClr val="bg1"/>
                </a:solidFill>
                <a:latin typeface="+mn-ea"/>
              </a:rPr>
              <a:t>占用连续的内存空间，这就难以做到程序和数据的共享。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xEl>
                                              <p:pRg st="0" end="0"/>
                                            </p:txEl>
                                          </p:spTgt>
                                        </p:tgtEl>
                                        <p:attrNameLst>
                                          <p:attrName>style.visibility</p:attrName>
                                        </p:attrNameLst>
                                      </p:cBhvr>
                                      <p:to>
                                        <p:strVal val="visible"/>
                                      </p:to>
                                    </p:set>
                                    <p:animEffect transition="in" filter="wipe(left)">
                                      <p:cBhvr>
                                        <p:cTn id="12" dur="500"/>
                                        <p:tgtEl>
                                          <p:spTgt spid="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xEl>
                                              <p:pRg st="1" end="1"/>
                                            </p:txEl>
                                          </p:spTgt>
                                        </p:tgtEl>
                                        <p:attrNameLst>
                                          <p:attrName>style.visibility</p:attrName>
                                        </p:attrNameLst>
                                      </p:cBhvr>
                                      <p:to>
                                        <p:strVal val="visible"/>
                                      </p:to>
                                    </p:set>
                                    <p:animEffect transition="in" filter="wipe(left)">
                                      <p:cBhvr>
                                        <p:cTn id="17" dur="500"/>
                                        <p:tgtEl>
                                          <p:spTgt spid="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地址重定位或地址映射</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重定位</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矩形 4"/>
          <p:cNvSpPr/>
          <p:nvPr/>
        </p:nvSpPr>
        <p:spPr>
          <a:xfrm>
            <a:off x="827584" y="1419622"/>
            <a:ext cx="6886102" cy="2677656"/>
          </a:xfrm>
          <a:prstGeom prst="rect">
            <a:avLst/>
          </a:prstGeom>
        </p:spPr>
        <p:txBody>
          <a:bodyPr wrap="square">
            <a:spAutoFit/>
          </a:bodyPr>
          <a:lstStyle/>
          <a:p>
            <a:pPr marL="0" lvl="1" indent="-342900"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地址重定位机构需要一个</a:t>
            </a:r>
            <a:r>
              <a:rPr lang="en-US" altLang="zh-CN" sz="2400" b="1" dirty="0">
                <a:solidFill>
                  <a:schemeClr val="bg1"/>
                </a:solidFill>
                <a:latin typeface="+mn-ea"/>
              </a:rPr>
              <a:t>(</a:t>
            </a:r>
            <a:r>
              <a:rPr lang="zh-CN" altLang="en-US" sz="2400" b="1" dirty="0">
                <a:solidFill>
                  <a:schemeClr val="bg1"/>
                </a:solidFill>
                <a:latin typeface="+mn-ea"/>
              </a:rPr>
              <a:t>或多个</a:t>
            </a:r>
            <a:r>
              <a:rPr lang="en-US" altLang="zh-CN" sz="2400" b="1" dirty="0">
                <a:solidFill>
                  <a:schemeClr val="bg1"/>
                </a:solidFill>
                <a:latin typeface="+mn-ea"/>
              </a:rPr>
              <a:t>)</a:t>
            </a:r>
            <a:r>
              <a:rPr lang="zh-CN" altLang="en-US" sz="2400" b="1" dirty="0">
                <a:solidFill>
                  <a:srgbClr val="FFFF00"/>
                </a:solidFill>
                <a:latin typeface="+mn-ea"/>
              </a:rPr>
              <a:t>基地址寄存器</a:t>
            </a:r>
            <a:r>
              <a:rPr lang="en-US" altLang="zh-CN" sz="2400" b="1" dirty="0">
                <a:solidFill>
                  <a:srgbClr val="FFFF00"/>
                </a:solidFill>
                <a:latin typeface="+mn-ea"/>
              </a:rPr>
              <a:t>BR</a:t>
            </a:r>
            <a:r>
              <a:rPr lang="zh-CN" altLang="en-US" sz="2400" b="1" dirty="0">
                <a:solidFill>
                  <a:schemeClr val="bg1"/>
                </a:solidFill>
                <a:latin typeface="+mn-ea"/>
              </a:rPr>
              <a:t>和一个</a:t>
            </a:r>
            <a:r>
              <a:rPr lang="en-US" altLang="zh-CN" sz="2400" b="1" dirty="0">
                <a:solidFill>
                  <a:schemeClr val="bg1"/>
                </a:solidFill>
                <a:latin typeface="+mn-ea"/>
              </a:rPr>
              <a:t>(</a:t>
            </a:r>
            <a:r>
              <a:rPr lang="zh-CN" altLang="en-US" sz="2400" b="1" dirty="0">
                <a:solidFill>
                  <a:schemeClr val="bg1"/>
                </a:solidFill>
                <a:latin typeface="+mn-ea"/>
              </a:rPr>
              <a:t>或多个</a:t>
            </a:r>
            <a:r>
              <a:rPr lang="en-US" altLang="zh-CN" sz="2400" b="1" dirty="0">
                <a:solidFill>
                  <a:schemeClr val="bg1"/>
                </a:solidFill>
                <a:latin typeface="+mn-ea"/>
              </a:rPr>
              <a:t>)</a:t>
            </a:r>
            <a:r>
              <a:rPr lang="zh-CN" altLang="en-US" sz="2400" b="1" dirty="0">
                <a:solidFill>
                  <a:srgbClr val="FFFF00"/>
                </a:solidFill>
                <a:latin typeface="+mn-ea"/>
              </a:rPr>
              <a:t>程序虚拟地址寄存器</a:t>
            </a:r>
            <a:r>
              <a:rPr lang="en-US" altLang="zh-CN" sz="2400" b="1" dirty="0">
                <a:solidFill>
                  <a:srgbClr val="FFFF00"/>
                </a:solidFill>
                <a:latin typeface="+mn-ea"/>
              </a:rPr>
              <a:t>VR</a:t>
            </a:r>
            <a:r>
              <a:rPr lang="zh-CN" altLang="en-US" sz="2400" b="1" dirty="0">
                <a:solidFill>
                  <a:schemeClr val="bg1"/>
                </a:solidFill>
                <a:latin typeface="+mn-ea"/>
              </a:rPr>
              <a:t>。指令或数据的内存地址</a:t>
            </a:r>
            <a:r>
              <a:rPr lang="en-US" altLang="zh-CN" sz="2400" b="1" dirty="0">
                <a:solidFill>
                  <a:schemeClr val="bg1"/>
                </a:solidFill>
                <a:latin typeface="+mn-ea"/>
              </a:rPr>
              <a:t>MA</a:t>
            </a:r>
            <a:r>
              <a:rPr lang="zh-CN" altLang="en-US" sz="2400" b="1" dirty="0">
                <a:solidFill>
                  <a:schemeClr val="bg1"/>
                </a:solidFill>
                <a:latin typeface="+mn-ea"/>
              </a:rPr>
              <a:t>与虚拟地址的关系为：</a:t>
            </a:r>
            <a:r>
              <a:rPr lang="en-US" altLang="zh-CN" sz="2400" b="1" dirty="0">
                <a:solidFill>
                  <a:srgbClr val="FFFF00"/>
                </a:solidFill>
                <a:latin typeface="+mn-ea"/>
              </a:rPr>
              <a:t>MA=(BR)+(VR)</a:t>
            </a:r>
            <a:r>
              <a:rPr lang="zh-CN" altLang="en-US" sz="2400" b="1" dirty="0">
                <a:solidFill>
                  <a:schemeClr val="bg1"/>
                </a:solidFill>
                <a:latin typeface="+mn-ea"/>
              </a:rPr>
              <a:t>这里，</a:t>
            </a:r>
            <a:r>
              <a:rPr lang="en-US" altLang="zh-CN" sz="2400" b="1" dirty="0">
                <a:solidFill>
                  <a:schemeClr val="bg1"/>
                </a:solidFill>
                <a:latin typeface="+mn-ea"/>
              </a:rPr>
              <a:t>(BR)</a:t>
            </a:r>
            <a:r>
              <a:rPr lang="zh-CN" altLang="en-US" sz="2400" b="1" dirty="0">
                <a:solidFill>
                  <a:schemeClr val="bg1"/>
                </a:solidFill>
                <a:latin typeface="+mn-ea"/>
              </a:rPr>
              <a:t>与</a:t>
            </a:r>
            <a:r>
              <a:rPr lang="en-US" altLang="zh-CN" sz="2400" b="1" dirty="0">
                <a:solidFill>
                  <a:schemeClr val="bg1"/>
                </a:solidFill>
                <a:latin typeface="+mn-ea"/>
              </a:rPr>
              <a:t>(VR)</a:t>
            </a:r>
            <a:r>
              <a:rPr lang="zh-CN" altLang="en-US" sz="2400" b="1" dirty="0">
                <a:solidFill>
                  <a:schemeClr val="bg1"/>
                </a:solidFill>
                <a:latin typeface="+mn-ea"/>
              </a:rPr>
              <a:t>分别表示寄存器</a:t>
            </a:r>
            <a:r>
              <a:rPr lang="en-US" altLang="zh-CN" sz="2400" b="1" dirty="0">
                <a:solidFill>
                  <a:schemeClr val="bg1"/>
                </a:solidFill>
                <a:latin typeface="+mn-ea"/>
              </a:rPr>
              <a:t>BR</a:t>
            </a:r>
            <a:r>
              <a:rPr lang="zh-CN" altLang="en-US" sz="2400" b="1" dirty="0">
                <a:solidFill>
                  <a:schemeClr val="bg1"/>
                </a:solidFill>
                <a:latin typeface="+mn-ea"/>
              </a:rPr>
              <a:t>与</a:t>
            </a:r>
            <a:r>
              <a:rPr lang="en-US" altLang="zh-CN" sz="2400" b="1" dirty="0">
                <a:solidFill>
                  <a:schemeClr val="bg1"/>
                </a:solidFill>
                <a:latin typeface="+mn-ea"/>
              </a:rPr>
              <a:t>VR</a:t>
            </a:r>
            <a:r>
              <a:rPr lang="zh-CN" altLang="en-US" sz="2400" b="1" dirty="0">
                <a:solidFill>
                  <a:schemeClr val="bg1"/>
                </a:solidFill>
                <a:latin typeface="+mn-ea"/>
              </a:rPr>
              <a:t>中的内容。</a:t>
            </a:r>
          </a:p>
        </p:txBody>
      </p:sp>
      <p:pic>
        <p:nvPicPr>
          <p:cNvPr id="32" name="Picture 8" descr="E:\操作系统教材编写\张校长教材\新版\e3.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272" y="955374"/>
            <a:ext cx="630872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动态地址重定位具体过程</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 name="组合 1"/>
          <p:cNvGrpSpPr/>
          <p:nvPr/>
        </p:nvGrpSpPr>
        <p:grpSpPr>
          <a:xfrm>
            <a:off x="827584" y="1497275"/>
            <a:ext cx="7704856" cy="655128"/>
            <a:chOff x="827584" y="1229306"/>
            <a:chExt cx="7704856" cy="655128"/>
          </a:xfrm>
        </p:grpSpPr>
        <p:sp>
          <p:nvSpPr>
            <p:cNvPr id="4" name="任意多边形 3"/>
            <p:cNvSpPr/>
            <p:nvPr/>
          </p:nvSpPr>
          <p:spPr>
            <a:xfrm>
              <a:off x="1155146" y="1229306"/>
              <a:ext cx="7377294" cy="655128"/>
            </a:xfrm>
            <a:custGeom>
              <a:avLst/>
              <a:gdLst>
                <a:gd name="connsiteX0" fmla="*/ 0 w 4053840"/>
                <a:gd name="connsiteY0" fmla="*/ 0 h 655126"/>
                <a:gd name="connsiteX1" fmla="*/ 3726277 w 4053840"/>
                <a:gd name="connsiteY1" fmla="*/ 0 h 655126"/>
                <a:gd name="connsiteX2" fmla="*/ 4053840 w 4053840"/>
                <a:gd name="connsiteY2" fmla="*/ 327563 h 655126"/>
                <a:gd name="connsiteX3" fmla="*/ 3726277 w 4053840"/>
                <a:gd name="connsiteY3" fmla="*/ 655126 h 655126"/>
                <a:gd name="connsiteX4" fmla="*/ 0 w 4053840"/>
                <a:gd name="connsiteY4" fmla="*/ 655126 h 655126"/>
                <a:gd name="connsiteX5" fmla="*/ 0 w 4053840"/>
                <a:gd name="connsiteY5" fmla="*/ 0 h 65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3840" h="655126">
                  <a:moveTo>
                    <a:pt x="4053840" y="655125"/>
                  </a:moveTo>
                  <a:lnTo>
                    <a:pt x="327563" y="655125"/>
                  </a:lnTo>
                  <a:lnTo>
                    <a:pt x="0" y="327563"/>
                  </a:lnTo>
                  <a:lnTo>
                    <a:pt x="327563" y="1"/>
                  </a:lnTo>
                  <a:lnTo>
                    <a:pt x="4053840" y="1"/>
                  </a:lnTo>
                  <a:lnTo>
                    <a:pt x="4053840" y="655125"/>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452674" tIns="49531" rIns="92456" bIns="49531" numCol="1" spcCol="1270" anchor="ctr" anchorCtr="0">
              <a:noAutofit/>
            </a:bodyPr>
            <a:lstStyle/>
            <a:p>
              <a:pPr marL="0" lvl="1" defTabSz="622300">
                <a:lnSpc>
                  <a:spcPct val="90000"/>
                </a:lnSpc>
                <a:spcBef>
                  <a:spcPct val="0"/>
                </a:spcBef>
                <a:spcAft>
                  <a:spcPct val="15000"/>
                </a:spcAft>
                <a:buClr>
                  <a:schemeClr val="accent6">
                    <a:lumMod val="40000"/>
                    <a:lumOff val="60000"/>
                  </a:schemeClr>
                </a:buClr>
                <a:buFont typeface="Wingdings" panose="05000000000000000000" pitchFamily="2" charset="2"/>
                <a:buChar char="Ø"/>
              </a:pPr>
              <a:r>
                <a:rPr lang="zh-CN" altLang="en-US" sz="2400" b="1" dirty="0">
                  <a:solidFill>
                    <a:schemeClr val="bg1"/>
                  </a:solidFill>
                </a:rPr>
                <a:t>设置基地址寄存器</a:t>
              </a:r>
              <a:r>
                <a:rPr lang="en-US" altLang="zh-CN" sz="2400" b="1" dirty="0">
                  <a:solidFill>
                    <a:schemeClr val="bg1"/>
                  </a:solidFill>
                </a:rPr>
                <a:t>BR</a:t>
              </a:r>
              <a:r>
                <a:rPr lang="zh-CN" altLang="en-US" sz="2400" b="1" dirty="0">
                  <a:solidFill>
                    <a:schemeClr val="bg1"/>
                  </a:solidFill>
                </a:rPr>
                <a:t>，虚拟地址寄存器</a:t>
              </a:r>
              <a:r>
                <a:rPr lang="en-US" altLang="zh-CN" sz="2400" b="1" dirty="0">
                  <a:solidFill>
                    <a:schemeClr val="bg1"/>
                  </a:solidFill>
                </a:rPr>
                <a:t>VR</a:t>
              </a:r>
              <a:r>
                <a:rPr lang="zh-CN" altLang="en-US" sz="2400" b="1" dirty="0">
                  <a:solidFill>
                    <a:schemeClr val="bg1"/>
                  </a:solidFill>
                </a:rPr>
                <a:t>。</a:t>
              </a:r>
            </a:p>
          </p:txBody>
        </p:sp>
        <p:sp>
          <p:nvSpPr>
            <p:cNvPr id="5" name="椭圆 4"/>
            <p:cNvSpPr/>
            <p:nvPr/>
          </p:nvSpPr>
          <p:spPr>
            <a:xfrm>
              <a:off x="827584" y="1229307"/>
              <a:ext cx="655126" cy="65512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0"/>
                <a:satOff val="0"/>
                <a:lumOff val="0"/>
                <a:alphaOff val="0"/>
              </a:schemeClr>
            </a:fillRef>
            <a:effectRef idx="2">
              <a:schemeClr val="accent2">
                <a:tint val="50000"/>
                <a:hueOff val="0"/>
                <a:satOff val="0"/>
                <a:lumOff val="0"/>
                <a:alphaOff val="0"/>
              </a:schemeClr>
            </a:effectRef>
            <a:fontRef idx="minor">
              <a:schemeClr val="lt1">
                <a:hueOff val="0"/>
                <a:satOff val="0"/>
                <a:lumOff val="0"/>
                <a:alphaOff val="0"/>
              </a:schemeClr>
            </a:fontRef>
          </p:style>
        </p:sp>
      </p:grpSp>
      <p:grpSp>
        <p:nvGrpSpPr>
          <p:cNvPr id="12" name="组合 11"/>
          <p:cNvGrpSpPr/>
          <p:nvPr/>
        </p:nvGrpSpPr>
        <p:grpSpPr>
          <a:xfrm>
            <a:off x="827584" y="2313677"/>
            <a:ext cx="7416824" cy="860957"/>
            <a:chOff x="827584" y="2079993"/>
            <a:chExt cx="7416824" cy="655128"/>
          </a:xfrm>
        </p:grpSpPr>
        <p:sp>
          <p:nvSpPr>
            <p:cNvPr id="6" name="任意多边形 5"/>
            <p:cNvSpPr/>
            <p:nvPr/>
          </p:nvSpPr>
          <p:spPr>
            <a:xfrm>
              <a:off x="1155146" y="2079993"/>
              <a:ext cx="7089262" cy="655128"/>
            </a:xfrm>
            <a:custGeom>
              <a:avLst/>
              <a:gdLst>
                <a:gd name="connsiteX0" fmla="*/ 0 w 4053840"/>
                <a:gd name="connsiteY0" fmla="*/ 0 h 655126"/>
                <a:gd name="connsiteX1" fmla="*/ 3726277 w 4053840"/>
                <a:gd name="connsiteY1" fmla="*/ 0 h 655126"/>
                <a:gd name="connsiteX2" fmla="*/ 4053840 w 4053840"/>
                <a:gd name="connsiteY2" fmla="*/ 327563 h 655126"/>
                <a:gd name="connsiteX3" fmla="*/ 3726277 w 4053840"/>
                <a:gd name="connsiteY3" fmla="*/ 655126 h 655126"/>
                <a:gd name="connsiteX4" fmla="*/ 0 w 4053840"/>
                <a:gd name="connsiteY4" fmla="*/ 655126 h 655126"/>
                <a:gd name="connsiteX5" fmla="*/ 0 w 4053840"/>
                <a:gd name="connsiteY5" fmla="*/ 0 h 65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3840" h="655126">
                  <a:moveTo>
                    <a:pt x="4053840" y="655125"/>
                  </a:moveTo>
                  <a:lnTo>
                    <a:pt x="327563" y="655125"/>
                  </a:lnTo>
                  <a:lnTo>
                    <a:pt x="0" y="327563"/>
                  </a:lnTo>
                  <a:lnTo>
                    <a:pt x="327563" y="1"/>
                  </a:lnTo>
                  <a:lnTo>
                    <a:pt x="4053840" y="1"/>
                  </a:lnTo>
                  <a:lnTo>
                    <a:pt x="4053840" y="655125"/>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1170380"/>
                <a:satOff val="-1458"/>
                <a:lumOff val="343"/>
                <a:alphaOff val="0"/>
              </a:schemeClr>
            </a:fillRef>
            <a:effectRef idx="2">
              <a:schemeClr val="accent2">
                <a:hueOff val="1170380"/>
                <a:satOff val="-1458"/>
                <a:lumOff val="343"/>
                <a:alphaOff val="0"/>
              </a:schemeClr>
            </a:effectRef>
            <a:fontRef idx="minor">
              <a:schemeClr val="lt1"/>
            </a:fontRef>
          </p:style>
          <p:txBody>
            <a:bodyPr spcFirstLastPara="0" vert="horz" wrap="square" lIns="452674" tIns="49531" rIns="92456" bIns="49531" numCol="1" spcCol="1270" anchor="ctr" anchorCtr="0">
              <a:noAutofit/>
            </a:bodyPr>
            <a:lstStyle/>
            <a:p>
              <a:pPr marL="0" lvl="1" defTabSz="622300">
                <a:lnSpc>
                  <a:spcPct val="90000"/>
                </a:lnSpc>
                <a:spcBef>
                  <a:spcPct val="0"/>
                </a:spcBef>
                <a:spcAft>
                  <a:spcPct val="15000"/>
                </a:spcAft>
                <a:buClr>
                  <a:schemeClr val="accent6">
                    <a:lumMod val="40000"/>
                    <a:lumOff val="60000"/>
                  </a:schemeClr>
                </a:buClr>
                <a:buFont typeface="Wingdings" panose="05000000000000000000" pitchFamily="2" charset="2"/>
                <a:buChar char="Ø"/>
              </a:pPr>
              <a:r>
                <a:rPr lang="zh-CN" altLang="en-US" sz="2400" b="1" dirty="0">
                  <a:solidFill>
                    <a:schemeClr val="bg1"/>
                  </a:solidFill>
                </a:rPr>
                <a:t>将程序段装入内存，且将其占用的内存区首地址送</a:t>
              </a:r>
              <a:r>
                <a:rPr lang="en-US" altLang="zh-CN" sz="2400" b="1" dirty="0">
                  <a:solidFill>
                    <a:schemeClr val="bg1"/>
                  </a:solidFill>
                </a:rPr>
                <a:t>BR</a:t>
              </a:r>
              <a:r>
                <a:rPr lang="zh-CN" altLang="en-US" sz="2400" b="1" dirty="0">
                  <a:solidFill>
                    <a:schemeClr val="bg1"/>
                  </a:solidFill>
                </a:rPr>
                <a:t>中。</a:t>
              </a:r>
            </a:p>
          </p:txBody>
        </p:sp>
        <p:sp>
          <p:nvSpPr>
            <p:cNvPr id="7" name="椭圆 6"/>
            <p:cNvSpPr/>
            <p:nvPr/>
          </p:nvSpPr>
          <p:spPr>
            <a:xfrm>
              <a:off x="827584" y="2179418"/>
              <a:ext cx="655126" cy="480503"/>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1250719"/>
                <a:satOff val="-1116"/>
                <a:lumOff val="3"/>
                <a:alphaOff val="0"/>
              </a:schemeClr>
            </a:fillRef>
            <a:effectRef idx="2">
              <a:schemeClr val="accent2">
                <a:tint val="50000"/>
                <a:hueOff val="1250719"/>
                <a:satOff val="-1116"/>
                <a:lumOff val="3"/>
                <a:alphaOff val="0"/>
              </a:schemeClr>
            </a:effectRef>
            <a:fontRef idx="minor">
              <a:schemeClr val="lt1">
                <a:hueOff val="0"/>
                <a:satOff val="0"/>
                <a:lumOff val="0"/>
                <a:alphaOff val="0"/>
              </a:schemeClr>
            </a:fontRef>
          </p:style>
        </p:sp>
      </p:grpSp>
      <p:grpSp>
        <p:nvGrpSpPr>
          <p:cNvPr id="13" name="组合 12"/>
          <p:cNvGrpSpPr/>
          <p:nvPr/>
        </p:nvGrpSpPr>
        <p:grpSpPr>
          <a:xfrm>
            <a:off x="827584" y="3370193"/>
            <a:ext cx="8316416" cy="655126"/>
            <a:chOff x="827584" y="2930680"/>
            <a:chExt cx="8316416" cy="655126"/>
          </a:xfrm>
        </p:grpSpPr>
        <p:sp>
          <p:nvSpPr>
            <p:cNvPr id="8" name="任意多边形 7"/>
            <p:cNvSpPr/>
            <p:nvPr/>
          </p:nvSpPr>
          <p:spPr>
            <a:xfrm>
              <a:off x="1155147" y="2930680"/>
              <a:ext cx="7988853" cy="655125"/>
            </a:xfrm>
            <a:custGeom>
              <a:avLst/>
              <a:gdLst>
                <a:gd name="connsiteX0" fmla="*/ 0 w 4053840"/>
                <a:gd name="connsiteY0" fmla="*/ 0 h 655126"/>
                <a:gd name="connsiteX1" fmla="*/ 3726277 w 4053840"/>
                <a:gd name="connsiteY1" fmla="*/ 0 h 655126"/>
                <a:gd name="connsiteX2" fmla="*/ 4053840 w 4053840"/>
                <a:gd name="connsiteY2" fmla="*/ 327563 h 655126"/>
                <a:gd name="connsiteX3" fmla="*/ 3726277 w 4053840"/>
                <a:gd name="connsiteY3" fmla="*/ 655126 h 655126"/>
                <a:gd name="connsiteX4" fmla="*/ 0 w 4053840"/>
                <a:gd name="connsiteY4" fmla="*/ 655126 h 655126"/>
                <a:gd name="connsiteX5" fmla="*/ 0 w 4053840"/>
                <a:gd name="connsiteY5" fmla="*/ 0 h 65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3840" h="655126">
                  <a:moveTo>
                    <a:pt x="4053840" y="655125"/>
                  </a:moveTo>
                  <a:lnTo>
                    <a:pt x="327563" y="655125"/>
                  </a:lnTo>
                  <a:lnTo>
                    <a:pt x="0" y="327563"/>
                  </a:lnTo>
                  <a:lnTo>
                    <a:pt x="327563" y="1"/>
                  </a:lnTo>
                  <a:lnTo>
                    <a:pt x="4053840" y="1"/>
                  </a:lnTo>
                  <a:lnTo>
                    <a:pt x="4053840" y="655125"/>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2340759"/>
                <a:satOff val="-2917"/>
                <a:lumOff val="686"/>
                <a:alphaOff val="0"/>
              </a:schemeClr>
            </a:fillRef>
            <a:effectRef idx="2">
              <a:schemeClr val="accent2">
                <a:hueOff val="2340759"/>
                <a:satOff val="-2917"/>
                <a:lumOff val="686"/>
                <a:alphaOff val="0"/>
              </a:schemeClr>
            </a:effectRef>
            <a:fontRef idx="minor">
              <a:schemeClr val="lt1"/>
            </a:fontRef>
          </p:style>
          <p:txBody>
            <a:bodyPr spcFirstLastPara="0" vert="horz" wrap="square" lIns="452674" tIns="49530" rIns="92456" bIns="49530" numCol="1" spcCol="1270" anchor="ctr" anchorCtr="0">
              <a:noAutofit/>
            </a:bodyPr>
            <a:lstStyle/>
            <a:p>
              <a:pPr marL="0" lvl="1" indent="-342900" defTabSz="622300">
                <a:lnSpc>
                  <a:spcPct val="90000"/>
                </a:lnSpc>
                <a:spcBef>
                  <a:spcPct val="0"/>
                </a:spcBef>
                <a:spcAft>
                  <a:spcPct val="15000"/>
                </a:spcAft>
                <a:buClr>
                  <a:schemeClr val="accent6">
                    <a:lumMod val="40000"/>
                    <a:lumOff val="60000"/>
                  </a:schemeClr>
                </a:buClr>
                <a:buFont typeface="Wingdings" panose="05000000000000000000" pitchFamily="2" charset="2"/>
                <a:buChar char="Ø"/>
              </a:pPr>
              <a:r>
                <a:rPr lang="zh-CN" altLang="en-US" sz="2400" b="1" dirty="0">
                  <a:solidFill>
                    <a:schemeClr val="bg1"/>
                  </a:solidFill>
                </a:rPr>
                <a:t>在程序执行过程中，将所要访问的虚拟地址送入</a:t>
              </a:r>
              <a:r>
                <a:rPr lang="en-US" altLang="zh-CN" sz="2400" b="1" dirty="0">
                  <a:solidFill>
                    <a:schemeClr val="bg1"/>
                  </a:solidFill>
                </a:rPr>
                <a:t>VR</a:t>
              </a:r>
              <a:r>
                <a:rPr lang="zh-CN" altLang="en-US" sz="2400" b="1" dirty="0">
                  <a:solidFill>
                    <a:schemeClr val="bg1"/>
                  </a:solidFill>
                </a:rPr>
                <a:t>中</a:t>
              </a:r>
            </a:p>
          </p:txBody>
        </p:sp>
        <p:sp>
          <p:nvSpPr>
            <p:cNvPr id="9" name="椭圆 8"/>
            <p:cNvSpPr/>
            <p:nvPr/>
          </p:nvSpPr>
          <p:spPr>
            <a:xfrm>
              <a:off x="827584" y="2930680"/>
              <a:ext cx="655126" cy="65512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2501437"/>
                <a:satOff val="-2235"/>
                <a:lumOff val="6"/>
                <a:alphaOff val="0"/>
              </a:schemeClr>
            </a:fillRef>
            <a:effectRef idx="2">
              <a:schemeClr val="accent2">
                <a:tint val="50000"/>
                <a:hueOff val="2501437"/>
                <a:satOff val="-2235"/>
                <a:lumOff val="6"/>
                <a:alphaOff val="0"/>
              </a:schemeClr>
            </a:effectRef>
            <a:fontRef idx="minor">
              <a:schemeClr val="lt1">
                <a:hueOff val="0"/>
                <a:satOff val="0"/>
                <a:lumOff val="0"/>
                <a:alphaOff val="0"/>
              </a:schemeClr>
            </a:fontRef>
          </p:style>
        </p:sp>
      </p:grpSp>
      <p:grpSp>
        <p:nvGrpSpPr>
          <p:cNvPr id="29" name="组合 28"/>
          <p:cNvGrpSpPr/>
          <p:nvPr/>
        </p:nvGrpSpPr>
        <p:grpSpPr>
          <a:xfrm>
            <a:off x="827584" y="4195433"/>
            <a:ext cx="8136904" cy="850688"/>
            <a:chOff x="827584" y="3755920"/>
            <a:chExt cx="8136904" cy="850688"/>
          </a:xfrm>
        </p:grpSpPr>
        <p:sp>
          <p:nvSpPr>
            <p:cNvPr id="10" name="任意多边形 9"/>
            <p:cNvSpPr/>
            <p:nvPr/>
          </p:nvSpPr>
          <p:spPr>
            <a:xfrm>
              <a:off x="1155146" y="3755920"/>
              <a:ext cx="7809342" cy="850688"/>
            </a:xfrm>
            <a:custGeom>
              <a:avLst/>
              <a:gdLst>
                <a:gd name="connsiteX0" fmla="*/ 0 w 4053840"/>
                <a:gd name="connsiteY0" fmla="*/ 0 h 655126"/>
                <a:gd name="connsiteX1" fmla="*/ 3726277 w 4053840"/>
                <a:gd name="connsiteY1" fmla="*/ 0 h 655126"/>
                <a:gd name="connsiteX2" fmla="*/ 4053840 w 4053840"/>
                <a:gd name="connsiteY2" fmla="*/ 327563 h 655126"/>
                <a:gd name="connsiteX3" fmla="*/ 3726277 w 4053840"/>
                <a:gd name="connsiteY3" fmla="*/ 655126 h 655126"/>
                <a:gd name="connsiteX4" fmla="*/ 0 w 4053840"/>
                <a:gd name="connsiteY4" fmla="*/ 655126 h 655126"/>
                <a:gd name="connsiteX5" fmla="*/ 0 w 4053840"/>
                <a:gd name="connsiteY5" fmla="*/ 0 h 65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3840" h="655126">
                  <a:moveTo>
                    <a:pt x="4053840" y="655125"/>
                  </a:moveTo>
                  <a:lnTo>
                    <a:pt x="327563" y="655125"/>
                  </a:lnTo>
                  <a:lnTo>
                    <a:pt x="0" y="327563"/>
                  </a:lnTo>
                  <a:lnTo>
                    <a:pt x="327563" y="1"/>
                  </a:lnTo>
                  <a:lnTo>
                    <a:pt x="4053840" y="1"/>
                  </a:lnTo>
                  <a:lnTo>
                    <a:pt x="4053840" y="655125"/>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3511139"/>
                <a:satOff val="-4377"/>
                <a:lumOff val="1030"/>
                <a:alphaOff val="0"/>
              </a:schemeClr>
            </a:fillRef>
            <a:effectRef idx="2">
              <a:schemeClr val="accent2">
                <a:hueOff val="3511139"/>
                <a:satOff val="-4377"/>
                <a:lumOff val="1030"/>
                <a:alphaOff val="0"/>
              </a:schemeClr>
            </a:effectRef>
            <a:fontRef idx="minor">
              <a:schemeClr val="lt1"/>
            </a:fontRef>
          </p:style>
          <p:txBody>
            <a:bodyPr spcFirstLastPara="0" vert="horz" wrap="square" lIns="452674" tIns="49531" rIns="92456" bIns="49530" numCol="1" spcCol="1270" anchor="ctr" anchorCtr="0">
              <a:noAutofit/>
            </a:bodyPr>
            <a:lstStyle/>
            <a:p>
              <a:pPr marL="0" lvl="1" indent="-342900" defTabSz="622300">
                <a:lnSpc>
                  <a:spcPct val="90000"/>
                </a:lnSpc>
                <a:spcBef>
                  <a:spcPct val="0"/>
                </a:spcBef>
                <a:spcAft>
                  <a:spcPct val="15000"/>
                </a:spcAft>
                <a:buClr>
                  <a:schemeClr val="accent6">
                    <a:lumMod val="40000"/>
                    <a:lumOff val="60000"/>
                  </a:schemeClr>
                </a:buClr>
                <a:buFont typeface="Wingdings" panose="05000000000000000000" pitchFamily="2" charset="2"/>
                <a:buChar char="Ø"/>
              </a:pPr>
              <a:r>
                <a:rPr lang="zh-CN" altLang="en-US" sz="2400" b="1" dirty="0">
                  <a:solidFill>
                    <a:schemeClr val="tx1"/>
                  </a:solidFill>
                </a:rPr>
                <a:t>地址变换机构把</a:t>
              </a:r>
              <a:r>
                <a:rPr lang="en-US" altLang="zh-CN" sz="2400" b="1" dirty="0">
                  <a:solidFill>
                    <a:schemeClr val="tx1"/>
                  </a:solidFill>
                </a:rPr>
                <a:t>VR</a:t>
              </a:r>
              <a:r>
                <a:rPr lang="zh-CN" altLang="en-US" sz="2400" b="1" dirty="0">
                  <a:solidFill>
                    <a:schemeClr val="tx1"/>
                  </a:solidFill>
                </a:rPr>
                <a:t>和</a:t>
              </a:r>
              <a:r>
                <a:rPr lang="en-US" altLang="zh-CN" sz="2400" b="1" dirty="0">
                  <a:solidFill>
                    <a:schemeClr val="tx1"/>
                  </a:solidFill>
                </a:rPr>
                <a:t>BR</a:t>
              </a:r>
              <a:r>
                <a:rPr lang="zh-CN" altLang="en-US" sz="2400" b="1" dirty="0">
                  <a:solidFill>
                    <a:schemeClr val="tx1"/>
                  </a:solidFill>
                </a:rPr>
                <a:t>的内容相加，得到实际访问的物理地址。</a:t>
              </a:r>
            </a:p>
          </p:txBody>
        </p:sp>
        <p:sp>
          <p:nvSpPr>
            <p:cNvPr id="11" name="椭圆 10"/>
            <p:cNvSpPr/>
            <p:nvPr/>
          </p:nvSpPr>
          <p:spPr>
            <a:xfrm>
              <a:off x="827584" y="3781367"/>
              <a:ext cx="655126" cy="65512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3752156"/>
                <a:satOff val="-3353"/>
                <a:lumOff val="10"/>
                <a:alphaOff val="0"/>
              </a:schemeClr>
            </a:fillRef>
            <a:effectRef idx="2">
              <a:schemeClr val="accent2">
                <a:tint val="50000"/>
                <a:hueOff val="3752156"/>
                <a:satOff val="-3353"/>
                <a:lumOff val="10"/>
                <a:alphaOff val="0"/>
              </a:schemeClr>
            </a:effectRef>
            <a:fontRef idx="minor">
              <a:schemeClr val="lt1">
                <a:hueOff val="0"/>
                <a:satOff val="0"/>
                <a:lumOff val="0"/>
                <a:alphaOff val="0"/>
              </a:schemeClr>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重定位的优点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任意多边形 5"/>
          <p:cNvSpPr/>
          <p:nvPr/>
        </p:nvSpPr>
        <p:spPr>
          <a:xfrm>
            <a:off x="3016664" y="2513654"/>
            <a:ext cx="275140" cy="343222"/>
          </a:xfrm>
          <a:custGeom>
            <a:avLst/>
            <a:gdLst>
              <a:gd name="connsiteX0" fmla="*/ 0 w 275140"/>
              <a:gd name="connsiteY0" fmla="*/ 68644 h 343222"/>
              <a:gd name="connsiteX1" fmla="*/ 137570 w 275140"/>
              <a:gd name="connsiteY1" fmla="*/ 68644 h 343222"/>
              <a:gd name="connsiteX2" fmla="*/ 137570 w 275140"/>
              <a:gd name="connsiteY2" fmla="*/ 0 h 343222"/>
              <a:gd name="connsiteX3" fmla="*/ 275140 w 275140"/>
              <a:gd name="connsiteY3" fmla="*/ 171611 h 343222"/>
              <a:gd name="connsiteX4" fmla="*/ 137570 w 275140"/>
              <a:gd name="connsiteY4" fmla="*/ 343222 h 343222"/>
              <a:gd name="connsiteX5" fmla="*/ 137570 w 275140"/>
              <a:gd name="connsiteY5" fmla="*/ 274578 h 343222"/>
              <a:gd name="connsiteX6" fmla="*/ 0 w 275140"/>
              <a:gd name="connsiteY6" fmla="*/ 274578 h 343222"/>
              <a:gd name="connsiteX7" fmla="*/ 0 w 275140"/>
              <a:gd name="connsiteY7" fmla="*/ 68644 h 34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40" h="343222">
                <a:moveTo>
                  <a:pt x="0" y="68644"/>
                </a:moveTo>
                <a:lnTo>
                  <a:pt x="137570" y="68644"/>
                </a:lnTo>
                <a:lnTo>
                  <a:pt x="137570" y="0"/>
                </a:lnTo>
                <a:lnTo>
                  <a:pt x="275140" y="171611"/>
                </a:lnTo>
                <a:lnTo>
                  <a:pt x="137570" y="343222"/>
                </a:lnTo>
                <a:lnTo>
                  <a:pt x="137570" y="274578"/>
                </a:lnTo>
                <a:lnTo>
                  <a:pt x="0" y="274578"/>
                </a:lnTo>
                <a:lnTo>
                  <a:pt x="0" y="68644"/>
                </a:lnTo>
                <a:close/>
              </a:path>
            </a:pathLst>
          </a:custGeom>
          <a:scene3d>
            <a:camera prst="orthographicFront"/>
            <a:lightRig rig="threePt" dir="t">
              <a:rot lat="0" lon="0" rev="7500000"/>
            </a:lightRig>
          </a:scene3d>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0" tIns="68644" rIns="82542" bIns="68644" numCol="1" spcCol="1270" anchor="ctr" anchorCtr="0">
            <a:noAutofit/>
          </a:bodyPr>
          <a:lstStyle/>
          <a:p>
            <a:pPr lvl="0" algn="ctr" defTabSz="622300">
              <a:lnSpc>
                <a:spcPct val="90000"/>
              </a:lnSpc>
              <a:spcBef>
                <a:spcPct val="0"/>
              </a:spcBef>
              <a:spcAft>
                <a:spcPct val="35000"/>
              </a:spcAft>
            </a:pPr>
            <a:endParaRPr lang="zh-CN" altLang="en-US" sz="1400" kern="1200"/>
          </a:p>
        </p:txBody>
      </p:sp>
      <p:sp>
        <p:nvSpPr>
          <p:cNvPr id="9" name="任意多边形 8"/>
          <p:cNvSpPr/>
          <p:nvPr/>
        </p:nvSpPr>
        <p:spPr>
          <a:xfrm>
            <a:off x="6008079" y="3526576"/>
            <a:ext cx="275140" cy="343222"/>
          </a:xfrm>
          <a:custGeom>
            <a:avLst/>
            <a:gdLst>
              <a:gd name="connsiteX0" fmla="*/ 0 w 275140"/>
              <a:gd name="connsiteY0" fmla="*/ 68644 h 343222"/>
              <a:gd name="connsiteX1" fmla="*/ 137570 w 275140"/>
              <a:gd name="connsiteY1" fmla="*/ 68644 h 343222"/>
              <a:gd name="connsiteX2" fmla="*/ 137570 w 275140"/>
              <a:gd name="connsiteY2" fmla="*/ 0 h 343222"/>
              <a:gd name="connsiteX3" fmla="*/ 275140 w 275140"/>
              <a:gd name="connsiteY3" fmla="*/ 171611 h 343222"/>
              <a:gd name="connsiteX4" fmla="*/ 137570 w 275140"/>
              <a:gd name="connsiteY4" fmla="*/ 343222 h 343222"/>
              <a:gd name="connsiteX5" fmla="*/ 137570 w 275140"/>
              <a:gd name="connsiteY5" fmla="*/ 274578 h 343222"/>
              <a:gd name="connsiteX6" fmla="*/ 0 w 275140"/>
              <a:gd name="connsiteY6" fmla="*/ 274578 h 343222"/>
              <a:gd name="connsiteX7" fmla="*/ 0 w 275140"/>
              <a:gd name="connsiteY7" fmla="*/ 68644 h 34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40" h="343222">
                <a:moveTo>
                  <a:pt x="0" y="68644"/>
                </a:moveTo>
                <a:lnTo>
                  <a:pt x="137570" y="68644"/>
                </a:lnTo>
                <a:lnTo>
                  <a:pt x="137570" y="0"/>
                </a:lnTo>
                <a:lnTo>
                  <a:pt x="275140" y="171611"/>
                </a:lnTo>
                <a:lnTo>
                  <a:pt x="137570" y="343222"/>
                </a:lnTo>
                <a:lnTo>
                  <a:pt x="137570" y="274578"/>
                </a:lnTo>
                <a:lnTo>
                  <a:pt x="0" y="274578"/>
                </a:lnTo>
                <a:lnTo>
                  <a:pt x="0" y="68644"/>
                </a:lnTo>
                <a:close/>
              </a:path>
            </a:pathLst>
          </a:custGeom>
          <a:scene3d>
            <a:camera prst="orthographicFront"/>
            <a:lightRig rig="threePt" dir="t">
              <a:rot lat="0" lon="0" rev="7500000"/>
            </a:lightRig>
          </a:scene3d>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2">
              <a:hueOff val="4681519"/>
              <a:satOff val="-5837"/>
              <a:lumOff val="1373"/>
              <a:alphaOff val="0"/>
            </a:schemeClr>
          </a:fillRef>
          <a:effectRef idx="2">
            <a:schemeClr val="accent2">
              <a:hueOff val="4681519"/>
              <a:satOff val="-5837"/>
              <a:lumOff val="1373"/>
              <a:alphaOff val="0"/>
            </a:schemeClr>
          </a:effectRef>
          <a:fontRef idx="minor">
            <a:schemeClr val="lt1"/>
          </a:fontRef>
        </p:style>
        <p:txBody>
          <a:bodyPr spcFirstLastPara="0" vert="horz" wrap="square" lIns="0" tIns="68644" rIns="82542" bIns="68644" numCol="1" spcCol="1270" anchor="ctr" anchorCtr="0">
            <a:noAutofit/>
          </a:bodyPr>
          <a:lstStyle/>
          <a:p>
            <a:pPr lvl="0" algn="ctr" defTabSz="622300">
              <a:lnSpc>
                <a:spcPct val="90000"/>
              </a:lnSpc>
              <a:spcBef>
                <a:spcPct val="0"/>
              </a:spcBef>
              <a:spcAft>
                <a:spcPct val="35000"/>
              </a:spcAft>
            </a:pPr>
            <a:endParaRPr lang="zh-CN" altLang="en-US" sz="1400" kern="1200"/>
          </a:p>
        </p:txBody>
      </p:sp>
      <p:grpSp>
        <p:nvGrpSpPr>
          <p:cNvPr id="34" name="组合 33"/>
          <p:cNvGrpSpPr/>
          <p:nvPr/>
        </p:nvGrpSpPr>
        <p:grpSpPr>
          <a:xfrm>
            <a:off x="788689" y="1203598"/>
            <a:ext cx="2100459" cy="2666200"/>
            <a:chOff x="827584" y="1563638"/>
            <a:chExt cx="2100459" cy="2666200"/>
          </a:xfrm>
        </p:grpSpPr>
        <p:sp>
          <p:nvSpPr>
            <p:cNvPr id="4" name="圆角矩形 3"/>
            <p:cNvSpPr/>
            <p:nvPr/>
          </p:nvSpPr>
          <p:spPr>
            <a:xfrm>
              <a:off x="827584" y="1563638"/>
              <a:ext cx="1428392"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0"/>
                <a:satOff val="0"/>
                <a:lumOff val="0"/>
                <a:alphaOff val="0"/>
              </a:schemeClr>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955100" y="2157576"/>
              <a:ext cx="1972943" cy="2072262"/>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33276" tIns="133276" rIns="133276" bIns="133276" numCol="1" spcCol="1270" anchor="t" anchorCtr="0">
              <a:noAutofit/>
            </a:bodyPr>
            <a:lstStyle/>
            <a:p>
              <a:pPr>
                <a:lnSpc>
                  <a:spcPct val="120000"/>
                </a:lnSpc>
                <a:buFont typeface="Wingdings" panose="05000000000000000000" pitchFamily="2" charset="2"/>
                <a:buChar char="Ø"/>
              </a:pPr>
              <a:r>
                <a:rPr lang="zh-CN" altLang="en-US" sz="2400" b="1" dirty="0"/>
                <a:t>可以对内存进行非连续分配。</a:t>
              </a:r>
            </a:p>
          </p:txBody>
        </p:sp>
        <p:sp>
          <p:nvSpPr>
            <p:cNvPr id="13" name="文本框 12"/>
            <p:cNvSpPr txBox="1"/>
            <p:nvPr/>
          </p:nvSpPr>
          <p:spPr>
            <a:xfrm>
              <a:off x="827584" y="1695911"/>
              <a:ext cx="1572408" cy="461665"/>
            </a:xfrm>
            <a:prstGeom prst="rect">
              <a:avLst/>
            </a:prstGeom>
            <a:noFill/>
          </p:spPr>
          <p:txBody>
            <a:bodyPr wrap="square" rtlCol="0">
              <a:spAutoFit/>
            </a:bodyPr>
            <a:lstStyle/>
            <a:p>
              <a:r>
                <a:rPr lang="zh-CN" altLang="en-US" sz="2400" b="1" dirty="0" smtClean="0"/>
                <a:t>优点</a:t>
              </a:r>
              <a:r>
                <a:rPr lang="en-US" altLang="zh-CN" sz="2400" b="1" dirty="0" smtClean="0"/>
                <a:t>1</a:t>
              </a:r>
              <a:endParaRPr lang="zh-CN" altLang="en-US" sz="2400" b="1" dirty="0"/>
            </a:p>
          </p:txBody>
        </p:sp>
      </p:grpSp>
      <p:grpSp>
        <p:nvGrpSpPr>
          <p:cNvPr id="35" name="组合 34"/>
          <p:cNvGrpSpPr/>
          <p:nvPr/>
        </p:nvGrpSpPr>
        <p:grpSpPr>
          <a:xfrm>
            <a:off x="3406536" y="2283718"/>
            <a:ext cx="2474996" cy="2189917"/>
            <a:chOff x="3598344" y="1499391"/>
            <a:chExt cx="2474996" cy="2189917"/>
          </a:xfrm>
        </p:grpSpPr>
        <p:sp>
          <p:nvSpPr>
            <p:cNvPr id="7" name="圆角矩形 6"/>
            <p:cNvSpPr/>
            <p:nvPr/>
          </p:nvSpPr>
          <p:spPr>
            <a:xfrm>
              <a:off x="3598344" y="1499391"/>
              <a:ext cx="1428392"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2528518"/>
                <a:satOff val="-3468"/>
                <a:lumOff val="5588"/>
                <a:alphaOff val="0"/>
              </a:schemeClr>
            </a:fillRef>
            <a:effectRef idx="0">
              <a:schemeClr val="accent2">
                <a:tint val="50000"/>
                <a:hueOff val="2528518"/>
                <a:satOff val="-3468"/>
                <a:lumOff val="5588"/>
                <a:alphaOff val="0"/>
              </a:schemeClr>
            </a:effectRef>
            <a:fontRef idx="minor">
              <a:schemeClr val="lt1">
                <a:hueOff val="0"/>
                <a:satOff val="0"/>
                <a:lumOff val="0"/>
                <a:alphaOff val="0"/>
              </a:schemeClr>
            </a:fontRef>
          </p:style>
        </p:sp>
        <p:sp>
          <p:nvSpPr>
            <p:cNvPr id="8" name="任意多边形 7"/>
            <p:cNvSpPr/>
            <p:nvPr/>
          </p:nvSpPr>
          <p:spPr>
            <a:xfrm>
              <a:off x="3719014" y="2179644"/>
              <a:ext cx="2354326" cy="1509664"/>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2340759"/>
                <a:satOff val="-2917"/>
                <a:lumOff val="686"/>
                <a:alphaOff val="0"/>
              </a:schemeClr>
            </a:fillRef>
            <a:effectRef idx="2">
              <a:schemeClr val="accent2">
                <a:hueOff val="2340759"/>
                <a:satOff val="-2917"/>
                <a:lumOff val="686"/>
                <a:alphaOff val="0"/>
              </a:schemeClr>
            </a:effectRef>
            <a:fontRef idx="minor">
              <a:schemeClr val="lt1"/>
            </a:fontRef>
          </p:style>
          <p:txBody>
            <a:bodyPr spcFirstLastPara="0" vert="horz" wrap="square" lIns="133276" tIns="133276" rIns="133276" bIns="133276" numCol="1" spcCol="1270" anchor="t" anchorCtr="0">
              <a:noAutofit/>
            </a:bodyPr>
            <a:lstStyle/>
            <a:p>
              <a:pPr>
                <a:lnSpc>
                  <a:spcPct val="120000"/>
                </a:lnSpc>
                <a:buFont typeface="Wingdings" panose="05000000000000000000" pitchFamily="2" charset="2"/>
                <a:buChar char="Ø"/>
              </a:pPr>
              <a:r>
                <a:rPr lang="zh-CN" altLang="en-US" sz="2400" b="1" dirty="0"/>
                <a:t>动态重定位提供了实现虚拟存储器的基础</a:t>
              </a:r>
            </a:p>
          </p:txBody>
        </p:sp>
        <p:sp>
          <p:nvSpPr>
            <p:cNvPr id="32" name="文本框 31"/>
            <p:cNvSpPr txBox="1"/>
            <p:nvPr/>
          </p:nvSpPr>
          <p:spPr>
            <a:xfrm>
              <a:off x="3762741" y="1597651"/>
              <a:ext cx="1572408" cy="461665"/>
            </a:xfrm>
            <a:prstGeom prst="rect">
              <a:avLst/>
            </a:prstGeom>
            <a:noFill/>
          </p:spPr>
          <p:txBody>
            <a:bodyPr wrap="square" rtlCol="0">
              <a:spAutoFit/>
            </a:bodyPr>
            <a:lstStyle/>
            <a:p>
              <a:r>
                <a:rPr lang="zh-CN" altLang="en-US" sz="2400" b="1" dirty="0" smtClean="0"/>
                <a:t>优点</a:t>
              </a:r>
              <a:r>
                <a:rPr lang="en-US" altLang="zh-CN" sz="2400" b="1" dirty="0" smtClean="0"/>
                <a:t>2</a:t>
              </a:r>
              <a:endParaRPr lang="zh-CN" altLang="en-US" sz="2400" b="1" dirty="0"/>
            </a:p>
          </p:txBody>
        </p:sp>
      </p:grpSp>
      <p:grpSp>
        <p:nvGrpSpPr>
          <p:cNvPr id="36" name="组合 35"/>
          <p:cNvGrpSpPr/>
          <p:nvPr/>
        </p:nvGrpSpPr>
        <p:grpSpPr>
          <a:xfrm>
            <a:off x="6491610" y="3219822"/>
            <a:ext cx="2232249" cy="1786528"/>
            <a:chOff x="6384967" y="1443380"/>
            <a:chExt cx="2232249" cy="1786528"/>
          </a:xfrm>
        </p:grpSpPr>
        <p:sp>
          <p:nvSpPr>
            <p:cNvPr id="10" name="圆角矩形 9"/>
            <p:cNvSpPr/>
            <p:nvPr/>
          </p:nvSpPr>
          <p:spPr>
            <a:xfrm>
              <a:off x="6384967" y="1443380"/>
              <a:ext cx="1428392"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5057036"/>
                <a:satOff val="-6939"/>
                <a:lumOff val="11177"/>
                <a:alphaOff val="0"/>
              </a:schemeClr>
            </a:fillRef>
            <a:effectRef idx="0">
              <a:schemeClr val="accent2">
                <a:tint val="50000"/>
                <a:hueOff val="5057036"/>
                <a:satOff val="-6939"/>
                <a:lumOff val="11177"/>
                <a:alphaOff val="0"/>
              </a:schemeClr>
            </a:effectRef>
            <a:fontRef idx="minor">
              <a:schemeClr val="lt1">
                <a:hueOff val="0"/>
                <a:satOff val="0"/>
                <a:lumOff val="0"/>
                <a:alphaOff val="0"/>
              </a:schemeClr>
            </a:fontRef>
          </p:style>
        </p:sp>
        <p:sp>
          <p:nvSpPr>
            <p:cNvPr id="11" name="任意多边形 10"/>
            <p:cNvSpPr/>
            <p:nvPr/>
          </p:nvSpPr>
          <p:spPr>
            <a:xfrm>
              <a:off x="6545600" y="2052394"/>
              <a:ext cx="2071616" cy="1177514"/>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4681519"/>
                <a:satOff val="-5837"/>
                <a:lumOff val="1373"/>
                <a:alphaOff val="0"/>
              </a:schemeClr>
            </a:fillRef>
            <a:effectRef idx="2">
              <a:schemeClr val="accent2">
                <a:hueOff val="4681519"/>
                <a:satOff val="-5837"/>
                <a:lumOff val="1373"/>
                <a:alphaOff val="0"/>
              </a:schemeClr>
            </a:effectRef>
            <a:fontRef idx="minor">
              <a:schemeClr val="lt1"/>
            </a:fontRef>
          </p:style>
          <p:txBody>
            <a:bodyPr spcFirstLastPara="0" vert="horz" wrap="square" lIns="133276" tIns="133276" rIns="133276" bIns="133276" numCol="1" spcCol="1270" anchor="t" anchorCtr="0">
              <a:noAutofit/>
            </a:bodyPr>
            <a:lstStyle/>
            <a:p>
              <a:pPr>
                <a:lnSpc>
                  <a:spcPct val="120000"/>
                </a:lnSpc>
                <a:buFont typeface="Wingdings" panose="05000000000000000000" pitchFamily="2" charset="2"/>
                <a:buChar char="Ø"/>
              </a:pPr>
              <a:r>
                <a:rPr lang="zh-CN" altLang="en-US" sz="2400" b="1" dirty="0"/>
                <a:t>有利于程序段的共享</a:t>
              </a:r>
            </a:p>
          </p:txBody>
        </p:sp>
        <p:sp>
          <p:nvSpPr>
            <p:cNvPr id="33" name="文本框 32"/>
            <p:cNvSpPr txBox="1"/>
            <p:nvPr/>
          </p:nvSpPr>
          <p:spPr>
            <a:xfrm>
              <a:off x="6415448" y="1561734"/>
              <a:ext cx="1572408" cy="461665"/>
            </a:xfrm>
            <a:prstGeom prst="rect">
              <a:avLst/>
            </a:prstGeom>
            <a:noFill/>
          </p:spPr>
          <p:txBody>
            <a:bodyPr wrap="square" rtlCol="0">
              <a:spAutoFit/>
            </a:bodyPr>
            <a:lstStyle/>
            <a:p>
              <a:r>
                <a:rPr lang="zh-CN" altLang="en-US" sz="2400" b="1" dirty="0" smtClean="0"/>
                <a:t>优点</a:t>
              </a:r>
              <a:r>
                <a:rPr lang="en-US" altLang="zh-CN" sz="2400" b="1" dirty="0" smtClean="0"/>
                <a:t>3</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up)">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up)">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内外存数据传输的控制</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21262"/>
            <a:ext cx="4104456"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要实现内存扩充，在程序执行过程中，内存和外存之间必须经常地交换数据。</a:t>
            </a:r>
            <a:endParaRPr lang="en-US" altLang="zh-CN" sz="24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按什么样的方式来控制内存和外存之间的数据流动呢</a:t>
            </a:r>
            <a:r>
              <a:rPr lang="en-US" altLang="zh-CN" sz="2400" b="1" dirty="0">
                <a:solidFill>
                  <a:schemeClr val="bg1"/>
                </a:solidFill>
                <a:latin typeface="+mn-ea"/>
              </a:rPr>
              <a:t>?</a:t>
            </a:r>
            <a:endParaRPr lang="zh-CN" altLang="en-US" sz="2400" b="1" dirty="0">
              <a:solidFill>
                <a:schemeClr val="bg1"/>
              </a:solidFill>
              <a:latin typeface="+mn-ea"/>
              <a:sym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7258" y="1281469"/>
            <a:ext cx="3219822" cy="32198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内外存数据传输的控制</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任意多边形 5"/>
          <p:cNvSpPr/>
          <p:nvPr/>
        </p:nvSpPr>
        <p:spPr>
          <a:xfrm>
            <a:off x="4651305" y="2654291"/>
            <a:ext cx="275140" cy="343222"/>
          </a:xfrm>
          <a:custGeom>
            <a:avLst/>
            <a:gdLst>
              <a:gd name="connsiteX0" fmla="*/ 0 w 275140"/>
              <a:gd name="connsiteY0" fmla="*/ 68644 h 343222"/>
              <a:gd name="connsiteX1" fmla="*/ 137570 w 275140"/>
              <a:gd name="connsiteY1" fmla="*/ 68644 h 343222"/>
              <a:gd name="connsiteX2" fmla="*/ 137570 w 275140"/>
              <a:gd name="connsiteY2" fmla="*/ 0 h 343222"/>
              <a:gd name="connsiteX3" fmla="*/ 275140 w 275140"/>
              <a:gd name="connsiteY3" fmla="*/ 171611 h 343222"/>
              <a:gd name="connsiteX4" fmla="*/ 137570 w 275140"/>
              <a:gd name="connsiteY4" fmla="*/ 343222 h 343222"/>
              <a:gd name="connsiteX5" fmla="*/ 137570 w 275140"/>
              <a:gd name="connsiteY5" fmla="*/ 274578 h 343222"/>
              <a:gd name="connsiteX6" fmla="*/ 0 w 275140"/>
              <a:gd name="connsiteY6" fmla="*/ 274578 h 343222"/>
              <a:gd name="connsiteX7" fmla="*/ 0 w 275140"/>
              <a:gd name="connsiteY7" fmla="*/ 68644 h 34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40" h="343222">
                <a:moveTo>
                  <a:pt x="0" y="68644"/>
                </a:moveTo>
                <a:lnTo>
                  <a:pt x="137570" y="68644"/>
                </a:lnTo>
                <a:lnTo>
                  <a:pt x="137570" y="0"/>
                </a:lnTo>
                <a:lnTo>
                  <a:pt x="275140" y="171611"/>
                </a:lnTo>
                <a:lnTo>
                  <a:pt x="137570" y="343222"/>
                </a:lnTo>
                <a:lnTo>
                  <a:pt x="137570" y="274578"/>
                </a:lnTo>
                <a:lnTo>
                  <a:pt x="0" y="274578"/>
                </a:lnTo>
                <a:lnTo>
                  <a:pt x="0" y="68644"/>
                </a:lnTo>
                <a:close/>
              </a:path>
            </a:pathLst>
          </a:custGeom>
          <a:scene3d>
            <a:camera prst="orthographicFront"/>
            <a:lightRig rig="threePt" dir="t">
              <a:rot lat="0" lon="0" rev="7500000"/>
            </a:lightRig>
          </a:scene3d>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0" tIns="68644" rIns="82542" bIns="68644" numCol="1" spcCol="1270" anchor="ctr" anchorCtr="0">
            <a:noAutofit/>
          </a:bodyPr>
          <a:lstStyle/>
          <a:p>
            <a:pPr lvl="0" algn="ctr" defTabSz="622300">
              <a:lnSpc>
                <a:spcPct val="90000"/>
              </a:lnSpc>
              <a:spcBef>
                <a:spcPct val="0"/>
              </a:spcBef>
              <a:spcAft>
                <a:spcPct val="35000"/>
              </a:spcAft>
            </a:pPr>
            <a:endParaRPr lang="zh-CN" altLang="en-US" sz="1400" kern="1200"/>
          </a:p>
        </p:txBody>
      </p:sp>
      <p:grpSp>
        <p:nvGrpSpPr>
          <p:cNvPr id="34" name="组合 33"/>
          <p:cNvGrpSpPr/>
          <p:nvPr/>
        </p:nvGrpSpPr>
        <p:grpSpPr>
          <a:xfrm>
            <a:off x="684050" y="1203598"/>
            <a:ext cx="3790945" cy="3802752"/>
            <a:chOff x="827583" y="1563638"/>
            <a:chExt cx="3790945" cy="3802752"/>
          </a:xfrm>
        </p:grpSpPr>
        <p:sp>
          <p:nvSpPr>
            <p:cNvPr id="4" name="圆角矩形 3"/>
            <p:cNvSpPr/>
            <p:nvPr/>
          </p:nvSpPr>
          <p:spPr>
            <a:xfrm>
              <a:off x="827583" y="1563638"/>
              <a:ext cx="2631183"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0"/>
                <a:satOff val="0"/>
                <a:lumOff val="0"/>
                <a:alphaOff val="0"/>
              </a:schemeClr>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955099" y="2157576"/>
              <a:ext cx="3663429" cy="3208814"/>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33276" tIns="133276" rIns="133276" bIns="133276" numCol="1" spcCol="1270" anchor="t" anchorCtr="0">
              <a:noAutofit/>
            </a:bodyPr>
            <a:lstStyle/>
            <a:p>
              <a:pPr marL="0" lvl="1">
                <a:lnSpc>
                  <a:spcPct val="120000"/>
                </a:lnSpc>
                <a:buFont typeface="Wingdings" panose="05000000000000000000" pitchFamily="2" charset="2"/>
                <a:buChar char="Ø"/>
                <a:defRPr/>
              </a:pPr>
              <a:r>
                <a:rPr lang="zh-CN" altLang="en-US" sz="2000" b="1" dirty="0">
                  <a:solidFill>
                    <a:srgbClr val="FFFF00"/>
                  </a:solidFill>
                </a:rPr>
                <a:t>覆盖技术</a:t>
              </a:r>
              <a:r>
                <a:rPr lang="zh-CN" altLang="en-US" sz="2000" b="1" dirty="0"/>
                <a:t>要求用户清楚地了解程序的结构，并指定各程序段调入内存的先后次序。覆盖是一种早期的主存扩充技术。使用覆盖技术，</a:t>
              </a:r>
              <a:r>
                <a:rPr lang="zh-CN" altLang="en-US" sz="2000" b="1" dirty="0">
                  <a:solidFill>
                    <a:srgbClr val="FFFF00"/>
                  </a:solidFill>
                </a:rPr>
                <a:t>用户负担很大</a:t>
              </a:r>
              <a:r>
                <a:rPr lang="zh-CN" altLang="en-US" sz="2000" b="1" dirty="0"/>
                <a:t>，且</a:t>
              </a:r>
              <a:r>
                <a:rPr lang="zh-CN" altLang="en-US" sz="2000" b="1" dirty="0">
                  <a:solidFill>
                    <a:srgbClr val="FFFF00"/>
                  </a:solidFill>
                </a:rPr>
                <a:t>程序段的最大长度仍受内存容量限制</a:t>
              </a:r>
              <a:r>
                <a:rPr lang="zh-CN" altLang="en-US" sz="2000" b="1" dirty="0"/>
                <a:t>。因此，覆盖技术不能实现虚拟存储器。</a:t>
              </a:r>
              <a:endParaRPr lang="en-US" altLang="zh-CN" sz="2000" b="1" dirty="0"/>
            </a:p>
          </p:txBody>
        </p:sp>
        <p:sp>
          <p:nvSpPr>
            <p:cNvPr id="13" name="文本框 12"/>
            <p:cNvSpPr txBox="1"/>
            <p:nvPr/>
          </p:nvSpPr>
          <p:spPr>
            <a:xfrm>
              <a:off x="827583" y="1695911"/>
              <a:ext cx="2758699" cy="461665"/>
            </a:xfrm>
            <a:prstGeom prst="rect">
              <a:avLst/>
            </a:prstGeom>
            <a:noFill/>
          </p:spPr>
          <p:txBody>
            <a:bodyPr wrap="square" rtlCol="0">
              <a:spAutoFit/>
            </a:bodyPr>
            <a:lstStyle/>
            <a:p>
              <a:r>
                <a:rPr lang="zh-CN" altLang="en-US" sz="2400" b="1" dirty="0"/>
                <a:t>用户程序自己控制</a:t>
              </a:r>
            </a:p>
          </p:txBody>
        </p:sp>
      </p:grpSp>
      <p:grpSp>
        <p:nvGrpSpPr>
          <p:cNvPr id="36" name="组合 35"/>
          <p:cNvGrpSpPr/>
          <p:nvPr/>
        </p:nvGrpSpPr>
        <p:grpSpPr>
          <a:xfrm>
            <a:off x="4926445" y="2211710"/>
            <a:ext cx="4041244" cy="2033519"/>
            <a:chOff x="6260143" y="1443380"/>
            <a:chExt cx="5141101" cy="2033519"/>
          </a:xfrm>
        </p:grpSpPr>
        <p:sp>
          <p:nvSpPr>
            <p:cNvPr id="10" name="圆角矩形 9"/>
            <p:cNvSpPr/>
            <p:nvPr/>
          </p:nvSpPr>
          <p:spPr>
            <a:xfrm>
              <a:off x="6384966" y="1443380"/>
              <a:ext cx="3312132"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5057036"/>
                <a:satOff val="-6939"/>
                <a:lumOff val="11177"/>
                <a:alphaOff val="0"/>
              </a:schemeClr>
            </a:fillRef>
            <a:effectRef idx="0">
              <a:schemeClr val="accent2">
                <a:tint val="50000"/>
                <a:hueOff val="5057036"/>
                <a:satOff val="-6939"/>
                <a:lumOff val="11177"/>
                <a:alphaOff val="0"/>
              </a:schemeClr>
            </a:effectRef>
            <a:fontRef idx="minor">
              <a:schemeClr val="lt1">
                <a:hueOff val="0"/>
                <a:satOff val="0"/>
                <a:lumOff val="0"/>
                <a:alphaOff val="0"/>
              </a:schemeClr>
            </a:fontRef>
          </p:style>
        </p:sp>
        <p:sp>
          <p:nvSpPr>
            <p:cNvPr id="11" name="任意多边形 10"/>
            <p:cNvSpPr/>
            <p:nvPr/>
          </p:nvSpPr>
          <p:spPr>
            <a:xfrm>
              <a:off x="6910400" y="2031035"/>
              <a:ext cx="4490844" cy="1445864"/>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4681519"/>
                <a:satOff val="-5837"/>
                <a:lumOff val="1373"/>
                <a:alphaOff val="0"/>
              </a:schemeClr>
            </a:fillRef>
            <a:effectRef idx="2">
              <a:schemeClr val="accent2">
                <a:hueOff val="4681519"/>
                <a:satOff val="-5837"/>
                <a:lumOff val="1373"/>
                <a:alphaOff val="0"/>
              </a:schemeClr>
            </a:effectRef>
            <a:fontRef idx="minor">
              <a:schemeClr val="lt1"/>
            </a:fontRef>
          </p:style>
          <p:txBody>
            <a:bodyPr spcFirstLastPara="0" vert="horz" wrap="square" lIns="133276" tIns="133276" rIns="133276" bIns="133276" numCol="1" spcCol="1270" anchor="t" anchorCtr="0">
              <a:noAutofit/>
            </a:bodyPr>
            <a:lstStyle/>
            <a:p>
              <a:pPr marL="0" lvl="1">
                <a:lnSpc>
                  <a:spcPct val="120000"/>
                </a:lnSpc>
                <a:buFont typeface="Wingdings" panose="05000000000000000000" pitchFamily="2" charset="2"/>
                <a:buChar char="Ø"/>
                <a:defRPr/>
              </a:pPr>
              <a:r>
                <a:rPr lang="zh-CN" altLang="en-US" sz="2000" b="1" dirty="0"/>
                <a:t>交换</a:t>
              </a:r>
              <a:r>
                <a:rPr lang="en-US" altLang="zh-CN" sz="2000" b="1" dirty="0"/>
                <a:t>(swapping)</a:t>
              </a:r>
              <a:r>
                <a:rPr lang="zh-CN" altLang="en-US" sz="2000" b="1" dirty="0" smtClean="0"/>
                <a:t>方式</a:t>
              </a:r>
              <a:endParaRPr lang="en-US" altLang="zh-CN" sz="2000" b="1" dirty="0"/>
            </a:p>
            <a:p>
              <a:pPr marL="0" lvl="1">
                <a:lnSpc>
                  <a:spcPct val="120000"/>
                </a:lnSpc>
                <a:buFont typeface="Wingdings" panose="05000000000000000000" pitchFamily="2" charset="2"/>
                <a:buChar char="Ø"/>
                <a:defRPr/>
              </a:pPr>
              <a:r>
                <a:rPr lang="zh-CN" altLang="en-US" sz="2000" b="1" dirty="0" smtClean="0"/>
                <a:t>请求</a:t>
              </a:r>
              <a:r>
                <a:rPr lang="zh-CN" altLang="en-US" sz="2000" b="1" dirty="0"/>
                <a:t>调入</a:t>
              </a:r>
              <a:r>
                <a:rPr lang="en-US" altLang="zh-CN" sz="2000" b="1" dirty="0"/>
                <a:t>(on demand)</a:t>
              </a:r>
              <a:r>
                <a:rPr lang="zh-CN" altLang="en-US" sz="2000" b="1" dirty="0" smtClean="0"/>
                <a:t>方式</a:t>
              </a:r>
              <a:endParaRPr lang="en-US" altLang="zh-CN" sz="2000" b="1" dirty="0" smtClean="0"/>
            </a:p>
            <a:p>
              <a:pPr marL="0" lvl="1">
                <a:lnSpc>
                  <a:spcPct val="120000"/>
                </a:lnSpc>
                <a:buFont typeface="Wingdings" panose="05000000000000000000" pitchFamily="2" charset="2"/>
                <a:buChar char="Ø"/>
                <a:defRPr/>
              </a:pPr>
              <a:r>
                <a:rPr lang="zh-CN" altLang="en-US" sz="2000" b="1" dirty="0" smtClean="0"/>
                <a:t>预调</a:t>
              </a:r>
              <a:r>
                <a:rPr lang="zh-CN" altLang="en-US" sz="2000" b="1" dirty="0"/>
                <a:t>入</a:t>
              </a:r>
              <a:r>
                <a:rPr lang="en-US" altLang="zh-CN" sz="2000" b="1" dirty="0"/>
                <a:t>(on </a:t>
              </a:r>
              <a:r>
                <a:rPr lang="en-US" altLang="zh-CN" sz="2000" b="1" dirty="0" err="1"/>
                <a:t>prefetch</a:t>
              </a:r>
              <a:r>
                <a:rPr lang="en-US" altLang="zh-CN" sz="2000" b="1" dirty="0"/>
                <a:t>)</a:t>
              </a:r>
              <a:r>
                <a:rPr lang="zh-CN" altLang="en-US" sz="2000" b="1" dirty="0"/>
                <a:t>方式。</a:t>
              </a:r>
            </a:p>
          </p:txBody>
        </p:sp>
        <p:sp>
          <p:nvSpPr>
            <p:cNvPr id="33" name="文本框 32"/>
            <p:cNvSpPr txBox="1"/>
            <p:nvPr/>
          </p:nvSpPr>
          <p:spPr>
            <a:xfrm>
              <a:off x="6260143" y="1518256"/>
              <a:ext cx="3436955" cy="461665"/>
            </a:xfrm>
            <a:prstGeom prst="rect">
              <a:avLst/>
            </a:prstGeom>
            <a:noFill/>
          </p:spPr>
          <p:txBody>
            <a:bodyPr wrap="square" rtlCol="0">
              <a:spAutoFit/>
            </a:bodyPr>
            <a:lstStyle/>
            <a:p>
              <a:r>
                <a:rPr lang="zh-CN" altLang="en-US" sz="2400" b="1" dirty="0" smtClean="0"/>
                <a:t>操作系统控制方式</a:t>
              </a:r>
              <a:endParaRPr lang="zh-CN" altLang="en-US" sz="24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up)">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131616" y="119219"/>
            <a:ext cx="903937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内外存数据传输的</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控制</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系统操作控制方式</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任意多边形 5"/>
          <p:cNvSpPr/>
          <p:nvPr/>
        </p:nvSpPr>
        <p:spPr>
          <a:xfrm>
            <a:off x="3795988" y="2712110"/>
            <a:ext cx="275140" cy="343222"/>
          </a:xfrm>
          <a:custGeom>
            <a:avLst/>
            <a:gdLst>
              <a:gd name="connsiteX0" fmla="*/ 0 w 275140"/>
              <a:gd name="connsiteY0" fmla="*/ 68644 h 343222"/>
              <a:gd name="connsiteX1" fmla="*/ 137570 w 275140"/>
              <a:gd name="connsiteY1" fmla="*/ 68644 h 343222"/>
              <a:gd name="connsiteX2" fmla="*/ 137570 w 275140"/>
              <a:gd name="connsiteY2" fmla="*/ 0 h 343222"/>
              <a:gd name="connsiteX3" fmla="*/ 275140 w 275140"/>
              <a:gd name="connsiteY3" fmla="*/ 171611 h 343222"/>
              <a:gd name="connsiteX4" fmla="*/ 137570 w 275140"/>
              <a:gd name="connsiteY4" fmla="*/ 343222 h 343222"/>
              <a:gd name="connsiteX5" fmla="*/ 137570 w 275140"/>
              <a:gd name="connsiteY5" fmla="*/ 274578 h 343222"/>
              <a:gd name="connsiteX6" fmla="*/ 0 w 275140"/>
              <a:gd name="connsiteY6" fmla="*/ 274578 h 343222"/>
              <a:gd name="connsiteX7" fmla="*/ 0 w 275140"/>
              <a:gd name="connsiteY7" fmla="*/ 68644 h 34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40" h="343222">
                <a:moveTo>
                  <a:pt x="0" y="68644"/>
                </a:moveTo>
                <a:lnTo>
                  <a:pt x="137570" y="68644"/>
                </a:lnTo>
                <a:lnTo>
                  <a:pt x="137570" y="0"/>
                </a:lnTo>
                <a:lnTo>
                  <a:pt x="275140" y="171611"/>
                </a:lnTo>
                <a:lnTo>
                  <a:pt x="137570" y="343222"/>
                </a:lnTo>
                <a:lnTo>
                  <a:pt x="137570" y="274578"/>
                </a:lnTo>
                <a:lnTo>
                  <a:pt x="0" y="274578"/>
                </a:lnTo>
                <a:lnTo>
                  <a:pt x="0" y="68644"/>
                </a:lnTo>
                <a:close/>
              </a:path>
            </a:pathLst>
          </a:custGeom>
          <a:scene3d>
            <a:camera prst="orthographicFront"/>
            <a:lightRig rig="threePt" dir="t">
              <a:rot lat="0" lon="0" rev="7500000"/>
            </a:lightRig>
          </a:scene3d>
          <a:sp3d z="-70000" extrusionH="63500" prstMaterial="matte">
            <a:bevelT w="25400" h="6350" prst="relaxedInset"/>
            <a:contourClr>
              <a:schemeClr val="bg1"/>
            </a:contourClr>
          </a:sp3d>
        </p:spPr>
        <p:style>
          <a:lnRef idx="0">
            <a:schemeClr val="lt1">
              <a:hueOff val="0"/>
              <a:satOff val="0"/>
              <a:lumOff val="0"/>
              <a:alphaOff val="0"/>
            </a:schemeClr>
          </a:lnRef>
          <a:fillRef idx="1">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0" tIns="68644" rIns="82542" bIns="68644" numCol="1" spcCol="1270" anchor="ctr" anchorCtr="0">
            <a:noAutofit/>
          </a:bodyPr>
          <a:lstStyle/>
          <a:p>
            <a:pPr lvl="0" algn="ctr" defTabSz="622300">
              <a:lnSpc>
                <a:spcPct val="90000"/>
              </a:lnSpc>
              <a:spcBef>
                <a:spcPct val="0"/>
              </a:spcBef>
              <a:spcAft>
                <a:spcPct val="35000"/>
              </a:spcAft>
            </a:pPr>
            <a:endParaRPr lang="zh-CN" altLang="en-US" sz="1400" kern="1200"/>
          </a:p>
        </p:txBody>
      </p:sp>
      <p:grpSp>
        <p:nvGrpSpPr>
          <p:cNvPr id="34" name="组合 33"/>
          <p:cNvGrpSpPr/>
          <p:nvPr/>
        </p:nvGrpSpPr>
        <p:grpSpPr>
          <a:xfrm>
            <a:off x="792509" y="1302419"/>
            <a:ext cx="2735822" cy="3145195"/>
            <a:chOff x="827584" y="1563638"/>
            <a:chExt cx="2735822" cy="3145195"/>
          </a:xfrm>
        </p:grpSpPr>
        <p:sp>
          <p:nvSpPr>
            <p:cNvPr id="4" name="圆角矩形 3"/>
            <p:cNvSpPr/>
            <p:nvPr/>
          </p:nvSpPr>
          <p:spPr>
            <a:xfrm>
              <a:off x="827584" y="1563638"/>
              <a:ext cx="1799718"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0"/>
                <a:satOff val="0"/>
                <a:lumOff val="0"/>
                <a:alphaOff val="0"/>
              </a:schemeClr>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955100" y="2157576"/>
              <a:ext cx="2608306" cy="2551257"/>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33276" tIns="133276" rIns="133276" bIns="133276" numCol="1" spcCol="1270" anchor="t" anchorCtr="0">
              <a:noAutofit/>
            </a:bodyPr>
            <a:lstStyle/>
            <a:p>
              <a:pPr marL="0" lvl="1">
                <a:lnSpc>
                  <a:spcPct val="120000"/>
                </a:lnSpc>
                <a:buFont typeface="Wingdings" panose="05000000000000000000" pitchFamily="2" charset="2"/>
                <a:buChar char="Ø"/>
                <a:defRPr/>
              </a:pPr>
              <a:r>
                <a:rPr lang="zh-CN" altLang="en-US" sz="2000" b="1" dirty="0"/>
                <a:t>由操作系统把那些在内存中处于等待状态的</a:t>
              </a:r>
              <a:r>
                <a:rPr lang="zh-CN" altLang="en-US" sz="2000" b="1" dirty="0">
                  <a:solidFill>
                    <a:srgbClr val="FFFF00"/>
                  </a:solidFill>
                </a:rPr>
                <a:t>进程</a:t>
              </a:r>
              <a:r>
                <a:rPr lang="zh-CN" altLang="en-US" sz="2000" b="1" dirty="0"/>
                <a:t>换出内存，而把那些等待事件已经发生、处于就绪态的进程换入内存。</a:t>
              </a:r>
              <a:endParaRPr lang="en-US" altLang="zh-CN" sz="2000" b="1" dirty="0"/>
            </a:p>
          </p:txBody>
        </p:sp>
        <p:sp>
          <p:nvSpPr>
            <p:cNvPr id="13" name="文本框 12"/>
            <p:cNvSpPr txBox="1"/>
            <p:nvPr/>
          </p:nvSpPr>
          <p:spPr>
            <a:xfrm>
              <a:off x="827584" y="1695911"/>
              <a:ext cx="1655702" cy="461665"/>
            </a:xfrm>
            <a:prstGeom prst="rect">
              <a:avLst/>
            </a:prstGeom>
            <a:noFill/>
          </p:spPr>
          <p:txBody>
            <a:bodyPr wrap="square" rtlCol="0">
              <a:spAutoFit/>
            </a:bodyPr>
            <a:lstStyle/>
            <a:p>
              <a:r>
                <a:rPr lang="zh-CN" altLang="en-US" sz="2400" b="1" dirty="0" smtClean="0"/>
                <a:t>交换方式</a:t>
              </a:r>
              <a:endParaRPr lang="zh-CN" altLang="en-US" sz="2400" b="1" dirty="0"/>
            </a:p>
          </p:txBody>
        </p:sp>
      </p:grpSp>
      <p:grpSp>
        <p:nvGrpSpPr>
          <p:cNvPr id="36" name="组合 35"/>
          <p:cNvGrpSpPr/>
          <p:nvPr/>
        </p:nvGrpSpPr>
        <p:grpSpPr>
          <a:xfrm>
            <a:off x="4071127" y="886583"/>
            <a:ext cx="4821351" cy="4061431"/>
            <a:chOff x="6260143" y="1443380"/>
            <a:chExt cx="6133522" cy="4061431"/>
          </a:xfrm>
        </p:grpSpPr>
        <p:sp>
          <p:nvSpPr>
            <p:cNvPr id="10" name="圆角矩形 9"/>
            <p:cNvSpPr/>
            <p:nvPr/>
          </p:nvSpPr>
          <p:spPr>
            <a:xfrm>
              <a:off x="6384966" y="1443380"/>
              <a:ext cx="2698774" cy="1428392"/>
            </a:xfrm>
            <a:prstGeom prst="roundRect">
              <a:avLst>
                <a:gd name="adj" fmla="val 10000"/>
              </a:avLst>
            </a:prstGeom>
            <a:scene3d>
              <a:camera prst="orthographicFront"/>
              <a:lightRig rig="threePt" dir="t">
                <a:rot lat="0" lon="0" rev="7500000"/>
              </a:lightRig>
            </a:scene3d>
            <a:sp3d z="-152400" extrusionH="63500" contourW="12700" prstMaterial="matte">
              <a:contourClr>
                <a:schemeClr val="lt1"/>
              </a:contourClr>
            </a:sp3d>
          </p:spPr>
          <p:style>
            <a:lnRef idx="0">
              <a:schemeClr val="lt1">
                <a:hueOff val="0"/>
                <a:satOff val="0"/>
                <a:lumOff val="0"/>
                <a:alphaOff val="0"/>
              </a:schemeClr>
            </a:lnRef>
            <a:fillRef idx="1">
              <a:schemeClr val="accent2">
                <a:tint val="50000"/>
                <a:hueOff val="5057036"/>
                <a:satOff val="-6939"/>
                <a:lumOff val="11177"/>
                <a:alphaOff val="0"/>
              </a:schemeClr>
            </a:fillRef>
            <a:effectRef idx="0">
              <a:schemeClr val="accent2">
                <a:tint val="50000"/>
                <a:hueOff val="5057036"/>
                <a:satOff val="-6939"/>
                <a:lumOff val="11177"/>
                <a:alphaOff val="0"/>
              </a:schemeClr>
            </a:effectRef>
            <a:fontRef idx="minor">
              <a:schemeClr val="lt1">
                <a:hueOff val="0"/>
                <a:satOff val="0"/>
                <a:lumOff val="0"/>
                <a:alphaOff val="0"/>
              </a:schemeClr>
            </a:fontRef>
          </p:style>
        </p:sp>
        <p:sp>
          <p:nvSpPr>
            <p:cNvPr id="11" name="任意多边形 10"/>
            <p:cNvSpPr/>
            <p:nvPr/>
          </p:nvSpPr>
          <p:spPr>
            <a:xfrm>
              <a:off x="6448484" y="1998654"/>
              <a:ext cx="5945181" cy="3506157"/>
            </a:xfrm>
            <a:custGeom>
              <a:avLst/>
              <a:gdLst>
                <a:gd name="connsiteX0" fmla="*/ 0 w 1428392"/>
                <a:gd name="connsiteY0" fmla="*/ 142839 h 1428392"/>
                <a:gd name="connsiteX1" fmla="*/ 142839 w 1428392"/>
                <a:gd name="connsiteY1" fmla="*/ 0 h 1428392"/>
                <a:gd name="connsiteX2" fmla="*/ 1285553 w 1428392"/>
                <a:gd name="connsiteY2" fmla="*/ 0 h 1428392"/>
                <a:gd name="connsiteX3" fmla="*/ 1428392 w 1428392"/>
                <a:gd name="connsiteY3" fmla="*/ 142839 h 1428392"/>
                <a:gd name="connsiteX4" fmla="*/ 1428392 w 1428392"/>
                <a:gd name="connsiteY4" fmla="*/ 1285553 h 1428392"/>
                <a:gd name="connsiteX5" fmla="*/ 1285553 w 1428392"/>
                <a:gd name="connsiteY5" fmla="*/ 1428392 h 1428392"/>
                <a:gd name="connsiteX6" fmla="*/ 142839 w 1428392"/>
                <a:gd name="connsiteY6" fmla="*/ 1428392 h 1428392"/>
                <a:gd name="connsiteX7" fmla="*/ 0 w 1428392"/>
                <a:gd name="connsiteY7" fmla="*/ 1285553 h 1428392"/>
                <a:gd name="connsiteX8" fmla="*/ 0 w 1428392"/>
                <a:gd name="connsiteY8" fmla="*/ 142839 h 142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392" h="1428392">
                  <a:moveTo>
                    <a:pt x="0" y="142839"/>
                  </a:moveTo>
                  <a:cubicBezTo>
                    <a:pt x="0" y="63951"/>
                    <a:pt x="63951" y="0"/>
                    <a:pt x="142839" y="0"/>
                  </a:cubicBezTo>
                  <a:lnTo>
                    <a:pt x="1285553" y="0"/>
                  </a:lnTo>
                  <a:cubicBezTo>
                    <a:pt x="1364441" y="0"/>
                    <a:pt x="1428392" y="63951"/>
                    <a:pt x="1428392" y="142839"/>
                  </a:cubicBezTo>
                  <a:lnTo>
                    <a:pt x="1428392" y="1285553"/>
                  </a:lnTo>
                  <a:cubicBezTo>
                    <a:pt x="1428392" y="1364441"/>
                    <a:pt x="1364441" y="1428392"/>
                    <a:pt x="1285553" y="1428392"/>
                  </a:cubicBezTo>
                  <a:lnTo>
                    <a:pt x="142839" y="1428392"/>
                  </a:lnTo>
                  <a:cubicBezTo>
                    <a:pt x="63951" y="1428392"/>
                    <a:pt x="0" y="1364441"/>
                    <a:pt x="0" y="1285553"/>
                  </a:cubicBezTo>
                  <a:lnTo>
                    <a:pt x="0" y="14283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4681519"/>
                <a:satOff val="-5837"/>
                <a:lumOff val="1373"/>
                <a:alphaOff val="0"/>
              </a:schemeClr>
            </a:fillRef>
            <a:effectRef idx="2">
              <a:schemeClr val="accent2">
                <a:hueOff val="4681519"/>
                <a:satOff val="-5837"/>
                <a:lumOff val="1373"/>
                <a:alphaOff val="0"/>
              </a:schemeClr>
            </a:effectRef>
            <a:fontRef idx="minor">
              <a:schemeClr val="lt1"/>
            </a:fontRef>
          </p:style>
          <p:txBody>
            <a:bodyPr spcFirstLastPara="0" vert="horz" wrap="square" lIns="133276" tIns="133276" rIns="133276" bIns="133276" numCol="1" spcCol="1270" anchor="t" anchorCtr="0">
              <a:noAutofit/>
            </a:bodyPr>
            <a:lstStyle/>
            <a:p>
              <a:pPr marL="0" lvl="1">
                <a:lnSpc>
                  <a:spcPct val="120000"/>
                </a:lnSpc>
                <a:buFont typeface="Wingdings" panose="05000000000000000000" pitchFamily="2" charset="2"/>
                <a:buChar char="Ø"/>
                <a:defRPr/>
              </a:pPr>
              <a:r>
                <a:rPr lang="zh-CN" altLang="en-US" sz="2000" b="1" dirty="0"/>
                <a:t>在程序执行时，如果所要访问的程序段或数据段不在内存中，则操作系统自动地从外存将有关的程序段和数据段调入内存的一种操作系统控制方式</a:t>
              </a:r>
              <a:r>
                <a:rPr lang="zh-CN" altLang="en-US" sz="2000" b="1" dirty="0" smtClean="0"/>
                <a:t>。</a:t>
              </a:r>
              <a:endParaRPr lang="en-US" altLang="zh-CN" sz="2000" b="1" dirty="0" smtClean="0"/>
            </a:p>
            <a:p>
              <a:pPr marL="0" lvl="1">
                <a:lnSpc>
                  <a:spcPct val="120000"/>
                </a:lnSpc>
                <a:buFont typeface="Wingdings" panose="05000000000000000000" pitchFamily="2" charset="2"/>
                <a:buChar char="Ø"/>
                <a:defRPr/>
              </a:pPr>
              <a:r>
                <a:rPr lang="zh-CN" altLang="en-US" sz="2000" b="1" dirty="0" smtClean="0"/>
                <a:t>而</a:t>
              </a:r>
              <a:r>
                <a:rPr lang="zh-CN" altLang="en-US" sz="2000" b="1" dirty="0"/>
                <a:t>预调入则是由操作系统预测在不远的将来会访问到的那些程序段和数据段部分，并在它们被访问之前系统选择适当的时机将它们调入内存的一种数据流控制方式。</a:t>
              </a:r>
            </a:p>
          </p:txBody>
        </p:sp>
        <p:sp>
          <p:nvSpPr>
            <p:cNvPr id="33" name="文本框 32"/>
            <p:cNvSpPr txBox="1"/>
            <p:nvPr/>
          </p:nvSpPr>
          <p:spPr>
            <a:xfrm>
              <a:off x="6260143" y="1518256"/>
              <a:ext cx="2823597" cy="461665"/>
            </a:xfrm>
            <a:prstGeom prst="rect">
              <a:avLst/>
            </a:prstGeom>
            <a:noFill/>
          </p:spPr>
          <p:txBody>
            <a:bodyPr wrap="square" rtlCol="0">
              <a:spAutoFit/>
            </a:bodyPr>
            <a:lstStyle/>
            <a:p>
              <a:r>
                <a:rPr lang="zh-CN" altLang="en-US" sz="2400" b="1" dirty="0" smtClean="0"/>
                <a:t>请求调入方式</a:t>
              </a:r>
              <a:endParaRPr lang="zh-CN" altLang="en-US" sz="2400" b="1" dirty="0"/>
            </a:p>
          </p:txBody>
        </p:sp>
      </p:grpSp>
      <p:sp>
        <p:nvSpPr>
          <p:cNvPr id="2" name="线形标注 1 1"/>
          <p:cNvSpPr/>
          <p:nvPr/>
        </p:nvSpPr>
        <p:spPr>
          <a:xfrm>
            <a:off x="3262760" y="127640"/>
            <a:ext cx="5629718" cy="2206068"/>
          </a:xfrm>
          <a:prstGeom prst="borderCallout1">
            <a:avLst>
              <a:gd name="adj1" fmla="val 18750"/>
              <a:gd name="adj2" fmla="val -8333"/>
              <a:gd name="adj3" fmla="val 64142"/>
              <a:gd name="adj4" fmla="val -38333"/>
            </a:avLst>
          </a:prstGeom>
          <a:ln w="38100"/>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b="1" dirty="0"/>
              <a:t>交换方式一般</a:t>
            </a:r>
            <a:r>
              <a:rPr lang="zh-CN" altLang="en-US" b="1" dirty="0">
                <a:solidFill>
                  <a:srgbClr val="FF0000"/>
                </a:solidFill>
              </a:rPr>
              <a:t>不进行部分交换</a:t>
            </a:r>
            <a:r>
              <a:rPr lang="zh-CN" altLang="en-US" b="1" dirty="0"/>
              <a:t>，即每次交换都交换那些除去常驻内存部分后的</a:t>
            </a:r>
            <a:r>
              <a:rPr lang="zh-CN" altLang="en-US" b="1" dirty="0">
                <a:solidFill>
                  <a:srgbClr val="FF0000"/>
                </a:solidFill>
              </a:rPr>
              <a:t>整个进程</a:t>
            </a:r>
            <a:r>
              <a:rPr lang="zh-CN" altLang="en-US" b="1" dirty="0"/>
              <a:t>，而且，即使能完成部分交换，也不是按照执行的需要而交换程序段，只是把受资源限制、暂时不能执行的程序段换出内存。因此，虽然交换方式也能完成内存扩充任务，但它仍未实现那种所谓自动覆盖、内存和外存统一管理、进程大小不受内存容量限制的虚拟存储器。</a:t>
            </a:r>
          </a:p>
        </p:txBody>
      </p:sp>
      <p:sp>
        <p:nvSpPr>
          <p:cNvPr id="29" name="线形标注 1 28"/>
          <p:cNvSpPr/>
          <p:nvPr/>
        </p:nvSpPr>
        <p:spPr>
          <a:xfrm>
            <a:off x="496838" y="2522593"/>
            <a:ext cx="3299150" cy="1167931"/>
          </a:xfrm>
          <a:prstGeom prst="borderCallout1">
            <a:avLst>
              <a:gd name="adj1" fmla="val 26632"/>
              <a:gd name="adj2" fmla="val 103368"/>
              <a:gd name="adj3" fmla="val -62961"/>
              <a:gd name="adj4" fmla="val 143915"/>
            </a:avLst>
          </a:prstGeom>
          <a:ln w="38100"/>
        </p:spPr>
        <p:style>
          <a:lnRef idx="1">
            <a:schemeClr val="accent3"/>
          </a:lnRef>
          <a:fillRef idx="2">
            <a:schemeClr val="accent3"/>
          </a:fillRef>
          <a:effectRef idx="1">
            <a:schemeClr val="accent3"/>
          </a:effectRef>
          <a:fontRef idx="minor">
            <a:schemeClr val="dk1"/>
          </a:fontRef>
        </p:style>
        <p:txBody>
          <a:bodyPr rtlCol="0" anchor="ctr"/>
          <a:lstStyle/>
          <a:p>
            <a:pPr marL="0" lvl="1"/>
            <a:r>
              <a:rPr lang="zh-CN" altLang="en-US" sz="2000" b="1" dirty="0"/>
              <a:t>请求调入方式和预调入方式可以实现进程大小不受内存容量限制的虚拟存储器。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2"/>
                                        </p:tgtEl>
                                      </p:cBhvr>
                                    </p:animEffect>
                                    <p:set>
                                      <p:cBhvr>
                                        <p:cTn id="17" dur="1" fill="hold">
                                          <p:stCondLst>
                                            <p:cond delay="499"/>
                                          </p:stCondLst>
                                        </p:cTn>
                                        <p:tgtEl>
                                          <p:spTgt spid="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up)">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righ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29"/>
                                        </p:tgtEl>
                                      </p:cBhvr>
                                    </p:animEffect>
                                    <p:set>
                                      <p:cBhvr>
                                        <p:cTn id="37"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2" grpId="1" animBg="1"/>
      <p:bldP spid="29" grpId="0" animBg="1"/>
      <p:bldP spid="29"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23528" y="117572"/>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内存的分配与回收</a:t>
            </a:r>
          </a:p>
        </p:txBody>
      </p:sp>
      <p:sp>
        <p:nvSpPr>
          <p:cNvPr id="48" name="任意多边形 47"/>
          <p:cNvSpPr/>
          <p:nvPr/>
        </p:nvSpPr>
        <p:spPr>
          <a:xfrm>
            <a:off x="7659893" y="2806764"/>
            <a:ext cx="1757362" cy="1171575"/>
          </a:xfrm>
          <a:custGeom>
            <a:avLst/>
            <a:gdLst>
              <a:gd name="connsiteX0" fmla="*/ 0 w 1757362"/>
              <a:gd name="connsiteY0" fmla="*/ 0 h 1171575"/>
              <a:gd name="connsiteX1" fmla="*/ 1757362 w 1757362"/>
              <a:gd name="connsiteY1" fmla="*/ 0 h 1171575"/>
              <a:gd name="connsiteX2" fmla="*/ 1757362 w 1757362"/>
              <a:gd name="connsiteY2" fmla="*/ 1171575 h 1171575"/>
              <a:gd name="connsiteX3" fmla="*/ 0 w 1757362"/>
              <a:gd name="connsiteY3" fmla="*/ 1171575 h 1171575"/>
              <a:gd name="connsiteX4" fmla="*/ 0 w 1757362"/>
              <a:gd name="connsiteY4" fmla="*/ 0 h 117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7362" h="1171575">
                <a:moveTo>
                  <a:pt x="0" y="0"/>
                </a:moveTo>
                <a:lnTo>
                  <a:pt x="1757362" y="0"/>
                </a:lnTo>
                <a:lnTo>
                  <a:pt x="1757362" y="1171575"/>
                </a:lnTo>
                <a:lnTo>
                  <a:pt x="0" y="11715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1600200">
              <a:lnSpc>
                <a:spcPct val="90000"/>
              </a:lnSpc>
              <a:spcBef>
                <a:spcPct val="0"/>
              </a:spcBef>
              <a:spcAft>
                <a:spcPct val="15000"/>
              </a:spcAft>
              <a:buChar char="•"/>
            </a:pPr>
            <a:endParaRPr lang="zh-CN" altLang="en-US" sz="3600" kern="1200"/>
          </a:p>
          <a:p>
            <a:pPr marL="285750" lvl="1" indent="-285750" algn="l" defTabSz="1600200">
              <a:lnSpc>
                <a:spcPct val="90000"/>
              </a:lnSpc>
              <a:spcBef>
                <a:spcPct val="0"/>
              </a:spcBef>
              <a:spcAft>
                <a:spcPct val="15000"/>
              </a:spcAft>
              <a:buChar char="•"/>
            </a:pPr>
            <a:endParaRPr lang="zh-CN" altLang="en-US" sz="3600" kern="1200"/>
          </a:p>
        </p:txBody>
      </p:sp>
      <p:sp>
        <p:nvSpPr>
          <p:cNvPr id="50" name="任意多边形 49"/>
          <p:cNvSpPr/>
          <p:nvPr/>
        </p:nvSpPr>
        <p:spPr>
          <a:xfrm>
            <a:off x="7272399" y="4252912"/>
            <a:ext cx="1757362" cy="1171575"/>
          </a:xfrm>
          <a:custGeom>
            <a:avLst/>
            <a:gdLst>
              <a:gd name="connsiteX0" fmla="*/ 0 w 1757362"/>
              <a:gd name="connsiteY0" fmla="*/ 0 h 1171575"/>
              <a:gd name="connsiteX1" fmla="*/ 1757362 w 1757362"/>
              <a:gd name="connsiteY1" fmla="*/ 0 h 1171575"/>
              <a:gd name="connsiteX2" fmla="*/ 1757362 w 1757362"/>
              <a:gd name="connsiteY2" fmla="*/ 1171575 h 1171575"/>
              <a:gd name="connsiteX3" fmla="*/ 0 w 1757362"/>
              <a:gd name="connsiteY3" fmla="*/ 1171575 h 1171575"/>
              <a:gd name="connsiteX4" fmla="*/ 0 w 1757362"/>
              <a:gd name="connsiteY4" fmla="*/ 0 h 117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7362" h="1171575">
                <a:moveTo>
                  <a:pt x="0" y="0"/>
                </a:moveTo>
                <a:lnTo>
                  <a:pt x="1757362" y="0"/>
                </a:lnTo>
                <a:lnTo>
                  <a:pt x="1757362" y="1171575"/>
                </a:lnTo>
                <a:lnTo>
                  <a:pt x="0" y="11715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285750" lvl="1" indent="-285750" algn="l" defTabSz="1600200">
              <a:lnSpc>
                <a:spcPct val="90000"/>
              </a:lnSpc>
              <a:spcBef>
                <a:spcPct val="0"/>
              </a:spcBef>
              <a:spcAft>
                <a:spcPct val="15000"/>
              </a:spcAft>
              <a:buChar char="•"/>
            </a:pPr>
            <a:endParaRPr lang="zh-CN" altLang="en-US" sz="3600" kern="1200"/>
          </a:p>
          <a:p>
            <a:pPr marL="285750" lvl="1" indent="-285750" algn="l" defTabSz="1600200">
              <a:lnSpc>
                <a:spcPct val="90000"/>
              </a:lnSpc>
              <a:spcBef>
                <a:spcPct val="0"/>
              </a:spcBef>
              <a:spcAft>
                <a:spcPct val="15000"/>
              </a:spcAft>
              <a:buChar char="•"/>
            </a:pPr>
            <a:endParaRPr lang="zh-CN" altLang="en-US" sz="3600" kern="1200"/>
          </a:p>
        </p:txBody>
      </p:sp>
      <p:grpSp>
        <p:nvGrpSpPr>
          <p:cNvPr id="32" name="组合 31"/>
          <p:cNvGrpSpPr/>
          <p:nvPr/>
        </p:nvGrpSpPr>
        <p:grpSpPr>
          <a:xfrm>
            <a:off x="467545" y="117572"/>
            <a:ext cx="6760301" cy="840169"/>
            <a:chOff x="467545" y="117572"/>
            <a:chExt cx="6760301" cy="840169"/>
          </a:xfrm>
        </p:grpSpPr>
        <p:sp>
          <p:nvSpPr>
            <p:cNvPr id="4" name="矩形 3"/>
            <p:cNvSpPr/>
            <p:nvPr/>
          </p:nvSpPr>
          <p:spPr>
            <a:xfrm>
              <a:off x="467545" y="427905"/>
              <a:ext cx="6760301" cy="529836"/>
            </a:xfrm>
            <a:prstGeom prst="rect">
              <a:avLst/>
            </a:pr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任意多边形 5"/>
            <p:cNvSpPr/>
            <p:nvPr/>
          </p:nvSpPr>
          <p:spPr>
            <a:xfrm>
              <a:off x="805560" y="117572"/>
              <a:ext cx="6142706" cy="715195"/>
            </a:xfrm>
            <a:custGeom>
              <a:avLst/>
              <a:gdLst>
                <a:gd name="connsiteX0" fmla="*/ 0 w 4267200"/>
                <a:gd name="connsiteY0" fmla="*/ 24552 h 147311"/>
                <a:gd name="connsiteX1" fmla="*/ 24552 w 4267200"/>
                <a:gd name="connsiteY1" fmla="*/ 0 h 147311"/>
                <a:gd name="connsiteX2" fmla="*/ 4242648 w 4267200"/>
                <a:gd name="connsiteY2" fmla="*/ 0 h 147311"/>
                <a:gd name="connsiteX3" fmla="*/ 4267200 w 4267200"/>
                <a:gd name="connsiteY3" fmla="*/ 24552 h 147311"/>
                <a:gd name="connsiteX4" fmla="*/ 4267200 w 4267200"/>
                <a:gd name="connsiteY4" fmla="*/ 122759 h 147311"/>
                <a:gd name="connsiteX5" fmla="*/ 4242648 w 4267200"/>
                <a:gd name="connsiteY5" fmla="*/ 147311 h 147311"/>
                <a:gd name="connsiteX6" fmla="*/ 24552 w 4267200"/>
                <a:gd name="connsiteY6" fmla="*/ 147311 h 147311"/>
                <a:gd name="connsiteX7" fmla="*/ 0 w 4267200"/>
                <a:gd name="connsiteY7" fmla="*/ 122759 h 147311"/>
                <a:gd name="connsiteX8" fmla="*/ 0 w 4267200"/>
                <a:gd name="connsiteY8" fmla="*/ 24552 h 14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47311">
                  <a:moveTo>
                    <a:pt x="0" y="24552"/>
                  </a:moveTo>
                  <a:cubicBezTo>
                    <a:pt x="0" y="10992"/>
                    <a:pt x="10992" y="0"/>
                    <a:pt x="24552" y="0"/>
                  </a:cubicBezTo>
                  <a:lnTo>
                    <a:pt x="4242648" y="0"/>
                  </a:lnTo>
                  <a:cubicBezTo>
                    <a:pt x="4256208" y="0"/>
                    <a:pt x="4267200" y="10992"/>
                    <a:pt x="4267200" y="24552"/>
                  </a:cubicBezTo>
                  <a:lnTo>
                    <a:pt x="4267200" y="122759"/>
                  </a:lnTo>
                  <a:cubicBezTo>
                    <a:pt x="4267200" y="136319"/>
                    <a:pt x="4256208" y="147311"/>
                    <a:pt x="4242648" y="147311"/>
                  </a:cubicBezTo>
                  <a:lnTo>
                    <a:pt x="24552" y="147311"/>
                  </a:lnTo>
                  <a:cubicBezTo>
                    <a:pt x="10992" y="147311"/>
                    <a:pt x="0" y="136319"/>
                    <a:pt x="0" y="122759"/>
                  </a:cubicBezTo>
                  <a:lnTo>
                    <a:pt x="0" y="2455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68481" tIns="7191" rIns="168481" bIns="7191" numCol="1" spcCol="1270" anchor="ctr" anchorCtr="0">
              <a:noAutofit/>
            </a:bodyPr>
            <a:lstStyle/>
            <a:p>
              <a:pPr lvl="0" algn="l" defTabSz="222250">
                <a:spcBef>
                  <a:spcPct val="0"/>
                </a:spcBef>
                <a:spcAft>
                  <a:spcPct val="35000"/>
                </a:spcAft>
              </a:pPr>
              <a:r>
                <a:rPr lang="zh-CN" altLang="en-US" sz="2000" b="1" kern="1200" dirty="0" smtClean="0">
                  <a:solidFill>
                    <a:srgbClr val="FFFF00"/>
                  </a:solidFill>
                </a:rPr>
                <a:t>分配结构</a:t>
              </a:r>
              <a:r>
                <a:rPr lang="zh-CN" altLang="en-US" sz="2000" b="1" kern="1200" dirty="0" smtClean="0"/>
                <a:t>：登记内存使用情况，供分配程序使用的表格与链表。例如内存空闲区表、空闲区队列等。</a:t>
              </a:r>
              <a:endParaRPr lang="zh-CN" altLang="en-US" sz="2000" b="1" kern="1200" dirty="0"/>
            </a:p>
          </p:txBody>
        </p:sp>
      </p:grpSp>
      <p:grpSp>
        <p:nvGrpSpPr>
          <p:cNvPr id="33" name="组合 32"/>
          <p:cNvGrpSpPr/>
          <p:nvPr/>
        </p:nvGrpSpPr>
        <p:grpSpPr>
          <a:xfrm>
            <a:off x="467545" y="1053673"/>
            <a:ext cx="6760301" cy="840170"/>
            <a:chOff x="467545" y="1053673"/>
            <a:chExt cx="6760301" cy="840170"/>
          </a:xfrm>
        </p:grpSpPr>
        <p:sp>
          <p:nvSpPr>
            <p:cNvPr id="8" name="矩形 7"/>
            <p:cNvSpPr/>
            <p:nvPr/>
          </p:nvSpPr>
          <p:spPr>
            <a:xfrm>
              <a:off x="467545" y="1364007"/>
              <a:ext cx="6760301" cy="529836"/>
            </a:xfrm>
            <a:prstGeom prst="rect">
              <a:avLst/>
            </a:pr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任意多边形 9"/>
            <p:cNvSpPr/>
            <p:nvPr/>
          </p:nvSpPr>
          <p:spPr>
            <a:xfrm>
              <a:off x="805560" y="1053673"/>
              <a:ext cx="5638650" cy="620662"/>
            </a:xfrm>
            <a:custGeom>
              <a:avLst/>
              <a:gdLst>
                <a:gd name="connsiteX0" fmla="*/ 0 w 4267200"/>
                <a:gd name="connsiteY0" fmla="*/ 24552 h 147311"/>
                <a:gd name="connsiteX1" fmla="*/ 24552 w 4267200"/>
                <a:gd name="connsiteY1" fmla="*/ 0 h 147311"/>
                <a:gd name="connsiteX2" fmla="*/ 4242648 w 4267200"/>
                <a:gd name="connsiteY2" fmla="*/ 0 h 147311"/>
                <a:gd name="connsiteX3" fmla="*/ 4267200 w 4267200"/>
                <a:gd name="connsiteY3" fmla="*/ 24552 h 147311"/>
                <a:gd name="connsiteX4" fmla="*/ 4267200 w 4267200"/>
                <a:gd name="connsiteY4" fmla="*/ 122759 h 147311"/>
                <a:gd name="connsiteX5" fmla="*/ 4242648 w 4267200"/>
                <a:gd name="connsiteY5" fmla="*/ 147311 h 147311"/>
                <a:gd name="connsiteX6" fmla="*/ 24552 w 4267200"/>
                <a:gd name="connsiteY6" fmla="*/ 147311 h 147311"/>
                <a:gd name="connsiteX7" fmla="*/ 0 w 4267200"/>
                <a:gd name="connsiteY7" fmla="*/ 122759 h 147311"/>
                <a:gd name="connsiteX8" fmla="*/ 0 w 4267200"/>
                <a:gd name="connsiteY8" fmla="*/ 24552 h 14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47311">
                  <a:moveTo>
                    <a:pt x="0" y="24552"/>
                  </a:moveTo>
                  <a:cubicBezTo>
                    <a:pt x="0" y="10992"/>
                    <a:pt x="10992" y="0"/>
                    <a:pt x="24552" y="0"/>
                  </a:cubicBezTo>
                  <a:lnTo>
                    <a:pt x="4242648" y="0"/>
                  </a:lnTo>
                  <a:cubicBezTo>
                    <a:pt x="4256208" y="0"/>
                    <a:pt x="4267200" y="10992"/>
                    <a:pt x="4267200" y="24552"/>
                  </a:cubicBezTo>
                  <a:lnTo>
                    <a:pt x="4267200" y="122759"/>
                  </a:lnTo>
                  <a:cubicBezTo>
                    <a:pt x="4267200" y="136319"/>
                    <a:pt x="4256208" y="147311"/>
                    <a:pt x="4242648" y="147311"/>
                  </a:cubicBezTo>
                  <a:lnTo>
                    <a:pt x="24552" y="147311"/>
                  </a:lnTo>
                  <a:cubicBezTo>
                    <a:pt x="10992" y="147311"/>
                    <a:pt x="0" y="136319"/>
                    <a:pt x="0" y="122759"/>
                  </a:cubicBezTo>
                  <a:lnTo>
                    <a:pt x="0" y="2455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68481" tIns="7191" rIns="168481" bIns="7191" numCol="1" spcCol="1270" anchor="ctr" anchorCtr="0">
              <a:noAutofit/>
            </a:bodyPr>
            <a:lstStyle/>
            <a:p>
              <a:pPr defTabSz="222250">
                <a:lnSpc>
                  <a:spcPct val="90000"/>
                </a:lnSpc>
                <a:spcBef>
                  <a:spcPct val="0"/>
                </a:spcBef>
                <a:spcAft>
                  <a:spcPct val="35000"/>
                </a:spcAft>
              </a:pPr>
              <a:r>
                <a:rPr lang="zh-CN" altLang="en-US" sz="2000" b="1" dirty="0">
                  <a:solidFill>
                    <a:schemeClr val="tx1">
                      <a:lumMod val="95000"/>
                      <a:lumOff val="5000"/>
                    </a:schemeClr>
                  </a:solidFill>
                </a:rPr>
                <a:t>放置策略</a:t>
              </a:r>
              <a:r>
                <a:rPr lang="zh-CN" altLang="en-US" sz="2000" b="1" dirty="0"/>
                <a:t>：确定调入内存的程序和数据在内存中的位置。这是一种选择内存空闲区的策略。</a:t>
              </a:r>
            </a:p>
          </p:txBody>
        </p:sp>
      </p:grpSp>
      <p:grpSp>
        <p:nvGrpSpPr>
          <p:cNvPr id="35" name="组合 34"/>
          <p:cNvGrpSpPr/>
          <p:nvPr/>
        </p:nvGrpSpPr>
        <p:grpSpPr>
          <a:xfrm>
            <a:off x="467545" y="1970335"/>
            <a:ext cx="7827870" cy="1064357"/>
            <a:chOff x="467545" y="1970335"/>
            <a:chExt cx="7827870" cy="1064357"/>
          </a:xfrm>
        </p:grpSpPr>
        <p:sp>
          <p:nvSpPr>
            <p:cNvPr id="11" name="矩形 10"/>
            <p:cNvSpPr/>
            <p:nvPr/>
          </p:nvSpPr>
          <p:spPr>
            <a:xfrm>
              <a:off x="467545" y="2504856"/>
              <a:ext cx="7827870" cy="529836"/>
            </a:xfrm>
            <a:prstGeom prst="rect">
              <a:avLst/>
            </a:pr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2" name="任意多边形 11"/>
            <p:cNvSpPr/>
            <p:nvPr/>
          </p:nvSpPr>
          <p:spPr>
            <a:xfrm>
              <a:off x="805560" y="1970335"/>
              <a:ext cx="6769774" cy="844855"/>
            </a:xfrm>
            <a:custGeom>
              <a:avLst/>
              <a:gdLst>
                <a:gd name="connsiteX0" fmla="*/ 0 w 4267200"/>
                <a:gd name="connsiteY0" fmla="*/ 24552 h 147311"/>
                <a:gd name="connsiteX1" fmla="*/ 24552 w 4267200"/>
                <a:gd name="connsiteY1" fmla="*/ 0 h 147311"/>
                <a:gd name="connsiteX2" fmla="*/ 4242648 w 4267200"/>
                <a:gd name="connsiteY2" fmla="*/ 0 h 147311"/>
                <a:gd name="connsiteX3" fmla="*/ 4267200 w 4267200"/>
                <a:gd name="connsiteY3" fmla="*/ 24552 h 147311"/>
                <a:gd name="connsiteX4" fmla="*/ 4267200 w 4267200"/>
                <a:gd name="connsiteY4" fmla="*/ 122759 h 147311"/>
                <a:gd name="connsiteX5" fmla="*/ 4242648 w 4267200"/>
                <a:gd name="connsiteY5" fmla="*/ 147311 h 147311"/>
                <a:gd name="connsiteX6" fmla="*/ 24552 w 4267200"/>
                <a:gd name="connsiteY6" fmla="*/ 147311 h 147311"/>
                <a:gd name="connsiteX7" fmla="*/ 0 w 4267200"/>
                <a:gd name="connsiteY7" fmla="*/ 122759 h 147311"/>
                <a:gd name="connsiteX8" fmla="*/ 0 w 4267200"/>
                <a:gd name="connsiteY8" fmla="*/ 24552 h 14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47311">
                  <a:moveTo>
                    <a:pt x="0" y="24552"/>
                  </a:moveTo>
                  <a:cubicBezTo>
                    <a:pt x="0" y="10992"/>
                    <a:pt x="10992" y="0"/>
                    <a:pt x="24552" y="0"/>
                  </a:cubicBezTo>
                  <a:lnTo>
                    <a:pt x="4242648" y="0"/>
                  </a:lnTo>
                  <a:cubicBezTo>
                    <a:pt x="4256208" y="0"/>
                    <a:pt x="4267200" y="10992"/>
                    <a:pt x="4267200" y="24552"/>
                  </a:cubicBezTo>
                  <a:lnTo>
                    <a:pt x="4267200" y="122759"/>
                  </a:lnTo>
                  <a:cubicBezTo>
                    <a:pt x="4267200" y="136319"/>
                    <a:pt x="4256208" y="147311"/>
                    <a:pt x="4242648" y="147311"/>
                  </a:cubicBezTo>
                  <a:lnTo>
                    <a:pt x="24552" y="147311"/>
                  </a:lnTo>
                  <a:cubicBezTo>
                    <a:pt x="10992" y="147311"/>
                    <a:pt x="0" y="136319"/>
                    <a:pt x="0" y="122759"/>
                  </a:cubicBezTo>
                  <a:lnTo>
                    <a:pt x="0" y="2455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68481" tIns="7191" rIns="168481" bIns="7191" numCol="1" spcCol="1270" anchor="ctr" anchorCtr="0">
              <a:noAutofit/>
            </a:bodyPr>
            <a:lstStyle/>
            <a:p>
              <a:pPr defTabSz="222250">
                <a:lnSpc>
                  <a:spcPct val="90000"/>
                </a:lnSpc>
                <a:spcBef>
                  <a:spcPct val="0"/>
                </a:spcBef>
                <a:spcAft>
                  <a:spcPct val="35000"/>
                </a:spcAft>
              </a:pPr>
              <a:r>
                <a:rPr lang="zh-CN" altLang="en-US" sz="2000" b="1" dirty="0">
                  <a:solidFill>
                    <a:srgbClr val="FFFF00"/>
                  </a:solidFill>
                </a:rPr>
                <a:t>交换策略</a:t>
              </a:r>
              <a:r>
                <a:rPr lang="zh-CN" altLang="en-US" sz="2000" b="1" dirty="0"/>
                <a:t>：在需要将某个程序段和数据调入内存时，如果内存中没有足够的空闲区，由交换策略来确定把内存中的哪些程序段和数据段调出内存，以便腾出足够的空间。</a:t>
              </a:r>
            </a:p>
          </p:txBody>
        </p:sp>
      </p:grpSp>
      <p:grpSp>
        <p:nvGrpSpPr>
          <p:cNvPr id="36" name="组合 35"/>
          <p:cNvGrpSpPr/>
          <p:nvPr/>
        </p:nvGrpSpPr>
        <p:grpSpPr>
          <a:xfrm>
            <a:off x="467544" y="3148232"/>
            <a:ext cx="8253183" cy="840169"/>
            <a:chOff x="467544" y="3148232"/>
            <a:chExt cx="8253183" cy="840169"/>
          </a:xfrm>
        </p:grpSpPr>
        <p:sp>
          <p:nvSpPr>
            <p:cNvPr id="13" name="矩形 12"/>
            <p:cNvSpPr/>
            <p:nvPr/>
          </p:nvSpPr>
          <p:spPr>
            <a:xfrm>
              <a:off x="467544" y="3458565"/>
              <a:ext cx="8253183" cy="529836"/>
            </a:xfrm>
            <a:prstGeom prst="rect">
              <a:avLst/>
            </a:prstGeom>
            <a:scene3d>
              <a:camera prst="orthographicFront"/>
              <a:lightRig rig="flat" dir="t"/>
            </a:scene3d>
            <a:sp3d z="190500" extrusionH="12700" prstMaterial="plastic">
              <a:bevelT w="50800" h="50800"/>
            </a:sp3d>
          </p:spPr>
          <p:style>
            <a:lnRef idx="1">
              <a:schemeClr val="accent5">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9" name="任意多边形 28"/>
            <p:cNvSpPr/>
            <p:nvPr/>
          </p:nvSpPr>
          <p:spPr>
            <a:xfrm>
              <a:off x="805560" y="3148232"/>
              <a:ext cx="7849894" cy="620662"/>
            </a:xfrm>
            <a:custGeom>
              <a:avLst/>
              <a:gdLst>
                <a:gd name="connsiteX0" fmla="*/ 0 w 4267200"/>
                <a:gd name="connsiteY0" fmla="*/ 24552 h 147311"/>
                <a:gd name="connsiteX1" fmla="*/ 24552 w 4267200"/>
                <a:gd name="connsiteY1" fmla="*/ 0 h 147311"/>
                <a:gd name="connsiteX2" fmla="*/ 4242648 w 4267200"/>
                <a:gd name="connsiteY2" fmla="*/ 0 h 147311"/>
                <a:gd name="connsiteX3" fmla="*/ 4267200 w 4267200"/>
                <a:gd name="connsiteY3" fmla="*/ 24552 h 147311"/>
                <a:gd name="connsiteX4" fmla="*/ 4267200 w 4267200"/>
                <a:gd name="connsiteY4" fmla="*/ 122759 h 147311"/>
                <a:gd name="connsiteX5" fmla="*/ 4242648 w 4267200"/>
                <a:gd name="connsiteY5" fmla="*/ 147311 h 147311"/>
                <a:gd name="connsiteX6" fmla="*/ 24552 w 4267200"/>
                <a:gd name="connsiteY6" fmla="*/ 147311 h 147311"/>
                <a:gd name="connsiteX7" fmla="*/ 0 w 4267200"/>
                <a:gd name="connsiteY7" fmla="*/ 122759 h 147311"/>
                <a:gd name="connsiteX8" fmla="*/ 0 w 4267200"/>
                <a:gd name="connsiteY8" fmla="*/ 24552 h 14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47311">
                  <a:moveTo>
                    <a:pt x="0" y="24552"/>
                  </a:moveTo>
                  <a:cubicBezTo>
                    <a:pt x="0" y="10992"/>
                    <a:pt x="10992" y="0"/>
                    <a:pt x="24552" y="0"/>
                  </a:cubicBezTo>
                  <a:lnTo>
                    <a:pt x="4242648" y="0"/>
                  </a:lnTo>
                  <a:cubicBezTo>
                    <a:pt x="4256208" y="0"/>
                    <a:pt x="4267200" y="10992"/>
                    <a:pt x="4267200" y="24552"/>
                  </a:cubicBezTo>
                  <a:lnTo>
                    <a:pt x="4267200" y="122759"/>
                  </a:lnTo>
                  <a:cubicBezTo>
                    <a:pt x="4267200" y="136319"/>
                    <a:pt x="4256208" y="147311"/>
                    <a:pt x="4242648" y="147311"/>
                  </a:cubicBezTo>
                  <a:lnTo>
                    <a:pt x="24552" y="147311"/>
                  </a:lnTo>
                  <a:cubicBezTo>
                    <a:pt x="10992" y="147311"/>
                    <a:pt x="0" y="136319"/>
                    <a:pt x="0" y="122759"/>
                  </a:cubicBezTo>
                  <a:lnTo>
                    <a:pt x="0" y="2455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68481" tIns="7191" rIns="168481" bIns="7191" numCol="1" spcCol="1270" anchor="ctr" anchorCtr="0">
              <a:noAutofit/>
            </a:bodyPr>
            <a:lstStyle/>
            <a:p>
              <a:pPr defTabSz="222250">
                <a:lnSpc>
                  <a:spcPct val="90000"/>
                </a:lnSpc>
                <a:spcBef>
                  <a:spcPct val="0"/>
                </a:spcBef>
                <a:spcAft>
                  <a:spcPct val="35000"/>
                </a:spcAft>
              </a:pPr>
              <a:r>
                <a:rPr lang="zh-CN" altLang="en-US" sz="2000" b="1" dirty="0">
                  <a:solidFill>
                    <a:schemeClr val="tx1">
                      <a:lumMod val="95000"/>
                      <a:lumOff val="5000"/>
                    </a:schemeClr>
                  </a:solidFill>
                </a:rPr>
                <a:t>调入策略</a:t>
              </a:r>
              <a:r>
                <a:rPr lang="zh-CN" altLang="en-US" sz="2000" b="1" dirty="0"/>
                <a:t>：外存中的程序段和数据段什么时间按什么样的控制方式进入内存。调入策略与</a:t>
              </a:r>
              <a:r>
                <a:rPr lang="en-US" altLang="zh-CN" sz="2000" b="1" dirty="0"/>
                <a:t>5.1.3</a:t>
              </a:r>
              <a:r>
                <a:rPr lang="zh-CN" altLang="en-US" sz="2000" b="1" dirty="0"/>
                <a:t>节中所述内外存数据流动控制方式有关。</a:t>
              </a:r>
            </a:p>
          </p:txBody>
        </p:sp>
      </p:grpSp>
      <p:grpSp>
        <p:nvGrpSpPr>
          <p:cNvPr id="37" name="组合 36"/>
          <p:cNvGrpSpPr/>
          <p:nvPr/>
        </p:nvGrpSpPr>
        <p:grpSpPr>
          <a:xfrm>
            <a:off x="467545" y="4101937"/>
            <a:ext cx="7344815" cy="840169"/>
            <a:chOff x="467545" y="4101937"/>
            <a:chExt cx="7344815" cy="840169"/>
          </a:xfrm>
        </p:grpSpPr>
        <p:sp>
          <p:nvSpPr>
            <p:cNvPr id="30" name="矩形 29"/>
            <p:cNvSpPr/>
            <p:nvPr/>
          </p:nvSpPr>
          <p:spPr>
            <a:xfrm>
              <a:off x="467545" y="4412270"/>
              <a:ext cx="7344815" cy="529836"/>
            </a:xfrm>
            <a:prstGeom prst="rect">
              <a:avLst/>
            </a:prstGeom>
            <a:scene3d>
              <a:camera prst="orthographicFront"/>
              <a:lightRig rig="flat" dir="t"/>
            </a:scene3d>
            <a:sp3d z="190500" extrusionH="12700" prstMaterial="plastic">
              <a:bevelT w="50800" h="50800"/>
            </a:sp3d>
          </p:spPr>
          <p:style>
            <a:lnRef idx="1">
              <a:schemeClr val="accent6">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1" name="任意多边形 30"/>
            <p:cNvSpPr/>
            <p:nvPr/>
          </p:nvSpPr>
          <p:spPr>
            <a:xfrm>
              <a:off x="805560" y="4101937"/>
              <a:ext cx="6574752" cy="620662"/>
            </a:xfrm>
            <a:custGeom>
              <a:avLst/>
              <a:gdLst>
                <a:gd name="connsiteX0" fmla="*/ 0 w 4267200"/>
                <a:gd name="connsiteY0" fmla="*/ 24552 h 147311"/>
                <a:gd name="connsiteX1" fmla="*/ 24552 w 4267200"/>
                <a:gd name="connsiteY1" fmla="*/ 0 h 147311"/>
                <a:gd name="connsiteX2" fmla="*/ 4242648 w 4267200"/>
                <a:gd name="connsiteY2" fmla="*/ 0 h 147311"/>
                <a:gd name="connsiteX3" fmla="*/ 4267200 w 4267200"/>
                <a:gd name="connsiteY3" fmla="*/ 24552 h 147311"/>
                <a:gd name="connsiteX4" fmla="*/ 4267200 w 4267200"/>
                <a:gd name="connsiteY4" fmla="*/ 122759 h 147311"/>
                <a:gd name="connsiteX5" fmla="*/ 4242648 w 4267200"/>
                <a:gd name="connsiteY5" fmla="*/ 147311 h 147311"/>
                <a:gd name="connsiteX6" fmla="*/ 24552 w 4267200"/>
                <a:gd name="connsiteY6" fmla="*/ 147311 h 147311"/>
                <a:gd name="connsiteX7" fmla="*/ 0 w 4267200"/>
                <a:gd name="connsiteY7" fmla="*/ 122759 h 147311"/>
                <a:gd name="connsiteX8" fmla="*/ 0 w 4267200"/>
                <a:gd name="connsiteY8" fmla="*/ 24552 h 14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47311">
                  <a:moveTo>
                    <a:pt x="0" y="24552"/>
                  </a:moveTo>
                  <a:cubicBezTo>
                    <a:pt x="0" y="10992"/>
                    <a:pt x="10992" y="0"/>
                    <a:pt x="24552" y="0"/>
                  </a:cubicBezTo>
                  <a:lnTo>
                    <a:pt x="4242648" y="0"/>
                  </a:lnTo>
                  <a:cubicBezTo>
                    <a:pt x="4256208" y="0"/>
                    <a:pt x="4267200" y="10992"/>
                    <a:pt x="4267200" y="24552"/>
                  </a:cubicBezTo>
                  <a:lnTo>
                    <a:pt x="4267200" y="122759"/>
                  </a:lnTo>
                  <a:cubicBezTo>
                    <a:pt x="4267200" y="136319"/>
                    <a:pt x="4256208" y="147311"/>
                    <a:pt x="4242648" y="147311"/>
                  </a:cubicBezTo>
                  <a:lnTo>
                    <a:pt x="24552" y="147311"/>
                  </a:lnTo>
                  <a:cubicBezTo>
                    <a:pt x="10992" y="147311"/>
                    <a:pt x="0" y="136319"/>
                    <a:pt x="0" y="122759"/>
                  </a:cubicBezTo>
                  <a:lnTo>
                    <a:pt x="0" y="24552"/>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68481" tIns="7191" rIns="168481" bIns="7191" numCol="1" spcCol="1270" anchor="ctr" anchorCtr="0">
              <a:noAutofit/>
            </a:bodyPr>
            <a:lstStyle/>
            <a:p>
              <a:pPr defTabSz="222250">
                <a:lnSpc>
                  <a:spcPct val="90000"/>
                </a:lnSpc>
                <a:spcBef>
                  <a:spcPct val="0"/>
                </a:spcBef>
                <a:spcAft>
                  <a:spcPct val="35000"/>
                </a:spcAft>
              </a:pPr>
              <a:r>
                <a:rPr lang="zh-CN" altLang="en-US" sz="2000" b="1" dirty="0">
                  <a:solidFill>
                    <a:schemeClr val="tx1">
                      <a:lumMod val="95000"/>
                      <a:lumOff val="5000"/>
                    </a:schemeClr>
                  </a:solidFill>
                </a:rPr>
                <a:t>回收策略</a:t>
              </a:r>
              <a:r>
                <a:rPr lang="zh-CN" altLang="en-US" sz="2000" b="1" dirty="0"/>
                <a:t>：回收策略包括二点，一是回收的时机，二是对所回收的内存空闲区和已存在的内存空闲区的调整。</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内存信息的共享与保护</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spcBef>
                <a:spcPct val="0"/>
              </a:spcBef>
              <a:defRPr/>
            </a:pP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281469"/>
            <a:ext cx="6840760" cy="345325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在多道程序设计环境下，内存中的许多用户或系统程序和数据段可供不同的用户进程共享。这种资源共享将会提高内存的利用率。但是，反过来说，除了被允许共享的部分之外，又要</a:t>
            </a:r>
            <a:r>
              <a:rPr lang="zh-CN" altLang="en-US" sz="2400" b="1" dirty="0">
                <a:solidFill>
                  <a:srgbClr val="FFFF00"/>
                </a:solidFill>
                <a:latin typeface="+mn-ea"/>
              </a:rPr>
              <a:t>限制各进程只在自己的存储区活动</a:t>
            </a:r>
            <a:r>
              <a:rPr lang="zh-CN" altLang="en-US" sz="2400" b="1" dirty="0">
                <a:solidFill>
                  <a:schemeClr val="bg1"/>
                </a:solidFill>
                <a:latin typeface="+mn-ea"/>
              </a:rPr>
              <a:t>，各进程</a:t>
            </a:r>
            <a:r>
              <a:rPr lang="zh-CN" altLang="en-US" sz="2400" b="1" dirty="0">
                <a:solidFill>
                  <a:srgbClr val="FFFF00"/>
                </a:solidFill>
                <a:latin typeface="+mn-ea"/>
              </a:rPr>
              <a:t>不能</a:t>
            </a:r>
            <a:r>
              <a:rPr lang="zh-CN" altLang="en-US" sz="2400" b="1" dirty="0">
                <a:solidFill>
                  <a:schemeClr val="bg1"/>
                </a:solidFill>
                <a:latin typeface="+mn-ea"/>
              </a:rPr>
              <a:t>对别的进程的程序和数据段产生</a:t>
            </a:r>
            <a:r>
              <a:rPr lang="zh-CN" altLang="en-US" sz="2400" b="1" dirty="0">
                <a:solidFill>
                  <a:srgbClr val="FFFF00"/>
                </a:solidFill>
                <a:latin typeface="+mn-ea"/>
              </a:rPr>
              <a:t>干扰和破坏</a:t>
            </a:r>
            <a:r>
              <a:rPr lang="zh-CN" altLang="en-US" sz="2400" b="1" dirty="0">
                <a:solidFill>
                  <a:schemeClr val="bg1"/>
                </a:solidFill>
                <a:latin typeface="+mn-ea"/>
              </a:rPr>
              <a:t>，因此须对内存中的</a:t>
            </a:r>
            <a:r>
              <a:rPr lang="zh-CN" altLang="en-US" sz="2400" b="1" dirty="0">
                <a:solidFill>
                  <a:srgbClr val="FFFF00"/>
                </a:solidFill>
                <a:latin typeface="+mn-ea"/>
              </a:rPr>
              <a:t>程序和数据段采取保护措</a:t>
            </a:r>
            <a:r>
              <a:rPr lang="zh-CN" altLang="en-US" sz="2400" b="1" dirty="0">
                <a:solidFill>
                  <a:schemeClr val="bg1"/>
                </a:solidFill>
                <a:latin typeface="+mn-ea"/>
              </a:rPr>
              <a:t>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427564" y="124451"/>
            <a:ext cx="89597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常用的内存信息保护方法</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 name="组合 1"/>
          <p:cNvGrpSpPr/>
          <p:nvPr/>
        </p:nvGrpSpPr>
        <p:grpSpPr>
          <a:xfrm>
            <a:off x="3942085" y="2297493"/>
            <a:ext cx="3240360" cy="3027274"/>
            <a:chOff x="4874480" y="2692284"/>
            <a:chExt cx="2483987" cy="2320640"/>
          </a:xfrm>
        </p:grpSpPr>
        <p:sp>
          <p:nvSpPr>
            <p:cNvPr id="11" name="任意多边形 10"/>
            <p:cNvSpPr/>
            <p:nvPr/>
          </p:nvSpPr>
          <p:spPr>
            <a:xfrm>
              <a:off x="4874480" y="2692284"/>
              <a:ext cx="2023204" cy="2023204"/>
            </a:xfrm>
            <a:custGeom>
              <a:avLst/>
              <a:gdLst>
                <a:gd name="connsiteX0" fmla="*/ 1586555 w 2235200"/>
                <a:gd name="connsiteY0" fmla="*/ 356377 h 2235200"/>
                <a:gd name="connsiteX1" fmla="*/ 1760418 w 2235200"/>
                <a:gd name="connsiteY1" fmla="*/ 210481 h 2235200"/>
                <a:gd name="connsiteX2" fmla="*/ 1899314 w 2235200"/>
                <a:gd name="connsiteY2" fmla="*/ 327029 h 2235200"/>
                <a:gd name="connsiteX3" fmla="*/ 1785825 w 2235200"/>
                <a:gd name="connsiteY3" fmla="*/ 523585 h 2235200"/>
                <a:gd name="connsiteX4" fmla="*/ 1966144 w 2235200"/>
                <a:gd name="connsiteY4" fmla="*/ 835907 h 2235200"/>
                <a:gd name="connsiteX5" fmla="*/ 2193112 w 2235200"/>
                <a:gd name="connsiteY5" fmla="*/ 835901 h 2235200"/>
                <a:gd name="connsiteX6" fmla="*/ 2224597 w 2235200"/>
                <a:gd name="connsiteY6" fmla="*/ 1014463 h 2235200"/>
                <a:gd name="connsiteX7" fmla="*/ 2011316 w 2235200"/>
                <a:gd name="connsiteY7" fmla="*/ 1092085 h 2235200"/>
                <a:gd name="connsiteX8" fmla="*/ 1948692 w 2235200"/>
                <a:gd name="connsiteY8" fmla="*/ 1447245 h 2235200"/>
                <a:gd name="connsiteX9" fmla="*/ 2122562 w 2235200"/>
                <a:gd name="connsiteY9" fmla="*/ 1593132 h 2235200"/>
                <a:gd name="connsiteX10" fmla="*/ 2031904 w 2235200"/>
                <a:gd name="connsiteY10" fmla="*/ 1750157 h 2235200"/>
                <a:gd name="connsiteX11" fmla="*/ 1818627 w 2235200"/>
                <a:gd name="connsiteY11" fmla="*/ 1672524 h 2235200"/>
                <a:gd name="connsiteX12" fmla="*/ 1542362 w 2235200"/>
                <a:gd name="connsiteY12" fmla="*/ 1904338 h 2235200"/>
                <a:gd name="connsiteX13" fmla="*/ 1581780 w 2235200"/>
                <a:gd name="connsiteY13" fmla="*/ 2127856 h 2235200"/>
                <a:gd name="connsiteX14" fmla="*/ 1411398 w 2235200"/>
                <a:gd name="connsiteY14" fmla="*/ 2189870 h 2235200"/>
                <a:gd name="connsiteX15" fmla="*/ 1297919 w 2235200"/>
                <a:gd name="connsiteY15" fmla="*/ 1993308 h 2235200"/>
                <a:gd name="connsiteX16" fmla="*/ 937280 w 2235200"/>
                <a:gd name="connsiteY16" fmla="*/ 1993308 h 2235200"/>
                <a:gd name="connsiteX17" fmla="*/ 823802 w 2235200"/>
                <a:gd name="connsiteY17" fmla="*/ 2189870 h 2235200"/>
                <a:gd name="connsiteX18" fmla="*/ 653420 w 2235200"/>
                <a:gd name="connsiteY18" fmla="*/ 2127856 h 2235200"/>
                <a:gd name="connsiteX19" fmla="*/ 692839 w 2235200"/>
                <a:gd name="connsiteY19" fmla="*/ 1904338 h 2235200"/>
                <a:gd name="connsiteX20" fmla="*/ 416574 w 2235200"/>
                <a:gd name="connsiteY20" fmla="*/ 1672524 h 2235200"/>
                <a:gd name="connsiteX21" fmla="*/ 203296 w 2235200"/>
                <a:gd name="connsiteY21" fmla="*/ 1750157 h 2235200"/>
                <a:gd name="connsiteX22" fmla="*/ 112638 w 2235200"/>
                <a:gd name="connsiteY22" fmla="*/ 1593132 h 2235200"/>
                <a:gd name="connsiteX23" fmla="*/ 286508 w 2235200"/>
                <a:gd name="connsiteY23" fmla="*/ 1447245 h 2235200"/>
                <a:gd name="connsiteX24" fmla="*/ 223884 w 2235200"/>
                <a:gd name="connsiteY24" fmla="*/ 1092085 h 2235200"/>
                <a:gd name="connsiteX25" fmla="*/ 10603 w 2235200"/>
                <a:gd name="connsiteY25" fmla="*/ 1014463 h 2235200"/>
                <a:gd name="connsiteX26" fmla="*/ 42088 w 2235200"/>
                <a:gd name="connsiteY26" fmla="*/ 835901 h 2235200"/>
                <a:gd name="connsiteX27" fmla="*/ 269055 w 2235200"/>
                <a:gd name="connsiteY27" fmla="*/ 835907 h 2235200"/>
                <a:gd name="connsiteX28" fmla="*/ 449374 w 2235200"/>
                <a:gd name="connsiteY28" fmla="*/ 523585 h 2235200"/>
                <a:gd name="connsiteX29" fmla="*/ 335886 w 2235200"/>
                <a:gd name="connsiteY29" fmla="*/ 327029 h 2235200"/>
                <a:gd name="connsiteX30" fmla="*/ 474782 w 2235200"/>
                <a:gd name="connsiteY30" fmla="*/ 210481 h 2235200"/>
                <a:gd name="connsiteX31" fmla="*/ 648645 w 2235200"/>
                <a:gd name="connsiteY31" fmla="*/ 356377 h 2235200"/>
                <a:gd name="connsiteX32" fmla="*/ 987535 w 2235200"/>
                <a:gd name="connsiteY32" fmla="*/ 233031 h 2235200"/>
                <a:gd name="connsiteX33" fmla="*/ 1026942 w 2235200"/>
                <a:gd name="connsiteY33" fmla="*/ 9511 h 2235200"/>
                <a:gd name="connsiteX34" fmla="*/ 1208258 w 2235200"/>
                <a:gd name="connsiteY34" fmla="*/ 9511 h 2235200"/>
                <a:gd name="connsiteX35" fmla="*/ 1247665 w 2235200"/>
                <a:gd name="connsiteY35" fmla="*/ 233031 h 2235200"/>
                <a:gd name="connsiteX36" fmla="*/ 1586555 w 2235200"/>
                <a:gd name="connsiteY36" fmla="*/ 356377 h 223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35200" h="2235200">
                  <a:moveTo>
                    <a:pt x="1586555" y="356377"/>
                  </a:moveTo>
                  <a:lnTo>
                    <a:pt x="1760418" y="210481"/>
                  </a:lnTo>
                  <a:lnTo>
                    <a:pt x="1899314" y="327029"/>
                  </a:lnTo>
                  <a:lnTo>
                    <a:pt x="1785825" y="523585"/>
                  </a:lnTo>
                  <a:cubicBezTo>
                    <a:pt x="1866522" y="614364"/>
                    <a:pt x="1927876" y="720632"/>
                    <a:pt x="1966144" y="835907"/>
                  </a:cubicBezTo>
                  <a:lnTo>
                    <a:pt x="2193112" y="835901"/>
                  </a:lnTo>
                  <a:lnTo>
                    <a:pt x="2224597" y="1014463"/>
                  </a:lnTo>
                  <a:lnTo>
                    <a:pt x="2011316" y="1092085"/>
                  </a:lnTo>
                  <a:cubicBezTo>
                    <a:pt x="2014782" y="1213496"/>
                    <a:pt x="1993474" y="1334341"/>
                    <a:pt x="1948692" y="1447245"/>
                  </a:cubicBezTo>
                  <a:lnTo>
                    <a:pt x="2122562" y="1593132"/>
                  </a:lnTo>
                  <a:lnTo>
                    <a:pt x="2031904" y="1750157"/>
                  </a:lnTo>
                  <a:lnTo>
                    <a:pt x="1818627" y="1672524"/>
                  </a:lnTo>
                  <a:cubicBezTo>
                    <a:pt x="1743241" y="1767759"/>
                    <a:pt x="1649240" y="1846634"/>
                    <a:pt x="1542362" y="1904338"/>
                  </a:cubicBezTo>
                  <a:lnTo>
                    <a:pt x="1581780" y="2127856"/>
                  </a:lnTo>
                  <a:lnTo>
                    <a:pt x="1411398" y="2189870"/>
                  </a:lnTo>
                  <a:lnTo>
                    <a:pt x="1297919" y="1993308"/>
                  </a:lnTo>
                  <a:cubicBezTo>
                    <a:pt x="1178954" y="2017804"/>
                    <a:pt x="1056245" y="2017804"/>
                    <a:pt x="937280" y="1993308"/>
                  </a:cubicBezTo>
                  <a:lnTo>
                    <a:pt x="823802" y="2189870"/>
                  </a:lnTo>
                  <a:lnTo>
                    <a:pt x="653420" y="2127856"/>
                  </a:lnTo>
                  <a:lnTo>
                    <a:pt x="692839" y="1904338"/>
                  </a:lnTo>
                  <a:cubicBezTo>
                    <a:pt x="585961" y="1846634"/>
                    <a:pt x="491960" y="1767758"/>
                    <a:pt x="416574" y="1672524"/>
                  </a:cubicBezTo>
                  <a:lnTo>
                    <a:pt x="203296" y="1750157"/>
                  </a:lnTo>
                  <a:lnTo>
                    <a:pt x="112638" y="1593132"/>
                  </a:lnTo>
                  <a:lnTo>
                    <a:pt x="286508" y="1447245"/>
                  </a:lnTo>
                  <a:cubicBezTo>
                    <a:pt x="241726" y="1334341"/>
                    <a:pt x="220417" y="1213496"/>
                    <a:pt x="223884" y="1092085"/>
                  </a:cubicBezTo>
                  <a:lnTo>
                    <a:pt x="10603" y="1014463"/>
                  </a:lnTo>
                  <a:lnTo>
                    <a:pt x="42088" y="835901"/>
                  </a:lnTo>
                  <a:lnTo>
                    <a:pt x="269055" y="835907"/>
                  </a:lnTo>
                  <a:cubicBezTo>
                    <a:pt x="307323" y="720632"/>
                    <a:pt x="368677" y="614363"/>
                    <a:pt x="449374" y="523585"/>
                  </a:cubicBezTo>
                  <a:lnTo>
                    <a:pt x="335886" y="327029"/>
                  </a:lnTo>
                  <a:lnTo>
                    <a:pt x="474782" y="210481"/>
                  </a:lnTo>
                  <a:lnTo>
                    <a:pt x="648645" y="356377"/>
                  </a:lnTo>
                  <a:cubicBezTo>
                    <a:pt x="752057" y="292669"/>
                    <a:pt x="867366" y="250701"/>
                    <a:pt x="987535" y="233031"/>
                  </a:cubicBezTo>
                  <a:lnTo>
                    <a:pt x="1026942" y="9511"/>
                  </a:lnTo>
                  <a:lnTo>
                    <a:pt x="1208258" y="9511"/>
                  </a:lnTo>
                  <a:lnTo>
                    <a:pt x="1247665" y="233031"/>
                  </a:lnTo>
                  <a:cubicBezTo>
                    <a:pt x="1367834" y="250700"/>
                    <a:pt x="1483142" y="292669"/>
                    <a:pt x="1586555" y="356377"/>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73505" tIns="547715" rIns="473505" bIns="586806" numCol="1" spcCol="1270" anchor="ctr" anchorCtr="0">
              <a:noAutofit/>
            </a:bodyPr>
            <a:lstStyle/>
            <a:p>
              <a:pPr lvl="0" algn="ctr" defTabSz="844550">
                <a:spcBef>
                  <a:spcPct val="0"/>
                </a:spcBef>
                <a:spcAft>
                  <a:spcPct val="35000"/>
                </a:spcAft>
              </a:pPr>
              <a:r>
                <a:rPr lang="zh-CN" altLang="en-US" sz="2400" b="1" dirty="0"/>
                <a:t>界限寄存器与</a:t>
              </a:r>
              <a:r>
                <a:rPr lang="en-US" altLang="zh-CN" sz="2400" b="1" dirty="0"/>
                <a:t>CPU</a:t>
              </a:r>
              <a:r>
                <a:rPr lang="zh-CN" altLang="en-US" sz="2400" b="1" dirty="0"/>
                <a:t>的用户态或核心态工作方式相结合</a:t>
              </a:r>
            </a:p>
          </p:txBody>
        </p:sp>
        <p:sp>
          <p:nvSpPr>
            <p:cNvPr id="38" name="环形箭头 37"/>
            <p:cNvSpPr/>
            <p:nvPr/>
          </p:nvSpPr>
          <p:spPr>
            <a:xfrm rot="1424539">
              <a:off x="5436864" y="2710078"/>
              <a:ext cx="1921603" cy="2302846"/>
            </a:xfrm>
            <a:prstGeom prst="circularArrow">
              <a:avLst>
                <a:gd name="adj1" fmla="val 4687"/>
                <a:gd name="adj2" fmla="val 299029"/>
                <a:gd name="adj3" fmla="val 2513083"/>
                <a:gd name="adj4" fmla="val 15867933"/>
                <a:gd name="adj5" fmla="val 5469"/>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a:lstStyle/>
            <a:p>
              <a:endParaRPr lang="zh-CN" altLang="en-US"/>
            </a:p>
          </p:txBody>
        </p:sp>
      </p:grpSp>
      <p:grpSp>
        <p:nvGrpSpPr>
          <p:cNvPr id="4" name="组合 3"/>
          <p:cNvGrpSpPr/>
          <p:nvPr/>
        </p:nvGrpSpPr>
        <p:grpSpPr>
          <a:xfrm rot="400142">
            <a:off x="2815242" y="926170"/>
            <a:ext cx="2078736" cy="2078736"/>
            <a:chOff x="2987824" y="2525234"/>
            <a:chExt cx="2078736" cy="2078736"/>
          </a:xfrm>
        </p:grpSpPr>
        <p:sp>
          <p:nvSpPr>
            <p:cNvPr id="36" name="任意多边形 35"/>
            <p:cNvSpPr/>
            <p:nvPr/>
          </p:nvSpPr>
          <p:spPr>
            <a:xfrm>
              <a:off x="3431844" y="2696551"/>
              <a:ext cx="1625600" cy="1625600"/>
            </a:xfrm>
            <a:custGeom>
              <a:avLst/>
              <a:gdLst>
                <a:gd name="connsiteX0" fmla="*/ 1216350 w 1625600"/>
                <a:gd name="connsiteY0" fmla="*/ 411723 h 1625600"/>
                <a:gd name="connsiteX1" fmla="*/ 1456181 w 1625600"/>
                <a:gd name="connsiteY1" fmla="*/ 339443 h 1625600"/>
                <a:gd name="connsiteX2" fmla="*/ 1544430 w 1625600"/>
                <a:gd name="connsiteY2" fmla="*/ 492294 h 1625600"/>
                <a:gd name="connsiteX3" fmla="*/ 1361918 w 1625600"/>
                <a:gd name="connsiteY3" fmla="*/ 663854 h 1625600"/>
                <a:gd name="connsiteX4" fmla="*/ 1361918 w 1625600"/>
                <a:gd name="connsiteY4" fmla="*/ 961747 h 1625600"/>
                <a:gd name="connsiteX5" fmla="*/ 1544430 w 1625600"/>
                <a:gd name="connsiteY5" fmla="*/ 1133306 h 1625600"/>
                <a:gd name="connsiteX6" fmla="*/ 1456181 w 1625600"/>
                <a:gd name="connsiteY6" fmla="*/ 1286157 h 1625600"/>
                <a:gd name="connsiteX7" fmla="*/ 1216350 w 1625600"/>
                <a:gd name="connsiteY7" fmla="*/ 1213877 h 1625600"/>
                <a:gd name="connsiteX8" fmla="*/ 958367 w 1625600"/>
                <a:gd name="connsiteY8" fmla="*/ 1362823 h 1625600"/>
                <a:gd name="connsiteX9" fmla="*/ 901049 w 1625600"/>
                <a:gd name="connsiteY9" fmla="*/ 1606663 h 1625600"/>
                <a:gd name="connsiteX10" fmla="*/ 724551 w 1625600"/>
                <a:gd name="connsiteY10" fmla="*/ 1606663 h 1625600"/>
                <a:gd name="connsiteX11" fmla="*/ 667232 w 1625600"/>
                <a:gd name="connsiteY11" fmla="*/ 1362823 h 1625600"/>
                <a:gd name="connsiteX12" fmla="*/ 409249 w 1625600"/>
                <a:gd name="connsiteY12" fmla="*/ 1213877 h 1625600"/>
                <a:gd name="connsiteX13" fmla="*/ 169419 w 1625600"/>
                <a:gd name="connsiteY13" fmla="*/ 1286157 h 1625600"/>
                <a:gd name="connsiteX14" fmla="*/ 81170 w 1625600"/>
                <a:gd name="connsiteY14" fmla="*/ 1133306 h 1625600"/>
                <a:gd name="connsiteX15" fmla="*/ 263682 w 1625600"/>
                <a:gd name="connsiteY15" fmla="*/ 961746 h 1625600"/>
                <a:gd name="connsiteX16" fmla="*/ 263682 w 1625600"/>
                <a:gd name="connsiteY16" fmla="*/ 663853 h 1625600"/>
                <a:gd name="connsiteX17" fmla="*/ 81170 w 1625600"/>
                <a:gd name="connsiteY17" fmla="*/ 492294 h 1625600"/>
                <a:gd name="connsiteX18" fmla="*/ 169419 w 1625600"/>
                <a:gd name="connsiteY18" fmla="*/ 339443 h 1625600"/>
                <a:gd name="connsiteX19" fmla="*/ 409250 w 1625600"/>
                <a:gd name="connsiteY19" fmla="*/ 411723 h 1625600"/>
                <a:gd name="connsiteX20" fmla="*/ 667233 w 1625600"/>
                <a:gd name="connsiteY20" fmla="*/ 262777 h 1625600"/>
                <a:gd name="connsiteX21" fmla="*/ 724551 w 1625600"/>
                <a:gd name="connsiteY21" fmla="*/ 18937 h 1625600"/>
                <a:gd name="connsiteX22" fmla="*/ 901049 w 1625600"/>
                <a:gd name="connsiteY22" fmla="*/ 18937 h 1625600"/>
                <a:gd name="connsiteX23" fmla="*/ 958368 w 1625600"/>
                <a:gd name="connsiteY23" fmla="*/ 262777 h 1625600"/>
                <a:gd name="connsiteX24" fmla="*/ 1216351 w 1625600"/>
                <a:gd name="connsiteY24" fmla="*/ 411723 h 1625600"/>
                <a:gd name="connsiteX25" fmla="*/ 1216350 w 1625600"/>
                <a:gd name="connsiteY25" fmla="*/ 411723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25600" h="1625600">
                  <a:moveTo>
                    <a:pt x="1216350" y="411723"/>
                  </a:moveTo>
                  <a:lnTo>
                    <a:pt x="1456181" y="339443"/>
                  </a:lnTo>
                  <a:lnTo>
                    <a:pt x="1544430" y="492294"/>
                  </a:lnTo>
                  <a:lnTo>
                    <a:pt x="1361918" y="663854"/>
                  </a:lnTo>
                  <a:cubicBezTo>
                    <a:pt x="1388374" y="761389"/>
                    <a:pt x="1388374" y="864211"/>
                    <a:pt x="1361918" y="961747"/>
                  </a:cubicBezTo>
                  <a:lnTo>
                    <a:pt x="1544430" y="1133306"/>
                  </a:lnTo>
                  <a:lnTo>
                    <a:pt x="1456181" y="1286157"/>
                  </a:lnTo>
                  <a:lnTo>
                    <a:pt x="1216350" y="1213877"/>
                  </a:lnTo>
                  <a:cubicBezTo>
                    <a:pt x="1145110" y="1285556"/>
                    <a:pt x="1056063" y="1336967"/>
                    <a:pt x="958367" y="1362823"/>
                  </a:cubicBezTo>
                  <a:lnTo>
                    <a:pt x="901049" y="1606663"/>
                  </a:lnTo>
                  <a:lnTo>
                    <a:pt x="724551" y="1606663"/>
                  </a:lnTo>
                  <a:lnTo>
                    <a:pt x="667232" y="1362823"/>
                  </a:lnTo>
                  <a:cubicBezTo>
                    <a:pt x="569536" y="1336967"/>
                    <a:pt x="480489" y="1285556"/>
                    <a:pt x="409249" y="1213877"/>
                  </a:cubicBezTo>
                  <a:lnTo>
                    <a:pt x="169419" y="1286157"/>
                  </a:lnTo>
                  <a:lnTo>
                    <a:pt x="81170" y="1133306"/>
                  </a:lnTo>
                  <a:lnTo>
                    <a:pt x="263682" y="961746"/>
                  </a:lnTo>
                  <a:cubicBezTo>
                    <a:pt x="237226" y="864211"/>
                    <a:pt x="237226" y="761389"/>
                    <a:pt x="263682" y="663853"/>
                  </a:cubicBezTo>
                  <a:lnTo>
                    <a:pt x="81170" y="492294"/>
                  </a:lnTo>
                  <a:lnTo>
                    <a:pt x="169419" y="339443"/>
                  </a:lnTo>
                  <a:lnTo>
                    <a:pt x="409250" y="411723"/>
                  </a:lnTo>
                  <a:cubicBezTo>
                    <a:pt x="480490" y="340044"/>
                    <a:pt x="569537" y="288633"/>
                    <a:pt x="667233" y="262777"/>
                  </a:cubicBezTo>
                  <a:lnTo>
                    <a:pt x="724551" y="18937"/>
                  </a:lnTo>
                  <a:lnTo>
                    <a:pt x="901049" y="18937"/>
                  </a:lnTo>
                  <a:lnTo>
                    <a:pt x="958368" y="262777"/>
                  </a:lnTo>
                  <a:cubicBezTo>
                    <a:pt x="1056064" y="288633"/>
                    <a:pt x="1145111" y="340044"/>
                    <a:pt x="1216351" y="411723"/>
                  </a:cubicBezTo>
                  <a:lnTo>
                    <a:pt x="1216350" y="411723"/>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433380" tIns="435853" rIns="433380" bIns="435853" numCol="1" spcCol="1270" anchor="ctr" anchorCtr="0">
              <a:noAutofit/>
            </a:bodyPr>
            <a:lstStyle/>
            <a:p>
              <a:pPr algn="ctr" defTabSz="844550">
                <a:spcBef>
                  <a:spcPct val="0"/>
                </a:spcBef>
                <a:spcAft>
                  <a:spcPct val="35000"/>
                </a:spcAft>
              </a:pPr>
              <a:r>
                <a:rPr lang="zh-CN" altLang="en-US" sz="2400" b="1" dirty="0"/>
                <a:t>保护键法</a:t>
              </a:r>
            </a:p>
          </p:txBody>
        </p:sp>
        <p:sp>
          <p:nvSpPr>
            <p:cNvPr id="39" name="形状 38"/>
            <p:cNvSpPr/>
            <p:nvPr/>
          </p:nvSpPr>
          <p:spPr>
            <a:xfrm>
              <a:off x="2987824" y="2525234"/>
              <a:ext cx="2078736" cy="2078736"/>
            </a:xfrm>
            <a:prstGeom prst="leftCircularArrow">
              <a:avLst>
                <a:gd name="adj1" fmla="val 6452"/>
                <a:gd name="adj2" fmla="val 0"/>
                <a:gd name="adj3" fmla="val 10489124"/>
                <a:gd name="adj4" fmla="val 14837806"/>
                <a:gd name="adj5" fmla="val 7527"/>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sp>
      </p:grpSp>
      <p:grpSp>
        <p:nvGrpSpPr>
          <p:cNvPr id="5" name="组合 4"/>
          <p:cNvGrpSpPr/>
          <p:nvPr/>
        </p:nvGrpSpPr>
        <p:grpSpPr>
          <a:xfrm rot="670188">
            <a:off x="2147399" y="2444480"/>
            <a:ext cx="2241296" cy="2241296"/>
            <a:chOff x="3374005" y="994795"/>
            <a:chExt cx="2241296" cy="2241296"/>
          </a:xfrm>
        </p:grpSpPr>
        <p:sp>
          <p:nvSpPr>
            <p:cNvPr id="37" name="任意多边形 36"/>
            <p:cNvSpPr/>
            <p:nvPr/>
          </p:nvSpPr>
          <p:spPr>
            <a:xfrm>
              <a:off x="3431844" y="1054755"/>
              <a:ext cx="2090708" cy="2090708"/>
            </a:xfrm>
            <a:custGeom>
              <a:avLst/>
              <a:gdLst>
                <a:gd name="connsiteX0" fmla="*/ 1191775 w 1592756"/>
                <a:gd name="connsiteY0" fmla="*/ 403405 h 1592756"/>
                <a:gd name="connsiteX1" fmla="*/ 1426760 w 1592756"/>
                <a:gd name="connsiteY1" fmla="*/ 332584 h 1592756"/>
                <a:gd name="connsiteX2" fmla="*/ 1513226 w 1592756"/>
                <a:gd name="connsiteY2" fmla="*/ 482348 h 1592756"/>
                <a:gd name="connsiteX3" fmla="*/ 1334401 w 1592756"/>
                <a:gd name="connsiteY3" fmla="*/ 650441 h 1592756"/>
                <a:gd name="connsiteX4" fmla="*/ 1334401 w 1592756"/>
                <a:gd name="connsiteY4" fmla="*/ 942315 h 1592756"/>
                <a:gd name="connsiteX5" fmla="*/ 1513226 w 1592756"/>
                <a:gd name="connsiteY5" fmla="*/ 1110408 h 1592756"/>
                <a:gd name="connsiteX6" fmla="*/ 1426760 w 1592756"/>
                <a:gd name="connsiteY6" fmla="*/ 1260172 h 1592756"/>
                <a:gd name="connsiteX7" fmla="*/ 1191775 w 1592756"/>
                <a:gd name="connsiteY7" fmla="*/ 1189351 h 1592756"/>
                <a:gd name="connsiteX8" fmla="*/ 939004 w 1592756"/>
                <a:gd name="connsiteY8" fmla="*/ 1335288 h 1592756"/>
                <a:gd name="connsiteX9" fmla="*/ 882844 w 1592756"/>
                <a:gd name="connsiteY9" fmla="*/ 1574202 h 1592756"/>
                <a:gd name="connsiteX10" fmla="*/ 709912 w 1592756"/>
                <a:gd name="connsiteY10" fmla="*/ 1574202 h 1592756"/>
                <a:gd name="connsiteX11" fmla="*/ 653752 w 1592756"/>
                <a:gd name="connsiteY11" fmla="*/ 1335288 h 1592756"/>
                <a:gd name="connsiteX12" fmla="*/ 400981 w 1592756"/>
                <a:gd name="connsiteY12" fmla="*/ 1189351 h 1592756"/>
                <a:gd name="connsiteX13" fmla="*/ 165996 w 1592756"/>
                <a:gd name="connsiteY13" fmla="*/ 1260172 h 1592756"/>
                <a:gd name="connsiteX14" fmla="*/ 79530 w 1592756"/>
                <a:gd name="connsiteY14" fmla="*/ 1110408 h 1592756"/>
                <a:gd name="connsiteX15" fmla="*/ 258355 w 1592756"/>
                <a:gd name="connsiteY15" fmla="*/ 942315 h 1592756"/>
                <a:gd name="connsiteX16" fmla="*/ 258355 w 1592756"/>
                <a:gd name="connsiteY16" fmla="*/ 650441 h 1592756"/>
                <a:gd name="connsiteX17" fmla="*/ 79530 w 1592756"/>
                <a:gd name="connsiteY17" fmla="*/ 482348 h 1592756"/>
                <a:gd name="connsiteX18" fmla="*/ 165996 w 1592756"/>
                <a:gd name="connsiteY18" fmla="*/ 332584 h 1592756"/>
                <a:gd name="connsiteX19" fmla="*/ 400981 w 1592756"/>
                <a:gd name="connsiteY19" fmla="*/ 403405 h 1592756"/>
                <a:gd name="connsiteX20" fmla="*/ 653752 w 1592756"/>
                <a:gd name="connsiteY20" fmla="*/ 257468 h 1592756"/>
                <a:gd name="connsiteX21" fmla="*/ 709912 w 1592756"/>
                <a:gd name="connsiteY21" fmla="*/ 18554 h 1592756"/>
                <a:gd name="connsiteX22" fmla="*/ 882844 w 1592756"/>
                <a:gd name="connsiteY22" fmla="*/ 18554 h 1592756"/>
                <a:gd name="connsiteX23" fmla="*/ 939004 w 1592756"/>
                <a:gd name="connsiteY23" fmla="*/ 257468 h 1592756"/>
                <a:gd name="connsiteX24" fmla="*/ 1191775 w 1592756"/>
                <a:gd name="connsiteY24" fmla="*/ 403405 h 159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92756" h="1592756">
                  <a:moveTo>
                    <a:pt x="1025173" y="402893"/>
                  </a:moveTo>
                  <a:lnTo>
                    <a:pt x="1195533" y="297380"/>
                  </a:lnTo>
                  <a:lnTo>
                    <a:pt x="1295376" y="397223"/>
                  </a:lnTo>
                  <a:lnTo>
                    <a:pt x="1189863" y="567584"/>
                  </a:lnTo>
                  <a:cubicBezTo>
                    <a:pt x="1230502" y="637475"/>
                    <a:pt x="1251792" y="716930"/>
                    <a:pt x="1251543" y="797777"/>
                  </a:cubicBezTo>
                  <a:lnTo>
                    <a:pt x="1428100" y="892558"/>
                  </a:lnTo>
                  <a:lnTo>
                    <a:pt x="1391556" y="1028945"/>
                  </a:lnTo>
                  <a:lnTo>
                    <a:pt x="1191263" y="1022749"/>
                  </a:lnTo>
                  <a:cubicBezTo>
                    <a:pt x="1151054" y="1092889"/>
                    <a:pt x="1092889" y="1151054"/>
                    <a:pt x="1022749" y="1191262"/>
                  </a:cubicBezTo>
                  <a:lnTo>
                    <a:pt x="1028945" y="1391556"/>
                  </a:lnTo>
                  <a:lnTo>
                    <a:pt x="892558" y="1428101"/>
                  </a:lnTo>
                  <a:lnTo>
                    <a:pt x="797778" y="1251543"/>
                  </a:lnTo>
                  <a:cubicBezTo>
                    <a:pt x="716930" y="1251791"/>
                    <a:pt x="637475" y="1230502"/>
                    <a:pt x="567583" y="1189863"/>
                  </a:cubicBezTo>
                  <a:lnTo>
                    <a:pt x="397223" y="1295376"/>
                  </a:lnTo>
                  <a:lnTo>
                    <a:pt x="297380" y="1195533"/>
                  </a:lnTo>
                  <a:lnTo>
                    <a:pt x="402893" y="1025172"/>
                  </a:lnTo>
                  <a:cubicBezTo>
                    <a:pt x="362254" y="955281"/>
                    <a:pt x="340964" y="875826"/>
                    <a:pt x="341213" y="794979"/>
                  </a:cubicBezTo>
                  <a:lnTo>
                    <a:pt x="164656" y="700198"/>
                  </a:lnTo>
                  <a:lnTo>
                    <a:pt x="201200" y="563811"/>
                  </a:lnTo>
                  <a:lnTo>
                    <a:pt x="401493" y="570007"/>
                  </a:lnTo>
                  <a:cubicBezTo>
                    <a:pt x="441702" y="499867"/>
                    <a:pt x="499867" y="441702"/>
                    <a:pt x="570007" y="401494"/>
                  </a:cubicBezTo>
                  <a:lnTo>
                    <a:pt x="563811" y="201200"/>
                  </a:lnTo>
                  <a:lnTo>
                    <a:pt x="700198" y="164655"/>
                  </a:lnTo>
                  <a:lnTo>
                    <a:pt x="794978" y="341213"/>
                  </a:lnTo>
                  <a:cubicBezTo>
                    <a:pt x="875826" y="340965"/>
                    <a:pt x="955281" y="362254"/>
                    <a:pt x="1025173" y="402893"/>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552451" tIns="552451" rIns="552449" bIns="552449" numCol="1" spcCol="1270" anchor="ctr" anchorCtr="0">
              <a:noAutofit/>
            </a:bodyPr>
            <a:lstStyle/>
            <a:p>
              <a:pPr lvl="0" algn="ctr" defTabSz="844550">
                <a:spcBef>
                  <a:spcPct val="0"/>
                </a:spcBef>
                <a:spcAft>
                  <a:spcPct val="35000"/>
                </a:spcAft>
              </a:pPr>
              <a:r>
                <a:rPr lang="zh-CN" altLang="en-US" sz="2400" b="1" dirty="0"/>
                <a:t>上下界保护法</a:t>
              </a:r>
            </a:p>
          </p:txBody>
        </p:sp>
        <p:sp>
          <p:nvSpPr>
            <p:cNvPr id="40" name="环形箭头 39"/>
            <p:cNvSpPr/>
            <p:nvPr/>
          </p:nvSpPr>
          <p:spPr>
            <a:xfrm rot="1620777">
              <a:off x="3374005" y="994795"/>
              <a:ext cx="2241296" cy="2241296"/>
            </a:xfrm>
            <a:prstGeom prst="circularArrow">
              <a:avLst>
                <a:gd name="adj1" fmla="val 5984"/>
                <a:gd name="adj2" fmla="val 394124"/>
                <a:gd name="adj3" fmla="val 13313824"/>
                <a:gd name="adj4" fmla="val 10508221"/>
                <a:gd name="adj5" fmla="val 6981"/>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内存信息的共享与保护</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上下界保护法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329582"/>
            <a:ext cx="7056784" cy="317317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上下界</a:t>
            </a:r>
            <a:r>
              <a:rPr lang="zh-CN" altLang="en-US" sz="2200" b="1" dirty="0">
                <a:solidFill>
                  <a:schemeClr val="bg1"/>
                </a:solidFill>
                <a:latin typeface="+mn-ea"/>
              </a:rPr>
              <a:t>存储保护技术要求为</a:t>
            </a:r>
            <a:r>
              <a:rPr lang="zh-CN" altLang="en-US" sz="2200" b="1" dirty="0">
                <a:solidFill>
                  <a:srgbClr val="FFFF00"/>
                </a:solidFill>
                <a:latin typeface="+mn-ea"/>
              </a:rPr>
              <a:t>每个进程</a:t>
            </a:r>
            <a:r>
              <a:rPr lang="zh-CN" altLang="en-US" sz="2200" b="1" dirty="0">
                <a:solidFill>
                  <a:schemeClr val="bg1"/>
                </a:solidFill>
                <a:latin typeface="+mn-ea"/>
              </a:rPr>
              <a:t>设置一对</a:t>
            </a:r>
            <a:r>
              <a:rPr lang="zh-CN" altLang="en-US" sz="2200" b="1" dirty="0">
                <a:solidFill>
                  <a:srgbClr val="FFFF00"/>
                </a:solidFill>
                <a:latin typeface="+mn-ea"/>
              </a:rPr>
              <a:t>上下界寄存器</a:t>
            </a:r>
            <a:r>
              <a:rPr lang="zh-CN" altLang="en-US" sz="2200" b="1" dirty="0">
                <a:solidFill>
                  <a:schemeClr val="bg1"/>
                </a:solidFill>
                <a:latin typeface="+mn-ea"/>
              </a:rPr>
              <a:t>。上下界寄存器中装有被保护程序和数据段的起始地址和终止地址。在程序执行过程中，在对内存进行访问操作时首先进行访址合法性检查，即检查经过重定位后的内存地址是否在上、下界寄存器所规定的范围之内。若</a:t>
            </a:r>
            <a:r>
              <a:rPr lang="zh-CN" altLang="en-US" sz="2200" b="1" dirty="0">
                <a:solidFill>
                  <a:srgbClr val="FFFF00"/>
                </a:solidFill>
                <a:latin typeface="+mn-ea"/>
              </a:rPr>
              <a:t>在规定的范围之内</a:t>
            </a:r>
            <a:r>
              <a:rPr lang="zh-CN" altLang="en-US" sz="2200" b="1" dirty="0">
                <a:solidFill>
                  <a:schemeClr val="bg1"/>
                </a:solidFill>
                <a:latin typeface="+mn-ea"/>
              </a:rPr>
              <a:t>，则</a:t>
            </a:r>
            <a:r>
              <a:rPr lang="zh-CN" altLang="en-US" sz="2200" b="1" dirty="0">
                <a:solidFill>
                  <a:srgbClr val="FFFF00"/>
                </a:solidFill>
                <a:latin typeface="+mn-ea"/>
              </a:rPr>
              <a:t>访问是合法</a:t>
            </a:r>
            <a:r>
              <a:rPr lang="zh-CN" altLang="en-US" sz="2200" b="1" dirty="0">
                <a:solidFill>
                  <a:schemeClr val="bg1"/>
                </a:solidFill>
                <a:latin typeface="+mn-ea"/>
              </a:rPr>
              <a:t>的；</a:t>
            </a:r>
            <a:r>
              <a:rPr lang="zh-CN" altLang="en-US" sz="2200" b="1" dirty="0">
                <a:solidFill>
                  <a:srgbClr val="FFFF00"/>
                </a:solidFill>
                <a:latin typeface="+mn-ea"/>
              </a:rPr>
              <a:t>否则</a:t>
            </a:r>
            <a:r>
              <a:rPr lang="zh-CN" altLang="en-US" sz="2200" b="1" dirty="0">
                <a:solidFill>
                  <a:schemeClr val="bg1"/>
                </a:solidFill>
                <a:latin typeface="+mn-ea"/>
              </a:rPr>
              <a:t>是</a:t>
            </a:r>
            <a:r>
              <a:rPr lang="zh-CN" altLang="en-US" sz="2200" b="1" dirty="0">
                <a:solidFill>
                  <a:srgbClr val="FFFF00"/>
                </a:solidFill>
                <a:latin typeface="+mn-ea"/>
              </a:rPr>
              <a:t>非法</a:t>
            </a:r>
            <a:r>
              <a:rPr lang="zh-CN" altLang="en-US" sz="2200" b="1" dirty="0">
                <a:solidFill>
                  <a:schemeClr val="bg1"/>
                </a:solidFill>
                <a:latin typeface="+mn-ea"/>
              </a:rPr>
              <a:t>的，并产生</a:t>
            </a:r>
            <a:r>
              <a:rPr lang="zh-CN" altLang="en-US" sz="2200" b="1" dirty="0">
                <a:solidFill>
                  <a:srgbClr val="FFFF00"/>
                </a:solidFill>
                <a:latin typeface="+mn-ea"/>
              </a:rPr>
              <a:t>访址越界中断</a:t>
            </a:r>
            <a:r>
              <a:rPr lang="zh-CN" altLang="en-US" sz="2200" b="1" dirty="0">
                <a:solidFill>
                  <a:schemeClr val="bg1"/>
                </a:solidFill>
                <a:latin typeface="+mn-ea"/>
              </a:rPr>
              <a:t>。</a:t>
            </a:r>
            <a:endParaRPr lang="en-US" altLang="zh-CN" sz="2200" b="1" dirty="0">
              <a:solidFill>
                <a:schemeClr val="bg1"/>
              </a:solidFill>
              <a:latin typeface="+mn-ea"/>
            </a:endParaRPr>
          </a:p>
        </p:txBody>
      </p:sp>
      <p:pic>
        <p:nvPicPr>
          <p:cNvPr id="29" name="Picture 5" descr="E:\操作系统教材编写\张校长教材\新版\e4.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940" y="540985"/>
            <a:ext cx="5687725" cy="398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内存信息的共享与保护</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保护键法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280145"/>
            <a:ext cx="6912768" cy="3416320"/>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保护键法为每一个被保护存储块</a:t>
            </a:r>
            <a:r>
              <a:rPr lang="zh-CN" altLang="en-US" sz="2400" b="1" dirty="0">
                <a:solidFill>
                  <a:srgbClr val="FFFF00"/>
                </a:solidFill>
                <a:latin typeface="+mn-ea"/>
              </a:rPr>
              <a:t>分配一个单独的保护键</a:t>
            </a:r>
            <a:r>
              <a:rPr lang="zh-CN" altLang="en-US" sz="2400" b="1" dirty="0">
                <a:solidFill>
                  <a:schemeClr val="bg1"/>
                </a:solidFill>
                <a:latin typeface="+mn-ea"/>
              </a:rPr>
              <a:t>。在</a:t>
            </a:r>
            <a:r>
              <a:rPr lang="zh-CN" altLang="en-US" sz="2400" b="1" dirty="0">
                <a:solidFill>
                  <a:srgbClr val="FFFF00"/>
                </a:solidFill>
                <a:latin typeface="+mn-ea"/>
              </a:rPr>
              <a:t>程序状态字</a:t>
            </a:r>
            <a:r>
              <a:rPr lang="zh-CN" altLang="en-US" sz="2400" b="1" dirty="0">
                <a:solidFill>
                  <a:schemeClr val="bg1"/>
                </a:solidFill>
                <a:latin typeface="+mn-ea"/>
              </a:rPr>
              <a:t>中则设置相应的</a:t>
            </a:r>
            <a:r>
              <a:rPr lang="zh-CN" altLang="en-US" sz="2400" b="1" dirty="0">
                <a:solidFill>
                  <a:srgbClr val="FFFF00"/>
                </a:solidFill>
                <a:latin typeface="+mn-ea"/>
              </a:rPr>
              <a:t>保护键开关字段</a:t>
            </a:r>
            <a:r>
              <a:rPr lang="zh-CN" altLang="en-US" sz="2400" b="1" dirty="0">
                <a:solidFill>
                  <a:schemeClr val="bg1"/>
                </a:solidFill>
                <a:latin typeface="+mn-ea"/>
              </a:rPr>
              <a:t>，对不同的进程赋予不同的开关代码和与被保护的存储块中的保护键匹配。保护键可设置成对读写同时保护的或只对读，写进行单项保护的。</a:t>
            </a:r>
            <a:endParaRPr lang="en-US" altLang="zh-CN" sz="2400" b="1" dirty="0">
              <a:solidFill>
                <a:schemeClr val="bg1"/>
              </a:solidFill>
              <a:latin typeface="+mn-ea"/>
            </a:endParaRPr>
          </a:p>
        </p:txBody>
      </p:sp>
      <p:pic>
        <p:nvPicPr>
          <p:cNvPr id="30" name="Picture 2" descr="E:\操作系统教材编写\张校长教材\新版\e5.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591305"/>
            <a:ext cx="695325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内存信息的共享与保护</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相结合</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491630"/>
            <a:ext cx="6912768" cy="2308324"/>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在这种保护模式下，</a:t>
            </a:r>
            <a:r>
              <a:rPr lang="zh-CN" altLang="en-US" sz="2400" b="1" dirty="0">
                <a:solidFill>
                  <a:srgbClr val="FFFF00"/>
                </a:solidFill>
                <a:latin typeface="+mn-ea"/>
              </a:rPr>
              <a:t>用户态进程</a:t>
            </a:r>
            <a:r>
              <a:rPr lang="zh-CN" altLang="en-US" sz="2400" b="1" dirty="0">
                <a:solidFill>
                  <a:schemeClr val="bg1"/>
                </a:solidFill>
                <a:latin typeface="+mn-ea"/>
              </a:rPr>
              <a:t>只能访问那些</a:t>
            </a:r>
            <a:r>
              <a:rPr lang="zh-CN" altLang="en-US" sz="2400" b="1" dirty="0">
                <a:solidFill>
                  <a:srgbClr val="FFFF00"/>
                </a:solidFill>
                <a:latin typeface="+mn-ea"/>
              </a:rPr>
              <a:t>在界限寄存器所规定范围内的内存部分</a:t>
            </a:r>
            <a:r>
              <a:rPr lang="zh-CN" altLang="en-US" sz="2400" b="1" dirty="0">
                <a:solidFill>
                  <a:schemeClr val="bg1"/>
                </a:solidFill>
                <a:latin typeface="+mn-ea"/>
              </a:rPr>
              <a:t>，而</a:t>
            </a:r>
            <a:r>
              <a:rPr lang="zh-CN" altLang="en-US" sz="2400" b="1" dirty="0">
                <a:solidFill>
                  <a:srgbClr val="FFFF00"/>
                </a:solidFill>
                <a:latin typeface="+mn-ea"/>
              </a:rPr>
              <a:t>核心态进程</a:t>
            </a:r>
            <a:r>
              <a:rPr lang="zh-CN" altLang="en-US" sz="2400" b="1" dirty="0">
                <a:solidFill>
                  <a:schemeClr val="bg1"/>
                </a:solidFill>
                <a:latin typeface="+mn-ea"/>
              </a:rPr>
              <a:t>则可以</a:t>
            </a:r>
            <a:r>
              <a:rPr lang="zh-CN" altLang="en-US" sz="2400" b="1" dirty="0">
                <a:solidFill>
                  <a:srgbClr val="FFFF00"/>
                </a:solidFill>
                <a:latin typeface="+mn-ea"/>
              </a:rPr>
              <a:t>访问整个内存地址空间</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UNIX</a:t>
            </a:r>
            <a:r>
              <a:rPr lang="zh-CN" altLang="en-US" sz="2400" b="1" dirty="0">
                <a:solidFill>
                  <a:schemeClr val="bg1"/>
                </a:solidFill>
                <a:latin typeface="+mn-ea"/>
              </a:rPr>
              <a:t>系统就是采用的这种内存保护方式。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ea typeface="宋体" panose="02010600030101010101" pitchFamily="2" charset="-122"/>
                </a:rPr>
                <a:t>存储管理</a:t>
              </a:r>
              <a:r>
                <a:rPr lang="zh-CN" altLang="en-US" b="1" dirty="0" smtClean="0">
                  <a:solidFill>
                    <a:srgbClr val="000000"/>
                  </a:solidFill>
                  <a:ea typeface="宋体" panose="02010600030101010101" pitchFamily="2" charset="-122"/>
                </a:rPr>
                <a:t>的功能</a:t>
              </a:r>
              <a:endParaRPr lang="zh-CN" altLang="en-US"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338" cy="232"/>
            </a:xfrm>
            <a:prstGeom prst="rect">
              <a:avLst/>
            </a:prstGeom>
            <a:noFill/>
            <a:ln w="9525" algn="ctr">
              <a:noFill/>
              <a:miter lim="800000"/>
            </a:ln>
            <a:effectLst/>
          </p:spPr>
          <p:txBody>
            <a:bodyPr wrap="square">
              <a:spAutoFit/>
            </a:bodyPr>
            <a:lstStyle/>
            <a:p>
              <a:pPr algn="ctr" eaLnBrk="0" hangingPunct="0"/>
              <a:r>
                <a:rPr lang="en-US" altLang="zh-CN" b="1" dirty="0">
                  <a:solidFill>
                    <a:srgbClr val="000000"/>
                  </a:solidFill>
                </a:rPr>
                <a:t>   </a:t>
              </a:r>
              <a:r>
                <a:rPr lang="zh-CN" altLang="en-US" b="1" dirty="0" smtClean="0">
                  <a:solidFill>
                    <a:srgbClr val="000000"/>
                  </a:solidFill>
                </a:rPr>
                <a:t>分区存储管理</a:t>
              </a:r>
              <a:endParaRPr lang="zh-CN" altLang="en-US"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rPr>
                <a:t>页式管理</a:t>
              </a:r>
            </a:p>
          </p:txBody>
        </p:sp>
        <p:sp>
          <p:nvSpPr>
            <p:cNvPr id="26" name="Text Box 6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3</a:t>
              </a:r>
            </a:p>
          </p:txBody>
        </p:sp>
      </p:grpSp>
      <p:grpSp>
        <p:nvGrpSpPr>
          <p:cNvPr id="27" name="Group 61"/>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a:solidFill>
                    <a:srgbClr val="000000"/>
                  </a:solidFill>
                </a:rPr>
                <a:t>段式与段页式管理</a:t>
              </a:r>
            </a:p>
          </p:txBody>
        </p:sp>
        <p:sp>
          <p:nvSpPr>
            <p:cNvPr id="31" name="Text Box 6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4</a:t>
              </a:r>
            </a:p>
          </p:txBody>
        </p:sp>
      </p:grpSp>
      <p:grpSp>
        <p:nvGrpSpPr>
          <p:cNvPr id="32" name="Group 51"/>
          <p:cNvGrpSpPr/>
          <p:nvPr/>
        </p:nvGrpSpPr>
        <p:grpSpPr bwMode="auto">
          <a:xfrm>
            <a:off x="2279895" y="3734904"/>
            <a:ext cx="4724400" cy="820738"/>
            <a:chOff x="1296" y="1824"/>
            <a:chExt cx="2976" cy="517"/>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776" y="1934"/>
              <a:ext cx="2386" cy="407"/>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覆盖</a:t>
              </a:r>
              <a:r>
                <a:rPr lang="zh-CN" altLang="en-US" b="1" dirty="0">
                  <a:solidFill>
                    <a:srgbClr val="000000"/>
                  </a:solidFill>
                </a:rPr>
                <a:t>与交换技术</a:t>
              </a:r>
            </a:p>
            <a:p>
              <a:pPr algn="ctr" eaLnBrk="0" hangingPunct="0"/>
              <a:endParaRPr lang="zh-CN" altLang="en-US"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a:solidFill>
                    <a:schemeClr val="bg1"/>
                  </a:solidFill>
                  <a:ea typeface="宋体" panose="02010600030101010101" pitchFamily="2" charset="-122"/>
                </a:rPr>
                <a:t>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par>
                                <p:cTn id="7" presetID="42" presetClass="path" presetSubtype="0" accel="50000" decel="50000" fill="hold" nodeType="withEffect">
                                  <p:stCondLst>
                                    <p:cond delay="0"/>
                                  </p:stCondLst>
                                  <p:childTnLst>
                                    <p:animMotion origin="layout" path="M -3.61111E-6 -3.7037E-6 L 0.00139 0.15741 " pathEditMode="relative" rAng="0" ptsTypes="AA">
                                      <p:cBhvr>
                                        <p:cTn id="8" dur="2000" fill="hold"/>
                                        <p:tgtEl>
                                          <p:spTgt spid="16"/>
                                        </p:tgtEl>
                                        <p:attrNameLst>
                                          <p:attrName>ppt_x</p:attrName>
                                          <p:attrName>ppt_y</p:attrName>
                                        </p:attrNameLst>
                                      </p:cBhvr>
                                      <p:rCtr x="69" y="7870"/>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27"/>
                                        </p:tgtEl>
                                      </p:cBhvr>
                                    </p:animEffect>
                                    <p:set>
                                      <p:cBhvr>
                                        <p:cTn id="14" dur="1" fill="hold">
                                          <p:stCondLst>
                                            <p:cond delay="1999"/>
                                          </p:stCondLst>
                                        </p:cTn>
                                        <p:tgtEl>
                                          <p:spTgt spid="27"/>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32"/>
                                        </p:tgtEl>
                                      </p:cBhvr>
                                    </p:animEffect>
                                    <p:set>
                                      <p:cBhvr>
                                        <p:cTn id="17" dur="1" fill="hold">
                                          <p:stCondLst>
                                            <p:cond delay="1999"/>
                                          </p:stCondLst>
                                        </p:cTn>
                                        <p:tgtEl>
                                          <p:spTgt spid="32"/>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1"/>
                                        </p:tgtEl>
                                      </p:cBhvr>
                                    </p:animEffect>
                                    <p:set>
                                      <p:cBhvr>
                                        <p:cTn id="20" dur="1" fill="hold">
                                          <p:stCondLst>
                                            <p:cond delay="1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491630"/>
            <a:ext cx="6696744"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分区管理的基本原理是给每一个内存中的进程划分一块适当大小的存储区，以连续存储各进程的程序和数据，使各进程得以并发执行</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固定分区法</a:t>
            </a:r>
            <a:r>
              <a:rPr lang="en-US" altLang="zh-CN" sz="2400" b="1" dirty="0" smtClean="0">
                <a:solidFill>
                  <a:schemeClr val="bg1"/>
                </a:solidFill>
                <a:latin typeface="+mn-ea"/>
              </a:rPr>
              <a:t>+</a:t>
            </a:r>
            <a:r>
              <a:rPr lang="zh-CN" altLang="en-US" sz="2400" b="1" dirty="0" smtClean="0">
                <a:solidFill>
                  <a:srgbClr val="FFFF00"/>
                </a:solidFill>
                <a:latin typeface="+mn-ea"/>
              </a:rPr>
              <a:t>动态分区法</a:t>
            </a:r>
            <a:endParaRPr lang="en-US" altLang="zh-CN" sz="2400" b="1" dirty="0">
              <a:solidFill>
                <a:srgbClr val="FFFF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固定分区法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229306"/>
            <a:ext cx="6696744" cy="3416320"/>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固定分区法就是</a:t>
            </a:r>
            <a:r>
              <a:rPr lang="zh-CN" altLang="en-US" sz="2400" b="1" dirty="0">
                <a:solidFill>
                  <a:srgbClr val="FFFF00"/>
                </a:solidFill>
                <a:latin typeface="+mn-ea"/>
              </a:rPr>
              <a:t>把内存区固定地划分为若干个大小不等的区域</a:t>
            </a:r>
            <a:r>
              <a:rPr lang="zh-CN" altLang="en-US" sz="2400" b="1" dirty="0">
                <a:solidFill>
                  <a:schemeClr val="bg1"/>
                </a:solidFill>
                <a:latin typeface="+mn-ea"/>
              </a:rPr>
              <a:t>。分区划分的原则由一般</a:t>
            </a:r>
            <a:r>
              <a:rPr lang="zh-CN" altLang="en-US" sz="2400" b="1" dirty="0">
                <a:solidFill>
                  <a:srgbClr val="FFFF00"/>
                </a:solidFill>
                <a:latin typeface="+mn-ea"/>
              </a:rPr>
              <a:t>系统操作员或操作系统决定</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例如</a:t>
            </a:r>
            <a:r>
              <a:rPr lang="zh-CN" altLang="en-US" sz="2400" b="1" dirty="0">
                <a:solidFill>
                  <a:schemeClr val="bg1"/>
                </a:solidFill>
                <a:latin typeface="+mn-ea"/>
              </a:rPr>
              <a:t>可划分为长作业分区和短作业分区。分区一旦划分结束，在整个执行过程中每个</a:t>
            </a:r>
            <a:r>
              <a:rPr lang="zh-CN" altLang="en-US" sz="2400" b="1" dirty="0">
                <a:solidFill>
                  <a:srgbClr val="FFFF00"/>
                </a:solidFill>
                <a:latin typeface="+mn-ea"/>
              </a:rPr>
              <a:t>分区的长度</a:t>
            </a:r>
            <a:r>
              <a:rPr lang="zh-CN" altLang="en-US" sz="2400" b="1" dirty="0">
                <a:solidFill>
                  <a:schemeClr val="bg1"/>
                </a:solidFill>
                <a:latin typeface="+mn-ea"/>
              </a:rPr>
              <a:t>和</a:t>
            </a:r>
            <a:r>
              <a:rPr lang="zh-CN" altLang="en-US" sz="2400" b="1" dirty="0">
                <a:solidFill>
                  <a:srgbClr val="FFFF00"/>
                </a:solidFill>
                <a:latin typeface="+mn-ea"/>
              </a:rPr>
              <a:t>内存的总分区个数</a:t>
            </a:r>
            <a:r>
              <a:rPr lang="zh-CN" altLang="en-US" sz="2400" b="1" dirty="0">
                <a:solidFill>
                  <a:schemeClr val="bg1"/>
                </a:solidFill>
                <a:latin typeface="+mn-ea"/>
              </a:rPr>
              <a:t>将保持</a:t>
            </a:r>
            <a:r>
              <a:rPr lang="zh-CN" altLang="en-US" sz="2400" b="1" dirty="0">
                <a:solidFill>
                  <a:srgbClr val="FFFF00"/>
                </a:solidFill>
                <a:latin typeface="+mn-ea"/>
              </a:rPr>
              <a:t>不变</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固定分区法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491630"/>
            <a:ext cx="6696744" cy="286232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系统对</a:t>
            </a:r>
            <a:r>
              <a:rPr lang="zh-CN" altLang="en-US" sz="2400" b="1" dirty="0">
                <a:solidFill>
                  <a:schemeClr val="bg1"/>
                </a:solidFill>
                <a:latin typeface="+mn-ea"/>
              </a:rPr>
              <a:t>内存的管理和控制通过数据结构</a:t>
            </a:r>
            <a:r>
              <a:rPr lang="en-US" altLang="zh-CN" sz="2400" b="1" dirty="0">
                <a:solidFill>
                  <a:schemeClr val="bg1"/>
                </a:solidFill>
                <a:latin typeface="+mn-ea"/>
              </a:rPr>
              <a:t>——</a:t>
            </a:r>
            <a:r>
              <a:rPr lang="zh-CN" altLang="en-US" sz="2400" b="1" dirty="0">
                <a:solidFill>
                  <a:srgbClr val="FFFF00"/>
                </a:solidFill>
                <a:latin typeface="+mn-ea"/>
              </a:rPr>
              <a:t>分区说明表</a:t>
            </a:r>
            <a:r>
              <a:rPr lang="zh-CN" altLang="en-US" sz="2400" b="1" dirty="0">
                <a:solidFill>
                  <a:schemeClr val="bg1"/>
                </a:solidFill>
                <a:latin typeface="+mn-ea"/>
              </a:rPr>
              <a:t>进行，分区说明表说明各分区号、分区大小、起始地址和是否是空闲区</a:t>
            </a:r>
            <a:r>
              <a:rPr lang="en-US" altLang="zh-CN" sz="2400" b="1" dirty="0">
                <a:solidFill>
                  <a:schemeClr val="bg1"/>
                </a:solidFill>
                <a:latin typeface="+mn-ea"/>
              </a:rPr>
              <a:t>(</a:t>
            </a:r>
            <a:r>
              <a:rPr lang="zh-CN" altLang="en-US" sz="2400" b="1" dirty="0">
                <a:solidFill>
                  <a:schemeClr val="bg1"/>
                </a:solidFill>
                <a:latin typeface="+mn-ea"/>
              </a:rPr>
              <a:t>分区状态</a:t>
            </a:r>
            <a:r>
              <a:rPr lang="en-US" altLang="zh-CN" sz="2400" b="1" dirty="0">
                <a:solidFill>
                  <a:schemeClr val="bg1"/>
                </a:solidFill>
                <a:latin typeface="+mn-ea"/>
              </a:rPr>
              <a:t>)</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内存</a:t>
            </a:r>
            <a:r>
              <a:rPr lang="zh-CN" altLang="en-US" sz="2400" b="1" dirty="0">
                <a:solidFill>
                  <a:schemeClr val="bg1"/>
                </a:solidFill>
                <a:latin typeface="+mn-ea"/>
              </a:rPr>
              <a:t>的分配释放、存储保护以及地址变换等都通过分区说明表进行。</a:t>
            </a:r>
          </a:p>
        </p:txBody>
      </p:sp>
      <p:pic>
        <p:nvPicPr>
          <p:cNvPr id="29" name="Picture 5" descr="E:\操作系统教材编写\张校长教材\新版\e6.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364" y="1018774"/>
            <a:ext cx="6553200"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固定分区法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2339752" y="1908143"/>
            <a:ext cx="4752528" cy="1200329"/>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存在</a:t>
            </a:r>
            <a:r>
              <a:rPr lang="zh-CN" altLang="en-US" sz="2400" b="1" dirty="0">
                <a:solidFill>
                  <a:schemeClr val="bg1"/>
                </a:solidFill>
                <a:latin typeface="+mn-ea"/>
              </a:rPr>
              <a:t>即使是小作业也要占据大分区的浪费现象</a:t>
            </a:r>
          </a:p>
        </p:txBody>
      </p:sp>
      <p:pic>
        <p:nvPicPr>
          <p:cNvPr id="29" name="图片 28"/>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1088090" y="1965521"/>
            <a:ext cx="1040904" cy="11011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固定分区时的分配与回收</a:t>
            </a:r>
          </a:p>
        </p:txBody>
      </p:sp>
      <p:sp>
        <p:nvSpPr>
          <p:cNvPr id="4" name="矩形 3"/>
          <p:cNvSpPr/>
          <p:nvPr/>
        </p:nvSpPr>
        <p:spPr>
          <a:xfrm>
            <a:off x="899592" y="1563638"/>
            <a:ext cx="6840760"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固定分区的回收更加简单。当进程执行完毕，不再需要内存资源时，管理程序</a:t>
            </a:r>
            <a:r>
              <a:rPr lang="zh-CN" altLang="en-US" sz="2400" b="1" dirty="0">
                <a:solidFill>
                  <a:srgbClr val="FFFF00"/>
                </a:solidFill>
                <a:latin typeface="+mn-ea"/>
              </a:rPr>
              <a:t>将对应的分区状态置为未使用</a:t>
            </a:r>
            <a:r>
              <a:rPr lang="zh-CN" altLang="en-US" sz="2400" b="1" dirty="0">
                <a:solidFill>
                  <a:schemeClr val="bg1"/>
                </a:solidFill>
                <a:latin typeface="+mn-ea"/>
              </a:rPr>
              <a:t>即可。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固定分区时的分配与回收</a:t>
            </a:r>
          </a:p>
        </p:txBody>
      </p:sp>
      <p:sp>
        <p:nvSpPr>
          <p:cNvPr id="4" name="矩形 3"/>
          <p:cNvSpPr/>
          <p:nvPr/>
        </p:nvSpPr>
        <p:spPr>
          <a:xfrm>
            <a:off x="899592" y="1491630"/>
            <a:ext cx="6696744"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用户程序要装入执行时，通过请求表提出内存分配要求和所要求的内存空间大小。存储管理程序根据请求表查询分区说明表，从中找出一个满足要求的空闲分区，并将其分配给申请者。</a:t>
            </a:r>
          </a:p>
        </p:txBody>
      </p:sp>
      <p:pic>
        <p:nvPicPr>
          <p:cNvPr id="2" name="图片 1"/>
          <p:cNvPicPr>
            <a:picLocks noChangeAspect="1"/>
          </p:cNvPicPr>
          <p:nvPr/>
        </p:nvPicPr>
        <p:blipFill>
          <a:blip r:embed="rId3"/>
          <a:stretch>
            <a:fillRect/>
          </a:stretch>
        </p:blipFill>
        <p:spPr>
          <a:xfrm>
            <a:off x="2595302" y="104297"/>
            <a:ext cx="4064930" cy="49828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491630"/>
            <a:ext cx="6540330"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动态分区法在作业执行前并不建立分区，</a:t>
            </a:r>
            <a:r>
              <a:rPr lang="zh-CN" altLang="en-US" sz="2400" b="1" dirty="0">
                <a:solidFill>
                  <a:srgbClr val="FFFF00"/>
                </a:solidFill>
                <a:latin typeface="+mn-ea"/>
              </a:rPr>
              <a:t>分区的建立是在作业的处理过程中进行的</a:t>
            </a:r>
            <a:r>
              <a:rPr lang="zh-CN" altLang="en-US" sz="2400" b="1" dirty="0">
                <a:solidFill>
                  <a:schemeClr val="bg1"/>
                </a:solidFill>
                <a:latin typeface="+mn-ea"/>
              </a:rPr>
              <a:t>，且其</a:t>
            </a:r>
            <a:r>
              <a:rPr lang="zh-CN" altLang="en-US" sz="2400" b="1" dirty="0">
                <a:solidFill>
                  <a:srgbClr val="FFFF00"/>
                </a:solidFill>
                <a:latin typeface="+mn-ea"/>
              </a:rPr>
              <a:t>大小可</a:t>
            </a:r>
            <a:r>
              <a:rPr lang="zh-CN" altLang="en-US" sz="2400" b="1" dirty="0">
                <a:solidFill>
                  <a:schemeClr val="bg1"/>
                </a:solidFill>
                <a:latin typeface="+mn-ea"/>
              </a:rPr>
              <a:t>随作业或进程对内存的要求而</a:t>
            </a:r>
            <a:r>
              <a:rPr lang="zh-CN" altLang="en-US" sz="2400" b="1" dirty="0">
                <a:solidFill>
                  <a:srgbClr val="FFFF00"/>
                </a:solidFill>
                <a:latin typeface="+mn-ea"/>
              </a:rPr>
              <a:t>改变</a:t>
            </a:r>
            <a:r>
              <a:rPr lang="zh-CN" altLang="en-US" sz="2400" b="1" dirty="0">
                <a:solidFill>
                  <a:schemeClr val="bg1"/>
                </a:solidFill>
                <a:latin typeface="+mn-ea"/>
              </a:rPr>
              <a:t>。</a:t>
            </a:r>
            <a:endParaRPr lang="en-US" altLang="zh-CN" sz="2400" b="1" dirty="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提高了内存的利用率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491630"/>
            <a:ext cx="6540330"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在系统初启时，除了操作系统中常驻内存部分之外，只有一个空闲分区。随后，分配程序将该区依次划分给调度选中的作业或进程</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内存</a:t>
            </a:r>
            <a:r>
              <a:rPr lang="zh-CN" altLang="en-US" sz="2400" b="1" dirty="0">
                <a:solidFill>
                  <a:schemeClr val="bg1"/>
                </a:solidFill>
                <a:latin typeface="+mn-ea"/>
              </a:rPr>
              <a:t>初始分配</a:t>
            </a:r>
            <a:r>
              <a:rPr lang="zh-CN" altLang="en-US" sz="2400" b="1" dirty="0" smtClean="0">
                <a:solidFill>
                  <a:schemeClr val="bg1"/>
                </a:solidFill>
                <a:latin typeface="+mn-ea"/>
              </a:rPr>
              <a:t>情况如下：</a:t>
            </a:r>
            <a:endParaRPr lang="zh-CN" altLang="en-US" sz="2400" b="1" dirty="0">
              <a:solidFill>
                <a:schemeClr val="bg1"/>
              </a:solidFill>
              <a:latin typeface="+mn-ea"/>
            </a:endParaRPr>
          </a:p>
        </p:txBody>
      </p:sp>
      <p:pic>
        <p:nvPicPr>
          <p:cNvPr id="29" name="Picture 2" descr="E:\操作系统教材编写\张校长教材\新版\e7.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7804" y="457985"/>
            <a:ext cx="5882283" cy="42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344876"/>
            <a:ext cx="6984776"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随着进程的执行，会出现一系列的分配和</a:t>
            </a:r>
            <a:r>
              <a:rPr lang="zh-CN" altLang="en-US" sz="2200" b="1" dirty="0">
                <a:solidFill>
                  <a:srgbClr val="FFFF00"/>
                </a:solidFill>
                <a:latin typeface="+mn-ea"/>
              </a:rPr>
              <a:t>释放</a:t>
            </a:r>
            <a:r>
              <a:rPr lang="zh-CN" altLang="en-US" sz="2200" b="1" dirty="0" smtClean="0">
                <a:solidFill>
                  <a:schemeClr val="bg1"/>
                </a:solidFill>
                <a:latin typeface="+mn-ea"/>
              </a:rPr>
              <a:t>。</a:t>
            </a:r>
            <a:r>
              <a:rPr lang="zh-CN" altLang="en-US" sz="2200" b="1" dirty="0">
                <a:solidFill>
                  <a:schemeClr val="bg1"/>
                </a:solidFill>
                <a:latin typeface="+mn-ea"/>
              </a:rPr>
              <a:t>如在某一时刻，进程</a:t>
            </a:r>
            <a:r>
              <a:rPr lang="en-US" altLang="zh-CN" sz="2200" b="1" dirty="0">
                <a:solidFill>
                  <a:srgbClr val="FFFF00"/>
                </a:solidFill>
                <a:latin typeface="+mn-ea"/>
              </a:rPr>
              <a:t>C</a:t>
            </a:r>
            <a:r>
              <a:rPr lang="zh-CN" altLang="en-US" sz="2200" b="1" dirty="0">
                <a:solidFill>
                  <a:srgbClr val="FFFF00"/>
                </a:solidFill>
                <a:latin typeface="+mn-ea"/>
              </a:rPr>
              <a:t>执行结束</a:t>
            </a:r>
            <a:r>
              <a:rPr lang="zh-CN" altLang="en-US" sz="2200" b="1" dirty="0">
                <a:solidFill>
                  <a:schemeClr val="bg1"/>
                </a:solidFill>
                <a:latin typeface="+mn-ea"/>
              </a:rPr>
              <a:t>并释放内存之后，管理程序又要为另两个</a:t>
            </a:r>
            <a:r>
              <a:rPr lang="zh-CN" altLang="en-US" sz="2200" b="1" dirty="0">
                <a:solidFill>
                  <a:srgbClr val="FFFF00"/>
                </a:solidFill>
                <a:latin typeface="+mn-ea"/>
              </a:rPr>
              <a:t>进程</a:t>
            </a:r>
            <a:r>
              <a:rPr lang="en-US" altLang="zh-CN" sz="2200" b="1" dirty="0">
                <a:solidFill>
                  <a:srgbClr val="FFFF00"/>
                </a:solidFill>
                <a:latin typeface="+mn-ea"/>
              </a:rPr>
              <a:t>E</a:t>
            </a:r>
            <a:r>
              <a:rPr lang="en-US" altLang="zh-CN" sz="2200" b="1" dirty="0">
                <a:solidFill>
                  <a:schemeClr val="bg1"/>
                </a:solidFill>
                <a:latin typeface="+mn-ea"/>
              </a:rPr>
              <a:t>(</a:t>
            </a:r>
            <a:r>
              <a:rPr lang="zh-CN" altLang="en-US" sz="2200" b="1" dirty="0">
                <a:solidFill>
                  <a:schemeClr val="bg1"/>
                </a:solidFill>
                <a:latin typeface="+mn-ea"/>
              </a:rPr>
              <a:t>设需内存</a:t>
            </a:r>
            <a:r>
              <a:rPr lang="en-US" altLang="zh-CN" sz="2200" b="1" dirty="0">
                <a:solidFill>
                  <a:schemeClr val="bg1"/>
                </a:solidFill>
                <a:latin typeface="+mn-ea"/>
              </a:rPr>
              <a:t>50K)</a:t>
            </a:r>
            <a:r>
              <a:rPr lang="zh-CN" altLang="en-US" sz="2200" b="1" dirty="0">
                <a:solidFill>
                  <a:schemeClr val="bg1"/>
                </a:solidFill>
                <a:latin typeface="+mn-ea"/>
              </a:rPr>
              <a:t>和</a:t>
            </a:r>
            <a:r>
              <a:rPr lang="en-US" altLang="zh-CN" sz="2200" b="1" dirty="0">
                <a:solidFill>
                  <a:srgbClr val="FFFF00"/>
                </a:solidFill>
                <a:latin typeface="+mn-ea"/>
              </a:rPr>
              <a:t>F</a:t>
            </a:r>
            <a:r>
              <a:rPr lang="en-US" altLang="zh-CN" sz="2200" b="1" dirty="0">
                <a:solidFill>
                  <a:schemeClr val="bg1"/>
                </a:solidFill>
                <a:latin typeface="+mn-ea"/>
              </a:rPr>
              <a:t>(</a:t>
            </a:r>
            <a:r>
              <a:rPr lang="zh-CN" altLang="en-US" sz="2200" b="1" dirty="0">
                <a:solidFill>
                  <a:schemeClr val="bg1"/>
                </a:solidFill>
                <a:latin typeface="+mn-ea"/>
              </a:rPr>
              <a:t>设需内存</a:t>
            </a:r>
            <a:r>
              <a:rPr lang="en-US" altLang="zh-CN" sz="2200" b="1" dirty="0">
                <a:solidFill>
                  <a:schemeClr val="bg1"/>
                </a:solidFill>
                <a:latin typeface="+mn-ea"/>
              </a:rPr>
              <a:t>16K)</a:t>
            </a:r>
            <a:r>
              <a:rPr lang="zh-CN" altLang="en-US" sz="2200" b="1" dirty="0">
                <a:solidFill>
                  <a:srgbClr val="FFFF00"/>
                </a:solidFill>
                <a:latin typeface="+mn-ea"/>
              </a:rPr>
              <a:t>分配内存</a:t>
            </a:r>
            <a:r>
              <a:rPr lang="zh-CN" altLang="en-US" sz="2200" b="1" dirty="0">
                <a:solidFill>
                  <a:schemeClr val="bg1"/>
                </a:solidFill>
                <a:latin typeface="+mn-ea"/>
              </a:rPr>
              <a:t>。如果分配的空闲区比所要求的大，则管理程序将该空闲区分成两个部分，其中一部分成为已分配区而另一部分成为一个新的小空闲区。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344876"/>
            <a:ext cx="6840760"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采用</a:t>
            </a:r>
            <a:r>
              <a:rPr lang="zh-CN" altLang="en-US" sz="2400" b="1" dirty="0">
                <a:solidFill>
                  <a:srgbClr val="FFFF00"/>
                </a:solidFill>
                <a:latin typeface="+mn-ea"/>
              </a:rPr>
              <a:t>最先适应算法</a:t>
            </a:r>
            <a:r>
              <a:rPr lang="en-US" altLang="zh-CN" sz="2400" b="1" dirty="0">
                <a:solidFill>
                  <a:schemeClr val="bg1"/>
                </a:solidFill>
                <a:latin typeface="+mn-ea"/>
              </a:rPr>
              <a:t>(first fit)</a:t>
            </a:r>
            <a:r>
              <a:rPr lang="zh-CN" altLang="en-US" sz="2400" b="1" dirty="0">
                <a:solidFill>
                  <a:schemeClr val="bg1"/>
                </a:solidFill>
                <a:latin typeface="+mn-ea"/>
              </a:rPr>
              <a:t>分配内存时进程</a:t>
            </a:r>
            <a:r>
              <a:rPr lang="en-US" altLang="zh-CN" sz="2400" b="1" dirty="0">
                <a:solidFill>
                  <a:schemeClr val="bg1"/>
                </a:solidFill>
                <a:latin typeface="+mn-ea"/>
              </a:rPr>
              <a:t>E</a:t>
            </a:r>
            <a:r>
              <a:rPr lang="zh-CN" altLang="en-US" sz="2400" b="1" dirty="0">
                <a:solidFill>
                  <a:schemeClr val="bg1"/>
                </a:solidFill>
                <a:latin typeface="+mn-ea"/>
              </a:rPr>
              <a:t>和进程</a:t>
            </a:r>
            <a:r>
              <a:rPr lang="en-US" altLang="zh-CN" sz="2400" b="1" dirty="0">
                <a:solidFill>
                  <a:schemeClr val="bg1"/>
                </a:solidFill>
                <a:latin typeface="+mn-ea"/>
              </a:rPr>
              <a:t>F</a:t>
            </a:r>
            <a:r>
              <a:rPr lang="zh-CN" altLang="en-US" sz="2400" b="1" dirty="0">
                <a:solidFill>
                  <a:schemeClr val="bg1"/>
                </a:solidFill>
                <a:latin typeface="+mn-ea"/>
              </a:rPr>
              <a:t>得到内存以及进程</a:t>
            </a:r>
            <a:r>
              <a:rPr lang="en-US" altLang="zh-CN" sz="2400" b="1" dirty="0">
                <a:solidFill>
                  <a:schemeClr val="bg1"/>
                </a:solidFill>
                <a:latin typeface="+mn-ea"/>
              </a:rPr>
              <a:t>B</a:t>
            </a:r>
            <a:r>
              <a:rPr lang="zh-CN" altLang="en-US" sz="2400" b="1" dirty="0">
                <a:solidFill>
                  <a:schemeClr val="bg1"/>
                </a:solidFill>
                <a:latin typeface="+mn-ea"/>
              </a:rPr>
              <a:t>和进程</a:t>
            </a:r>
            <a:r>
              <a:rPr lang="en-US" altLang="zh-CN" sz="2400" b="1" dirty="0">
                <a:solidFill>
                  <a:schemeClr val="bg1"/>
                </a:solidFill>
                <a:latin typeface="+mn-ea"/>
              </a:rPr>
              <a:t>D</a:t>
            </a:r>
            <a:r>
              <a:rPr lang="zh-CN" altLang="en-US" sz="2400" b="1" dirty="0">
                <a:solidFill>
                  <a:schemeClr val="bg1"/>
                </a:solidFill>
                <a:latin typeface="+mn-ea"/>
              </a:rPr>
              <a:t>释放内存的内存分配变化过程如下：</a:t>
            </a:r>
          </a:p>
        </p:txBody>
      </p:sp>
      <p:pic>
        <p:nvPicPr>
          <p:cNvPr id="30" name="Picture 2" descr="E:\操作系统教材编写\张校长教材\新版\e8.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491630"/>
            <a:ext cx="59928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584" y="1344876"/>
            <a:ext cx="6840760"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与固定分区</a:t>
            </a:r>
            <a:r>
              <a:rPr lang="zh-CN" altLang="en-US" sz="2200" b="1" dirty="0" smtClean="0">
                <a:solidFill>
                  <a:schemeClr val="bg1"/>
                </a:solidFill>
                <a:latin typeface="+mn-ea"/>
              </a:rPr>
              <a:t>法相</a:t>
            </a:r>
            <a:r>
              <a:rPr lang="zh-CN" altLang="en-US" sz="2200" b="1" dirty="0">
                <a:solidFill>
                  <a:schemeClr val="bg1"/>
                </a:solidFill>
                <a:latin typeface="+mn-ea"/>
              </a:rPr>
              <a:t>同，动态分区法也要使用分区说明表等数据结构对内存进行管理。除了分区说明表之外，动态分区法还把内存中的可用分区单独构成</a:t>
            </a:r>
            <a:r>
              <a:rPr lang="zh-CN" altLang="en-US" sz="2200" b="1" dirty="0">
                <a:solidFill>
                  <a:srgbClr val="FFFF00"/>
                </a:solidFill>
                <a:latin typeface="+mn-ea"/>
              </a:rPr>
              <a:t>可用分区表</a:t>
            </a:r>
            <a:r>
              <a:rPr lang="zh-CN" altLang="en-US" sz="2200" b="1" dirty="0">
                <a:solidFill>
                  <a:schemeClr val="bg1"/>
                </a:solidFill>
                <a:latin typeface="+mn-ea"/>
              </a:rPr>
              <a:t>或</a:t>
            </a:r>
            <a:r>
              <a:rPr lang="zh-CN" altLang="en-US" sz="2200" b="1" dirty="0">
                <a:solidFill>
                  <a:srgbClr val="FFFF00"/>
                </a:solidFill>
                <a:latin typeface="+mn-ea"/>
              </a:rPr>
              <a:t>可用分区自由链</a:t>
            </a:r>
            <a:r>
              <a:rPr lang="zh-CN" altLang="en-US" sz="2200" b="1" dirty="0">
                <a:solidFill>
                  <a:schemeClr val="bg1"/>
                </a:solidFill>
                <a:latin typeface="+mn-ea"/>
              </a:rPr>
              <a:t>，以描述系统内的内存资源。与此相对应，请求内存资源的作业或进程也构成一个内存资源请求表。</a:t>
            </a:r>
          </a:p>
        </p:txBody>
      </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2" descr="E:\操作系统教材编写\张校长教材\新版\e9.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325214"/>
            <a:ext cx="76962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线形标注 1 1"/>
          <p:cNvSpPr/>
          <p:nvPr/>
        </p:nvSpPr>
        <p:spPr>
          <a:xfrm>
            <a:off x="3347864" y="174204"/>
            <a:ext cx="4176464" cy="1698661"/>
          </a:xfrm>
          <a:prstGeom prst="borderCallout1">
            <a:avLst>
              <a:gd name="adj1" fmla="val 18750"/>
              <a:gd name="adj2" fmla="val -8333"/>
              <a:gd name="adj3" fmla="val 86332"/>
              <a:gd name="adj4" fmla="val -38941"/>
            </a:avLst>
          </a:prstGeom>
          <a:ln w="38100"/>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000" b="1" dirty="0" smtClean="0"/>
              <a:t>动态分区说明表的每个表目记录一个空闲区，主要参数包括区号、长度和起始地址。采用表格结构，管理过程比较简单，但表的大小难以确定，可用表要占用一部分内存。</a:t>
            </a:r>
            <a:endParaRPr lang="zh-CN" altLang="en-US" sz="2000" b="1" dirty="0"/>
          </a:p>
        </p:txBody>
      </p:sp>
      <p:sp>
        <p:nvSpPr>
          <p:cNvPr id="31" name="线形标注 1 30"/>
          <p:cNvSpPr/>
          <p:nvPr/>
        </p:nvSpPr>
        <p:spPr>
          <a:xfrm>
            <a:off x="0" y="2715767"/>
            <a:ext cx="3563888" cy="1835512"/>
          </a:xfrm>
          <a:prstGeom prst="borderCallout1">
            <a:avLst>
              <a:gd name="adj1" fmla="val 13516"/>
              <a:gd name="adj2" fmla="val 104140"/>
              <a:gd name="adj3" fmla="val -38525"/>
              <a:gd name="adj4" fmla="val 121036"/>
            </a:avLst>
          </a:prstGeom>
          <a:ln w="38100"/>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000" b="1" dirty="0"/>
              <a:t>利用每个内存空闲区的头几个单元存放本空闲区的大小及下个空闲区的起始地址，从而把所有的空闲区链接起来。然后，系统再设置一自由链首指针让其指向第一个空闲区</a:t>
            </a:r>
          </a:p>
        </p:txBody>
      </p:sp>
      <p:sp>
        <p:nvSpPr>
          <p:cNvPr id="32" name="线形标注 1 31"/>
          <p:cNvSpPr/>
          <p:nvPr/>
        </p:nvSpPr>
        <p:spPr>
          <a:xfrm>
            <a:off x="5773071" y="2872845"/>
            <a:ext cx="3155954" cy="1440160"/>
          </a:xfrm>
          <a:prstGeom prst="borderCallout1">
            <a:avLst>
              <a:gd name="adj1" fmla="val 21818"/>
              <a:gd name="adj2" fmla="val -628"/>
              <a:gd name="adj3" fmla="val -40600"/>
              <a:gd name="adj4" fmla="val -19724"/>
            </a:avLst>
          </a:prstGeom>
          <a:ln w="38100"/>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000" b="1" dirty="0"/>
              <a:t>查找时要比可用表困难，但由于自由链指针是利用的空闲区自身的单元，所以不必占用额外的内存区</a:t>
            </a:r>
          </a:p>
        </p:txBody>
      </p:sp>
      <p:sp>
        <p:nvSpPr>
          <p:cNvPr id="35" name="线形标注 1 34"/>
          <p:cNvSpPr/>
          <p:nvPr/>
        </p:nvSpPr>
        <p:spPr>
          <a:xfrm>
            <a:off x="5773071" y="2874878"/>
            <a:ext cx="3155954" cy="1440160"/>
          </a:xfrm>
          <a:prstGeom prst="borderCallout1">
            <a:avLst>
              <a:gd name="adj1" fmla="val 21818"/>
              <a:gd name="adj2" fmla="val -628"/>
              <a:gd name="adj3" fmla="val -40600"/>
              <a:gd name="adj4" fmla="val -19724"/>
            </a:avLst>
          </a:prstGeom>
          <a:ln w="38100"/>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000" b="1" dirty="0"/>
              <a:t>查找时要比可用表困难，但由于自由链指针是利用的空闲区自身的单元，所以不必占用额外的内存区</a:t>
            </a:r>
          </a:p>
        </p:txBody>
      </p:sp>
      <p:sp>
        <p:nvSpPr>
          <p:cNvPr id="36" name="线形标注 1 35"/>
          <p:cNvSpPr/>
          <p:nvPr/>
        </p:nvSpPr>
        <p:spPr>
          <a:xfrm>
            <a:off x="1751484" y="2788966"/>
            <a:ext cx="2604492" cy="1524039"/>
          </a:xfrm>
          <a:prstGeom prst="borderCallout1">
            <a:avLst>
              <a:gd name="adj1" fmla="val 13516"/>
              <a:gd name="adj2" fmla="val 104140"/>
              <a:gd name="adj3" fmla="val -36858"/>
              <a:gd name="adj4" fmla="val 165409"/>
            </a:avLst>
          </a:prstGeom>
          <a:ln w="38100"/>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000" b="1" dirty="0"/>
              <a:t>请求表的每个表目描述请求内存资源的作业或进程号以及所请求的内存大小。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wipe(left)">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31"/>
                                        </p:tgtEl>
                                      </p:cBhvr>
                                    </p:animEffect>
                                    <p:set>
                                      <p:cBhvr>
                                        <p:cTn id="42" dur="1" fill="hold">
                                          <p:stCondLst>
                                            <p:cond delay="499"/>
                                          </p:stCondLst>
                                        </p:cTn>
                                        <p:tgtEl>
                                          <p:spTgt spid="31"/>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32"/>
                                        </p:tgtEl>
                                      </p:cBhvr>
                                    </p:animEffect>
                                    <p:set>
                                      <p:cBhvr>
                                        <p:cTn id="45" dur="1" fill="hold">
                                          <p:stCondLst>
                                            <p:cond delay="499"/>
                                          </p:stCondLst>
                                        </p:cTn>
                                        <p:tgtEl>
                                          <p:spTgt spid="32"/>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35"/>
                                        </p:tgtEl>
                                      </p:cBhvr>
                                    </p:animEffect>
                                    <p:set>
                                      <p:cBhvr>
                                        <p:cTn id="48" dur="1" fill="hold">
                                          <p:stCondLst>
                                            <p:cond delay="499"/>
                                          </p:stCondLst>
                                        </p:cTn>
                                        <p:tgtEl>
                                          <p:spTgt spid="3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left)">
                                      <p:cBhvr>
                                        <p:cTn id="5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1" grpId="0" animBg="1"/>
      <p:bldP spid="31" grpId="1" animBg="1"/>
      <p:bldP spid="32" grpId="0" animBg="1"/>
      <p:bldP spid="32" grpId="1" animBg="1"/>
      <p:bldP spid="35" grpId="0" animBg="1"/>
      <p:bldP spid="35" grpId="1" animBg="1"/>
      <p:bldP spid="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分区时的分配与回收</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971600" y="1333714"/>
            <a:ext cx="6840760" cy="55976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主要解决三个问题：</a:t>
            </a:r>
            <a:endParaRPr lang="zh-CN" altLang="en-US" sz="2400" b="1" dirty="0">
              <a:solidFill>
                <a:schemeClr val="bg1"/>
              </a:solidFill>
              <a:latin typeface="+mn-ea"/>
            </a:endParaRPr>
          </a:p>
        </p:txBody>
      </p:sp>
      <p:graphicFrame>
        <p:nvGraphicFramePr>
          <p:cNvPr id="13" name="图示 12"/>
          <p:cNvGraphicFramePr/>
          <p:nvPr/>
        </p:nvGraphicFramePr>
        <p:xfrm>
          <a:off x="1187624" y="880049"/>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分区分配方法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最先适应法</a:t>
            </a:r>
          </a:p>
        </p:txBody>
      </p:sp>
      <p:sp>
        <p:nvSpPr>
          <p:cNvPr id="4" name="矩形 3"/>
          <p:cNvSpPr/>
          <p:nvPr/>
        </p:nvSpPr>
        <p:spPr>
          <a:xfrm>
            <a:off x="755576" y="1281469"/>
            <a:ext cx="7056784"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要求可用表或自由链按</a:t>
            </a:r>
            <a:r>
              <a:rPr lang="zh-CN" altLang="en-US" sz="2400" b="1" dirty="0">
                <a:solidFill>
                  <a:srgbClr val="FFFF00"/>
                </a:solidFill>
                <a:latin typeface="+mn-ea"/>
              </a:rPr>
              <a:t>起始地址递增</a:t>
            </a:r>
            <a:r>
              <a:rPr lang="zh-CN" altLang="en-US" sz="2400" b="1" dirty="0">
                <a:solidFill>
                  <a:schemeClr val="bg1"/>
                </a:solidFill>
                <a:latin typeface="+mn-ea"/>
              </a:rPr>
              <a:t>的次序排列。该算法的最大特点是</a:t>
            </a:r>
            <a:r>
              <a:rPr lang="zh-CN" altLang="en-US" sz="2400" b="1" dirty="0">
                <a:solidFill>
                  <a:srgbClr val="FFFF00"/>
                </a:solidFill>
                <a:latin typeface="+mn-ea"/>
              </a:rPr>
              <a:t>一旦找到大于或等于所要求内存长度的分区</a:t>
            </a:r>
            <a:r>
              <a:rPr lang="zh-CN" altLang="en-US" sz="2400" b="1" dirty="0">
                <a:solidFill>
                  <a:schemeClr val="bg1"/>
                </a:solidFill>
                <a:latin typeface="+mn-ea"/>
              </a:rPr>
              <a:t>，则结束探索。然后，该算法从所找到的分区中划出所要求的内存长度分配给用户，并把余下的部分进行合并</a:t>
            </a:r>
            <a:r>
              <a:rPr lang="en-US" altLang="zh-CN" sz="2400" b="1" dirty="0">
                <a:solidFill>
                  <a:schemeClr val="bg1"/>
                </a:solidFill>
                <a:latin typeface="+mn-ea"/>
              </a:rPr>
              <a:t>(</a:t>
            </a:r>
            <a:r>
              <a:rPr lang="zh-CN" altLang="en-US" sz="2400" b="1" dirty="0">
                <a:solidFill>
                  <a:schemeClr val="bg1"/>
                </a:solidFill>
                <a:latin typeface="+mn-ea"/>
              </a:rPr>
              <a:t>如果有相邻空闲区存在</a:t>
            </a:r>
            <a:r>
              <a:rPr lang="en-US" altLang="zh-CN" sz="2400" b="1" dirty="0">
                <a:solidFill>
                  <a:schemeClr val="bg1"/>
                </a:solidFill>
                <a:latin typeface="+mn-ea"/>
              </a:rPr>
              <a:t>)</a:t>
            </a:r>
            <a:r>
              <a:rPr lang="zh-CN" altLang="en-US" sz="2400" b="1" dirty="0">
                <a:solidFill>
                  <a:schemeClr val="bg1"/>
                </a:solidFill>
                <a:latin typeface="+mn-ea"/>
              </a:rPr>
              <a:t>后留在可用表中，但要修改其相应的表项。</a:t>
            </a:r>
          </a:p>
        </p:txBody>
      </p:sp>
      <p:grpSp>
        <p:nvGrpSpPr>
          <p:cNvPr id="3" name="组合 2"/>
          <p:cNvGrpSpPr/>
          <p:nvPr/>
        </p:nvGrpSpPr>
        <p:grpSpPr>
          <a:xfrm>
            <a:off x="1952541" y="85123"/>
            <a:ext cx="5316236" cy="4785157"/>
            <a:chOff x="1952541" y="85123"/>
            <a:chExt cx="5316236" cy="4785157"/>
          </a:xfrm>
        </p:grpSpPr>
        <p:pic>
          <p:nvPicPr>
            <p:cNvPr id="29" name="Picture 5" descr="E:\操作系统教材编写\张校长教材\新版\e11.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541" y="85123"/>
              <a:ext cx="5316236" cy="4785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673748" y="1306776"/>
              <a:ext cx="576064" cy="2327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rPr>
                <a:t>结束</a:t>
              </a:r>
              <a:endParaRPr lang="zh-CN" altLang="en-US" sz="1200" b="1"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分区分配方法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最佳适应算法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281469"/>
            <a:ext cx="7056784"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要求</a:t>
            </a:r>
            <a:r>
              <a:rPr lang="zh-CN" altLang="en-US" sz="2400" b="1" dirty="0">
                <a:solidFill>
                  <a:srgbClr val="FFFF00"/>
                </a:solidFill>
                <a:latin typeface="+mn-ea"/>
              </a:rPr>
              <a:t>从小到大的次序</a:t>
            </a:r>
            <a:r>
              <a:rPr lang="zh-CN" altLang="en-US" sz="2400" b="1" dirty="0">
                <a:solidFill>
                  <a:schemeClr val="bg1"/>
                </a:solidFill>
                <a:latin typeface="+mn-ea"/>
              </a:rPr>
              <a:t>组成</a:t>
            </a:r>
            <a:r>
              <a:rPr lang="zh-CN" altLang="en-US" sz="2400" b="1" dirty="0">
                <a:solidFill>
                  <a:srgbClr val="FFFF00"/>
                </a:solidFill>
                <a:latin typeface="+mn-ea"/>
              </a:rPr>
              <a:t>空闲区可用表或自由链</a:t>
            </a:r>
            <a:r>
              <a:rPr lang="zh-CN" altLang="en-US" sz="2400" b="1" dirty="0">
                <a:solidFill>
                  <a:schemeClr val="bg1"/>
                </a:solidFill>
                <a:latin typeface="+mn-ea"/>
              </a:rPr>
              <a:t>。当用户作业或进程申请一个空闲区时，存储管理程序从表头开始查找，当找到第一个满足要求的空闲区时，停止查找。如果该空闲区大于请求表中的请求长度，则与最先适应法时相同，将减去请求长度后的剩余空闲区部分留在可用表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动态分区分配方法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最坏适应</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4" name="矩形 3"/>
          <p:cNvSpPr/>
          <p:nvPr/>
        </p:nvSpPr>
        <p:spPr>
          <a:xfrm>
            <a:off x="755576" y="1229306"/>
            <a:ext cx="7056784"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要求</a:t>
            </a:r>
            <a:r>
              <a:rPr lang="zh-CN" altLang="en-US" sz="2400" b="1" dirty="0" smtClean="0">
                <a:solidFill>
                  <a:srgbClr val="FFFF00"/>
                </a:solidFill>
                <a:latin typeface="+mn-ea"/>
              </a:rPr>
              <a:t>从大到</a:t>
            </a:r>
            <a:r>
              <a:rPr lang="zh-CN" altLang="en-US" sz="2400" b="1" dirty="0">
                <a:solidFill>
                  <a:srgbClr val="FFFF00"/>
                </a:solidFill>
                <a:latin typeface="+mn-ea"/>
              </a:rPr>
              <a:t>小</a:t>
            </a:r>
            <a:r>
              <a:rPr lang="zh-CN" altLang="en-US" sz="2400" b="1" dirty="0" smtClean="0">
                <a:solidFill>
                  <a:srgbClr val="FFFF00"/>
                </a:solidFill>
                <a:latin typeface="+mn-ea"/>
              </a:rPr>
              <a:t>的</a:t>
            </a:r>
            <a:r>
              <a:rPr lang="zh-CN" altLang="en-US" sz="2400" b="1" dirty="0">
                <a:solidFill>
                  <a:srgbClr val="FFFF00"/>
                </a:solidFill>
                <a:latin typeface="+mn-ea"/>
              </a:rPr>
              <a:t>次序</a:t>
            </a:r>
            <a:r>
              <a:rPr lang="zh-CN" altLang="en-US" sz="2400" b="1" dirty="0">
                <a:solidFill>
                  <a:schemeClr val="bg1"/>
                </a:solidFill>
                <a:latin typeface="+mn-ea"/>
              </a:rPr>
              <a:t>组成</a:t>
            </a:r>
            <a:r>
              <a:rPr lang="zh-CN" altLang="en-US" sz="2400" b="1" dirty="0">
                <a:solidFill>
                  <a:srgbClr val="FFFF00"/>
                </a:solidFill>
                <a:latin typeface="+mn-ea"/>
              </a:rPr>
              <a:t>空闲区可用表或自由链</a:t>
            </a:r>
            <a:r>
              <a:rPr lang="zh-CN" altLang="en-US" sz="2400" b="1" dirty="0">
                <a:solidFill>
                  <a:schemeClr val="bg1"/>
                </a:solidFill>
                <a:latin typeface="+mn-ea"/>
              </a:rPr>
              <a:t>。当用户作业或进程申请一个空闲区时</a:t>
            </a:r>
            <a:r>
              <a:rPr lang="zh-CN" altLang="en-US" sz="2400" b="1" dirty="0" smtClean="0">
                <a:solidFill>
                  <a:schemeClr val="bg1"/>
                </a:solidFill>
                <a:latin typeface="+mn-ea"/>
              </a:rPr>
              <a:t>，先检查空闲区可用表或自由链的第一个空闲可用区的大小是否大于或等于所要求的内存长度，若不满足则分配失败，若满足</a:t>
            </a:r>
            <a:r>
              <a:rPr lang="zh-CN" altLang="en-US" sz="2400" b="1" dirty="0">
                <a:solidFill>
                  <a:schemeClr val="bg1"/>
                </a:solidFill>
                <a:latin typeface="+mn-ea"/>
              </a:rPr>
              <a:t>要求的空闲</a:t>
            </a:r>
            <a:r>
              <a:rPr lang="zh-CN" altLang="en-US" sz="2400" b="1" dirty="0" smtClean="0">
                <a:solidFill>
                  <a:schemeClr val="bg1"/>
                </a:solidFill>
                <a:latin typeface="+mn-ea"/>
              </a:rPr>
              <a:t>区，则减去</a:t>
            </a:r>
            <a:r>
              <a:rPr lang="zh-CN" altLang="en-US" sz="2400" b="1" dirty="0">
                <a:solidFill>
                  <a:schemeClr val="bg1"/>
                </a:solidFill>
                <a:latin typeface="+mn-ea"/>
              </a:rPr>
              <a:t>请求长度后的剩余空闲区部分留在可用表中。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几种分配算法的比较</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491630"/>
            <a:ext cx="6840760" cy="2677656"/>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搜索速度</a:t>
            </a:r>
            <a:r>
              <a:rPr lang="zh-CN" altLang="en-US" sz="2400" b="1" dirty="0">
                <a:solidFill>
                  <a:schemeClr val="bg1"/>
                </a:solidFill>
                <a:latin typeface="+mn-ea"/>
              </a:rPr>
              <a:t>：</a:t>
            </a:r>
            <a:r>
              <a:rPr lang="zh-CN" altLang="en-US" sz="2400" b="1" dirty="0">
                <a:solidFill>
                  <a:srgbClr val="FFFF00"/>
                </a:solidFill>
                <a:latin typeface="+mn-ea"/>
              </a:rPr>
              <a:t>最先适应算法最佳</a:t>
            </a:r>
            <a:r>
              <a:rPr lang="zh-CN" altLang="en-US" sz="2400" b="1" dirty="0">
                <a:solidFill>
                  <a:schemeClr val="bg1"/>
                </a:solidFill>
                <a:latin typeface="+mn-ea"/>
              </a:rPr>
              <a:t>。尽管最佳适应算法或最坏适应算法看上去能很快找到一个最适合的或最大的空闲区，但后两种算法都要求首先把不同大小的空闲区按其大小进行排队，这实际上是对所有空闲区进行一次搜索。</a:t>
            </a:r>
          </a:p>
        </p:txBody>
      </p:sp>
    </p:spTree>
    <p:extLst>
      <p:ext uri="{BB962C8B-B14F-4D97-AF65-F5344CB8AC3E}">
        <p14:creationId xmlns:p14="http://schemas.microsoft.com/office/powerpoint/2010/main" val="36535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几种分配算法的比较</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641648" y="1419622"/>
            <a:ext cx="7128792"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最先适应算法尽可能地利用低地址空间</a:t>
            </a:r>
            <a:r>
              <a:rPr lang="zh-CN" altLang="en-US" sz="2000" b="1" dirty="0">
                <a:solidFill>
                  <a:schemeClr val="bg1"/>
                </a:solidFill>
                <a:latin typeface="+mn-ea"/>
              </a:rPr>
              <a:t>，从而保证高地址有较大的空闲区来放置要求内存较多的进程或作业</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最佳适应法找到的空闲区最佳</a:t>
            </a:r>
            <a:r>
              <a:rPr lang="zh-CN" altLang="en-US" sz="2000" b="1" dirty="0">
                <a:solidFill>
                  <a:schemeClr val="bg1"/>
                </a:solidFill>
                <a:latin typeface="+mn-ea"/>
              </a:rPr>
              <a:t>，用最佳适应法找到的空闲区或者是正好等于用户请求的大小或者是能满足用户要求的最小空闲区。尽管最佳适应法能选出最适合用户要求的可用空闲区，但这样做在某些情况下并不一定能提高内存的利用率</a:t>
            </a:r>
            <a:r>
              <a:rPr lang="zh-CN" altLang="en-US" sz="2000" b="1" dirty="0" smtClean="0">
                <a:solidFill>
                  <a:schemeClr val="bg1"/>
                </a:solidFill>
                <a:latin typeface="+mn-ea"/>
              </a:rPr>
              <a:t>。</a:t>
            </a:r>
            <a:endParaRPr lang="en-US" altLang="zh-CN" sz="2000" b="1" dirty="0" smtClean="0">
              <a:solidFill>
                <a:schemeClr val="bg1"/>
              </a:solidFill>
              <a:latin typeface="+mn-ea"/>
            </a:endParaRPr>
          </a:p>
        </p:txBody>
      </p:sp>
    </p:spTree>
    <p:extLst>
      <p:ext uri="{BB962C8B-B14F-4D97-AF65-F5344CB8AC3E}">
        <p14:creationId xmlns:p14="http://schemas.microsoft.com/office/powerpoint/2010/main" val="424948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几种分配算法的比较</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563638"/>
            <a:ext cx="6942856"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最坏</a:t>
            </a:r>
            <a:r>
              <a:rPr lang="zh-CN" altLang="en-US" sz="2400" b="1" dirty="0">
                <a:solidFill>
                  <a:srgbClr val="FFFF00"/>
                </a:solidFill>
                <a:latin typeface="+mn-ea"/>
              </a:rPr>
              <a:t>适应算法正是基于不留下碎片空闲区这一出发点的</a:t>
            </a:r>
            <a:r>
              <a:rPr lang="zh-CN" altLang="en-US" sz="2400" b="1" dirty="0">
                <a:solidFill>
                  <a:schemeClr val="bg1"/>
                </a:solidFill>
                <a:latin typeface="+mn-ea"/>
              </a:rPr>
              <a:t>。它选择最大的空闲区来满足用户要求，以期分配后的剩余部分仍能进行再分配。</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extLst>
      <p:ext uri="{BB962C8B-B14F-4D97-AF65-F5344CB8AC3E}">
        <p14:creationId xmlns:p14="http://schemas.microsoft.com/office/powerpoint/2010/main" val="222852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动态分区时的回收与拼接</a:t>
            </a:r>
          </a:p>
        </p:txBody>
      </p:sp>
      <p:sp>
        <p:nvSpPr>
          <p:cNvPr id="4" name="矩形 3"/>
          <p:cNvSpPr/>
          <p:nvPr/>
        </p:nvSpPr>
        <p:spPr>
          <a:xfrm>
            <a:off x="827584" y="1491630"/>
            <a:ext cx="6768752"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也涉及</a:t>
            </a:r>
            <a:r>
              <a:rPr lang="zh-CN" altLang="en-US" sz="2400" b="1" dirty="0" smtClean="0">
                <a:solidFill>
                  <a:srgbClr val="FFFF00"/>
                </a:solidFill>
                <a:latin typeface="+mn-ea"/>
              </a:rPr>
              <a:t>剩余</a:t>
            </a:r>
            <a:r>
              <a:rPr lang="zh-CN" altLang="en-US" sz="2400" b="1" dirty="0">
                <a:solidFill>
                  <a:srgbClr val="FFFF00"/>
                </a:solidFill>
                <a:latin typeface="+mn-ea"/>
              </a:rPr>
              <a:t>空闲区拼接问题</a:t>
            </a:r>
            <a:r>
              <a:rPr lang="zh-CN" altLang="en-US" sz="2400" b="1" dirty="0">
                <a:solidFill>
                  <a:schemeClr val="bg1"/>
                </a:solidFill>
                <a:latin typeface="+mn-ea"/>
              </a:rPr>
              <a:t>。如果不对空闲区进行拼接，则由于每个作业或进程所要求的内存长度不一样而出现大量分散，较小的空闲区。这就造成大量的内存浪费</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动态分区时的回收与拼接</a:t>
            </a:r>
          </a:p>
        </p:txBody>
      </p:sp>
      <p:sp>
        <p:nvSpPr>
          <p:cNvPr id="4" name="矩形 3"/>
          <p:cNvSpPr/>
          <p:nvPr/>
        </p:nvSpPr>
        <p:spPr>
          <a:xfrm>
            <a:off x="971600" y="1563638"/>
            <a:ext cx="6624736"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解决</a:t>
            </a:r>
            <a:r>
              <a:rPr lang="zh-CN" altLang="en-US" sz="2400" b="1" dirty="0">
                <a:solidFill>
                  <a:schemeClr val="bg1"/>
                </a:solidFill>
                <a:latin typeface="+mn-ea"/>
              </a:rPr>
              <a:t>这个问题的办法之一就是在空闲区回收时或在内存分配时进行</a:t>
            </a:r>
            <a:r>
              <a:rPr lang="zh-CN" altLang="en-US" sz="2400" b="1" dirty="0">
                <a:solidFill>
                  <a:srgbClr val="FFFF00"/>
                </a:solidFill>
                <a:latin typeface="+mn-ea"/>
              </a:rPr>
              <a:t>空闲区拼接</a:t>
            </a:r>
            <a:r>
              <a:rPr lang="zh-CN" altLang="en-US" sz="2400" b="1" dirty="0">
                <a:solidFill>
                  <a:schemeClr val="bg1"/>
                </a:solidFill>
                <a:latin typeface="+mn-ea"/>
              </a:rPr>
              <a:t>，以把不连续的零散空闲区集中起来</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在将一个新可用区插入可用表或队列时，该空闲区和上下相邻区的关系是下述</a:t>
            </a:r>
            <a:r>
              <a:rPr lang="en-US" altLang="zh-CN" sz="2400" b="1" dirty="0">
                <a:solidFill>
                  <a:schemeClr val="bg1"/>
                </a:solidFill>
                <a:latin typeface="+mn-ea"/>
              </a:rPr>
              <a:t>4</a:t>
            </a:r>
            <a:r>
              <a:rPr lang="zh-CN" altLang="en-US" sz="2400" b="1" dirty="0">
                <a:solidFill>
                  <a:schemeClr val="bg1"/>
                </a:solidFill>
                <a:latin typeface="+mn-ea"/>
              </a:rPr>
              <a:t>种关系之一</a:t>
            </a:r>
            <a:endParaRPr lang="en-US" altLang="zh-CN" sz="2400" b="1" dirty="0">
              <a:solidFill>
                <a:schemeClr val="bg1"/>
              </a:solidFill>
              <a:latin typeface="+mn-ea"/>
            </a:endParaRPr>
          </a:p>
        </p:txBody>
      </p:sp>
      <p:pic>
        <p:nvPicPr>
          <p:cNvPr id="29" name="Picture 2" descr="E:\操作系统教材编写\张校长教材\新版\e1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003" y="1325011"/>
            <a:ext cx="845661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线形标注 1 1"/>
          <p:cNvSpPr/>
          <p:nvPr/>
        </p:nvSpPr>
        <p:spPr>
          <a:xfrm>
            <a:off x="3095297" y="99594"/>
            <a:ext cx="4140999" cy="2040108"/>
          </a:xfrm>
          <a:prstGeom prst="borderCallout1">
            <a:avLst/>
          </a:prstGeom>
          <a:ln w="38100"/>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2000" b="1" dirty="0"/>
              <a:t>将三个空闲区合并为一个空闲区。新空闲区的起始地址为上空闲区的起始地址，大小为三个空闲区之和。空闲区合并后，取消可用表或自由链中下空闲区的表目项或链指针，修改上空闲区的对应项。</a:t>
            </a:r>
          </a:p>
        </p:txBody>
      </p:sp>
      <p:sp>
        <p:nvSpPr>
          <p:cNvPr id="30" name="线形标注 1 29"/>
          <p:cNvSpPr/>
          <p:nvPr/>
        </p:nvSpPr>
        <p:spPr>
          <a:xfrm>
            <a:off x="4695311" y="357569"/>
            <a:ext cx="4269177" cy="1731070"/>
          </a:xfrm>
          <a:prstGeom prst="borderCallout1">
            <a:avLst/>
          </a:prstGeom>
          <a:ln w="38100"/>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2000" b="1" dirty="0" smtClean="0"/>
              <a:t>将</a:t>
            </a:r>
            <a:r>
              <a:rPr lang="zh-CN" altLang="en-US" sz="2000" b="1" dirty="0"/>
              <a:t>释放区与上空闲区合并为一个空闲区，其起始地址为上空闲区的起始地址，大小为上空闲区与释放区之和。合并后，修改上空闲区对应的可用表的表目项或自由链指针。</a:t>
            </a:r>
          </a:p>
        </p:txBody>
      </p:sp>
      <p:sp>
        <p:nvSpPr>
          <p:cNvPr id="31" name="线形标注 1 30"/>
          <p:cNvSpPr/>
          <p:nvPr/>
        </p:nvSpPr>
        <p:spPr>
          <a:xfrm>
            <a:off x="251520" y="294298"/>
            <a:ext cx="4083752" cy="2061427"/>
          </a:xfrm>
          <a:prstGeom prst="borderCallout1">
            <a:avLst>
              <a:gd name="adj1" fmla="val 31222"/>
              <a:gd name="adj2" fmla="val 103817"/>
              <a:gd name="adj3" fmla="val 95136"/>
              <a:gd name="adj4" fmla="val 124686"/>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smtClean="0"/>
              <a:t>将</a:t>
            </a:r>
            <a:r>
              <a:rPr lang="zh-CN" altLang="en-US" sz="2000" b="1" dirty="0"/>
              <a:t>释放区与下空闲区合并，并将释放区的起始地址作为合并区的起始地址。合并区的长度为释放区与下空闲区之和。同理，合并后修改可用表或自由链中相应的表目项或链指针。</a:t>
            </a:r>
          </a:p>
        </p:txBody>
      </p:sp>
      <p:sp>
        <p:nvSpPr>
          <p:cNvPr id="32" name="线形标注 1 31"/>
          <p:cNvSpPr/>
          <p:nvPr/>
        </p:nvSpPr>
        <p:spPr>
          <a:xfrm>
            <a:off x="2010972" y="1062443"/>
            <a:ext cx="3713156" cy="1224001"/>
          </a:xfrm>
          <a:prstGeom prst="borderCallout1">
            <a:avLst>
              <a:gd name="adj1" fmla="val 31222"/>
              <a:gd name="adj2" fmla="val 103817"/>
              <a:gd name="adj3" fmla="val 92056"/>
              <a:gd name="adj4" fmla="val 143967"/>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释放区作为一个新可用区插入可用表或自由链</a:t>
            </a:r>
            <a:r>
              <a:rPr lang="zh-CN" altLang="en-US" sz="2000" b="1" dirty="0" smtClean="0"/>
              <a:t>。同学可以</a:t>
            </a:r>
            <a:r>
              <a:rPr lang="zh-CN" altLang="en-US" sz="2000" b="1" dirty="0"/>
              <a:t>自行写出动态分区时的回收算法。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left)">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30"/>
                                        </p:tgtEl>
                                      </p:cBhvr>
                                    </p:animEffect>
                                    <p:set>
                                      <p:cBhvr>
                                        <p:cTn id="37" dur="1" fill="hold">
                                          <p:stCondLst>
                                            <p:cond delay="499"/>
                                          </p:stCondLst>
                                        </p:cTn>
                                        <p:tgtEl>
                                          <p:spTgt spid="3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right)">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1"/>
                                        </p:tgtEl>
                                      </p:cBhvr>
                                    </p:animEffect>
                                    <p:set>
                                      <p:cBhvr>
                                        <p:cTn id="47" dur="1" fill="hold">
                                          <p:stCondLst>
                                            <p:cond delay="499"/>
                                          </p:stCondLst>
                                        </p:cTn>
                                        <p:tgtEl>
                                          <p:spTgt spid="3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right)">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32"/>
                                        </p:tgtEl>
                                      </p:cBhvr>
                                    </p:animEffect>
                                    <p:set>
                                      <p:cBhvr>
                                        <p:cTn id="57"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0" grpId="0" animBg="1"/>
      <p:bldP spid="30" grpId="1" animBg="1"/>
      <p:bldP spid="31" grpId="0" animBg="1"/>
      <p:bldP spid="31" grpId="1" animBg="1"/>
      <p:bldP spid="32" grpId="0" animBg="1"/>
      <p:bldP spid="32"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几种分配算法的比较</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344876"/>
            <a:ext cx="6840760" cy="3353097"/>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回收过程</a:t>
            </a:r>
            <a:r>
              <a:rPr lang="zh-CN" altLang="en-US" sz="2400" b="1" dirty="0">
                <a:solidFill>
                  <a:schemeClr val="bg1"/>
                </a:solidFill>
                <a:latin typeface="+mn-ea"/>
              </a:rPr>
              <a:t>：</a:t>
            </a:r>
            <a:r>
              <a:rPr lang="zh-CN" altLang="en-US" sz="2400" b="1" dirty="0">
                <a:solidFill>
                  <a:srgbClr val="FFFF00"/>
                </a:solidFill>
                <a:latin typeface="+mn-ea"/>
              </a:rPr>
              <a:t>最先适应算法最佳</a:t>
            </a:r>
            <a:r>
              <a:rPr lang="zh-CN" altLang="en-US" sz="2400" b="1" dirty="0">
                <a:solidFill>
                  <a:schemeClr val="bg1"/>
                </a:solidFill>
                <a:latin typeface="+mn-ea"/>
              </a:rPr>
              <a:t>。因为使用最先适应算法回收某一空闲区时，无论被释放区是否与空闲区相邻，都不用改变该区在可用表或自由链中的位置，只需修改其大小或起始地址。而最佳适应算法和最坏适应算法都必须重新调整该区的位置。</a:t>
            </a:r>
          </a:p>
        </p:txBody>
      </p:sp>
    </p:spTree>
    <p:extLst>
      <p:ext uri="{BB962C8B-B14F-4D97-AF65-F5344CB8AC3E}">
        <p14:creationId xmlns:p14="http://schemas.microsoft.com/office/powerpoint/2010/main" val="209549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分区管理的主要优点</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1866628" y="1344876"/>
            <a:ext cx="5801716"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实现了多个作业或进程对内存的共享，有助于多道程序设计，从而提高了系统的资源利用率。</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该方法要求的硬件支持少，管理算法简单，因而实现容易</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29" name="图片 28"/>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a:off x="825724" y="1801358"/>
            <a:ext cx="1040904" cy="11011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分区管理的主要缺点</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1835696" y="1267445"/>
            <a:ext cx="5832648" cy="378565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内存利用率仍然不高</a:t>
            </a:r>
            <a:r>
              <a:rPr lang="zh-CN" altLang="en-US" sz="2000" b="1" dirty="0">
                <a:solidFill>
                  <a:schemeClr val="bg1"/>
                </a:solidFill>
                <a:latin typeface="+mn-ea"/>
              </a:rPr>
              <a:t>。和单一连续分配算法一样，存储器中可能含有从未用过的信息。而且，还存在着严重的碎小空闲区</a:t>
            </a:r>
            <a:r>
              <a:rPr lang="en-US" altLang="zh-CN" sz="2000" b="1" dirty="0">
                <a:solidFill>
                  <a:schemeClr val="bg1"/>
                </a:solidFill>
                <a:latin typeface="+mn-ea"/>
              </a:rPr>
              <a:t>(</a:t>
            </a:r>
            <a:r>
              <a:rPr lang="zh-CN" altLang="en-US" sz="2000" b="1" dirty="0">
                <a:solidFill>
                  <a:schemeClr val="bg1"/>
                </a:solidFill>
                <a:latin typeface="+mn-ea"/>
              </a:rPr>
              <a:t>碎片</a:t>
            </a:r>
            <a:r>
              <a:rPr lang="en-US" altLang="zh-CN" sz="2000" b="1" dirty="0">
                <a:solidFill>
                  <a:schemeClr val="bg1"/>
                </a:solidFill>
                <a:latin typeface="+mn-ea"/>
              </a:rPr>
              <a:t>)</a:t>
            </a:r>
            <a:r>
              <a:rPr lang="zh-CN" altLang="en-US" sz="2000" b="1" dirty="0">
                <a:solidFill>
                  <a:schemeClr val="bg1"/>
                </a:solidFill>
                <a:latin typeface="+mn-ea"/>
              </a:rPr>
              <a:t>不能利用的问题，这更进一步影响了内存的利用率。</a:t>
            </a: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rgbClr val="FFFF00"/>
                </a:solidFill>
                <a:latin typeface="+mn-ea"/>
              </a:rPr>
              <a:t>无法</a:t>
            </a:r>
            <a:r>
              <a:rPr lang="zh-CN" altLang="en-US" sz="2000" b="1" dirty="0">
                <a:solidFill>
                  <a:srgbClr val="FFFF00"/>
                </a:solidFill>
                <a:latin typeface="+mn-ea"/>
              </a:rPr>
              <a:t>实现各分区间的信息共享</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rgbClr val="FFFF00"/>
                </a:solidFill>
                <a:latin typeface="+mn-ea"/>
              </a:rPr>
              <a:t>作业</a:t>
            </a:r>
            <a:r>
              <a:rPr lang="zh-CN" altLang="en-US" sz="2000" b="1" dirty="0">
                <a:solidFill>
                  <a:srgbClr val="FFFF00"/>
                </a:solidFill>
                <a:latin typeface="+mn-ea"/>
              </a:rPr>
              <a:t>或进程的大小受分区大小控制</a:t>
            </a:r>
            <a:r>
              <a:rPr lang="zh-CN" altLang="en-US" sz="2000" b="1" dirty="0">
                <a:solidFill>
                  <a:schemeClr val="bg1"/>
                </a:solidFill>
                <a:latin typeface="+mn-ea"/>
              </a:rPr>
              <a:t>，除非配合采用覆盖和交换技术。</a:t>
            </a:r>
          </a:p>
          <a:p>
            <a:pPr marL="0" lvl="1" algn="just">
              <a:lnSpc>
                <a:spcPct val="150000"/>
              </a:lnSpc>
              <a:buClr>
                <a:schemeClr val="accent6">
                  <a:lumMod val="60000"/>
                  <a:lumOff val="40000"/>
                </a:schemeClr>
              </a:buClr>
              <a:buFont typeface="Wingdings" panose="05000000000000000000" pitchFamily="2" charset="2"/>
              <a:buChar char="Ø"/>
            </a:pPr>
            <a:endParaRPr lang="en-US" altLang="zh-CN" sz="2000" b="1" dirty="0">
              <a:solidFill>
                <a:schemeClr val="bg1"/>
              </a:solidFill>
              <a:latin typeface="+mn-ea"/>
            </a:endParaRPr>
          </a:p>
        </p:txBody>
      </p:sp>
      <p:pic>
        <p:nvPicPr>
          <p:cNvPr id="30" name="图片 29"/>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750310" y="2253551"/>
            <a:ext cx="1040904" cy="11011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ea typeface="宋体" panose="02010600030101010101" pitchFamily="2" charset="-122"/>
                </a:rPr>
                <a:t>存储管理</a:t>
              </a:r>
              <a:r>
                <a:rPr lang="zh-CN" altLang="en-US" b="1" dirty="0" smtClean="0">
                  <a:solidFill>
                    <a:srgbClr val="000000"/>
                  </a:solidFill>
                  <a:ea typeface="宋体" panose="02010600030101010101" pitchFamily="2" charset="-122"/>
                </a:rPr>
                <a:t>的功能</a:t>
              </a:r>
              <a:endParaRPr lang="zh-CN" altLang="en-US"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338" cy="232"/>
            </a:xfrm>
            <a:prstGeom prst="rect">
              <a:avLst/>
            </a:prstGeom>
            <a:noFill/>
            <a:ln w="9525" algn="ctr">
              <a:noFill/>
              <a:miter lim="800000"/>
            </a:ln>
            <a:effectLst/>
          </p:spPr>
          <p:txBody>
            <a:bodyPr wrap="square">
              <a:spAutoFit/>
            </a:bodyPr>
            <a:lstStyle/>
            <a:p>
              <a:pPr algn="ctr" eaLnBrk="0" hangingPunct="0"/>
              <a:r>
                <a:rPr lang="en-US" altLang="zh-CN" b="1" dirty="0">
                  <a:solidFill>
                    <a:srgbClr val="000000"/>
                  </a:solidFill>
                </a:rPr>
                <a:t>   </a:t>
              </a:r>
              <a:r>
                <a:rPr lang="zh-CN" altLang="en-US" b="1" dirty="0" smtClean="0">
                  <a:solidFill>
                    <a:srgbClr val="000000"/>
                  </a:solidFill>
                </a:rPr>
                <a:t>分区存储管理</a:t>
              </a:r>
              <a:endParaRPr lang="zh-CN" altLang="en-US"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79895" y="3911938"/>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覆盖与交换技术</a:t>
              </a:r>
              <a:endParaRPr lang="zh-CN" altLang="en-US" b="1" dirty="0">
                <a:solidFill>
                  <a:srgbClr val="000000"/>
                </a:solidFill>
              </a:endParaRPr>
            </a:p>
          </p:txBody>
        </p:sp>
        <p:sp>
          <p:nvSpPr>
            <p:cNvPr id="26" name="Text Box 60"/>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grpSp>
        <p:nvGrpSpPr>
          <p:cNvPr id="27" name="Group 61"/>
          <p:cNvGrpSpPr/>
          <p:nvPr/>
        </p:nvGrpSpPr>
        <p:grpSpPr bwMode="auto">
          <a:xfrm>
            <a:off x="2243648" y="225741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页式管理</a:t>
              </a:r>
              <a:endParaRPr lang="zh-CN" altLang="en-US" b="1" dirty="0">
                <a:solidFill>
                  <a:srgbClr val="000000"/>
                </a:solidFill>
              </a:endParaRPr>
            </a:p>
          </p:txBody>
        </p:sp>
        <p:sp>
          <p:nvSpPr>
            <p:cNvPr id="31" name="Text Box 65"/>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3</a:t>
              </a:r>
              <a:endParaRPr lang="en-US" altLang="zh-CN" sz="2400" dirty="0">
                <a:solidFill>
                  <a:schemeClr val="bg1"/>
                </a:solidFill>
                <a:ea typeface="宋体" panose="02010600030101010101" pitchFamily="2" charset="-122"/>
              </a:endParaRPr>
            </a:p>
          </p:txBody>
        </p:sp>
      </p:grpSp>
      <p:grpSp>
        <p:nvGrpSpPr>
          <p:cNvPr id="32" name="Group 51"/>
          <p:cNvGrpSpPr/>
          <p:nvPr/>
        </p:nvGrpSpPr>
        <p:grpSpPr bwMode="auto">
          <a:xfrm>
            <a:off x="2249988" y="3100216"/>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776" y="1934"/>
              <a:ext cx="2386"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ea typeface="宋体" panose="02010600030101010101" pitchFamily="2" charset="-122"/>
                </a:rPr>
                <a:t>段式与段页式管理</a:t>
              </a:r>
              <a:endParaRPr lang="zh-CN" altLang="en-US"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4</a:t>
              </a:r>
              <a:endParaRPr lang="en-US" altLang="zh-CN" sz="2400" dirty="0">
                <a:solidFill>
                  <a:schemeClr val="bg1"/>
                </a:solidFill>
                <a:ea typeface="宋体" panose="02010600030101010101" pitchFamily="2" charset="-122"/>
              </a:endParaRPr>
            </a:p>
          </p:txBody>
        </p:sp>
      </p:grpSp>
    </p:spTree>
    <p:extLst>
      <p:ext uri="{BB962C8B-B14F-4D97-AF65-F5344CB8AC3E}">
        <p14:creationId xmlns:p14="http://schemas.microsoft.com/office/powerpoint/2010/main" val="915100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7"/>
                                        </p:tgtEl>
                                      </p:cBhvr>
                                      <p:by x="150000" y="150000"/>
                                    </p:animScale>
                                  </p:childTnLst>
                                </p:cTn>
                              </p:par>
                              <p:par>
                                <p:cTn id="7" presetID="42" presetClass="path" presetSubtype="0" accel="50000" decel="50000" fill="hold" nodeType="withEffect">
                                  <p:stCondLst>
                                    <p:cond delay="0"/>
                                  </p:stCondLst>
                                  <p:childTnLst>
                                    <p:animMotion origin="layout" path="M 4.16667E-6 4.44444E-6 L -1.47451E-17 -7.40741E-7 " pathEditMode="relative" rAng="0" ptsTypes="AA">
                                      <p:cBhvr>
                                        <p:cTn id="8" dur="2000" fill="hold"/>
                                        <p:tgtEl>
                                          <p:spTgt spid="27"/>
                                        </p:tgtEl>
                                        <p:attrNameLst>
                                          <p:attrName>ppt_x</p:attrName>
                                          <p:attrName>ppt_y</p:attrName>
                                        </p:attrNameLst>
                                      </p:cBhvr>
                                      <p:rCtr x="-191" y="-3241"/>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32"/>
                                        </p:tgtEl>
                                      </p:cBhvr>
                                    </p:animEffect>
                                    <p:set>
                                      <p:cBhvr>
                                        <p:cTn id="14" dur="1" fill="hold">
                                          <p:stCondLst>
                                            <p:cond delay="1999"/>
                                          </p:stCondLst>
                                        </p:cTn>
                                        <p:tgtEl>
                                          <p:spTgt spid="32"/>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359114"/>
            <a:ext cx="6984776" cy="3416320"/>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分区管理存在缺陷</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页式管理正是为了</a:t>
            </a:r>
            <a:r>
              <a:rPr lang="zh-CN" altLang="en-US" sz="2400" b="1" dirty="0">
                <a:solidFill>
                  <a:srgbClr val="FFFF00"/>
                </a:solidFill>
                <a:latin typeface="+mn-ea"/>
              </a:rPr>
              <a:t>减少碎片</a:t>
            </a:r>
            <a:r>
              <a:rPr lang="zh-CN" altLang="en-US" sz="2400" b="1" dirty="0">
                <a:solidFill>
                  <a:schemeClr val="bg1"/>
                </a:solidFill>
                <a:latin typeface="+mn-ea"/>
              </a:rPr>
              <a:t>以及为了</a:t>
            </a:r>
            <a:r>
              <a:rPr lang="zh-CN" altLang="en-US" sz="2400" b="1" dirty="0">
                <a:solidFill>
                  <a:srgbClr val="FFFF00"/>
                </a:solidFill>
                <a:latin typeface="+mn-ea"/>
              </a:rPr>
              <a:t>只在内存存放那些反复执行或即将执行的程序段</a:t>
            </a:r>
            <a:r>
              <a:rPr lang="zh-CN" altLang="en-US" sz="2400" b="1" dirty="0">
                <a:solidFill>
                  <a:schemeClr val="bg1"/>
                </a:solidFill>
                <a:latin typeface="+mn-ea"/>
              </a:rPr>
              <a:t>与数据部分，而把那些不经常执行的程序段和数据存放于外存待执行时调入，以提高</a:t>
            </a:r>
            <a:r>
              <a:rPr lang="zh-CN" altLang="en-US" sz="2400" b="1" dirty="0">
                <a:solidFill>
                  <a:srgbClr val="FFFF00"/>
                </a:solidFill>
                <a:latin typeface="+mn-ea"/>
              </a:rPr>
              <a:t>内存利用率</a:t>
            </a:r>
            <a:r>
              <a:rPr lang="zh-CN" altLang="en-US" sz="2400" b="1" dirty="0">
                <a:solidFill>
                  <a:schemeClr val="bg1"/>
                </a:solidFill>
                <a:latin typeface="+mn-ea"/>
              </a:rPr>
              <a:t>而提出来的。</a:t>
            </a:r>
            <a:endParaRPr lang="en-US" altLang="zh-CN" sz="2400" b="1" dirty="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endParaRPr lang="en-US" altLang="zh-CN" sz="2400" b="1" dirty="0">
              <a:solidFill>
                <a:schemeClr val="bg1"/>
              </a:solidFill>
              <a:latin typeface="+mn-ea"/>
            </a:endParaRPr>
          </a:p>
        </p:txBody>
      </p:sp>
    </p:spTree>
    <p:extLst>
      <p:ext uri="{BB962C8B-B14F-4D97-AF65-F5344CB8AC3E}">
        <p14:creationId xmlns:p14="http://schemas.microsoft.com/office/powerpoint/2010/main" val="9119692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915414"/>
            <a:ext cx="3384376" cy="94352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各进程的虚拟空间被划分成若干个长度相等的</a:t>
            </a:r>
            <a:r>
              <a:rPr lang="zh-CN" altLang="en-US" sz="2000" b="1" dirty="0">
                <a:solidFill>
                  <a:srgbClr val="FFFF00"/>
                </a:solidFill>
                <a:latin typeface="+mn-ea"/>
              </a:rPr>
              <a:t>页</a:t>
            </a:r>
            <a:r>
              <a:rPr lang="en-US" altLang="zh-CN" sz="2000" b="1" dirty="0">
                <a:solidFill>
                  <a:srgbClr val="FFFF00"/>
                </a:solidFill>
                <a:latin typeface="+mn-ea"/>
              </a:rPr>
              <a:t>(page</a:t>
            </a:r>
            <a:r>
              <a:rPr lang="en-US" altLang="zh-CN" sz="2000" b="1" dirty="0" smtClean="0">
                <a:solidFill>
                  <a:srgbClr val="FFFF00"/>
                </a:solidFill>
                <a:latin typeface="+mn-ea"/>
              </a:rPr>
              <a:t>)</a:t>
            </a:r>
            <a:endParaRPr lang="en-US" altLang="zh-CN" sz="2000" b="1" dirty="0">
              <a:solidFill>
                <a:srgbClr val="FFFF00"/>
              </a:solidFill>
              <a:latin typeface="+mn-ea"/>
            </a:endParaRPr>
          </a:p>
        </p:txBody>
      </p:sp>
      <p:graphicFrame>
        <p:nvGraphicFramePr>
          <p:cNvPr id="2" name="表格 1"/>
          <p:cNvGraphicFramePr>
            <a:graphicFrameLocks noGrp="1"/>
          </p:cNvGraphicFramePr>
          <p:nvPr/>
        </p:nvGraphicFramePr>
        <p:xfrm>
          <a:off x="1944246" y="2070813"/>
          <a:ext cx="1331610" cy="1981200"/>
        </p:xfrm>
        <a:graphic>
          <a:graphicData uri="http://schemas.openxmlformats.org/drawingml/2006/table">
            <a:tbl>
              <a:tblPr firstRow="1" bandRow="1">
                <a:tableStyleId>{35758FB7-9AC5-4552-8A53-C91805E547FA}</a:tableStyleId>
              </a:tblPr>
              <a:tblGrid>
                <a:gridCol w="1331610">
                  <a:extLst>
                    <a:ext uri="{9D8B030D-6E8A-4147-A177-3AD203B41FA5}">
                      <a16:colId xmlns:a16="http://schemas.microsoft.com/office/drawing/2014/main" val="20000"/>
                    </a:ext>
                  </a:extLst>
                </a:gridCol>
              </a:tblGrid>
              <a:tr h="377597">
                <a:tc>
                  <a:txBody>
                    <a:bodyPr/>
                    <a:lstStyle/>
                    <a:p>
                      <a:pPr algn="ctr"/>
                      <a:r>
                        <a:rPr lang="en-US" altLang="zh-CN" sz="2000" b="1" dirty="0" smtClean="0">
                          <a:solidFill>
                            <a:schemeClr val="bg1"/>
                          </a:solidFill>
                        </a:rPr>
                        <a:t>0</a:t>
                      </a:r>
                      <a:endParaRPr lang="zh-CN" altLang="en-US" sz="2000" b="1" dirty="0">
                        <a:solidFill>
                          <a:schemeClr val="bg1"/>
                        </a:solidFill>
                      </a:endParaRPr>
                    </a:p>
                  </a:txBody>
                  <a:tcPr/>
                </a:tc>
                <a:extLst>
                  <a:ext uri="{0D108BD9-81ED-4DB2-BD59-A6C34878D82A}">
                    <a16:rowId xmlns:a16="http://schemas.microsoft.com/office/drawing/2014/main" val="10000"/>
                  </a:ext>
                </a:extLst>
              </a:tr>
              <a:tr h="377597">
                <a:tc>
                  <a:txBody>
                    <a:bodyPr/>
                    <a:lstStyle/>
                    <a:p>
                      <a:pPr algn="ctr"/>
                      <a:r>
                        <a:rPr lang="en-US" altLang="zh-CN" sz="2000" b="1" dirty="0" smtClean="0">
                          <a:solidFill>
                            <a:schemeClr val="tx1"/>
                          </a:solidFill>
                        </a:rPr>
                        <a:t>1</a:t>
                      </a:r>
                      <a:endParaRPr lang="zh-CN" altLang="en-US" sz="2000" b="1" dirty="0">
                        <a:solidFill>
                          <a:schemeClr val="tx1"/>
                        </a:solidFill>
                      </a:endParaRPr>
                    </a:p>
                  </a:txBody>
                  <a:tcPr/>
                </a:tc>
                <a:extLst>
                  <a:ext uri="{0D108BD9-81ED-4DB2-BD59-A6C34878D82A}">
                    <a16:rowId xmlns:a16="http://schemas.microsoft.com/office/drawing/2014/main" val="10001"/>
                  </a:ext>
                </a:extLst>
              </a:tr>
              <a:tr h="377597">
                <a:tc>
                  <a:txBody>
                    <a:bodyPr/>
                    <a:lstStyle/>
                    <a:p>
                      <a:pPr algn="ctr"/>
                      <a:r>
                        <a:rPr lang="en-US" altLang="zh-CN" sz="2000" b="1" dirty="0" smtClean="0">
                          <a:solidFill>
                            <a:schemeClr val="tx1"/>
                          </a:solidFill>
                        </a:rPr>
                        <a:t>2</a:t>
                      </a:r>
                      <a:endParaRPr lang="zh-CN" altLang="en-US" sz="2000" b="1" dirty="0">
                        <a:solidFill>
                          <a:schemeClr val="tx1"/>
                        </a:solidFill>
                      </a:endParaRPr>
                    </a:p>
                  </a:txBody>
                  <a:tcPr/>
                </a:tc>
                <a:extLst>
                  <a:ext uri="{0D108BD9-81ED-4DB2-BD59-A6C34878D82A}">
                    <a16:rowId xmlns:a16="http://schemas.microsoft.com/office/drawing/2014/main" val="10002"/>
                  </a:ext>
                </a:extLst>
              </a:tr>
              <a:tr h="377597">
                <a:tc>
                  <a:txBody>
                    <a:bodyPr/>
                    <a:lstStyle/>
                    <a:p>
                      <a:pPr algn="ctr"/>
                      <a:r>
                        <a:rPr lang="en-US" altLang="zh-CN" sz="2000" b="1" dirty="0" smtClean="0">
                          <a:solidFill>
                            <a:schemeClr val="tx1"/>
                          </a:solidFill>
                        </a:rPr>
                        <a:t>…</a:t>
                      </a:r>
                      <a:endParaRPr lang="zh-CN" altLang="en-US" sz="2000" b="1" dirty="0">
                        <a:solidFill>
                          <a:schemeClr val="tx1"/>
                        </a:solidFill>
                      </a:endParaRPr>
                    </a:p>
                  </a:txBody>
                  <a:tcPr/>
                </a:tc>
                <a:extLst>
                  <a:ext uri="{0D108BD9-81ED-4DB2-BD59-A6C34878D82A}">
                    <a16:rowId xmlns:a16="http://schemas.microsoft.com/office/drawing/2014/main" val="10003"/>
                  </a:ext>
                </a:extLst>
              </a:tr>
              <a:tr h="377597">
                <a:tc>
                  <a:txBody>
                    <a:bodyPr/>
                    <a:lstStyle/>
                    <a:p>
                      <a:pPr algn="ctr"/>
                      <a:r>
                        <a:rPr lang="en-US" altLang="zh-CN" sz="2000" b="1" dirty="0" smtClean="0">
                          <a:solidFill>
                            <a:schemeClr val="tx1"/>
                          </a:solidFill>
                        </a:rPr>
                        <a:t>n</a:t>
                      </a:r>
                      <a:endParaRPr lang="zh-CN" altLang="en-US" sz="2000" b="1" dirty="0">
                        <a:solidFill>
                          <a:schemeClr val="tx1"/>
                        </a:solidFill>
                      </a:endParaRPr>
                    </a:p>
                  </a:txBody>
                  <a:tcPr/>
                </a:tc>
                <a:extLst>
                  <a:ext uri="{0D108BD9-81ED-4DB2-BD59-A6C34878D82A}">
                    <a16:rowId xmlns:a16="http://schemas.microsoft.com/office/drawing/2014/main" val="10004"/>
                  </a:ext>
                </a:extLst>
              </a:tr>
            </a:tbl>
          </a:graphicData>
        </a:graphic>
      </p:graphicFrame>
      <p:grpSp>
        <p:nvGrpSpPr>
          <p:cNvPr id="6" name="组合 5"/>
          <p:cNvGrpSpPr/>
          <p:nvPr/>
        </p:nvGrpSpPr>
        <p:grpSpPr>
          <a:xfrm>
            <a:off x="1232774" y="2006024"/>
            <a:ext cx="702415" cy="1200329"/>
            <a:chOff x="836192" y="2594991"/>
            <a:chExt cx="702415" cy="1200329"/>
          </a:xfrm>
        </p:grpSpPr>
        <p:sp>
          <p:nvSpPr>
            <p:cNvPr id="3" name="左大括号 2"/>
            <p:cNvSpPr/>
            <p:nvPr/>
          </p:nvSpPr>
          <p:spPr>
            <a:xfrm>
              <a:off x="1349305" y="2669740"/>
              <a:ext cx="189302" cy="334058"/>
            </a:xfrm>
            <a:prstGeom prst="leftBrace">
              <a:avLst/>
            </a:prstGeom>
            <a:no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836192" y="2594991"/>
              <a:ext cx="504056" cy="1200329"/>
            </a:xfrm>
            <a:prstGeom prst="rect">
              <a:avLst/>
            </a:prstGeom>
            <a:noFill/>
          </p:spPr>
          <p:txBody>
            <a:bodyPr wrap="square" rtlCol="0">
              <a:spAutoFit/>
            </a:bodyPr>
            <a:lstStyle/>
            <a:p>
              <a:pPr algn="ctr"/>
              <a:r>
                <a:rPr lang="en-US" altLang="zh-CN" sz="2400" b="1" dirty="0" smtClean="0">
                  <a:solidFill>
                    <a:schemeClr val="bg1"/>
                  </a:solidFill>
                </a:rPr>
                <a:t>1k</a:t>
              </a:r>
            </a:p>
            <a:p>
              <a:pPr algn="ctr"/>
              <a:r>
                <a:rPr lang="en-US" altLang="zh-CN" sz="2400" b="1" dirty="0" smtClean="0">
                  <a:solidFill>
                    <a:schemeClr val="bg1"/>
                  </a:solidFill>
                </a:rPr>
                <a:t>…4k</a:t>
              </a:r>
              <a:endParaRPr lang="zh-CN" altLang="en-US" sz="2400" b="1" dirty="0">
                <a:solidFill>
                  <a:schemeClr val="bg1"/>
                </a:solidFill>
              </a:endParaRPr>
            </a:p>
          </p:txBody>
        </p:sp>
      </p:grpSp>
      <p:sp>
        <p:nvSpPr>
          <p:cNvPr id="29" name="矩形 28"/>
          <p:cNvSpPr/>
          <p:nvPr/>
        </p:nvSpPr>
        <p:spPr>
          <a:xfrm>
            <a:off x="611560" y="3961968"/>
            <a:ext cx="4104456" cy="55399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进程的虚地址</a:t>
            </a:r>
            <a:r>
              <a:rPr lang="en-US" altLang="zh-CN" sz="2000" b="1" dirty="0" smtClean="0">
                <a:solidFill>
                  <a:schemeClr val="bg1"/>
                </a:solidFill>
                <a:latin typeface="+mn-ea"/>
              </a:rPr>
              <a:t>=</a:t>
            </a:r>
            <a:r>
              <a:rPr lang="zh-CN" altLang="en-US" sz="2000" b="1" dirty="0" smtClean="0">
                <a:solidFill>
                  <a:schemeClr val="bg1"/>
                </a:solidFill>
                <a:latin typeface="+mn-ea"/>
              </a:rPr>
              <a:t>页号</a:t>
            </a:r>
            <a:r>
              <a:rPr lang="en-US" altLang="zh-CN" sz="2000" b="1" dirty="0" smtClean="0">
                <a:solidFill>
                  <a:schemeClr val="bg1"/>
                </a:solidFill>
                <a:latin typeface="+mn-ea"/>
              </a:rPr>
              <a:t>P+</a:t>
            </a:r>
            <a:r>
              <a:rPr lang="zh-CN" altLang="en-US" sz="2000" b="1" dirty="0" smtClean="0">
                <a:solidFill>
                  <a:schemeClr val="bg1"/>
                </a:solidFill>
                <a:latin typeface="+mn-ea"/>
              </a:rPr>
              <a:t>页内地址</a:t>
            </a:r>
            <a:r>
              <a:rPr lang="en-US" altLang="zh-CN" sz="2000" b="1" dirty="0" smtClean="0">
                <a:solidFill>
                  <a:schemeClr val="bg1"/>
                </a:solidFill>
                <a:latin typeface="+mn-ea"/>
              </a:rPr>
              <a:t>W</a:t>
            </a:r>
            <a:endParaRPr lang="en-US" altLang="zh-CN" sz="2000" b="1" dirty="0">
              <a:solidFill>
                <a:schemeClr val="bg1"/>
              </a:solidFill>
              <a:latin typeface="+mn-ea"/>
            </a:endParaRPr>
          </a:p>
        </p:txBody>
      </p:sp>
      <p:sp>
        <p:nvSpPr>
          <p:cNvPr id="30" name="矩形 29"/>
          <p:cNvSpPr/>
          <p:nvPr/>
        </p:nvSpPr>
        <p:spPr>
          <a:xfrm>
            <a:off x="4608542" y="1290567"/>
            <a:ext cx="3131810" cy="147732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把内存空间也按页的大小划分为</a:t>
            </a:r>
            <a:r>
              <a:rPr lang="zh-CN" altLang="en-US" sz="2000" b="1" dirty="0">
                <a:solidFill>
                  <a:srgbClr val="FFFF00"/>
                </a:solidFill>
                <a:latin typeface="+mn-ea"/>
              </a:rPr>
              <a:t>片</a:t>
            </a:r>
            <a:r>
              <a:rPr lang="zh-CN" altLang="en-US" sz="2000" b="1" dirty="0">
                <a:solidFill>
                  <a:schemeClr val="bg1"/>
                </a:solidFill>
                <a:latin typeface="+mn-ea"/>
              </a:rPr>
              <a:t>或</a:t>
            </a:r>
            <a:r>
              <a:rPr lang="zh-CN" altLang="en-US" sz="2000" b="1" dirty="0">
                <a:solidFill>
                  <a:srgbClr val="FFFF00"/>
                </a:solidFill>
                <a:latin typeface="+mn-ea"/>
              </a:rPr>
              <a:t>页面</a:t>
            </a:r>
            <a:r>
              <a:rPr lang="en-US" altLang="zh-CN" sz="2000" b="1" dirty="0">
                <a:solidFill>
                  <a:srgbClr val="FFFF00"/>
                </a:solidFill>
                <a:latin typeface="+mn-ea"/>
              </a:rPr>
              <a:t>(page frame)</a:t>
            </a:r>
          </a:p>
        </p:txBody>
      </p:sp>
      <p:graphicFrame>
        <p:nvGraphicFramePr>
          <p:cNvPr id="8" name="表格 7"/>
          <p:cNvGraphicFramePr>
            <a:graphicFrameLocks noGrp="1"/>
          </p:cNvGraphicFramePr>
          <p:nvPr/>
        </p:nvGraphicFramePr>
        <p:xfrm>
          <a:off x="4655812" y="2855585"/>
          <a:ext cx="3084540" cy="1463104"/>
        </p:xfrm>
        <a:graphic>
          <a:graphicData uri="http://schemas.openxmlformats.org/drawingml/2006/table">
            <a:tbl>
              <a:tblPr firstRow="1" bandRow="1">
                <a:tableStyleId>{69C7853C-536D-4A76-A0AE-DD22124D55A5}</a:tableStyleId>
              </a:tblPr>
              <a:tblGrid>
                <a:gridCol w="616908">
                  <a:extLst>
                    <a:ext uri="{9D8B030D-6E8A-4147-A177-3AD203B41FA5}">
                      <a16:colId xmlns:a16="http://schemas.microsoft.com/office/drawing/2014/main" val="20000"/>
                    </a:ext>
                  </a:extLst>
                </a:gridCol>
                <a:gridCol w="616908">
                  <a:extLst>
                    <a:ext uri="{9D8B030D-6E8A-4147-A177-3AD203B41FA5}">
                      <a16:colId xmlns:a16="http://schemas.microsoft.com/office/drawing/2014/main" val="20001"/>
                    </a:ext>
                  </a:extLst>
                </a:gridCol>
                <a:gridCol w="616908">
                  <a:extLst>
                    <a:ext uri="{9D8B030D-6E8A-4147-A177-3AD203B41FA5}">
                      <a16:colId xmlns:a16="http://schemas.microsoft.com/office/drawing/2014/main" val="20002"/>
                    </a:ext>
                  </a:extLst>
                </a:gridCol>
                <a:gridCol w="616908">
                  <a:extLst>
                    <a:ext uri="{9D8B030D-6E8A-4147-A177-3AD203B41FA5}">
                      <a16:colId xmlns:a16="http://schemas.microsoft.com/office/drawing/2014/main" val="20003"/>
                    </a:ext>
                  </a:extLst>
                </a:gridCol>
                <a:gridCol w="616908">
                  <a:extLst>
                    <a:ext uri="{9D8B030D-6E8A-4147-A177-3AD203B41FA5}">
                      <a16:colId xmlns:a16="http://schemas.microsoft.com/office/drawing/2014/main" val="20004"/>
                    </a:ext>
                  </a:extLst>
                </a:gridCol>
              </a:tblGrid>
              <a:tr h="365776">
                <a:tc>
                  <a:txBody>
                    <a:bodyPr/>
                    <a:lstStyle/>
                    <a:p>
                      <a:endParaRPr lang="zh-CN" altLang="en-US" dirty="0"/>
                    </a:p>
                  </a:txBody>
                  <a:tcPr>
                    <a:lnR w="12700" cap="flat" cmpd="sng" algn="ctr">
                      <a:solidFill>
                        <a:srgbClr val="00B050"/>
                      </a:solidFill>
                      <a:prstDash val="solid"/>
                      <a:round/>
                      <a:headEnd type="none" w="med" len="med"/>
                      <a:tailEnd type="none" w="med" len="med"/>
                    </a:lnR>
                  </a:tcPr>
                </a:tc>
                <a:tc>
                  <a:txBody>
                    <a:bodyPr/>
                    <a:lstStyle/>
                    <a:p>
                      <a:endParaRPr lang="zh-CN" altLang="en-US" dirty="0"/>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tcPr>
                </a:tc>
                <a:tc>
                  <a:txBody>
                    <a:bodyPr/>
                    <a:lstStyle/>
                    <a:p>
                      <a:endParaRPr lang="zh-CN" altLang="en-US" dirty="0"/>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tcPr>
                </a:tc>
                <a:tc>
                  <a:txBody>
                    <a:bodyPr/>
                    <a:lstStyle/>
                    <a:p>
                      <a:endParaRPr lang="zh-CN" altLang="en-US" dirty="0"/>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tcPr>
                </a:tc>
                <a:tc>
                  <a:txBody>
                    <a:bodyPr/>
                    <a:lstStyle/>
                    <a:p>
                      <a:endParaRPr lang="zh-CN" altLang="en-US" dirty="0"/>
                    </a:p>
                  </a:txBody>
                  <a:tcPr>
                    <a:lnL w="12700" cap="flat" cmpd="sng" algn="ctr">
                      <a:solidFill>
                        <a:srgbClr val="00B050"/>
                      </a:solidFill>
                      <a:prstDash val="solid"/>
                      <a:round/>
                      <a:headEnd type="none" w="med" len="med"/>
                      <a:tailEnd type="none" w="med" len="med"/>
                    </a:lnL>
                  </a:tcPr>
                </a:tc>
                <a:extLst>
                  <a:ext uri="{0D108BD9-81ED-4DB2-BD59-A6C34878D82A}">
                    <a16:rowId xmlns:a16="http://schemas.microsoft.com/office/drawing/2014/main" val="10000"/>
                  </a:ext>
                </a:extLst>
              </a:tr>
              <a:tr h="365776">
                <a:tc>
                  <a:txBody>
                    <a:bodyPr/>
                    <a:lstStyle/>
                    <a:p>
                      <a:endParaRPr lang="zh-CN" altLang="en-US"/>
                    </a:p>
                  </a:txBody>
                  <a:tcPr>
                    <a:lnR w="12700" cap="flat" cmpd="sng" algn="ctr">
                      <a:solidFill>
                        <a:srgbClr val="00B050"/>
                      </a:solidFill>
                      <a:prstDash val="solid"/>
                      <a:round/>
                      <a:headEnd type="none" w="med" len="med"/>
                      <a:tailEnd type="none" w="med" len="med"/>
                    </a:lnR>
                  </a:tcPr>
                </a:tc>
                <a:tc>
                  <a:txBody>
                    <a:bodyPr/>
                    <a:lstStyle/>
                    <a:p>
                      <a:endParaRPr lang="zh-CN" altLang="en-US" dirty="0"/>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tcPr>
                </a:tc>
                <a:tc>
                  <a:txBody>
                    <a:bodyPr/>
                    <a:lstStyle/>
                    <a:p>
                      <a:endParaRPr lang="zh-CN" altLang="en-US" dirty="0"/>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tcPr>
                </a:tc>
                <a:tc>
                  <a:txBody>
                    <a:bodyPr/>
                    <a:lstStyle/>
                    <a:p>
                      <a:endParaRPr lang="zh-CN" altLang="en-US"/>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tcPr>
                </a:tc>
                <a:tc>
                  <a:txBody>
                    <a:bodyPr/>
                    <a:lstStyle/>
                    <a:p>
                      <a:endParaRPr lang="zh-CN" altLang="en-US"/>
                    </a:p>
                  </a:txBody>
                  <a:tcPr>
                    <a:lnL w="12700" cap="flat" cmpd="sng" algn="ctr">
                      <a:solidFill>
                        <a:srgbClr val="00B050"/>
                      </a:solidFill>
                      <a:prstDash val="solid"/>
                      <a:round/>
                      <a:headEnd type="none" w="med" len="med"/>
                      <a:tailEnd type="none" w="med" len="med"/>
                    </a:lnL>
                  </a:tcPr>
                </a:tc>
                <a:extLst>
                  <a:ext uri="{0D108BD9-81ED-4DB2-BD59-A6C34878D82A}">
                    <a16:rowId xmlns:a16="http://schemas.microsoft.com/office/drawing/2014/main" val="10001"/>
                  </a:ext>
                </a:extLst>
              </a:tr>
              <a:tr h="365776">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65776">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3"/>
                  </a:ext>
                </a:extLst>
              </a:tr>
            </a:tbl>
          </a:graphicData>
        </a:graphic>
      </p:graphicFrame>
      <p:cxnSp>
        <p:nvCxnSpPr>
          <p:cNvPr id="10" name="直接箭头连接符 9"/>
          <p:cNvCxnSpPr/>
          <p:nvPr/>
        </p:nvCxnSpPr>
        <p:spPr>
          <a:xfrm>
            <a:off x="2663788" y="2247802"/>
            <a:ext cx="2412268" cy="118804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789802" y="2667989"/>
            <a:ext cx="3408280" cy="1523472"/>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2903864" y="3065676"/>
            <a:ext cx="4104456" cy="386854"/>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247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xEl>
                                              <p:pRg st="0" end="0"/>
                                            </p:txEl>
                                          </p:spTgt>
                                        </p:tgtEl>
                                        <p:attrNameLst>
                                          <p:attrName>style.visibility</p:attrName>
                                        </p:attrNameLst>
                                      </p:cBhvr>
                                      <p:to>
                                        <p:strVal val="visible"/>
                                      </p:to>
                                    </p:set>
                                    <p:animEffect transition="in" filter="wipe(left)">
                                      <p:cBhvr>
                                        <p:cTn id="22" dur="500"/>
                                        <p:tgtEl>
                                          <p:spTgt spid="2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xEl>
                                              <p:pRg st="0" end="0"/>
                                            </p:txEl>
                                          </p:spTgt>
                                        </p:tgtEl>
                                        <p:attrNameLst>
                                          <p:attrName>style.visibility</p:attrName>
                                        </p:attrNameLst>
                                      </p:cBhvr>
                                      <p:to>
                                        <p:strVal val="visible"/>
                                      </p:to>
                                    </p:set>
                                    <p:animEffect transition="in" filter="wipe(left)">
                                      <p:cBhvr>
                                        <p:cTn id="27" dur="500"/>
                                        <p:tgtEl>
                                          <p:spTgt spid="3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359114"/>
            <a:ext cx="6984776" cy="3785652"/>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用户进程在内存空间内除了在每个</a:t>
            </a:r>
            <a:r>
              <a:rPr lang="zh-CN" altLang="en-US" sz="2400" b="1" dirty="0">
                <a:solidFill>
                  <a:srgbClr val="FFFF00"/>
                </a:solidFill>
                <a:latin typeface="+mn-ea"/>
              </a:rPr>
              <a:t>页面内地址连续</a:t>
            </a:r>
            <a:r>
              <a:rPr lang="zh-CN" altLang="en-US" sz="2400" b="1" dirty="0">
                <a:solidFill>
                  <a:schemeClr val="bg1"/>
                </a:solidFill>
                <a:latin typeface="+mn-ea"/>
              </a:rPr>
              <a:t>之外，每个</a:t>
            </a:r>
            <a:r>
              <a:rPr lang="zh-CN" altLang="en-US" sz="2400" b="1" dirty="0">
                <a:solidFill>
                  <a:srgbClr val="FFFF00"/>
                </a:solidFill>
                <a:latin typeface="+mn-ea"/>
              </a:rPr>
              <a:t>页面之间不再</a:t>
            </a:r>
            <a:r>
              <a:rPr lang="zh-CN" altLang="en-US" sz="2400" b="1" dirty="0" smtClean="0">
                <a:solidFill>
                  <a:srgbClr val="FFFF00"/>
                </a:solidFill>
                <a:latin typeface="+mn-ea"/>
              </a:rPr>
              <a:t>连续</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25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第一实现</a:t>
            </a:r>
            <a:r>
              <a:rPr lang="zh-CN" altLang="en-US" sz="2400" b="1" dirty="0">
                <a:solidFill>
                  <a:schemeClr val="bg1"/>
                </a:solidFill>
                <a:latin typeface="+mn-ea"/>
              </a:rPr>
              <a:t>了</a:t>
            </a:r>
            <a:r>
              <a:rPr lang="zh-CN" altLang="en-US" sz="2400" b="1" dirty="0">
                <a:solidFill>
                  <a:srgbClr val="FFFF00"/>
                </a:solidFill>
                <a:latin typeface="+mn-ea"/>
              </a:rPr>
              <a:t>内存中碎片的减少</a:t>
            </a:r>
            <a:r>
              <a:rPr lang="zh-CN" altLang="en-US" sz="2400" b="1" dirty="0">
                <a:solidFill>
                  <a:schemeClr val="bg1"/>
                </a:solidFill>
                <a:latin typeface="+mn-ea"/>
              </a:rPr>
              <a:t>，因为任一碎片都会小于一个页面</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25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第二</a:t>
            </a:r>
            <a:r>
              <a:rPr lang="zh-CN" altLang="en-US" sz="2400" b="1" dirty="0">
                <a:solidFill>
                  <a:schemeClr val="bg1"/>
                </a:solidFill>
                <a:latin typeface="+mn-ea"/>
              </a:rPr>
              <a:t>是实现了</a:t>
            </a:r>
            <a:r>
              <a:rPr lang="zh-CN" altLang="en-US" sz="2400" b="1" dirty="0">
                <a:solidFill>
                  <a:srgbClr val="FFFF00"/>
                </a:solidFill>
                <a:latin typeface="+mn-ea"/>
              </a:rPr>
              <a:t>由连续存储到非连续存储这个飞跃</a:t>
            </a:r>
            <a:r>
              <a:rPr lang="zh-CN" altLang="en-US" sz="2400" b="1" dirty="0">
                <a:solidFill>
                  <a:schemeClr val="bg1"/>
                </a:solidFill>
                <a:latin typeface="+mn-ea"/>
              </a:rPr>
              <a:t>，为在内存中局部地、动态地存储那些反复执行或即将执行的程序和数据段打下了基础。</a:t>
            </a:r>
          </a:p>
          <a:p>
            <a:pPr marL="0" lvl="1" algn="just">
              <a:lnSpc>
                <a:spcPct val="125000"/>
              </a:lnSpc>
              <a:buClr>
                <a:schemeClr val="accent6">
                  <a:lumMod val="60000"/>
                  <a:lumOff val="40000"/>
                </a:schemeClr>
              </a:buClr>
              <a:buFont typeface="Wingdings" panose="05000000000000000000" pitchFamily="2" charset="2"/>
              <a:buChar char="Ø"/>
            </a:pPr>
            <a:endParaRPr lang="en-US" altLang="zh-CN" sz="2400" b="1" dirty="0">
              <a:solidFill>
                <a:schemeClr val="bg1"/>
              </a:solidFill>
              <a:latin typeface="+mn-ea"/>
            </a:endParaRPr>
          </a:p>
        </p:txBody>
      </p:sp>
    </p:spTree>
    <p:extLst>
      <p:ext uri="{BB962C8B-B14F-4D97-AF65-F5344CB8AC3E}">
        <p14:creationId xmlns:p14="http://schemas.microsoft.com/office/powerpoint/2010/main" val="293057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62802" y="2139702"/>
            <a:ext cx="4104456" cy="111376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怎样由页式虚拟地址变换为内存页面物理地址呢</a:t>
            </a:r>
            <a:r>
              <a:rPr lang="en-US" altLang="zh-CN" sz="2400" b="1" dirty="0" smtClean="0">
                <a:solidFill>
                  <a:schemeClr val="bg1"/>
                </a:solidFill>
                <a:latin typeface="+mn-ea"/>
              </a:rPr>
              <a:t>?</a:t>
            </a:r>
            <a:endParaRPr lang="zh-CN" altLang="en-US" sz="2400" b="1" dirty="0">
              <a:solidFill>
                <a:schemeClr val="bg1"/>
              </a:solidFill>
              <a:latin typeface="+mn-ea"/>
              <a:sym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7258" y="1281469"/>
            <a:ext cx="3090481" cy="3090481"/>
          </a:xfrm>
          <a:prstGeom prst="rect">
            <a:avLst/>
          </a:prstGeom>
        </p:spPr>
      </p:pic>
    </p:spTree>
    <p:extLst>
      <p:ext uri="{BB962C8B-B14F-4D97-AF65-F5344CB8AC3E}">
        <p14:creationId xmlns:p14="http://schemas.microsoft.com/office/powerpoint/2010/main" val="22421925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563638"/>
            <a:ext cx="6768752" cy="2308324"/>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把页式虚地址与内存页面物理地址建立一一</a:t>
            </a:r>
            <a:r>
              <a:rPr lang="zh-CN" altLang="en-US" sz="2400" b="1" dirty="0">
                <a:solidFill>
                  <a:srgbClr val="FFFF00"/>
                </a:solidFill>
                <a:latin typeface="+mn-ea"/>
              </a:rPr>
              <a:t>对应页表</a:t>
            </a:r>
            <a:r>
              <a:rPr lang="zh-CN" altLang="en-US" sz="2400" b="1" dirty="0">
                <a:solidFill>
                  <a:schemeClr val="bg1"/>
                </a:solidFill>
                <a:latin typeface="+mn-ea"/>
              </a:rPr>
              <a:t>，并用相应的</a:t>
            </a:r>
            <a:r>
              <a:rPr lang="zh-CN" altLang="en-US" sz="2400" b="1" dirty="0">
                <a:solidFill>
                  <a:srgbClr val="FFFF00"/>
                </a:solidFill>
                <a:latin typeface="+mn-ea"/>
              </a:rPr>
              <a:t>硬件地址变换机构</a:t>
            </a:r>
            <a:r>
              <a:rPr lang="zh-CN" altLang="en-US" sz="2400" b="1" dirty="0">
                <a:solidFill>
                  <a:schemeClr val="bg1"/>
                </a:solidFill>
                <a:latin typeface="+mn-ea"/>
              </a:rPr>
              <a:t>，来解决离散地址变换问题。页表方式实质上是动态重定位技术的一种延伸。</a:t>
            </a:r>
            <a:endParaRPr lang="en-US" altLang="zh-CN" sz="2400" b="1" dirty="0">
              <a:solidFill>
                <a:schemeClr val="bg1"/>
              </a:solidFill>
              <a:latin typeface="+mn-ea"/>
            </a:endParaRPr>
          </a:p>
        </p:txBody>
      </p:sp>
    </p:spTree>
    <p:extLst>
      <p:ext uri="{BB962C8B-B14F-4D97-AF65-F5344CB8AC3E}">
        <p14:creationId xmlns:p14="http://schemas.microsoft.com/office/powerpoint/2010/main" val="428571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页式管理的基本原理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315959"/>
            <a:ext cx="6768752" cy="2308324"/>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页式管理采用</a:t>
            </a:r>
            <a:r>
              <a:rPr lang="zh-CN" altLang="en-US" sz="2400" b="1" dirty="0" smtClean="0">
                <a:solidFill>
                  <a:srgbClr val="FFFF00"/>
                </a:solidFill>
                <a:latin typeface="+mn-ea"/>
              </a:rPr>
              <a:t>请求调页</a:t>
            </a:r>
            <a:r>
              <a:rPr lang="zh-CN" altLang="en-US" sz="2400" b="1" dirty="0" smtClean="0">
                <a:solidFill>
                  <a:schemeClr val="bg1"/>
                </a:solidFill>
                <a:latin typeface="+mn-ea"/>
              </a:rPr>
              <a:t>或</a:t>
            </a:r>
            <a:r>
              <a:rPr lang="zh-CN" altLang="en-US" sz="2400" b="1" dirty="0" smtClean="0">
                <a:solidFill>
                  <a:srgbClr val="FFFF00"/>
                </a:solidFill>
                <a:latin typeface="+mn-ea"/>
              </a:rPr>
              <a:t>预调页技术</a:t>
            </a:r>
            <a:r>
              <a:rPr lang="zh-CN" altLang="en-US" sz="2400" b="1" dirty="0" smtClean="0">
                <a:solidFill>
                  <a:schemeClr val="bg1"/>
                </a:solidFill>
                <a:latin typeface="+mn-ea"/>
              </a:rPr>
              <a:t>实现了内外存储区的统一管理。</a:t>
            </a:r>
            <a:endParaRPr lang="en-US" altLang="zh-CN" sz="2400" b="1" dirty="0" smtClean="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内存中只放经常被执行或即将被执行的页，其他的则存放在外存中需要时再调入。</a:t>
            </a:r>
            <a:endParaRPr lang="en-US" altLang="zh-CN" sz="2400" b="1" dirty="0">
              <a:solidFill>
                <a:schemeClr val="bg1"/>
              </a:solidFill>
              <a:latin typeface="+mn-ea"/>
            </a:endParaRPr>
          </a:p>
        </p:txBody>
      </p:sp>
      <p:sp>
        <p:nvSpPr>
          <p:cNvPr id="6" name="任意多边形 5"/>
          <p:cNvSpPr/>
          <p:nvPr/>
        </p:nvSpPr>
        <p:spPr>
          <a:xfrm>
            <a:off x="2062709" y="3490028"/>
            <a:ext cx="1480839" cy="1480839"/>
          </a:xfrm>
          <a:custGeom>
            <a:avLst/>
            <a:gdLst>
              <a:gd name="connsiteX0" fmla="*/ 0 w 1480839"/>
              <a:gd name="connsiteY0" fmla="*/ 740420 h 1480839"/>
              <a:gd name="connsiteX1" fmla="*/ 740420 w 1480839"/>
              <a:gd name="connsiteY1" fmla="*/ 0 h 1480839"/>
              <a:gd name="connsiteX2" fmla="*/ 1480840 w 1480839"/>
              <a:gd name="connsiteY2" fmla="*/ 740420 h 1480839"/>
              <a:gd name="connsiteX3" fmla="*/ 740420 w 1480839"/>
              <a:gd name="connsiteY3" fmla="*/ 1480840 h 1480839"/>
              <a:gd name="connsiteX4" fmla="*/ 0 w 1480839"/>
              <a:gd name="connsiteY4" fmla="*/ 740420 h 1480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839" h="1480839">
                <a:moveTo>
                  <a:pt x="0" y="740420"/>
                </a:moveTo>
                <a:cubicBezTo>
                  <a:pt x="0" y="331497"/>
                  <a:pt x="331497" y="0"/>
                  <a:pt x="740420" y="0"/>
                </a:cubicBezTo>
                <a:cubicBezTo>
                  <a:pt x="1149343" y="0"/>
                  <a:pt x="1480840" y="331497"/>
                  <a:pt x="1480840" y="740420"/>
                </a:cubicBezTo>
                <a:cubicBezTo>
                  <a:pt x="1480840" y="1149343"/>
                  <a:pt x="1149343" y="1480840"/>
                  <a:pt x="740420" y="1480840"/>
                </a:cubicBezTo>
                <a:cubicBezTo>
                  <a:pt x="331497" y="1480840"/>
                  <a:pt x="0" y="1149343"/>
                  <a:pt x="0" y="74042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48614" tIns="248614" rIns="248614" bIns="248614" numCol="1" spcCol="1270" anchor="ctr" anchorCtr="0">
            <a:noAutofit/>
          </a:bodyPr>
          <a:lstStyle/>
          <a:p>
            <a:pPr lvl="0" algn="ctr" defTabSz="1111250">
              <a:spcBef>
                <a:spcPct val="0"/>
              </a:spcBef>
              <a:spcAft>
                <a:spcPct val="35000"/>
              </a:spcAft>
            </a:pPr>
            <a:r>
              <a:rPr lang="zh-CN" altLang="en-US" sz="2500" b="1" kern="1200" dirty="0" smtClean="0"/>
              <a:t>静态页式管理</a:t>
            </a:r>
            <a:endParaRPr lang="zh-CN" altLang="en-US" sz="2500" b="1" kern="1200" dirty="0"/>
          </a:p>
        </p:txBody>
      </p:sp>
      <p:sp>
        <p:nvSpPr>
          <p:cNvPr id="7" name="任意多边形 6"/>
          <p:cNvSpPr/>
          <p:nvPr/>
        </p:nvSpPr>
        <p:spPr>
          <a:xfrm>
            <a:off x="3794744" y="3624283"/>
            <a:ext cx="858887" cy="858887"/>
          </a:xfrm>
          <a:custGeom>
            <a:avLst/>
            <a:gdLst>
              <a:gd name="connsiteX0" fmla="*/ 113845 w 858887"/>
              <a:gd name="connsiteY0" fmla="*/ 328438 h 858887"/>
              <a:gd name="connsiteX1" fmla="*/ 328438 w 858887"/>
              <a:gd name="connsiteY1" fmla="*/ 328438 h 858887"/>
              <a:gd name="connsiteX2" fmla="*/ 328438 w 858887"/>
              <a:gd name="connsiteY2" fmla="*/ 113845 h 858887"/>
              <a:gd name="connsiteX3" fmla="*/ 530449 w 858887"/>
              <a:gd name="connsiteY3" fmla="*/ 113845 h 858887"/>
              <a:gd name="connsiteX4" fmla="*/ 530449 w 858887"/>
              <a:gd name="connsiteY4" fmla="*/ 328438 h 858887"/>
              <a:gd name="connsiteX5" fmla="*/ 745042 w 858887"/>
              <a:gd name="connsiteY5" fmla="*/ 328438 h 858887"/>
              <a:gd name="connsiteX6" fmla="*/ 745042 w 858887"/>
              <a:gd name="connsiteY6" fmla="*/ 530449 h 858887"/>
              <a:gd name="connsiteX7" fmla="*/ 530449 w 858887"/>
              <a:gd name="connsiteY7" fmla="*/ 530449 h 858887"/>
              <a:gd name="connsiteX8" fmla="*/ 530449 w 858887"/>
              <a:gd name="connsiteY8" fmla="*/ 745042 h 858887"/>
              <a:gd name="connsiteX9" fmla="*/ 328438 w 858887"/>
              <a:gd name="connsiteY9" fmla="*/ 745042 h 858887"/>
              <a:gd name="connsiteX10" fmla="*/ 328438 w 858887"/>
              <a:gd name="connsiteY10" fmla="*/ 530449 h 858887"/>
              <a:gd name="connsiteX11" fmla="*/ 113845 w 858887"/>
              <a:gd name="connsiteY11" fmla="*/ 530449 h 858887"/>
              <a:gd name="connsiteX12" fmla="*/ 113845 w 858887"/>
              <a:gd name="connsiteY12" fmla="*/ 328438 h 8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8887" h="858887">
                <a:moveTo>
                  <a:pt x="113845" y="328438"/>
                </a:moveTo>
                <a:lnTo>
                  <a:pt x="328438" y="328438"/>
                </a:lnTo>
                <a:lnTo>
                  <a:pt x="328438" y="113845"/>
                </a:lnTo>
                <a:lnTo>
                  <a:pt x="530449" y="113845"/>
                </a:lnTo>
                <a:lnTo>
                  <a:pt x="530449" y="328438"/>
                </a:lnTo>
                <a:lnTo>
                  <a:pt x="745042" y="328438"/>
                </a:lnTo>
                <a:lnTo>
                  <a:pt x="745042" y="530449"/>
                </a:lnTo>
                <a:lnTo>
                  <a:pt x="530449" y="530449"/>
                </a:lnTo>
                <a:lnTo>
                  <a:pt x="530449" y="745042"/>
                </a:lnTo>
                <a:lnTo>
                  <a:pt x="328438" y="745042"/>
                </a:lnTo>
                <a:lnTo>
                  <a:pt x="328438" y="530449"/>
                </a:lnTo>
                <a:lnTo>
                  <a:pt x="113845" y="530449"/>
                </a:lnTo>
                <a:lnTo>
                  <a:pt x="113845" y="328438"/>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13845" tIns="328438" rIns="113845" bIns="328438" numCol="1" spcCol="1270" anchor="ctr" anchorCtr="0">
            <a:noAutofit/>
          </a:bodyPr>
          <a:lstStyle/>
          <a:p>
            <a:pPr lvl="0" algn="ctr" defTabSz="622300">
              <a:lnSpc>
                <a:spcPct val="90000"/>
              </a:lnSpc>
              <a:spcBef>
                <a:spcPct val="0"/>
              </a:spcBef>
              <a:spcAft>
                <a:spcPct val="35000"/>
              </a:spcAft>
            </a:pPr>
            <a:endParaRPr lang="zh-CN" altLang="en-US" sz="1400" kern="1200"/>
          </a:p>
        </p:txBody>
      </p:sp>
      <p:sp>
        <p:nvSpPr>
          <p:cNvPr id="8" name="任意多边形 7"/>
          <p:cNvSpPr/>
          <p:nvPr/>
        </p:nvSpPr>
        <p:spPr>
          <a:xfrm>
            <a:off x="4904827" y="3469411"/>
            <a:ext cx="1480839" cy="1480839"/>
          </a:xfrm>
          <a:custGeom>
            <a:avLst/>
            <a:gdLst>
              <a:gd name="connsiteX0" fmla="*/ 0 w 1480839"/>
              <a:gd name="connsiteY0" fmla="*/ 740420 h 1480839"/>
              <a:gd name="connsiteX1" fmla="*/ 740420 w 1480839"/>
              <a:gd name="connsiteY1" fmla="*/ 0 h 1480839"/>
              <a:gd name="connsiteX2" fmla="*/ 1480840 w 1480839"/>
              <a:gd name="connsiteY2" fmla="*/ 740420 h 1480839"/>
              <a:gd name="connsiteX3" fmla="*/ 740420 w 1480839"/>
              <a:gd name="connsiteY3" fmla="*/ 1480840 h 1480839"/>
              <a:gd name="connsiteX4" fmla="*/ 0 w 1480839"/>
              <a:gd name="connsiteY4" fmla="*/ 740420 h 1480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839" h="1480839">
                <a:moveTo>
                  <a:pt x="0" y="740420"/>
                </a:moveTo>
                <a:cubicBezTo>
                  <a:pt x="0" y="331497"/>
                  <a:pt x="331497" y="0"/>
                  <a:pt x="740420" y="0"/>
                </a:cubicBezTo>
                <a:cubicBezTo>
                  <a:pt x="1149343" y="0"/>
                  <a:pt x="1480840" y="331497"/>
                  <a:pt x="1480840" y="740420"/>
                </a:cubicBezTo>
                <a:cubicBezTo>
                  <a:pt x="1480840" y="1149343"/>
                  <a:pt x="1149343" y="1480840"/>
                  <a:pt x="740420" y="1480840"/>
                </a:cubicBezTo>
                <a:cubicBezTo>
                  <a:pt x="331497" y="1480840"/>
                  <a:pt x="0" y="1149343"/>
                  <a:pt x="0" y="74042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2232385"/>
              <a:satOff val="13449"/>
              <a:lumOff val="1078"/>
              <a:alphaOff val="0"/>
            </a:schemeClr>
          </a:fillRef>
          <a:effectRef idx="2">
            <a:schemeClr val="accent4">
              <a:hueOff val="-2232385"/>
              <a:satOff val="13449"/>
              <a:lumOff val="1078"/>
              <a:alphaOff val="0"/>
            </a:schemeClr>
          </a:effectRef>
          <a:fontRef idx="minor">
            <a:schemeClr val="lt1"/>
          </a:fontRef>
        </p:style>
        <p:txBody>
          <a:bodyPr spcFirstLastPara="0" vert="horz" wrap="square" lIns="248614" tIns="248614" rIns="248614" bIns="248614" numCol="1" spcCol="1270" anchor="ctr" anchorCtr="0">
            <a:noAutofit/>
          </a:bodyPr>
          <a:lstStyle/>
          <a:p>
            <a:pPr algn="ctr" defTabSz="1111250">
              <a:spcBef>
                <a:spcPct val="0"/>
              </a:spcBef>
              <a:spcAft>
                <a:spcPct val="35000"/>
              </a:spcAft>
            </a:pPr>
            <a:r>
              <a:rPr lang="zh-CN" altLang="en-US" sz="2500" b="1" dirty="0"/>
              <a:t>动态页式管理</a:t>
            </a:r>
          </a:p>
        </p:txBody>
      </p:sp>
    </p:spTree>
    <p:extLst>
      <p:ext uri="{BB962C8B-B14F-4D97-AF65-F5344CB8AC3E}">
        <p14:creationId xmlns:p14="http://schemas.microsoft.com/office/powerpoint/2010/main" val="255868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768752"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静态</a:t>
            </a:r>
            <a:r>
              <a:rPr lang="zh-CN" altLang="en-US" sz="2400" b="1" dirty="0">
                <a:solidFill>
                  <a:schemeClr val="bg1"/>
                </a:solidFill>
                <a:latin typeface="+mn-ea"/>
              </a:rPr>
              <a:t>页面管理方法是在作业或进程</a:t>
            </a:r>
            <a:r>
              <a:rPr lang="zh-CN" altLang="en-US" sz="2400" b="1" dirty="0">
                <a:solidFill>
                  <a:srgbClr val="FFFF00"/>
                </a:solidFill>
                <a:latin typeface="+mn-ea"/>
              </a:rPr>
              <a:t>开始执行之前</a:t>
            </a:r>
            <a:r>
              <a:rPr lang="zh-CN" altLang="en-US" sz="2400" b="1" dirty="0">
                <a:solidFill>
                  <a:schemeClr val="bg1"/>
                </a:solidFill>
                <a:latin typeface="+mn-ea"/>
              </a:rPr>
              <a:t>，把该作业或进程的程序段和数据</a:t>
            </a:r>
            <a:r>
              <a:rPr lang="zh-CN" altLang="en-US" sz="2400" b="1" dirty="0">
                <a:solidFill>
                  <a:srgbClr val="FFFF00"/>
                </a:solidFill>
                <a:latin typeface="+mn-ea"/>
              </a:rPr>
              <a:t>全部装入内存</a:t>
            </a:r>
            <a:r>
              <a:rPr lang="zh-CN" altLang="en-US" sz="2400" b="1" dirty="0">
                <a:solidFill>
                  <a:schemeClr val="bg1"/>
                </a:solidFill>
                <a:latin typeface="+mn-ea"/>
              </a:rPr>
              <a:t>的各个页面中，并通过</a:t>
            </a:r>
            <a:r>
              <a:rPr lang="zh-CN" altLang="en-US" sz="2400" b="1" dirty="0">
                <a:solidFill>
                  <a:srgbClr val="FFFF00"/>
                </a:solidFill>
                <a:latin typeface="+mn-ea"/>
              </a:rPr>
              <a:t>页表</a:t>
            </a:r>
            <a:r>
              <a:rPr lang="en-US" altLang="zh-CN" sz="2400" b="1" dirty="0">
                <a:solidFill>
                  <a:schemeClr val="bg1"/>
                </a:solidFill>
                <a:latin typeface="+mn-ea"/>
              </a:rPr>
              <a:t>(page mapping table)</a:t>
            </a:r>
            <a:r>
              <a:rPr lang="zh-CN" altLang="en-US" sz="2400" b="1" dirty="0">
                <a:solidFill>
                  <a:schemeClr val="bg1"/>
                </a:solidFill>
                <a:latin typeface="+mn-ea"/>
              </a:rPr>
              <a:t>和</a:t>
            </a:r>
            <a:r>
              <a:rPr lang="zh-CN" altLang="en-US" sz="2400" b="1" dirty="0">
                <a:solidFill>
                  <a:srgbClr val="FFFF00"/>
                </a:solidFill>
                <a:latin typeface="+mn-ea"/>
              </a:rPr>
              <a:t>硬件地址变换机构</a:t>
            </a:r>
            <a:r>
              <a:rPr lang="zh-CN" altLang="en-US" sz="2400" b="1" dirty="0">
                <a:solidFill>
                  <a:schemeClr val="bg1"/>
                </a:solidFill>
                <a:latin typeface="+mn-ea"/>
              </a:rPr>
              <a:t>实现虚拟地址到内存物理地址的地址映射。</a:t>
            </a:r>
            <a:endParaRPr lang="en-US" altLang="zh-CN" sz="2400" b="1" dirty="0">
              <a:solidFill>
                <a:schemeClr val="bg1"/>
              </a:solidFill>
              <a:latin typeface="+mn-ea"/>
            </a:endParaRPr>
          </a:p>
        </p:txBody>
      </p:sp>
    </p:spTree>
    <p:extLst>
      <p:ext uri="{BB962C8B-B14F-4D97-AF65-F5344CB8AC3E}">
        <p14:creationId xmlns:p14="http://schemas.microsoft.com/office/powerpoint/2010/main" val="247500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491630"/>
            <a:ext cx="6768752"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静态分页管理的第一步是为要求内存的作业或进程分配足够的页面</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系统</a:t>
            </a:r>
            <a:r>
              <a:rPr lang="zh-CN" altLang="en-US" sz="2400" b="1" dirty="0">
                <a:solidFill>
                  <a:schemeClr val="bg1"/>
                </a:solidFill>
                <a:latin typeface="+mn-ea"/>
              </a:rPr>
              <a:t>依靠</a:t>
            </a:r>
            <a:r>
              <a:rPr lang="zh-CN" altLang="en-US" sz="2400" b="1" dirty="0">
                <a:solidFill>
                  <a:srgbClr val="FFFF00"/>
                </a:solidFill>
                <a:latin typeface="+mn-ea"/>
              </a:rPr>
              <a:t>存储页面表</a:t>
            </a:r>
            <a:r>
              <a:rPr lang="zh-CN" altLang="en-US" sz="2400" b="1" dirty="0">
                <a:solidFill>
                  <a:schemeClr val="bg1"/>
                </a:solidFill>
                <a:latin typeface="+mn-ea"/>
              </a:rPr>
              <a:t>、</a:t>
            </a:r>
            <a:r>
              <a:rPr lang="zh-CN" altLang="en-US" sz="2400" b="1" dirty="0">
                <a:solidFill>
                  <a:srgbClr val="FFFF00"/>
                </a:solidFill>
                <a:latin typeface="+mn-ea"/>
              </a:rPr>
              <a:t>请求表</a:t>
            </a:r>
            <a:r>
              <a:rPr lang="zh-CN" altLang="en-US" sz="2400" b="1" dirty="0">
                <a:solidFill>
                  <a:schemeClr val="bg1"/>
                </a:solidFill>
                <a:latin typeface="+mn-ea"/>
              </a:rPr>
              <a:t>以及</a:t>
            </a:r>
            <a:r>
              <a:rPr lang="zh-CN" altLang="en-US" sz="2400" b="1" dirty="0">
                <a:solidFill>
                  <a:srgbClr val="FFFF00"/>
                </a:solidFill>
                <a:latin typeface="+mn-ea"/>
              </a:rPr>
              <a:t>页表</a:t>
            </a:r>
            <a:r>
              <a:rPr lang="zh-CN" altLang="en-US" sz="2400" b="1" dirty="0">
                <a:solidFill>
                  <a:schemeClr val="bg1"/>
                </a:solidFill>
                <a:latin typeface="+mn-ea"/>
              </a:rPr>
              <a:t>来完成内存的分配工作。</a:t>
            </a:r>
            <a:endParaRPr lang="en-US" altLang="zh-CN" sz="2400" b="1" dirty="0">
              <a:solidFill>
                <a:schemeClr val="bg1"/>
              </a:solidFill>
              <a:latin typeface="+mn-ea"/>
            </a:endParaRPr>
          </a:p>
        </p:txBody>
      </p:sp>
    </p:spTree>
    <p:extLst>
      <p:ext uri="{BB962C8B-B14F-4D97-AF65-F5344CB8AC3E}">
        <p14:creationId xmlns:p14="http://schemas.microsoft.com/office/powerpoint/2010/main" val="309678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78152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内存页面分配与回收</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页表</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41118" y="1052514"/>
            <a:ext cx="3354818"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页表：最简单的页表由</a:t>
            </a:r>
            <a:r>
              <a:rPr lang="zh-CN" altLang="en-US" sz="2400" b="1" dirty="0">
                <a:solidFill>
                  <a:srgbClr val="FFFF00"/>
                </a:solidFill>
                <a:latin typeface="+mn-ea"/>
              </a:rPr>
              <a:t>页号</a:t>
            </a:r>
            <a:r>
              <a:rPr lang="zh-CN" altLang="en-US" sz="2400" b="1" dirty="0">
                <a:solidFill>
                  <a:schemeClr val="bg1"/>
                </a:solidFill>
                <a:latin typeface="+mn-ea"/>
              </a:rPr>
              <a:t>与</a:t>
            </a:r>
            <a:r>
              <a:rPr lang="zh-CN" altLang="en-US" sz="2400" b="1" dirty="0">
                <a:solidFill>
                  <a:srgbClr val="FFFF00"/>
                </a:solidFill>
                <a:latin typeface="+mn-ea"/>
              </a:rPr>
              <a:t>页面号</a:t>
            </a:r>
            <a:r>
              <a:rPr lang="zh-CN" altLang="en-US" sz="2400" b="1" dirty="0">
                <a:solidFill>
                  <a:schemeClr val="bg1"/>
                </a:solidFill>
                <a:latin typeface="+mn-ea"/>
              </a:rPr>
              <a:t>组成。</a:t>
            </a:r>
            <a:endParaRPr lang="en-US" altLang="zh-CN" sz="2400" b="1" dirty="0">
              <a:solidFill>
                <a:schemeClr val="bg1"/>
              </a:solidFill>
              <a:latin typeface="+mn-ea"/>
            </a:endParaRPr>
          </a:p>
        </p:txBody>
      </p:sp>
      <p:graphicFrame>
        <p:nvGraphicFramePr>
          <p:cNvPr id="3" name="表格 2"/>
          <p:cNvGraphicFramePr>
            <a:graphicFrameLocks noGrp="1"/>
          </p:cNvGraphicFramePr>
          <p:nvPr/>
        </p:nvGraphicFramePr>
        <p:xfrm>
          <a:off x="865098" y="2355726"/>
          <a:ext cx="2986822" cy="2016224"/>
        </p:xfrm>
        <a:graphic>
          <a:graphicData uri="http://schemas.openxmlformats.org/drawingml/2006/table">
            <a:tbl>
              <a:tblPr firstRow="1" bandRow="1">
                <a:tableStyleId>{5C22544A-7EE6-4342-B048-85BDC9FD1C3A}</a:tableStyleId>
              </a:tblPr>
              <a:tblGrid>
                <a:gridCol w="1493411">
                  <a:extLst>
                    <a:ext uri="{9D8B030D-6E8A-4147-A177-3AD203B41FA5}">
                      <a16:colId xmlns:a16="http://schemas.microsoft.com/office/drawing/2014/main" val="20000"/>
                    </a:ext>
                  </a:extLst>
                </a:gridCol>
                <a:gridCol w="1493411">
                  <a:extLst>
                    <a:ext uri="{9D8B030D-6E8A-4147-A177-3AD203B41FA5}">
                      <a16:colId xmlns:a16="http://schemas.microsoft.com/office/drawing/2014/main" val="20001"/>
                    </a:ext>
                  </a:extLst>
                </a:gridCol>
              </a:tblGrid>
              <a:tr h="504056">
                <a:tc>
                  <a:txBody>
                    <a:bodyPr/>
                    <a:lstStyle/>
                    <a:p>
                      <a:pPr algn="ctr"/>
                      <a:r>
                        <a:rPr lang="zh-CN" altLang="en-US" sz="2400" b="1" dirty="0" smtClean="0"/>
                        <a:t>页号</a:t>
                      </a:r>
                      <a:endParaRPr lang="zh-CN" altLang="en-US" sz="2400" b="1" dirty="0"/>
                    </a:p>
                  </a:txBody>
                  <a:tcPr/>
                </a:tc>
                <a:tc>
                  <a:txBody>
                    <a:bodyPr/>
                    <a:lstStyle/>
                    <a:p>
                      <a:pPr algn="ctr"/>
                      <a:r>
                        <a:rPr lang="zh-CN" altLang="en-US" sz="2400" b="1" dirty="0" smtClean="0"/>
                        <a:t>页面号</a:t>
                      </a:r>
                      <a:endParaRPr lang="zh-CN" altLang="en-US" sz="2400" b="1" dirty="0"/>
                    </a:p>
                  </a:txBody>
                  <a:tcPr/>
                </a:tc>
                <a:extLst>
                  <a:ext uri="{0D108BD9-81ED-4DB2-BD59-A6C34878D82A}">
                    <a16:rowId xmlns:a16="http://schemas.microsoft.com/office/drawing/2014/main" val="10000"/>
                  </a:ext>
                </a:extLst>
              </a:tr>
              <a:tr h="504056">
                <a:tc>
                  <a:txBody>
                    <a:bodyPr/>
                    <a:lstStyle/>
                    <a:p>
                      <a:pPr algn="ctr"/>
                      <a:endParaRPr lang="zh-CN" altLang="en-US" sz="2400" b="0" dirty="0"/>
                    </a:p>
                  </a:txBody>
                  <a:tcPr/>
                </a:tc>
                <a:tc>
                  <a:txBody>
                    <a:bodyPr/>
                    <a:lstStyle/>
                    <a:p>
                      <a:pPr algn="ctr"/>
                      <a:endParaRPr lang="zh-CN" altLang="en-US" sz="2400" b="0" dirty="0"/>
                    </a:p>
                  </a:txBody>
                  <a:tcPr/>
                </a:tc>
                <a:extLst>
                  <a:ext uri="{0D108BD9-81ED-4DB2-BD59-A6C34878D82A}">
                    <a16:rowId xmlns:a16="http://schemas.microsoft.com/office/drawing/2014/main" val="10001"/>
                  </a:ext>
                </a:extLst>
              </a:tr>
              <a:tr h="504056">
                <a:tc>
                  <a:txBody>
                    <a:bodyPr/>
                    <a:lstStyle/>
                    <a:p>
                      <a:pPr algn="ctr"/>
                      <a:endParaRPr lang="zh-CN" altLang="en-US" sz="2400" b="0"/>
                    </a:p>
                  </a:txBody>
                  <a:tcPr/>
                </a:tc>
                <a:tc>
                  <a:txBody>
                    <a:bodyPr/>
                    <a:lstStyle/>
                    <a:p>
                      <a:pPr algn="ctr"/>
                      <a:endParaRPr lang="zh-CN" altLang="en-US" sz="2400" b="0" dirty="0"/>
                    </a:p>
                  </a:txBody>
                  <a:tcPr/>
                </a:tc>
                <a:extLst>
                  <a:ext uri="{0D108BD9-81ED-4DB2-BD59-A6C34878D82A}">
                    <a16:rowId xmlns:a16="http://schemas.microsoft.com/office/drawing/2014/main" val="10002"/>
                  </a:ext>
                </a:extLst>
              </a:tr>
              <a:tr h="504056">
                <a:tc>
                  <a:txBody>
                    <a:bodyPr/>
                    <a:lstStyle/>
                    <a:p>
                      <a:pPr algn="ctr"/>
                      <a:endParaRPr lang="zh-CN" altLang="en-US" sz="2400" b="0" dirty="0"/>
                    </a:p>
                  </a:txBody>
                  <a:tcPr/>
                </a:tc>
                <a:tc>
                  <a:txBody>
                    <a:bodyPr/>
                    <a:lstStyle/>
                    <a:p>
                      <a:pPr algn="ctr"/>
                      <a:endParaRPr lang="zh-CN" altLang="en-US" sz="2400" b="0" dirty="0"/>
                    </a:p>
                  </a:txBody>
                  <a:tcPr/>
                </a:tc>
                <a:extLst>
                  <a:ext uri="{0D108BD9-81ED-4DB2-BD59-A6C34878D82A}">
                    <a16:rowId xmlns:a16="http://schemas.microsoft.com/office/drawing/2014/main" val="10003"/>
                  </a:ext>
                </a:extLst>
              </a:tr>
            </a:tbl>
          </a:graphicData>
        </a:graphic>
      </p:graphicFrame>
      <p:sp>
        <p:nvSpPr>
          <p:cNvPr id="4" name="矩形 3"/>
          <p:cNvSpPr/>
          <p:nvPr/>
        </p:nvSpPr>
        <p:spPr>
          <a:xfrm>
            <a:off x="3923928" y="1581636"/>
            <a:ext cx="386724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页表在内存中占有一块固定的存储区</a:t>
            </a:r>
            <a:r>
              <a:rPr lang="zh-CN" altLang="en-US" sz="2400" b="1" dirty="0" smtClean="0">
                <a:solidFill>
                  <a:schemeClr val="bg1"/>
                </a:solidFill>
                <a:latin typeface="+mn-ea"/>
              </a:rPr>
              <a:t>。页表</a:t>
            </a:r>
            <a:r>
              <a:rPr lang="zh-CN" altLang="en-US" sz="2400" b="1" dirty="0">
                <a:solidFill>
                  <a:schemeClr val="bg1"/>
                </a:solidFill>
                <a:latin typeface="+mn-ea"/>
              </a:rPr>
              <a:t>的大小由进程或作业的长度决定</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页式</a:t>
            </a:r>
            <a:r>
              <a:rPr lang="zh-CN" altLang="en-US" sz="2400" b="1" dirty="0">
                <a:solidFill>
                  <a:schemeClr val="bg1"/>
                </a:solidFill>
                <a:latin typeface="+mn-ea"/>
              </a:rPr>
              <a:t>管理时每个进程至少拥有一个页表。</a:t>
            </a:r>
            <a:endParaRPr lang="en-US" altLang="zh-CN" sz="2400" b="1" dirty="0">
              <a:solidFill>
                <a:schemeClr val="bg1"/>
              </a:solidFill>
              <a:latin typeface="+mn-ea"/>
            </a:endParaRPr>
          </a:p>
        </p:txBody>
      </p:sp>
    </p:spTree>
    <p:extLst>
      <p:ext uri="{BB962C8B-B14F-4D97-AF65-F5344CB8AC3E}">
        <p14:creationId xmlns:p14="http://schemas.microsoft.com/office/powerpoint/2010/main" val="357954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wipe(left)">
                                      <p:cBhvr>
                                        <p:cTn id="2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74101"/>
            <a:ext cx="806489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内存页面分配与回收</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请求表</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95521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用来确定作业或进程的虚拟空间的各页在内存中的实际对应位置。为了完成这个任务，</a:t>
            </a:r>
            <a:r>
              <a:rPr lang="zh-CN" altLang="en-US" sz="2400" b="1" dirty="0">
                <a:solidFill>
                  <a:srgbClr val="FFFF00"/>
                </a:solidFill>
                <a:latin typeface="+mn-ea"/>
              </a:rPr>
              <a:t>系统必须知道每个作业或进程的页表起始地址和长度</a:t>
            </a:r>
            <a:r>
              <a:rPr lang="zh-CN" altLang="en-US" sz="2400" b="1" dirty="0">
                <a:solidFill>
                  <a:schemeClr val="bg1"/>
                </a:solidFill>
                <a:latin typeface="+mn-ea"/>
              </a:rPr>
              <a:t>，以进行内存分配和地址变换。另外，请求表中还应包括每个作业或进程所要求的</a:t>
            </a:r>
            <a:r>
              <a:rPr lang="zh-CN" altLang="en-US" sz="2400" b="1" dirty="0">
                <a:solidFill>
                  <a:srgbClr val="FFFF00"/>
                </a:solidFill>
                <a:latin typeface="+mn-ea"/>
              </a:rPr>
              <a:t>页面数</a:t>
            </a:r>
            <a:r>
              <a:rPr lang="zh-CN" altLang="en-US" sz="2400" b="1" dirty="0">
                <a:solidFill>
                  <a:schemeClr val="bg1"/>
                </a:solidFill>
                <a:latin typeface="+mn-ea"/>
              </a:rPr>
              <a:t>。</a:t>
            </a:r>
            <a:endParaRPr lang="en-US" altLang="zh-CN" sz="2400" b="1" dirty="0">
              <a:solidFill>
                <a:schemeClr val="bg1"/>
              </a:solidFill>
              <a:latin typeface="+mn-ea"/>
            </a:endParaRPr>
          </a:p>
        </p:txBody>
      </p:sp>
      <p:sp>
        <p:nvSpPr>
          <p:cNvPr id="3" name="矩形 2"/>
          <p:cNvSpPr/>
          <p:nvPr/>
        </p:nvSpPr>
        <p:spPr>
          <a:xfrm>
            <a:off x="917854" y="3998835"/>
            <a:ext cx="3315331" cy="559769"/>
          </a:xfrm>
          <a:prstGeom prst="rect">
            <a:avLst/>
          </a:prstGeom>
        </p:spPr>
        <p:txBody>
          <a:bodyPr wrap="non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请求表</a:t>
            </a:r>
            <a:r>
              <a:rPr lang="zh-CN" altLang="en-US" sz="2400" b="1" dirty="0">
                <a:solidFill>
                  <a:srgbClr val="FFFF00"/>
                </a:solidFill>
                <a:latin typeface="+mn-ea"/>
              </a:rPr>
              <a:t>整个系统一张</a:t>
            </a:r>
          </a:p>
        </p:txBody>
      </p:sp>
      <p:grpSp>
        <p:nvGrpSpPr>
          <p:cNvPr id="6" name="组合 5"/>
          <p:cNvGrpSpPr/>
          <p:nvPr/>
        </p:nvGrpSpPr>
        <p:grpSpPr>
          <a:xfrm>
            <a:off x="395536" y="1750353"/>
            <a:ext cx="7933285" cy="2282177"/>
            <a:chOff x="395536" y="1750353"/>
            <a:chExt cx="7933285" cy="2282177"/>
          </a:xfrm>
        </p:grpSpPr>
        <p:pic>
          <p:nvPicPr>
            <p:cNvPr id="5" name="图片 4"/>
            <p:cNvPicPr>
              <a:picLocks noChangeAspect="1"/>
            </p:cNvPicPr>
            <p:nvPr/>
          </p:nvPicPr>
          <p:blipFill rotWithShape="1">
            <a:blip r:embed="rId3"/>
            <a:srcRect l="35057" t="58217" r="24542" b="20212"/>
            <a:stretch>
              <a:fillRect/>
            </a:stretch>
          </p:blipFill>
          <p:spPr>
            <a:xfrm>
              <a:off x="395536" y="1750353"/>
              <a:ext cx="7933285" cy="2282177"/>
            </a:xfrm>
            <a:prstGeom prst="rect">
              <a:avLst/>
            </a:prstGeom>
          </p:spPr>
        </p:pic>
        <p:sp>
          <p:nvSpPr>
            <p:cNvPr id="4" name="矩形 3"/>
            <p:cNvSpPr/>
            <p:nvPr/>
          </p:nvSpPr>
          <p:spPr>
            <a:xfrm>
              <a:off x="7092280" y="3291830"/>
              <a:ext cx="28803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未</a:t>
              </a:r>
              <a:endParaRPr lang="zh-CN" altLang="en-US" dirty="0">
                <a:solidFill>
                  <a:schemeClr val="tx1"/>
                </a:solidFill>
              </a:endParaRPr>
            </a:p>
          </p:txBody>
        </p:sp>
      </p:grpSp>
    </p:spTree>
    <p:extLst>
      <p:ext uri="{BB962C8B-B14F-4D97-AF65-F5344CB8AC3E}">
        <p14:creationId xmlns:p14="http://schemas.microsoft.com/office/powerpoint/2010/main" val="402802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内存页面分配与回收</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存储页面表</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94076"/>
            <a:ext cx="6955218" cy="3416320"/>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存储页面表也是</a:t>
            </a:r>
            <a:r>
              <a:rPr lang="zh-CN" altLang="en-US" sz="2400" b="1" dirty="0">
                <a:solidFill>
                  <a:srgbClr val="FFFF00"/>
                </a:solidFill>
                <a:latin typeface="+mn-ea"/>
              </a:rPr>
              <a:t>整个系统一张</a:t>
            </a:r>
            <a:r>
              <a:rPr lang="zh-CN" altLang="en-US" sz="2400" b="1" dirty="0">
                <a:solidFill>
                  <a:schemeClr val="bg1"/>
                </a:solidFill>
                <a:latin typeface="+mn-ea"/>
              </a:rPr>
              <a:t>，存储页面表指出内存各页面是否已被分配出去，以及未分配页面的总数。存储页面表也有两种构成方法，</a:t>
            </a:r>
            <a:r>
              <a:rPr lang="zh-CN" altLang="en-US" sz="2400" b="1" dirty="0">
                <a:solidFill>
                  <a:srgbClr val="FFFF00"/>
                </a:solidFill>
                <a:latin typeface="+mn-ea"/>
              </a:rPr>
              <a:t>一种</a:t>
            </a:r>
            <a:r>
              <a:rPr lang="zh-CN" altLang="en-US" sz="2400" b="1" dirty="0">
                <a:solidFill>
                  <a:schemeClr val="bg1"/>
                </a:solidFill>
                <a:latin typeface="+mn-ea"/>
              </a:rPr>
              <a:t>是在内存中</a:t>
            </a:r>
            <a:r>
              <a:rPr lang="zh-CN" altLang="en-US" sz="2400" b="1" dirty="0">
                <a:solidFill>
                  <a:srgbClr val="FFFF00"/>
                </a:solidFill>
                <a:latin typeface="+mn-ea"/>
              </a:rPr>
              <a:t>划分一块固定区域</a:t>
            </a:r>
            <a:r>
              <a:rPr lang="zh-CN" altLang="en-US" sz="2400" b="1" dirty="0">
                <a:solidFill>
                  <a:schemeClr val="bg1"/>
                </a:solidFill>
                <a:latin typeface="+mn-ea"/>
              </a:rPr>
              <a:t>，每个单元的每个比特代表一个页面。如果该页面已被分配，则对应比特位置</a:t>
            </a:r>
            <a:r>
              <a:rPr lang="en-US" altLang="zh-CN" sz="2400" b="1" dirty="0">
                <a:solidFill>
                  <a:schemeClr val="bg1"/>
                </a:solidFill>
                <a:latin typeface="+mn-ea"/>
              </a:rPr>
              <a:t>1</a:t>
            </a:r>
            <a:r>
              <a:rPr lang="zh-CN" altLang="en-US" sz="2400" b="1" dirty="0">
                <a:solidFill>
                  <a:schemeClr val="bg1"/>
                </a:solidFill>
                <a:latin typeface="+mn-ea"/>
              </a:rPr>
              <a:t>，否则置</a:t>
            </a:r>
            <a:r>
              <a:rPr lang="en-US" altLang="zh-CN" sz="2400" b="1" dirty="0">
                <a:solidFill>
                  <a:schemeClr val="bg1"/>
                </a:solidFill>
                <a:latin typeface="+mn-ea"/>
              </a:rPr>
              <a:t>0</a:t>
            </a:r>
            <a:r>
              <a:rPr lang="zh-CN" altLang="en-US" sz="2400" b="1" dirty="0">
                <a:solidFill>
                  <a:schemeClr val="bg1"/>
                </a:solidFill>
                <a:latin typeface="+mn-ea"/>
              </a:rPr>
              <a:t>。这种方法称为</a:t>
            </a:r>
            <a:r>
              <a:rPr lang="zh-CN" altLang="en-US" sz="2400" b="1" dirty="0">
                <a:solidFill>
                  <a:srgbClr val="FFFF00"/>
                </a:solidFill>
                <a:latin typeface="+mn-ea"/>
              </a:rPr>
              <a:t>位示图</a:t>
            </a:r>
            <a:r>
              <a:rPr lang="zh-CN" altLang="en-US" sz="2400" b="1" dirty="0" smtClean="0">
                <a:solidFill>
                  <a:srgbClr val="FFFF00"/>
                </a:solidFill>
                <a:latin typeface="+mn-ea"/>
              </a:rPr>
              <a:t>法</a:t>
            </a:r>
            <a:r>
              <a:rPr lang="zh-CN" altLang="en-US" sz="2400" b="1" dirty="0" smtClean="0">
                <a:solidFill>
                  <a:schemeClr val="bg1"/>
                </a:solidFill>
                <a:latin typeface="+mn-ea"/>
              </a:rPr>
              <a:t>。</a:t>
            </a:r>
            <a:endParaRPr lang="en-US" altLang="zh-CN" sz="2400" b="1" dirty="0">
              <a:solidFill>
                <a:schemeClr val="bg1"/>
              </a:solidFill>
              <a:latin typeface="+mn-ea"/>
            </a:endParaRPr>
          </a:p>
        </p:txBody>
      </p:sp>
      <p:pic>
        <p:nvPicPr>
          <p:cNvPr id="6" name="图片 5"/>
          <p:cNvPicPr>
            <a:picLocks noChangeAspect="1"/>
          </p:cNvPicPr>
          <p:nvPr/>
        </p:nvPicPr>
        <p:blipFill rotWithShape="1">
          <a:blip r:embed="rId3"/>
          <a:srcRect l="41698" t="44094" r="27863" b="30313"/>
          <a:stretch>
            <a:fillRect/>
          </a:stretch>
        </p:blipFill>
        <p:spPr>
          <a:xfrm>
            <a:off x="1203700" y="1491630"/>
            <a:ext cx="6058969" cy="2864239"/>
          </a:xfrm>
          <a:prstGeom prst="rect">
            <a:avLst/>
          </a:prstGeom>
        </p:spPr>
      </p:pic>
    </p:spTree>
    <p:extLst>
      <p:ext uri="{BB962C8B-B14F-4D97-AF65-F5344CB8AC3E}">
        <p14:creationId xmlns:p14="http://schemas.microsoft.com/office/powerpoint/2010/main" val="175945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7868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内存页面分配与回收</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存储页面表</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30945"/>
            <a:ext cx="6955218"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存储页面表的另一种构成办法是采用</a:t>
            </a:r>
            <a:r>
              <a:rPr lang="zh-CN" altLang="en-US" sz="2200" b="1" dirty="0">
                <a:solidFill>
                  <a:srgbClr val="FFFF00"/>
                </a:solidFill>
                <a:latin typeface="+mn-ea"/>
              </a:rPr>
              <a:t>空闲页面链</a:t>
            </a:r>
            <a:r>
              <a:rPr lang="zh-CN" altLang="en-US" sz="2200" b="1" dirty="0">
                <a:solidFill>
                  <a:schemeClr val="bg1"/>
                </a:solidFill>
                <a:latin typeface="+mn-ea"/>
              </a:rPr>
              <a:t>的方法。在空闲页面链中，</a:t>
            </a:r>
            <a:r>
              <a:rPr lang="zh-CN" altLang="en-US" sz="2200" b="1" dirty="0">
                <a:solidFill>
                  <a:srgbClr val="FFFF00"/>
                </a:solidFill>
                <a:latin typeface="+mn-ea"/>
              </a:rPr>
              <a:t>队首</a:t>
            </a:r>
            <a:r>
              <a:rPr lang="zh-CN" altLang="en-US" sz="2200" b="1" dirty="0">
                <a:solidFill>
                  <a:schemeClr val="bg1"/>
                </a:solidFill>
                <a:latin typeface="+mn-ea"/>
              </a:rPr>
              <a:t>页面的</a:t>
            </a:r>
            <a:r>
              <a:rPr lang="zh-CN" altLang="en-US" sz="2200" b="1" dirty="0">
                <a:solidFill>
                  <a:srgbClr val="FFFF00"/>
                </a:solidFill>
                <a:latin typeface="+mn-ea"/>
              </a:rPr>
              <a:t>第一个单元</a:t>
            </a:r>
            <a:r>
              <a:rPr lang="zh-CN" altLang="en-US" sz="2200" b="1" dirty="0">
                <a:solidFill>
                  <a:schemeClr val="bg1"/>
                </a:solidFill>
                <a:latin typeface="+mn-ea"/>
              </a:rPr>
              <a:t>和</a:t>
            </a:r>
            <a:r>
              <a:rPr lang="zh-CN" altLang="en-US" sz="2200" b="1" dirty="0">
                <a:solidFill>
                  <a:srgbClr val="FFFF00"/>
                </a:solidFill>
                <a:latin typeface="+mn-ea"/>
              </a:rPr>
              <a:t>第二个单元</a:t>
            </a:r>
            <a:r>
              <a:rPr lang="zh-CN" altLang="en-US" sz="2200" b="1" dirty="0">
                <a:solidFill>
                  <a:schemeClr val="bg1"/>
                </a:solidFill>
                <a:latin typeface="+mn-ea"/>
              </a:rPr>
              <a:t>分别放入</a:t>
            </a:r>
            <a:r>
              <a:rPr lang="zh-CN" altLang="en-US" sz="2200" b="1" dirty="0">
                <a:solidFill>
                  <a:srgbClr val="FFFF00"/>
                </a:solidFill>
                <a:latin typeface="+mn-ea"/>
              </a:rPr>
              <a:t>空闲页面总数</a:t>
            </a:r>
            <a:r>
              <a:rPr lang="zh-CN" altLang="en-US" sz="2200" b="1" dirty="0">
                <a:solidFill>
                  <a:schemeClr val="bg1"/>
                </a:solidFill>
                <a:latin typeface="+mn-ea"/>
              </a:rPr>
              <a:t>与</a:t>
            </a:r>
            <a:r>
              <a:rPr lang="zh-CN" altLang="en-US" sz="2200" b="1" dirty="0">
                <a:solidFill>
                  <a:schemeClr val="accent6">
                    <a:lumMod val="20000"/>
                    <a:lumOff val="80000"/>
                  </a:schemeClr>
                </a:solidFill>
                <a:latin typeface="+mn-ea"/>
              </a:rPr>
              <a:t>指向下</a:t>
            </a:r>
            <a:r>
              <a:rPr lang="zh-CN" altLang="en-US" sz="2200" b="1" dirty="0">
                <a:solidFill>
                  <a:srgbClr val="FFFF00"/>
                </a:solidFill>
                <a:latin typeface="+mn-ea"/>
              </a:rPr>
              <a:t>一个空闲页面的指针</a:t>
            </a:r>
            <a:r>
              <a:rPr lang="zh-CN" altLang="en-US" sz="2200" b="1" dirty="0">
                <a:solidFill>
                  <a:schemeClr val="bg1"/>
                </a:solidFill>
                <a:latin typeface="+mn-ea"/>
              </a:rPr>
              <a:t>。其他页面的</a:t>
            </a:r>
            <a:r>
              <a:rPr lang="zh-CN" altLang="en-US" sz="2200" b="1" dirty="0">
                <a:solidFill>
                  <a:srgbClr val="FFFF00"/>
                </a:solidFill>
                <a:latin typeface="+mn-ea"/>
              </a:rPr>
              <a:t>第一个单元</a:t>
            </a:r>
            <a:r>
              <a:rPr lang="zh-CN" altLang="en-US" sz="2200" b="1" dirty="0">
                <a:solidFill>
                  <a:schemeClr val="bg1"/>
                </a:solidFill>
                <a:latin typeface="+mn-ea"/>
              </a:rPr>
              <a:t>中则分别放入指向</a:t>
            </a:r>
            <a:r>
              <a:rPr lang="zh-CN" altLang="en-US" sz="2200" b="1" dirty="0">
                <a:solidFill>
                  <a:srgbClr val="FFFF00"/>
                </a:solidFill>
                <a:latin typeface="+mn-ea"/>
              </a:rPr>
              <a:t>下一个页面的指针</a:t>
            </a:r>
            <a:r>
              <a:rPr lang="zh-CN" altLang="en-US" sz="2200" b="1" dirty="0">
                <a:solidFill>
                  <a:schemeClr val="bg1"/>
                </a:solidFill>
                <a:latin typeface="+mn-ea"/>
              </a:rPr>
              <a:t>。空闲页面链的方法由于使用了空闲页面本身的单元存放指针，因此</a:t>
            </a:r>
            <a:r>
              <a:rPr lang="zh-CN" altLang="en-US" sz="2200" b="1" dirty="0">
                <a:solidFill>
                  <a:srgbClr val="FFFF00"/>
                </a:solidFill>
                <a:latin typeface="+mn-ea"/>
              </a:rPr>
              <a:t>不占据额外的内存空间</a:t>
            </a:r>
            <a:r>
              <a:rPr lang="zh-CN" altLang="en-US" sz="2200" b="1" dirty="0">
                <a:solidFill>
                  <a:schemeClr val="bg1"/>
                </a:solidFill>
                <a:latin typeface="+mn-ea"/>
              </a:rPr>
              <a:t>。</a:t>
            </a:r>
            <a:endParaRPr lang="en-US" altLang="zh-CN" sz="2200" b="1" dirty="0">
              <a:solidFill>
                <a:schemeClr val="bg1"/>
              </a:solidFill>
              <a:latin typeface="+mn-ea"/>
            </a:endParaRPr>
          </a:p>
        </p:txBody>
      </p:sp>
    </p:spTree>
    <p:extLst>
      <p:ext uri="{BB962C8B-B14F-4D97-AF65-F5344CB8AC3E}">
        <p14:creationId xmlns:p14="http://schemas.microsoft.com/office/powerpoint/2010/main" val="418252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7868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分配算法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7" descr="E:\操作系统教材编写\张校长教材\新版\e18.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268" y="31626"/>
            <a:ext cx="3456384" cy="4961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30"/>
          <p:cNvPicPr>
            <a:picLocks noChangeAspect="1"/>
          </p:cNvPicPr>
          <p:nvPr/>
        </p:nvPicPr>
        <p:blipFill rotWithShape="1">
          <a:blip r:embed="rId4"/>
          <a:srcRect l="41698" t="44094" r="27863" b="30313"/>
          <a:stretch>
            <a:fillRect/>
          </a:stretch>
        </p:blipFill>
        <p:spPr>
          <a:xfrm>
            <a:off x="4089762" y="57228"/>
            <a:ext cx="3795935" cy="1794441"/>
          </a:xfrm>
          <a:prstGeom prst="rect">
            <a:avLst/>
          </a:prstGeom>
        </p:spPr>
      </p:pic>
      <p:pic>
        <p:nvPicPr>
          <p:cNvPr id="32" name="图片 31"/>
          <p:cNvPicPr>
            <a:picLocks noChangeAspect="1"/>
          </p:cNvPicPr>
          <p:nvPr/>
        </p:nvPicPr>
        <p:blipFill rotWithShape="1">
          <a:blip r:embed="rId5"/>
          <a:srcRect l="35057" t="58217" r="24542" b="20212"/>
          <a:stretch>
            <a:fillRect/>
          </a:stretch>
        </p:blipFill>
        <p:spPr>
          <a:xfrm>
            <a:off x="4089762" y="2092700"/>
            <a:ext cx="4963908" cy="1427973"/>
          </a:xfrm>
          <a:prstGeom prst="rect">
            <a:avLst/>
          </a:prstGeom>
        </p:spPr>
      </p:pic>
      <p:graphicFrame>
        <p:nvGraphicFramePr>
          <p:cNvPr id="30" name="表格 29"/>
          <p:cNvGraphicFramePr>
            <a:graphicFrameLocks noGrp="1"/>
          </p:cNvGraphicFramePr>
          <p:nvPr/>
        </p:nvGraphicFramePr>
        <p:xfrm>
          <a:off x="5004048" y="3606656"/>
          <a:ext cx="1789858" cy="1463040"/>
        </p:xfrm>
        <a:graphic>
          <a:graphicData uri="http://schemas.openxmlformats.org/drawingml/2006/table">
            <a:tbl>
              <a:tblPr firstRow="1" bandRow="1">
                <a:tableStyleId>{5C22544A-7EE6-4342-B048-85BDC9FD1C3A}</a:tableStyleId>
              </a:tblPr>
              <a:tblGrid>
                <a:gridCol w="894929">
                  <a:extLst>
                    <a:ext uri="{9D8B030D-6E8A-4147-A177-3AD203B41FA5}">
                      <a16:colId xmlns:a16="http://schemas.microsoft.com/office/drawing/2014/main" val="20000"/>
                    </a:ext>
                  </a:extLst>
                </a:gridCol>
                <a:gridCol w="894929">
                  <a:extLst>
                    <a:ext uri="{9D8B030D-6E8A-4147-A177-3AD203B41FA5}">
                      <a16:colId xmlns:a16="http://schemas.microsoft.com/office/drawing/2014/main" val="20001"/>
                    </a:ext>
                  </a:extLst>
                </a:gridCol>
              </a:tblGrid>
              <a:tr h="338833">
                <a:tc>
                  <a:txBody>
                    <a:bodyPr/>
                    <a:lstStyle/>
                    <a:p>
                      <a:pPr algn="ctr"/>
                      <a:r>
                        <a:rPr lang="zh-CN" altLang="en-US" sz="1800" b="1" dirty="0" smtClean="0"/>
                        <a:t>页号</a:t>
                      </a:r>
                      <a:endParaRPr lang="zh-CN" altLang="en-US" sz="1800" b="1" dirty="0"/>
                    </a:p>
                  </a:txBody>
                  <a:tcPr/>
                </a:tc>
                <a:tc>
                  <a:txBody>
                    <a:bodyPr/>
                    <a:lstStyle/>
                    <a:p>
                      <a:pPr algn="ctr"/>
                      <a:r>
                        <a:rPr lang="zh-CN" altLang="en-US" sz="1800" b="1" dirty="0" smtClean="0"/>
                        <a:t>页面号</a:t>
                      </a:r>
                      <a:endParaRPr lang="zh-CN" altLang="en-US" sz="1800" b="1" dirty="0"/>
                    </a:p>
                  </a:txBody>
                  <a:tcPr/>
                </a:tc>
                <a:extLst>
                  <a:ext uri="{0D108BD9-81ED-4DB2-BD59-A6C34878D82A}">
                    <a16:rowId xmlns:a16="http://schemas.microsoft.com/office/drawing/2014/main" val="10000"/>
                  </a:ext>
                </a:extLst>
              </a:tr>
              <a:tr h="338833">
                <a:tc>
                  <a:txBody>
                    <a:bodyPr/>
                    <a:lstStyle/>
                    <a:p>
                      <a:pPr algn="ctr"/>
                      <a:endParaRPr lang="zh-CN" altLang="en-US" sz="1800" b="0" dirty="0"/>
                    </a:p>
                  </a:txBody>
                  <a:tcPr/>
                </a:tc>
                <a:tc>
                  <a:txBody>
                    <a:bodyPr/>
                    <a:lstStyle/>
                    <a:p>
                      <a:pPr algn="ctr"/>
                      <a:endParaRPr lang="zh-CN" altLang="en-US" sz="1800" b="0" dirty="0"/>
                    </a:p>
                  </a:txBody>
                  <a:tcPr/>
                </a:tc>
                <a:extLst>
                  <a:ext uri="{0D108BD9-81ED-4DB2-BD59-A6C34878D82A}">
                    <a16:rowId xmlns:a16="http://schemas.microsoft.com/office/drawing/2014/main" val="10001"/>
                  </a:ext>
                </a:extLst>
              </a:tr>
              <a:tr h="338833">
                <a:tc>
                  <a:txBody>
                    <a:bodyPr/>
                    <a:lstStyle/>
                    <a:p>
                      <a:pPr algn="ctr"/>
                      <a:endParaRPr lang="zh-CN" altLang="en-US" sz="1800" b="0" dirty="0"/>
                    </a:p>
                  </a:txBody>
                  <a:tcPr/>
                </a:tc>
                <a:tc>
                  <a:txBody>
                    <a:bodyPr/>
                    <a:lstStyle/>
                    <a:p>
                      <a:pPr algn="ctr"/>
                      <a:endParaRPr lang="zh-CN" altLang="en-US" sz="1800" b="0" dirty="0"/>
                    </a:p>
                  </a:txBody>
                  <a:tcPr/>
                </a:tc>
                <a:extLst>
                  <a:ext uri="{0D108BD9-81ED-4DB2-BD59-A6C34878D82A}">
                    <a16:rowId xmlns:a16="http://schemas.microsoft.com/office/drawing/2014/main" val="10002"/>
                  </a:ext>
                </a:extLst>
              </a:tr>
              <a:tr h="338833">
                <a:tc>
                  <a:txBody>
                    <a:bodyPr/>
                    <a:lstStyle/>
                    <a:p>
                      <a:pPr algn="ctr"/>
                      <a:endParaRPr lang="zh-CN" altLang="en-US" sz="1800" b="0" dirty="0"/>
                    </a:p>
                  </a:txBody>
                  <a:tcPr/>
                </a:tc>
                <a:tc>
                  <a:txBody>
                    <a:bodyPr/>
                    <a:lstStyle/>
                    <a:p>
                      <a:pPr algn="ctr"/>
                      <a:endParaRPr lang="zh-CN" altLang="en-US" sz="1800" b="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5437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2067694"/>
            <a:ext cx="4392488" cy="17081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怎样</a:t>
            </a:r>
            <a:r>
              <a:rPr lang="zh-CN" altLang="en-US" sz="2400" b="1" dirty="0">
                <a:solidFill>
                  <a:schemeClr val="bg1"/>
                </a:solidFill>
                <a:latin typeface="+mn-ea"/>
              </a:rPr>
              <a:t>由页号和页内相对地址变换到内存物理</a:t>
            </a:r>
            <a:r>
              <a:rPr lang="zh-CN" altLang="en-US" sz="2400" b="1" dirty="0" smtClean="0">
                <a:solidFill>
                  <a:schemeClr val="bg1"/>
                </a:solidFill>
                <a:latin typeface="+mn-ea"/>
              </a:rPr>
              <a:t>地址？</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200" b="1" dirty="0">
              <a:solidFill>
                <a:schemeClr val="bg1"/>
              </a:solidFill>
              <a:latin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7258" y="1281469"/>
            <a:ext cx="3090481" cy="3090481"/>
          </a:xfrm>
          <a:prstGeom prst="rect">
            <a:avLst/>
          </a:prstGeom>
        </p:spPr>
      </p:pic>
    </p:spTree>
    <p:extLst>
      <p:ext uri="{BB962C8B-B14F-4D97-AF65-F5344CB8AC3E}">
        <p14:creationId xmlns:p14="http://schemas.microsoft.com/office/powerpoint/2010/main" val="343849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41098" y="910521"/>
            <a:ext cx="4813920"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由地址分配方式知道，在一个作业或进程的页表中，连续的页号对应于不连续的页面号。例如，设一个</a:t>
            </a:r>
            <a:r>
              <a:rPr lang="en-US" altLang="zh-CN" sz="2400" b="1" dirty="0">
                <a:solidFill>
                  <a:schemeClr val="bg1"/>
                </a:solidFill>
                <a:latin typeface="+mn-ea"/>
              </a:rPr>
              <a:t>3</a:t>
            </a:r>
            <a:r>
              <a:rPr lang="zh-CN" altLang="en-US" sz="2400" b="1" dirty="0">
                <a:solidFill>
                  <a:schemeClr val="bg1"/>
                </a:solidFill>
                <a:latin typeface="+mn-ea"/>
              </a:rPr>
              <a:t>页长的进程具有页号</a:t>
            </a:r>
            <a:r>
              <a:rPr lang="en-US" altLang="zh-CN" sz="2400" b="1" dirty="0">
                <a:solidFill>
                  <a:schemeClr val="bg1"/>
                </a:solidFill>
                <a:latin typeface="+mn-ea"/>
              </a:rPr>
              <a:t>0</a:t>
            </a:r>
            <a:r>
              <a:rPr lang="zh-CN" altLang="en-US" sz="2400" b="1" dirty="0">
                <a:solidFill>
                  <a:schemeClr val="bg1"/>
                </a:solidFill>
                <a:latin typeface="+mn-ea"/>
              </a:rPr>
              <a:t>，</a:t>
            </a:r>
            <a:r>
              <a:rPr lang="en-US" altLang="zh-CN" sz="2400" b="1"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，但其对应的页面号则为</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3</a:t>
            </a:r>
            <a:r>
              <a:rPr lang="zh-CN" altLang="en-US" sz="2400" b="1" dirty="0">
                <a:solidFill>
                  <a:schemeClr val="bg1"/>
                </a:solidFill>
                <a:latin typeface="+mn-ea"/>
              </a:rPr>
              <a:t>，</a:t>
            </a:r>
            <a:r>
              <a:rPr lang="en-US" altLang="zh-CN" sz="2400" b="1" dirty="0">
                <a:solidFill>
                  <a:schemeClr val="bg1"/>
                </a:solidFill>
                <a:latin typeface="+mn-ea"/>
              </a:rPr>
              <a:t>8</a:t>
            </a:r>
            <a:r>
              <a:rPr lang="zh-CN" altLang="en-US" sz="2400" b="1" dirty="0">
                <a:solidFill>
                  <a:schemeClr val="bg1"/>
                </a:solidFill>
                <a:latin typeface="+mn-ea"/>
              </a:rPr>
              <a:t>。</a:t>
            </a:r>
          </a:p>
        </p:txBody>
      </p:sp>
      <p:graphicFrame>
        <p:nvGraphicFramePr>
          <p:cNvPr id="29" name="表格 28"/>
          <p:cNvGraphicFramePr>
            <a:graphicFrameLocks noGrp="1"/>
          </p:cNvGraphicFramePr>
          <p:nvPr/>
        </p:nvGraphicFramePr>
        <p:xfrm>
          <a:off x="5940152" y="1676595"/>
          <a:ext cx="1752600" cy="1828800"/>
        </p:xfrm>
        <a:graphic>
          <a:graphicData uri="http://schemas.openxmlformats.org/drawingml/2006/table">
            <a:tbl>
              <a:tblPr>
                <a:tableStyleId>{284E427A-3D55-4303-BF80-6455036E1DE7}</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tblGrid>
              <a:tr h="438150">
                <a:tc>
                  <a:txBody>
                    <a:bodyPr/>
                    <a:lstStyle/>
                    <a:p>
                      <a:pPr algn="ctr">
                        <a:spcBef>
                          <a:spcPts val="0"/>
                        </a:spcBef>
                        <a:spcAft>
                          <a:spcPts val="0"/>
                        </a:spcAft>
                      </a:pPr>
                      <a:r>
                        <a:rPr lang="zh-CN" altLang="en-US" sz="2400" b="1" dirty="0"/>
                        <a:t>页号</a:t>
                      </a:r>
                      <a:endParaRPr lang="zh-CN" altLang="en-US" sz="2400" b="1" dirty="0">
                        <a:latin typeface="宋体" panose="02010600030101010101" pitchFamily="2" charset="-122"/>
                      </a:endParaRPr>
                    </a:p>
                  </a:txBody>
                  <a:tcPr marL="68580" marR="68580"/>
                </a:tc>
                <a:tc>
                  <a:txBody>
                    <a:bodyPr/>
                    <a:lstStyle/>
                    <a:p>
                      <a:pPr algn="ctr">
                        <a:spcBef>
                          <a:spcPts val="0"/>
                        </a:spcBef>
                        <a:spcAft>
                          <a:spcPts val="0"/>
                        </a:spcAft>
                      </a:pPr>
                      <a:r>
                        <a:rPr lang="zh-CN" altLang="en-US" sz="2400" b="1" dirty="0"/>
                        <a:t>面号</a:t>
                      </a:r>
                      <a:endParaRPr lang="zh-CN" altLang="en-US" sz="2400" b="1" dirty="0">
                        <a:latin typeface="宋体" panose="02010600030101010101" pitchFamily="2" charset="-122"/>
                      </a:endParaRPr>
                    </a:p>
                  </a:txBody>
                  <a:tcPr marL="68580" marR="68580"/>
                </a:tc>
                <a:extLst>
                  <a:ext uri="{0D108BD9-81ED-4DB2-BD59-A6C34878D82A}">
                    <a16:rowId xmlns:a16="http://schemas.microsoft.com/office/drawing/2014/main" val="10000"/>
                  </a:ext>
                </a:extLst>
              </a:tr>
              <a:tr h="438150">
                <a:tc>
                  <a:txBody>
                    <a:bodyPr/>
                    <a:lstStyle/>
                    <a:p>
                      <a:pPr algn="ctr">
                        <a:spcBef>
                          <a:spcPts val="0"/>
                        </a:spcBef>
                        <a:spcAft>
                          <a:spcPts val="0"/>
                        </a:spcAft>
                      </a:pPr>
                      <a:r>
                        <a:rPr lang="en-US" altLang="zh-CN" sz="2400" b="1"/>
                        <a:t>0</a:t>
                      </a:r>
                      <a:endParaRPr lang="zh-CN" altLang="en-US" sz="2400" b="1">
                        <a:latin typeface="宋体" panose="02010600030101010101" pitchFamily="2" charset="-122"/>
                      </a:endParaRPr>
                    </a:p>
                  </a:txBody>
                  <a:tcPr marL="68580" marR="68580"/>
                </a:tc>
                <a:tc>
                  <a:txBody>
                    <a:bodyPr/>
                    <a:lstStyle/>
                    <a:p>
                      <a:pPr algn="ctr">
                        <a:spcBef>
                          <a:spcPts val="0"/>
                        </a:spcBef>
                        <a:spcAft>
                          <a:spcPts val="0"/>
                        </a:spcAft>
                      </a:pPr>
                      <a:r>
                        <a:rPr lang="en-US" altLang="zh-CN" sz="2400" b="1" dirty="0"/>
                        <a:t>2</a:t>
                      </a:r>
                      <a:endParaRPr lang="zh-CN" altLang="en-US" sz="2400" b="1" dirty="0">
                        <a:latin typeface="宋体" panose="02010600030101010101" pitchFamily="2" charset="-122"/>
                      </a:endParaRPr>
                    </a:p>
                  </a:txBody>
                  <a:tcPr marL="68580" marR="68580"/>
                </a:tc>
                <a:extLst>
                  <a:ext uri="{0D108BD9-81ED-4DB2-BD59-A6C34878D82A}">
                    <a16:rowId xmlns:a16="http://schemas.microsoft.com/office/drawing/2014/main" val="10001"/>
                  </a:ext>
                </a:extLst>
              </a:tr>
              <a:tr h="438150">
                <a:tc>
                  <a:txBody>
                    <a:bodyPr/>
                    <a:lstStyle/>
                    <a:p>
                      <a:pPr algn="ctr">
                        <a:spcBef>
                          <a:spcPts val="0"/>
                        </a:spcBef>
                        <a:spcAft>
                          <a:spcPts val="0"/>
                        </a:spcAft>
                      </a:pPr>
                      <a:r>
                        <a:rPr lang="en-US" altLang="zh-CN" sz="2400" b="1"/>
                        <a:t>1</a:t>
                      </a:r>
                      <a:endParaRPr lang="zh-CN" altLang="en-US" sz="2400" b="1">
                        <a:latin typeface="宋体" panose="02010600030101010101" pitchFamily="2" charset="-122"/>
                      </a:endParaRPr>
                    </a:p>
                  </a:txBody>
                  <a:tcPr marL="68580" marR="68580"/>
                </a:tc>
                <a:tc>
                  <a:txBody>
                    <a:bodyPr/>
                    <a:lstStyle/>
                    <a:p>
                      <a:pPr algn="ctr">
                        <a:spcBef>
                          <a:spcPts val="0"/>
                        </a:spcBef>
                        <a:spcAft>
                          <a:spcPts val="0"/>
                        </a:spcAft>
                      </a:pPr>
                      <a:r>
                        <a:rPr lang="en-US" altLang="zh-CN" sz="2400" b="1"/>
                        <a:t>3</a:t>
                      </a:r>
                      <a:endParaRPr lang="zh-CN" altLang="en-US" sz="2400" b="1">
                        <a:latin typeface="宋体" panose="02010600030101010101" pitchFamily="2" charset="-122"/>
                      </a:endParaRPr>
                    </a:p>
                  </a:txBody>
                  <a:tcPr marL="68580" marR="68580"/>
                </a:tc>
                <a:extLst>
                  <a:ext uri="{0D108BD9-81ED-4DB2-BD59-A6C34878D82A}">
                    <a16:rowId xmlns:a16="http://schemas.microsoft.com/office/drawing/2014/main" val="10002"/>
                  </a:ext>
                </a:extLst>
              </a:tr>
              <a:tr h="438150">
                <a:tc>
                  <a:txBody>
                    <a:bodyPr/>
                    <a:lstStyle/>
                    <a:p>
                      <a:pPr algn="ctr">
                        <a:spcBef>
                          <a:spcPts val="0"/>
                        </a:spcBef>
                        <a:spcAft>
                          <a:spcPts val="0"/>
                        </a:spcAft>
                      </a:pPr>
                      <a:r>
                        <a:rPr lang="en-US" altLang="zh-CN" sz="2400" b="1"/>
                        <a:t>2</a:t>
                      </a:r>
                      <a:endParaRPr lang="zh-CN" altLang="en-US" sz="2400" b="1">
                        <a:latin typeface="宋体" panose="02010600030101010101" pitchFamily="2" charset="-122"/>
                      </a:endParaRPr>
                    </a:p>
                  </a:txBody>
                  <a:tcPr marL="68580" marR="68580"/>
                </a:tc>
                <a:tc>
                  <a:txBody>
                    <a:bodyPr/>
                    <a:lstStyle/>
                    <a:p>
                      <a:pPr algn="ctr">
                        <a:spcBef>
                          <a:spcPts val="0"/>
                        </a:spcBef>
                        <a:spcAft>
                          <a:spcPts val="0"/>
                        </a:spcAft>
                      </a:pPr>
                      <a:r>
                        <a:rPr lang="en-US" altLang="zh-CN" sz="2400" b="1" dirty="0"/>
                        <a:t>8</a:t>
                      </a:r>
                      <a:endParaRPr lang="zh-CN" altLang="en-US" sz="2400" b="1" dirty="0">
                        <a:latin typeface="宋体" panose="02010600030101010101" pitchFamily="2" charset="-122"/>
                      </a:endParaRPr>
                    </a:p>
                  </a:txBody>
                  <a:tcPr marL="68580" marR="68580"/>
                </a:tc>
                <a:extLst>
                  <a:ext uri="{0D108BD9-81ED-4DB2-BD59-A6C34878D82A}">
                    <a16:rowId xmlns:a16="http://schemas.microsoft.com/office/drawing/2014/main" val="10003"/>
                  </a:ext>
                </a:extLst>
              </a:tr>
            </a:tbl>
          </a:graphicData>
        </a:graphic>
      </p:graphicFrame>
      <p:sp>
        <p:nvSpPr>
          <p:cNvPr id="3" name="矩形 2"/>
          <p:cNvSpPr/>
          <p:nvPr/>
        </p:nvSpPr>
        <p:spPr>
          <a:xfrm>
            <a:off x="841098" y="3579862"/>
            <a:ext cx="6755238" cy="1049133"/>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设每个</a:t>
            </a:r>
            <a:r>
              <a:rPr lang="zh-CN" altLang="en-US" sz="2400" b="1" dirty="0">
                <a:solidFill>
                  <a:srgbClr val="FFFF00"/>
                </a:solidFill>
                <a:latin typeface="+mn-ea"/>
              </a:rPr>
              <a:t>页面长度为</a:t>
            </a:r>
            <a:r>
              <a:rPr lang="en-US" altLang="zh-CN" sz="2400" b="1" dirty="0">
                <a:solidFill>
                  <a:srgbClr val="FFFF00"/>
                </a:solidFill>
                <a:latin typeface="+mn-ea"/>
              </a:rPr>
              <a:t>1K</a:t>
            </a:r>
            <a:r>
              <a:rPr lang="zh-CN" altLang="en-US" sz="2400" b="1" dirty="0">
                <a:solidFill>
                  <a:schemeClr val="bg1"/>
                </a:solidFill>
                <a:latin typeface="+mn-ea"/>
              </a:rPr>
              <a:t>，指令</a:t>
            </a:r>
            <a:r>
              <a:rPr lang="en-US" altLang="zh-CN" sz="2400" b="1" dirty="0">
                <a:solidFill>
                  <a:srgbClr val="FFFF00"/>
                </a:solidFill>
                <a:latin typeface="+mn-ea"/>
              </a:rPr>
              <a:t>LOAD 1</a:t>
            </a:r>
            <a:r>
              <a:rPr lang="zh-CN" altLang="en-US" sz="2400" b="1" dirty="0">
                <a:solidFill>
                  <a:srgbClr val="FFFF00"/>
                </a:solidFill>
                <a:latin typeface="+mn-ea"/>
              </a:rPr>
              <a:t>，</a:t>
            </a:r>
            <a:r>
              <a:rPr lang="en-US" altLang="zh-CN" sz="2400" b="1" dirty="0">
                <a:solidFill>
                  <a:srgbClr val="FFFF00"/>
                </a:solidFill>
                <a:latin typeface="+mn-ea"/>
              </a:rPr>
              <a:t>2500</a:t>
            </a:r>
            <a:r>
              <a:rPr lang="zh-CN" altLang="en-US" sz="2400" b="1" dirty="0">
                <a:solidFill>
                  <a:schemeClr val="bg1"/>
                </a:solidFill>
                <a:latin typeface="+mn-ea"/>
              </a:rPr>
              <a:t>的</a:t>
            </a:r>
            <a:r>
              <a:rPr lang="zh-CN" altLang="en-US" sz="2400" b="1" dirty="0">
                <a:solidFill>
                  <a:srgbClr val="FFFF00"/>
                </a:solidFill>
                <a:latin typeface="+mn-ea"/>
              </a:rPr>
              <a:t>虚地址为</a:t>
            </a:r>
            <a:r>
              <a:rPr lang="en-US" altLang="zh-CN" sz="2400" b="1" dirty="0">
                <a:solidFill>
                  <a:srgbClr val="FFFF00"/>
                </a:solidFill>
                <a:latin typeface="+mn-ea"/>
              </a:rPr>
              <a:t>100</a:t>
            </a:r>
            <a:endParaRPr lang="zh-CN" altLang="en-US" sz="2400" b="1" dirty="0">
              <a:solidFill>
                <a:srgbClr val="FFFF00"/>
              </a:solidFill>
              <a:latin typeface="+mn-ea"/>
            </a:endParaRPr>
          </a:p>
        </p:txBody>
      </p:sp>
    </p:spTree>
    <p:extLst>
      <p:ext uri="{BB962C8B-B14F-4D97-AF65-F5344CB8AC3E}">
        <p14:creationId xmlns:p14="http://schemas.microsoft.com/office/powerpoint/2010/main" val="76010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0" name="Picture 3" descr="E:\操作系统教材编写\张校长教材\新版\e20.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614" y="357569"/>
            <a:ext cx="4740129" cy="46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292080" y="1921207"/>
            <a:ext cx="2520280" cy="153651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上述地址变换过程全部由硬件地址变换机构自动完成。</a:t>
            </a:r>
          </a:p>
        </p:txBody>
      </p:sp>
    </p:spTree>
    <p:extLst>
      <p:ext uri="{BB962C8B-B14F-4D97-AF65-F5344CB8AC3E}">
        <p14:creationId xmlns:p14="http://schemas.microsoft.com/office/powerpoint/2010/main" val="329862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635111"/>
            <a:ext cx="4392488" cy="273683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怎样</a:t>
            </a:r>
            <a:r>
              <a:rPr lang="zh-CN" altLang="en-US" sz="2400" b="1" dirty="0">
                <a:solidFill>
                  <a:schemeClr val="bg1"/>
                </a:solidFill>
                <a:latin typeface="+mn-ea"/>
              </a:rPr>
              <a:t>由页号和页内相对地址变换到内存物理</a:t>
            </a:r>
            <a:r>
              <a:rPr lang="zh-CN" altLang="en-US" sz="2400" b="1" dirty="0" smtClean="0">
                <a:solidFill>
                  <a:schemeClr val="bg1"/>
                </a:solidFill>
                <a:latin typeface="+mn-ea"/>
              </a:rPr>
              <a:t>地址？</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页式</a:t>
            </a:r>
            <a:r>
              <a:rPr lang="zh-CN" altLang="en-US" sz="2400" b="1" dirty="0">
                <a:solidFill>
                  <a:schemeClr val="bg1"/>
                </a:solidFill>
                <a:latin typeface="+mn-ea"/>
              </a:rPr>
              <a:t>管理时，地址变换的速度怎样呢</a:t>
            </a:r>
            <a:r>
              <a:rPr lang="en-US" altLang="zh-CN" sz="24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200" b="1" dirty="0">
              <a:solidFill>
                <a:schemeClr val="bg1"/>
              </a:solidFill>
              <a:latin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7258" y="1281469"/>
            <a:ext cx="3090481" cy="3090481"/>
          </a:xfrm>
          <a:prstGeom prst="rect">
            <a:avLst/>
          </a:prstGeom>
        </p:spPr>
      </p:pic>
    </p:spTree>
    <p:extLst>
      <p:ext uri="{BB962C8B-B14F-4D97-AF65-F5344CB8AC3E}">
        <p14:creationId xmlns:p14="http://schemas.microsoft.com/office/powerpoint/2010/main" val="414934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29306"/>
            <a:ext cx="6899254"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由于页表是驻留在内存的某个固定区域中，而取数据或指令又必须经过页表变换才能得到实际物理地址。因此，</a:t>
            </a:r>
            <a:r>
              <a:rPr lang="zh-CN" altLang="en-US" sz="2400" b="1" dirty="0">
                <a:solidFill>
                  <a:srgbClr val="FFFF00"/>
                </a:solidFill>
                <a:latin typeface="+mn-ea"/>
              </a:rPr>
              <a:t>取一个数据或指令至少要访问内存两次以上</a:t>
            </a:r>
            <a:r>
              <a:rPr lang="zh-CN" altLang="en-US" sz="2400" b="1" dirty="0">
                <a:solidFill>
                  <a:schemeClr val="bg1"/>
                </a:solidFill>
                <a:latin typeface="+mn-ea"/>
              </a:rPr>
              <a:t>。一次访问页表以确定所取数据或指令的物理地址，另一次是根据地址取数据或指令。这比通常执行指令的速度</a:t>
            </a:r>
            <a:r>
              <a:rPr lang="zh-CN" altLang="en-US" sz="2400" b="1" dirty="0">
                <a:solidFill>
                  <a:srgbClr val="FFFF00"/>
                </a:solidFill>
                <a:latin typeface="+mn-ea"/>
              </a:rPr>
              <a:t>慢了一倍</a:t>
            </a:r>
            <a:r>
              <a:rPr lang="zh-CN" altLang="en-US" sz="2400" b="1" dirty="0">
                <a:solidFill>
                  <a:schemeClr val="bg1"/>
                </a:solidFill>
                <a:latin typeface="+mn-ea"/>
              </a:rPr>
              <a:t>。</a:t>
            </a:r>
          </a:p>
        </p:txBody>
      </p:sp>
    </p:spTree>
    <p:extLst>
      <p:ext uri="{BB962C8B-B14F-4D97-AF65-F5344CB8AC3E}">
        <p14:creationId xmlns:p14="http://schemas.microsoft.com/office/powerpoint/2010/main" val="376759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899254"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如何</a:t>
            </a:r>
            <a:r>
              <a:rPr lang="zh-CN" altLang="en-US" sz="2400" b="1" dirty="0" smtClean="0">
                <a:solidFill>
                  <a:srgbClr val="FFFF00"/>
                </a:solidFill>
                <a:latin typeface="+mn-ea"/>
              </a:rPr>
              <a:t>提高</a:t>
            </a:r>
            <a:r>
              <a:rPr lang="zh-CN" altLang="en-US" sz="2400" b="1" dirty="0">
                <a:solidFill>
                  <a:srgbClr val="FFFF00"/>
                </a:solidFill>
                <a:latin typeface="+mn-ea"/>
              </a:rPr>
              <a:t>查找</a:t>
            </a:r>
            <a:r>
              <a:rPr lang="zh-CN" altLang="en-US" sz="2400" b="1" dirty="0" smtClean="0">
                <a:solidFill>
                  <a:srgbClr val="FFFF00"/>
                </a:solidFill>
                <a:latin typeface="+mn-ea"/>
              </a:rPr>
              <a:t>速度</a:t>
            </a:r>
            <a:r>
              <a:rPr lang="en-US" altLang="zh-CN" sz="2400" b="1" dirty="0" smtClean="0">
                <a:solidFill>
                  <a:srgbClr val="FFFF00"/>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一</a:t>
            </a:r>
            <a:r>
              <a:rPr lang="zh-CN" altLang="en-US" sz="2400" b="1" dirty="0">
                <a:solidFill>
                  <a:schemeClr val="bg1"/>
                </a:solidFill>
                <a:latin typeface="+mn-ea"/>
              </a:rPr>
              <a:t>个最直观的办法就是把页表放在寄存器中而不是内存中，但由于寄存器价格太贵，这样做是不可取的</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56781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地址变换</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899254"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如何</a:t>
            </a:r>
            <a:r>
              <a:rPr lang="zh-CN" altLang="en-US" sz="2400" b="1" dirty="0" smtClean="0">
                <a:solidFill>
                  <a:srgbClr val="FFFF00"/>
                </a:solidFill>
                <a:latin typeface="+mn-ea"/>
              </a:rPr>
              <a:t>提高</a:t>
            </a:r>
            <a:r>
              <a:rPr lang="zh-CN" altLang="en-US" sz="2400" b="1">
                <a:solidFill>
                  <a:srgbClr val="FFFF00"/>
                </a:solidFill>
                <a:latin typeface="+mn-ea"/>
              </a:rPr>
              <a:t>查找</a:t>
            </a:r>
            <a:r>
              <a:rPr lang="zh-CN" altLang="en-US" sz="2400" b="1" smtClean="0">
                <a:solidFill>
                  <a:srgbClr val="FFFF00"/>
                </a:solidFill>
                <a:latin typeface="+mn-ea"/>
              </a:rPr>
              <a:t>速度</a:t>
            </a:r>
            <a:r>
              <a:rPr lang="en-US" altLang="zh-CN" sz="2400" b="1"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另</a:t>
            </a:r>
            <a:r>
              <a:rPr lang="zh-CN" altLang="en-US" sz="2400" b="1" dirty="0">
                <a:solidFill>
                  <a:schemeClr val="bg1"/>
                </a:solidFill>
                <a:latin typeface="+mn-ea"/>
              </a:rPr>
              <a:t>一种办法是在</a:t>
            </a:r>
            <a:r>
              <a:rPr lang="zh-CN" altLang="en-US" sz="2400" b="1" dirty="0">
                <a:solidFill>
                  <a:srgbClr val="FFFF00"/>
                </a:solidFill>
                <a:latin typeface="+mn-ea"/>
              </a:rPr>
              <a:t>地址变换机构</a:t>
            </a:r>
            <a:r>
              <a:rPr lang="zh-CN" altLang="en-US" sz="2400" b="1" dirty="0">
                <a:solidFill>
                  <a:schemeClr val="bg1"/>
                </a:solidFill>
                <a:latin typeface="+mn-ea"/>
              </a:rPr>
              <a:t>中加入一个</a:t>
            </a:r>
            <a:r>
              <a:rPr lang="zh-CN" altLang="en-US" sz="2400" b="1" dirty="0">
                <a:solidFill>
                  <a:srgbClr val="FFFF00"/>
                </a:solidFill>
                <a:latin typeface="+mn-ea"/>
              </a:rPr>
              <a:t>高速联想存储器</a:t>
            </a:r>
            <a:r>
              <a:rPr lang="zh-CN" altLang="en-US" sz="2400" b="1" dirty="0">
                <a:solidFill>
                  <a:schemeClr val="bg1"/>
                </a:solidFill>
                <a:latin typeface="+mn-ea"/>
              </a:rPr>
              <a:t>，构成一张</a:t>
            </a:r>
            <a:r>
              <a:rPr lang="zh-CN" altLang="en-US" sz="2400" b="1" dirty="0">
                <a:solidFill>
                  <a:srgbClr val="FFFF00"/>
                </a:solidFill>
                <a:latin typeface="+mn-ea"/>
              </a:rPr>
              <a:t>快表</a:t>
            </a:r>
            <a:r>
              <a:rPr lang="zh-CN" altLang="en-US" sz="2400" b="1" dirty="0">
                <a:solidFill>
                  <a:schemeClr val="bg1"/>
                </a:solidFill>
                <a:latin typeface="+mn-ea"/>
              </a:rPr>
              <a:t>。在快表中，存入那些当前执行进程中最常用的页号与所对应的页面号，从而以提高查找速度。</a:t>
            </a:r>
          </a:p>
        </p:txBody>
      </p:sp>
    </p:spTree>
    <p:extLst>
      <p:ext uri="{BB962C8B-B14F-4D97-AF65-F5344CB8AC3E}">
        <p14:creationId xmlns:p14="http://schemas.microsoft.com/office/powerpoint/2010/main" val="39374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1925605" y="1344876"/>
            <a:ext cx="5801716" cy="64633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解决了分区管理时的碎片</a:t>
            </a:r>
            <a:r>
              <a:rPr lang="zh-CN" altLang="en-US" sz="2400" b="1" dirty="0" smtClean="0">
                <a:solidFill>
                  <a:schemeClr val="bg1"/>
                </a:solidFill>
                <a:latin typeface="+mn-ea"/>
              </a:rPr>
              <a:t>问题</a:t>
            </a:r>
            <a:endParaRPr lang="zh-CN" altLang="en-US" sz="2400" b="1" dirty="0">
              <a:solidFill>
                <a:schemeClr val="bg1"/>
              </a:solidFill>
              <a:latin typeface="+mn-ea"/>
            </a:endParaRPr>
          </a:p>
        </p:txBody>
      </p:sp>
      <p:pic>
        <p:nvPicPr>
          <p:cNvPr id="29" name="图片 28"/>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a:off x="903741" y="1062443"/>
            <a:ext cx="1040904" cy="1101108"/>
          </a:xfrm>
          <a:prstGeom prst="rect">
            <a:avLst/>
          </a:prstGeom>
        </p:spPr>
      </p:pic>
      <p:pic>
        <p:nvPicPr>
          <p:cNvPr id="30" name="图片 29"/>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859259" y="2597943"/>
            <a:ext cx="1040904" cy="1101108"/>
          </a:xfrm>
          <a:prstGeom prst="rect">
            <a:avLst/>
          </a:prstGeom>
        </p:spPr>
      </p:pic>
      <p:sp>
        <p:nvSpPr>
          <p:cNvPr id="31" name="矩形 30"/>
          <p:cNvSpPr/>
          <p:nvPr/>
        </p:nvSpPr>
        <p:spPr>
          <a:xfrm>
            <a:off x="1925605" y="1902307"/>
            <a:ext cx="5801716" cy="2775760"/>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由于静态页式管理要求进程或作业在执行前全部装入内存，如果可用页面数小于用户要求时，该作业或进程只好等待。而且，作业或进程的大小仍受内存可用页面数的限制。</a:t>
            </a:r>
          </a:p>
        </p:txBody>
      </p:sp>
    </p:spTree>
    <p:extLst>
      <p:ext uri="{BB962C8B-B14F-4D97-AF65-F5344CB8AC3E}">
        <p14:creationId xmlns:p14="http://schemas.microsoft.com/office/powerpoint/2010/main" val="291734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xEl>
                                              <p:pRg st="0" end="0"/>
                                            </p:txEl>
                                          </p:spTgt>
                                        </p:tgtEl>
                                        <p:attrNameLst>
                                          <p:attrName>style.visibility</p:attrName>
                                        </p:attrNameLst>
                                      </p:cBhvr>
                                      <p:to>
                                        <p:strVal val="visible"/>
                                      </p:to>
                                    </p:set>
                                    <p:animEffect transition="in" filter="wipe(left)">
                                      <p:cBhvr>
                                        <p:cTn id="12"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19622"/>
            <a:ext cx="6899254"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方法</a:t>
            </a:r>
            <a:r>
              <a:rPr lang="en-US" altLang="zh-CN" sz="2400" b="1" dirty="0" smtClean="0">
                <a:solidFill>
                  <a:srgbClr val="FFFF00"/>
                </a:solidFill>
                <a:latin typeface="+mn-ea"/>
              </a:rPr>
              <a:t>1</a:t>
            </a:r>
            <a:r>
              <a:rPr lang="zh-CN" altLang="en-US" sz="2400" b="1" dirty="0" smtClean="0">
                <a:solidFill>
                  <a:srgbClr val="FFFF00"/>
                </a:solidFill>
                <a:latin typeface="+mn-ea"/>
              </a:rPr>
              <a:t>：请求</a:t>
            </a:r>
            <a:r>
              <a:rPr lang="zh-CN" altLang="en-US" sz="2400" b="1" dirty="0">
                <a:solidFill>
                  <a:srgbClr val="FFFF00"/>
                </a:solidFill>
                <a:latin typeface="+mn-ea"/>
              </a:rPr>
              <a:t>页式管理</a:t>
            </a:r>
            <a:r>
              <a:rPr lang="zh-CN" altLang="en-US" sz="2400" b="1" dirty="0">
                <a:solidFill>
                  <a:schemeClr val="bg1"/>
                </a:solidFill>
                <a:latin typeface="+mn-ea"/>
              </a:rPr>
              <a:t>的调入方式是，当需要执行某条指令而又发现它不在内存时或当执行某条指令需要访问其他的数据或指令时，这些指令和数据不在内存中，从而发生缺页中断，系统将外存中相应的页面调入内存</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269148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899254"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方法</a:t>
            </a:r>
            <a:r>
              <a:rPr lang="en-US" altLang="zh-CN" sz="2400" b="1" dirty="0" smtClean="0">
                <a:solidFill>
                  <a:srgbClr val="FFFF00"/>
                </a:solidFill>
                <a:latin typeface="+mn-ea"/>
              </a:rPr>
              <a:t>2</a:t>
            </a:r>
            <a:r>
              <a:rPr lang="zh-CN" altLang="en-US" sz="2400" b="1" dirty="0" smtClean="0">
                <a:solidFill>
                  <a:srgbClr val="FFFF00"/>
                </a:solidFill>
                <a:latin typeface="+mn-ea"/>
              </a:rPr>
              <a:t>：预调入页式管理</a:t>
            </a:r>
            <a:r>
              <a:rPr lang="zh-CN" altLang="en-US" sz="2400" b="1" dirty="0" smtClean="0">
                <a:solidFill>
                  <a:schemeClr val="bg1"/>
                </a:solidFill>
                <a:latin typeface="+mn-ea"/>
              </a:rPr>
              <a:t>：系统对</a:t>
            </a:r>
            <a:r>
              <a:rPr lang="zh-CN" altLang="en-US" sz="2400" b="1" dirty="0">
                <a:solidFill>
                  <a:schemeClr val="bg1"/>
                </a:solidFill>
                <a:latin typeface="+mn-ea"/>
              </a:rPr>
              <a:t>那些在外存中的页进行调入顺序计算，</a:t>
            </a:r>
            <a:r>
              <a:rPr lang="zh-CN" altLang="en-US" sz="2400" b="1" dirty="0">
                <a:solidFill>
                  <a:srgbClr val="FFFF00"/>
                </a:solidFill>
                <a:latin typeface="+mn-ea"/>
              </a:rPr>
              <a:t>估计出</a:t>
            </a:r>
            <a:r>
              <a:rPr lang="zh-CN" altLang="en-US" sz="2400" b="1" dirty="0">
                <a:solidFill>
                  <a:schemeClr val="bg1"/>
                </a:solidFill>
                <a:latin typeface="+mn-ea"/>
              </a:rPr>
              <a:t>这些页中</a:t>
            </a:r>
            <a:r>
              <a:rPr lang="zh-CN" altLang="en-US" sz="2400" b="1" dirty="0">
                <a:solidFill>
                  <a:srgbClr val="FFFF00"/>
                </a:solidFill>
                <a:latin typeface="+mn-ea"/>
              </a:rPr>
              <a:t>指令和数据的执行和被访问的顺序</a:t>
            </a:r>
            <a:r>
              <a:rPr lang="zh-CN" altLang="en-US" sz="2400" b="1" dirty="0">
                <a:solidFill>
                  <a:schemeClr val="bg1"/>
                </a:solidFill>
                <a:latin typeface="+mn-ea"/>
              </a:rPr>
              <a:t>，并按此顺序将它们顺次调入和调出内存。除了在调入方式上请求页式管理和预调入管理有些区别之外，其他方面这两种方式基本相同。</a:t>
            </a:r>
          </a:p>
        </p:txBody>
      </p:sp>
    </p:spTree>
    <p:extLst>
      <p:ext uri="{BB962C8B-B14F-4D97-AF65-F5344CB8AC3E}">
        <p14:creationId xmlns:p14="http://schemas.microsoft.com/office/powerpoint/2010/main" val="3700988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563638"/>
            <a:ext cx="6899254"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由于请求页式管理只让进程或作业的部分程序和数据驻留在内存中，因此，在执行过程中，不可避免地会出现</a:t>
            </a:r>
            <a:r>
              <a:rPr lang="zh-CN" altLang="en-US" sz="2400" b="1" dirty="0">
                <a:solidFill>
                  <a:srgbClr val="FFFF00"/>
                </a:solidFill>
                <a:latin typeface="+mn-ea"/>
              </a:rPr>
              <a:t>某些虚页不在内存中</a:t>
            </a:r>
            <a:r>
              <a:rPr lang="zh-CN" altLang="en-US" sz="2400" b="1" dirty="0">
                <a:solidFill>
                  <a:schemeClr val="bg1"/>
                </a:solidFill>
                <a:latin typeface="+mn-ea"/>
              </a:rPr>
              <a:t>的问题</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怎样</a:t>
            </a:r>
            <a:r>
              <a:rPr lang="zh-CN" altLang="en-US" sz="2400" b="1" dirty="0">
                <a:solidFill>
                  <a:srgbClr val="FFFF00"/>
                </a:solidFill>
                <a:latin typeface="+mn-ea"/>
              </a:rPr>
              <a:t>发现这些不在内存中虚页</a:t>
            </a:r>
            <a:r>
              <a:rPr lang="zh-CN" altLang="en-US" sz="2400" b="1" dirty="0">
                <a:solidFill>
                  <a:schemeClr val="bg1"/>
                </a:solidFill>
                <a:latin typeface="+mn-ea"/>
              </a:rPr>
              <a:t>以及</a:t>
            </a:r>
            <a:r>
              <a:rPr lang="zh-CN" altLang="en-US" sz="2400" b="1" dirty="0">
                <a:solidFill>
                  <a:srgbClr val="FFFF00"/>
                </a:solidFill>
                <a:latin typeface="+mn-ea"/>
              </a:rPr>
              <a:t>怎样处理这种情况</a:t>
            </a:r>
            <a:r>
              <a:rPr lang="zh-CN" altLang="en-US" sz="2400" b="1" dirty="0">
                <a:solidFill>
                  <a:schemeClr val="bg1"/>
                </a:solidFill>
                <a:latin typeface="+mn-ea"/>
              </a:rPr>
              <a:t>，是请求页式管理必须解决的两个基本问题。</a:t>
            </a:r>
            <a:endParaRPr lang="en-US" altLang="zh-CN" sz="2400" b="1" dirty="0">
              <a:solidFill>
                <a:schemeClr val="bg1"/>
              </a:solidFill>
              <a:latin typeface="+mn-ea"/>
            </a:endParaRPr>
          </a:p>
        </p:txBody>
      </p:sp>
    </p:spTree>
    <p:extLst>
      <p:ext uri="{BB962C8B-B14F-4D97-AF65-F5344CB8AC3E}">
        <p14:creationId xmlns:p14="http://schemas.microsoft.com/office/powerpoint/2010/main" val="276341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2" name="组合 31"/>
          <p:cNvGrpSpPr/>
          <p:nvPr/>
        </p:nvGrpSpPr>
        <p:grpSpPr>
          <a:xfrm>
            <a:off x="1043531" y="1266445"/>
            <a:ext cx="6981186" cy="1616921"/>
            <a:chOff x="-1428107" y="877078"/>
            <a:chExt cx="6981186" cy="1616921"/>
          </a:xfrm>
        </p:grpSpPr>
        <p:sp>
          <p:nvSpPr>
            <p:cNvPr id="5" name="同心圆 4"/>
            <p:cNvSpPr/>
            <p:nvPr/>
          </p:nvSpPr>
          <p:spPr>
            <a:xfrm>
              <a:off x="4015646" y="909313"/>
              <a:ext cx="1537433" cy="1537409"/>
            </a:xfrm>
            <a:prstGeom prst="donut">
              <a:avLst>
                <a:gd name="adj" fmla="val 11010"/>
              </a:avLst>
            </a:pr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6" name="矩形 5"/>
            <p:cNvSpPr/>
            <p:nvPr/>
          </p:nvSpPr>
          <p:spPr>
            <a:xfrm>
              <a:off x="-1428107" y="877078"/>
              <a:ext cx="6128393" cy="1571830"/>
            </a:xfrm>
            <a:prstGeom prst="rect">
              <a:avLst/>
            </a:prstGeom>
            <a:scene3d>
              <a:camera prst="orthographicFront"/>
              <a:lightRig rig="flat" dir="t"/>
            </a:scene3d>
            <a:sp3d z="-190500" prstMaterial="plastic">
              <a:bevelT w="88900" h="88900"/>
              <a:bevelB w="88900" h="31750" prst="angle"/>
            </a:sp3d>
          </p:spPr>
          <p:style>
            <a:lnRef idx="0">
              <a:schemeClr val="lt1">
                <a:hueOff val="0"/>
                <a:satOff val="0"/>
                <a:lumOff val="0"/>
                <a:alphaOff val="0"/>
              </a:schemeClr>
            </a:lnRef>
            <a:fillRef idx="3">
              <a:schemeClr val="accent1">
                <a:tint val="50000"/>
                <a:hueOff val="0"/>
                <a:satOff val="0"/>
                <a:lumOff val="0"/>
                <a:alphaOff val="0"/>
              </a:schemeClr>
            </a:fillRef>
            <a:effectRef idx="2">
              <a:schemeClr val="accent1">
                <a:tint val="50000"/>
                <a:hueOff val="0"/>
                <a:satOff val="0"/>
                <a:lumOff val="0"/>
                <a:alphaOff val="0"/>
              </a:schemeClr>
            </a:effectRef>
            <a:fontRef idx="minor">
              <a:schemeClr val="lt1">
                <a:hueOff val="0"/>
                <a:satOff val="0"/>
                <a:lumOff val="0"/>
                <a:alphaOff val="0"/>
              </a:schemeClr>
            </a:fontRef>
          </p:style>
        </p:sp>
        <p:sp>
          <p:nvSpPr>
            <p:cNvPr id="7" name="任意多边形 6"/>
            <p:cNvSpPr/>
            <p:nvPr/>
          </p:nvSpPr>
          <p:spPr>
            <a:xfrm>
              <a:off x="4096010" y="1034213"/>
              <a:ext cx="1319334" cy="1307272"/>
            </a:xfrm>
            <a:custGeom>
              <a:avLst/>
              <a:gdLst>
                <a:gd name="connsiteX0" fmla="*/ 0 w 792432"/>
                <a:gd name="connsiteY0" fmla="*/ 396210 h 792420"/>
                <a:gd name="connsiteX1" fmla="*/ 396216 w 792432"/>
                <a:gd name="connsiteY1" fmla="*/ 0 h 792420"/>
                <a:gd name="connsiteX2" fmla="*/ 792432 w 792432"/>
                <a:gd name="connsiteY2" fmla="*/ 396210 h 792420"/>
                <a:gd name="connsiteX3" fmla="*/ 396216 w 792432"/>
                <a:gd name="connsiteY3" fmla="*/ 792420 h 792420"/>
                <a:gd name="connsiteX4" fmla="*/ 0 w 792432"/>
                <a:gd name="connsiteY4" fmla="*/ 396210 h 79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432" h="792420">
                  <a:moveTo>
                    <a:pt x="0" y="396210"/>
                  </a:moveTo>
                  <a:cubicBezTo>
                    <a:pt x="0" y="177389"/>
                    <a:pt x="177392" y="0"/>
                    <a:pt x="396216" y="0"/>
                  </a:cubicBezTo>
                  <a:cubicBezTo>
                    <a:pt x="615040" y="0"/>
                    <a:pt x="792432" y="177389"/>
                    <a:pt x="792432" y="396210"/>
                  </a:cubicBezTo>
                  <a:cubicBezTo>
                    <a:pt x="792432" y="615031"/>
                    <a:pt x="615040" y="792420"/>
                    <a:pt x="396216" y="792420"/>
                  </a:cubicBezTo>
                  <a:cubicBezTo>
                    <a:pt x="177392" y="792420"/>
                    <a:pt x="0" y="615031"/>
                    <a:pt x="0" y="396210"/>
                  </a:cubicBez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16049" tIns="116047" rIns="116049" bIns="116047" numCol="1" spcCol="1270" anchor="ctr" anchorCtr="0">
              <a:noAutofit/>
            </a:bodyPr>
            <a:lstStyle/>
            <a:p>
              <a:pPr lvl="0" algn="ctr" defTabSz="889000">
                <a:lnSpc>
                  <a:spcPct val="90000"/>
                </a:lnSpc>
                <a:spcBef>
                  <a:spcPct val="0"/>
                </a:spcBef>
                <a:spcAft>
                  <a:spcPct val="35000"/>
                </a:spcAft>
              </a:pPr>
              <a:r>
                <a:rPr lang="zh-CN" altLang="en-US" sz="2800" b="1" dirty="0" smtClean="0"/>
                <a:t>问题</a:t>
              </a:r>
              <a:r>
                <a:rPr lang="en-US" altLang="zh-CN" sz="2800" b="1" dirty="0" smtClean="0"/>
                <a:t>1</a:t>
              </a:r>
              <a:endParaRPr lang="zh-CN" altLang="en-US" sz="2800" b="1" kern="1200" dirty="0"/>
            </a:p>
          </p:txBody>
        </p:sp>
        <p:sp>
          <p:nvSpPr>
            <p:cNvPr id="31" name="文本框 30"/>
            <p:cNvSpPr txBox="1"/>
            <p:nvPr/>
          </p:nvSpPr>
          <p:spPr>
            <a:xfrm>
              <a:off x="-1402707" y="924339"/>
              <a:ext cx="5678770" cy="1569660"/>
            </a:xfrm>
            <a:prstGeom prst="rect">
              <a:avLst/>
            </a:prstGeom>
            <a:noFill/>
          </p:spPr>
          <p:txBody>
            <a:bodyPr wrap="square" rtlCol="0">
              <a:spAutoFit/>
            </a:bodyPr>
            <a:lstStyle/>
            <a:p>
              <a:r>
                <a:rPr lang="zh-CN" altLang="en-US" sz="2400" b="1" dirty="0"/>
                <a:t>可以用扩充页表的方法解决。即与每个虚页号相对应，除了页面号之外，再增设该页是否在内存的中断位以及该页在外存中的副本起始地址。</a:t>
              </a:r>
            </a:p>
          </p:txBody>
        </p:sp>
      </p:grpSp>
      <p:graphicFrame>
        <p:nvGraphicFramePr>
          <p:cNvPr id="2" name="表格 1"/>
          <p:cNvGraphicFramePr>
            <a:graphicFrameLocks noGrp="1"/>
          </p:cNvGraphicFramePr>
          <p:nvPr>
            <p:extLst>
              <p:ext uri="{D42A27DB-BD31-4B8C-83A1-F6EECF244321}">
                <p14:modId xmlns:p14="http://schemas.microsoft.com/office/powerpoint/2010/main" val="4226636"/>
              </p:ext>
            </p:extLst>
          </p:nvPr>
        </p:nvGraphicFramePr>
        <p:xfrm>
          <a:off x="1160000" y="3008266"/>
          <a:ext cx="6096000" cy="1981200"/>
        </p:xfrm>
        <a:graphic>
          <a:graphicData uri="http://schemas.openxmlformats.org/drawingml/2006/table">
            <a:tbl>
              <a:tblPr firstRow="1" bandRow="1">
                <a:tableStyleId>{69C7853C-536D-4A76-A0AE-DD22124D55A5}</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zh-CN" altLang="en-US" sz="2000" b="1" dirty="0" smtClean="0"/>
                        <a:t>页号</a:t>
                      </a:r>
                      <a:endParaRPr lang="zh-CN" altLang="en-US" sz="20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smtClean="0"/>
                        <a:t>页面号</a:t>
                      </a:r>
                      <a:endParaRPr lang="zh-CN" altLang="en-US" sz="2000" b="1" dirty="0"/>
                    </a:p>
                  </a:txBody>
                  <a:tcPr/>
                </a:tc>
                <a:tc>
                  <a:txBody>
                    <a:bodyPr/>
                    <a:lstStyle/>
                    <a:p>
                      <a:r>
                        <a:rPr lang="zh-CN" altLang="en-US" sz="2000" b="1" dirty="0" smtClean="0"/>
                        <a:t>中断位</a:t>
                      </a:r>
                      <a:endParaRPr lang="zh-CN" altLang="en-US" sz="2000" b="1" dirty="0"/>
                    </a:p>
                  </a:txBody>
                  <a:tcPr/>
                </a:tc>
                <a:tc>
                  <a:txBody>
                    <a:bodyPr/>
                    <a:lstStyle/>
                    <a:p>
                      <a:r>
                        <a:rPr lang="zh-CN" altLang="en-US" sz="2000" b="1" dirty="0" smtClean="0"/>
                        <a:t>外存始址</a:t>
                      </a:r>
                      <a:endParaRPr lang="zh-CN" altLang="en-US" sz="2000" b="1" dirty="0"/>
                    </a:p>
                  </a:txBody>
                  <a:tcPr/>
                </a:tc>
                <a:extLst>
                  <a:ext uri="{0D108BD9-81ED-4DB2-BD59-A6C34878D82A}">
                    <a16:rowId xmlns:a16="http://schemas.microsoft.com/office/drawing/2014/main" val="10000"/>
                  </a:ext>
                </a:extLst>
              </a:tr>
              <a:tr h="370840">
                <a:tc>
                  <a:txBody>
                    <a:bodyPr/>
                    <a:lstStyle/>
                    <a:p>
                      <a:pPr algn="ctr"/>
                      <a:r>
                        <a:rPr lang="en-US" altLang="zh-CN" sz="2000" b="1" dirty="0" smtClean="0"/>
                        <a:t>0</a:t>
                      </a:r>
                      <a:endParaRPr lang="zh-CN" altLang="en-US" sz="2000" b="1" dirty="0"/>
                    </a:p>
                  </a:txBody>
                  <a:tcPr/>
                </a:tc>
                <a:tc>
                  <a:txBody>
                    <a:bodyPr/>
                    <a:lstStyle/>
                    <a:p>
                      <a:endParaRPr lang="zh-CN" altLang="en-US" sz="2000" b="1" dirty="0"/>
                    </a:p>
                  </a:txBody>
                  <a:tcPr/>
                </a:tc>
                <a:tc>
                  <a:txBody>
                    <a:bodyPr/>
                    <a:lstStyle/>
                    <a:p>
                      <a:endParaRPr lang="zh-CN" altLang="en-US" sz="2000" b="1"/>
                    </a:p>
                  </a:txBody>
                  <a:tcPr/>
                </a:tc>
                <a:tc>
                  <a:txBody>
                    <a:bodyPr/>
                    <a:lstStyle/>
                    <a:p>
                      <a:endParaRPr lang="zh-CN" altLang="en-US" sz="2000" b="1"/>
                    </a:p>
                  </a:txBody>
                  <a:tcPr/>
                </a:tc>
                <a:extLst>
                  <a:ext uri="{0D108BD9-81ED-4DB2-BD59-A6C34878D82A}">
                    <a16:rowId xmlns:a16="http://schemas.microsoft.com/office/drawing/2014/main" val="10001"/>
                  </a:ext>
                </a:extLst>
              </a:tr>
              <a:tr h="370840">
                <a:tc>
                  <a:txBody>
                    <a:bodyPr/>
                    <a:lstStyle/>
                    <a:p>
                      <a:pPr algn="ctr"/>
                      <a:r>
                        <a:rPr lang="en-US" altLang="zh-CN" sz="2000" b="1" dirty="0" smtClean="0"/>
                        <a:t>1</a:t>
                      </a:r>
                      <a:endParaRPr lang="zh-CN" altLang="en-US" sz="2000" b="1" dirty="0"/>
                    </a:p>
                  </a:txBody>
                  <a:tcPr/>
                </a:tc>
                <a:tc>
                  <a:txBody>
                    <a:bodyPr/>
                    <a:lstStyle/>
                    <a:p>
                      <a:endParaRPr lang="zh-CN" altLang="en-US" sz="2000" b="1" dirty="0"/>
                    </a:p>
                  </a:txBody>
                  <a:tcPr/>
                </a:tc>
                <a:tc>
                  <a:txBody>
                    <a:bodyPr/>
                    <a:lstStyle/>
                    <a:p>
                      <a:endParaRPr lang="zh-CN" altLang="en-US" sz="2000" b="1" dirty="0"/>
                    </a:p>
                  </a:txBody>
                  <a:tcPr/>
                </a:tc>
                <a:tc>
                  <a:txBody>
                    <a:bodyPr/>
                    <a:lstStyle/>
                    <a:p>
                      <a:endParaRPr lang="zh-CN" altLang="en-US" sz="2000" b="1"/>
                    </a:p>
                  </a:txBody>
                  <a:tcPr/>
                </a:tc>
                <a:extLst>
                  <a:ext uri="{0D108BD9-81ED-4DB2-BD59-A6C34878D82A}">
                    <a16:rowId xmlns:a16="http://schemas.microsoft.com/office/drawing/2014/main" val="10002"/>
                  </a:ext>
                </a:extLst>
              </a:tr>
              <a:tr h="370840">
                <a:tc>
                  <a:txBody>
                    <a:bodyPr/>
                    <a:lstStyle/>
                    <a:p>
                      <a:pPr algn="ctr"/>
                      <a:r>
                        <a:rPr lang="en-US" altLang="zh-CN" sz="2000" b="1" dirty="0" smtClean="0"/>
                        <a:t>2</a:t>
                      </a:r>
                      <a:endParaRPr lang="zh-CN" altLang="en-US" sz="2000" b="1" dirty="0"/>
                    </a:p>
                  </a:txBody>
                  <a:tcPr/>
                </a:tc>
                <a:tc>
                  <a:txBody>
                    <a:bodyPr/>
                    <a:lstStyle/>
                    <a:p>
                      <a:endParaRPr lang="zh-CN" altLang="en-US" sz="2000" b="1"/>
                    </a:p>
                  </a:txBody>
                  <a:tcPr/>
                </a:tc>
                <a:tc>
                  <a:txBody>
                    <a:bodyPr/>
                    <a:lstStyle/>
                    <a:p>
                      <a:endParaRPr lang="zh-CN" altLang="en-US" sz="2000" b="1" dirty="0"/>
                    </a:p>
                  </a:txBody>
                  <a:tcPr/>
                </a:tc>
                <a:tc>
                  <a:txBody>
                    <a:bodyPr/>
                    <a:lstStyle/>
                    <a:p>
                      <a:endParaRPr lang="zh-CN" altLang="en-US" sz="2000" b="1"/>
                    </a:p>
                  </a:txBody>
                  <a:tcPr/>
                </a:tc>
                <a:extLst>
                  <a:ext uri="{0D108BD9-81ED-4DB2-BD59-A6C34878D82A}">
                    <a16:rowId xmlns:a16="http://schemas.microsoft.com/office/drawing/2014/main" val="10003"/>
                  </a:ext>
                </a:extLst>
              </a:tr>
              <a:tr h="370840">
                <a:tc>
                  <a:txBody>
                    <a:bodyPr/>
                    <a:lstStyle/>
                    <a:p>
                      <a:pPr algn="ctr"/>
                      <a:r>
                        <a:rPr lang="en-US" altLang="zh-CN" sz="2000" b="1" dirty="0" smtClean="0"/>
                        <a:t>3</a:t>
                      </a:r>
                      <a:endParaRPr lang="zh-CN" altLang="en-US" sz="2000" b="1" dirty="0"/>
                    </a:p>
                  </a:txBody>
                  <a:tcPr/>
                </a:tc>
                <a:tc>
                  <a:txBody>
                    <a:bodyPr/>
                    <a:lstStyle/>
                    <a:p>
                      <a:endParaRPr lang="zh-CN" altLang="en-US" sz="2000" b="1"/>
                    </a:p>
                  </a:txBody>
                  <a:tcPr/>
                </a:tc>
                <a:tc>
                  <a:txBody>
                    <a:bodyPr/>
                    <a:lstStyle/>
                    <a:p>
                      <a:endParaRPr lang="zh-CN" altLang="en-US" sz="2000" b="1" dirty="0"/>
                    </a:p>
                  </a:txBody>
                  <a:tcPr/>
                </a:tc>
                <a:tc>
                  <a:txBody>
                    <a:bodyPr/>
                    <a:lstStyle/>
                    <a:p>
                      <a:endParaRPr lang="zh-CN" alt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3621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righ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4" name="组合 33"/>
          <p:cNvGrpSpPr/>
          <p:nvPr/>
        </p:nvGrpSpPr>
        <p:grpSpPr>
          <a:xfrm>
            <a:off x="755576" y="939400"/>
            <a:ext cx="7416824" cy="1664396"/>
            <a:chOff x="4015647" y="2430325"/>
            <a:chExt cx="4527464" cy="1016000"/>
          </a:xfrm>
        </p:grpSpPr>
        <p:sp>
          <p:nvSpPr>
            <p:cNvPr id="9" name="同心圆 8"/>
            <p:cNvSpPr/>
            <p:nvPr/>
          </p:nvSpPr>
          <p:spPr>
            <a:xfrm>
              <a:off x="4015647" y="2430325"/>
              <a:ext cx="1016016" cy="1016000"/>
            </a:xfrm>
            <a:prstGeom prst="donut">
              <a:avLst>
                <a:gd name="adj" fmla="val 11010"/>
              </a:avLst>
            </a:pr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10" name="矩形 9"/>
            <p:cNvSpPr/>
            <p:nvPr/>
          </p:nvSpPr>
          <p:spPr>
            <a:xfrm>
              <a:off x="4772714" y="2465886"/>
              <a:ext cx="3770397" cy="944864"/>
            </a:xfrm>
            <a:prstGeom prst="rect">
              <a:avLst/>
            </a:prstGeom>
            <a:scene3d>
              <a:camera prst="orthographicFront"/>
              <a:lightRig rig="flat" dir="t"/>
            </a:scene3d>
            <a:sp3d z="-190500" prstMaterial="plastic">
              <a:bevelT w="88900" h="88900"/>
              <a:bevelB w="88900" h="31750" prst="angle"/>
            </a:sp3d>
          </p:spPr>
          <p:style>
            <a:lnRef idx="0">
              <a:schemeClr val="lt1">
                <a:hueOff val="0"/>
                <a:satOff val="0"/>
                <a:lumOff val="0"/>
                <a:alphaOff val="0"/>
              </a:schemeClr>
            </a:lnRef>
            <a:fillRef idx="3">
              <a:schemeClr val="accent1">
                <a:tint val="50000"/>
                <a:hueOff val="-6544756"/>
                <a:satOff val="-349"/>
                <a:lumOff val="5682"/>
                <a:alphaOff val="0"/>
              </a:schemeClr>
            </a:fillRef>
            <a:effectRef idx="2">
              <a:schemeClr val="accent1">
                <a:tint val="50000"/>
                <a:hueOff val="-6544756"/>
                <a:satOff val="-349"/>
                <a:lumOff val="5682"/>
                <a:alphaOff val="0"/>
              </a:schemeClr>
            </a:effectRef>
            <a:fontRef idx="minor">
              <a:schemeClr val="lt1">
                <a:hueOff val="0"/>
                <a:satOff val="0"/>
                <a:lumOff val="0"/>
                <a:alphaOff val="0"/>
              </a:schemeClr>
            </a:fontRef>
          </p:style>
        </p:sp>
        <p:sp>
          <p:nvSpPr>
            <p:cNvPr id="11" name="任意多边形 10"/>
            <p:cNvSpPr/>
            <p:nvPr/>
          </p:nvSpPr>
          <p:spPr>
            <a:xfrm>
              <a:off x="4127439" y="2542115"/>
              <a:ext cx="792432" cy="792420"/>
            </a:xfrm>
            <a:custGeom>
              <a:avLst/>
              <a:gdLst>
                <a:gd name="connsiteX0" fmla="*/ 0 w 792432"/>
                <a:gd name="connsiteY0" fmla="*/ 396210 h 792420"/>
                <a:gd name="connsiteX1" fmla="*/ 396216 w 792432"/>
                <a:gd name="connsiteY1" fmla="*/ 0 h 792420"/>
                <a:gd name="connsiteX2" fmla="*/ 792432 w 792432"/>
                <a:gd name="connsiteY2" fmla="*/ 396210 h 792420"/>
                <a:gd name="connsiteX3" fmla="*/ 396216 w 792432"/>
                <a:gd name="connsiteY3" fmla="*/ 792420 h 792420"/>
                <a:gd name="connsiteX4" fmla="*/ 0 w 792432"/>
                <a:gd name="connsiteY4" fmla="*/ 396210 h 79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432" h="792420">
                  <a:moveTo>
                    <a:pt x="0" y="396210"/>
                  </a:moveTo>
                  <a:cubicBezTo>
                    <a:pt x="0" y="177389"/>
                    <a:pt x="177392" y="0"/>
                    <a:pt x="396216" y="0"/>
                  </a:cubicBezTo>
                  <a:cubicBezTo>
                    <a:pt x="615040" y="0"/>
                    <a:pt x="792432" y="177389"/>
                    <a:pt x="792432" y="396210"/>
                  </a:cubicBezTo>
                  <a:cubicBezTo>
                    <a:pt x="792432" y="615031"/>
                    <a:pt x="615040" y="792420"/>
                    <a:pt x="396216" y="792420"/>
                  </a:cubicBezTo>
                  <a:cubicBezTo>
                    <a:pt x="177392" y="792420"/>
                    <a:pt x="0" y="615031"/>
                    <a:pt x="0" y="396210"/>
                  </a:cubicBez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16049" tIns="116047" rIns="116049" bIns="116047" numCol="1" spcCol="1270" anchor="ctr" anchorCtr="0">
              <a:noAutofit/>
            </a:bodyPr>
            <a:lstStyle/>
            <a:p>
              <a:pPr lvl="0" algn="ctr" defTabSz="889000">
                <a:lnSpc>
                  <a:spcPct val="90000"/>
                </a:lnSpc>
                <a:spcBef>
                  <a:spcPct val="0"/>
                </a:spcBef>
                <a:spcAft>
                  <a:spcPct val="35000"/>
                </a:spcAft>
              </a:pPr>
              <a:r>
                <a:rPr lang="zh-CN" altLang="en-US" sz="2800" b="1" kern="1200" dirty="0" smtClean="0"/>
                <a:t>问题</a:t>
              </a:r>
              <a:r>
                <a:rPr lang="en-US" altLang="zh-CN" sz="2800" b="1" kern="1200" dirty="0" smtClean="0"/>
                <a:t>2</a:t>
              </a:r>
              <a:endParaRPr lang="zh-CN" altLang="en-US" sz="2800" b="1" kern="1200" dirty="0"/>
            </a:p>
          </p:txBody>
        </p:sp>
        <p:sp>
          <p:nvSpPr>
            <p:cNvPr id="33" name="矩形 32"/>
            <p:cNvSpPr/>
            <p:nvPr/>
          </p:nvSpPr>
          <p:spPr>
            <a:xfrm>
              <a:off x="4932967" y="2480280"/>
              <a:ext cx="3610144" cy="958170"/>
            </a:xfrm>
            <a:prstGeom prst="rect">
              <a:avLst/>
            </a:prstGeom>
          </p:spPr>
          <p:txBody>
            <a:bodyPr wrap="square">
              <a:spAutoFit/>
            </a:bodyPr>
            <a:lstStyle/>
            <a:p>
              <a:r>
                <a:rPr lang="zh-CN" altLang="en-US" sz="2400" b="1" dirty="0"/>
                <a:t>第一，采用何种方式把所缺的页调入内存。第二，如果内存中没有空闲页面时，把调进来的页放在什么地方。也就是说，采用什么样的策略来淘汰已占据内存的页</a:t>
              </a:r>
            </a:p>
          </p:txBody>
        </p:sp>
      </p:grpSp>
      <p:sp>
        <p:nvSpPr>
          <p:cNvPr id="2" name="矩形 1"/>
          <p:cNvSpPr/>
          <p:nvPr/>
        </p:nvSpPr>
        <p:spPr>
          <a:xfrm>
            <a:off x="738808" y="2608451"/>
            <a:ext cx="7056784" cy="2092881"/>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如果在内存中的</a:t>
            </a:r>
            <a:r>
              <a:rPr lang="zh-CN" altLang="en-US" sz="2000" b="1" dirty="0">
                <a:solidFill>
                  <a:srgbClr val="FFFF00"/>
                </a:solidFill>
                <a:latin typeface="+mn-ea"/>
              </a:rPr>
              <a:t>某一页被淘汰</a:t>
            </a:r>
            <a:r>
              <a:rPr lang="zh-CN" altLang="en-US" sz="2000" b="1" dirty="0">
                <a:solidFill>
                  <a:schemeClr val="bg1"/>
                </a:solidFill>
                <a:latin typeface="+mn-ea"/>
              </a:rPr>
              <a:t>，且该页曾因程序的执行而</a:t>
            </a:r>
            <a:r>
              <a:rPr lang="zh-CN" altLang="en-US" sz="2000" b="1" dirty="0">
                <a:solidFill>
                  <a:srgbClr val="FFFF00"/>
                </a:solidFill>
                <a:latin typeface="+mn-ea"/>
              </a:rPr>
              <a:t>被修改</a:t>
            </a:r>
            <a:r>
              <a:rPr lang="zh-CN" altLang="en-US" sz="2000" b="1" dirty="0">
                <a:solidFill>
                  <a:schemeClr val="bg1"/>
                </a:solidFill>
                <a:latin typeface="+mn-ea"/>
              </a:rPr>
              <a:t>，则显然该页是应该</a:t>
            </a:r>
            <a:r>
              <a:rPr lang="zh-CN" altLang="en-US" sz="2000" b="1" dirty="0">
                <a:solidFill>
                  <a:srgbClr val="FFFF00"/>
                </a:solidFill>
                <a:latin typeface="+mn-ea"/>
              </a:rPr>
              <a:t>重新写到外存上加以保存</a:t>
            </a:r>
            <a:r>
              <a:rPr lang="zh-CN" altLang="en-US" sz="2000" b="1" dirty="0">
                <a:solidFill>
                  <a:schemeClr val="bg1"/>
                </a:solidFill>
                <a:latin typeface="+mn-ea"/>
              </a:rPr>
              <a:t>的。而那些未被访问修改的页，因为外存已保留有相同的副本，写回外存是没有必要的。因此，在页表中还应增加一项以记录该页是否曾被改变。</a:t>
            </a:r>
          </a:p>
        </p:txBody>
      </p:sp>
    </p:spTree>
    <p:extLst>
      <p:ext uri="{BB962C8B-B14F-4D97-AF65-F5344CB8AC3E}">
        <p14:creationId xmlns:p14="http://schemas.microsoft.com/office/powerpoint/2010/main" val="3876872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表格 2"/>
          <p:cNvGraphicFramePr>
            <a:graphicFrameLocks noGrp="1"/>
          </p:cNvGraphicFramePr>
          <p:nvPr/>
        </p:nvGraphicFramePr>
        <p:xfrm>
          <a:off x="899592" y="1851670"/>
          <a:ext cx="6768750" cy="2476872"/>
        </p:xfrm>
        <a:graphic>
          <a:graphicData uri="http://schemas.openxmlformats.org/drawingml/2006/table">
            <a:tbl>
              <a:tblPr firstRow="1" bandRow="1">
                <a:tableStyleId>{93296810-A885-4BE3-A3E7-6D5BEEA58F35}</a:tableStyleId>
              </a:tblPr>
              <a:tblGrid>
                <a:gridCol w="1152128">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526568">
                  <a:extLst>
                    <a:ext uri="{9D8B030D-6E8A-4147-A177-3AD203B41FA5}">
                      <a16:colId xmlns:a16="http://schemas.microsoft.com/office/drawing/2014/main" val="20003"/>
                    </a:ext>
                  </a:extLst>
                </a:gridCol>
                <a:gridCol w="1353750">
                  <a:extLst>
                    <a:ext uri="{9D8B030D-6E8A-4147-A177-3AD203B41FA5}">
                      <a16:colId xmlns:a16="http://schemas.microsoft.com/office/drawing/2014/main" val="20004"/>
                    </a:ext>
                  </a:extLst>
                </a:gridCol>
              </a:tblGrid>
              <a:tr h="648072">
                <a:tc>
                  <a:txBody>
                    <a:bodyPr/>
                    <a:lstStyle/>
                    <a:p>
                      <a:pPr algn="ctr"/>
                      <a:r>
                        <a:rPr lang="zh-CN" altLang="en-US" sz="2400" b="1" dirty="0" smtClean="0"/>
                        <a:t>页号</a:t>
                      </a:r>
                      <a:endParaRPr lang="zh-CN" altLang="en-US" sz="2400" b="1" dirty="0"/>
                    </a:p>
                  </a:txBody>
                  <a:tcPr/>
                </a:tc>
                <a:tc>
                  <a:txBody>
                    <a:bodyPr/>
                    <a:lstStyle/>
                    <a:p>
                      <a:pPr algn="ctr"/>
                      <a:r>
                        <a:rPr lang="zh-CN" altLang="en-US" sz="2400" b="1" dirty="0" smtClean="0"/>
                        <a:t>页面号</a:t>
                      </a:r>
                      <a:endParaRPr lang="zh-CN" altLang="en-US" sz="2400" b="1" dirty="0"/>
                    </a:p>
                  </a:txBody>
                  <a:tcPr/>
                </a:tc>
                <a:tc>
                  <a:txBody>
                    <a:bodyPr/>
                    <a:lstStyle/>
                    <a:p>
                      <a:pPr algn="ctr"/>
                      <a:r>
                        <a:rPr lang="zh-CN" altLang="en-US" sz="2400" b="1" dirty="0" smtClean="0"/>
                        <a:t>中断位</a:t>
                      </a:r>
                      <a:endParaRPr lang="zh-CN" altLang="en-US" sz="2400" b="1" dirty="0"/>
                    </a:p>
                  </a:txBody>
                  <a:tcPr/>
                </a:tc>
                <a:tc>
                  <a:txBody>
                    <a:bodyPr/>
                    <a:lstStyle/>
                    <a:p>
                      <a:pPr algn="ctr"/>
                      <a:r>
                        <a:rPr lang="zh-CN" altLang="en-US" sz="2400" b="1" dirty="0" smtClean="0"/>
                        <a:t>外存始址</a:t>
                      </a:r>
                      <a:endParaRPr lang="zh-CN" altLang="en-US" sz="2400" b="1" dirty="0"/>
                    </a:p>
                  </a:txBody>
                  <a:tcPr/>
                </a:tc>
                <a:tc>
                  <a:txBody>
                    <a:bodyPr/>
                    <a:lstStyle/>
                    <a:p>
                      <a:pPr algn="ctr"/>
                      <a:r>
                        <a:rPr lang="zh-CN" altLang="en-US" sz="2400" b="1" dirty="0" smtClean="0"/>
                        <a:t>改变位</a:t>
                      </a:r>
                      <a:endParaRPr lang="zh-CN" altLang="en-US" sz="2400" b="1" dirty="0"/>
                    </a:p>
                  </a:txBody>
                  <a:tcPr/>
                </a:tc>
                <a:extLst>
                  <a:ext uri="{0D108BD9-81ED-4DB2-BD59-A6C34878D82A}">
                    <a16:rowId xmlns:a16="http://schemas.microsoft.com/office/drawing/2014/main" val="10000"/>
                  </a:ext>
                </a:extLst>
              </a:tr>
              <a:tr h="370390">
                <a:tc>
                  <a:txBody>
                    <a:bodyPr/>
                    <a:lstStyle/>
                    <a:p>
                      <a:endParaRPr lang="zh-CN" altLang="en-US" sz="2400" dirty="0"/>
                    </a:p>
                  </a:txBody>
                  <a:tcPr/>
                </a:tc>
                <a:tc>
                  <a:txBody>
                    <a:bodyPr/>
                    <a:lstStyle/>
                    <a:p>
                      <a:endParaRPr lang="zh-CN" altLang="en-US" sz="2400" dirty="0"/>
                    </a:p>
                  </a:txBody>
                  <a:tcPr/>
                </a:tc>
                <a:tc>
                  <a:txBody>
                    <a:bodyPr/>
                    <a:lstStyle/>
                    <a:p>
                      <a:endParaRPr lang="zh-CN" altLang="en-US" sz="2400" dirty="0"/>
                    </a:p>
                  </a:txBody>
                  <a:tcPr/>
                </a:tc>
                <a:tc>
                  <a:txBody>
                    <a:bodyPr/>
                    <a:lstStyle/>
                    <a:p>
                      <a:endParaRPr lang="zh-CN" altLang="en-US" sz="2400" dirty="0"/>
                    </a:p>
                  </a:txBody>
                  <a:tcPr/>
                </a:tc>
                <a:tc>
                  <a:txBody>
                    <a:bodyPr/>
                    <a:lstStyle/>
                    <a:p>
                      <a:endParaRPr lang="zh-CN" altLang="en-US" sz="2400" dirty="0"/>
                    </a:p>
                  </a:txBody>
                  <a:tcPr/>
                </a:tc>
                <a:extLst>
                  <a:ext uri="{0D108BD9-81ED-4DB2-BD59-A6C34878D82A}">
                    <a16:rowId xmlns:a16="http://schemas.microsoft.com/office/drawing/2014/main" val="10001"/>
                  </a:ext>
                </a:extLst>
              </a:tr>
              <a:tr h="370390">
                <a:tc>
                  <a:txBody>
                    <a:bodyPr/>
                    <a:lstStyle/>
                    <a:p>
                      <a:endParaRPr lang="zh-CN" altLang="en-US" sz="2400"/>
                    </a:p>
                  </a:txBody>
                  <a:tcPr/>
                </a:tc>
                <a:tc>
                  <a:txBody>
                    <a:bodyPr/>
                    <a:lstStyle/>
                    <a:p>
                      <a:endParaRPr lang="zh-CN" altLang="en-US" sz="2400" dirty="0"/>
                    </a:p>
                  </a:txBody>
                  <a:tcPr/>
                </a:tc>
                <a:tc>
                  <a:txBody>
                    <a:bodyPr/>
                    <a:lstStyle/>
                    <a:p>
                      <a:endParaRPr lang="zh-CN" altLang="en-US" sz="2400" dirty="0"/>
                    </a:p>
                  </a:txBody>
                  <a:tcPr/>
                </a:tc>
                <a:tc>
                  <a:txBody>
                    <a:bodyPr/>
                    <a:lstStyle/>
                    <a:p>
                      <a:endParaRPr lang="zh-CN" altLang="en-US" sz="2400" dirty="0"/>
                    </a:p>
                  </a:txBody>
                  <a:tcPr/>
                </a:tc>
                <a:tc>
                  <a:txBody>
                    <a:bodyPr/>
                    <a:lstStyle/>
                    <a:p>
                      <a:endParaRPr lang="zh-CN" altLang="en-US" sz="2400"/>
                    </a:p>
                  </a:txBody>
                  <a:tcPr/>
                </a:tc>
                <a:extLst>
                  <a:ext uri="{0D108BD9-81ED-4DB2-BD59-A6C34878D82A}">
                    <a16:rowId xmlns:a16="http://schemas.microsoft.com/office/drawing/2014/main" val="10002"/>
                  </a:ext>
                </a:extLst>
              </a:tr>
              <a:tr h="370390">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dirty="0"/>
                    </a:p>
                  </a:txBody>
                  <a:tcPr/>
                </a:tc>
                <a:tc>
                  <a:txBody>
                    <a:bodyPr/>
                    <a:lstStyle/>
                    <a:p>
                      <a:endParaRPr lang="zh-CN" altLang="en-US" sz="2400"/>
                    </a:p>
                  </a:txBody>
                  <a:tcPr/>
                </a:tc>
                <a:extLst>
                  <a:ext uri="{0D108BD9-81ED-4DB2-BD59-A6C34878D82A}">
                    <a16:rowId xmlns:a16="http://schemas.microsoft.com/office/drawing/2014/main" val="10003"/>
                  </a:ext>
                </a:extLst>
              </a:tr>
              <a:tr h="370390">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a:p>
                  </a:txBody>
                  <a:tcPr/>
                </a:tc>
                <a:tc>
                  <a:txBody>
                    <a:bodyPr/>
                    <a:lstStyle/>
                    <a:p>
                      <a:endParaRPr lang="zh-CN" alt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9397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4" name="组合 3"/>
          <p:cNvGrpSpPr/>
          <p:nvPr/>
        </p:nvGrpSpPr>
        <p:grpSpPr>
          <a:xfrm>
            <a:off x="227405" y="373462"/>
            <a:ext cx="3811701" cy="4574553"/>
            <a:chOff x="227405" y="373462"/>
            <a:chExt cx="3811701" cy="4574553"/>
          </a:xfrm>
        </p:grpSpPr>
        <p:pic>
          <p:nvPicPr>
            <p:cNvPr id="29" name="Picture 3" descr="E:\操作系统教材编写\张校长教材\新版\e23.tif"/>
            <p:cNvPicPr>
              <a:picLocks noChangeAspect="1" noChangeArrowheads="1"/>
            </p:cNvPicPr>
            <p:nvPr/>
          </p:nvPicPr>
          <p:blipFill rotWithShape="1">
            <a:blip r:embed="rId3">
              <a:extLst>
                <a:ext uri="{28A0092B-C50C-407E-A947-70E740481C1C}">
                  <a14:useLocalDpi xmlns:a14="http://schemas.microsoft.com/office/drawing/2010/main" val="0"/>
                </a:ext>
              </a:extLst>
            </a:blip>
            <a:srcRect b="44839"/>
            <a:stretch>
              <a:fillRect/>
            </a:stretch>
          </p:blipFill>
          <p:spPr bwMode="auto">
            <a:xfrm>
              <a:off x="227405" y="373462"/>
              <a:ext cx="3811701" cy="393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流程图: 联系 2"/>
            <p:cNvSpPr/>
            <p:nvPr/>
          </p:nvSpPr>
          <p:spPr>
            <a:xfrm>
              <a:off x="1187624" y="4311435"/>
              <a:ext cx="653798" cy="636580"/>
            </a:xfrm>
            <a:prstGeom prst="flowChartConnector">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2400" b="1" dirty="0" smtClean="0"/>
                <a:t>A</a:t>
              </a:r>
              <a:endParaRPr lang="zh-CN" altLang="en-US" sz="2400" b="1" dirty="0"/>
            </a:p>
          </p:txBody>
        </p:sp>
      </p:grpSp>
      <p:grpSp>
        <p:nvGrpSpPr>
          <p:cNvPr id="5" name="组合 4"/>
          <p:cNvGrpSpPr/>
          <p:nvPr/>
        </p:nvGrpSpPr>
        <p:grpSpPr>
          <a:xfrm>
            <a:off x="4283968" y="332151"/>
            <a:ext cx="4396382" cy="4568289"/>
            <a:chOff x="4283968" y="332151"/>
            <a:chExt cx="4396382" cy="4568289"/>
          </a:xfrm>
        </p:grpSpPr>
        <p:pic>
          <p:nvPicPr>
            <p:cNvPr id="30" name="Picture 3" descr="E:\操作系统教材编写\张校长教材\新版\e23.tif"/>
            <p:cNvPicPr>
              <a:picLocks noChangeAspect="1" noChangeArrowheads="1"/>
            </p:cNvPicPr>
            <p:nvPr/>
          </p:nvPicPr>
          <p:blipFill rotWithShape="1">
            <a:blip r:embed="rId3">
              <a:extLst>
                <a:ext uri="{28A0092B-C50C-407E-A947-70E740481C1C}">
                  <a14:useLocalDpi xmlns:a14="http://schemas.microsoft.com/office/drawing/2010/main" val="0"/>
                </a:ext>
              </a:extLst>
            </a:blip>
            <a:srcRect t="52461"/>
            <a:stretch>
              <a:fillRect/>
            </a:stretch>
          </p:blipFill>
          <p:spPr bwMode="auto">
            <a:xfrm>
              <a:off x="4283968" y="986037"/>
              <a:ext cx="4396382" cy="3914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流程图: 联系 30"/>
            <p:cNvSpPr/>
            <p:nvPr/>
          </p:nvSpPr>
          <p:spPr>
            <a:xfrm>
              <a:off x="5467372" y="332151"/>
              <a:ext cx="653798" cy="636580"/>
            </a:xfrm>
            <a:prstGeom prst="flowChartConnector">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2400" b="1" dirty="0" smtClean="0"/>
                <a:t>A</a:t>
              </a:r>
              <a:endParaRPr lang="zh-CN" altLang="en-US" sz="2400" b="1" dirty="0"/>
            </a:p>
          </p:txBody>
        </p:sp>
      </p:grpSp>
      <p:sp>
        <p:nvSpPr>
          <p:cNvPr id="6" name="椭圆 5"/>
          <p:cNvSpPr/>
          <p:nvPr/>
        </p:nvSpPr>
        <p:spPr>
          <a:xfrm>
            <a:off x="227405" y="1752139"/>
            <a:ext cx="551061" cy="240378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788024" y="1062443"/>
            <a:ext cx="3892326" cy="687910"/>
            <a:chOff x="4788024" y="1062443"/>
            <a:chExt cx="3892326" cy="687910"/>
          </a:xfrm>
        </p:grpSpPr>
        <p:sp>
          <p:nvSpPr>
            <p:cNvPr id="9" name="椭圆 8"/>
            <p:cNvSpPr/>
            <p:nvPr/>
          </p:nvSpPr>
          <p:spPr>
            <a:xfrm>
              <a:off x="4788024" y="1062443"/>
              <a:ext cx="3892326" cy="68791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876256" y="1229306"/>
              <a:ext cx="1296144" cy="400110"/>
            </a:xfrm>
            <a:prstGeom prst="rect">
              <a:avLst/>
            </a:prstGeom>
            <a:noFill/>
          </p:spPr>
          <p:txBody>
            <a:bodyPr wrap="square" rtlCol="0">
              <a:spAutoFit/>
            </a:bodyPr>
            <a:lstStyle/>
            <a:p>
              <a:r>
                <a:rPr lang="zh-CN" altLang="en-US" sz="2000" b="1" dirty="0">
                  <a:solidFill>
                    <a:srgbClr val="FF0000"/>
                  </a:solidFill>
                </a:rPr>
                <a:t>软件实现</a:t>
              </a:r>
            </a:p>
          </p:txBody>
        </p:sp>
      </p:grpSp>
    </p:spTree>
    <p:extLst>
      <p:ext uri="{BB962C8B-B14F-4D97-AF65-F5344CB8AC3E}">
        <p14:creationId xmlns:p14="http://schemas.microsoft.com/office/powerpoint/2010/main" val="1483376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491630"/>
            <a:ext cx="6696744" cy="230425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有关缺页的调入和存放，在内存中没有空闲页面时，实际上是一个内存页面置换算法的问题。选择什么样的</a:t>
            </a:r>
            <a:r>
              <a:rPr lang="zh-CN" altLang="en-US" sz="2400" b="1" dirty="0">
                <a:solidFill>
                  <a:srgbClr val="FFFF00"/>
                </a:solidFill>
                <a:latin typeface="+mn-ea"/>
              </a:rPr>
              <a:t>置换算法</a:t>
            </a:r>
            <a:r>
              <a:rPr lang="zh-CN" altLang="en-US" sz="2400" b="1" dirty="0">
                <a:solidFill>
                  <a:schemeClr val="bg1"/>
                </a:solidFill>
                <a:latin typeface="+mn-ea"/>
              </a:rPr>
              <a:t>，将直接影响到内存利用率和系统效率</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67492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动态页式管理</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491630"/>
            <a:ext cx="6984776" cy="290502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事实上</a:t>
            </a:r>
            <a:r>
              <a:rPr lang="zh-CN" altLang="en-US" sz="2400" b="1" dirty="0">
                <a:solidFill>
                  <a:schemeClr val="bg1"/>
                </a:solidFill>
                <a:latin typeface="+mn-ea"/>
              </a:rPr>
              <a:t>，如果置换算法选择不当，有可能产生刚被调出内存的页又要马上被调回内存，调回内存不久又马上被调出内存，如此反复的局面。这使得整个系统的页面调度非常频繁，以致大部分时间都花费在主存和辅存之间的来回调入调出上。这种现象被称为</a:t>
            </a:r>
            <a:r>
              <a:rPr lang="zh-CN" altLang="en-US" sz="2400" b="1" dirty="0">
                <a:solidFill>
                  <a:srgbClr val="FFFF00"/>
                </a:solidFill>
                <a:latin typeface="+mn-ea"/>
              </a:rPr>
              <a:t>抖动</a:t>
            </a:r>
            <a:r>
              <a:rPr lang="en-US" altLang="zh-CN" sz="2400" b="1" dirty="0">
                <a:solidFill>
                  <a:srgbClr val="FFFF00"/>
                </a:solidFill>
                <a:latin typeface="+mn-ea"/>
              </a:rPr>
              <a:t>(thrashing)</a:t>
            </a:r>
            <a:r>
              <a:rPr lang="zh-CN" altLang="en-US" sz="2400" b="1" dirty="0">
                <a:solidFill>
                  <a:srgbClr val="FFFF00"/>
                </a:solidFill>
                <a:latin typeface="+mn-ea"/>
              </a:rPr>
              <a:t>现象</a:t>
            </a:r>
            <a:r>
              <a:rPr lang="zh-CN" altLang="en-US" sz="2400" b="1" dirty="0">
                <a:solidFill>
                  <a:schemeClr val="bg1"/>
                </a:solidFill>
                <a:latin typeface="+mn-ea"/>
              </a:rPr>
              <a:t>。</a:t>
            </a:r>
          </a:p>
        </p:txBody>
      </p:sp>
    </p:spTree>
    <p:extLst>
      <p:ext uri="{BB962C8B-B14F-4D97-AF65-F5344CB8AC3E}">
        <p14:creationId xmlns:p14="http://schemas.microsoft.com/office/powerpoint/2010/main" val="35733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8791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请求页式管理中的置换算法</a:t>
            </a:r>
          </a:p>
        </p:txBody>
      </p:sp>
      <p:sp>
        <p:nvSpPr>
          <p:cNvPr id="6" name="形状 5"/>
          <p:cNvSpPr/>
          <p:nvPr/>
        </p:nvSpPr>
        <p:spPr>
          <a:xfrm rot="5142081">
            <a:off x="477447" y="1949367"/>
            <a:ext cx="1162552" cy="1820419"/>
          </a:xfrm>
          <a:prstGeom prst="leftCircularArrow">
            <a:avLst>
              <a:gd name="adj1" fmla="val 2550"/>
              <a:gd name="adj2" fmla="val 309429"/>
              <a:gd name="adj3" fmla="val 2084940"/>
              <a:gd name="adj4" fmla="val 9024489"/>
              <a:gd name="adj5" fmla="val 2975"/>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grpSp>
        <p:nvGrpSpPr>
          <p:cNvPr id="34" name="组合 33"/>
          <p:cNvGrpSpPr/>
          <p:nvPr/>
        </p:nvGrpSpPr>
        <p:grpSpPr>
          <a:xfrm>
            <a:off x="196390" y="901331"/>
            <a:ext cx="3331604" cy="1847589"/>
            <a:chOff x="196390" y="901331"/>
            <a:chExt cx="3331604" cy="1847589"/>
          </a:xfrm>
        </p:grpSpPr>
        <p:sp>
          <p:nvSpPr>
            <p:cNvPr id="5" name="任意多边形 4"/>
            <p:cNvSpPr/>
            <p:nvPr/>
          </p:nvSpPr>
          <p:spPr>
            <a:xfrm>
              <a:off x="196390" y="901331"/>
              <a:ext cx="2943592" cy="1528645"/>
            </a:xfrm>
            <a:custGeom>
              <a:avLst/>
              <a:gdLst>
                <a:gd name="connsiteX0" fmla="*/ 0 w 1005599"/>
                <a:gd name="connsiteY0" fmla="*/ 82941 h 829409"/>
                <a:gd name="connsiteX1" fmla="*/ 82941 w 1005599"/>
                <a:gd name="connsiteY1" fmla="*/ 0 h 829409"/>
                <a:gd name="connsiteX2" fmla="*/ 922658 w 1005599"/>
                <a:gd name="connsiteY2" fmla="*/ 0 h 829409"/>
                <a:gd name="connsiteX3" fmla="*/ 1005599 w 1005599"/>
                <a:gd name="connsiteY3" fmla="*/ 82941 h 829409"/>
                <a:gd name="connsiteX4" fmla="*/ 1005599 w 1005599"/>
                <a:gd name="connsiteY4" fmla="*/ 746468 h 829409"/>
                <a:gd name="connsiteX5" fmla="*/ 922658 w 1005599"/>
                <a:gd name="connsiteY5" fmla="*/ 829409 h 829409"/>
                <a:gd name="connsiteX6" fmla="*/ 82941 w 1005599"/>
                <a:gd name="connsiteY6" fmla="*/ 829409 h 829409"/>
                <a:gd name="connsiteX7" fmla="*/ 0 w 1005599"/>
                <a:gd name="connsiteY7" fmla="*/ 746468 h 829409"/>
                <a:gd name="connsiteX8" fmla="*/ 0 w 1005599"/>
                <a:gd name="connsiteY8" fmla="*/ 82941 h 82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5599" h="829409">
                  <a:moveTo>
                    <a:pt x="0" y="82941"/>
                  </a:moveTo>
                  <a:cubicBezTo>
                    <a:pt x="0" y="37134"/>
                    <a:pt x="37134" y="0"/>
                    <a:pt x="82941" y="0"/>
                  </a:cubicBezTo>
                  <a:lnTo>
                    <a:pt x="922658" y="0"/>
                  </a:lnTo>
                  <a:cubicBezTo>
                    <a:pt x="968465" y="0"/>
                    <a:pt x="1005599" y="37134"/>
                    <a:pt x="1005599" y="82941"/>
                  </a:cubicBezTo>
                  <a:lnTo>
                    <a:pt x="1005599" y="746468"/>
                  </a:lnTo>
                  <a:cubicBezTo>
                    <a:pt x="1005599" y="792275"/>
                    <a:pt x="968465" y="829409"/>
                    <a:pt x="922658" y="829409"/>
                  </a:cubicBezTo>
                  <a:lnTo>
                    <a:pt x="82941" y="829409"/>
                  </a:lnTo>
                  <a:cubicBezTo>
                    <a:pt x="37134" y="829409"/>
                    <a:pt x="0" y="792275"/>
                    <a:pt x="0" y="746468"/>
                  </a:cubicBezTo>
                  <a:lnTo>
                    <a:pt x="0" y="82941"/>
                  </a:lnTo>
                  <a:close/>
                </a:path>
              </a:pathLst>
            </a:custGeom>
            <a:scene3d>
              <a:camera prst="orthographicFront"/>
              <a:lightRig rig="flat" dir="t"/>
            </a:scene3d>
            <a:sp3d z="-190500" extrusionH="12700" prstMaterial="plastic">
              <a:bevelT w="50800" h="50800"/>
            </a:sp3d>
          </p:spPr>
          <p:style>
            <a:lnRef idx="1">
              <a:schemeClr val="accent5">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0517" tIns="30517" rIns="30517" bIns="208248" numCol="1" spcCol="1270" anchor="t" anchorCtr="0">
              <a:noAutofit/>
            </a:bodyPr>
            <a:lstStyle/>
            <a:p>
              <a:pPr marL="57150" lvl="1" indent="-57150" algn="l" defTabSz="266700">
                <a:lnSpc>
                  <a:spcPct val="90000"/>
                </a:lnSpc>
                <a:spcBef>
                  <a:spcPct val="0"/>
                </a:spcBef>
                <a:spcAft>
                  <a:spcPct val="15000"/>
                </a:spcAft>
                <a:buChar char="•"/>
              </a:pPr>
              <a:r>
                <a:rPr lang="zh-CN" altLang="en-US" sz="2000" b="1" kern="1200" dirty="0" smtClean="0"/>
                <a:t>在系统设计人员认为无法确定哪些页被访问的概率较低时，随机地选择某个用户的页面并将其换出将是一种明智的作法</a:t>
              </a:r>
              <a:endParaRPr lang="zh-CN" altLang="en-US" sz="2000" b="1" kern="1200" dirty="0"/>
            </a:p>
          </p:txBody>
        </p:sp>
        <p:sp>
          <p:nvSpPr>
            <p:cNvPr id="7" name="任意多边形 6"/>
            <p:cNvSpPr/>
            <p:nvPr/>
          </p:nvSpPr>
          <p:spPr>
            <a:xfrm>
              <a:off x="1156315" y="2330597"/>
              <a:ext cx="2371679" cy="418323"/>
            </a:xfrm>
            <a:custGeom>
              <a:avLst/>
              <a:gdLst>
                <a:gd name="connsiteX0" fmla="*/ 0 w 893866"/>
                <a:gd name="connsiteY0" fmla="*/ 35546 h 355461"/>
                <a:gd name="connsiteX1" fmla="*/ 35546 w 893866"/>
                <a:gd name="connsiteY1" fmla="*/ 0 h 355461"/>
                <a:gd name="connsiteX2" fmla="*/ 858320 w 893866"/>
                <a:gd name="connsiteY2" fmla="*/ 0 h 355461"/>
                <a:gd name="connsiteX3" fmla="*/ 893866 w 893866"/>
                <a:gd name="connsiteY3" fmla="*/ 35546 h 355461"/>
                <a:gd name="connsiteX4" fmla="*/ 893866 w 893866"/>
                <a:gd name="connsiteY4" fmla="*/ 319915 h 355461"/>
                <a:gd name="connsiteX5" fmla="*/ 858320 w 893866"/>
                <a:gd name="connsiteY5" fmla="*/ 355461 h 355461"/>
                <a:gd name="connsiteX6" fmla="*/ 35546 w 893866"/>
                <a:gd name="connsiteY6" fmla="*/ 355461 h 355461"/>
                <a:gd name="connsiteX7" fmla="*/ 0 w 893866"/>
                <a:gd name="connsiteY7" fmla="*/ 319915 h 355461"/>
                <a:gd name="connsiteX8" fmla="*/ 0 w 893866"/>
                <a:gd name="connsiteY8" fmla="*/ 35546 h 35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866" h="355461">
                  <a:moveTo>
                    <a:pt x="0" y="35546"/>
                  </a:moveTo>
                  <a:cubicBezTo>
                    <a:pt x="0" y="15914"/>
                    <a:pt x="15914" y="0"/>
                    <a:pt x="35546" y="0"/>
                  </a:cubicBezTo>
                  <a:lnTo>
                    <a:pt x="858320" y="0"/>
                  </a:lnTo>
                  <a:cubicBezTo>
                    <a:pt x="877952" y="0"/>
                    <a:pt x="893866" y="15914"/>
                    <a:pt x="893866" y="35546"/>
                  </a:cubicBezTo>
                  <a:lnTo>
                    <a:pt x="893866" y="319915"/>
                  </a:lnTo>
                  <a:cubicBezTo>
                    <a:pt x="893866" y="339547"/>
                    <a:pt x="877952" y="355461"/>
                    <a:pt x="858320" y="355461"/>
                  </a:cubicBezTo>
                  <a:lnTo>
                    <a:pt x="35546" y="355461"/>
                  </a:lnTo>
                  <a:cubicBezTo>
                    <a:pt x="15914" y="355461"/>
                    <a:pt x="0" y="339547"/>
                    <a:pt x="0" y="319915"/>
                  </a:cubicBezTo>
                  <a:lnTo>
                    <a:pt x="0" y="35546"/>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29461" tIns="23111" rIns="29461" bIns="23111" numCol="1" spcCol="1270" anchor="ctr" anchorCtr="0">
              <a:noAutofit/>
            </a:bodyPr>
            <a:lstStyle/>
            <a:p>
              <a:pPr lvl="0" algn="ctr" defTabSz="444500">
                <a:lnSpc>
                  <a:spcPct val="90000"/>
                </a:lnSpc>
                <a:spcBef>
                  <a:spcPct val="0"/>
                </a:spcBef>
                <a:spcAft>
                  <a:spcPct val="35000"/>
                </a:spcAft>
              </a:pPr>
              <a:r>
                <a:rPr lang="zh-CN" altLang="en-US" sz="2400" b="1" kern="1200" dirty="0" smtClean="0"/>
                <a:t>随机淘汰算法</a:t>
              </a:r>
              <a:endParaRPr lang="zh-CN" altLang="en-US" sz="2400" b="1" kern="1200" dirty="0"/>
            </a:p>
          </p:txBody>
        </p:sp>
      </p:grpSp>
      <p:sp>
        <p:nvSpPr>
          <p:cNvPr id="9" name="环形箭头 8"/>
          <p:cNvSpPr/>
          <p:nvPr/>
        </p:nvSpPr>
        <p:spPr>
          <a:xfrm>
            <a:off x="2669586" y="2748920"/>
            <a:ext cx="1173879" cy="1173879"/>
          </a:xfrm>
          <a:prstGeom prst="circularArrow">
            <a:avLst>
              <a:gd name="adj1" fmla="val 2271"/>
              <a:gd name="adj2" fmla="val 273786"/>
              <a:gd name="adj3" fmla="val 19550703"/>
              <a:gd name="adj4" fmla="val 12575511"/>
              <a:gd name="adj5" fmla="val 2650"/>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3311292"/>
              <a:satOff val="13270"/>
              <a:lumOff val="2876"/>
              <a:alphaOff val="0"/>
            </a:schemeClr>
          </a:fillRef>
          <a:effectRef idx="2">
            <a:schemeClr val="accent5">
              <a:hueOff val="-3311292"/>
              <a:satOff val="13270"/>
              <a:lumOff val="2876"/>
              <a:alphaOff val="0"/>
            </a:schemeClr>
          </a:effectRef>
          <a:fontRef idx="minor">
            <a:schemeClr val="lt1"/>
          </a:fontRef>
        </p:style>
      </p:sp>
      <p:grpSp>
        <p:nvGrpSpPr>
          <p:cNvPr id="35" name="组合 34"/>
          <p:cNvGrpSpPr/>
          <p:nvPr/>
        </p:nvGrpSpPr>
        <p:grpSpPr>
          <a:xfrm>
            <a:off x="810556" y="3012185"/>
            <a:ext cx="2625679" cy="1878118"/>
            <a:chOff x="810556" y="3012185"/>
            <a:chExt cx="2625679" cy="1878118"/>
          </a:xfrm>
        </p:grpSpPr>
        <p:sp>
          <p:nvSpPr>
            <p:cNvPr id="8" name="任意多边形 7"/>
            <p:cNvSpPr/>
            <p:nvPr/>
          </p:nvSpPr>
          <p:spPr>
            <a:xfrm>
              <a:off x="810556" y="3269401"/>
              <a:ext cx="2355712" cy="1620902"/>
            </a:xfrm>
            <a:custGeom>
              <a:avLst/>
              <a:gdLst>
                <a:gd name="connsiteX0" fmla="*/ 0 w 1005599"/>
                <a:gd name="connsiteY0" fmla="*/ 82941 h 829409"/>
                <a:gd name="connsiteX1" fmla="*/ 82941 w 1005599"/>
                <a:gd name="connsiteY1" fmla="*/ 0 h 829409"/>
                <a:gd name="connsiteX2" fmla="*/ 922658 w 1005599"/>
                <a:gd name="connsiteY2" fmla="*/ 0 h 829409"/>
                <a:gd name="connsiteX3" fmla="*/ 1005599 w 1005599"/>
                <a:gd name="connsiteY3" fmla="*/ 82941 h 829409"/>
                <a:gd name="connsiteX4" fmla="*/ 1005599 w 1005599"/>
                <a:gd name="connsiteY4" fmla="*/ 746468 h 829409"/>
                <a:gd name="connsiteX5" fmla="*/ 922658 w 1005599"/>
                <a:gd name="connsiteY5" fmla="*/ 829409 h 829409"/>
                <a:gd name="connsiteX6" fmla="*/ 82941 w 1005599"/>
                <a:gd name="connsiteY6" fmla="*/ 829409 h 829409"/>
                <a:gd name="connsiteX7" fmla="*/ 0 w 1005599"/>
                <a:gd name="connsiteY7" fmla="*/ 746468 h 829409"/>
                <a:gd name="connsiteX8" fmla="*/ 0 w 1005599"/>
                <a:gd name="connsiteY8" fmla="*/ 82941 h 82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5599" h="829409">
                  <a:moveTo>
                    <a:pt x="0" y="82941"/>
                  </a:moveTo>
                  <a:cubicBezTo>
                    <a:pt x="0" y="37134"/>
                    <a:pt x="37134" y="0"/>
                    <a:pt x="82941" y="0"/>
                  </a:cubicBezTo>
                  <a:lnTo>
                    <a:pt x="922658" y="0"/>
                  </a:lnTo>
                  <a:cubicBezTo>
                    <a:pt x="968465" y="0"/>
                    <a:pt x="1005599" y="37134"/>
                    <a:pt x="1005599" y="82941"/>
                  </a:cubicBezTo>
                  <a:lnTo>
                    <a:pt x="1005599" y="746468"/>
                  </a:lnTo>
                  <a:cubicBezTo>
                    <a:pt x="1005599" y="792275"/>
                    <a:pt x="968465" y="829409"/>
                    <a:pt x="922658" y="829409"/>
                  </a:cubicBezTo>
                  <a:lnTo>
                    <a:pt x="82941" y="829409"/>
                  </a:lnTo>
                  <a:cubicBezTo>
                    <a:pt x="37134" y="829409"/>
                    <a:pt x="0" y="792275"/>
                    <a:pt x="0" y="746468"/>
                  </a:cubicBezTo>
                  <a:lnTo>
                    <a:pt x="0" y="82941"/>
                  </a:lnTo>
                  <a:close/>
                </a:path>
              </a:pathLst>
            </a:custGeom>
            <a:scene3d>
              <a:camera prst="orthographicFront"/>
              <a:lightRig rig="flat" dir="t"/>
            </a:scene3d>
            <a:sp3d z="-190500" extrusionH="12700" prstMaterial="plastic">
              <a:bevelT w="50800" h="50800"/>
            </a:sp3d>
          </p:spPr>
          <p:style>
            <a:lnRef idx="1">
              <a:schemeClr val="accent5">
                <a:hueOff val="-2483469"/>
                <a:satOff val="9953"/>
                <a:lumOff val="2157"/>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0517" tIns="208247" rIns="30517" bIns="30518" numCol="1" spcCol="1270" anchor="t" anchorCtr="0">
              <a:noAutofit/>
            </a:bodyPr>
            <a:lstStyle/>
            <a:p>
              <a:pPr marL="57150" lvl="1" indent="-57150" algn="l" defTabSz="266700">
                <a:lnSpc>
                  <a:spcPct val="90000"/>
                </a:lnSpc>
                <a:spcBef>
                  <a:spcPct val="0"/>
                </a:spcBef>
                <a:spcAft>
                  <a:spcPct val="15000"/>
                </a:spcAft>
                <a:buChar char="•"/>
              </a:pPr>
              <a:r>
                <a:rPr lang="zh-CN" altLang="en-US" sz="2000" b="1" kern="1200" dirty="0" smtClean="0"/>
                <a:t>循环换出内存可用区内一个可以被换出的页，无论该页是刚被换进或</a:t>
              </a:r>
              <a:r>
                <a:rPr lang="zh-CN" altLang="en-US" sz="2000" b="1" dirty="0" smtClean="0"/>
                <a:t>已换进内存很长时间</a:t>
              </a:r>
              <a:endParaRPr lang="zh-CN" altLang="en-US" sz="2000" b="1" kern="1200" dirty="0"/>
            </a:p>
          </p:txBody>
        </p:sp>
        <p:sp>
          <p:nvSpPr>
            <p:cNvPr id="10" name="任意多边形 9"/>
            <p:cNvSpPr/>
            <p:nvPr/>
          </p:nvSpPr>
          <p:spPr>
            <a:xfrm>
              <a:off x="1403649" y="3012185"/>
              <a:ext cx="2032586" cy="496674"/>
            </a:xfrm>
            <a:custGeom>
              <a:avLst/>
              <a:gdLst>
                <a:gd name="connsiteX0" fmla="*/ 0 w 893866"/>
                <a:gd name="connsiteY0" fmla="*/ 35546 h 355461"/>
                <a:gd name="connsiteX1" fmla="*/ 35546 w 893866"/>
                <a:gd name="connsiteY1" fmla="*/ 0 h 355461"/>
                <a:gd name="connsiteX2" fmla="*/ 858320 w 893866"/>
                <a:gd name="connsiteY2" fmla="*/ 0 h 355461"/>
                <a:gd name="connsiteX3" fmla="*/ 893866 w 893866"/>
                <a:gd name="connsiteY3" fmla="*/ 35546 h 355461"/>
                <a:gd name="connsiteX4" fmla="*/ 893866 w 893866"/>
                <a:gd name="connsiteY4" fmla="*/ 319915 h 355461"/>
                <a:gd name="connsiteX5" fmla="*/ 858320 w 893866"/>
                <a:gd name="connsiteY5" fmla="*/ 355461 h 355461"/>
                <a:gd name="connsiteX6" fmla="*/ 35546 w 893866"/>
                <a:gd name="connsiteY6" fmla="*/ 355461 h 355461"/>
                <a:gd name="connsiteX7" fmla="*/ 0 w 893866"/>
                <a:gd name="connsiteY7" fmla="*/ 319915 h 355461"/>
                <a:gd name="connsiteX8" fmla="*/ 0 w 893866"/>
                <a:gd name="connsiteY8" fmla="*/ 35546 h 35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866" h="355461">
                  <a:moveTo>
                    <a:pt x="0" y="35546"/>
                  </a:moveTo>
                  <a:cubicBezTo>
                    <a:pt x="0" y="15914"/>
                    <a:pt x="15914" y="0"/>
                    <a:pt x="35546" y="0"/>
                  </a:cubicBezTo>
                  <a:lnTo>
                    <a:pt x="858320" y="0"/>
                  </a:lnTo>
                  <a:cubicBezTo>
                    <a:pt x="877952" y="0"/>
                    <a:pt x="893866" y="15914"/>
                    <a:pt x="893866" y="35546"/>
                  </a:cubicBezTo>
                  <a:lnTo>
                    <a:pt x="893866" y="319915"/>
                  </a:lnTo>
                  <a:cubicBezTo>
                    <a:pt x="893866" y="339547"/>
                    <a:pt x="877952" y="355461"/>
                    <a:pt x="858320" y="355461"/>
                  </a:cubicBezTo>
                  <a:lnTo>
                    <a:pt x="35546" y="355461"/>
                  </a:lnTo>
                  <a:cubicBezTo>
                    <a:pt x="15914" y="355461"/>
                    <a:pt x="0" y="339547"/>
                    <a:pt x="0" y="319915"/>
                  </a:cubicBezTo>
                  <a:lnTo>
                    <a:pt x="0" y="35546"/>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2483469"/>
                <a:satOff val="9953"/>
                <a:lumOff val="2157"/>
                <a:alphaOff val="0"/>
              </a:schemeClr>
            </a:fillRef>
            <a:effectRef idx="2">
              <a:schemeClr val="accent5">
                <a:hueOff val="-2483469"/>
                <a:satOff val="9953"/>
                <a:lumOff val="2157"/>
                <a:alphaOff val="0"/>
              </a:schemeClr>
            </a:effectRef>
            <a:fontRef idx="minor">
              <a:schemeClr val="lt1"/>
            </a:fontRef>
          </p:style>
          <p:txBody>
            <a:bodyPr spcFirstLastPara="0" vert="horz" wrap="square" lIns="29461" tIns="23111" rIns="29461" bIns="23111" numCol="1" spcCol="1270" anchor="ctr" anchorCtr="0">
              <a:noAutofit/>
            </a:bodyPr>
            <a:lstStyle/>
            <a:p>
              <a:pPr algn="ctr" defTabSz="444500">
                <a:lnSpc>
                  <a:spcPct val="90000"/>
                </a:lnSpc>
                <a:spcBef>
                  <a:spcPct val="0"/>
                </a:spcBef>
                <a:spcAft>
                  <a:spcPct val="35000"/>
                </a:spcAft>
              </a:pPr>
              <a:r>
                <a:rPr lang="zh-CN" altLang="en-US" sz="2400" b="1" dirty="0" smtClean="0"/>
                <a:t>轮转（</a:t>
              </a:r>
              <a:r>
                <a:rPr lang="en-US" altLang="zh-CN" sz="2400" b="1" dirty="0" smtClean="0"/>
                <a:t>RR</a:t>
              </a:r>
              <a:r>
                <a:rPr lang="zh-CN" altLang="en-US" sz="2400" b="1" dirty="0" smtClean="0"/>
                <a:t>）法</a:t>
              </a:r>
              <a:endParaRPr lang="zh-CN" altLang="en-US" sz="2400" b="1" dirty="0"/>
            </a:p>
          </p:txBody>
        </p:sp>
      </p:grpSp>
      <p:sp>
        <p:nvSpPr>
          <p:cNvPr id="12" name="形状 11"/>
          <p:cNvSpPr/>
          <p:nvPr/>
        </p:nvSpPr>
        <p:spPr>
          <a:xfrm rot="19747778">
            <a:off x="5866402" y="3651656"/>
            <a:ext cx="846225" cy="1028961"/>
          </a:xfrm>
          <a:prstGeom prst="leftCircularArrow">
            <a:avLst>
              <a:gd name="adj1" fmla="val 2550"/>
              <a:gd name="adj2" fmla="val 309429"/>
              <a:gd name="adj3" fmla="val 2084940"/>
              <a:gd name="adj4" fmla="val 9024489"/>
              <a:gd name="adj5" fmla="val 2975"/>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6622584"/>
              <a:satOff val="26541"/>
              <a:lumOff val="5752"/>
              <a:alphaOff val="0"/>
            </a:schemeClr>
          </a:fillRef>
          <a:effectRef idx="2">
            <a:schemeClr val="accent5">
              <a:hueOff val="-6622584"/>
              <a:satOff val="26541"/>
              <a:lumOff val="5752"/>
              <a:alphaOff val="0"/>
            </a:schemeClr>
          </a:effectRef>
          <a:fontRef idx="minor">
            <a:schemeClr val="lt1"/>
          </a:fontRef>
        </p:style>
      </p:sp>
      <p:grpSp>
        <p:nvGrpSpPr>
          <p:cNvPr id="36" name="组合 35"/>
          <p:cNvGrpSpPr/>
          <p:nvPr/>
        </p:nvGrpSpPr>
        <p:grpSpPr>
          <a:xfrm>
            <a:off x="3782865" y="1923679"/>
            <a:ext cx="2432294" cy="2981110"/>
            <a:chOff x="4083922" y="1909193"/>
            <a:chExt cx="2432294" cy="2981110"/>
          </a:xfrm>
        </p:grpSpPr>
        <p:sp>
          <p:nvSpPr>
            <p:cNvPr id="11" name="任意多边形 10"/>
            <p:cNvSpPr/>
            <p:nvPr/>
          </p:nvSpPr>
          <p:spPr>
            <a:xfrm>
              <a:off x="4083922" y="1909193"/>
              <a:ext cx="2251779" cy="2536990"/>
            </a:xfrm>
            <a:custGeom>
              <a:avLst/>
              <a:gdLst>
                <a:gd name="connsiteX0" fmla="*/ 0 w 1005599"/>
                <a:gd name="connsiteY0" fmla="*/ 82941 h 829409"/>
                <a:gd name="connsiteX1" fmla="*/ 82941 w 1005599"/>
                <a:gd name="connsiteY1" fmla="*/ 0 h 829409"/>
                <a:gd name="connsiteX2" fmla="*/ 922658 w 1005599"/>
                <a:gd name="connsiteY2" fmla="*/ 0 h 829409"/>
                <a:gd name="connsiteX3" fmla="*/ 1005599 w 1005599"/>
                <a:gd name="connsiteY3" fmla="*/ 82941 h 829409"/>
                <a:gd name="connsiteX4" fmla="*/ 1005599 w 1005599"/>
                <a:gd name="connsiteY4" fmla="*/ 746468 h 829409"/>
                <a:gd name="connsiteX5" fmla="*/ 922658 w 1005599"/>
                <a:gd name="connsiteY5" fmla="*/ 829409 h 829409"/>
                <a:gd name="connsiteX6" fmla="*/ 82941 w 1005599"/>
                <a:gd name="connsiteY6" fmla="*/ 829409 h 829409"/>
                <a:gd name="connsiteX7" fmla="*/ 0 w 1005599"/>
                <a:gd name="connsiteY7" fmla="*/ 746468 h 829409"/>
                <a:gd name="connsiteX8" fmla="*/ 0 w 1005599"/>
                <a:gd name="connsiteY8" fmla="*/ 82941 h 82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5599" h="829409">
                  <a:moveTo>
                    <a:pt x="0" y="82941"/>
                  </a:moveTo>
                  <a:cubicBezTo>
                    <a:pt x="0" y="37134"/>
                    <a:pt x="37134" y="0"/>
                    <a:pt x="82941" y="0"/>
                  </a:cubicBezTo>
                  <a:lnTo>
                    <a:pt x="922658" y="0"/>
                  </a:lnTo>
                  <a:cubicBezTo>
                    <a:pt x="968465" y="0"/>
                    <a:pt x="1005599" y="37134"/>
                    <a:pt x="1005599" y="82941"/>
                  </a:cubicBezTo>
                  <a:lnTo>
                    <a:pt x="1005599" y="746468"/>
                  </a:lnTo>
                  <a:cubicBezTo>
                    <a:pt x="1005599" y="792275"/>
                    <a:pt x="968465" y="829409"/>
                    <a:pt x="922658" y="829409"/>
                  </a:cubicBezTo>
                  <a:lnTo>
                    <a:pt x="82941" y="829409"/>
                  </a:lnTo>
                  <a:cubicBezTo>
                    <a:pt x="37134" y="829409"/>
                    <a:pt x="0" y="792275"/>
                    <a:pt x="0" y="746468"/>
                  </a:cubicBezTo>
                  <a:lnTo>
                    <a:pt x="0" y="82941"/>
                  </a:lnTo>
                  <a:close/>
                </a:path>
              </a:pathLst>
            </a:custGeom>
            <a:scene3d>
              <a:camera prst="orthographicFront"/>
              <a:lightRig rig="flat" dir="t"/>
            </a:scene3d>
            <a:sp3d z="-190500" extrusionH="12700" prstMaterial="plastic">
              <a:bevelT w="50800" h="50800"/>
            </a:sp3d>
          </p:spPr>
          <p:style>
            <a:lnRef idx="1">
              <a:schemeClr val="accent5">
                <a:hueOff val="-4966938"/>
                <a:satOff val="19906"/>
                <a:lumOff val="4314"/>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0517" tIns="30517" rIns="30517" bIns="208248" numCol="1" spcCol="1270" anchor="t" anchorCtr="0">
              <a:noAutofit/>
            </a:bodyPr>
            <a:lstStyle/>
            <a:p>
              <a:pPr marL="57150" lvl="1" indent="-57150" algn="l" defTabSz="266700">
                <a:lnSpc>
                  <a:spcPct val="90000"/>
                </a:lnSpc>
                <a:spcBef>
                  <a:spcPct val="0"/>
                </a:spcBef>
                <a:spcAft>
                  <a:spcPct val="15000"/>
                </a:spcAft>
                <a:buChar char="•"/>
              </a:pPr>
              <a:r>
                <a:rPr lang="zh-CN" altLang="en-US" sz="2000" b="1" kern="1200" dirty="0" smtClean="0"/>
                <a:t>选择在内存驻留时间最长的一页将其淘汰。</a:t>
              </a:r>
              <a:r>
                <a:rPr lang="en-US" altLang="zh-CN" sz="2000" b="1" kern="1200" dirty="0" smtClean="0"/>
                <a:t>FIFO</a:t>
              </a:r>
              <a:r>
                <a:rPr lang="zh-CN" altLang="en-US" sz="2000" b="1" kern="1200" dirty="0" smtClean="0"/>
                <a:t>算法认为先调入内存的页不再被访问的可能性要比其他页大，因而选择最先调入内存的页换出</a:t>
              </a:r>
              <a:endParaRPr lang="zh-CN" altLang="en-US" sz="2000" b="1" kern="1200" dirty="0"/>
            </a:p>
          </p:txBody>
        </p:sp>
        <p:sp>
          <p:nvSpPr>
            <p:cNvPr id="13" name="任意多边形 12"/>
            <p:cNvSpPr/>
            <p:nvPr/>
          </p:nvSpPr>
          <p:spPr>
            <a:xfrm>
              <a:off x="4457200" y="4203712"/>
              <a:ext cx="2059016" cy="686591"/>
            </a:xfrm>
            <a:custGeom>
              <a:avLst/>
              <a:gdLst>
                <a:gd name="connsiteX0" fmla="*/ 0 w 893866"/>
                <a:gd name="connsiteY0" fmla="*/ 35546 h 355461"/>
                <a:gd name="connsiteX1" fmla="*/ 35546 w 893866"/>
                <a:gd name="connsiteY1" fmla="*/ 0 h 355461"/>
                <a:gd name="connsiteX2" fmla="*/ 858320 w 893866"/>
                <a:gd name="connsiteY2" fmla="*/ 0 h 355461"/>
                <a:gd name="connsiteX3" fmla="*/ 893866 w 893866"/>
                <a:gd name="connsiteY3" fmla="*/ 35546 h 355461"/>
                <a:gd name="connsiteX4" fmla="*/ 893866 w 893866"/>
                <a:gd name="connsiteY4" fmla="*/ 319915 h 355461"/>
                <a:gd name="connsiteX5" fmla="*/ 858320 w 893866"/>
                <a:gd name="connsiteY5" fmla="*/ 355461 h 355461"/>
                <a:gd name="connsiteX6" fmla="*/ 35546 w 893866"/>
                <a:gd name="connsiteY6" fmla="*/ 355461 h 355461"/>
                <a:gd name="connsiteX7" fmla="*/ 0 w 893866"/>
                <a:gd name="connsiteY7" fmla="*/ 319915 h 355461"/>
                <a:gd name="connsiteX8" fmla="*/ 0 w 893866"/>
                <a:gd name="connsiteY8" fmla="*/ 35546 h 35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866" h="355461">
                  <a:moveTo>
                    <a:pt x="0" y="35546"/>
                  </a:moveTo>
                  <a:cubicBezTo>
                    <a:pt x="0" y="15914"/>
                    <a:pt x="15914" y="0"/>
                    <a:pt x="35546" y="0"/>
                  </a:cubicBezTo>
                  <a:lnTo>
                    <a:pt x="858320" y="0"/>
                  </a:lnTo>
                  <a:cubicBezTo>
                    <a:pt x="877952" y="0"/>
                    <a:pt x="893866" y="15914"/>
                    <a:pt x="893866" y="35546"/>
                  </a:cubicBezTo>
                  <a:lnTo>
                    <a:pt x="893866" y="319915"/>
                  </a:lnTo>
                  <a:cubicBezTo>
                    <a:pt x="893866" y="339547"/>
                    <a:pt x="877952" y="355461"/>
                    <a:pt x="858320" y="355461"/>
                  </a:cubicBezTo>
                  <a:lnTo>
                    <a:pt x="35546" y="355461"/>
                  </a:lnTo>
                  <a:cubicBezTo>
                    <a:pt x="15914" y="355461"/>
                    <a:pt x="0" y="339547"/>
                    <a:pt x="0" y="319915"/>
                  </a:cubicBezTo>
                  <a:lnTo>
                    <a:pt x="0" y="35546"/>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29461" tIns="23111" rIns="29461" bIns="23111" numCol="1" spcCol="1270" anchor="ctr" anchorCtr="0">
              <a:noAutofit/>
            </a:bodyPr>
            <a:lstStyle/>
            <a:p>
              <a:pPr lvl="0" algn="ctr" defTabSz="444500">
                <a:lnSpc>
                  <a:spcPct val="90000"/>
                </a:lnSpc>
                <a:spcBef>
                  <a:spcPct val="0"/>
                </a:spcBef>
                <a:spcAft>
                  <a:spcPct val="35000"/>
                </a:spcAft>
              </a:pPr>
              <a:r>
                <a:rPr lang="zh-CN" altLang="en-US" sz="2400" b="1" dirty="0"/>
                <a:t>先进先出（</a:t>
              </a:r>
              <a:r>
                <a:rPr lang="en-US" altLang="zh-CN" sz="2400" b="1" dirty="0"/>
                <a:t>FIFO</a:t>
              </a:r>
              <a:r>
                <a:rPr lang="zh-CN" altLang="en-US" sz="2400" b="1" dirty="0"/>
                <a:t>）算法</a:t>
              </a:r>
            </a:p>
          </p:txBody>
        </p:sp>
      </p:grpSp>
      <p:sp>
        <p:nvSpPr>
          <p:cNvPr id="30" name="环形箭头 29"/>
          <p:cNvSpPr/>
          <p:nvPr/>
        </p:nvSpPr>
        <p:spPr>
          <a:xfrm rot="16609889">
            <a:off x="6051273" y="1763037"/>
            <a:ext cx="2297439" cy="1173879"/>
          </a:xfrm>
          <a:prstGeom prst="circularArrow">
            <a:avLst>
              <a:gd name="adj1" fmla="val 2271"/>
              <a:gd name="adj2" fmla="val 273786"/>
              <a:gd name="adj3" fmla="val 19550703"/>
              <a:gd name="adj4" fmla="val 12575511"/>
              <a:gd name="adj5" fmla="val 2650"/>
            </a:avLst>
          </a:pr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sp>
      <p:grpSp>
        <p:nvGrpSpPr>
          <p:cNvPr id="38" name="组合 37"/>
          <p:cNvGrpSpPr/>
          <p:nvPr/>
        </p:nvGrpSpPr>
        <p:grpSpPr>
          <a:xfrm>
            <a:off x="6608273" y="2637879"/>
            <a:ext cx="2489498" cy="1491106"/>
            <a:chOff x="6608273" y="2637879"/>
            <a:chExt cx="2489498" cy="1491106"/>
          </a:xfrm>
        </p:grpSpPr>
        <p:sp>
          <p:nvSpPr>
            <p:cNvPr id="29" name="任意多边形 28"/>
            <p:cNvSpPr/>
            <p:nvPr/>
          </p:nvSpPr>
          <p:spPr>
            <a:xfrm>
              <a:off x="6608273" y="3004381"/>
              <a:ext cx="2489498" cy="1124604"/>
            </a:xfrm>
            <a:custGeom>
              <a:avLst/>
              <a:gdLst>
                <a:gd name="connsiteX0" fmla="*/ 0 w 1005599"/>
                <a:gd name="connsiteY0" fmla="*/ 82941 h 829409"/>
                <a:gd name="connsiteX1" fmla="*/ 82941 w 1005599"/>
                <a:gd name="connsiteY1" fmla="*/ 0 h 829409"/>
                <a:gd name="connsiteX2" fmla="*/ 922658 w 1005599"/>
                <a:gd name="connsiteY2" fmla="*/ 0 h 829409"/>
                <a:gd name="connsiteX3" fmla="*/ 1005599 w 1005599"/>
                <a:gd name="connsiteY3" fmla="*/ 82941 h 829409"/>
                <a:gd name="connsiteX4" fmla="*/ 1005599 w 1005599"/>
                <a:gd name="connsiteY4" fmla="*/ 746468 h 829409"/>
                <a:gd name="connsiteX5" fmla="*/ 922658 w 1005599"/>
                <a:gd name="connsiteY5" fmla="*/ 829409 h 829409"/>
                <a:gd name="connsiteX6" fmla="*/ 82941 w 1005599"/>
                <a:gd name="connsiteY6" fmla="*/ 829409 h 829409"/>
                <a:gd name="connsiteX7" fmla="*/ 0 w 1005599"/>
                <a:gd name="connsiteY7" fmla="*/ 746468 h 829409"/>
                <a:gd name="connsiteX8" fmla="*/ 0 w 1005599"/>
                <a:gd name="connsiteY8" fmla="*/ 82941 h 82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5599" h="829409">
                  <a:moveTo>
                    <a:pt x="0" y="82941"/>
                  </a:moveTo>
                  <a:cubicBezTo>
                    <a:pt x="0" y="37134"/>
                    <a:pt x="37134" y="0"/>
                    <a:pt x="82941" y="0"/>
                  </a:cubicBezTo>
                  <a:lnTo>
                    <a:pt x="922658" y="0"/>
                  </a:lnTo>
                  <a:cubicBezTo>
                    <a:pt x="968465" y="0"/>
                    <a:pt x="1005599" y="37134"/>
                    <a:pt x="1005599" y="82941"/>
                  </a:cubicBezTo>
                  <a:lnTo>
                    <a:pt x="1005599" y="746468"/>
                  </a:lnTo>
                  <a:cubicBezTo>
                    <a:pt x="1005599" y="792275"/>
                    <a:pt x="968465" y="829409"/>
                    <a:pt x="922658" y="829409"/>
                  </a:cubicBezTo>
                  <a:lnTo>
                    <a:pt x="82941" y="829409"/>
                  </a:lnTo>
                  <a:cubicBezTo>
                    <a:pt x="37134" y="829409"/>
                    <a:pt x="0" y="792275"/>
                    <a:pt x="0" y="746468"/>
                  </a:cubicBezTo>
                  <a:lnTo>
                    <a:pt x="0" y="82941"/>
                  </a:lnTo>
                  <a:close/>
                </a:path>
              </a:pathLst>
            </a:custGeom>
            <a:scene3d>
              <a:camera prst="orthographicFront"/>
              <a:lightRig rig="flat" dir="t"/>
            </a:scene3d>
            <a:sp3d z="-190500" extrusionH="12700" prstMaterial="plastic">
              <a:bevelT w="50800" h="50800"/>
            </a:sp3d>
          </p:spPr>
          <p:style>
            <a:lnRef idx="1">
              <a:schemeClr val="accent5">
                <a:hueOff val="-7450407"/>
                <a:satOff val="29858"/>
                <a:lumOff val="6471"/>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0517" tIns="208247" rIns="30517" bIns="30518" numCol="1" spcCol="1270" anchor="t" anchorCtr="0">
              <a:noAutofit/>
            </a:bodyPr>
            <a:lstStyle/>
            <a:p>
              <a:pPr marL="57150" lvl="1" indent="-57150" algn="l" defTabSz="266700">
                <a:lnSpc>
                  <a:spcPct val="90000"/>
                </a:lnSpc>
                <a:spcBef>
                  <a:spcPct val="0"/>
                </a:spcBef>
                <a:spcAft>
                  <a:spcPct val="15000"/>
                </a:spcAft>
                <a:buChar char="•"/>
              </a:pPr>
              <a:r>
                <a:rPr lang="zh-CN" altLang="en-US" sz="2000" b="1" kern="1200" dirty="0" smtClean="0"/>
                <a:t>选择离当前时间最近的一段时间内最久没使用过的页先淘汰</a:t>
              </a:r>
              <a:endParaRPr lang="zh-CN" altLang="en-US" sz="2000" b="1" kern="1200" dirty="0"/>
            </a:p>
          </p:txBody>
        </p:sp>
        <p:sp>
          <p:nvSpPr>
            <p:cNvPr id="31" name="任意多边形 30"/>
            <p:cNvSpPr/>
            <p:nvPr/>
          </p:nvSpPr>
          <p:spPr>
            <a:xfrm>
              <a:off x="6677527" y="2637879"/>
              <a:ext cx="2420244" cy="481973"/>
            </a:xfrm>
            <a:custGeom>
              <a:avLst/>
              <a:gdLst>
                <a:gd name="connsiteX0" fmla="*/ 0 w 893866"/>
                <a:gd name="connsiteY0" fmla="*/ 35546 h 355461"/>
                <a:gd name="connsiteX1" fmla="*/ 35546 w 893866"/>
                <a:gd name="connsiteY1" fmla="*/ 0 h 355461"/>
                <a:gd name="connsiteX2" fmla="*/ 858320 w 893866"/>
                <a:gd name="connsiteY2" fmla="*/ 0 h 355461"/>
                <a:gd name="connsiteX3" fmla="*/ 893866 w 893866"/>
                <a:gd name="connsiteY3" fmla="*/ 35546 h 355461"/>
                <a:gd name="connsiteX4" fmla="*/ 893866 w 893866"/>
                <a:gd name="connsiteY4" fmla="*/ 319915 h 355461"/>
                <a:gd name="connsiteX5" fmla="*/ 858320 w 893866"/>
                <a:gd name="connsiteY5" fmla="*/ 355461 h 355461"/>
                <a:gd name="connsiteX6" fmla="*/ 35546 w 893866"/>
                <a:gd name="connsiteY6" fmla="*/ 355461 h 355461"/>
                <a:gd name="connsiteX7" fmla="*/ 0 w 893866"/>
                <a:gd name="connsiteY7" fmla="*/ 319915 h 355461"/>
                <a:gd name="connsiteX8" fmla="*/ 0 w 893866"/>
                <a:gd name="connsiteY8" fmla="*/ 35546 h 35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866" h="355461">
                  <a:moveTo>
                    <a:pt x="0" y="35546"/>
                  </a:moveTo>
                  <a:cubicBezTo>
                    <a:pt x="0" y="15914"/>
                    <a:pt x="15914" y="0"/>
                    <a:pt x="35546" y="0"/>
                  </a:cubicBezTo>
                  <a:lnTo>
                    <a:pt x="858320" y="0"/>
                  </a:lnTo>
                  <a:cubicBezTo>
                    <a:pt x="877952" y="0"/>
                    <a:pt x="893866" y="15914"/>
                    <a:pt x="893866" y="35546"/>
                  </a:cubicBezTo>
                  <a:lnTo>
                    <a:pt x="893866" y="319915"/>
                  </a:lnTo>
                  <a:cubicBezTo>
                    <a:pt x="893866" y="339547"/>
                    <a:pt x="877952" y="355461"/>
                    <a:pt x="858320" y="355461"/>
                  </a:cubicBezTo>
                  <a:lnTo>
                    <a:pt x="35546" y="355461"/>
                  </a:lnTo>
                  <a:cubicBezTo>
                    <a:pt x="15914" y="355461"/>
                    <a:pt x="0" y="339547"/>
                    <a:pt x="0" y="319915"/>
                  </a:cubicBezTo>
                  <a:lnTo>
                    <a:pt x="0" y="35546"/>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7450407"/>
                <a:satOff val="29858"/>
                <a:lumOff val="6471"/>
                <a:alphaOff val="0"/>
              </a:schemeClr>
            </a:fillRef>
            <a:effectRef idx="2">
              <a:schemeClr val="accent5">
                <a:hueOff val="-7450407"/>
                <a:satOff val="29858"/>
                <a:lumOff val="6471"/>
                <a:alphaOff val="0"/>
              </a:schemeClr>
            </a:effectRef>
            <a:fontRef idx="minor">
              <a:schemeClr val="lt1"/>
            </a:fontRef>
          </p:style>
          <p:txBody>
            <a:bodyPr spcFirstLastPara="0" vert="horz" wrap="square" lIns="29461" tIns="23111" rIns="29461" bIns="23111" numCol="1" spcCol="1270" anchor="ctr" anchorCtr="0">
              <a:noAutofit/>
            </a:bodyPr>
            <a:lstStyle/>
            <a:p>
              <a:pPr lvl="0" algn="ctr" defTabSz="444500">
                <a:lnSpc>
                  <a:spcPct val="90000"/>
                </a:lnSpc>
                <a:spcBef>
                  <a:spcPct val="0"/>
                </a:spcBef>
                <a:spcAft>
                  <a:spcPct val="35000"/>
                </a:spcAft>
              </a:pPr>
              <a:r>
                <a:rPr lang="zh-CN" altLang="en-US" sz="2400" b="1" dirty="0"/>
                <a:t>最近</a:t>
              </a:r>
              <a:r>
                <a:rPr lang="zh-CN" altLang="en-US" sz="2400" b="1"/>
                <a:t>未</a:t>
              </a:r>
              <a:r>
                <a:rPr lang="zh-CN" altLang="en-US" sz="2400" b="1" smtClean="0"/>
                <a:t>使用（</a:t>
              </a:r>
              <a:r>
                <a:rPr lang="en-US" altLang="zh-CN" sz="2400" b="1" dirty="0" smtClean="0"/>
                <a:t>LRU)</a:t>
              </a:r>
              <a:endParaRPr lang="zh-CN" altLang="en-US" sz="2400" b="1" dirty="0"/>
            </a:p>
          </p:txBody>
        </p:sp>
      </p:grpSp>
      <p:grpSp>
        <p:nvGrpSpPr>
          <p:cNvPr id="37" name="组合 36"/>
          <p:cNvGrpSpPr/>
          <p:nvPr/>
        </p:nvGrpSpPr>
        <p:grpSpPr>
          <a:xfrm>
            <a:off x="6868984" y="100600"/>
            <a:ext cx="2144934" cy="2128598"/>
            <a:chOff x="6868984" y="100600"/>
            <a:chExt cx="2144934" cy="2128598"/>
          </a:xfrm>
        </p:grpSpPr>
        <p:sp>
          <p:nvSpPr>
            <p:cNvPr id="32" name="任意多边形 31"/>
            <p:cNvSpPr/>
            <p:nvPr/>
          </p:nvSpPr>
          <p:spPr>
            <a:xfrm>
              <a:off x="6868984" y="100600"/>
              <a:ext cx="1968075" cy="1475187"/>
            </a:xfrm>
            <a:custGeom>
              <a:avLst/>
              <a:gdLst>
                <a:gd name="connsiteX0" fmla="*/ 0 w 1005599"/>
                <a:gd name="connsiteY0" fmla="*/ 82941 h 829409"/>
                <a:gd name="connsiteX1" fmla="*/ 82941 w 1005599"/>
                <a:gd name="connsiteY1" fmla="*/ 0 h 829409"/>
                <a:gd name="connsiteX2" fmla="*/ 922658 w 1005599"/>
                <a:gd name="connsiteY2" fmla="*/ 0 h 829409"/>
                <a:gd name="connsiteX3" fmla="*/ 1005599 w 1005599"/>
                <a:gd name="connsiteY3" fmla="*/ 82941 h 829409"/>
                <a:gd name="connsiteX4" fmla="*/ 1005599 w 1005599"/>
                <a:gd name="connsiteY4" fmla="*/ 746468 h 829409"/>
                <a:gd name="connsiteX5" fmla="*/ 922658 w 1005599"/>
                <a:gd name="connsiteY5" fmla="*/ 829409 h 829409"/>
                <a:gd name="connsiteX6" fmla="*/ 82941 w 1005599"/>
                <a:gd name="connsiteY6" fmla="*/ 829409 h 829409"/>
                <a:gd name="connsiteX7" fmla="*/ 0 w 1005599"/>
                <a:gd name="connsiteY7" fmla="*/ 746468 h 829409"/>
                <a:gd name="connsiteX8" fmla="*/ 0 w 1005599"/>
                <a:gd name="connsiteY8" fmla="*/ 82941 h 82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5599" h="829409">
                  <a:moveTo>
                    <a:pt x="0" y="82941"/>
                  </a:moveTo>
                  <a:cubicBezTo>
                    <a:pt x="0" y="37134"/>
                    <a:pt x="37134" y="0"/>
                    <a:pt x="82941" y="0"/>
                  </a:cubicBezTo>
                  <a:lnTo>
                    <a:pt x="922658" y="0"/>
                  </a:lnTo>
                  <a:cubicBezTo>
                    <a:pt x="968465" y="0"/>
                    <a:pt x="1005599" y="37134"/>
                    <a:pt x="1005599" y="82941"/>
                  </a:cubicBezTo>
                  <a:lnTo>
                    <a:pt x="1005599" y="746468"/>
                  </a:lnTo>
                  <a:cubicBezTo>
                    <a:pt x="1005599" y="792275"/>
                    <a:pt x="968465" y="829409"/>
                    <a:pt x="922658" y="829409"/>
                  </a:cubicBezTo>
                  <a:lnTo>
                    <a:pt x="82941" y="829409"/>
                  </a:lnTo>
                  <a:cubicBezTo>
                    <a:pt x="37134" y="829409"/>
                    <a:pt x="0" y="792275"/>
                    <a:pt x="0" y="746468"/>
                  </a:cubicBezTo>
                  <a:lnTo>
                    <a:pt x="0" y="82941"/>
                  </a:lnTo>
                  <a:close/>
                </a:path>
              </a:pathLst>
            </a:custGeom>
            <a:scene3d>
              <a:camera prst="orthographicFront"/>
              <a:lightRig rig="flat" dir="t"/>
            </a:scene3d>
            <a:sp3d z="-190500" extrusionH="12700" prstMaterial="plastic">
              <a:bevelT w="50800" h="50800"/>
            </a:sp3d>
          </p:spPr>
          <p:style>
            <a:lnRef idx="1">
              <a:schemeClr val="accent5">
                <a:hueOff val="-9933876"/>
                <a:satOff val="39811"/>
                <a:lumOff val="8628"/>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0517" tIns="30517" rIns="30517" bIns="208248" numCol="1" spcCol="1270" anchor="t" anchorCtr="0">
              <a:noAutofit/>
            </a:bodyPr>
            <a:lstStyle/>
            <a:p>
              <a:pPr marL="57150" lvl="1" indent="-57150" algn="l" defTabSz="266700">
                <a:lnSpc>
                  <a:spcPct val="90000"/>
                </a:lnSpc>
                <a:spcBef>
                  <a:spcPct val="0"/>
                </a:spcBef>
                <a:spcAft>
                  <a:spcPct val="15000"/>
                </a:spcAft>
                <a:buChar char="•"/>
              </a:pPr>
              <a:r>
                <a:rPr lang="zh-CN" altLang="en-US" sz="2000" b="1" kern="1200" dirty="0" smtClean="0"/>
                <a:t>淘汰在访问串中将来再也不出现的或是在当前页最远的位置上出现的页</a:t>
              </a:r>
              <a:endParaRPr lang="zh-CN" altLang="en-US" sz="2000" b="1" kern="1200" dirty="0"/>
            </a:p>
          </p:txBody>
        </p:sp>
        <p:sp>
          <p:nvSpPr>
            <p:cNvPr id="33" name="任意多边形 32"/>
            <p:cNvSpPr/>
            <p:nvPr/>
          </p:nvSpPr>
          <p:spPr>
            <a:xfrm>
              <a:off x="7261868" y="1530564"/>
              <a:ext cx="1752050" cy="698634"/>
            </a:xfrm>
            <a:custGeom>
              <a:avLst/>
              <a:gdLst>
                <a:gd name="connsiteX0" fmla="*/ 0 w 893866"/>
                <a:gd name="connsiteY0" fmla="*/ 35546 h 355461"/>
                <a:gd name="connsiteX1" fmla="*/ 35546 w 893866"/>
                <a:gd name="connsiteY1" fmla="*/ 0 h 355461"/>
                <a:gd name="connsiteX2" fmla="*/ 858320 w 893866"/>
                <a:gd name="connsiteY2" fmla="*/ 0 h 355461"/>
                <a:gd name="connsiteX3" fmla="*/ 893866 w 893866"/>
                <a:gd name="connsiteY3" fmla="*/ 35546 h 355461"/>
                <a:gd name="connsiteX4" fmla="*/ 893866 w 893866"/>
                <a:gd name="connsiteY4" fmla="*/ 319915 h 355461"/>
                <a:gd name="connsiteX5" fmla="*/ 858320 w 893866"/>
                <a:gd name="connsiteY5" fmla="*/ 355461 h 355461"/>
                <a:gd name="connsiteX6" fmla="*/ 35546 w 893866"/>
                <a:gd name="connsiteY6" fmla="*/ 355461 h 355461"/>
                <a:gd name="connsiteX7" fmla="*/ 0 w 893866"/>
                <a:gd name="connsiteY7" fmla="*/ 319915 h 355461"/>
                <a:gd name="connsiteX8" fmla="*/ 0 w 893866"/>
                <a:gd name="connsiteY8" fmla="*/ 35546 h 355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866" h="355461">
                  <a:moveTo>
                    <a:pt x="0" y="35546"/>
                  </a:moveTo>
                  <a:cubicBezTo>
                    <a:pt x="0" y="15914"/>
                    <a:pt x="15914" y="0"/>
                    <a:pt x="35546" y="0"/>
                  </a:cubicBezTo>
                  <a:lnTo>
                    <a:pt x="858320" y="0"/>
                  </a:lnTo>
                  <a:cubicBezTo>
                    <a:pt x="877952" y="0"/>
                    <a:pt x="893866" y="15914"/>
                    <a:pt x="893866" y="35546"/>
                  </a:cubicBezTo>
                  <a:lnTo>
                    <a:pt x="893866" y="319915"/>
                  </a:lnTo>
                  <a:cubicBezTo>
                    <a:pt x="893866" y="339547"/>
                    <a:pt x="877952" y="355461"/>
                    <a:pt x="858320" y="355461"/>
                  </a:cubicBezTo>
                  <a:lnTo>
                    <a:pt x="35546" y="355461"/>
                  </a:lnTo>
                  <a:cubicBezTo>
                    <a:pt x="15914" y="355461"/>
                    <a:pt x="0" y="339547"/>
                    <a:pt x="0" y="319915"/>
                  </a:cubicBezTo>
                  <a:lnTo>
                    <a:pt x="0" y="35546"/>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29461" tIns="23111" rIns="29461" bIns="23111" numCol="1" spcCol="1270" anchor="ctr" anchorCtr="0">
              <a:noAutofit/>
            </a:bodyPr>
            <a:lstStyle/>
            <a:p>
              <a:pPr algn="ctr" defTabSz="444500">
                <a:lnSpc>
                  <a:spcPct val="90000"/>
                </a:lnSpc>
                <a:spcBef>
                  <a:spcPct val="0"/>
                </a:spcBef>
                <a:spcAft>
                  <a:spcPct val="35000"/>
                </a:spcAft>
              </a:pPr>
              <a:r>
                <a:rPr lang="zh-CN" altLang="en-US" sz="2400" b="1" kern="1200" dirty="0" smtClean="0"/>
                <a:t>理想型淘汰</a:t>
              </a:r>
              <a:r>
                <a:rPr lang="zh-CN" altLang="en-US" sz="2400" b="1" dirty="0"/>
                <a:t>算法</a:t>
              </a:r>
            </a:p>
          </p:txBody>
        </p:sp>
      </p:grpSp>
    </p:spTree>
    <p:extLst>
      <p:ext uri="{BB962C8B-B14F-4D97-AF65-F5344CB8AC3E}">
        <p14:creationId xmlns:p14="http://schemas.microsoft.com/office/powerpoint/2010/main" val="1297415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up)">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down)">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up)">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down)">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down)">
                                      <p:cBhvr>
                                        <p:cTn id="4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--FIFO</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0" name="图片 29"/>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91107" y="2613591"/>
            <a:ext cx="1040904" cy="1101108"/>
          </a:xfrm>
          <a:prstGeom prst="rect">
            <a:avLst/>
          </a:prstGeom>
        </p:spPr>
      </p:pic>
      <p:sp>
        <p:nvSpPr>
          <p:cNvPr id="31" name="矩形 30"/>
          <p:cNvSpPr/>
          <p:nvPr/>
        </p:nvSpPr>
        <p:spPr>
          <a:xfrm>
            <a:off x="1043608" y="1226105"/>
            <a:ext cx="6635867" cy="3416320"/>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由实验和测试发现</a:t>
            </a:r>
            <a:r>
              <a:rPr lang="en-US" altLang="zh-CN" sz="2400" b="1" dirty="0">
                <a:solidFill>
                  <a:schemeClr val="bg1"/>
                </a:solidFill>
                <a:latin typeface="+mn-ea"/>
              </a:rPr>
              <a:t>FIFO</a:t>
            </a:r>
            <a:r>
              <a:rPr lang="zh-CN" altLang="en-US" sz="2400" b="1" dirty="0">
                <a:solidFill>
                  <a:schemeClr val="bg1"/>
                </a:solidFill>
                <a:latin typeface="+mn-ea"/>
              </a:rPr>
              <a:t>算法和</a:t>
            </a:r>
            <a:r>
              <a:rPr lang="en-US" altLang="zh-CN" sz="2400" b="1" dirty="0">
                <a:solidFill>
                  <a:schemeClr val="bg1"/>
                </a:solidFill>
                <a:latin typeface="+mn-ea"/>
              </a:rPr>
              <a:t>RR</a:t>
            </a:r>
            <a:r>
              <a:rPr lang="zh-CN" altLang="en-US" sz="2400" b="1" dirty="0">
                <a:solidFill>
                  <a:schemeClr val="bg1"/>
                </a:solidFill>
                <a:latin typeface="+mn-ea"/>
              </a:rPr>
              <a:t>算法的</a:t>
            </a:r>
            <a:r>
              <a:rPr lang="zh-CN" altLang="en-US" sz="2400" b="1" dirty="0">
                <a:solidFill>
                  <a:srgbClr val="FFFF00"/>
                </a:solidFill>
                <a:latin typeface="+mn-ea"/>
              </a:rPr>
              <a:t>内存利用率不高</a:t>
            </a:r>
            <a:r>
              <a:rPr lang="zh-CN" altLang="en-US" sz="2400" b="1" dirty="0">
                <a:solidFill>
                  <a:schemeClr val="bg1"/>
                </a:solidFill>
                <a:latin typeface="+mn-ea"/>
              </a:rPr>
              <a:t>。</a:t>
            </a:r>
            <a:endParaRPr lang="en-US" altLang="zh-CN" sz="2400" b="1" dirty="0">
              <a:solidFill>
                <a:schemeClr val="bg1"/>
              </a:solidFill>
              <a:latin typeface="+mn-ea"/>
            </a:endParaRPr>
          </a:p>
          <a:p>
            <a:pPr marL="0" lvl="1" indent="-342900" algn="just">
              <a:lnSpc>
                <a:spcPct val="150000"/>
              </a:lnSpc>
              <a:buClr>
                <a:schemeClr val="accent6">
                  <a:lumMod val="60000"/>
                  <a:lumOff val="40000"/>
                </a:schemeClr>
              </a:buClr>
              <a:buFont typeface="Wingdings" panose="05000000000000000000" pitchFamily="2" charset="2"/>
              <a:buChar char="Ø"/>
            </a:pPr>
            <a:r>
              <a:rPr lang="en-US" altLang="zh-CN" sz="2400" b="1" dirty="0">
                <a:solidFill>
                  <a:schemeClr val="bg1"/>
                </a:solidFill>
                <a:latin typeface="+mn-ea"/>
              </a:rPr>
              <a:t>FIFO</a:t>
            </a:r>
            <a:r>
              <a:rPr lang="zh-CN" altLang="en-US" sz="2400" b="1" dirty="0">
                <a:solidFill>
                  <a:schemeClr val="bg1"/>
                </a:solidFill>
                <a:latin typeface="+mn-ea"/>
              </a:rPr>
              <a:t>算法的另一个缺点是它有一种</a:t>
            </a:r>
            <a:r>
              <a:rPr lang="zh-CN" altLang="en-US" sz="2400" b="1" dirty="0">
                <a:solidFill>
                  <a:srgbClr val="FFFF00"/>
                </a:solidFill>
                <a:latin typeface="+mn-ea"/>
              </a:rPr>
              <a:t>陷阱现象</a:t>
            </a:r>
            <a:r>
              <a:rPr lang="zh-CN" altLang="en-US" sz="2400" b="1" dirty="0" smtClean="0">
                <a:solidFill>
                  <a:schemeClr val="bg1"/>
                </a:solidFill>
                <a:latin typeface="+mn-ea"/>
              </a:rPr>
              <a:t>。在</a:t>
            </a:r>
            <a:r>
              <a:rPr lang="zh-CN" altLang="en-US" sz="2400" b="1" dirty="0">
                <a:solidFill>
                  <a:schemeClr val="bg1"/>
                </a:solidFill>
                <a:latin typeface="+mn-ea"/>
              </a:rPr>
              <a:t>未给进程或作业分配足它所要求的页面数时，有时会出现分配的页面数增多，缺页次数反而增加的奇怪现象。这种现象称为</a:t>
            </a:r>
            <a:r>
              <a:rPr lang="en-US" altLang="zh-CN" sz="2400" b="1" dirty="0" err="1">
                <a:solidFill>
                  <a:schemeClr val="bg1"/>
                </a:solidFill>
                <a:latin typeface="+mn-ea"/>
              </a:rPr>
              <a:t>Belady</a:t>
            </a:r>
            <a:r>
              <a:rPr lang="zh-CN" altLang="en-US" sz="2400" b="1" dirty="0">
                <a:solidFill>
                  <a:schemeClr val="bg1"/>
                </a:solidFill>
                <a:latin typeface="+mn-ea"/>
              </a:rPr>
              <a:t>现象。</a:t>
            </a:r>
          </a:p>
        </p:txBody>
      </p:sp>
      <p:pic>
        <p:nvPicPr>
          <p:cNvPr id="32" name="Picture 2" descr="E:\操作系统教材编写\张校长教材\新版\e24.t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816" y="1750353"/>
            <a:ext cx="60134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41728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left)">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xEl>
                                              <p:pRg st="1" end="1"/>
                                            </p:txEl>
                                          </p:spTgt>
                                        </p:tgtEl>
                                        <p:attrNameLst>
                                          <p:attrName>style.visibility</p:attrName>
                                        </p:attrNameLst>
                                      </p:cBhvr>
                                      <p:to>
                                        <p:strVal val="visible"/>
                                      </p:to>
                                    </p:set>
                                    <p:animEffect transition="in" filter="wipe(left)">
                                      <p:cBhvr>
                                        <p:cTn id="12" dur="500"/>
                                        <p:tgtEl>
                                          <p:spTgt spid="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--FIFO</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21014"/>
            <a:ext cx="6984776"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例：设进程</a:t>
            </a:r>
            <a:r>
              <a:rPr lang="en-US" altLang="zh-CN" sz="2400" b="1" dirty="0">
                <a:solidFill>
                  <a:schemeClr val="bg1"/>
                </a:solidFill>
                <a:latin typeface="+mn-ea"/>
              </a:rPr>
              <a:t>P</a:t>
            </a:r>
            <a:r>
              <a:rPr lang="zh-CN" altLang="en-US" sz="2400" b="1" dirty="0">
                <a:solidFill>
                  <a:schemeClr val="bg1"/>
                </a:solidFill>
                <a:latin typeface="+mn-ea"/>
              </a:rPr>
              <a:t>共有</a:t>
            </a:r>
            <a:r>
              <a:rPr lang="en-US" altLang="zh-CN" sz="2400" b="1" dirty="0">
                <a:solidFill>
                  <a:schemeClr val="bg1"/>
                </a:solidFill>
                <a:latin typeface="+mn-ea"/>
              </a:rPr>
              <a:t>8</a:t>
            </a:r>
            <a:r>
              <a:rPr lang="zh-CN" altLang="en-US" sz="2400" b="1" dirty="0">
                <a:solidFill>
                  <a:schemeClr val="bg1"/>
                </a:solidFill>
                <a:latin typeface="+mn-ea"/>
              </a:rPr>
              <a:t>页，且已在内存中分配有</a:t>
            </a:r>
            <a:r>
              <a:rPr lang="en-US" altLang="zh-CN" sz="2400" b="1" dirty="0">
                <a:solidFill>
                  <a:schemeClr val="bg1"/>
                </a:solidFill>
                <a:latin typeface="+mn-ea"/>
              </a:rPr>
              <a:t>3</a:t>
            </a:r>
            <a:r>
              <a:rPr lang="zh-CN" altLang="en-US" sz="2400" b="1" dirty="0">
                <a:solidFill>
                  <a:schemeClr val="bg1"/>
                </a:solidFill>
                <a:latin typeface="+mn-ea"/>
              </a:rPr>
              <a:t>个页面，程序访问内存的顺序</a:t>
            </a:r>
            <a:r>
              <a:rPr lang="en-US" altLang="zh-CN" sz="2400" b="1" dirty="0">
                <a:solidFill>
                  <a:schemeClr val="bg1"/>
                </a:solidFill>
                <a:latin typeface="+mn-ea"/>
              </a:rPr>
              <a:t>(</a:t>
            </a:r>
            <a:r>
              <a:rPr lang="zh-CN" altLang="en-US" sz="2400" b="1" dirty="0">
                <a:solidFill>
                  <a:schemeClr val="bg1"/>
                </a:solidFill>
                <a:latin typeface="+mn-ea"/>
              </a:rPr>
              <a:t>访问串</a:t>
            </a:r>
            <a:r>
              <a:rPr lang="en-US" altLang="zh-CN" sz="2400" b="1" dirty="0">
                <a:solidFill>
                  <a:schemeClr val="bg1"/>
                </a:solidFill>
                <a:latin typeface="+mn-ea"/>
              </a:rPr>
              <a:t>)</a:t>
            </a:r>
            <a:r>
              <a:rPr lang="zh-CN" altLang="en-US" sz="2400" b="1" dirty="0">
                <a:solidFill>
                  <a:schemeClr val="bg1"/>
                </a:solidFill>
                <a:latin typeface="+mn-ea"/>
              </a:rPr>
              <a:t>为</a:t>
            </a:r>
            <a:r>
              <a:rPr lang="en-US" altLang="zh-CN" sz="2400" b="1" dirty="0">
                <a:solidFill>
                  <a:schemeClr val="bg1"/>
                </a:solidFill>
                <a:latin typeface="+mn-ea"/>
              </a:rPr>
              <a:t>7</a:t>
            </a:r>
            <a:r>
              <a:rPr lang="zh-CN" altLang="en-US" sz="2400" b="1" dirty="0">
                <a:solidFill>
                  <a:schemeClr val="bg1"/>
                </a:solidFill>
                <a:latin typeface="+mn-ea"/>
              </a:rPr>
              <a:t>，</a:t>
            </a:r>
            <a:r>
              <a:rPr lang="en-US" altLang="zh-CN" sz="2400" b="1" dirty="0">
                <a:solidFill>
                  <a:schemeClr val="bg1"/>
                </a:solidFill>
                <a:latin typeface="+mn-ea"/>
              </a:rPr>
              <a:t>0</a:t>
            </a:r>
            <a:r>
              <a:rPr lang="zh-CN" altLang="en-US" sz="2400" b="1" dirty="0">
                <a:solidFill>
                  <a:schemeClr val="bg1"/>
                </a:solidFill>
                <a:latin typeface="+mn-ea"/>
              </a:rPr>
              <a:t>，</a:t>
            </a:r>
            <a:r>
              <a:rPr lang="en-US" altLang="zh-CN" sz="2400" b="1"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0</a:t>
            </a:r>
            <a:r>
              <a:rPr lang="zh-CN" altLang="en-US" sz="2400" b="1" dirty="0">
                <a:solidFill>
                  <a:schemeClr val="bg1"/>
                </a:solidFill>
                <a:latin typeface="+mn-ea"/>
              </a:rPr>
              <a:t>，</a:t>
            </a:r>
            <a:r>
              <a:rPr lang="en-US" altLang="zh-CN" sz="2400" b="1" dirty="0">
                <a:solidFill>
                  <a:schemeClr val="bg1"/>
                </a:solidFill>
                <a:latin typeface="+mn-ea"/>
              </a:rPr>
              <a:t>3</a:t>
            </a:r>
            <a:r>
              <a:rPr lang="zh-CN" altLang="en-US" sz="2400" b="1" dirty="0">
                <a:solidFill>
                  <a:schemeClr val="bg1"/>
                </a:solidFill>
                <a:latin typeface="+mn-ea"/>
              </a:rPr>
              <a:t>，</a:t>
            </a:r>
            <a:r>
              <a:rPr lang="en-US" altLang="zh-CN" sz="2400" b="1" dirty="0">
                <a:solidFill>
                  <a:schemeClr val="bg1"/>
                </a:solidFill>
                <a:latin typeface="+mn-ea"/>
              </a:rPr>
              <a:t>0</a:t>
            </a:r>
            <a:r>
              <a:rPr lang="zh-CN" altLang="en-US" sz="2400" b="1" dirty="0">
                <a:solidFill>
                  <a:schemeClr val="bg1"/>
                </a:solidFill>
                <a:latin typeface="+mn-ea"/>
              </a:rPr>
              <a:t>，</a:t>
            </a:r>
            <a:r>
              <a:rPr lang="en-US" altLang="zh-CN" sz="2400" b="1" dirty="0">
                <a:solidFill>
                  <a:schemeClr val="bg1"/>
                </a:solidFill>
                <a:latin typeface="+mn-ea"/>
              </a:rPr>
              <a:t>4</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3</a:t>
            </a:r>
            <a:r>
              <a:rPr lang="zh-CN" altLang="en-US" sz="2400" b="1" dirty="0">
                <a:solidFill>
                  <a:schemeClr val="bg1"/>
                </a:solidFill>
                <a:latin typeface="+mn-ea"/>
              </a:rPr>
              <a:t>，</a:t>
            </a:r>
            <a:r>
              <a:rPr lang="en-US" altLang="zh-CN" sz="2400" b="1" dirty="0">
                <a:solidFill>
                  <a:schemeClr val="bg1"/>
                </a:solidFill>
                <a:latin typeface="+mn-ea"/>
              </a:rPr>
              <a:t>0</a:t>
            </a:r>
            <a:r>
              <a:rPr lang="zh-CN" altLang="en-US" sz="2400" b="1" dirty="0">
                <a:solidFill>
                  <a:schemeClr val="bg1"/>
                </a:solidFill>
                <a:latin typeface="+mn-ea"/>
              </a:rPr>
              <a:t>，</a:t>
            </a:r>
            <a:r>
              <a:rPr lang="en-US" altLang="zh-CN" sz="2400" b="1" dirty="0">
                <a:solidFill>
                  <a:schemeClr val="bg1"/>
                </a:solidFill>
                <a:latin typeface="+mn-ea"/>
              </a:rPr>
              <a:t>3</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0</a:t>
            </a:r>
            <a:r>
              <a:rPr lang="zh-CN" altLang="en-US" sz="2400" b="1" dirty="0">
                <a:solidFill>
                  <a:schemeClr val="bg1"/>
                </a:solidFill>
                <a:latin typeface="+mn-ea"/>
              </a:rPr>
              <a:t>，</a:t>
            </a:r>
            <a:r>
              <a:rPr lang="en-US" altLang="zh-CN" sz="2400" b="1" dirty="0">
                <a:solidFill>
                  <a:schemeClr val="bg1"/>
                </a:solidFill>
                <a:latin typeface="+mn-ea"/>
              </a:rPr>
              <a:t>1</a:t>
            </a:r>
            <a:r>
              <a:rPr lang="zh-CN" altLang="en-US" sz="2400" b="1" dirty="0">
                <a:solidFill>
                  <a:schemeClr val="bg1"/>
                </a:solidFill>
                <a:latin typeface="+mn-ea"/>
              </a:rPr>
              <a:t>。这里，这些自然数代表进程</a:t>
            </a:r>
            <a:r>
              <a:rPr lang="en-US" altLang="zh-CN" sz="2400" b="1" dirty="0">
                <a:solidFill>
                  <a:schemeClr val="bg1"/>
                </a:solidFill>
                <a:latin typeface="+mn-ea"/>
              </a:rPr>
              <a:t>P</a:t>
            </a:r>
            <a:r>
              <a:rPr lang="zh-CN" altLang="en-US" sz="2400" b="1" dirty="0">
                <a:solidFill>
                  <a:schemeClr val="bg1"/>
                </a:solidFill>
                <a:latin typeface="+mn-ea"/>
              </a:rPr>
              <a:t>所建的程序和数据的页号。内存中有关进程</a:t>
            </a:r>
            <a:r>
              <a:rPr lang="en-US" altLang="zh-CN" sz="2400" b="1" dirty="0">
                <a:solidFill>
                  <a:schemeClr val="bg1"/>
                </a:solidFill>
                <a:latin typeface="+mn-ea"/>
              </a:rPr>
              <a:t>P</a:t>
            </a:r>
            <a:r>
              <a:rPr lang="zh-CN" altLang="en-US" sz="2400" b="1" dirty="0">
                <a:solidFill>
                  <a:schemeClr val="bg1"/>
                </a:solidFill>
                <a:latin typeface="+mn-ea"/>
              </a:rPr>
              <a:t>所建的程序和数据的各页面变化情况</a:t>
            </a:r>
            <a:r>
              <a:rPr lang="zh-CN" altLang="en-US" sz="2400" b="1" dirty="0" smtClean="0">
                <a:solidFill>
                  <a:schemeClr val="bg1"/>
                </a:solidFill>
                <a:latin typeface="+mn-ea"/>
              </a:rPr>
              <a:t>如下图所</a:t>
            </a:r>
            <a:r>
              <a:rPr lang="zh-CN" altLang="en-US" sz="2400" b="1" dirty="0">
                <a:solidFill>
                  <a:schemeClr val="bg1"/>
                </a:solidFill>
                <a:latin typeface="+mn-ea"/>
              </a:rPr>
              <a:t>示。</a:t>
            </a:r>
            <a:endParaRPr lang="en-US" altLang="zh-CN" sz="2400" b="1" dirty="0">
              <a:solidFill>
                <a:schemeClr val="bg1"/>
              </a:solidFill>
              <a:latin typeface="+mn-ea"/>
            </a:endParaRPr>
          </a:p>
        </p:txBody>
      </p:sp>
      <p:pic>
        <p:nvPicPr>
          <p:cNvPr id="3" name="图片 2"/>
          <p:cNvPicPr>
            <a:picLocks noChangeAspect="1"/>
          </p:cNvPicPr>
          <p:nvPr/>
        </p:nvPicPr>
        <p:blipFill rotWithShape="1">
          <a:blip r:embed="rId3"/>
          <a:srcRect l="35418" t="48234" r="24734" b="36016"/>
          <a:stretch>
            <a:fillRect/>
          </a:stretch>
        </p:blipFill>
        <p:spPr>
          <a:xfrm>
            <a:off x="348465" y="1995686"/>
            <a:ext cx="8232791" cy="1829509"/>
          </a:xfrm>
          <a:prstGeom prst="rect">
            <a:avLst/>
          </a:prstGeom>
        </p:spPr>
      </p:pic>
      <p:sp>
        <p:nvSpPr>
          <p:cNvPr id="4" name="圆角矩形标注 3"/>
          <p:cNvSpPr/>
          <p:nvPr/>
        </p:nvSpPr>
        <p:spPr>
          <a:xfrm>
            <a:off x="3347864" y="357569"/>
            <a:ext cx="4320480" cy="1638117"/>
          </a:xfrm>
          <a:prstGeom prst="wedgeRoundRectCallout">
            <a:avLst>
              <a:gd name="adj1" fmla="val -67538"/>
              <a:gd name="adj2" fmla="val 5862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10000"/>
              </a:lnSpc>
            </a:pPr>
            <a:r>
              <a:rPr lang="zh-CN" altLang="en-US" sz="2000" b="1" dirty="0"/>
              <a:t>进程在一个执行过程中，实际上发生了</a:t>
            </a:r>
            <a:r>
              <a:rPr lang="en-US" altLang="zh-CN" sz="2000" b="1" dirty="0"/>
              <a:t>12</a:t>
            </a:r>
            <a:r>
              <a:rPr lang="zh-CN" altLang="en-US" sz="2000" b="1" dirty="0"/>
              <a:t>次缺页。如果设缺页率为缺页次数与访问串的访问次数之比，则该例中的缺页率为</a:t>
            </a:r>
            <a:r>
              <a:rPr lang="en-US" altLang="zh-CN" sz="2000" b="1" dirty="0"/>
              <a:t>12/17=70.5%</a:t>
            </a:r>
            <a:endParaRPr lang="zh-CN" altLang="en-US" sz="2000" b="1" dirty="0"/>
          </a:p>
        </p:txBody>
      </p:sp>
    </p:spTree>
    <p:extLst>
      <p:ext uri="{BB962C8B-B14F-4D97-AF65-F5344CB8AC3E}">
        <p14:creationId xmlns:p14="http://schemas.microsoft.com/office/powerpoint/2010/main" val="4124671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--FIFO</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21014"/>
            <a:ext cx="6984776" cy="113710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如果给进程</a:t>
            </a:r>
            <a:r>
              <a:rPr lang="en-US" altLang="zh-CN" sz="2400" b="1" dirty="0">
                <a:solidFill>
                  <a:schemeClr val="bg1"/>
                </a:solidFill>
                <a:latin typeface="+mn-ea"/>
              </a:rPr>
              <a:t>P</a:t>
            </a:r>
            <a:r>
              <a:rPr lang="zh-CN" altLang="en-US" sz="2400" b="1" dirty="0">
                <a:solidFill>
                  <a:schemeClr val="bg1"/>
                </a:solidFill>
                <a:latin typeface="+mn-ea"/>
              </a:rPr>
              <a:t>分配</a:t>
            </a:r>
            <a:r>
              <a:rPr lang="en-US" altLang="zh-CN" sz="2400" b="1" dirty="0">
                <a:solidFill>
                  <a:schemeClr val="bg1"/>
                </a:solidFill>
                <a:latin typeface="+mn-ea"/>
              </a:rPr>
              <a:t>4</a:t>
            </a:r>
            <a:r>
              <a:rPr lang="zh-CN" altLang="en-US" sz="2400" b="1" dirty="0">
                <a:solidFill>
                  <a:schemeClr val="bg1"/>
                </a:solidFill>
                <a:latin typeface="+mn-ea"/>
              </a:rPr>
              <a:t>个页面，则在其执行过程中内存页面的变化情况</a:t>
            </a:r>
            <a:r>
              <a:rPr lang="zh-CN" altLang="en-US" sz="2400" b="1" dirty="0" smtClean="0">
                <a:solidFill>
                  <a:schemeClr val="bg1"/>
                </a:solidFill>
                <a:latin typeface="+mn-ea"/>
              </a:rPr>
              <a:t>如</a:t>
            </a:r>
            <a:r>
              <a:rPr lang="zh-CN" altLang="en-US" sz="2400" b="1" dirty="0">
                <a:solidFill>
                  <a:schemeClr val="bg1"/>
                </a:solidFill>
                <a:latin typeface="+mn-ea"/>
              </a:rPr>
              <a:t>下</a:t>
            </a:r>
            <a:r>
              <a:rPr lang="zh-CN" altLang="en-US" sz="2400" b="1" dirty="0" smtClean="0">
                <a:solidFill>
                  <a:schemeClr val="bg1"/>
                </a:solidFill>
                <a:latin typeface="+mn-ea"/>
              </a:rPr>
              <a:t>图所</a:t>
            </a:r>
            <a:r>
              <a:rPr lang="zh-CN" altLang="en-US" sz="2400" b="1" dirty="0">
                <a:solidFill>
                  <a:schemeClr val="bg1"/>
                </a:solidFill>
                <a:latin typeface="+mn-ea"/>
              </a:rPr>
              <a:t>示。</a:t>
            </a:r>
            <a:endParaRPr lang="en-US" altLang="zh-CN" sz="2400" b="1" dirty="0">
              <a:solidFill>
                <a:schemeClr val="bg1"/>
              </a:solidFill>
              <a:latin typeface="+mn-ea"/>
            </a:endParaRPr>
          </a:p>
        </p:txBody>
      </p:sp>
      <p:pic>
        <p:nvPicPr>
          <p:cNvPr id="5" name="图片 4"/>
          <p:cNvPicPr>
            <a:picLocks noChangeAspect="1"/>
          </p:cNvPicPr>
          <p:nvPr/>
        </p:nvPicPr>
        <p:blipFill rotWithShape="1">
          <a:blip r:embed="rId3"/>
          <a:srcRect l="35057" t="38701" r="25096" b="39729"/>
          <a:stretch>
            <a:fillRect/>
          </a:stretch>
        </p:blipFill>
        <p:spPr>
          <a:xfrm>
            <a:off x="827584" y="2473846"/>
            <a:ext cx="7055473" cy="2057846"/>
          </a:xfrm>
          <a:prstGeom prst="rect">
            <a:avLst/>
          </a:prstGeom>
        </p:spPr>
      </p:pic>
      <p:sp>
        <p:nvSpPr>
          <p:cNvPr id="4" name="圆角矩形标注 3"/>
          <p:cNvSpPr/>
          <p:nvPr/>
        </p:nvSpPr>
        <p:spPr>
          <a:xfrm>
            <a:off x="3779912" y="1159834"/>
            <a:ext cx="3384376" cy="1278077"/>
          </a:xfrm>
          <a:prstGeom prst="wedgeRoundRectCallout">
            <a:avLst>
              <a:gd name="adj1" fmla="val -67538"/>
              <a:gd name="adj2" fmla="val 5862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10000"/>
              </a:lnSpc>
            </a:pPr>
            <a:r>
              <a:rPr lang="zh-CN" altLang="en-US" sz="2000" b="1" dirty="0"/>
              <a:t>进程在一个执行过程中，实际上发生了</a:t>
            </a:r>
            <a:r>
              <a:rPr lang="en-US" altLang="zh-CN" sz="2000" b="1" dirty="0"/>
              <a:t>9</a:t>
            </a:r>
            <a:r>
              <a:rPr lang="zh-CN" altLang="en-US" sz="2000" b="1" dirty="0"/>
              <a:t>次缺页，其缺页率为</a:t>
            </a:r>
            <a:r>
              <a:rPr lang="en-US" altLang="zh-CN" sz="2000" b="1" dirty="0"/>
              <a:t>9/17=52.9%</a:t>
            </a:r>
            <a:endParaRPr lang="zh-CN" altLang="en-US" sz="2000" b="1" dirty="0"/>
          </a:p>
        </p:txBody>
      </p:sp>
    </p:spTree>
    <p:extLst>
      <p:ext uri="{BB962C8B-B14F-4D97-AF65-F5344CB8AC3E}">
        <p14:creationId xmlns:p14="http://schemas.microsoft.com/office/powerpoint/2010/main" val="31636778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--FIFO</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21014"/>
            <a:ext cx="6984776" cy="169110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设进程</a:t>
            </a:r>
            <a:r>
              <a:rPr lang="en-US" altLang="zh-CN" sz="2400" b="1" dirty="0">
                <a:solidFill>
                  <a:schemeClr val="bg1"/>
                </a:solidFill>
                <a:latin typeface="+mn-ea"/>
              </a:rPr>
              <a:t>P</a:t>
            </a:r>
            <a:r>
              <a:rPr lang="zh-CN" altLang="en-US" sz="2400" b="1" dirty="0">
                <a:solidFill>
                  <a:schemeClr val="bg1"/>
                </a:solidFill>
                <a:latin typeface="+mn-ea"/>
              </a:rPr>
              <a:t>可分为</a:t>
            </a:r>
            <a:r>
              <a:rPr lang="en-US" altLang="zh-CN" sz="2400" b="1" dirty="0">
                <a:solidFill>
                  <a:schemeClr val="bg1"/>
                </a:solidFill>
                <a:latin typeface="+mn-ea"/>
              </a:rPr>
              <a:t>5</a:t>
            </a:r>
            <a:r>
              <a:rPr lang="zh-CN" altLang="en-US" sz="2400" b="1" dirty="0">
                <a:solidFill>
                  <a:schemeClr val="bg1"/>
                </a:solidFill>
                <a:latin typeface="+mn-ea"/>
              </a:rPr>
              <a:t>页，访问串为</a:t>
            </a:r>
            <a:r>
              <a:rPr lang="en-US" altLang="zh-CN" sz="2400" b="1"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3</a:t>
            </a:r>
            <a:r>
              <a:rPr lang="zh-CN" altLang="en-US" sz="2400" b="1" dirty="0">
                <a:solidFill>
                  <a:schemeClr val="bg1"/>
                </a:solidFill>
                <a:latin typeface="+mn-ea"/>
              </a:rPr>
              <a:t>，</a:t>
            </a:r>
            <a:r>
              <a:rPr lang="en-US" altLang="zh-CN" sz="2400" b="1" dirty="0">
                <a:solidFill>
                  <a:schemeClr val="bg1"/>
                </a:solidFill>
                <a:latin typeface="+mn-ea"/>
              </a:rPr>
              <a:t>4</a:t>
            </a:r>
            <a:r>
              <a:rPr lang="zh-CN" altLang="en-US" sz="2400" b="1" dirty="0">
                <a:solidFill>
                  <a:schemeClr val="bg1"/>
                </a:solidFill>
                <a:latin typeface="+mn-ea"/>
              </a:rPr>
              <a:t>，</a:t>
            </a:r>
            <a:r>
              <a:rPr lang="en-US" altLang="zh-CN" sz="2400" b="1"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5</a:t>
            </a:r>
            <a:r>
              <a:rPr lang="zh-CN" altLang="en-US" sz="2400" b="1" dirty="0">
                <a:solidFill>
                  <a:schemeClr val="bg1"/>
                </a:solidFill>
                <a:latin typeface="+mn-ea"/>
              </a:rPr>
              <a:t>，</a:t>
            </a:r>
            <a:r>
              <a:rPr lang="en-US" altLang="zh-CN" sz="2400" b="1" dirty="0">
                <a:solidFill>
                  <a:schemeClr val="bg1"/>
                </a:solidFill>
                <a:latin typeface="+mn-ea"/>
              </a:rPr>
              <a:t>1</a:t>
            </a: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en-US" altLang="zh-CN" sz="2400" b="1" dirty="0">
                <a:solidFill>
                  <a:schemeClr val="bg1"/>
                </a:solidFill>
                <a:latin typeface="+mn-ea"/>
              </a:rPr>
              <a:t>3</a:t>
            </a:r>
            <a:r>
              <a:rPr lang="zh-CN" altLang="en-US" sz="2400" b="1" dirty="0">
                <a:solidFill>
                  <a:schemeClr val="bg1"/>
                </a:solidFill>
                <a:latin typeface="+mn-ea"/>
              </a:rPr>
              <a:t>，</a:t>
            </a:r>
            <a:r>
              <a:rPr lang="en-US" altLang="zh-CN" sz="2400" b="1" dirty="0">
                <a:solidFill>
                  <a:schemeClr val="bg1"/>
                </a:solidFill>
                <a:latin typeface="+mn-ea"/>
              </a:rPr>
              <a:t>4</a:t>
            </a:r>
            <a:r>
              <a:rPr lang="zh-CN" altLang="en-US" sz="2400" b="1" dirty="0">
                <a:solidFill>
                  <a:schemeClr val="bg1"/>
                </a:solidFill>
                <a:latin typeface="+mn-ea"/>
              </a:rPr>
              <a:t>，</a:t>
            </a:r>
            <a:r>
              <a:rPr lang="en-US" altLang="zh-CN" sz="2400" b="1" dirty="0">
                <a:solidFill>
                  <a:schemeClr val="bg1"/>
                </a:solidFill>
                <a:latin typeface="+mn-ea"/>
              </a:rPr>
              <a:t>5</a:t>
            </a:r>
            <a:r>
              <a:rPr lang="zh-CN" altLang="en-US" sz="2400" b="1" dirty="0">
                <a:solidFill>
                  <a:schemeClr val="bg1"/>
                </a:solidFill>
                <a:latin typeface="+mn-ea"/>
              </a:rPr>
              <a:t>。当进程</a:t>
            </a:r>
            <a:r>
              <a:rPr lang="en-US" altLang="zh-CN" sz="2400" b="1" dirty="0">
                <a:solidFill>
                  <a:schemeClr val="bg1"/>
                </a:solidFill>
                <a:latin typeface="+mn-ea"/>
              </a:rPr>
              <a:t>P</a:t>
            </a:r>
            <a:r>
              <a:rPr lang="zh-CN" altLang="en-US" sz="2400" b="1" dirty="0">
                <a:solidFill>
                  <a:schemeClr val="bg1"/>
                </a:solidFill>
                <a:latin typeface="+mn-ea"/>
              </a:rPr>
              <a:t>分得</a:t>
            </a:r>
            <a:r>
              <a:rPr lang="en-US" altLang="zh-CN" sz="2400" b="1" dirty="0">
                <a:solidFill>
                  <a:schemeClr val="bg1"/>
                </a:solidFill>
                <a:latin typeface="+mn-ea"/>
              </a:rPr>
              <a:t>3</a:t>
            </a:r>
            <a:r>
              <a:rPr lang="zh-CN" altLang="en-US" sz="2400" b="1" dirty="0">
                <a:solidFill>
                  <a:schemeClr val="bg1"/>
                </a:solidFill>
                <a:latin typeface="+mn-ea"/>
              </a:rPr>
              <a:t>个页面时，执行过程中内存页面变化</a:t>
            </a:r>
            <a:r>
              <a:rPr lang="zh-CN" altLang="en-US" sz="2400" b="1" dirty="0" smtClean="0">
                <a:solidFill>
                  <a:schemeClr val="bg1"/>
                </a:solidFill>
                <a:latin typeface="+mn-ea"/>
              </a:rPr>
              <a:t>如下图所</a:t>
            </a:r>
            <a:r>
              <a:rPr lang="zh-CN" altLang="en-US" sz="2400" b="1" dirty="0">
                <a:solidFill>
                  <a:schemeClr val="bg1"/>
                </a:solidFill>
                <a:latin typeface="+mn-ea"/>
              </a:rPr>
              <a:t>示。</a:t>
            </a:r>
            <a:endParaRPr lang="en-US" altLang="zh-CN" sz="2400" b="1" dirty="0">
              <a:solidFill>
                <a:schemeClr val="bg1"/>
              </a:solidFill>
              <a:latin typeface="+mn-ea"/>
            </a:endParaRPr>
          </a:p>
        </p:txBody>
      </p:sp>
      <p:pic>
        <p:nvPicPr>
          <p:cNvPr id="3" name="图片 2"/>
          <p:cNvPicPr>
            <a:picLocks noChangeAspect="1"/>
          </p:cNvPicPr>
          <p:nvPr/>
        </p:nvPicPr>
        <p:blipFill rotWithShape="1">
          <a:blip r:embed="rId3"/>
          <a:srcRect l="41698" t="46919" r="29523" b="37674"/>
          <a:stretch>
            <a:fillRect/>
          </a:stretch>
        </p:blipFill>
        <p:spPr>
          <a:xfrm>
            <a:off x="1331640" y="3087692"/>
            <a:ext cx="5832648" cy="1682494"/>
          </a:xfrm>
          <a:prstGeom prst="rect">
            <a:avLst/>
          </a:prstGeom>
        </p:spPr>
      </p:pic>
      <p:sp>
        <p:nvSpPr>
          <p:cNvPr id="4" name="圆角矩形标注 3"/>
          <p:cNvSpPr/>
          <p:nvPr/>
        </p:nvSpPr>
        <p:spPr>
          <a:xfrm>
            <a:off x="3775844" y="1809615"/>
            <a:ext cx="3384376" cy="1278077"/>
          </a:xfrm>
          <a:prstGeom prst="wedgeRoundRectCallout">
            <a:avLst>
              <a:gd name="adj1" fmla="val -67538"/>
              <a:gd name="adj2" fmla="val 5862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10000"/>
              </a:lnSpc>
            </a:pPr>
            <a:r>
              <a:rPr lang="zh-CN" altLang="en-US" sz="2000" b="1" dirty="0"/>
              <a:t>进程在一个执行过程中，实际上发生了</a:t>
            </a:r>
            <a:r>
              <a:rPr lang="en-US" altLang="zh-CN" sz="2000" b="1" dirty="0"/>
              <a:t>9</a:t>
            </a:r>
            <a:r>
              <a:rPr lang="zh-CN" altLang="en-US" sz="2000" b="1" dirty="0"/>
              <a:t>次缺页，其缺页率</a:t>
            </a:r>
            <a:r>
              <a:rPr lang="zh-CN" altLang="en-US" sz="2000" b="1" dirty="0" smtClean="0"/>
              <a:t>为</a:t>
            </a:r>
            <a:r>
              <a:rPr lang="en-US" altLang="zh-CN" sz="2000" b="1" dirty="0"/>
              <a:t>9/12=75%</a:t>
            </a:r>
            <a:endParaRPr lang="zh-CN" altLang="en-US" sz="2000" b="1" dirty="0"/>
          </a:p>
        </p:txBody>
      </p:sp>
    </p:spTree>
    <p:extLst>
      <p:ext uri="{BB962C8B-B14F-4D97-AF65-F5344CB8AC3E}">
        <p14:creationId xmlns:p14="http://schemas.microsoft.com/office/powerpoint/2010/main" val="278793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--FIFO</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21014"/>
            <a:ext cx="6984776" cy="1691104"/>
          </a:xfrm>
          <a:prstGeom prst="rect">
            <a:avLst/>
          </a:prstGeom>
        </p:spPr>
        <p:txBody>
          <a:bodyPr wrap="square">
            <a:spAutoFit/>
          </a:bodyPr>
          <a:lstStyle/>
          <a:p>
            <a:pPr marL="0" lvl="1" indent="-34290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如果为进程</a:t>
            </a:r>
            <a:r>
              <a:rPr lang="en-US" altLang="zh-CN" sz="2400" b="1" dirty="0">
                <a:solidFill>
                  <a:schemeClr val="bg1"/>
                </a:solidFill>
                <a:latin typeface="+mn-ea"/>
              </a:rPr>
              <a:t>P</a:t>
            </a:r>
            <a:r>
              <a:rPr lang="zh-CN" altLang="en-US" sz="2400" b="1" dirty="0">
                <a:solidFill>
                  <a:schemeClr val="bg1"/>
                </a:solidFill>
                <a:latin typeface="+mn-ea"/>
              </a:rPr>
              <a:t>分配</a:t>
            </a:r>
            <a:r>
              <a:rPr lang="en-US" altLang="zh-CN" sz="2400" b="1" dirty="0">
                <a:solidFill>
                  <a:schemeClr val="bg1"/>
                </a:solidFill>
                <a:latin typeface="+mn-ea"/>
              </a:rPr>
              <a:t>4</a:t>
            </a:r>
            <a:r>
              <a:rPr lang="zh-CN" altLang="en-US" sz="2400" b="1" dirty="0">
                <a:solidFill>
                  <a:schemeClr val="bg1"/>
                </a:solidFill>
                <a:latin typeface="+mn-ea"/>
              </a:rPr>
              <a:t>个内存页面，是否缺页率会变小呢</a:t>
            </a:r>
            <a:r>
              <a:rPr lang="en-US" altLang="zh-CN" sz="2400" b="1" dirty="0">
                <a:solidFill>
                  <a:schemeClr val="bg1"/>
                </a:solidFill>
                <a:latin typeface="+mn-ea"/>
              </a:rPr>
              <a:t>?</a:t>
            </a:r>
            <a:r>
              <a:rPr lang="zh-CN" altLang="en-US" sz="2400" b="1" dirty="0">
                <a:solidFill>
                  <a:schemeClr val="bg1"/>
                </a:solidFill>
                <a:latin typeface="+mn-ea"/>
              </a:rPr>
              <a:t>进程</a:t>
            </a:r>
            <a:r>
              <a:rPr lang="en-US" altLang="zh-CN" sz="2400" b="1" dirty="0">
                <a:solidFill>
                  <a:schemeClr val="bg1"/>
                </a:solidFill>
                <a:latin typeface="+mn-ea"/>
              </a:rPr>
              <a:t>P</a:t>
            </a:r>
            <a:r>
              <a:rPr lang="zh-CN" altLang="en-US" sz="2400" b="1" dirty="0">
                <a:solidFill>
                  <a:schemeClr val="bg1"/>
                </a:solidFill>
                <a:latin typeface="+mn-ea"/>
              </a:rPr>
              <a:t>分得</a:t>
            </a:r>
            <a:r>
              <a:rPr lang="en-US" altLang="zh-CN" sz="2400" b="1" dirty="0">
                <a:solidFill>
                  <a:schemeClr val="bg1"/>
                </a:solidFill>
                <a:latin typeface="+mn-ea"/>
              </a:rPr>
              <a:t>4</a:t>
            </a:r>
            <a:r>
              <a:rPr lang="zh-CN" altLang="en-US" sz="2400" b="1" dirty="0">
                <a:solidFill>
                  <a:schemeClr val="bg1"/>
                </a:solidFill>
                <a:latin typeface="+mn-ea"/>
              </a:rPr>
              <a:t>个页面时，执行过程中内存页面的变化情况</a:t>
            </a:r>
            <a:r>
              <a:rPr lang="zh-CN" altLang="en-US" sz="2400" b="1" dirty="0" smtClean="0">
                <a:solidFill>
                  <a:schemeClr val="bg1"/>
                </a:solidFill>
                <a:latin typeface="+mn-ea"/>
              </a:rPr>
              <a:t>如下图所示：</a:t>
            </a:r>
            <a:endParaRPr lang="en-US" altLang="zh-CN" sz="2400" b="1" dirty="0">
              <a:solidFill>
                <a:schemeClr val="bg1"/>
              </a:solidFill>
              <a:latin typeface="+mn-ea"/>
            </a:endParaRPr>
          </a:p>
        </p:txBody>
      </p:sp>
      <p:pic>
        <p:nvPicPr>
          <p:cNvPr id="6" name="图片 5"/>
          <p:cNvPicPr>
            <a:picLocks noChangeAspect="1"/>
          </p:cNvPicPr>
          <p:nvPr/>
        </p:nvPicPr>
        <p:blipFill rotWithShape="1">
          <a:blip r:embed="rId3"/>
          <a:srcRect l="41698" t="47946" r="29523" b="33565"/>
          <a:stretch>
            <a:fillRect/>
          </a:stretch>
        </p:blipFill>
        <p:spPr>
          <a:xfrm>
            <a:off x="1331640" y="3004173"/>
            <a:ext cx="5976664" cy="2068845"/>
          </a:xfrm>
          <a:prstGeom prst="rect">
            <a:avLst/>
          </a:prstGeom>
        </p:spPr>
      </p:pic>
      <p:sp>
        <p:nvSpPr>
          <p:cNvPr id="4" name="圆角矩形标注 3"/>
          <p:cNvSpPr/>
          <p:nvPr/>
        </p:nvSpPr>
        <p:spPr>
          <a:xfrm>
            <a:off x="3923928" y="1733409"/>
            <a:ext cx="3024336" cy="1241966"/>
          </a:xfrm>
          <a:prstGeom prst="wedgeRoundRectCallout">
            <a:avLst>
              <a:gd name="adj1" fmla="val -67538"/>
              <a:gd name="adj2" fmla="val 5862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marL="0" lvl="1"/>
            <a:r>
              <a:rPr lang="zh-CN" altLang="en-US" sz="2000" b="1" dirty="0"/>
              <a:t>进程在一个执行过程中，实际上发生了</a:t>
            </a:r>
            <a:r>
              <a:rPr lang="en-US" altLang="zh-CN" sz="2000" b="1" dirty="0"/>
              <a:t>10</a:t>
            </a:r>
            <a:r>
              <a:rPr lang="zh-CN" altLang="en-US" sz="2000" b="1" dirty="0"/>
              <a:t>次缺页。即缺页率</a:t>
            </a:r>
            <a:r>
              <a:rPr lang="en-US" altLang="zh-CN" sz="2000" b="1" dirty="0"/>
              <a:t>=10/12=83.3%</a:t>
            </a:r>
            <a:r>
              <a:rPr lang="zh-CN" altLang="en-US" sz="2000" b="1" dirty="0"/>
              <a:t>。</a:t>
            </a:r>
            <a:endParaRPr lang="en-US" altLang="zh-CN" sz="2000" b="1" dirty="0"/>
          </a:p>
        </p:txBody>
      </p:sp>
    </p:spTree>
    <p:extLst>
      <p:ext uri="{BB962C8B-B14F-4D97-AF65-F5344CB8AC3E}">
        <p14:creationId xmlns:p14="http://schemas.microsoft.com/office/powerpoint/2010/main" val="27117717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799288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--FIFO</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15616" y="1995686"/>
            <a:ext cx="6408712"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先进先出算法产生</a:t>
            </a:r>
            <a:r>
              <a:rPr lang="en-US" altLang="zh-CN" sz="2400" b="1" dirty="0" err="1">
                <a:solidFill>
                  <a:schemeClr val="bg1"/>
                </a:solidFill>
                <a:latin typeface="+mn-ea"/>
              </a:rPr>
              <a:t>Belady</a:t>
            </a:r>
            <a:r>
              <a:rPr lang="zh-CN" altLang="en-US" sz="2400" b="1" dirty="0">
                <a:solidFill>
                  <a:schemeClr val="bg1"/>
                </a:solidFill>
                <a:latin typeface="+mn-ea"/>
              </a:rPr>
              <a:t>现象的原因在于它根本</a:t>
            </a:r>
            <a:r>
              <a:rPr lang="zh-CN" altLang="en-US" sz="2400" b="1" dirty="0">
                <a:solidFill>
                  <a:srgbClr val="FFFF00"/>
                </a:solidFill>
                <a:latin typeface="+mn-ea"/>
              </a:rPr>
              <a:t>没有考虑程序执行的动态特征</a:t>
            </a:r>
            <a:r>
              <a:rPr lang="zh-CN" altLang="en-US" sz="2400" b="1" dirty="0">
                <a:solidFill>
                  <a:schemeClr val="bg1"/>
                </a:solidFill>
                <a:latin typeface="+mn-ea"/>
              </a:rPr>
              <a:t>。</a:t>
            </a:r>
          </a:p>
        </p:txBody>
      </p:sp>
    </p:spTree>
    <p:extLst>
      <p:ext uri="{BB962C8B-B14F-4D97-AF65-F5344CB8AC3E}">
        <p14:creationId xmlns:p14="http://schemas.microsoft.com/office/powerpoint/2010/main" val="10875208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最久未使用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491630"/>
            <a:ext cx="7128792"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当需要淘汰某一页时，选择离当前时间最近的一段时间内最久没有使用过的页先淘汰。该算法的主要出发点是，如果某页被访问了，则它可能马上还要被访问。或者反过来说，如果某页很长时间未被访问，则它在最近一段时间也不会被访问</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3002341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请求页式管理中的置换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最久未使用</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1419622"/>
            <a:ext cx="7128792"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要</a:t>
            </a:r>
            <a:r>
              <a:rPr lang="zh-CN" altLang="en-US" sz="2400" b="1" dirty="0">
                <a:solidFill>
                  <a:schemeClr val="bg1"/>
                </a:solidFill>
                <a:latin typeface="+mn-ea"/>
              </a:rPr>
              <a:t>完全实现</a:t>
            </a:r>
            <a:r>
              <a:rPr lang="en-US" altLang="zh-CN" sz="2400" b="1" dirty="0">
                <a:solidFill>
                  <a:schemeClr val="bg1"/>
                </a:solidFill>
                <a:latin typeface="+mn-ea"/>
              </a:rPr>
              <a:t>LRU</a:t>
            </a:r>
            <a:r>
              <a:rPr lang="zh-CN" altLang="en-US" sz="2400" b="1" dirty="0">
                <a:solidFill>
                  <a:schemeClr val="bg1"/>
                </a:solidFill>
                <a:latin typeface="+mn-ea"/>
              </a:rPr>
              <a:t>算法是一件十分困难的事情。因为要找出最近最久未被使用的页面的话，就必须对每一个页面都设置有关的</a:t>
            </a:r>
            <a:r>
              <a:rPr lang="zh-CN" altLang="en-US" sz="2400" b="1" dirty="0">
                <a:solidFill>
                  <a:srgbClr val="FFFF00"/>
                </a:solidFill>
                <a:latin typeface="+mn-ea"/>
              </a:rPr>
              <a:t>访问记录项</a:t>
            </a:r>
            <a:r>
              <a:rPr lang="zh-CN" altLang="en-US" sz="2400" b="1" dirty="0">
                <a:solidFill>
                  <a:schemeClr val="bg1"/>
                </a:solidFill>
                <a:latin typeface="+mn-ea"/>
              </a:rPr>
              <a:t>，而且</a:t>
            </a:r>
            <a:r>
              <a:rPr lang="zh-CN" altLang="en-US" sz="2400" b="1" dirty="0">
                <a:solidFill>
                  <a:srgbClr val="FFFF00"/>
                </a:solidFill>
                <a:latin typeface="+mn-ea"/>
              </a:rPr>
              <a:t>每一次访问都必须更新这些记录</a:t>
            </a:r>
            <a:r>
              <a:rPr lang="zh-CN" altLang="en-US" sz="2400" b="1" dirty="0">
                <a:solidFill>
                  <a:schemeClr val="bg1"/>
                </a:solidFill>
                <a:latin typeface="+mn-ea"/>
              </a:rPr>
              <a:t>。这显然要花费</a:t>
            </a:r>
            <a:r>
              <a:rPr lang="zh-CN" altLang="en-US" sz="2400" b="1" dirty="0">
                <a:solidFill>
                  <a:srgbClr val="FFFF00"/>
                </a:solidFill>
                <a:latin typeface="+mn-ea"/>
              </a:rPr>
              <a:t>巨大</a:t>
            </a:r>
            <a:r>
              <a:rPr lang="zh-CN" altLang="en-US" sz="2400" b="1" dirty="0">
                <a:solidFill>
                  <a:schemeClr val="bg1"/>
                </a:solidFill>
                <a:latin typeface="+mn-ea"/>
              </a:rPr>
              <a:t>的系统</a:t>
            </a:r>
            <a:r>
              <a:rPr lang="zh-CN" altLang="en-US" sz="2400" b="1" dirty="0">
                <a:solidFill>
                  <a:srgbClr val="FFFF00"/>
                </a:solidFill>
                <a:latin typeface="+mn-ea"/>
              </a:rPr>
              <a:t>开销</a:t>
            </a:r>
            <a:r>
              <a:rPr lang="zh-CN" altLang="en-US" sz="2400" b="1" dirty="0">
                <a:solidFill>
                  <a:schemeClr val="bg1"/>
                </a:solidFill>
                <a:latin typeface="+mn-ea"/>
              </a:rPr>
              <a:t>。因此，在实际系统中往往使用</a:t>
            </a:r>
            <a:r>
              <a:rPr lang="en-US" altLang="zh-CN" sz="2400" b="1" dirty="0">
                <a:solidFill>
                  <a:schemeClr val="bg1"/>
                </a:solidFill>
                <a:latin typeface="+mn-ea"/>
              </a:rPr>
              <a:t>LRU</a:t>
            </a:r>
            <a:r>
              <a:rPr lang="zh-CN" altLang="en-US" sz="2400" b="1" dirty="0">
                <a:solidFill>
                  <a:schemeClr val="bg1"/>
                </a:solidFill>
                <a:latin typeface="+mn-ea"/>
              </a:rPr>
              <a:t>的近似算法。</a:t>
            </a:r>
            <a:endParaRPr lang="en-US" altLang="zh-CN" sz="2400" b="1" dirty="0">
              <a:solidFill>
                <a:schemeClr val="bg1"/>
              </a:solidFill>
              <a:latin typeface="+mn-ea"/>
            </a:endParaRPr>
          </a:p>
        </p:txBody>
      </p:sp>
    </p:spTree>
    <p:extLst>
      <p:ext uri="{BB962C8B-B14F-4D97-AF65-F5344CB8AC3E}">
        <p14:creationId xmlns:p14="http://schemas.microsoft.com/office/powerpoint/2010/main" val="3116242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72701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最久未使用页面置换算法</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4" name="组合 3"/>
          <p:cNvGrpSpPr/>
          <p:nvPr/>
        </p:nvGrpSpPr>
        <p:grpSpPr>
          <a:xfrm>
            <a:off x="476472" y="709794"/>
            <a:ext cx="3909513" cy="4036055"/>
            <a:chOff x="654684" y="763042"/>
            <a:chExt cx="3909513" cy="4036055"/>
          </a:xfrm>
        </p:grpSpPr>
        <p:grpSp>
          <p:nvGrpSpPr>
            <p:cNvPr id="11" name="组合 10"/>
            <p:cNvGrpSpPr/>
            <p:nvPr/>
          </p:nvGrpSpPr>
          <p:grpSpPr>
            <a:xfrm>
              <a:off x="654684" y="763042"/>
              <a:ext cx="3843936" cy="4036055"/>
              <a:chOff x="186655" y="436962"/>
              <a:chExt cx="3843936" cy="4036055"/>
            </a:xfrm>
          </p:grpSpPr>
          <p:sp>
            <p:nvSpPr>
              <p:cNvPr id="5" name="任意多边形 4"/>
              <p:cNvSpPr/>
              <p:nvPr/>
            </p:nvSpPr>
            <p:spPr>
              <a:xfrm>
                <a:off x="186655" y="436962"/>
                <a:ext cx="3843466" cy="3254058"/>
              </a:xfrm>
              <a:custGeom>
                <a:avLst/>
                <a:gdLst>
                  <a:gd name="connsiteX0" fmla="*/ 161539 w 2705020"/>
                  <a:gd name="connsiteY0" fmla="*/ 0 h 2019240"/>
                  <a:gd name="connsiteX1" fmla="*/ 2543481 w 2705020"/>
                  <a:gd name="connsiteY1" fmla="*/ 0 h 2019240"/>
                  <a:gd name="connsiteX2" fmla="*/ 2705020 w 2705020"/>
                  <a:gd name="connsiteY2" fmla="*/ 161539 h 2019240"/>
                  <a:gd name="connsiteX3" fmla="*/ 2705020 w 2705020"/>
                  <a:gd name="connsiteY3" fmla="*/ 2019240 h 2019240"/>
                  <a:gd name="connsiteX4" fmla="*/ 2705020 w 2705020"/>
                  <a:gd name="connsiteY4" fmla="*/ 2019240 h 2019240"/>
                  <a:gd name="connsiteX5" fmla="*/ 0 w 2705020"/>
                  <a:gd name="connsiteY5" fmla="*/ 2019240 h 2019240"/>
                  <a:gd name="connsiteX6" fmla="*/ 0 w 2705020"/>
                  <a:gd name="connsiteY6" fmla="*/ 2019240 h 2019240"/>
                  <a:gd name="connsiteX7" fmla="*/ 0 w 2705020"/>
                  <a:gd name="connsiteY7" fmla="*/ 161539 h 2019240"/>
                  <a:gd name="connsiteX8" fmla="*/ 161539 w 2705020"/>
                  <a:gd name="connsiteY8" fmla="*/ 0 h 201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5020" h="2019240">
                    <a:moveTo>
                      <a:pt x="161539" y="0"/>
                    </a:moveTo>
                    <a:lnTo>
                      <a:pt x="2543481" y="0"/>
                    </a:lnTo>
                    <a:cubicBezTo>
                      <a:pt x="2632697" y="0"/>
                      <a:pt x="2705020" y="72323"/>
                      <a:pt x="2705020" y="161539"/>
                    </a:cubicBezTo>
                    <a:lnTo>
                      <a:pt x="2705020" y="2019240"/>
                    </a:lnTo>
                    <a:lnTo>
                      <a:pt x="2705020" y="2019240"/>
                    </a:lnTo>
                    <a:lnTo>
                      <a:pt x="0" y="2019240"/>
                    </a:lnTo>
                    <a:lnTo>
                      <a:pt x="0" y="2019240"/>
                    </a:lnTo>
                    <a:lnTo>
                      <a:pt x="0" y="161539"/>
                    </a:lnTo>
                    <a:cubicBezTo>
                      <a:pt x="0" y="72323"/>
                      <a:pt x="72323" y="0"/>
                      <a:pt x="161539" y="0"/>
                    </a:cubicBez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7793" tIns="138753" rIns="77793" bIns="30480" numCol="1" spcCol="1270" anchor="t" anchorCtr="0">
                <a:noAutofit/>
              </a:bodyPr>
              <a:lstStyle/>
              <a:p>
                <a:pPr marL="0" lvl="1" defTabSz="622300">
                  <a:lnSpc>
                    <a:spcPct val="120000"/>
                  </a:lnSpc>
                  <a:spcBef>
                    <a:spcPct val="0"/>
                  </a:spcBef>
                  <a:spcAft>
                    <a:spcPct val="15000"/>
                  </a:spcAft>
                  <a:buClr>
                    <a:srgbClr val="002060"/>
                  </a:buClr>
                  <a:buFont typeface="Wingdings" panose="05000000000000000000" pitchFamily="2" charset="2"/>
                  <a:buChar char="Ø"/>
                </a:pPr>
                <a:r>
                  <a:rPr lang="zh-CN" altLang="en-US" sz="2000" b="1" dirty="0"/>
                  <a:t>在需要淘汰某一页时，首先淘汰到当前时间为止，被访问次数最少的那一页。这只要在页表中给每一页增设一个访问计数器即可实现。每当该页被访问时，访问计数器加</a:t>
                </a:r>
                <a:r>
                  <a:rPr lang="en-US" altLang="zh-CN" sz="2000" b="1" dirty="0"/>
                  <a:t>1</a:t>
                </a:r>
                <a:r>
                  <a:rPr lang="zh-CN" altLang="en-US" sz="2000" b="1" dirty="0"/>
                  <a:t>，而发生一次缺页中断时，则淘汰计数值最小的那一页，并将所有的计数器清零。</a:t>
                </a:r>
              </a:p>
            </p:txBody>
          </p:sp>
          <p:sp>
            <p:nvSpPr>
              <p:cNvPr id="6" name="任意多边形 5"/>
              <p:cNvSpPr/>
              <p:nvPr/>
            </p:nvSpPr>
            <p:spPr>
              <a:xfrm>
                <a:off x="187125" y="3698786"/>
                <a:ext cx="3843466" cy="695747"/>
              </a:xfrm>
              <a:custGeom>
                <a:avLst/>
                <a:gdLst>
                  <a:gd name="connsiteX0" fmla="*/ 0 w 2705020"/>
                  <a:gd name="connsiteY0" fmla="*/ 0 h 868273"/>
                  <a:gd name="connsiteX1" fmla="*/ 2705020 w 2705020"/>
                  <a:gd name="connsiteY1" fmla="*/ 0 h 868273"/>
                  <a:gd name="connsiteX2" fmla="*/ 2705020 w 2705020"/>
                  <a:gd name="connsiteY2" fmla="*/ 868273 h 868273"/>
                  <a:gd name="connsiteX3" fmla="*/ 0 w 2705020"/>
                  <a:gd name="connsiteY3" fmla="*/ 868273 h 868273"/>
                  <a:gd name="connsiteX4" fmla="*/ 0 w 2705020"/>
                  <a:gd name="connsiteY4" fmla="*/ 0 h 868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5020" h="868273">
                    <a:moveTo>
                      <a:pt x="0" y="0"/>
                    </a:moveTo>
                    <a:lnTo>
                      <a:pt x="2705020" y="0"/>
                    </a:lnTo>
                    <a:lnTo>
                      <a:pt x="2705020" y="868273"/>
                    </a:lnTo>
                    <a:lnTo>
                      <a:pt x="0" y="868273"/>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25730" tIns="0" rIns="841987" bIns="0" numCol="1" spcCol="1270" anchor="ctr" anchorCtr="0">
                <a:noAutofit/>
              </a:bodyPr>
              <a:lstStyle/>
              <a:p>
                <a:pPr algn="ctr" defTabSz="1466850">
                  <a:spcBef>
                    <a:spcPct val="0"/>
                  </a:spcBef>
                </a:pPr>
                <a:r>
                  <a:rPr lang="zh-CN" altLang="en-US" sz="2400" b="1" dirty="0" smtClean="0">
                    <a:latin typeface="+mn-ea"/>
                  </a:rPr>
                  <a:t>最不经常使用</a:t>
                </a:r>
                <a:endParaRPr lang="en-US" altLang="zh-CN" sz="2400" b="1" dirty="0" smtClean="0">
                  <a:latin typeface="+mn-ea"/>
                </a:endParaRPr>
              </a:p>
              <a:p>
                <a:pPr algn="ctr" defTabSz="1466850">
                  <a:spcBef>
                    <a:spcPct val="0"/>
                  </a:spcBef>
                </a:pPr>
                <a:r>
                  <a:rPr lang="zh-CN" altLang="en-US" sz="2400" b="1" dirty="0" smtClean="0">
                    <a:latin typeface="+mn-ea"/>
                  </a:rPr>
                  <a:t>页面淘汰算法</a:t>
                </a:r>
                <a:endParaRPr lang="zh-CN" altLang="en-US" sz="2400" b="1" dirty="0">
                  <a:latin typeface="+mn-ea"/>
                </a:endParaRPr>
              </a:p>
            </p:txBody>
          </p:sp>
          <p:sp>
            <p:nvSpPr>
              <p:cNvPr id="7" name="椭圆 6"/>
              <p:cNvSpPr/>
              <p:nvPr/>
            </p:nvSpPr>
            <p:spPr>
              <a:xfrm>
                <a:off x="3048201" y="3526260"/>
                <a:ext cx="946757" cy="946757"/>
              </a:xfrm>
              <a:prstGeom prst="ellipse">
                <a:avLst/>
              </a:prstGeom>
              <a:scene3d>
                <a:camera prst="orthographicFront"/>
                <a:lightRig rig="threePt" dir="t">
                  <a:rot lat="0" lon="0" rev="7500000"/>
                </a:lightRig>
              </a:scene3d>
              <a:sp3d z="152400" extrusionH="63500" prstMaterial="dkEdge">
                <a:bevelT w="125400" h="36350" prst="relaxedInset"/>
                <a:contourClr>
                  <a:schemeClr val="bg1"/>
                </a:contourClr>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sp>
        </p:grpSp>
        <p:sp>
          <p:nvSpPr>
            <p:cNvPr id="2" name="文本框 1"/>
            <p:cNvSpPr txBox="1"/>
            <p:nvPr/>
          </p:nvSpPr>
          <p:spPr>
            <a:xfrm>
              <a:off x="3642329" y="4024866"/>
              <a:ext cx="921868" cy="523220"/>
            </a:xfrm>
            <a:prstGeom prst="rect">
              <a:avLst/>
            </a:prstGeom>
            <a:noFill/>
          </p:spPr>
          <p:txBody>
            <a:bodyPr wrap="square" rtlCol="0">
              <a:spAutoFit/>
            </a:bodyPr>
            <a:lstStyle/>
            <a:p>
              <a:r>
                <a:rPr lang="en-US" altLang="zh-CN" sz="2800" b="1" dirty="0" smtClean="0"/>
                <a:t>LFU</a:t>
              </a:r>
              <a:endParaRPr lang="zh-CN" altLang="en-US" sz="2800" b="1" dirty="0"/>
            </a:p>
          </p:txBody>
        </p:sp>
      </p:grpSp>
      <p:grpSp>
        <p:nvGrpSpPr>
          <p:cNvPr id="3" name="组合 2"/>
          <p:cNvGrpSpPr/>
          <p:nvPr/>
        </p:nvGrpSpPr>
        <p:grpSpPr>
          <a:xfrm>
            <a:off x="4644008" y="855401"/>
            <a:ext cx="4409391" cy="3858672"/>
            <a:chOff x="4919421" y="792975"/>
            <a:chExt cx="4409391" cy="3858672"/>
          </a:xfrm>
        </p:grpSpPr>
        <p:grpSp>
          <p:nvGrpSpPr>
            <p:cNvPr id="12" name="组合 11"/>
            <p:cNvGrpSpPr/>
            <p:nvPr/>
          </p:nvGrpSpPr>
          <p:grpSpPr>
            <a:xfrm>
              <a:off x="4919421" y="792975"/>
              <a:ext cx="4314098" cy="3858672"/>
              <a:chOff x="4206381" y="579097"/>
              <a:chExt cx="4314098" cy="3858672"/>
            </a:xfrm>
          </p:grpSpPr>
          <p:sp>
            <p:nvSpPr>
              <p:cNvPr id="8" name="任意多边形 7"/>
              <p:cNvSpPr/>
              <p:nvPr/>
            </p:nvSpPr>
            <p:spPr>
              <a:xfrm>
                <a:off x="4214079" y="579097"/>
                <a:ext cx="4109377" cy="3049746"/>
              </a:xfrm>
              <a:custGeom>
                <a:avLst/>
                <a:gdLst>
                  <a:gd name="connsiteX0" fmla="*/ 161539 w 2705020"/>
                  <a:gd name="connsiteY0" fmla="*/ 0 h 2019240"/>
                  <a:gd name="connsiteX1" fmla="*/ 2543481 w 2705020"/>
                  <a:gd name="connsiteY1" fmla="*/ 0 h 2019240"/>
                  <a:gd name="connsiteX2" fmla="*/ 2705020 w 2705020"/>
                  <a:gd name="connsiteY2" fmla="*/ 161539 h 2019240"/>
                  <a:gd name="connsiteX3" fmla="*/ 2705020 w 2705020"/>
                  <a:gd name="connsiteY3" fmla="*/ 2019240 h 2019240"/>
                  <a:gd name="connsiteX4" fmla="*/ 2705020 w 2705020"/>
                  <a:gd name="connsiteY4" fmla="*/ 2019240 h 2019240"/>
                  <a:gd name="connsiteX5" fmla="*/ 0 w 2705020"/>
                  <a:gd name="connsiteY5" fmla="*/ 2019240 h 2019240"/>
                  <a:gd name="connsiteX6" fmla="*/ 0 w 2705020"/>
                  <a:gd name="connsiteY6" fmla="*/ 2019240 h 2019240"/>
                  <a:gd name="connsiteX7" fmla="*/ 0 w 2705020"/>
                  <a:gd name="connsiteY7" fmla="*/ 161539 h 2019240"/>
                  <a:gd name="connsiteX8" fmla="*/ 161539 w 2705020"/>
                  <a:gd name="connsiteY8" fmla="*/ 0 h 201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5020" h="2019240">
                    <a:moveTo>
                      <a:pt x="161539" y="0"/>
                    </a:moveTo>
                    <a:lnTo>
                      <a:pt x="2543481" y="0"/>
                    </a:lnTo>
                    <a:cubicBezTo>
                      <a:pt x="2632697" y="0"/>
                      <a:pt x="2705020" y="72323"/>
                      <a:pt x="2705020" y="161539"/>
                    </a:cubicBezTo>
                    <a:lnTo>
                      <a:pt x="2705020" y="2019240"/>
                    </a:lnTo>
                    <a:lnTo>
                      <a:pt x="2705020" y="2019240"/>
                    </a:lnTo>
                    <a:lnTo>
                      <a:pt x="0" y="2019240"/>
                    </a:lnTo>
                    <a:lnTo>
                      <a:pt x="0" y="2019240"/>
                    </a:lnTo>
                    <a:lnTo>
                      <a:pt x="0" y="161539"/>
                    </a:lnTo>
                    <a:cubicBezTo>
                      <a:pt x="0" y="72323"/>
                      <a:pt x="72323" y="0"/>
                      <a:pt x="161539" y="0"/>
                    </a:cubicBez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713" tIns="123513" rIns="72713" bIns="25400" numCol="1" spcCol="1270" anchor="t" anchorCtr="0">
                <a:noAutofit/>
              </a:bodyPr>
              <a:lstStyle/>
              <a:p>
                <a:pPr marL="0" lvl="1" defTabSz="622300">
                  <a:lnSpc>
                    <a:spcPct val="120000"/>
                  </a:lnSpc>
                  <a:spcBef>
                    <a:spcPct val="0"/>
                  </a:spcBef>
                  <a:spcAft>
                    <a:spcPct val="15000"/>
                  </a:spcAft>
                  <a:buClr>
                    <a:srgbClr val="002060"/>
                  </a:buClr>
                  <a:buFont typeface="Wingdings" panose="05000000000000000000" pitchFamily="2" charset="2"/>
                  <a:buChar char="Ø"/>
                </a:pPr>
                <a:r>
                  <a:rPr lang="zh-CN" altLang="en-US" sz="2000" b="1" dirty="0"/>
                  <a:t>需要淘汰某一页时，从那些最近一个时期内未被访问的页中任选一页淘汰。只要在页表中增设一个访问位即可实现。当某页被访问时，访问位置</a:t>
                </a:r>
                <a:r>
                  <a:rPr lang="en-US" altLang="zh-CN" sz="2000" b="1" dirty="0"/>
                  <a:t>1</a:t>
                </a:r>
                <a:r>
                  <a:rPr lang="zh-CN" altLang="en-US" sz="2000" b="1" dirty="0"/>
                  <a:t>。否则，访问位置</a:t>
                </a:r>
                <a:r>
                  <a:rPr lang="en-US" altLang="zh-CN" sz="2000" b="1" dirty="0"/>
                  <a:t>0</a:t>
                </a:r>
                <a:r>
                  <a:rPr lang="zh-CN" altLang="en-US" sz="2000" b="1" dirty="0"/>
                  <a:t>。系统周期性地对所有引用位清零。当需淘汰一页时，从那些访问位为零的页中选一页进行淘汰。</a:t>
                </a:r>
              </a:p>
            </p:txBody>
          </p:sp>
          <p:sp>
            <p:nvSpPr>
              <p:cNvPr id="9" name="任意多边形 8"/>
              <p:cNvSpPr/>
              <p:nvPr/>
            </p:nvSpPr>
            <p:spPr>
              <a:xfrm>
                <a:off x="4206381" y="3638462"/>
                <a:ext cx="4117075" cy="773691"/>
              </a:xfrm>
              <a:custGeom>
                <a:avLst/>
                <a:gdLst>
                  <a:gd name="connsiteX0" fmla="*/ 0 w 2705020"/>
                  <a:gd name="connsiteY0" fmla="*/ 0 h 868273"/>
                  <a:gd name="connsiteX1" fmla="*/ 2705020 w 2705020"/>
                  <a:gd name="connsiteY1" fmla="*/ 0 h 868273"/>
                  <a:gd name="connsiteX2" fmla="*/ 2705020 w 2705020"/>
                  <a:gd name="connsiteY2" fmla="*/ 868273 h 868273"/>
                  <a:gd name="connsiteX3" fmla="*/ 0 w 2705020"/>
                  <a:gd name="connsiteY3" fmla="*/ 868273 h 868273"/>
                  <a:gd name="connsiteX4" fmla="*/ 0 w 2705020"/>
                  <a:gd name="connsiteY4" fmla="*/ 0 h 868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5020" h="868273">
                    <a:moveTo>
                      <a:pt x="0" y="0"/>
                    </a:moveTo>
                    <a:lnTo>
                      <a:pt x="2705020" y="0"/>
                    </a:lnTo>
                    <a:lnTo>
                      <a:pt x="2705020" y="868273"/>
                    </a:lnTo>
                    <a:lnTo>
                      <a:pt x="0" y="868273"/>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25730" tIns="0" rIns="841987" bIns="0" numCol="1" spcCol="1270" anchor="ctr" anchorCtr="0">
                <a:noAutofit/>
              </a:bodyPr>
              <a:lstStyle/>
              <a:p>
                <a:pPr algn="ctr" defTabSz="1466850">
                  <a:spcBef>
                    <a:spcPct val="0"/>
                  </a:spcBef>
                  <a:spcAft>
                    <a:spcPct val="35000"/>
                  </a:spcAft>
                </a:pPr>
                <a:r>
                  <a:rPr lang="zh-CN" altLang="en-US" sz="2400" b="1" dirty="0" smtClean="0">
                    <a:latin typeface="+mn-ea"/>
                  </a:rPr>
                  <a:t>最近没有使用页面淘汰算法</a:t>
                </a:r>
                <a:endParaRPr lang="zh-CN" altLang="en-US" sz="2400" b="1" dirty="0">
                  <a:latin typeface="+mn-ea"/>
                </a:endParaRPr>
              </a:p>
            </p:txBody>
          </p:sp>
          <p:sp>
            <p:nvSpPr>
              <p:cNvPr id="10" name="椭圆 9"/>
              <p:cNvSpPr/>
              <p:nvPr/>
            </p:nvSpPr>
            <p:spPr>
              <a:xfrm>
                <a:off x="7573722" y="3491012"/>
                <a:ext cx="946757" cy="946757"/>
              </a:xfrm>
              <a:prstGeom prst="ellipse">
                <a:avLst/>
              </a:prstGeom>
              <a:scene3d>
                <a:camera prst="orthographicFront"/>
                <a:lightRig rig="threePt" dir="t">
                  <a:rot lat="0" lon="0" rev="7500000"/>
                </a:lightRig>
              </a:scene3d>
              <a:sp3d z="152400" extrusionH="63500" prstMaterial="dkEdge">
                <a:bevelT w="125400" h="36350" prst="relaxedInset"/>
                <a:contourClr>
                  <a:schemeClr val="bg1"/>
                </a:contourClr>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sp>
        </p:grpSp>
        <p:sp>
          <p:nvSpPr>
            <p:cNvPr id="29" name="文本框 28"/>
            <p:cNvSpPr txBox="1"/>
            <p:nvPr/>
          </p:nvSpPr>
          <p:spPr>
            <a:xfrm>
              <a:off x="8406944" y="3935520"/>
              <a:ext cx="921868" cy="523220"/>
            </a:xfrm>
            <a:prstGeom prst="rect">
              <a:avLst/>
            </a:prstGeom>
            <a:noFill/>
          </p:spPr>
          <p:txBody>
            <a:bodyPr wrap="square" rtlCol="0">
              <a:spAutoFit/>
            </a:bodyPr>
            <a:lstStyle/>
            <a:p>
              <a:r>
                <a:rPr lang="en-US" altLang="zh-CN" sz="2800" b="1" dirty="0" smtClean="0"/>
                <a:t>NUR</a:t>
              </a:r>
              <a:endParaRPr lang="zh-CN" altLang="en-US" sz="2800" b="1" dirty="0"/>
            </a:p>
          </p:txBody>
        </p:sp>
      </p:grpSp>
    </p:spTree>
    <p:extLst>
      <p:ext uri="{BB962C8B-B14F-4D97-AF65-F5344CB8AC3E}">
        <p14:creationId xmlns:p14="http://schemas.microsoft.com/office/powerpoint/2010/main" val="40884971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理想型淘汰算法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698322"/>
            <a:ext cx="6408712" cy="2363724"/>
          </a:xfrm>
          <a:prstGeom prst="rect">
            <a:avLst/>
          </a:prstGeom>
        </p:spPr>
        <p:txBody>
          <a:bodyPr wrap="square">
            <a:spAutoFit/>
          </a:bodyPr>
          <a:lstStyle/>
          <a:p>
            <a:pPr marL="0" lvl="1" algn="just">
              <a:lnSpc>
                <a:spcPct val="150000"/>
              </a:lnSpc>
              <a:spcBef>
                <a:spcPct val="0"/>
              </a:spcBef>
              <a:spcAft>
                <a:spcPct val="15000"/>
              </a:spcAft>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淘汰在访问串中将来再也不出现的</a:t>
            </a:r>
            <a:r>
              <a:rPr lang="zh-CN" altLang="en-US" sz="2400" b="1" dirty="0" smtClean="0">
                <a:solidFill>
                  <a:schemeClr val="bg1"/>
                </a:solidFill>
                <a:latin typeface="+mn-ea"/>
              </a:rPr>
              <a:t>或是在离</a:t>
            </a:r>
            <a:r>
              <a:rPr lang="zh-CN" altLang="en-US" sz="2400" b="1" dirty="0">
                <a:solidFill>
                  <a:schemeClr val="bg1"/>
                </a:solidFill>
                <a:latin typeface="+mn-ea"/>
              </a:rPr>
              <a:t>当前页最远的位置上出现的</a:t>
            </a:r>
            <a:r>
              <a:rPr lang="zh-CN" altLang="en-US" sz="2400" b="1" dirty="0" smtClean="0">
                <a:solidFill>
                  <a:schemeClr val="bg1"/>
                </a:solidFill>
                <a:latin typeface="+mn-ea"/>
              </a:rPr>
              <a:t>页。</a:t>
            </a:r>
            <a:endParaRPr lang="en-US" altLang="zh-CN" sz="2400" b="1" dirty="0" smtClean="0">
              <a:solidFill>
                <a:schemeClr val="bg1"/>
              </a:solidFill>
              <a:latin typeface="+mn-ea"/>
            </a:endParaRPr>
          </a:p>
          <a:p>
            <a:pPr marL="0" lvl="1" algn="just">
              <a:lnSpc>
                <a:spcPct val="150000"/>
              </a:lnSpc>
              <a:spcBef>
                <a:spcPct val="0"/>
              </a:spcBef>
              <a:spcAft>
                <a:spcPct val="15000"/>
              </a:spcAft>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遗憾的是这种算法无法实现，因为它要求</a:t>
            </a:r>
            <a:r>
              <a:rPr lang="zh-CN" altLang="en-US" sz="2400" b="1" smtClean="0">
                <a:solidFill>
                  <a:schemeClr val="bg1"/>
                </a:solidFill>
                <a:latin typeface="+mn-ea"/>
              </a:rPr>
              <a:t>必须预先知道每</a:t>
            </a:r>
            <a:r>
              <a:rPr lang="zh-CN" altLang="en-US" sz="2400" b="1" dirty="0" smtClean="0">
                <a:solidFill>
                  <a:schemeClr val="bg1"/>
                </a:solidFill>
                <a:latin typeface="+mn-ea"/>
              </a:rPr>
              <a:t>一个进程的访问串。</a:t>
            </a:r>
            <a:endParaRPr lang="zh-CN" altLang="en-US" sz="2400" b="1" dirty="0">
              <a:solidFill>
                <a:schemeClr val="bg1"/>
              </a:solidFill>
              <a:latin typeface="+mn-ea"/>
            </a:endParaRPr>
          </a:p>
        </p:txBody>
      </p:sp>
    </p:spTree>
    <p:extLst>
      <p:ext uri="{BB962C8B-B14F-4D97-AF65-F5344CB8AC3E}">
        <p14:creationId xmlns:p14="http://schemas.microsoft.com/office/powerpoint/2010/main" val="190921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存储保护</a:t>
            </a:r>
          </a:p>
        </p:txBody>
      </p:sp>
      <p:sp>
        <p:nvSpPr>
          <p:cNvPr id="2" name="矩形 1"/>
          <p:cNvSpPr/>
          <p:nvPr/>
        </p:nvSpPr>
        <p:spPr>
          <a:xfrm>
            <a:off x="971600" y="1698322"/>
            <a:ext cx="6408712"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页式管理可以为内存提供两种方式的保护。一种是</a:t>
            </a:r>
            <a:r>
              <a:rPr lang="zh-CN" altLang="en-US" sz="2400" b="1" dirty="0">
                <a:solidFill>
                  <a:srgbClr val="FFFF00"/>
                </a:solidFill>
                <a:latin typeface="+mn-ea"/>
              </a:rPr>
              <a:t>地址越界保护</a:t>
            </a:r>
            <a:r>
              <a:rPr lang="zh-CN" altLang="en-US" sz="2400" b="1" dirty="0">
                <a:solidFill>
                  <a:schemeClr val="bg1"/>
                </a:solidFill>
                <a:latin typeface="+mn-ea"/>
              </a:rPr>
              <a:t>，另一种是通过</a:t>
            </a:r>
            <a:r>
              <a:rPr lang="zh-CN" altLang="en-US" sz="2400" b="1" dirty="0">
                <a:solidFill>
                  <a:srgbClr val="FFFF00"/>
                </a:solidFill>
                <a:latin typeface="+mn-ea"/>
              </a:rPr>
              <a:t>页表控制</a:t>
            </a:r>
            <a:r>
              <a:rPr lang="zh-CN" altLang="en-US" sz="2400" b="1" dirty="0">
                <a:solidFill>
                  <a:schemeClr val="bg1"/>
                </a:solidFill>
                <a:latin typeface="+mn-ea"/>
              </a:rPr>
              <a:t>对内存信息的存取操作方式以提供保护</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114885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存储保护</a:t>
            </a:r>
          </a:p>
        </p:txBody>
      </p:sp>
      <p:sp>
        <p:nvSpPr>
          <p:cNvPr id="2" name="矩形 1"/>
          <p:cNvSpPr/>
          <p:nvPr/>
        </p:nvSpPr>
        <p:spPr>
          <a:xfrm>
            <a:off x="827584" y="1344876"/>
            <a:ext cx="6840760"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地址</a:t>
            </a:r>
            <a:r>
              <a:rPr lang="zh-CN" altLang="en-US" sz="2400" b="1" dirty="0">
                <a:solidFill>
                  <a:srgbClr val="FFFF00"/>
                </a:solidFill>
                <a:latin typeface="+mn-ea"/>
              </a:rPr>
              <a:t>越界保护</a:t>
            </a:r>
            <a:r>
              <a:rPr lang="zh-CN" altLang="en-US" sz="2400" b="1" dirty="0">
                <a:solidFill>
                  <a:schemeClr val="bg1"/>
                </a:solidFill>
                <a:latin typeface="+mn-ea"/>
              </a:rPr>
              <a:t>可由地址变换机构中的控制寄存器的值</a:t>
            </a:r>
            <a:r>
              <a:rPr lang="en-US" altLang="zh-CN" sz="2400" b="1" dirty="0">
                <a:solidFill>
                  <a:schemeClr val="bg1"/>
                </a:solidFill>
                <a:latin typeface="+mn-ea"/>
              </a:rPr>
              <a:t>——</a:t>
            </a:r>
            <a:r>
              <a:rPr lang="zh-CN" altLang="en-US" sz="2400" b="1" dirty="0">
                <a:solidFill>
                  <a:srgbClr val="FFFF00"/>
                </a:solidFill>
                <a:latin typeface="+mn-ea"/>
              </a:rPr>
              <a:t>页表长度</a:t>
            </a:r>
            <a:r>
              <a:rPr lang="zh-CN" altLang="en-US" sz="2400" b="1" dirty="0">
                <a:solidFill>
                  <a:schemeClr val="bg1"/>
                </a:solidFill>
                <a:latin typeface="+mn-ea"/>
              </a:rPr>
              <a:t>和</a:t>
            </a:r>
            <a:r>
              <a:rPr lang="zh-CN" altLang="en-US" sz="2400" b="1" dirty="0">
                <a:solidFill>
                  <a:srgbClr val="FFFF00"/>
                </a:solidFill>
                <a:latin typeface="+mn-ea"/>
              </a:rPr>
              <a:t>所要访问的虚地址相比较</a:t>
            </a:r>
            <a:r>
              <a:rPr lang="zh-CN" altLang="en-US" sz="2400" b="1" dirty="0">
                <a:solidFill>
                  <a:schemeClr val="bg1"/>
                </a:solidFill>
                <a:latin typeface="+mn-ea"/>
              </a:rPr>
              <a:t>来完成。</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存取控制保护</a:t>
            </a:r>
            <a:r>
              <a:rPr lang="zh-CN" altLang="en-US" sz="2400" b="1" dirty="0">
                <a:solidFill>
                  <a:schemeClr val="bg1"/>
                </a:solidFill>
                <a:latin typeface="+mn-ea"/>
              </a:rPr>
              <a:t>的实现则是在</a:t>
            </a:r>
            <a:r>
              <a:rPr lang="zh-CN" altLang="en-US" sz="2400" b="1" dirty="0">
                <a:solidFill>
                  <a:srgbClr val="FFFF00"/>
                </a:solidFill>
                <a:latin typeface="+mn-ea"/>
              </a:rPr>
              <a:t>页表中增加相应的保护位</a:t>
            </a:r>
            <a:r>
              <a:rPr lang="zh-CN" altLang="en-US" sz="2400" b="1" dirty="0">
                <a:solidFill>
                  <a:schemeClr val="bg1"/>
                </a:solidFill>
                <a:latin typeface="+mn-ea"/>
              </a:rPr>
              <a:t>即可。</a:t>
            </a:r>
          </a:p>
        </p:txBody>
      </p:sp>
    </p:spTree>
    <p:extLst>
      <p:ext uri="{BB962C8B-B14F-4D97-AF65-F5344CB8AC3E}">
        <p14:creationId xmlns:p14="http://schemas.microsoft.com/office/powerpoint/2010/main" val="112910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页式管理的优缺点</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547664" y="1344876"/>
            <a:ext cx="6120680"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由于它不要求作业或进程的程序段和数据在内存中连续存放，从而</a:t>
            </a:r>
            <a:r>
              <a:rPr lang="zh-CN" altLang="en-US" sz="2200" b="1" dirty="0">
                <a:solidFill>
                  <a:srgbClr val="FFFF00"/>
                </a:solidFill>
                <a:latin typeface="+mn-ea"/>
              </a:rPr>
              <a:t>有效地解决了碎片问题</a:t>
            </a:r>
            <a:r>
              <a:rPr lang="zh-CN" altLang="en-US" sz="2200" b="1" dirty="0">
                <a:solidFill>
                  <a:schemeClr val="bg1"/>
                </a:solidFill>
                <a:latin typeface="+mn-ea"/>
              </a:rPr>
              <a:t>。</a:t>
            </a:r>
            <a:endParaRPr lang="en-US" altLang="zh-CN" sz="22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动态页式管理提供了</a:t>
            </a:r>
            <a:r>
              <a:rPr lang="zh-CN" altLang="en-US" sz="2200" b="1" dirty="0">
                <a:solidFill>
                  <a:srgbClr val="FFFF00"/>
                </a:solidFill>
                <a:latin typeface="+mn-ea"/>
              </a:rPr>
              <a:t>内存和外存统一管理的虚存实现方式</a:t>
            </a:r>
            <a:r>
              <a:rPr lang="zh-CN" altLang="en-US" sz="2200" b="1" dirty="0">
                <a:solidFill>
                  <a:schemeClr val="bg1"/>
                </a:solidFill>
                <a:latin typeface="+mn-ea"/>
              </a:rPr>
              <a:t>，使用户可以利用的存储空间大大增加。这既</a:t>
            </a:r>
            <a:r>
              <a:rPr lang="zh-CN" altLang="en-US" sz="2200" b="1" dirty="0">
                <a:solidFill>
                  <a:srgbClr val="FFFF00"/>
                </a:solidFill>
                <a:latin typeface="+mn-ea"/>
              </a:rPr>
              <a:t>提高了主存的利用率</a:t>
            </a:r>
            <a:r>
              <a:rPr lang="zh-CN" altLang="en-US" sz="2200" b="1" dirty="0">
                <a:solidFill>
                  <a:schemeClr val="bg1"/>
                </a:solidFill>
                <a:latin typeface="+mn-ea"/>
              </a:rPr>
              <a:t>，又有利于组织多道程序执行。</a:t>
            </a:r>
          </a:p>
        </p:txBody>
      </p:sp>
      <p:pic>
        <p:nvPicPr>
          <p:cNvPr id="29" name="图片 28"/>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a:off x="323528" y="2067694"/>
            <a:ext cx="1040904" cy="1101108"/>
          </a:xfrm>
          <a:prstGeom prst="rect">
            <a:avLst/>
          </a:prstGeom>
        </p:spPr>
      </p:pic>
    </p:spTree>
    <p:extLst>
      <p:ext uri="{BB962C8B-B14F-4D97-AF65-F5344CB8AC3E}">
        <p14:creationId xmlns:p14="http://schemas.microsoft.com/office/powerpoint/2010/main" val="35440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页式管理的优缺点</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29867" y="1344876"/>
            <a:ext cx="6538477" cy="329320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要求有相应的</a:t>
            </a:r>
            <a:r>
              <a:rPr lang="zh-CN" altLang="en-US" sz="2000" b="1" dirty="0">
                <a:solidFill>
                  <a:srgbClr val="FFFF00"/>
                </a:solidFill>
                <a:latin typeface="+mn-ea"/>
              </a:rPr>
              <a:t>硬件支持</a:t>
            </a:r>
            <a:r>
              <a:rPr lang="zh-CN" altLang="en-US" sz="2000" b="1" dirty="0">
                <a:solidFill>
                  <a:schemeClr val="bg1"/>
                </a:solidFill>
                <a:latin typeface="+mn-ea"/>
              </a:rPr>
              <a:t>。例如地址变换机构，缺页中断的产生和选择淘汰页面等都要求有相应的硬件支持。这</a:t>
            </a:r>
            <a:r>
              <a:rPr lang="zh-CN" altLang="en-US" sz="2000" b="1" dirty="0">
                <a:solidFill>
                  <a:srgbClr val="FFFF00"/>
                </a:solidFill>
                <a:latin typeface="+mn-ea"/>
              </a:rPr>
              <a:t>增加了机器成本</a:t>
            </a:r>
            <a:r>
              <a:rPr lang="zh-CN" altLang="en-US" sz="2000" b="1" dirty="0">
                <a:solidFill>
                  <a:schemeClr val="bg1"/>
                </a:solidFill>
                <a:latin typeface="+mn-ea"/>
              </a:rPr>
              <a:t>。</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rgbClr val="FFFF00"/>
                </a:solidFill>
                <a:latin typeface="+mn-ea"/>
              </a:rPr>
              <a:t>增加了系统开销</a:t>
            </a:r>
            <a:r>
              <a:rPr lang="zh-CN" altLang="en-US" sz="2000" b="1" dirty="0">
                <a:solidFill>
                  <a:schemeClr val="bg1"/>
                </a:solidFill>
                <a:latin typeface="+mn-ea"/>
              </a:rPr>
              <a:t>，例如缺页中断处理等。</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请求调页的算法如选择不当，有可能产生</a:t>
            </a:r>
            <a:r>
              <a:rPr lang="zh-CN" altLang="en-US" sz="2000" b="1" dirty="0">
                <a:solidFill>
                  <a:srgbClr val="FFFF00"/>
                </a:solidFill>
                <a:latin typeface="+mn-ea"/>
              </a:rPr>
              <a:t>抖动现象</a:t>
            </a:r>
            <a:r>
              <a:rPr lang="zh-CN" altLang="en-US" sz="2000" b="1" dirty="0">
                <a:solidFill>
                  <a:schemeClr val="bg1"/>
                </a:solidFill>
                <a:latin typeface="+mn-ea"/>
              </a:rPr>
              <a:t>。</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虽然消除了碎片，但</a:t>
            </a:r>
            <a:r>
              <a:rPr lang="zh-CN" altLang="en-US" sz="2000" b="1" dirty="0">
                <a:solidFill>
                  <a:srgbClr val="FFFF00"/>
                </a:solidFill>
                <a:latin typeface="+mn-ea"/>
              </a:rPr>
              <a:t>每个作业或进程的最后一页内总有一部分空间得不到利用</a:t>
            </a:r>
            <a:r>
              <a:rPr lang="zh-CN" altLang="en-US" sz="2000" b="1" dirty="0">
                <a:solidFill>
                  <a:schemeClr val="bg1"/>
                </a:solidFill>
                <a:latin typeface="+mn-ea"/>
              </a:rPr>
              <a:t>。如果页面较大，则这一部分的损失仍然较大。</a:t>
            </a:r>
          </a:p>
        </p:txBody>
      </p:sp>
      <p:pic>
        <p:nvPicPr>
          <p:cNvPr id="30" name="图片 29"/>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44481" y="2397569"/>
            <a:ext cx="1040904" cy="1101108"/>
          </a:xfrm>
          <a:prstGeom prst="rect">
            <a:avLst/>
          </a:prstGeom>
        </p:spPr>
      </p:pic>
    </p:spTree>
    <p:extLst>
      <p:ext uri="{BB962C8B-B14F-4D97-AF65-F5344CB8AC3E}">
        <p14:creationId xmlns:p14="http://schemas.microsoft.com/office/powerpoint/2010/main" val="299694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练习题</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3816424" cy="329320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某系统的空闲分区如表所示，采用可变式分区管理策略（动态分区管理策略 ），现有如下作业序列：</a:t>
            </a:r>
            <a:r>
              <a:rPr lang="en-US" altLang="zh-CN" sz="2000" b="1" dirty="0">
                <a:solidFill>
                  <a:schemeClr val="bg1"/>
                </a:solidFill>
                <a:latin typeface="+mn-ea"/>
              </a:rPr>
              <a:t>96KB</a:t>
            </a:r>
            <a:r>
              <a:rPr lang="zh-CN" altLang="en-US" sz="2000" b="1" dirty="0">
                <a:solidFill>
                  <a:schemeClr val="bg1"/>
                </a:solidFill>
                <a:latin typeface="+mn-ea"/>
              </a:rPr>
              <a:t>、</a:t>
            </a:r>
            <a:r>
              <a:rPr lang="en-US" altLang="zh-CN" sz="2000" b="1" dirty="0">
                <a:solidFill>
                  <a:schemeClr val="bg1"/>
                </a:solidFill>
                <a:latin typeface="+mn-ea"/>
              </a:rPr>
              <a:t>20KB</a:t>
            </a:r>
            <a:r>
              <a:rPr lang="zh-CN" altLang="en-US" sz="2000" b="1" dirty="0">
                <a:solidFill>
                  <a:schemeClr val="bg1"/>
                </a:solidFill>
                <a:latin typeface="+mn-ea"/>
              </a:rPr>
              <a:t>、</a:t>
            </a:r>
            <a:r>
              <a:rPr lang="en-US" altLang="zh-CN" sz="2000" b="1" dirty="0">
                <a:solidFill>
                  <a:schemeClr val="bg1"/>
                </a:solidFill>
                <a:latin typeface="+mn-ea"/>
              </a:rPr>
              <a:t>200KB</a:t>
            </a:r>
            <a:r>
              <a:rPr lang="zh-CN" altLang="en-US" sz="2000" b="1" dirty="0">
                <a:solidFill>
                  <a:schemeClr val="bg1"/>
                </a:solidFill>
                <a:latin typeface="+mn-ea"/>
              </a:rPr>
              <a:t>。若</a:t>
            </a:r>
            <a:r>
              <a:rPr lang="zh-CN" altLang="en-US" sz="2000" b="1" dirty="0" smtClean="0">
                <a:solidFill>
                  <a:schemeClr val="bg1"/>
                </a:solidFill>
                <a:latin typeface="+mn-ea"/>
              </a:rPr>
              <a:t>用最先适应</a:t>
            </a:r>
            <a:r>
              <a:rPr lang="zh-CN" altLang="en-US" sz="2000" b="1" dirty="0">
                <a:solidFill>
                  <a:schemeClr val="bg1"/>
                </a:solidFill>
                <a:latin typeface="+mn-ea"/>
              </a:rPr>
              <a:t>算法和最佳适应算法来处理这些作业，则哪一种算法可满足该作业序列请求，为什么？</a:t>
            </a:r>
          </a:p>
        </p:txBody>
      </p:sp>
      <p:pic>
        <p:nvPicPr>
          <p:cNvPr id="4" name="图片 3"/>
          <p:cNvPicPr>
            <a:picLocks noChangeAspect="1"/>
          </p:cNvPicPr>
          <p:nvPr/>
        </p:nvPicPr>
        <p:blipFill>
          <a:blip r:embed="rId3"/>
          <a:stretch>
            <a:fillRect/>
          </a:stretch>
        </p:blipFill>
        <p:spPr>
          <a:xfrm>
            <a:off x="4860032" y="1491630"/>
            <a:ext cx="3536290" cy="2759872"/>
          </a:xfrm>
          <a:prstGeom prst="rect">
            <a:avLst/>
          </a:prstGeom>
        </p:spPr>
      </p:pic>
    </p:spTree>
    <p:extLst>
      <p:ext uri="{BB962C8B-B14F-4D97-AF65-F5344CB8AC3E}">
        <p14:creationId xmlns:p14="http://schemas.microsoft.com/office/powerpoint/2010/main" val="313196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练习题</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 name="图片 2"/>
          <p:cNvPicPr>
            <a:picLocks noChangeAspect="1"/>
          </p:cNvPicPr>
          <p:nvPr/>
        </p:nvPicPr>
        <p:blipFill>
          <a:blip r:embed="rId3"/>
          <a:stretch>
            <a:fillRect/>
          </a:stretch>
        </p:blipFill>
        <p:spPr>
          <a:xfrm>
            <a:off x="251520" y="1281469"/>
            <a:ext cx="8689452" cy="2805040"/>
          </a:xfrm>
          <a:prstGeom prst="rect">
            <a:avLst/>
          </a:prstGeom>
        </p:spPr>
      </p:pic>
    </p:spTree>
    <p:extLst>
      <p:ext uri="{BB962C8B-B14F-4D97-AF65-F5344CB8AC3E}">
        <p14:creationId xmlns:p14="http://schemas.microsoft.com/office/powerpoint/2010/main" val="257589048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练习题</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图片 1"/>
          <p:cNvPicPr>
            <a:picLocks noChangeAspect="1"/>
          </p:cNvPicPr>
          <p:nvPr/>
        </p:nvPicPr>
        <p:blipFill>
          <a:blip r:embed="rId3"/>
          <a:stretch>
            <a:fillRect/>
          </a:stretch>
        </p:blipFill>
        <p:spPr>
          <a:xfrm>
            <a:off x="323528" y="1750353"/>
            <a:ext cx="8715489" cy="2359684"/>
          </a:xfrm>
          <a:prstGeom prst="rect">
            <a:avLst/>
          </a:prstGeom>
        </p:spPr>
      </p:pic>
    </p:spTree>
    <p:extLst>
      <p:ext uri="{BB962C8B-B14F-4D97-AF65-F5344CB8AC3E}">
        <p14:creationId xmlns:p14="http://schemas.microsoft.com/office/powerpoint/2010/main" val="111986495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练习题</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173824"/>
            <a:ext cx="3960440" cy="329320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页式存储管理，允许用户编程空间为</a:t>
            </a:r>
            <a:r>
              <a:rPr lang="en-US" altLang="zh-CN" sz="2000" b="1" dirty="0">
                <a:solidFill>
                  <a:srgbClr val="FFFF00"/>
                </a:solidFill>
                <a:latin typeface="+mn-ea"/>
              </a:rPr>
              <a:t>32</a:t>
            </a:r>
            <a:r>
              <a:rPr lang="zh-CN" altLang="en-US" sz="2000" b="1" dirty="0">
                <a:solidFill>
                  <a:schemeClr val="bg1"/>
                </a:solidFill>
                <a:latin typeface="+mn-ea"/>
              </a:rPr>
              <a:t>个页面（每个页面</a:t>
            </a:r>
            <a:r>
              <a:rPr lang="en-US" altLang="zh-CN" sz="2000" b="1" dirty="0">
                <a:solidFill>
                  <a:srgbClr val="FFFF00"/>
                </a:solidFill>
                <a:latin typeface="+mn-ea"/>
              </a:rPr>
              <a:t>1KB</a:t>
            </a:r>
            <a:r>
              <a:rPr lang="zh-CN" altLang="en-US" sz="2000" b="1" dirty="0">
                <a:solidFill>
                  <a:schemeClr val="bg1"/>
                </a:solidFill>
                <a:latin typeface="+mn-ea"/>
              </a:rPr>
              <a:t>），主存为</a:t>
            </a:r>
            <a:r>
              <a:rPr lang="en-US" altLang="zh-CN" sz="2000" b="1" dirty="0">
                <a:solidFill>
                  <a:srgbClr val="FFFF00"/>
                </a:solidFill>
                <a:latin typeface="+mn-ea"/>
              </a:rPr>
              <a:t>16KB</a:t>
            </a:r>
            <a:r>
              <a:rPr lang="zh-CN" altLang="en-US" sz="2000" b="1" dirty="0">
                <a:solidFill>
                  <a:schemeClr val="bg1"/>
                </a:solidFill>
                <a:latin typeface="+mn-ea"/>
              </a:rPr>
              <a:t>，如有一用户程序有</a:t>
            </a:r>
            <a:r>
              <a:rPr lang="en-US" altLang="zh-CN" sz="2000" b="1" dirty="0">
                <a:solidFill>
                  <a:srgbClr val="FFFF00"/>
                </a:solidFill>
                <a:latin typeface="+mn-ea"/>
              </a:rPr>
              <a:t>10</a:t>
            </a:r>
            <a:r>
              <a:rPr lang="zh-CN" altLang="en-US" sz="2000" b="1" dirty="0">
                <a:solidFill>
                  <a:schemeClr val="bg1"/>
                </a:solidFill>
                <a:latin typeface="+mn-ea"/>
              </a:rPr>
              <a:t>页长，且某一时刻该用户程序页表</a:t>
            </a:r>
            <a:r>
              <a:rPr lang="zh-CN" altLang="en-US" sz="2000" b="1" dirty="0" smtClean="0">
                <a:solidFill>
                  <a:schemeClr val="bg1"/>
                </a:solidFill>
                <a:latin typeface="+mn-ea"/>
              </a:rPr>
              <a:t>如右所</a:t>
            </a:r>
            <a:r>
              <a:rPr lang="zh-CN" altLang="en-US" sz="2000" b="1" dirty="0">
                <a:solidFill>
                  <a:schemeClr val="bg1"/>
                </a:solidFill>
                <a:latin typeface="+mn-ea"/>
              </a:rPr>
              <a:t>示。如果分别遇到以下三个逻辑地址：</a:t>
            </a:r>
            <a:r>
              <a:rPr lang="en-US" altLang="zh-CN" sz="2000" b="1" dirty="0">
                <a:solidFill>
                  <a:srgbClr val="BCE292"/>
                </a:solidFill>
                <a:latin typeface="+mn-ea"/>
              </a:rPr>
              <a:t>0AC5H</a:t>
            </a:r>
            <a:r>
              <a:rPr lang="zh-CN" altLang="en-US" sz="2000" b="1" dirty="0">
                <a:solidFill>
                  <a:srgbClr val="BCE292"/>
                </a:solidFill>
                <a:latin typeface="+mn-ea"/>
              </a:rPr>
              <a:t>、</a:t>
            </a:r>
            <a:r>
              <a:rPr lang="en-US" altLang="zh-CN" sz="2000" b="1" dirty="0">
                <a:solidFill>
                  <a:srgbClr val="BCE292"/>
                </a:solidFill>
                <a:latin typeface="+mn-ea"/>
              </a:rPr>
              <a:t>1AC5H</a:t>
            </a:r>
            <a:r>
              <a:rPr lang="zh-CN" altLang="en-US" sz="2000" b="1" dirty="0">
                <a:solidFill>
                  <a:srgbClr val="BCE292"/>
                </a:solidFill>
                <a:latin typeface="+mn-ea"/>
              </a:rPr>
              <a:t>、</a:t>
            </a:r>
            <a:r>
              <a:rPr lang="en-US" altLang="zh-CN" sz="2000" b="1" dirty="0">
                <a:solidFill>
                  <a:srgbClr val="BCE292"/>
                </a:solidFill>
                <a:latin typeface="+mn-ea"/>
              </a:rPr>
              <a:t>3AC5H</a:t>
            </a:r>
            <a:r>
              <a:rPr lang="zh-CN" altLang="en-US" sz="2000" b="1" dirty="0">
                <a:solidFill>
                  <a:schemeClr val="bg1"/>
                </a:solidFill>
                <a:latin typeface="+mn-ea"/>
              </a:rPr>
              <a:t>处的操作，试</a:t>
            </a:r>
            <a:r>
              <a:rPr lang="zh-CN" altLang="en-US" sz="2000" b="1" dirty="0" smtClean="0">
                <a:solidFill>
                  <a:schemeClr val="bg1"/>
                </a:solidFill>
                <a:latin typeface="+mn-ea"/>
              </a:rPr>
              <a:t>计算说明</a:t>
            </a:r>
            <a:r>
              <a:rPr lang="zh-CN" altLang="en-US" sz="2000" b="1" dirty="0">
                <a:solidFill>
                  <a:schemeClr val="bg1"/>
                </a:solidFill>
                <a:latin typeface="+mn-ea"/>
              </a:rPr>
              <a:t>存储管理系统如何处理。</a:t>
            </a:r>
          </a:p>
        </p:txBody>
      </p:sp>
      <p:pic>
        <p:nvPicPr>
          <p:cNvPr id="3" name="图片 2"/>
          <p:cNvPicPr>
            <a:picLocks noChangeAspect="1"/>
          </p:cNvPicPr>
          <p:nvPr/>
        </p:nvPicPr>
        <p:blipFill>
          <a:blip r:embed="rId3"/>
          <a:stretch>
            <a:fillRect/>
          </a:stretch>
        </p:blipFill>
        <p:spPr>
          <a:xfrm>
            <a:off x="4857795" y="2427734"/>
            <a:ext cx="3718061" cy="2075197"/>
          </a:xfrm>
          <a:prstGeom prst="rect">
            <a:avLst/>
          </a:prstGeom>
        </p:spPr>
      </p:pic>
      <p:sp>
        <p:nvSpPr>
          <p:cNvPr id="5" name="矩形标注 4"/>
          <p:cNvSpPr/>
          <p:nvPr/>
        </p:nvSpPr>
        <p:spPr>
          <a:xfrm>
            <a:off x="5220072" y="318394"/>
            <a:ext cx="3168352" cy="1926149"/>
          </a:xfrm>
          <a:prstGeom prst="wedgeRectCallout">
            <a:avLst>
              <a:gd name="adj1" fmla="val -149843"/>
              <a:gd name="adj2" fmla="val 23724"/>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en-US" sz="2000" b="1" dirty="0"/>
              <a:t>页面大小为 </a:t>
            </a:r>
            <a:r>
              <a:rPr lang="en-US" altLang="zh-CN" sz="2000" b="1" dirty="0"/>
              <a:t>1KB</a:t>
            </a:r>
            <a:r>
              <a:rPr lang="zh-CN" altLang="en-US" sz="2000" b="1" dirty="0"/>
              <a:t>，所以低 </a:t>
            </a:r>
            <a:r>
              <a:rPr lang="en-US" altLang="zh-CN" sz="2000" b="1" dirty="0"/>
              <a:t>10</a:t>
            </a:r>
            <a:r>
              <a:rPr lang="zh-CN" altLang="en-US" sz="2000" b="1" dirty="0"/>
              <a:t>位为页内偏移地址</a:t>
            </a:r>
            <a:r>
              <a:rPr lang="en-US" altLang="zh-CN" sz="2000" b="1" dirty="0"/>
              <a:t>;</a:t>
            </a:r>
            <a:r>
              <a:rPr lang="zh-CN" altLang="en-US" sz="2000" b="1" dirty="0"/>
              <a:t>用户编程空间为 </a:t>
            </a:r>
            <a:r>
              <a:rPr lang="en-US" altLang="zh-CN" sz="2000" b="1" dirty="0"/>
              <a:t>32 </a:t>
            </a:r>
            <a:r>
              <a:rPr lang="zh-CN" altLang="en-US" sz="2000" b="1" dirty="0"/>
              <a:t>个页面，即逻辑地址高</a:t>
            </a:r>
            <a:r>
              <a:rPr lang="en-US" altLang="zh-CN" sz="2000" b="1" dirty="0"/>
              <a:t>5</a:t>
            </a:r>
            <a:r>
              <a:rPr lang="zh-CN" altLang="en-US" sz="2000" b="1" dirty="0"/>
              <a:t>位为虚页号</a:t>
            </a:r>
            <a:r>
              <a:rPr lang="en-US" altLang="zh-CN" sz="2000" b="1" dirty="0"/>
              <a:t>:</a:t>
            </a:r>
            <a:r>
              <a:rPr lang="zh-CN" altLang="en-US" sz="2000" b="1" dirty="0"/>
              <a:t>主存为</a:t>
            </a:r>
            <a:r>
              <a:rPr lang="en-US" altLang="zh-CN" sz="2000" b="1" dirty="0"/>
              <a:t>16 </a:t>
            </a:r>
            <a:r>
              <a:rPr lang="zh-CN" altLang="en-US" sz="2000" b="1" dirty="0"/>
              <a:t>个页面，即物理地址高</a:t>
            </a:r>
            <a:r>
              <a:rPr lang="en-US" altLang="zh-CN" sz="2000" b="1" dirty="0"/>
              <a:t>4 </a:t>
            </a:r>
            <a:r>
              <a:rPr lang="zh-CN" altLang="en-US" sz="2000" b="1" dirty="0"/>
              <a:t>位为物理块号 </a:t>
            </a:r>
          </a:p>
        </p:txBody>
      </p:sp>
    </p:spTree>
    <p:extLst>
      <p:ext uri="{BB962C8B-B14F-4D97-AF65-F5344CB8AC3E}">
        <p14:creationId xmlns:p14="http://schemas.microsoft.com/office/powerpoint/2010/main" val="365379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练习题</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586333"/>
            <a:ext cx="4824536" cy="1692771"/>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答：逻辑地址</a:t>
            </a:r>
            <a:r>
              <a:rPr lang="en-US" altLang="zh-CN" sz="2000" b="1" dirty="0">
                <a:solidFill>
                  <a:schemeClr val="bg1"/>
                </a:solidFill>
                <a:latin typeface="+mn-ea"/>
              </a:rPr>
              <a:t>0AC5H </a:t>
            </a:r>
            <a:r>
              <a:rPr lang="zh-CN" altLang="en-US" sz="2000" b="1" dirty="0">
                <a:solidFill>
                  <a:schemeClr val="bg1"/>
                </a:solidFill>
                <a:latin typeface="+mn-ea"/>
              </a:rPr>
              <a:t>转换为二进制为 </a:t>
            </a:r>
            <a:r>
              <a:rPr lang="en-US" altLang="zh-CN" sz="2000" b="1" dirty="0">
                <a:solidFill>
                  <a:schemeClr val="bg1"/>
                </a:solidFill>
                <a:latin typeface="+mn-ea"/>
              </a:rPr>
              <a:t>000 1010 1100 0101B</a:t>
            </a:r>
            <a:r>
              <a:rPr lang="zh-CN" altLang="en-US" sz="2000" b="1" dirty="0">
                <a:solidFill>
                  <a:schemeClr val="bg1"/>
                </a:solidFill>
                <a:latin typeface="+mn-ea"/>
              </a:rPr>
              <a:t>，虚页号为</a:t>
            </a:r>
            <a:r>
              <a:rPr lang="en-US" altLang="zh-CN" sz="2000" b="1" dirty="0">
                <a:solidFill>
                  <a:schemeClr val="bg1"/>
                </a:solidFill>
                <a:latin typeface="+mn-ea"/>
              </a:rPr>
              <a:t>2(00010B)</a:t>
            </a:r>
            <a:r>
              <a:rPr lang="zh-CN" altLang="en-US" sz="2000" b="1" dirty="0">
                <a:solidFill>
                  <a:schemeClr val="bg1"/>
                </a:solidFill>
                <a:latin typeface="+mn-ea"/>
              </a:rPr>
              <a:t>，映射至物理块号</a:t>
            </a:r>
            <a:r>
              <a:rPr lang="en-US" altLang="zh-CN" sz="2000" b="1" dirty="0">
                <a:solidFill>
                  <a:schemeClr val="bg1"/>
                </a:solidFill>
                <a:latin typeface="+mn-ea"/>
              </a:rPr>
              <a:t>4</a:t>
            </a:r>
            <a:r>
              <a:rPr lang="zh-CN" altLang="en-US" sz="2000" b="1" dirty="0">
                <a:solidFill>
                  <a:schemeClr val="bg1"/>
                </a:solidFill>
                <a:latin typeface="+mn-ea"/>
              </a:rPr>
              <a:t>，故系统访问物理地址 </a:t>
            </a:r>
            <a:r>
              <a:rPr lang="en-US" altLang="zh-CN" sz="2000" b="1" dirty="0" smtClean="0">
                <a:solidFill>
                  <a:schemeClr val="bg1"/>
                </a:solidFill>
                <a:latin typeface="+mn-ea"/>
              </a:rPr>
              <a:t>12C5H(01 </a:t>
            </a:r>
            <a:r>
              <a:rPr lang="en-US" altLang="zh-CN" sz="2000" b="1" dirty="0">
                <a:solidFill>
                  <a:schemeClr val="bg1"/>
                </a:solidFill>
                <a:latin typeface="+mn-ea"/>
              </a:rPr>
              <a:t>0010 1100 0101B)</a:t>
            </a:r>
            <a:r>
              <a:rPr lang="zh-CN" altLang="en-US" sz="2000" b="1" dirty="0" smtClean="0">
                <a:solidFill>
                  <a:schemeClr val="bg1"/>
                </a:solidFill>
                <a:latin typeface="+mn-ea"/>
              </a:rPr>
              <a:t>。</a:t>
            </a:r>
            <a:endParaRPr lang="zh-CN" altLang="en-US" sz="2000" b="1" dirty="0">
              <a:solidFill>
                <a:schemeClr val="bg1"/>
              </a:solidFill>
              <a:latin typeface="+mn-ea"/>
            </a:endParaRPr>
          </a:p>
        </p:txBody>
      </p:sp>
      <p:pic>
        <p:nvPicPr>
          <p:cNvPr id="3" name="图片 2"/>
          <p:cNvPicPr>
            <a:picLocks noChangeAspect="1"/>
          </p:cNvPicPr>
          <p:nvPr/>
        </p:nvPicPr>
        <p:blipFill>
          <a:blip r:embed="rId3"/>
          <a:stretch>
            <a:fillRect/>
          </a:stretch>
        </p:blipFill>
        <p:spPr>
          <a:xfrm>
            <a:off x="5724128" y="1750353"/>
            <a:ext cx="3060340" cy="1708097"/>
          </a:xfrm>
          <a:prstGeom prst="rect">
            <a:avLst/>
          </a:prstGeom>
        </p:spPr>
      </p:pic>
    </p:spTree>
    <p:extLst>
      <p:ext uri="{BB962C8B-B14F-4D97-AF65-F5344CB8AC3E}">
        <p14:creationId xmlns:p14="http://schemas.microsoft.com/office/powerpoint/2010/main" val="140418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练习题</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4824536" cy="2893100"/>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答</a:t>
            </a:r>
            <a:r>
              <a:rPr lang="zh-CN" altLang="en-US" sz="2000" b="1" dirty="0" smtClean="0">
                <a:solidFill>
                  <a:schemeClr val="bg1"/>
                </a:solidFill>
                <a:latin typeface="+mn-ea"/>
              </a:rPr>
              <a:t>：逻辑</a:t>
            </a:r>
            <a:r>
              <a:rPr lang="zh-CN" altLang="en-US" sz="2000" b="1" dirty="0">
                <a:solidFill>
                  <a:schemeClr val="bg1"/>
                </a:solidFill>
                <a:latin typeface="+mn-ea"/>
              </a:rPr>
              <a:t>地址</a:t>
            </a:r>
            <a:r>
              <a:rPr lang="en-US" altLang="zh-CN" sz="2000" b="1" dirty="0">
                <a:solidFill>
                  <a:schemeClr val="bg1"/>
                </a:solidFill>
                <a:latin typeface="+mn-ea"/>
              </a:rPr>
              <a:t>1AC5H </a:t>
            </a:r>
            <a:r>
              <a:rPr lang="zh-CN" altLang="en-US" sz="2000" b="1" dirty="0">
                <a:solidFill>
                  <a:schemeClr val="bg1"/>
                </a:solidFill>
                <a:latin typeface="+mn-ea"/>
              </a:rPr>
              <a:t>转换为二进制为 </a:t>
            </a:r>
            <a:r>
              <a:rPr lang="en-US" altLang="zh-CN" sz="2000" b="1" dirty="0">
                <a:solidFill>
                  <a:schemeClr val="bg1"/>
                </a:solidFill>
                <a:latin typeface="+mn-ea"/>
              </a:rPr>
              <a:t>001 1010 1100 0101B</a:t>
            </a:r>
            <a:r>
              <a:rPr lang="zh-CN" altLang="en-US" sz="2000" b="1" dirty="0">
                <a:solidFill>
                  <a:schemeClr val="bg1"/>
                </a:solidFill>
                <a:latin typeface="+mn-ea"/>
              </a:rPr>
              <a:t>，虚页号为</a:t>
            </a:r>
            <a:r>
              <a:rPr lang="en-US" altLang="zh-CN" sz="2000" b="1" dirty="0">
                <a:solidFill>
                  <a:schemeClr val="bg1"/>
                </a:solidFill>
                <a:latin typeface="+mn-ea"/>
              </a:rPr>
              <a:t>6(00110B)</a:t>
            </a:r>
            <a:r>
              <a:rPr lang="zh-CN" altLang="en-US" sz="2000" b="1" dirty="0">
                <a:solidFill>
                  <a:schemeClr val="bg1"/>
                </a:solidFill>
                <a:latin typeface="+mn-ea"/>
              </a:rPr>
              <a:t>，不在页面映射表中，会产生缺页中断，系统进行缺页中断处理。</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逻辑地址</a:t>
            </a:r>
            <a:r>
              <a:rPr lang="en-US" altLang="zh-CN" sz="2000" b="1" dirty="0">
                <a:solidFill>
                  <a:schemeClr val="bg1"/>
                </a:solidFill>
                <a:latin typeface="+mn-ea"/>
              </a:rPr>
              <a:t>3AC5H </a:t>
            </a:r>
            <a:r>
              <a:rPr lang="zh-CN" altLang="en-US" sz="2000" b="1" dirty="0">
                <a:solidFill>
                  <a:schemeClr val="bg1"/>
                </a:solidFill>
                <a:latin typeface="+mn-ea"/>
              </a:rPr>
              <a:t>转换为二进制为 </a:t>
            </a:r>
            <a:r>
              <a:rPr lang="en-US" altLang="zh-CN" sz="2000" b="1" dirty="0">
                <a:solidFill>
                  <a:schemeClr val="bg1"/>
                </a:solidFill>
                <a:latin typeface="+mn-ea"/>
              </a:rPr>
              <a:t>011 1010 1100 011B</a:t>
            </a:r>
            <a:r>
              <a:rPr lang="zh-CN" altLang="en-US" sz="2000" b="1" dirty="0">
                <a:solidFill>
                  <a:schemeClr val="bg1"/>
                </a:solidFill>
                <a:latin typeface="+mn-ea"/>
              </a:rPr>
              <a:t>，页号为</a:t>
            </a:r>
            <a:r>
              <a:rPr lang="en-US" altLang="zh-CN" sz="2000" b="1" dirty="0">
                <a:solidFill>
                  <a:schemeClr val="bg1"/>
                </a:solidFill>
                <a:latin typeface="+mn-ea"/>
              </a:rPr>
              <a:t>14</a:t>
            </a:r>
            <a:r>
              <a:rPr lang="zh-CN" altLang="en-US" sz="2000" b="1" dirty="0">
                <a:solidFill>
                  <a:schemeClr val="bg1"/>
                </a:solidFill>
                <a:latin typeface="+mn-ea"/>
              </a:rPr>
              <a:t>，而该用户程序</a:t>
            </a:r>
            <a:r>
              <a:rPr lang="zh-CN" altLang="en-US" sz="2000" b="1" dirty="0" smtClean="0">
                <a:solidFill>
                  <a:schemeClr val="bg1"/>
                </a:solidFill>
                <a:latin typeface="+mn-ea"/>
              </a:rPr>
              <a:t>只有</a:t>
            </a:r>
            <a:r>
              <a:rPr lang="en-US" altLang="zh-CN" sz="2000" b="1" dirty="0" smtClean="0">
                <a:solidFill>
                  <a:schemeClr val="bg1"/>
                </a:solidFill>
                <a:latin typeface="+mn-ea"/>
              </a:rPr>
              <a:t>10</a:t>
            </a:r>
            <a:r>
              <a:rPr lang="zh-CN" altLang="en-US" sz="2000" b="1" dirty="0">
                <a:solidFill>
                  <a:schemeClr val="bg1"/>
                </a:solidFill>
                <a:latin typeface="+mn-ea"/>
              </a:rPr>
              <a:t>页，故系统产生越界中断。</a:t>
            </a:r>
          </a:p>
        </p:txBody>
      </p:sp>
      <p:pic>
        <p:nvPicPr>
          <p:cNvPr id="3" name="图片 2"/>
          <p:cNvPicPr>
            <a:picLocks noChangeAspect="1"/>
          </p:cNvPicPr>
          <p:nvPr/>
        </p:nvPicPr>
        <p:blipFill>
          <a:blip r:embed="rId3"/>
          <a:stretch>
            <a:fillRect/>
          </a:stretch>
        </p:blipFill>
        <p:spPr>
          <a:xfrm>
            <a:off x="5724128" y="1750353"/>
            <a:ext cx="3060340" cy="1708097"/>
          </a:xfrm>
          <a:prstGeom prst="rect">
            <a:avLst/>
          </a:prstGeom>
        </p:spPr>
      </p:pic>
    </p:spTree>
    <p:extLst>
      <p:ext uri="{BB962C8B-B14F-4D97-AF65-F5344CB8AC3E}">
        <p14:creationId xmlns:p14="http://schemas.microsoft.com/office/powerpoint/2010/main" val="3520491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ea typeface="宋体" panose="02010600030101010101" pitchFamily="2" charset="-122"/>
                </a:rPr>
                <a:t>存储管理</a:t>
              </a:r>
              <a:r>
                <a:rPr lang="zh-CN" altLang="en-US" b="1" dirty="0" smtClean="0">
                  <a:solidFill>
                    <a:srgbClr val="000000"/>
                  </a:solidFill>
                  <a:ea typeface="宋体" panose="02010600030101010101" pitchFamily="2" charset="-122"/>
                </a:rPr>
                <a:t>的功能</a:t>
              </a:r>
              <a:endParaRPr lang="zh-CN" altLang="en-US"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338" cy="232"/>
            </a:xfrm>
            <a:prstGeom prst="rect">
              <a:avLst/>
            </a:prstGeom>
            <a:noFill/>
            <a:ln w="9525" algn="ctr">
              <a:noFill/>
              <a:miter lim="800000"/>
            </a:ln>
            <a:effectLst/>
          </p:spPr>
          <p:txBody>
            <a:bodyPr wrap="square">
              <a:spAutoFit/>
            </a:bodyPr>
            <a:lstStyle/>
            <a:p>
              <a:pPr algn="ctr" eaLnBrk="0" hangingPunct="0"/>
              <a:r>
                <a:rPr lang="en-US" altLang="zh-CN" b="1" dirty="0">
                  <a:solidFill>
                    <a:srgbClr val="000000"/>
                  </a:solidFill>
                </a:rPr>
                <a:t>   </a:t>
              </a:r>
              <a:r>
                <a:rPr lang="zh-CN" altLang="en-US" b="1" dirty="0" smtClean="0">
                  <a:solidFill>
                    <a:srgbClr val="000000"/>
                  </a:solidFill>
                </a:rPr>
                <a:t>分区存储管理</a:t>
              </a:r>
              <a:endParaRPr lang="zh-CN" altLang="en-US"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05695" y="3986243"/>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覆盖与交换技术</a:t>
              </a:r>
              <a:endParaRPr lang="zh-CN" altLang="en-US" b="1" dirty="0">
                <a:solidFill>
                  <a:srgbClr val="000000"/>
                </a:solidFill>
              </a:endParaRPr>
            </a:p>
          </p:txBody>
        </p:sp>
        <p:sp>
          <p:nvSpPr>
            <p:cNvPr id="26" name="Text Box 60"/>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grpSp>
        <p:nvGrpSpPr>
          <p:cNvPr id="27" name="Group 61"/>
          <p:cNvGrpSpPr/>
          <p:nvPr/>
        </p:nvGrpSpPr>
        <p:grpSpPr bwMode="auto">
          <a:xfrm>
            <a:off x="2243648" y="2197146"/>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页式管理</a:t>
              </a:r>
              <a:endParaRPr lang="zh-CN" altLang="en-US" b="1" dirty="0">
                <a:solidFill>
                  <a:srgbClr val="000000"/>
                </a:solidFill>
              </a:endParaRPr>
            </a:p>
          </p:txBody>
        </p:sp>
        <p:sp>
          <p:nvSpPr>
            <p:cNvPr id="31" name="Text Box 65"/>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3</a:t>
              </a:r>
              <a:endParaRPr lang="en-US" altLang="zh-CN" sz="2400" dirty="0">
                <a:solidFill>
                  <a:schemeClr val="bg1"/>
                </a:solidFill>
                <a:ea typeface="宋体" panose="02010600030101010101" pitchFamily="2" charset="-122"/>
              </a:endParaRPr>
            </a:p>
          </p:txBody>
        </p:sp>
      </p:grpSp>
      <p:grpSp>
        <p:nvGrpSpPr>
          <p:cNvPr id="32" name="Group 51"/>
          <p:cNvGrpSpPr/>
          <p:nvPr/>
        </p:nvGrpSpPr>
        <p:grpSpPr bwMode="auto">
          <a:xfrm>
            <a:off x="2216039" y="3081050"/>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776" y="1934"/>
              <a:ext cx="2386"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ea typeface="宋体" panose="02010600030101010101" pitchFamily="2" charset="-122"/>
                </a:rPr>
                <a:t>段式与段页式管理</a:t>
              </a:r>
              <a:endParaRPr lang="zh-CN" altLang="en-US"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4</a:t>
              </a:r>
              <a:endParaRPr lang="en-US" altLang="zh-CN" sz="2400" dirty="0">
                <a:solidFill>
                  <a:schemeClr val="bg1"/>
                </a:solidFill>
                <a:ea typeface="宋体" panose="02010600030101010101" pitchFamily="2" charset="-122"/>
              </a:endParaRPr>
            </a:p>
          </p:txBody>
        </p:sp>
      </p:grpSp>
    </p:spTree>
    <p:extLst>
      <p:ext uri="{BB962C8B-B14F-4D97-AF65-F5344CB8AC3E}">
        <p14:creationId xmlns:p14="http://schemas.microsoft.com/office/powerpoint/2010/main" val="184357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2"/>
                                        </p:tgtEl>
                                      </p:cBhvr>
                                      <p:by x="150000" y="150000"/>
                                    </p:animScale>
                                  </p:childTnLst>
                                </p:cTn>
                              </p:par>
                              <p:par>
                                <p:cTn id="7" presetID="42" presetClass="path" presetSubtype="0" accel="50000" decel="50000" fill="hold" nodeType="withEffect">
                                  <p:stCondLst>
                                    <p:cond delay="0"/>
                                  </p:stCondLst>
                                  <p:childTnLst>
                                    <p:animMotion origin="layout" path="M -4.44444E-6 -7.40741E-7 L 0.00712 -0.23858 " pathEditMode="relative" rAng="0" ptsTypes="AA">
                                      <p:cBhvr>
                                        <p:cTn id="8" dur="2000" fill="hold"/>
                                        <p:tgtEl>
                                          <p:spTgt spid="32"/>
                                        </p:tgtEl>
                                        <p:attrNameLst>
                                          <p:attrName>ppt_x</p:attrName>
                                          <p:attrName>ppt_y</p:attrName>
                                        </p:attrNameLst>
                                      </p:cBhvr>
                                      <p:rCtr x="347" y="-11944"/>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11"/>
                                        </p:tgtEl>
                                      </p:cBhvr>
                                    </p:animEffect>
                                    <p:set>
                                      <p:cBhvr>
                                        <p:cTn id="14" dur="1" fill="hold">
                                          <p:stCondLst>
                                            <p:cond delay="1999"/>
                                          </p:stCondLst>
                                        </p:cTn>
                                        <p:tgtEl>
                                          <p:spTgt spid="11"/>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6"/>
                                        </p:tgtEl>
                                      </p:cBhvr>
                                    </p:animEffect>
                                    <p:set>
                                      <p:cBhvr>
                                        <p:cTn id="17" dur="1" fill="hold">
                                          <p:stCondLst>
                                            <p:cond delay="1999"/>
                                          </p:stCondLst>
                                        </p:cTn>
                                        <p:tgtEl>
                                          <p:spTgt spid="16"/>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27"/>
                                        </p:tgtEl>
                                      </p:cBhvr>
                                    </p:animEffect>
                                    <p:set>
                                      <p:cBhvr>
                                        <p:cTn id="20" dur="1" fill="hold">
                                          <p:stCondLst>
                                            <p:cond delay="19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分区式管理和页式管理</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27927"/>
            <a:ext cx="6912768" cy="317317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分区式管理和页式管理的进程地址空间都是</a:t>
            </a:r>
            <a:r>
              <a:rPr lang="zh-CN" altLang="en-US" sz="2200" b="1" dirty="0" smtClean="0">
                <a:solidFill>
                  <a:srgbClr val="FFFF00"/>
                </a:solidFill>
                <a:latin typeface="+mn-ea"/>
              </a:rPr>
              <a:t>线性</a:t>
            </a:r>
            <a:r>
              <a:rPr lang="zh-CN" altLang="en-US" sz="2200" b="1" dirty="0" smtClean="0">
                <a:solidFill>
                  <a:schemeClr val="bg1"/>
                </a:solidFill>
                <a:latin typeface="+mn-ea"/>
              </a:rPr>
              <a:t>的。</a:t>
            </a:r>
            <a:endParaRPr lang="en-US" altLang="zh-CN" sz="22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要求对源程序进行</a:t>
            </a:r>
            <a:r>
              <a:rPr lang="zh-CN" altLang="en-US" sz="2200" b="1" dirty="0" smtClean="0">
                <a:solidFill>
                  <a:srgbClr val="FFFF00"/>
                </a:solidFill>
                <a:latin typeface="+mn-ea"/>
              </a:rPr>
              <a:t>编译链接</a:t>
            </a:r>
            <a:r>
              <a:rPr lang="zh-CN" altLang="en-US" sz="2200" b="1" dirty="0" smtClean="0">
                <a:solidFill>
                  <a:schemeClr val="bg1"/>
                </a:solidFill>
                <a:latin typeface="+mn-ea"/>
              </a:rPr>
              <a:t>时，把源程序中的</a:t>
            </a:r>
            <a:r>
              <a:rPr lang="zh-CN" altLang="en-US" sz="2200" b="1" dirty="0" smtClean="0">
                <a:solidFill>
                  <a:srgbClr val="FFFF00"/>
                </a:solidFill>
                <a:latin typeface="+mn-ea"/>
              </a:rPr>
              <a:t>主程序、子程序和数据区</a:t>
            </a:r>
            <a:r>
              <a:rPr lang="zh-CN" altLang="en-US" sz="2200" b="1" dirty="0" smtClean="0">
                <a:solidFill>
                  <a:schemeClr val="bg1"/>
                </a:solidFill>
                <a:latin typeface="+mn-ea"/>
              </a:rPr>
              <a:t>等按</a:t>
            </a:r>
            <a:r>
              <a:rPr lang="zh-CN" altLang="en-US" sz="2200" b="1" dirty="0" smtClean="0">
                <a:solidFill>
                  <a:srgbClr val="FFFF00"/>
                </a:solidFill>
                <a:latin typeface="+mn-ea"/>
              </a:rPr>
              <a:t>线性的一维地址空间</a:t>
            </a:r>
            <a:r>
              <a:rPr lang="zh-CN" altLang="en-US" sz="2200" b="1" dirty="0" smtClean="0">
                <a:solidFill>
                  <a:schemeClr val="bg1"/>
                </a:solidFill>
                <a:latin typeface="+mn-ea"/>
              </a:rPr>
              <a:t>排列起来。</a:t>
            </a:r>
            <a:endParaRPr lang="en-US" altLang="zh-CN" sz="22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第一：这使得不同作业或进程之间</a:t>
            </a:r>
            <a:r>
              <a:rPr lang="zh-CN" altLang="en-US" sz="2200" b="1" dirty="0" smtClean="0">
                <a:solidFill>
                  <a:srgbClr val="FFFF00"/>
                </a:solidFill>
                <a:latin typeface="+mn-ea"/>
              </a:rPr>
              <a:t>共享公用子程序和数据变得非常困难</a:t>
            </a:r>
            <a:r>
              <a:rPr lang="zh-CN" altLang="en-US" sz="2200" b="1" dirty="0" smtClean="0">
                <a:solidFill>
                  <a:schemeClr val="bg1"/>
                </a:solidFill>
                <a:latin typeface="+mn-ea"/>
              </a:rPr>
              <a:t>（系统不能把用户和给定的</a:t>
            </a:r>
            <a:r>
              <a:rPr lang="zh-CN" altLang="en-US" sz="2200" b="1" dirty="0" smtClean="0">
                <a:solidFill>
                  <a:srgbClr val="FFFF00"/>
                </a:solidFill>
                <a:latin typeface="+mn-ea"/>
              </a:rPr>
              <a:t>程序名</a:t>
            </a:r>
            <a:r>
              <a:rPr lang="zh-CN" altLang="en-US" sz="2200" b="1" dirty="0" smtClean="0">
                <a:solidFill>
                  <a:schemeClr val="bg1"/>
                </a:solidFill>
                <a:latin typeface="+mn-ea"/>
              </a:rPr>
              <a:t>和</a:t>
            </a:r>
            <a:r>
              <a:rPr lang="zh-CN" altLang="en-US" sz="2200" b="1" dirty="0" smtClean="0">
                <a:solidFill>
                  <a:srgbClr val="FFFF00"/>
                </a:solidFill>
                <a:latin typeface="+mn-ea"/>
              </a:rPr>
              <a:t>数据名</a:t>
            </a:r>
            <a:r>
              <a:rPr lang="zh-CN" altLang="en-US" sz="2200" b="1" dirty="0" smtClean="0">
                <a:solidFill>
                  <a:schemeClr val="bg1"/>
                </a:solidFill>
                <a:latin typeface="+mn-ea"/>
              </a:rPr>
              <a:t>与这些被共享程序和数据在某个进程中的虚页对应起来）。</a:t>
            </a:r>
            <a:endParaRPr lang="zh-CN" altLang="en-US" sz="2200" b="1" dirty="0">
              <a:solidFill>
                <a:schemeClr val="bg1"/>
              </a:solidFill>
              <a:latin typeface="+mn-ea"/>
            </a:endParaRPr>
          </a:p>
        </p:txBody>
      </p:sp>
    </p:spTree>
    <p:extLst>
      <p:ext uri="{BB962C8B-B14F-4D97-AF65-F5344CB8AC3E}">
        <p14:creationId xmlns:p14="http://schemas.microsoft.com/office/powerpoint/2010/main" val="314906496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分区式管理和页式管理</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344876"/>
            <a:ext cx="6912768" cy="317317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第二：由于在页式管理时，</a:t>
            </a:r>
            <a:r>
              <a:rPr lang="zh-CN" altLang="en-US" sz="2200" b="1" dirty="0" smtClean="0">
                <a:solidFill>
                  <a:srgbClr val="FFFF00"/>
                </a:solidFill>
                <a:latin typeface="+mn-ea"/>
              </a:rPr>
              <a:t>一个页面中可能装有两个不同子程序段的指令代码</a:t>
            </a:r>
            <a:r>
              <a:rPr lang="zh-CN" altLang="en-US" sz="2200" b="1" dirty="0" smtClean="0">
                <a:solidFill>
                  <a:schemeClr val="bg1"/>
                </a:solidFill>
                <a:latin typeface="+mn-ea"/>
              </a:rPr>
              <a:t>，因此通过页面共享来达到共享一个逻辑上完整的子程序或数据块是不可能的。</a:t>
            </a:r>
            <a:endParaRPr lang="en-US" altLang="zh-CN" sz="22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第三：分区管理和页式管理只能</a:t>
            </a:r>
            <a:r>
              <a:rPr lang="zh-CN" altLang="en-US" sz="2200" b="1" dirty="0" smtClean="0">
                <a:solidFill>
                  <a:srgbClr val="FFFF00"/>
                </a:solidFill>
                <a:latin typeface="+mn-ea"/>
              </a:rPr>
              <a:t>采用静态链接</a:t>
            </a:r>
            <a:r>
              <a:rPr lang="zh-CN" altLang="en-US" sz="2200" b="1" dirty="0" smtClean="0">
                <a:solidFill>
                  <a:schemeClr val="bg1"/>
                </a:solidFill>
                <a:latin typeface="+mn-ea"/>
              </a:rPr>
              <a:t>。一个大的进程可能包含数百个甚至上千个程序模块，对它们链接要花费</a:t>
            </a:r>
            <a:r>
              <a:rPr lang="zh-CN" altLang="en-US" sz="2200" b="1" dirty="0" smtClean="0">
                <a:solidFill>
                  <a:srgbClr val="FFFF00"/>
                </a:solidFill>
                <a:latin typeface="+mn-ea"/>
              </a:rPr>
              <a:t>大量的</a:t>
            </a:r>
            <a:r>
              <a:rPr lang="en-US" altLang="zh-CN" sz="2200" b="1" dirty="0" smtClean="0">
                <a:solidFill>
                  <a:srgbClr val="FFFF00"/>
                </a:solidFill>
                <a:latin typeface="+mn-ea"/>
              </a:rPr>
              <a:t>CPU</a:t>
            </a:r>
            <a:r>
              <a:rPr lang="zh-CN" altLang="en-US" sz="2200" b="1" dirty="0" smtClean="0">
                <a:solidFill>
                  <a:srgbClr val="FFFF00"/>
                </a:solidFill>
                <a:latin typeface="+mn-ea"/>
              </a:rPr>
              <a:t>时间</a:t>
            </a:r>
            <a:r>
              <a:rPr lang="zh-CN" altLang="en-US" sz="2200" b="1" dirty="0" smtClean="0">
                <a:solidFill>
                  <a:schemeClr val="bg1"/>
                </a:solidFill>
                <a:latin typeface="+mn-ea"/>
              </a:rPr>
              <a:t>，而实际执行时可能只用到其中的一个子集</a:t>
            </a:r>
            <a:endParaRPr lang="zh-CN" altLang="en-US" sz="2200" b="1" dirty="0">
              <a:solidFill>
                <a:schemeClr val="bg1"/>
              </a:solidFill>
              <a:latin typeface="+mn-ea"/>
            </a:endParaRPr>
          </a:p>
        </p:txBody>
      </p:sp>
    </p:spTree>
    <p:extLst>
      <p:ext uri="{BB962C8B-B14F-4D97-AF65-F5344CB8AC3E}">
        <p14:creationId xmlns:p14="http://schemas.microsoft.com/office/powerpoint/2010/main" val="18831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344876"/>
            <a:ext cx="6912768" cy="2973122"/>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基本思想</a:t>
            </a:r>
            <a:r>
              <a:rPr lang="en-US" altLang="zh-CN" sz="2400" b="1" dirty="0" smtClean="0">
                <a:solidFill>
                  <a:schemeClr val="bg1"/>
                </a:solidFill>
                <a:latin typeface="+mn-ea"/>
              </a:rPr>
              <a:t>----</a:t>
            </a:r>
            <a:r>
              <a:rPr lang="zh-CN" altLang="en-US" sz="2400" b="1" dirty="0" smtClean="0">
                <a:solidFill>
                  <a:schemeClr val="bg1"/>
                </a:solidFill>
                <a:latin typeface="+mn-ea"/>
              </a:rPr>
              <a:t>把程序</a:t>
            </a:r>
            <a:r>
              <a:rPr lang="zh-CN" altLang="en-US" sz="2400" b="1" dirty="0" smtClean="0">
                <a:solidFill>
                  <a:srgbClr val="FFFF00"/>
                </a:solidFill>
                <a:latin typeface="+mn-ea"/>
              </a:rPr>
              <a:t>按内容或过程（函数）关系分成段</a:t>
            </a:r>
            <a:r>
              <a:rPr lang="zh-CN" altLang="en-US" sz="2400" b="1" dirty="0" smtClean="0">
                <a:solidFill>
                  <a:schemeClr val="bg1"/>
                </a:solidFill>
                <a:latin typeface="+mn-ea"/>
              </a:rPr>
              <a:t>，每段有自己的名字。一个用户进程或作业所包含的段对应一个</a:t>
            </a:r>
            <a:r>
              <a:rPr lang="zh-CN" altLang="en-US" sz="2400" b="1" dirty="0" smtClean="0">
                <a:solidFill>
                  <a:srgbClr val="FFFF00"/>
                </a:solidFill>
                <a:latin typeface="+mn-ea"/>
              </a:rPr>
              <a:t>二维地址虚拟空间</a:t>
            </a:r>
            <a:r>
              <a:rPr lang="zh-CN" altLang="en-US" sz="2400" b="1" dirty="0" smtClean="0">
                <a:solidFill>
                  <a:schemeClr val="bg1"/>
                </a:solidFill>
                <a:latin typeface="+mn-ea"/>
              </a:rPr>
              <a:t>，也就是一个二维虚拟存储区。以段为单位分配内存，然后通过地址映射机构把段式虚拟地址转换成实际的内存物理地址。</a:t>
            </a:r>
            <a:endParaRPr lang="zh-CN" altLang="en-US" sz="2400" b="1" dirty="0">
              <a:solidFill>
                <a:schemeClr val="bg1"/>
              </a:solidFill>
              <a:latin typeface="+mn-ea"/>
            </a:endParaRPr>
          </a:p>
        </p:txBody>
      </p:sp>
    </p:spTree>
    <p:extLst>
      <p:ext uri="{BB962C8B-B14F-4D97-AF65-F5344CB8AC3E}">
        <p14:creationId xmlns:p14="http://schemas.microsoft.com/office/powerpoint/2010/main" val="176436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段式虚存空间</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840760" cy="2733056"/>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段</a:t>
            </a:r>
            <a:r>
              <a:rPr lang="zh-CN" altLang="en-US" sz="2200" b="1" dirty="0">
                <a:solidFill>
                  <a:schemeClr val="bg1"/>
                </a:solidFill>
                <a:latin typeface="+mn-ea"/>
              </a:rPr>
              <a:t>式管理把一个进程的</a:t>
            </a:r>
            <a:r>
              <a:rPr lang="zh-CN" altLang="en-US" sz="2200" b="1" dirty="0">
                <a:solidFill>
                  <a:srgbClr val="FFFF00"/>
                </a:solidFill>
                <a:latin typeface="+mn-ea"/>
              </a:rPr>
              <a:t>虚地址空间</a:t>
            </a:r>
            <a:r>
              <a:rPr lang="zh-CN" altLang="en-US" sz="2200" b="1" dirty="0">
                <a:solidFill>
                  <a:schemeClr val="bg1"/>
                </a:solidFill>
                <a:latin typeface="+mn-ea"/>
              </a:rPr>
              <a:t>设计成</a:t>
            </a:r>
            <a:r>
              <a:rPr lang="zh-CN" altLang="en-US" sz="2200" b="1" dirty="0">
                <a:solidFill>
                  <a:srgbClr val="FFFF00"/>
                </a:solidFill>
                <a:latin typeface="+mn-ea"/>
              </a:rPr>
              <a:t>二维结</a:t>
            </a:r>
            <a:r>
              <a:rPr lang="zh-CN" altLang="en-US" sz="2200" b="1" dirty="0">
                <a:solidFill>
                  <a:schemeClr val="bg1"/>
                </a:solidFill>
                <a:latin typeface="+mn-ea"/>
              </a:rPr>
              <a:t>构，即</a:t>
            </a:r>
            <a:r>
              <a:rPr lang="zh-CN" altLang="en-US" sz="2200" b="1" dirty="0">
                <a:solidFill>
                  <a:srgbClr val="FFFF00"/>
                </a:solidFill>
                <a:latin typeface="+mn-ea"/>
              </a:rPr>
              <a:t>段号</a:t>
            </a:r>
            <a:r>
              <a:rPr lang="en-US" altLang="zh-CN" sz="2200" b="1" dirty="0">
                <a:solidFill>
                  <a:srgbClr val="FFFF00"/>
                </a:solidFill>
                <a:latin typeface="+mn-ea"/>
              </a:rPr>
              <a:t>s</a:t>
            </a:r>
            <a:r>
              <a:rPr lang="zh-CN" altLang="en-US" sz="2200" b="1" dirty="0">
                <a:solidFill>
                  <a:schemeClr val="bg1"/>
                </a:solidFill>
                <a:latin typeface="+mn-ea"/>
              </a:rPr>
              <a:t>与</a:t>
            </a:r>
            <a:r>
              <a:rPr lang="zh-CN" altLang="en-US" sz="2200" b="1" dirty="0">
                <a:solidFill>
                  <a:srgbClr val="FFFF00"/>
                </a:solidFill>
                <a:latin typeface="+mn-ea"/>
              </a:rPr>
              <a:t>段内相对地址</a:t>
            </a:r>
            <a:r>
              <a:rPr lang="en-US" altLang="zh-CN" sz="2200" b="1" dirty="0" smtClean="0">
                <a:solidFill>
                  <a:srgbClr val="FFFF00"/>
                </a:solidFill>
                <a:latin typeface="+mn-ea"/>
              </a:rPr>
              <a:t>w</a:t>
            </a:r>
            <a:r>
              <a:rPr lang="zh-CN" altLang="en-US" sz="2200" b="1" dirty="0" smtClean="0">
                <a:solidFill>
                  <a:schemeClr val="bg1"/>
                </a:solidFill>
                <a:latin typeface="+mn-ea"/>
              </a:rPr>
              <a:t>。段</a:t>
            </a:r>
            <a:r>
              <a:rPr lang="zh-CN" altLang="en-US" sz="2200" b="1" dirty="0">
                <a:solidFill>
                  <a:schemeClr val="bg1"/>
                </a:solidFill>
                <a:latin typeface="+mn-ea"/>
              </a:rPr>
              <a:t>号与段号之间</a:t>
            </a:r>
            <a:r>
              <a:rPr lang="zh-CN" altLang="en-US" sz="2200" b="1" dirty="0">
                <a:solidFill>
                  <a:srgbClr val="FFFF00"/>
                </a:solidFill>
                <a:latin typeface="+mn-ea"/>
              </a:rPr>
              <a:t>无顺序</a:t>
            </a:r>
            <a:r>
              <a:rPr lang="zh-CN" altLang="en-US" sz="2200" b="1" dirty="0" smtClean="0">
                <a:solidFill>
                  <a:srgbClr val="FFFF00"/>
                </a:solidFill>
                <a:latin typeface="+mn-ea"/>
              </a:rPr>
              <a:t>关系</a:t>
            </a:r>
            <a:r>
              <a:rPr lang="zh-CN" altLang="en-US" sz="2200" b="1" dirty="0" smtClean="0">
                <a:solidFill>
                  <a:schemeClr val="bg1"/>
                </a:solidFill>
                <a:latin typeface="+mn-ea"/>
              </a:rPr>
              <a:t>，</a:t>
            </a:r>
            <a:r>
              <a:rPr lang="zh-CN" altLang="en-US" sz="2200" b="1" dirty="0" smtClean="0">
                <a:solidFill>
                  <a:srgbClr val="FFFF00"/>
                </a:solidFill>
                <a:latin typeface="+mn-ea"/>
              </a:rPr>
              <a:t>段的长度</a:t>
            </a:r>
            <a:r>
              <a:rPr lang="zh-CN" altLang="en-US" sz="2200" b="1" dirty="0">
                <a:solidFill>
                  <a:schemeClr val="bg1"/>
                </a:solidFill>
                <a:latin typeface="+mn-ea"/>
              </a:rPr>
              <a:t>是</a:t>
            </a:r>
            <a:r>
              <a:rPr lang="zh-CN" altLang="en-US" sz="2200" b="1" dirty="0">
                <a:solidFill>
                  <a:srgbClr val="FFFF00"/>
                </a:solidFill>
                <a:latin typeface="+mn-ea"/>
              </a:rPr>
              <a:t>不固</a:t>
            </a:r>
            <a:r>
              <a:rPr lang="zh-CN" altLang="en-US" sz="2200" b="1" dirty="0">
                <a:solidFill>
                  <a:schemeClr val="bg1"/>
                </a:solidFill>
                <a:latin typeface="+mn-ea"/>
              </a:rPr>
              <a:t>定的</a:t>
            </a:r>
            <a:r>
              <a:rPr lang="zh-CN" altLang="en-US" sz="2200" b="1" dirty="0" smtClean="0">
                <a:solidFill>
                  <a:schemeClr val="bg1"/>
                </a:solidFill>
                <a:latin typeface="+mn-ea"/>
              </a:rPr>
              <a:t>。</a:t>
            </a:r>
            <a:endParaRPr lang="en-US" altLang="zh-CN" sz="22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rgbClr val="FFFF00"/>
                </a:solidFill>
                <a:latin typeface="+mn-ea"/>
              </a:rPr>
              <a:t>每个</a:t>
            </a:r>
            <a:r>
              <a:rPr lang="zh-CN" altLang="en-US" sz="2200" b="1" dirty="0">
                <a:solidFill>
                  <a:srgbClr val="FFFF00"/>
                </a:solidFill>
                <a:latin typeface="+mn-ea"/>
              </a:rPr>
              <a:t>段</a:t>
            </a:r>
            <a:r>
              <a:rPr lang="zh-CN" altLang="en-US" sz="2200" b="1" dirty="0">
                <a:solidFill>
                  <a:schemeClr val="bg1"/>
                </a:solidFill>
                <a:latin typeface="+mn-ea"/>
              </a:rPr>
              <a:t>定义一组</a:t>
            </a:r>
            <a:r>
              <a:rPr lang="zh-CN" altLang="en-US" sz="2200" b="1" dirty="0">
                <a:solidFill>
                  <a:srgbClr val="FFFF00"/>
                </a:solidFill>
                <a:latin typeface="+mn-ea"/>
              </a:rPr>
              <a:t>逻辑上完整的程序或数据</a:t>
            </a:r>
            <a:r>
              <a:rPr lang="zh-CN" altLang="en-US" sz="2200" b="1" dirty="0">
                <a:solidFill>
                  <a:schemeClr val="bg1"/>
                </a:solidFill>
                <a:latin typeface="+mn-ea"/>
              </a:rPr>
              <a:t>。例如，一个进程中的程序和数据可被划分为主程序段、子程序段、数据段与工作区段。</a:t>
            </a:r>
          </a:p>
        </p:txBody>
      </p:sp>
    </p:spTree>
    <p:extLst>
      <p:ext uri="{BB962C8B-B14F-4D97-AF65-F5344CB8AC3E}">
        <p14:creationId xmlns:p14="http://schemas.microsoft.com/office/powerpoint/2010/main" val="306568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段式虚存空间</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87199"/>
            <a:ext cx="6840760"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每个段</a:t>
            </a:r>
            <a:r>
              <a:rPr lang="zh-CN" altLang="en-US" sz="2400" b="1" dirty="0">
                <a:solidFill>
                  <a:schemeClr val="bg1"/>
                </a:solidFill>
                <a:latin typeface="+mn-ea"/>
              </a:rPr>
              <a:t>是一个</a:t>
            </a:r>
            <a:r>
              <a:rPr lang="zh-CN" altLang="en-US" sz="2400" b="1" dirty="0">
                <a:solidFill>
                  <a:srgbClr val="FFFF00"/>
                </a:solidFill>
                <a:latin typeface="+mn-ea"/>
              </a:rPr>
              <a:t>首地址为零</a:t>
            </a:r>
            <a:r>
              <a:rPr lang="zh-CN" altLang="en-US" sz="2400" b="1" dirty="0">
                <a:solidFill>
                  <a:schemeClr val="bg1"/>
                </a:solidFill>
                <a:latin typeface="+mn-ea"/>
              </a:rPr>
              <a:t>的、</a:t>
            </a:r>
            <a:r>
              <a:rPr lang="zh-CN" altLang="en-US" sz="2400" b="1" dirty="0">
                <a:solidFill>
                  <a:srgbClr val="FFFF00"/>
                </a:solidFill>
                <a:latin typeface="+mn-ea"/>
              </a:rPr>
              <a:t>连续的一维线性空间</a:t>
            </a:r>
            <a:r>
              <a:rPr lang="zh-CN" altLang="en-US" sz="2400" b="1" dirty="0">
                <a:solidFill>
                  <a:schemeClr val="bg1"/>
                </a:solidFill>
                <a:latin typeface="+mn-ea"/>
              </a:rPr>
              <a:t>。根据需要，</a:t>
            </a:r>
            <a:r>
              <a:rPr lang="zh-CN" altLang="en-US" sz="2400" b="1" dirty="0">
                <a:solidFill>
                  <a:srgbClr val="FFFF00"/>
                </a:solidFill>
                <a:latin typeface="+mn-ea"/>
              </a:rPr>
              <a:t>段长可动态增长</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对</a:t>
            </a:r>
            <a:r>
              <a:rPr lang="zh-CN" altLang="en-US" sz="2400" b="1" dirty="0">
                <a:solidFill>
                  <a:schemeClr val="bg1"/>
                </a:solidFill>
                <a:latin typeface="+mn-ea"/>
              </a:rPr>
              <a:t>段式虚地址空间的访问包括两个部分：</a:t>
            </a:r>
            <a:r>
              <a:rPr lang="zh-CN" altLang="en-US" sz="2400" b="1" dirty="0">
                <a:solidFill>
                  <a:srgbClr val="FFFF00"/>
                </a:solidFill>
                <a:latin typeface="+mn-ea"/>
              </a:rPr>
              <a:t>段名</a:t>
            </a:r>
            <a:r>
              <a:rPr lang="zh-CN" altLang="en-US" sz="2400" b="1" dirty="0">
                <a:solidFill>
                  <a:schemeClr val="bg1"/>
                </a:solidFill>
                <a:latin typeface="+mn-ea"/>
              </a:rPr>
              <a:t>和</a:t>
            </a:r>
            <a:r>
              <a:rPr lang="zh-CN" altLang="en-US" sz="2400" b="1" dirty="0">
                <a:solidFill>
                  <a:srgbClr val="FFFF00"/>
                </a:solidFill>
                <a:latin typeface="+mn-ea"/>
              </a:rPr>
              <a:t>段内地址</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smtClean="0">
                <a:solidFill>
                  <a:schemeClr val="bg1"/>
                </a:solidFill>
                <a:latin typeface="+mn-ea"/>
              </a:rPr>
              <a:t>CALL [X]|&lt;Y&gt;            LOAD 1, [A]|6    </a:t>
            </a:r>
          </a:p>
          <a:p>
            <a:pPr marL="0" lvl="1" algn="just">
              <a:lnSpc>
                <a:spcPct val="150000"/>
              </a:lnSpc>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STORE 1,[B]|&lt;C&gt;</a:t>
            </a:r>
            <a:endParaRPr lang="zh-CN" altLang="en-US" sz="2400" b="1" dirty="0">
              <a:solidFill>
                <a:schemeClr val="bg1"/>
              </a:solidFill>
              <a:latin typeface="+mn-ea"/>
            </a:endParaRPr>
          </a:p>
        </p:txBody>
      </p:sp>
    </p:spTree>
    <p:extLst>
      <p:ext uri="{BB962C8B-B14F-4D97-AF65-F5344CB8AC3E}">
        <p14:creationId xmlns:p14="http://schemas.microsoft.com/office/powerpoint/2010/main" val="71425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段式管理的内存分配与释放</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6840760"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段式管理中以段为单位分配内存，</a:t>
            </a:r>
            <a:r>
              <a:rPr lang="zh-CN" altLang="en-US" sz="2400" b="1" dirty="0">
                <a:solidFill>
                  <a:srgbClr val="FFFF00"/>
                </a:solidFill>
                <a:latin typeface="+mn-ea"/>
              </a:rPr>
              <a:t>每段分配一个连续的内存区</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由于</a:t>
            </a:r>
            <a:r>
              <a:rPr lang="zh-CN" altLang="en-US" sz="2400" b="1" dirty="0">
                <a:solidFill>
                  <a:schemeClr val="bg1"/>
                </a:solidFill>
                <a:latin typeface="+mn-ea"/>
              </a:rPr>
              <a:t>各段长度不等，所以这些存储区的大小不一</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而且</a:t>
            </a:r>
            <a:r>
              <a:rPr lang="zh-CN" altLang="en-US" sz="2400" b="1" dirty="0">
                <a:solidFill>
                  <a:schemeClr val="bg1"/>
                </a:solidFill>
                <a:latin typeface="+mn-ea"/>
              </a:rPr>
              <a:t>，同一进程所包含的各段之间不要求连续。</a:t>
            </a:r>
          </a:p>
        </p:txBody>
      </p:sp>
    </p:spTree>
    <p:extLst>
      <p:ext uri="{BB962C8B-B14F-4D97-AF65-F5344CB8AC3E}">
        <p14:creationId xmlns:p14="http://schemas.microsoft.com/office/powerpoint/2010/main" val="179955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段式管理的内存分配与释放</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344876"/>
            <a:ext cx="6840760" cy="332398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段式管理的</a:t>
            </a:r>
            <a:r>
              <a:rPr lang="zh-CN" altLang="en-US" sz="2000" b="1" dirty="0">
                <a:solidFill>
                  <a:srgbClr val="FFFF00"/>
                </a:solidFill>
                <a:latin typeface="+mn-ea"/>
              </a:rPr>
              <a:t>内存分配与释放</a:t>
            </a:r>
            <a:r>
              <a:rPr lang="zh-CN" altLang="en-US" sz="2000" b="1" dirty="0">
                <a:solidFill>
                  <a:schemeClr val="bg1"/>
                </a:solidFill>
                <a:latin typeface="+mn-ea"/>
              </a:rPr>
              <a:t>在作业或进程的执行过程中</a:t>
            </a:r>
            <a:r>
              <a:rPr lang="zh-CN" altLang="en-US" sz="2000" b="1" dirty="0">
                <a:solidFill>
                  <a:srgbClr val="FFFF00"/>
                </a:solidFill>
                <a:latin typeface="+mn-ea"/>
              </a:rPr>
              <a:t>动态进行</a:t>
            </a:r>
            <a:r>
              <a:rPr lang="zh-CN" altLang="en-US" sz="2000" b="1" dirty="0">
                <a:solidFill>
                  <a:schemeClr val="bg1"/>
                </a:solidFill>
                <a:latin typeface="+mn-ea"/>
              </a:rPr>
              <a:t>。</a:t>
            </a:r>
            <a:endParaRPr lang="en-US" altLang="zh-CN" sz="2000" b="1" dirty="0">
              <a:solidFill>
                <a:schemeClr val="bg1"/>
              </a:solidFill>
              <a:latin typeface="+mn-ea"/>
            </a:endParaRPr>
          </a:p>
          <a:p>
            <a:pPr marL="177800" lvl="1" algn="just">
              <a:lnSpc>
                <a:spcPct val="150000"/>
              </a:lnSpc>
              <a:buClr>
                <a:schemeClr val="accent3">
                  <a:lumMod val="60000"/>
                  <a:lumOff val="40000"/>
                </a:schemeClr>
              </a:buClr>
              <a:buFont typeface="Wingdings" panose="05000000000000000000" pitchFamily="2" charset="2"/>
              <a:buChar char="l"/>
            </a:pPr>
            <a:r>
              <a:rPr lang="zh-CN" altLang="en-US" sz="2000" b="1" dirty="0">
                <a:solidFill>
                  <a:schemeClr val="bg1"/>
                </a:solidFill>
                <a:latin typeface="+mn-ea"/>
              </a:rPr>
              <a:t>首先，段式管理程序为一个进入内存准备执行的进程或作业分配</a:t>
            </a:r>
            <a:r>
              <a:rPr lang="zh-CN" altLang="en-US" sz="2000" b="1" dirty="0">
                <a:solidFill>
                  <a:srgbClr val="FFFF00"/>
                </a:solidFill>
                <a:latin typeface="+mn-ea"/>
              </a:rPr>
              <a:t>部分内存</a:t>
            </a:r>
            <a:r>
              <a:rPr lang="zh-CN" altLang="en-US" sz="2000" b="1" dirty="0">
                <a:solidFill>
                  <a:schemeClr val="bg1"/>
                </a:solidFill>
                <a:latin typeface="+mn-ea"/>
              </a:rPr>
              <a:t>，以作为该进程的工作区和放置即将执行的程序段。</a:t>
            </a:r>
            <a:endParaRPr lang="en-US" altLang="zh-CN" sz="2000" b="1" dirty="0">
              <a:solidFill>
                <a:schemeClr val="bg1"/>
              </a:solidFill>
              <a:latin typeface="+mn-ea"/>
            </a:endParaRPr>
          </a:p>
          <a:p>
            <a:pPr marL="177800" lvl="1" algn="just">
              <a:lnSpc>
                <a:spcPct val="150000"/>
              </a:lnSpc>
              <a:buClr>
                <a:schemeClr val="accent3">
                  <a:lumMod val="60000"/>
                  <a:lumOff val="40000"/>
                </a:schemeClr>
              </a:buClr>
              <a:buFont typeface="Wingdings" panose="05000000000000000000" pitchFamily="2" charset="2"/>
              <a:buChar char="l"/>
            </a:pPr>
            <a:r>
              <a:rPr lang="zh-CN" altLang="en-US" sz="2000" b="1" dirty="0">
                <a:solidFill>
                  <a:schemeClr val="bg1"/>
                </a:solidFill>
                <a:latin typeface="+mn-ea"/>
              </a:rPr>
              <a:t>随着进程的执行，进程根据需要随时</a:t>
            </a:r>
            <a:r>
              <a:rPr lang="zh-CN" altLang="en-US" sz="2000" b="1" dirty="0">
                <a:solidFill>
                  <a:srgbClr val="FFFF00"/>
                </a:solidFill>
                <a:latin typeface="+mn-ea"/>
              </a:rPr>
              <a:t>申请调入新段</a:t>
            </a:r>
            <a:r>
              <a:rPr lang="zh-CN" altLang="en-US" sz="2000" b="1" dirty="0">
                <a:solidFill>
                  <a:schemeClr val="bg1"/>
                </a:solidFill>
                <a:latin typeface="+mn-ea"/>
              </a:rPr>
              <a:t>和</a:t>
            </a:r>
            <a:r>
              <a:rPr lang="zh-CN" altLang="en-US" sz="2000" b="1" dirty="0">
                <a:solidFill>
                  <a:srgbClr val="FFFF00"/>
                </a:solidFill>
                <a:latin typeface="+mn-ea"/>
              </a:rPr>
              <a:t>释放老段</a:t>
            </a:r>
            <a:r>
              <a:rPr lang="zh-CN" altLang="en-US" sz="2000" b="1" dirty="0">
                <a:solidFill>
                  <a:schemeClr val="bg1"/>
                </a:solidFill>
                <a:latin typeface="+mn-ea"/>
              </a:rPr>
              <a:t>。进程对内存区的申请和释放可分为两种情况。</a:t>
            </a:r>
            <a:endParaRPr lang="en-US" altLang="zh-CN" sz="2000" b="1" dirty="0">
              <a:solidFill>
                <a:schemeClr val="bg1"/>
              </a:solidFill>
              <a:latin typeface="+mn-ea"/>
            </a:endParaRPr>
          </a:p>
        </p:txBody>
      </p:sp>
    </p:spTree>
    <p:extLst>
      <p:ext uri="{BB962C8B-B14F-4D97-AF65-F5344CB8AC3E}">
        <p14:creationId xmlns:p14="http://schemas.microsoft.com/office/powerpoint/2010/main" val="216302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615905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段式管理的内存分配与释放</a:t>
            </a:r>
          </a:p>
        </p:txBody>
      </p:sp>
      <p:grpSp>
        <p:nvGrpSpPr>
          <p:cNvPr id="29" name="组合 28"/>
          <p:cNvGrpSpPr/>
          <p:nvPr/>
        </p:nvGrpSpPr>
        <p:grpSpPr>
          <a:xfrm>
            <a:off x="935422" y="1131387"/>
            <a:ext cx="6496867" cy="1482368"/>
            <a:chOff x="955453" y="1038199"/>
            <a:chExt cx="7937027" cy="1810964"/>
          </a:xfrm>
        </p:grpSpPr>
        <p:sp>
          <p:nvSpPr>
            <p:cNvPr id="30" name="任意多边形 29"/>
            <p:cNvSpPr/>
            <p:nvPr/>
          </p:nvSpPr>
          <p:spPr>
            <a:xfrm>
              <a:off x="1331639" y="1038199"/>
              <a:ext cx="7560841" cy="1810964"/>
            </a:xfrm>
            <a:custGeom>
              <a:avLst/>
              <a:gdLst>
                <a:gd name="connsiteX0" fmla="*/ 0 w 3399857"/>
                <a:gd name="connsiteY0" fmla="*/ 0 h 1242718"/>
                <a:gd name="connsiteX1" fmla="*/ 2778498 w 3399857"/>
                <a:gd name="connsiteY1" fmla="*/ 0 h 1242718"/>
                <a:gd name="connsiteX2" fmla="*/ 3399857 w 3399857"/>
                <a:gd name="connsiteY2" fmla="*/ 621359 h 1242718"/>
                <a:gd name="connsiteX3" fmla="*/ 2778498 w 3399857"/>
                <a:gd name="connsiteY3" fmla="*/ 1242718 h 1242718"/>
                <a:gd name="connsiteX4" fmla="*/ 0 w 3399857"/>
                <a:gd name="connsiteY4" fmla="*/ 1242718 h 1242718"/>
                <a:gd name="connsiteX5" fmla="*/ 0 w 3399857"/>
                <a:gd name="connsiteY5" fmla="*/ 0 h 124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9857" h="1242718">
                  <a:moveTo>
                    <a:pt x="3399857" y="1242717"/>
                  </a:moveTo>
                  <a:lnTo>
                    <a:pt x="621359" y="1242717"/>
                  </a:lnTo>
                  <a:lnTo>
                    <a:pt x="0" y="621359"/>
                  </a:lnTo>
                  <a:lnTo>
                    <a:pt x="621359" y="1"/>
                  </a:lnTo>
                  <a:lnTo>
                    <a:pt x="3399857" y="1"/>
                  </a:lnTo>
                  <a:lnTo>
                    <a:pt x="3399857" y="124271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858683" tIns="68580" rIns="128016" bIns="68581" numCol="1" spcCol="1270" anchor="ctr" anchorCtr="0">
              <a:no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当进程要求调入某一段时，内存中有足够的空闲区满足该段的内存要求。</a:t>
              </a:r>
              <a:endParaRPr lang="en-US" altLang="zh-CN" sz="2400" b="1" dirty="0">
                <a:solidFill>
                  <a:schemeClr val="bg1"/>
                </a:solidFill>
                <a:latin typeface="+mn-ea"/>
              </a:endParaRPr>
            </a:p>
          </p:txBody>
        </p:sp>
        <p:sp>
          <p:nvSpPr>
            <p:cNvPr id="31" name="椭圆 30">
              <a:hlinkClick r:id="rId3" action="ppaction://hlinksldjump"/>
            </p:cNvPr>
            <p:cNvSpPr/>
            <p:nvPr/>
          </p:nvSpPr>
          <p:spPr>
            <a:xfrm>
              <a:off x="955453" y="1324992"/>
              <a:ext cx="1224136" cy="1224136"/>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0"/>
                <a:satOff val="0"/>
                <a:lumOff val="0"/>
                <a:alphaOff val="0"/>
              </a:schemeClr>
            </a:fillRef>
            <a:effectRef idx="2">
              <a:schemeClr val="accent2">
                <a:tint val="50000"/>
                <a:hueOff val="0"/>
                <a:satOff val="0"/>
                <a:lumOff val="0"/>
                <a:alphaOff val="0"/>
              </a:schemeClr>
            </a:effectRef>
            <a:fontRef idx="minor">
              <a:schemeClr val="lt1">
                <a:hueOff val="0"/>
                <a:satOff val="0"/>
                <a:lumOff val="0"/>
                <a:alphaOff val="0"/>
              </a:schemeClr>
            </a:fontRef>
          </p:style>
        </p:sp>
        <p:sp>
          <p:nvSpPr>
            <p:cNvPr id="32" name="文本框 31"/>
            <p:cNvSpPr txBox="1"/>
            <p:nvPr/>
          </p:nvSpPr>
          <p:spPr>
            <a:xfrm>
              <a:off x="1231278" y="1401947"/>
              <a:ext cx="648073" cy="769441"/>
            </a:xfrm>
            <a:prstGeom prst="rect">
              <a:avLst/>
            </a:prstGeom>
            <a:noFill/>
          </p:spPr>
          <p:txBody>
            <a:bodyPr wrap="square" rtlCol="0">
              <a:spAutoFit/>
            </a:bodyPr>
            <a:lstStyle/>
            <a:p>
              <a:r>
                <a:rPr lang="en-US" altLang="zh-CN" sz="44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44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935422" y="2857787"/>
            <a:ext cx="6496867" cy="1586171"/>
            <a:chOff x="1012520" y="2733599"/>
            <a:chExt cx="8235115" cy="2010554"/>
          </a:xfrm>
        </p:grpSpPr>
        <p:sp>
          <p:nvSpPr>
            <p:cNvPr id="34" name="任意多边形 33"/>
            <p:cNvSpPr/>
            <p:nvPr/>
          </p:nvSpPr>
          <p:spPr>
            <a:xfrm>
              <a:off x="1362660" y="2733599"/>
              <a:ext cx="7884975" cy="2010554"/>
            </a:xfrm>
            <a:custGeom>
              <a:avLst/>
              <a:gdLst>
                <a:gd name="connsiteX0" fmla="*/ 0 w 3399857"/>
                <a:gd name="connsiteY0" fmla="*/ 0 h 1242718"/>
                <a:gd name="connsiteX1" fmla="*/ 2778498 w 3399857"/>
                <a:gd name="connsiteY1" fmla="*/ 0 h 1242718"/>
                <a:gd name="connsiteX2" fmla="*/ 3399857 w 3399857"/>
                <a:gd name="connsiteY2" fmla="*/ 621359 h 1242718"/>
                <a:gd name="connsiteX3" fmla="*/ 2778498 w 3399857"/>
                <a:gd name="connsiteY3" fmla="*/ 1242718 h 1242718"/>
                <a:gd name="connsiteX4" fmla="*/ 0 w 3399857"/>
                <a:gd name="connsiteY4" fmla="*/ 1242718 h 1242718"/>
                <a:gd name="connsiteX5" fmla="*/ 0 w 3399857"/>
                <a:gd name="connsiteY5" fmla="*/ 0 h 124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9857" h="1242718">
                  <a:moveTo>
                    <a:pt x="3399857" y="1242717"/>
                  </a:moveTo>
                  <a:lnTo>
                    <a:pt x="621359" y="1242717"/>
                  </a:lnTo>
                  <a:lnTo>
                    <a:pt x="0" y="621359"/>
                  </a:lnTo>
                  <a:lnTo>
                    <a:pt x="621359" y="1"/>
                  </a:lnTo>
                  <a:lnTo>
                    <a:pt x="3399857" y="1"/>
                  </a:lnTo>
                  <a:lnTo>
                    <a:pt x="3399857" y="124271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4681519"/>
                <a:satOff val="-5837"/>
                <a:lumOff val="1373"/>
                <a:alphaOff val="0"/>
              </a:schemeClr>
            </a:fillRef>
            <a:effectRef idx="2">
              <a:schemeClr val="accent2">
                <a:hueOff val="4681519"/>
                <a:satOff val="-5837"/>
                <a:lumOff val="1373"/>
                <a:alphaOff val="0"/>
              </a:schemeClr>
            </a:effectRef>
            <a:fontRef idx="minor">
              <a:schemeClr val="lt1"/>
            </a:fontRef>
          </p:style>
          <p:txBody>
            <a:bodyPr spcFirstLastPara="0" vert="horz" wrap="square" lIns="858683" tIns="68581" rIns="128016" bIns="68580" numCol="1" spcCol="1270" anchor="ctr" anchorCtr="0">
              <a:no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当进程要求调入某一段时，内存中没有足够的空闲区满足该段的内存要求</a:t>
              </a:r>
            </a:p>
          </p:txBody>
        </p:sp>
        <p:sp>
          <p:nvSpPr>
            <p:cNvPr id="35" name="椭圆 34">
              <a:hlinkClick r:id="rId4" action="ppaction://hlinksldjump"/>
            </p:cNvPr>
            <p:cNvSpPr/>
            <p:nvPr/>
          </p:nvSpPr>
          <p:spPr>
            <a:xfrm>
              <a:off x="1012520" y="3028487"/>
              <a:ext cx="1262514" cy="1262514"/>
            </a:xfrm>
            <a:prstGeom prst="ellipse">
              <a:avLst/>
            </a:prstGeom>
            <a:scene3d>
              <a:camera prst="orthographicFront"/>
              <a:lightRig rig="flat" dir="t"/>
            </a:scene3d>
            <a:sp3d z="127000" prstMaterial="plastic">
              <a:bevelT w="88900" h="88900"/>
              <a:bevelB w="88900" h="31750" prst="angle"/>
            </a:sp3d>
          </p:spPr>
          <p:style>
            <a:lnRef idx="0">
              <a:schemeClr val="lt1">
                <a:hueOff val="0"/>
                <a:satOff val="0"/>
                <a:lumOff val="0"/>
                <a:alphaOff val="0"/>
              </a:schemeClr>
            </a:lnRef>
            <a:fillRef idx="3">
              <a:schemeClr val="accent2">
                <a:tint val="50000"/>
                <a:hueOff val="5002875"/>
                <a:satOff val="-4471"/>
                <a:lumOff val="13"/>
                <a:alphaOff val="0"/>
              </a:schemeClr>
            </a:fillRef>
            <a:effectRef idx="2">
              <a:schemeClr val="accent2">
                <a:tint val="50000"/>
                <a:hueOff val="5002875"/>
                <a:satOff val="-4471"/>
                <a:lumOff val="13"/>
                <a:alphaOff val="0"/>
              </a:schemeClr>
            </a:effectRef>
            <a:fontRef idx="minor">
              <a:schemeClr val="lt1">
                <a:hueOff val="0"/>
                <a:satOff val="0"/>
                <a:lumOff val="0"/>
                <a:alphaOff val="0"/>
              </a:schemeClr>
            </a:fontRef>
          </p:style>
        </p:sp>
        <p:sp>
          <p:nvSpPr>
            <p:cNvPr id="36" name="文本框 35"/>
            <p:cNvSpPr txBox="1"/>
            <p:nvPr/>
          </p:nvSpPr>
          <p:spPr>
            <a:xfrm>
              <a:off x="1332199" y="3113280"/>
              <a:ext cx="648073" cy="769441"/>
            </a:xfrm>
            <a:prstGeom prst="rect">
              <a:avLst/>
            </a:prstGeom>
            <a:noFill/>
          </p:spPr>
          <p:txBody>
            <a:bodyPr wrap="square" rtlCol="0">
              <a:spAutoFit/>
            </a:bodyPr>
            <a:lstStyle/>
            <a:p>
              <a:r>
                <a:rPr lang="en-US" altLang="zh-CN" sz="44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44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117210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内存中有足够的空闲区</a:t>
            </a:r>
          </a:p>
        </p:txBody>
      </p:sp>
      <p:sp>
        <p:nvSpPr>
          <p:cNvPr id="2" name="矩形 1"/>
          <p:cNvSpPr/>
          <p:nvPr/>
        </p:nvSpPr>
        <p:spPr>
          <a:xfrm>
            <a:off x="827584" y="1344876"/>
            <a:ext cx="6840760"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可采用</a:t>
            </a:r>
            <a:r>
              <a:rPr lang="zh-CN" altLang="en-US" sz="2400" b="1" dirty="0" smtClean="0">
                <a:solidFill>
                  <a:schemeClr val="bg1"/>
                </a:solidFill>
                <a:latin typeface="+mn-ea"/>
              </a:rPr>
              <a:t>和动态分区式管理相同的空闲区管理方法。即把内存各空闲区按</a:t>
            </a:r>
            <a:r>
              <a:rPr lang="zh-CN" altLang="en-US" sz="2400" b="1" dirty="0" smtClean="0">
                <a:solidFill>
                  <a:srgbClr val="FFFF00"/>
                </a:solidFill>
                <a:latin typeface="+mn-ea"/>
              </a:rPr>
              <a:t>物理地址</a:t>
            </a:r>
            <a:r>
              <a:rPr lang="zh-CN" altLang="en-US" sz="2400" b="1" dirty="0" smtClean="0">
                <a:solidFill>
                  <a:schemeClr val="bg1"/>
                </a:solidFill>
                <a:latin typeface="+mn-ea"/>
              </a:rPr>
              <a:t>从低到高排列或按</a:t>
            </a:r>
            <a:r>
              <a:rPr lang="zh-CN" altLang="en-US" sz="2400" b="1" dirty="0" smtClean="0">
                <a:solidFill>
                  <a:srgbClr val="FFFF00"/>
                </a:solidFill>
                <a:latin typeface="+mn-ea"/>
              </a:rPr>
              <a:t>空闲区大小</a:t>
            </a:r>
            <a:r>
              <a:rPr lang="zh-CN" altLang="en-US" sz="2400" b="1" dirty="0" smtClean="0">
                <a:solidFill>
                  <a:schemeClr val="bg1"/>
                </a:solidFill>
                <a:latin typeface="+mn-ea"/>
              </a:rPr>
              <a:t>从小到大或从大到小</a:t>
            </a:r>
            <a:r>
              <a:rPr lang="zh-CN" altLang="en-US" sz="2400" b="1" dirty="0" smtClean="0">
                <a:solidFill>
                  <a:srgbClr val="FFFF00"/>
                </a:solidFill>
                <a:latin typeface="+mn-ea"/>
              </a:rPr>
              <a:t>排列</a:t>
            </a:r>
            <a:r>
              <a:rPr lang="zh-CN" altLang="en-US" sz="2400" b="1" dirty="0" smtClean="0">
                <a:solidFill>
                  <a:schemeClr val="bg1"/>
                </a:solidFill>
                <a:latin typeface="+mn-ea"/>
              </a:rPr>
              <a:t>。相对应的可采用</a:t>
            </a:r>
            <a:r>
              <a:rPr lang="zh-CN" altLang="en-US" sz="2400" b="1" dirty="0" smtClean="0">
                <a:solidFill>
                  <a:srgbClr val="FFFF00"/>
                </a:solidFill>
                <a:latin typeface="+mn-ea"/>
              </a:rPr>
              <a:t>最先适应法</a:t>
            </a:r>
            <a:r>
              <a:rPr lang="zh-CN" altLang="en-US" sz="2400" b="1" dirty="0" smtClean="0">
                <a:solidFill>
                  <a:schemeClr val="bg1"/>
                </a:solidFill>
                <a:latin typeface="+mn-ea"/>
              </a:rPr>
              <a:t>、</a:t>
            </a:r>
            <a:r>
              <a:rPr lang="zh-CN" altLang="en-US" sz="2400" b="1" dirty="0" smtClean="0">
                <a:solidFill>
                  <a:srgbClr val="FFFF00"/>
                </a:solidFill>
                <a:latin typeface="+mn-ea"/>
              </a:rPr>
              <a:t>最佳适应法</a:t>
            </a:r>
            <a:r>
              <a:rPr lang="zh-CN" altLang="en-US" sz="2400" b="1" dirty="0" smtClean="0">
                <a:solidFill>
                  <a:schemeClr val="bg1"/>
                </a:solidFill>
                <a:latin typeface="+mn-ea"/>
              </a:rPr>
              <a:t>和</a:t>
            </a:r>
            <a:r>
              <a:rPr lang="zh-CN" altLang="en-US" sz="2400" b="1" dirty="0" smtClean="0">
                <a:solidFill>
                  <a:srgbClr val="FFFF00"/>
                </a:solidFill>
                <a:latin typeface="+mn-ea"/>
              </a:rPr>
              <a:t>最坏适应法</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216454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中没有</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足够的空闲区</a:t>
            </a:r>
          </a:p>
        </p:txBody>
      </p:sp>
      <p:sp>
        <p:nvSpPr>
          <p:cNvPr id="2" name="矩形 1"/>
          <p:cNvSpPr/>
          <p:nvPr/>
        </p:nvSpPr>
        <p:spPr>
          <a:xfrm>
            <a:off x="827584" y="1281469"/>
            <a:ext cx="6840760"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段式管理程序根据给定的</a:t>
            </a:r>
            <a:r>
              <a:rPr lang="zh-CN" altLang="en-US" sz="2400" b="1" dirty="0">
                <a:solidFill>
                  <a:srgbClr val="FFFF00"/>
                </a:solidFill>
                <a:latin typeface="+mn-ea"/>
              </a:rPr>
              <a:t>置换算法</a:t>
            </a:r>
            <a:r>
              <a:rPr lang="zh-CN" altLang="en-US" sz="2400" b="1" dirty="0">
                <a:solidFill>
                  <a:schemeClr val="bg1"/>
                </a:solidFill>
                <a:latin typeface="+mn-ea"/>
              </a:rPr>
              <a:t>淘汰内存中在今后一段时间内不再被</a:t>
            </a:r>
            <a:r>
              <a:rPr lang="en-US" altLang="zh-CN" sz="2400" b="1" dirty="0">
                <a:solidFill>
                  <a:schemeClr val="bg1"/>
                </a:solidFill>
                <a:latin typeface="+mn-ea"/>
              </a:rPr>
              <a:t>CPU</a:t>
            </a:r>
            <a:r>
              <a:rPr lang="zh-CN" altLang="en-US" sz="2400" b="1" dirty="0">
                <a:solidFill>
                  <a:schemeClr val="bg1"/>
                </a:solidFill>
                <a:latin typeface="+mn-ea"/>
              </a:rPr>
              <a:t>访问的段，也就是</a:t>
            </a:r>
            <a:r>
              <a:rPr lang="zh-CN" altLang="en-US" sz="2400" b="1" dirty="0">
                <a:solidFill>
                  <a:srgbClr val="FFFF00"/>
                </a:solidFill>
                <a:latin typeface="+mn-ea"/>
              </a:rPr>
              <a:t>淘汰那些访问概率最低的</a:t>
            </a:r>
            <a:r>
              <a:rPr lang="zh-CN" altLang="en-US" sz="2400" b="1" dirty="0" smtClean="0">
                <a:solidFill>
                  <a:srgbClr val="FFFF00"/>
                </a:solidFill>
                <a:latin typeface="+mn-ea"/>
              </a:rPr>
              <a:t>段</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动态页式管理中的几种常用的淘汰算法都可以用来作为段式管理时的淘汰算法。例如</a:t>
            </a:r>
            <a:r>
              <a:rPr lang="en-US" altLang="zh-CN" sz="2400" b="1" dirty="0">
                <a:solidFill>
                  <a:schemeClr val="bg1"/>
                </a:solidFill>
                <a:latin typeface="+mn-ea"/>
              </a:rPr>
              <a:t>FIFO</a:t>
            </a:r>
            <a:r>
              <a:rPr lang="zh-CN" altLang="en-US" sz="2400" b="1" dirty="0">
                <a:solidFill>
                  <a:schemeClr val="bg1"/>
                </a:solidFill>
                <a:latin typeface="+mn-ea"/>
              </a:rPr>
              <a:t>置换算法、</a:t>
            </a:r>
            <a:r>
              <a:rPr lang="en-US" altLang="zh-CN" sz="2400" b="1" dirty="0">
                <a:solidFill>
                  <a:schemeClr val="bg1"/>
                </a:solidFill>
                <a:latin typeface="+mn-ea"/>
              </a:rPr>
              <a:t>LRU</a:t>
            </a:r>
            <a:r>
              <a:rPr lang="zh-CN" altLang="en-US" sz="2400" b="1" dirty="0" smtClean="0">
                <a:solidFill>
                  <a:schemeClr val="bg1"/>
                </a:solidFill>
                <a:latin typeface="+mn-ea"/>
              </a:rPr>
              <a:t>算法的近似算法等</a:t>
            </a:r>
            <a:r>
              <a:rPr lang="zh-CN" altLang="en-US" sz="2400" b="1" dirty="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359345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内存</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中没有</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足够的空闲区</a:t>
            </a:r>
          </a:p>
        </p:txBody>
      </p:sp>
      <p:sp>
        <p:nvSpPr>
          <p:cNvPr id="2" name="矩形 1"/>
          <p:cNvSpPr/>
          <p:nvPr/>
        </p:nvSpPr>
        <p:spPr>
          <a:xfrm>
            <a:off x="827584" y="1344876"/>
            <a:ext cx="6840760"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但是</a:t>
            </a:r>
            <a:r>
              <a:rPr lang="zh-CN" altLang="en-US" sz="2400" b="1" dirty="0">
                <a:solidFill>
                  <a:schemeClr val="bg1"/>
                </a:solidFill>
                <a:latin typeface="+mn-ea"/>
              </a:rPr>
              <a:t>，与页式管理时每页具有相同的长度时不一样，</a:t>
            </a:r>
            <a:r>
              <a:rPr lang="zh-CN" altLang="en-US" sz="2400" b="1" dirty="0">
                <a:solidFill>
                  <a:srgbClr val="FFFF00"/>
                </a:solidFill>
                <a:latin typeface="+mn-ea"/>
              </a:rPr>
              <a:t>需要调入的某段长度可能大于被淘汰的一段程序或数据的长度</a:t>
            </a:r>
            <a:r>
              <a:rPr lang="zh-CN" altLang="en-US" sz="2400" b="1" dirty="0">
                <a:solidFill>
                  <a:schemeClr val="bg1"/>
                </a:solidFill>
                <a:latin typeface="+mn-ea"/>
              </a:rPr>
              <a:t>。这样，仅仅淘汰一段可能仍然满足不了需要调入段的内存要求。此时，就应再淘汰另外的段直到满足需调入段的内存要求时</a:t>
            </a:r>
            <a:r>
              <a:rPr lang="zh-CN" altLang="en-US" sz="2400" b="1" dirty="0" smtClean="0">
                <a:solidFill>
                  <a:schemeClr val="bg1"/>
                </a:solidFill>
                <a:latin typeface="+mn-ea"/>
              </a:rPr>
              <a:t>为止。</a:t>
            </a:r>
            <a:endParaRPr lang="en-US" altLang="zh-CN" sz="2400" b="1" dirty="0">
              <a:solidFill>
                <a:schemeClr val="bg1"/>
              </a:solidFill>
              <a:latin typeface="+mn-ea"/>
            </a:endParaRPr>
          </a:p>
        </p:txBody>
      </p:sp>
    </p:spTree>
    <p:extLst>
      <p:ext uri="{BB962C8B-B14F-4D97-AF65-F5344CB8AC3E}">
        <p14:creationId xmlns:p14="http://schemas.microsoft.com/office/powerpoint/2010/main" val="399014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缺段中断处理过程</a:t>
            </a:r>
          </a:p>
        </p:txBody>
      </p:sp>
      <p:pic>
        <p:nvPicPr>
          <p:cNvPr id="29" name="Picture 2" descr="E:\操作系统教材编写\张校长教材\新版\e29.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302" y="104297"/>
            <a:ext cx="3384376" cy="497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7526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段式管理的地址变换</a:t>
            </a:r>
          </a:p>
        </p:txBody>
      </p:sp>
      <p:sp>
        <p:nvSpPr>
          <p:cNvPr id="2" name="矩形 1"/>
          <p:cNvSpPr/>
          <p:nvPr/>
        </p:nvSpPr>
        <p:spPr>
          <a:xfrm>
            <a:off x="899592" y="1216943"/>
            <a:ext cx="4764926" cy="392415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en-US" altLang="zh-CN" sz="2400" b="1" dirty="0">
                <a:solidFill>
                  <a:schemeClr val="bg1"/>
                </a:solidFill>
                <a:latin typeface="+mn-ea"/>
              </a:rPr>
              <a:t>CPU</a:t>
            </a:r>
            <a:r>
              <a:rPr lang="zh-CN" altLang="en-US" sz="2400" b="1" dirty="0">
                <a:solidFill>
                  <a:schemeClr val="bg1"/>
                </a:solidFill>
                <a:latin typeface="+mn-ea"/>
              </a:rPr>
              <a:t>如何感知到所要访问的段不在内存而启动中断处理程序呢</a:t>
            </a:r>
            <a:r>
              <a:rPr lang="en-US" altLang="zh-CN" sz="2400" b="1" dirty="0" smtClean="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段式虚拟地址属于一个二维的虚拟空间。一个二维空间的虚拟地址怎样变换为一个一维的线性物理地址</a:t>
            </a:r>
            <a:r>
              <a:rPr lang="zh-CN" altLang="en-US" sz="2400" b="1" dirty="0" smtClean="0">
                <a:solidFill>
                  <a:schemeClr val="bg1"/>
                </a:solidFill>
                <a:latin typeface="+mn-ea"/>
              </a:rPr>
              <a:t>呢</a:t>
            </a:r>
            <a:r>
              <a:rPr lang="zh-CN" altLang="en-US" sz="2400" b="1" dirty="0">
                <a:solidFill>
                  <a:schemeClr val="bg1"/>
                </a:solidFill>
                <a:latin typeface="+mn-ea"/>
              </a:rPr>
              <a:t>？</a:t>
            </a:r>
            <a:endParaRPr lang="en-US" altLang="zh-CN" sz="24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endParaRPr lang="zh-CN" altLang="en-US" sz="2200" b="1" dirty="0">
              <a:solidFill>
                <a:schemeClr val="bg1"/>
              </a:solidFill>
              <a:latin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7258" y="1281469"/>
            <a:ext cx="3090481" cy="3090481"/>
          </a:xfrm>
          <a:prstGeom prst="rect">
            <a:avLst/>
          </a:prstGeom>
        </p:spPr>
      </p:pic>
      <p:sp>
        <p:nvSpPr>
          <p:cNvPr id="3" name="棱台 2"/>
          <p:cNvSpPr/>
          <p:nvPr/>
        </p:nvSpPr>
        <p:spPr>
          <a:xfrm>
            <a:off x="1475656" y="2116956"/>
            <a:ext cx="3816424" cy="1062062"/>
          </a:xfrm>
          <a:prstGeom prst="bevel">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400" b="1" dirty="0"/>
              <a:t>段式地址变换机构解决</a:t>
            </a:r>
          </a:p>
        </p:txBody>
      </p:sp>
    </p:spTree>
    <p:extLst>
      <p:ext uri="{BB962C8B-B14F-4D97-AF65-F5344CB8AC3E}">
        <p14:creationId xmlns:p14="http://schemas.microsoft.com/office/powerpoint/2010/main" val="90185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段式管理的地址变换</a:t>
            </a:r>
          </a:p>
        </p:txBody>
      </p:sp>
      <p:sp>
        <p:nvSpPr>
          <p:cNvPr id="2" name="矩形 1"/>
          <p:cNvSpPr/>
          <p:nvPr/>
        </p:nvSpPr>
        <p:spPr>
          <a:xfrm>
            <a:off x="899592" y="1216943"/>
            <a:ext cx="655272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段表</a:t>
            </a:r>
            <a:r>
              <a:rPr lang="en-US" altLang="zh-CN" sz="2400" b="1" dirty="0">
                <a:solidFill>
                  <a:schemeClr val="bg1"/>
                </a:solidFill>
                <a:latin typeface="+mn-ea"/>
              </a:rPr>
              <a:t>(segment mapping table)</a:t>
            </a:r>
            <a:r>
              <a:rPr lang="zh-CN" altLang="en-US" sz="2400" b="1" dirty="0" smtClean="0">
                <a:solidFill>
                  <a:schemeClr val="bg1"/>
                </a:solidFill>
                <a:latin typeface="+mn-ea"/>
              </a:rPr>
              <a:t>：段式</a:t>
            </a:r>
            <a:r>
              <a:rPr lang="zh-CN" altLang="en-US" sz="2400" b="1" dirty="0">
                <a:solidFill>
                  <a:schemeClr val="bg1"/>
                </a:solidFill>
                <a:latin typeface="+mn-ea"/>
              </a:rPr>
              <a:t>管理程序在进行初始内存分配之前，首先根据用户要求的内存大小为一个作业或进程建立一个段表，以实现动态地址变换和缺段中断处理及存储保护等。与页式管理时一样，段式管理也是通过段表来进行内存管理</a:t>
            </a:r>
            <a:r>
              <a:rPr lang="zh-CN" altLang="en-US" sz="2400" b="1" dirty="0" smtClean="0">
                <a:solidFill>
                  <a:schemeClr val="bg1"/>
                </a:solidFill>
                <a:latin typeface="+mn-ea"/>
              </a:rPr>
              <a:t>的。</a:t>
            </a:r>
            <a:endParaRPr lang="zh-CN" altLang="en-US" sz="2400" b="1" dirty="0">
              <a:solidFill>
                <a:schemeClr val="bg1"/>
              </a:solidFill>
              <a:latin typeface="+mn-ea"/>
            </a:endParaRPr>
          </a:p>
        </p:txBody>
      </p:sp>
      <p:pic>
        <p:nvPicPr>
          <p:cNvPr id="5" name="图片 4"/>
          <p:cNvPicPr>
            <a:picLocks noChangeAspect="1"/>
          </p:cNvPicPr>
          <p:nvPr/>
        </p:nvPicPr>
        <p:blipFill>
          <a:blip r:embed="rId3"/>
          <a:stretch>
            <a:fillRect/>
          </a:stretch>
        </p:blipFill>
        <p:spPr>
          <a:xfrm>
            <a:off x="539552" y="1750353"/>
            <a:ext cx="7485278" cy="2411923"/>
          </a:xfrm>
          <a:prstGeom prst="rect">
            <a:avLst/>
          </a:prstGeom>
        </p:spPr>
      </p:pic>
    </p:spTree>
    <p:extLst>
      <p:ext uri="{BB962C8B-B14F-4D97-AF65-F5344CB8AC3E}">
        <p14:creationId xmlns:p14="http://schemas.microsoft.com/office/powerpoint/2010/main" val="365132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a:t>
            </a:r>
          </a:p>
        </p:txBody>
      </p:sp>
      <p:pic>
        <p:nvPicPr>
          <p:cNvPr id="29" name="Picture 2" descr="E:\操作系统教材编写\张校长教材\新版\e31.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058" y="772107"/>
            <a:ext cx="7526523" cy="3957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050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段式管理的地址变换</a:t>
            </a:r>
          </a:p>
        </p:txBody>
      </p:sp>
      <p:sp>
        <p:nvSpPr>
          <p:cNvPr id="2" name="矩形 1"/>
          <p:cNvSpPr/>
          <p:nvPr/>
        </p:nvSpPr>
        <p:spPr>
          <a:xfrm>
            <a:off x="755576" y="1216943"/>
            <a:ext cx="6984776" cy="332975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段式管理时的地址变换过程也必须经过二次以上的内存访问。即</a:t>
            </a:r>
            <a:r>
              <a:rPr lang="zh-CN" altLang="en-US" sz="2400" b="1" dirty="0" smtClean="0">
                <a:solidFill>
                  <a:srgbClr val="FFFF00"/>
                </a:solidFill>
                <a:latin typeface="+mn-ea"/>
              </a:rPr>
              <a:t>首先访问段表</a:t>
            </a:r>
            <a:r>
              <a:rPr lang="zh-CN" altLang="en-US" sz="2400" b="1" dirty="0" smtClean="0">
                <a:solidFill>
                  <a:schemeClr val="bg1"/>
                </a:solidFill>
                <a:latin typeface="+mn-ea"/>
              </a:rPr>
              <a:t>以计算得到待访问指令或数据的物理地址，</a:t>
            </a:r>
            <a:r>
              <a:rPr lang="zh-CN" altLang="en-US" sz="2400" b="1" dirty="0" smtClean="0">
                <a:solidFill>
                  <a:srgbClr val="FFFF00"/>
                </a:solidFill>
                <a:latin typeface="+mn-ea"/>
              </a:rPr>
              <a:t>然后</a:t>
            </a:r>
            <a:r>
              <a:rPr lang="zh-CN" altLang="en-US" sz="2400" b="1" dirty="0" smtClean="0">
                <a:solidFill>
                  <a:schemeClr val="bg1"/>
                </a:solidFill>
                <a:latin typeface="+mn-ea"/>
              </a:rPr>
              <a:t>才是</a:t>
            </a:r>
            <a:r>
              <a:rPr lang="zh-CN" altLang="en-US" sz="2400" b="1" dirty="0" smtClean="0">
                <a:solidFill>
                  <a:srgbClr val="FFFF00"/>
                </a:solidFill>
                <a:latin typeface="+mn-ea"/>
              </a:rPr>
              <a:t>对物理地址进行取数据或存数据操作</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为了提高访问速度，页式地址变换时使用的</a:t>
            </a:r>
            <a:r>
              <a:rPr lang="zh-CN" altLang="en-US" sz="2400" b="1" dirty="0" smtClean="0">
                <a:solidFill>
                  <a:srgbClr val="FFFF00"/>
                </a:solidFill>
                <a:latin typeface="+mn-ea"/>
              </a:rPr>
              <a:t>高速联想寄存器</a:t>
            </a:r>
            <a:r>
              <a:rPr lang="zh-CN" altLang="en-US" sz="2400" b="1" dirty="0" smtClean="0">
                <a:solidFill>
                  <a:schemeClr val="bg1"/>
                </a:solidFill>
                <a:latin typeface="+mn-ea"/>
              </a:rPr>
              <a:t>的方法也可以用在段式地址变换中。</a:t>
            </a:r>
            <a:endParaRPr lang="zh-CN" altLang="en-US" sz="2400" b="1" dirty="0">
              <a:solidFill>
                <a:schemeClr val="bg1"/>
              </a:solidFill>
              <a:latin typeface="+mn-ea"/>
            </a:endParaRPr>
          </a:p>
        </p:txBody>
      </p:sp>
    </p:spTree>
    <p:extLst>
      <p:ext uri="{BB962C8B-B14F-4D97-AF65-F5344CB8AC3E}">
        <p14:creationId xmlns:p14="http://schemas.microsoft.com/office/powerpoint/2010/main" val="136152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段式管理的地址变换</a:t>
            </a:r>
          </a:p>
        </p:txBody>
      </p:sp>
      <p:sp>
        <p:nvSpPr>
          <p:cNvPr id="2" name="矩形 1"/>
          <p:cNvSpPr/>
          <p:nvPr/>
        </p:nvSpPr>
        <p:spPr>
          <a:xfrm>
            <a:off x="755576" y="1491630"/>
            <a:ext cx="6984776"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即</a:t>
            </a:r>
            <a:r>
              <a:rPr lang="zh-CN" altLang="en-US" sz="2400" b="1" dirty="0">
                <a:solidFill>
                  <a:srgbClr val="FFFF00"/>
                </a:solidFill>
                <a:latin typeface="+mn-ea"/>
              </a:rPr>
              <a:t>高速联想寄存器</a:t>
            </a:r>
            <a:r>
              <a:rPr lang="zh-CN" altLang="en-US" sz="2400" b="1" dirty="0">
                <a:solidFill>
                  <a:schemeClr val="bg1"/>
                </a:solidFill>
                <a:latin typeface="+mn-ea"/>
              </a:rPr>
              <a:t>中存放那些</a:t>
            </a:r>
            <a:r>
              <a:rPr lang="zh-CN" altLang="en-US" sz="2400" b="1" dirty="0">
                <a:solidFill>
                  <a:srgbClr val="FFFF00"/>
                </a:solidFill>
                <a:latin typeface="+mn-ea"/>
              </a:rPr>
              <a:t>经常访问的段号所对应的段表项</a:t>
            </a:r>
            <a:r>
              <a:rPr lang="zh-CN" altLang="en-US" sz="2400" b="1" dirty="0">
                <a:solidFill>
                  <a:schemeClr val="bg1"/>
                </a:solidFill>
                <a:latin typeface="+mn-ea"/>
              </a:rPr>
              <a:t>，且高速联想寄存器中的段表和内存的段表可同时查找。如果在联想寄存器中找到了所需要的段，则可以大大加快地址变换速度。</a:t>
            </a:r>
          </a:p>
        </p:txBody>
      </p:sp>
    </p:spTree>
    <p:extLst>
      <p:ext uri="{BB962C8B-B14F-4D97-AF65-F5344CB8AC3E}">
        <p14:creationId xmlns:p14="http://schemas.microsoft.com/office/powerpoint/2010/main" val="389584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段的共享与保护</a:t>
            </a:r>
          </a:p>
        </p:txBody>
      </p:sp>
      <p:sp>
        <p:nvSpPr>
          <p:cNvPr id="2" name="矩形 1"/>
          <p:cNvSpPr/>
          <p:nvPr/>
        </p:nvSpPr>
        <p:spPr>
          <a:xfrm>
            <a:off x="755576" y="1491630"/>
            <a:ext cx="6984776" cy="166776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段式存储管理可以方便地实现内存信息共享和进行有效地内存保护。这是因为</a:t>
            </a:r>
            <a:r>
              <a:rPr lang="zh-CN" altLang="en-US" sz="2400" b="1" dirty="0">
                <a:solidFill>
                  <a:srgbClr val="FFFF00"/>
                </a:solidFill>
                <a:latin typeface="+mn-ea"/>
              </a:rPr>
              <a:t>段是按逻辑意义来划分的，可以按段名访问的缘故</a:t>
            </a:r>
            <a:r>
              <a:rPr lang="zh-CN" altLang="en-US" sz="2400" b="1" dirty="0">
                <a:solidFill>
                  <a:schemeClr val="bg1"/>
                </a:solidFill>
                <a:latin typeface="+mn-ea"/>
              </a:rPr>
              <a:t>。</a:t>
            </a:r>
          </a:p>
        </p:txBody>
      </p:sp>
    </p:spTree>
    <p:extLst>
      <p:ext uri="{BB962C8B-B14F-4D97-AF65-F5344CB8AC3E}">
        <p14:creationId xmlns:p14="http://schemas.microsoft.com/office/powerpoint/2010/main" val="406712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段的</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共享</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2" descr="E:\操作系统教材编写\张校长教材\新版\e3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49" y="616731"/>
            <a:ext cx="4042770" cy="429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p:nvSpPr>
        <p:spPr>
          <a:xfrm>
            <a:off x="826995" y="1214012"/>
            <a:ext cx="4033037"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只要</a:t>
            </a:r>
            <a:r>
              <a:rPr lang="zh-CN" altLang="en-US" sz="2400" b="1" dirty="0">
                <a:solidFill>
                  <a:schemeClr val="bg1"/>
                </a:solidFill>
                <a:latin typeface="+mn-ea"/>
              </a:rPr>
              <a:t>用户使用相</a:t>
            </a:r>
            <a:r>
              <a:rPr lang="zh-CN" altLang="en-US" sz="2400" b="1" dirty="0">
                <a:solidFill>
                  <a:srgbClr val="FFFF00"/>
                </a:solidFill>
                <a:latin typeface="+mn-ea"/>
              </a:rPr>
              <a:t>同的段名</a:t>
            </a:r>
            <a:r>
              <a:rPr lang="zh-CN" altLang="en-US" sz="2400" b="1" dirty="0">
                <a:solidFill>
                  <a:schemeClr val="bg1"/>
                </a:solidFill>
                <a:latin typeface="+mn-ea"/>
              </a:rPr>
              <a:t>，就可在新的段表中填入已存在于内存之中的段的起始地址，并</a:t>
            </a:r>
            <a:r>
              <a:rPr lang="zh-CN" altLang="en-US" sz="2400" b="1" dirty="0">
                <a:solidFill>
                  <a:srgbClr val="FFFF00"/>
                </a:solidFill>
                <a:latin typeface="+mn-ea"/>
              </a:rPr>
              <a:t>置以适当的读写控制权</a:t>
            </a:r>
            <a:r>
              <a:rPr lang="zh-CN" altLang="en-US" sz="2400" b="1" dirty="0">
                <a:solidFill>
                  <a:schemeClr val="bg1"/>
                </a:solidFill>
                <a:latin typeface="+mn-ea"/>
              </a:rPr>
              <a:t>，就可做到共享一个逻辑上完整的内存段信息。</a:t>
            </a:r>
          </a:p>
        </p:txBody>
      </p:sp>
    </p:spTree>
    <p:extLst>
      <p:ext uri="{BB962C8B-B14F-4D97-AF65-F5344CB8AC3E}">
        <p14:creationId xmlns:p14="http://schemas.microsoft.com/office/powerpoint/2010/main" val="28779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wipe(left)">
                                      <p:cBhvr>
                                        <p:cTn id="12"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段的</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共享</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6995" y="1214012"/>
            <a:ext cx="6913357"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另外，在多道环境下，由于进程的并发执行，一段程序为多个进程共享时，有可能出现</a:t>
            </a:r>
            <a:r>
              <a:rPr lang="zh-CN" altLang="en-US" sz="2400" b="1" dirty="0">
                <a:solidFill>
                  <a:srgbClr val="FFFF00"/>
                </a:solidFill>
                <a:latin typeface="+mn-ea"/>
              </a:rPr>
              <a:t>多次同时重复执行该段程序</a:t>
            </a:r>
            <a:r>
              <a:rPr lang="zh-CN" altLang="en-US" sz="2400" b="1" dirty="0">
                <a:solidFill>
                  <a:schemeClr val="bg1"/>
                </a:solidFill>
                <a:latin typeface="+mn-ea"/>
              </a:rPr>
              <a:t>的情况</a:t>
            </a:r>
            <a:r>
              <a:rPr lang="en-US" altLang="zh-CN" sz="2400" b="1" dirty="0">
                <a:solidFill>
                  <a:schemeClr val="bg1"/>
                </a:solidFill>
                <a:latin typeface="+mn-ea"/>
              </a:rPr>
              <a:t>(</a:t>
            </a:r>
            <a:r>
              <a:rPr lang="zh-CN" altLang="en-US" sz="2400" b="1" dirty="0">
                <a:solidFill>
                  <a:schemeClr val="bg1"/>
                </a:solidFill>
                <a:latin typeface="+mn-ea"/>
              </a:rPr>
              <a:t>即某个进程在未执行完该段程序之前，其他并发进程又已开始执行该段程序</a:t>
            </a:r>
            <a:r>
              <a:rPr lang="en-US" altLang="zh-CN" sz="2400" b="1" dirty="0">
                <a:solidFill>
                  <a:schemeClr val="bg1"/>
                </a:solidFill>
                <a:latin typeface="+mn-ea"/>
              </a:rPr>
              <a:t>)</a:t>
            </a:r>
            <a:r>
              <a:rPr lang="zh-CN" altLang="en-US" sz="2400" b="1" dirty="0">
                <a:solidFill>
                  <a:schemeClr val="bg1"/>
                </a:solidFill>
                <a:latin typeface="+mn-ea"/>
              </a:rPr>
              <a:t>。这就要求它</a:t>
            </a:r>
            <a:r>
              <a:rPr lang="zh-CN" altLang="en-US" sz="2400" b="1" dirty="0">
                <a:solidFill>
                  <a:srgbClr val="FFFF00"/>
                </a:solidFill>
                <a:latin typeface="+mn-ea"/>
              </a:rPr>
              <a:t>在执行过程中，该段程序的指令和数据不能被修改</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211151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段的</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共享</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393082"/>
            <a:ext cx="6913357"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还有</a:t>
            </a:r>
            <a:r>
              <a:rPr lang="zh-CN" altLang="en-US" sz="2400" b="1" dirty="0">
                <a:solidFill>
                  <a:schemeClr val="bg1"/>
                </a:solidFill>
                <a:latin typeface="+mn-ea"/>
              </a:rPr>
              <a:t>，与一个进程中的其他程序段一样，共享段有时也要被换出内存。这时，就要在段表中</a:t>
            </a:r>
            <a:r>
              <a:rPr lang="zh-CN" altLang="en-US" sz="2400" b="1" dirty="0">
                <a:solidFill>
                  <a:srgbClr val="FFFF00"/>
                </a:solidFill>
                <a:latin typeface="+mn-ea"/>
              </a:rPr>
              <a:t>设立相应的共享位来判别该段是否正被某个进程调用</a:t>
            </a:r>
            <a:r>
              <a:rPr lang="zh-CN" altLang="en-US" sz="2400" b="1" dirty="0">
                <a:solidFill>
                  <a:schemeClr val="bg1"/>
                </a:solidFill>
                <a:latin typeface="+mn-ea"/>
              </a:rPr>
              <a:t>。显然一个正在被某个进程使用或即将被某个进程使用的共享段是不应该调出内存的。</a:t>
            </a:r>
            <a:endParaRPr lang="en-US" altLang="zh-CN" sz="2400" b="1" dirty="0">
              <a:solidFill>
                <a:schemeClr val="bg1"/>
              </a:solidFill>
              <a:latin typeface="+mn-ea"/>
            </a:endParaRPr>
          </a:p>
        </p:txBody>
      </p:sp>
    </p:spTree>
    <p:extLst>
      <p:ext uri="{BB962C8B-B14F-4D97-AF65-F5344CB8AC3E}">
        <p14:creationId xmlns:p14="http://schemas.microsoft.com/office/powerpoint/2010/main" val="371169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的保护</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635646"/>
            <a:ext cx="6913357"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段式管理的保护主要有两种。一种是</a:t>
            </a:r>
            <a:r>
              <a:rPr lang="zh-CN" altLang="en-US" sz="2400" b="1" dirty="0">
                <a:solidFill>
                  <a:srgbClr val="FFFF00"/>
                </a:solidFill>
                <a:latin typeface="+mn-ea"/>
              </a:rPr>
              <a:t>地址越界保护法</a:t>
            </a:r>
            <a:r>
              <a:rPr lang="zh-CN" altLang="en-US" sz="2400" b="1" dirty="0">
                <a:solidFill>
                  <a:schemeClr val="bg1"/>
                </a:solidFill>
                <a:latin typeface="+mn-ea"/>
              </a:rPr>
              <a:t>，另一种是</a:t>
            </a:r>
            <a:r>
              <a:rPr lang="zh-CN" altLang="en-US" sz="2400" b="1" dirty="0">
                <a:solidFill>
                  <a:srgbClr val="FFFF00"/>
                </a:solidFill>
                <a:latin typeface="+mn-ea"/>
              </a:rPr>
              <a:t>存取方式控制保护法</a:t>
            </a:r>
            <a:r>
              <a:rPr lang="zh-CN" altLang="en-US" sz="2400" b="1" dirty="0">
                <a:solidFill>
                  <a:schemeClr val="bg1"/>
                </a:solidFill>
                <a:latin typeface="+mn-ea"/>
              </a:rPr>
              <a:t>。关于存取方式控制保护已在前面介绍，这里不再重复</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237876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的保护</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316791"/>
            <a:ext cx="6913357"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地址</a:t>
            </a:r>
            <a:r>
              <a:rPr lang="zh-CN" altLang="en-US" sz="2400" b="1" dirty="0">
                <a:solidFill>
                  <a:schemeClr val="bg1"/>
                </a:solidFill>
                <a:latin typeface="+mn-ea"/>
              </a:rPr>
              <a:t>越界</a:t>
            </a:r>
            <a:r>
              <a:rPr lang="zh-CN" altLang="en-US" sz="2400" b="1" dirty="0" smtClean="0">
                <a:solidFill>
                  <a:schemeClr val="bg1"/>
                </a:solidFill>
                <a:latin typeface="+mn-ea"/>
              </a:rPr>
              <a:t>保护是</a:t>
            </a:r>
            <a:r>
              <a:rPr lang="zh-CN" altLang="en-US" sz="2400" b="1" dirty="0">
                <a:solidFill>
                  <a:schemeClr val="bg1"/>
                </a:solidFill>
                <a:latin typeface="+mn-ea"/>
              </a:rPr>
              <a:t>利用段表中的</a:t>
            </a:r>
            <a:r>
              <a:rPr lang="zh-CN" altLang="en-US" sz="2400" b="1" dirty="0">
                <a:solidFill>
                  <a:srgbClr val="FFFF00"/>
                </a:solidFill>
                <a:latin typeface="+mn-ea"/>
              </a:rPr>
              <a:t>段长项</a:t>
            </a:r>
            <a:r>
              <a:rPr lang="zh-CN" altLang="en-US" sz="2400" b="1" dirty="0">
                <a:solidFill>
                  <a:schemeClr val="bg1"/>
                </a:solidFill>
                <a:latin typeface="+mn-ea"/>
              </a:rPr>
              <a:t>与</a:t>
            </a:r>
            <a:r>
              <a:rPr lang="zh-CN" altLang="en-US" sz="2400" b="1" dirty="0">
                <a:solidFill>
                  <a:srgbClr val="FFFF00"/>
                </a:solidFill>
                <a:latin typeface="+mn-ea"/>
              </a:rPr>
              <a:t>虚拟地址中的段内相对地址</a:t>
            </a:r>
            <a:r>
              <a:rPr lang="zh-CN" altLang="en-US" sz="2400" b="1" dirty="0">
                <a:solidFill>
                  <a:schemeClr val="bg1"/>
                </a:solidFill>
                <a:latin typeface="+mn-ea"/>
              </a:rPr>
              <a:t>比较进行的。若</a:t>
            </a:r>
            <a:r>
              <a:rPr lang="zh-CN" altLang="en-US" sz="2400" b="1" dirty="0">
                <a:solidFill>
                  <a:srgbClr val="FFFF00"/>
                </a:solidFill>
                <a:latin typeface="+mn-ea"/>
              </a:rPr>
              <a:t>段内相对地址大于段长</a:t>
            </a:r>
            <a:r>
              <a:rPr lang="zh-CN" altLang="en-US" sz="2400" b="1" dirty="0">
                <a:solidFill>
                  <a:schemeClr val="bg1"/>
                </a:solidFill>
                <a:latin typeface="+mn-ea"/>
              </a:rPr>
              <a:t>，系统就会产生</a:t>
            </a:r>
            <a:r>
              <a:rPr lang="zh-CN" altLang="en-US" sz="2400" b="1" dirty="0">
                <a:solidFill>
                  <a:srgbClr val="FFFF00"/>
                </a:solidFill>
                <a:latin typeface="+mn-ea"/>
              </a:rPr>
              <a:t>保护中断</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不过</a:t>
            </a:r>
            <a:r>
              <a:rPr lang="zh-CN" altLang="en-US" sz="2400" b="1" dirty="0">
                <a:solidFill>
                  <a:schemeClr val="bg1"/>
                </a:solidFill>
                <a:latin typeface="+mn-ea"/>
              </a:rPr>
              <a:t>，在允许段动态增长的系统中，段内相对地址大于段长是允许的。为此，段表中设置相应的</a:t>
            </a:r>
            <a:r>
              <a:rPr lang="zh-CN" altLang="en-US" sz="2400" b="1" dirty="0">
                <a:solidFill>
                  <a:srgbClr val="FFFF00"/>
                </a:solidFill>
                <a:latin typeface="+mn-ea"/>
              </a:rPr>
              <a:t>增补位</a:t>
            </a:r>
            <a:r>
              <a:rPr lang="zh-CN" altLang="en-US" sz="2400" b="1" dirty="0">
                <a:solidFill>
                  <a:schemeClr val="bg1"/>
                </a:solidFill>
                <a:latin typeface="+mn-ea"/>
              </a:rPr>
              <a:t>以指示该段</a:t>
            </a:r>
            <a:r>
              <a:rPr lang="zh-CN" altLang="en-US" sz="2400" b="1" dirty="0">
                <a:solidFill>
                  <a:srgbClr val="FFFF00"/>
                </a:solidFill>
                <a:latin typeface="+mn-ea"/>
              </a:rPr>
              <a:t>是否允许该段动态增长</a:t>
            </a:r>
            <a:r>
              <a:rPr lang="zh-CN" altLang="en-US" sz="2400" b="1" dirty="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94540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段式管理的优缺点</a:t>
            </a:r>
          </a:p>
        </p:txBody>
      </p:sp>
      <p:sp>
        <p:nvSpPr>
          <p:cNvPr id="2" name="矩形 1"/>
          <p:cNvSpPr/>
          <p:nvPr/>
        </p:nvSpPr>
        <p:spPr>
          <a:xfrm>
            <a:off x="1403648" y="1344876"/>
            <a:ext cx="6264696"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段式虚存</a:t>
            </a:r>
            <a:r>
              <a:rPr lang="zh-CN" altLang="en-US" sz="2200" b="1" dirty="0">
                <a:solidFill>
                  <a:srgbClr val="FFFF00"/>
                </a:solidFill>
                <a:latin typeface="+mn-ea"/>
              </a:rPr>
              <a:t>每次交换的是一段有意义的信息</a:t>
            </a:r>
            <a:r>
              <a:rPr lang="zh-CN" altLang="en-US" sz="2200" b="1" dirty="0">
                <a:solidFill>
                  <a:schemeClr val="bg1"/>
                </a:solidFill>
                <a:latin typeface="+mn-ea"/>
              </a:rPr>
              <a:t>，而不是像页式虚存那样只交换固定大小的页从而需要多次缺页中断才能把所需信息完整地调入内存。</a:t>
            </a:r>
            <a:endParaRPr lang="en-US" altLang="zh-CN" sz="2200" b="1" dirty="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在段式管理中，</a:t>
            </a:r>
            <a:r>
              <a:rPr lang="zh-CN" altLang="en-US" sz="2200" b="1" dirty="0">
                <a:solidFill>
                  <a:srgbClr val="FFFF00"/>
                </a:solidFill>
                <a:latin typeface="+mn-ea"/>
              </a:rPr>
              <a:t>段长可根据需要动态增长</a:t>
            </a:r>
            <a:r>
              <a:rPr lang="zh-CN" altLang="en-US" sz="2200" b="1" dirty="0">
                <a:solidFill>
                  <a:schemeClr val="bg1"/>
                </a:solidFill>
                <a:latin typeface="+mn-ea"/>
              </a:rPr>
              <a:t>。这对那些需要不断增加或吸收新数据的段来说，将是非常有好处的</a:t>
            </a:r>
            <a:r>
              <a:rPr lang="zh-CN" altLang="en-US" sz="2200" b="1" dirty="0" smtClean="0">
                <a:solidFill>
                  <a:schemeClr val="bg1"/>
                </a:solidFill>
                <a:latin typeface="+mn-ea"/>
              </a:rPr>
              <a:t>。</a:t>
            </a:r>
            <a:endParaRPr lang="en-US" altLang="zh-CN" sz="2200" b="1" dirty="0">
              <a:solidFill>
                <a:schemeClr val="bg1"/>
              </a:solidFill>
              <a:latin typeface="+mn-ea"/>
            </a:endParaRPr>
          </a:p>
        </p:txBody>
      </p:sp>
      <p:pic>
        <p:nvPicPr>
          <p:cNvPr id="29" name="图片 28"/>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a:off x="339180" y="2211710"/>
            <a:ext cx="1040904" cy="1101108"/>
          </a:xfrm>
          <a:prstGeom prst="rect">
            <a:avLst/>
          </a:prstGeom>
        </p:spPr>
      </p:pic>
    </p:spTree>
    <p:extLst>
      <p:ext uri="{BB962C8B-B14F-4D97-AF65-F5344CB8AC3E}">
        <p14:creationId xmlns:p14="http://schemas.microsoft.com/office/powerpoint/2010/main" val="158629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段式管理的优缺点</a:t>
            </a:r>
          </a:p>
        </p:txBody>
      </p:sp>
      <p:sp>
        <p:nvSpPr>
          <p:cNvPr id="2" name="矩形 1"/>
          <p:cNvSpPr/>
          <p:nvPr/>
        </p:nvSpPr>
        <p:spPr>
          <a:xfrm>
            <a:off x="1338040" y="1419622"/>
            <a:ext cx="6408712"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便于</a:t>
            </a:r>
            <a:r>
              <a:rPr lang="zh-CN" altLang="en-US" sz="2400" b="1" dirty="0">
                <a:solidFill>
                  <a:schemeClr val="bg1"/>
                </a:solidFill>
                <a:latin typeface="+mn-ea"/>
              </a:rPr>
              <a:t>对具有</a:t>
            </a:r>
            <a:r>
              <a:rPr lang="zh-CN" altLang="en-US" sz="2400" b="1" dirty="0">
                <a:solidFill>
                  <a:srgbClr val="FFFF00"/>
                </a:solidFill>
                <a:latin typeface="+mn-ea"/>
              </a:rPr>
              <a:t>完整逻辑功能的信息段</a:t>
            </a:r>
            <a:r>
              <a:rPr lang="zh-CN" altLang="en-US" sz="2400" b="1" dirty="0">
                <a:solidFill>
                  <a:schemeClr val="bg1"/>
                </a:solidFill>
                <a:latin typeface="+mn-ea"/>
              </a:rPr>
              <a:t>进行</a:t>
            </a:r>
            <a:r>
              <a:rPr lang="zh-CN" altLang="en-US" sz="2400" b="1" dirty="0">
                <a:solidFill>
                  <a:srgbClr val="FFFF00"/>
                </a:solidFill>
                <a:latin typeface="+mn-ea"/>
              </a:rPr>
              <a:t>共享</a:t>
            </a:r>
            <a:r>
              <a:rPr lang="zh-CN" altLang="en-US" sz="24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便于实现</a:t>
            </a:r>
            <a:r>
              <a:rPr lang="zh-CN" altLang="en-US" sz="2400" b="1" dirty="0">
                <a:solidFill>
                  <a:srgbClr val="FFFF00"/>
                </a:solidFill>
                <a:latin typeface="+mn-ea"/>
              </a:rPr>
              <a:t>动态链接</a:t>
            </a:r>
            <a:r>
              <a:rPr lang="zh-CN" altLang="en-US" sz="2400" b="1" dirty="0">
                <a:solidFill>
                  <a:schemeClr val="bg1"/>
                </a:solidFill>
                <a:latin typeface="+mn-ea"/>
              </a:rPr>
              <a:t>。由于段式管理是按信息的逻辑意义来划分段，每段对应一个相应的程序模块。因此，可用</a:t>
            </a:r>
            <a:r>
              <a:rPr lang="zh-CN" altLang="en-US" sz="2400" b="1" dirty="0">
                <a:solidFill>
                  <a:srgbClr val="FFFF00"/>
                </a:solidFill>
                <a:latin typeface="+mn-ea"/>
              </a:rPr>
              <a:t>段名加上段入口地址等方法在执行过程中调入相应的段进行动态链接</a:t>
            </a:r>
            <a:r>
              <a:rPr lang="zh-CN" altLang="en-US" sz="2400" b="1" dirty="0" smtClean="0">
                <a:solidFill>
                  <a:schemeClr val="bg1"/>
                </a:solidFill>
                <a:latin typeface="+mn-ea"/>
              </a:rPr>
              <a:t>。</a:t>
            </a:r>
            <a:endParaRPr lang="zh-CN" altLang="en-US" sz="2400" b="1" dirty="0">
              <a:solidFill>
                <a:schemeClr val="bg1"/>
              </a:solidFill>
              <a:latin typeface="+mn-ea"/>
            </a:endParaRPr>
          </a:p>
        </p:txBody>
      </p:sp>
      <p:pic>
        <p:nvPicPr>
          <p:cNvPr id="29" name="图片 28"/>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a:off x="323528" y="2067694"/>
            <a:ext cx="1040904" cy="1101108"/>
          </a:xfrm>
          <a:prstGeom prst="rect">
            <a:avLst/>
          </a:prstGeom>
        </p:spPr>
      </p:pic>
    </p:spTree>
    <p:extLst>
      <p:ext uri="{BB962C8B-B14F-4D97-AF65-F5344CB8AC3E}">
        <p14:creationId xmlns:p14="http://schemas.microsoft.com/office/powerpoint/2010/main" val="159063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管理的优缺点</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29867" y="1419622"/>
            <a:ext cx="6538477"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段式管理比其他几种方式要求有更多的</a:t>
            </a:r>
            <a:r>
              <a:rPr lang="zh-CN" altLang="en-US" sz="2400" b="1" dirty="0">
                <a:solidFill>
                  <a:srgbClr val="FFFF00"/>
                </a:solidFill>
                <a:latin typeface="+mn-ea"/>
              </a:rPr>
              <a:t>硬件支持</a:t>
            </a:r>
            <a:r>
              <a:rPr lang="zh-CN" altLang="en-US" sz="2400" b="1" dirty="0">
                <a:solidFill>
                  <a:schemeClr val="bg1"/>
                </a:solidFill>
                <a:latin typeface="+mn-ea"/>
              </a:rPr>
              <a:t>。这就</a:t>
            </a:r>
            <a:r>
              <a:rPr lang="zh-CN" altLang="en-US" sz="2400" b="1" dirty="0">
                <a:solidFill>
                  <a:srgbClr val="FFFF00"/>
                </a:solidFill>
                <a:latin typeface="+mn-ea"/>
              </a:rPr>
              <a:t>提高</a:t>
            </a:r>
            <a:r>
              <a:rPr lang="zh-CN" altLang="en-US" sz="2400" b="1" dirty="0">
                <a:solidFill>
                  <a:schemeClr val="bg1"/>
                </a:solidFill>
                <a:latin typeface="+mn-ea"/>
              </a:rPr>
              <a:t>了</a:t>
            </a:r>
            <a:r>
              <a:rPr lang="zh-CN" altLang="en-US" sz="2400" b="1" dirty="0">
                <a:solidFill>
                  <a:srgbClr val="FFFF00"/>
                </a:solidFill>
                <a:latin typeface="+mn-ea"/>
              </a:rPr>
              <a:t>机器成本</a:t>
            </a:r>
            <a:r>
              <a:rPr lang="zh-CN" altLang="en-US" sz="24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由于在内存空闲区管理方式上与分区式管理相同，在</a:t>
            </a:r>
            <a:r>
              <a:rPr lang="zh-CN" altLang="en-US" sz="2400" b="1" dirty="0">
                <a:solidFill>
                  <a:srgbClr val="FFFF00"/>
                </a:solidFill>
                <a:latin typeface="+mn-ea"/>
              </a:rPr>
              <a:t>碎片问题</a:t>
            </a:r>
            <a:r>
              <a:rPr lang="zh-CN" altLang="en-US" sz="2400" b="1" dirty="0">
                <a:solidFill>
                  <a:schemeClr val="bg1"/>
                </a:solidFill>
                <a:latin typeface="+mn-ea"/>
              </a:rPr>
              <a:t>以及为了消除碎片所进行的</a:t>
            </a:r>
            <a:r>
              <a:rPr lang="zh-CN" altLang="en-US" sz="2400" b="1" dirty="0">
                <a:solidFill>
                  <a:srgbClr val="FFFF00"/>
                </a:solidFill>
                <a:latin typeface="+mn-ea"/>
              </a:rPr>
              <a:t>合并等问题</a:t>
            </a:r>
            <a:r>
              <a:rPr lang="zh-CN" altLang="en-US" sz="2400" b="1" dirty="0">
                <a:solidFill>
                  <a:schemeClr val="bg1"/>
                </a:solidFill>
                <a:latin typeface="+mn-ea"/>
              </a:rPr>
              <a:t>上较分页式管理要</a:t>
            </a:r>
            <a:r>
              <a:rPr lang="zh-CN" altLang="en-US" sz="2400" b="1" dirty="0">
                <a:solidFill>
                  <a:srgbClr val="FFFF00"/>
                </a:solidFill>
                <a:latin typeface="+mn-ea"/>
              </a:rPr>
              <a:t>差</a:t>
            </a:r>
            <a:r>
              <a:rPr lang="zh-CN" altLang="en-US" sz="2400" b="1" dirty="0" smtClean="0">
                <a:solidFill>
                  <a:schemeClr val="bg1"/>
                </a:solidFill>
                <a:latin typeface="+mn-ea"/>
              </a:rPr>
              <a:t>。</a:t>
            </a:r>
            <a:endParaRPr lang="en-US" altLang="zh-CN" sz="2400" b="1" dirty="0">
              <a:solidFill>
                <a:schemeClr val="bg1"/>
              </a:solidFill>
              <a:latin typeface="+mn-ea"/>
            </a:endParaRPr>
          </a:p>
        </p:txBody>
      </p:sp>
      <p:pic>
        <p:nvPicPr>
          <p:cNvPr id="30" name="图片 29"/>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44481" y="2397569"/>
            <a:ext cx="1040904" cy="1101108"/>
          </a:xfrm>
          <a:prstGeom prst="rect">
            <a:avLst/>
          </a:prstGeom>
        </p:spPr>
      </p:pic>
    </p:spTree>
    <p:extLst>
      <p:ext uri="{BB962C8B-B14F-4D97-AF65-F5344CB8AC3E}">
        <p14:creationId xmlns:p14="http://schemas.microsoft.com/office/powerpoint/2010/main" val="192477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611560" y="104297"/>
            <a:ext cx="871296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段式</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管理的优缺点</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1129867" y="1344876"/>
            <a:ext cx="6538477"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允许</a:t>
            </a:r>
            <a:r>
              <a:rPr lang="zh-CN" altLang="en-US" sz="2200" b="1" dirty="0">
                <a:solidFill>
                  <a:schemeClr val="bg1"/>
                </a:solidFill>
                <a:latin typeface="+mn-ea"/>
              </a:rPr>
              <a:t>段的动态增长也会给系统管理带来一定的</a:t>
            </a:r>
            <a:r>
              <a:rPr lang="zh-CN" altLang="en-US" sz="2200" b="1" dirty="0">
                <a:solidFill>
                  <a:srgbClr val="FFFF00"/>
                </a:solidFill>
                <a:latin typeface="+mn-ea"/>
              </a:rPr>
              <a:t>难度和开销</a:t>
            </a:r>
            <a:r>
              <a:rPr lang="zh-CN" altLang="en-US" sz="22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段式管理的另一个缺点就是</a:t>
            </a:r>
            <a:r>
              <a:rPr lang="zh-CN" altLang="en-US" sz="2200" b="1" dirty="0">
                <a:solidFill>
                  <a:srgbClr val="FFFF00"/>
                </a:solidFill>
                <a:latin typeface="+mn-ea"/>
              </a:rPr>
              <a:t>每个段的长度受内存可用区大小的限制</a:t>
            </a:r>
            <a:r>
              <a:rPr lang="zh-CN" altLang="en-US" sz="22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和页式管理一样，段式管理系统在选择淘汰算法时也必须十分慎重，否则也有可能产生</a:t>
            </a:r>
            <a:r>
              <a:rPr lang="zh-CN" altLang="en-US" sz="2200" b="1" dirty="0">
                <a:solidFill>
                  <a:srgbClr val="FFFF00"/>
                </a:solidFill>
                <a:latin typeface="+mn-ea"/>
              </a:rPr>
              <a:t>抖动现象</a:t>
            </a:r>
            <a:r>
              <a:rPr lang="zh-CN" altLang="en-US" sz="2200" b="1" dirty="0">
                <a:solidFill>
                  <a:schemeClr val="bg1"/>
                </a:solidFill>
                <a:latin typeface="+mn-ea"/>
              </a:rPr>
              <a:t>。</a:t>
            </a:r>
          </a:p>
        </p:txBody>
      </p:sp>
      <p:pic>
        <p:nvPicPr>
          <p:cNvPr id="30" name="图片 29"/>
          <p:cNvPicPr>
            <a:picLocks noChangeAspect="1"/>
          </p:cNvPicPr>
          <p:nvPr/>
        </p:nvPicPr>
        <p:blipFill rotWithShape="1">
          <a:blip r:embed="rId3">
            <a:extLst>
              <a:ext uri="{28A0092B-C50C-407E-A947-70E740481C1C}">
                <a14:useLocalDpi xmlns:a14="http://schemas.microsoft.com/office/drawing/2010/main" val="0"/>
              </a:ext>
            </a:extLst>
          </a:blip>
          <a:srcRect l="45359" b="21891"/>
          <a:stretch>
            <a:fillRect/>
          </a:stretch>
        </p:blipFill>
        <p:spPr>
          <a:xfrm rot="10510380">
            <a:off x="44481" y="2397569"/>
            <a:ext cx="1040904" cy="1101108"/>
          </a:xfrm>
          <a:prstGeom prst="rect">
            <a:avLst/>
          </a:prstGeom>
        </p:spPr>
      </p:pic>
    </p:spTree>
    <p:extLst>
      <p:ext uri="{BB962C8B-B14F-4D97-AF65-F5344CB8AC3E}">
        <p14:creationId xmlns:p14="http://schemas.microsoft.com/office/powerpoint/2010/main" val="155539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段页式管理的实现</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虚地址的构成</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316791"/>
            <a:ext cx="6913357"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段页式管理时，一个进程仍然拥有一个自己的二维</a:t>
            </a:r>
            <a:r>
              <a:rPr lang="zh-CN" altLang="en-US" sz="2400" b="1" dirty="0" smtClean="0">
                <a:solidFill>
                  <a:schemeClr val="bg1"/>
                </a:solidFill>
                <a:latin typeface="+mn-ea"/>
              </a:rPr>
              <a:t>地址空间。</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首先</a:t>
            </a:r>
            <a:r>
              <a:rPr lang="zh-CN" altLang="en-US" sz="2400" b="1" dirty="0">
                <a:solidFill>
                  <a:schemeClr val="bg1"/>
                </a:solidFill>
                <a:latin typeface="+mn-ea"/>
              </a:rPr>
              <a:t>，一个进程中所包含的具有独立逻辑功能的程序或数据仍被划分为</a:t>
            </a:r>
            <a:r>
              <a:rPr lang="zh-CN" altLang="en-US" sz="2400" b="1" dirty="0">
                <a:solidFill>
                  <a:srgbClr val="FFFF00"/>
                </a:solidFill>
                <a:latin typeface="+mn-ea"/>
              </a:rPr>
              <a:t>段</a:t>
            </a:r>
            <a:r>
              <a:rPr lang="zh-CN" altLang="en-US" sz="2400" b="1" dirty="0">
                <a:solidFill>
                  <a:schemeClr val="bg1"/>
                </a:solidFill>
                <a:latin typeface="+mn-ea"/>
              </a:rPr>
              <a:t>，并有各自的</a:t>
            </a:r>
            <a:r>
              <a:rPr lang="zh-CN" altLang="en-US" sz="2400" b="1" dirty="0">
                <a:solidFill>
                  <a:srgbClr val="FFFF00"/>
                </a:solidFill>
                <a:latin typeface="+mn-ea"/>
              </a:rPr>
              <a:t>段号</a:t>
            </a:r>
            <a:r>
              <a:rPr lang="en-US" altLang="zh-CN" sz="2400" b="1" dirty="0">
                <a:solidFill>
                  <a:srgbClr val="FFFF00"/>
                </a:solidFill>
                <a:latin typeface="+mn-ea"/>
              </a:rPr>
              <a:t>s</a:t>
            </a:r>
            <a:r>
              <a:rPr lang="zh-CN" altLang="en-US" sz="2400" b="1" dirty="0">
                <a:solidFill>
                  <a:schemeClr val="bg1"/>
                </a:solidFill>
                <a:latin typeface="+mn-ea"/>
              </a:rPr>
              <a:t>。这反映和继承了段式管理的特征</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3883012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段页式管理的实现</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虚地址的构成</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563638"/>
            <a:ext cx="6913357"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其次</a:t>
            </a:r>
            <a:r>
              <a:rPr lang="zh-CN" altLang="en-US" sz="2400" b="1" dirty="0">
                <a:solidFill>
                  <a:schemeClr val="bg1"/>
                </a:solidFill>
                <a:latin typeface="+mn-ea"/>
              </a:rPr>
              <a:t>，对于段</a:t>
            </a:r>
            <a:r>
              <a:rPr lang="en-US" altLang="zh-CN" sz="2400" b="1" dirty="0">
                <a:solidFill>
                  <a:schemeClr val="bg1"/>
                </a:solidFill>
                <a:latin typeface="+mn-ea"/>
              </a:rPr>
              <a:t>s</a:t>
            </a:r>
            <a:r>
              <a:rPr lang="zh-CN" altLang="en-US" sz="2400" b="1" dirty="0">
                <a:solidFill>
                  <a:schemeClr val="bg1"/>
                </a:solidFill>
                <a:latin typeface="+mn-ea"/>
              </a:rPr>
              <a:t>中的程序或数据，则按照一定的大小将其划分为不同的</a:t>
            </a:r>
            <a:r>
              <a:rPr lang="zh-CN" altLang="en-US" sz="2400" b="1" dirty="0">
                <a:solidFill>
                  <a:srgbClr val="FFFF00"/>
                </a:solidFill>
                <a:latin typeface="+mn-ea"/>
              </a:rPr>
              <a:t>页</a:t>
            </a:r>
            <a:r>
              <a:rPr lang="zh-CN" altLang="en-US" sz="2400" b="1" dirty="0">
                <a:solidFill>
                  <a:schemeClr val="bg1"/>
                </a:solidFill>
                <a:latin typeface="+mn-ea"/>
              </a:rPr>
              <a:t>。和页式系统一样，最后不足一页的部分仍占一页。这反映了段页式管理中的页式特征</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120894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段页式管理的实现</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虚地址的构成</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683568" y="1564187"/>
            <a:ext cx="6985365"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段页式管理时的进程的虚拟地址空间中的</a:t>
            </a:r>
            <a:r>
              <a:rPr lang="zh-CN" altLang="en-US" sz="2400" b="1" dirty="0" smtClean="0">
                <a:solidFill>
                  <a:schemeClr val="bg1"/>
                </a:solidFill>
                <a:latin typeface="+mn-ea"/>
              </a:rPr>
              <a:t>虚拟地址，对于</a:t>
            </a:r>
            <a:r>
              <a:rPr lang="zh-CN" altLang="en-US" sz="2400" b="1" dirty="0" smtClean="0">
                <a:solidFill>
                  <a:srgbClr val="FFFF00"/>
                </a:solidFill>
                <a:latin typeface="+mn-ea"/>
              </a:rPr>
              <a:t>程序员</a:t>
            </a:r>
            <a:r>
              <a:rPr lang="zh-CN" altLang="en-US" sz="2400" b="1" dirty="0">
                <a:solidFill>
                  <a:srgbClr val="FFFF00"/>
                </a:solidFill>
                <a:latin typeface="+mn-ea"/>
              </a:rPr>
              <a:t>可见</a:t>
            </a:r>
            <a:r>
              <a:rPr lang="zh-CN" altLang="en-US" sz="2400" b="1" dirty="0">
                <a:solidFill>
                  <a:schemeClr val="bg1"/>
                </a:solidFill>
                <a:latin typeface="+mn-ea"/>
              </a:rPr>
              <a:t>的仍是</a:t>
            </a:r>
            <a:r>
              <a:rPr lang="zh-CN" altLang="en-US" sz="2400" b="1" dirty="0">
                <a:solidFill>
                  <a:srgbClr val="FFFF00"/>
                </a:solidFill>
                <a:latin typeface="+mn-ea"/>
              </a:rPr>
              <a:t>段号</a:t>
            </a:r>
            <a:r>
              <a:rPr lang="en-US" altLang="zh-CN" sz="2400" b="1" dirty="0">
                <a:solidFill>
                  <a:srgbClr val="FFFF00"/>
                </a:solidFill>
                <a:latin typeface="+mn-ea"/>
              </a:rPr>
              <a:t>s</a:t>
            </a:r>
            <a:r>
              <a:rPr lang="zh-CN" altLang="en-US" sz="2400" b="1" dirty="0">
                <a:solidFill>
                  <a:schemeClr val="bg1"/>
                </a:solidFill>
                <a:latin typeface="+mn-ea"/>
              </a:rPr>
              <a:t>和</a:t>
            </a:r>
            <a:r>
              <a:rPr lang="zh-CN" altLang="en-US" sz="2400" b="1" dirty="0">
                <a:solidFill>
                  <a:srgbClr val="FFFF00"/>
                </a:solidFill>
                <a:latin typeface="+mn-ea"/>
              </a:rPr>
              <a:t>段内相对地址</a:t>
            </a:r>
            <a:r>
              <a:rPr lang="en-US" altLang="zh-CN" sz="2400" b="1" dirty="0" smtClean="0">
                <a:solidFill>
                  <a:srgbClr val="FFFF00"/>
                </a:solidFill>
                <a:latin typeface="+mn-ea"/>
              </a:rPr>
              <a:t>w</a:t>
            </a:r>
            <a:r>
              <a:rPr lang="zh-CN" altLang="en-US" sz="2400" b="1" dirty="0">
                <a:solidFill>
                  <a:schemeClr val="bg1"/>
                </a:solidFill>
                <a:latin typeface="+mn-ea"/>
              </a:rPr>
              <a:t>。</a:t>
            </a:r>
            <a:endParaRPr lang="en-US" altLang="zh-CN" sz="2400" b="1" dirty="0" smtClean="0">
              <a:solidFill>
                <a:srgbClr val="FFFF00"/>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地址变换机构</a:t>
            </a:r>
            <a:r>
              <a:rPr lang="zh-CN" altLang="en-US" sz="2400" b="1" dirty="0">
                <a:solidFill>
                  <a:schemeClr val="bg1"/>
                </a:solidFill>
                <a:latin typeface="+mn-ea"/>
              </a:rPr>
              <a:t>把</a:t>
            </a:r>
            <a:r>
              <a:rPr lang="en-US" altLang="zh-CN" sz="2400" b="1" dirty="0">
                <a:solidFill>
                  <a:schemeClr val="bg1"/>
                </a:solidFill>
                <a:latin typeface="+mn-ea"/>
              </a:rPr>
              <a:t>w</a:t>
            </a:r>
            <a:r>
              <a:rPr lang="zh-CN" altLang="en-US" sz="2400" b="1" dirty="0">
                <a:solidFill>
                  <a:schemeClr val="bg1"/>
                </a:solidFill>
                <a:latin typeface="+mn-ea"/>
              </a:rPr>
              <a:t>的高几位解释成页号</a:t>
            </a:r>
            <a:r>
              <a:rPr lang="en-US" altLang="zh-CN" sz="2400" b="1" dirty="0">
                <a:solidFill>
                  <a:schemeClr val="bg1"/>
                </a:solidFill>
                <a:latin typeface="+mn-ea"/>
              </a:rPr>
              <a:t>p</a:t>
            </a:r>
            <a:r>
              <a:rPr lang="zh-CN" altLang="en-US" sz="2400" b="1" dirty="0">
                <a:solidFill>
                  <a:schemeClr val="bg1"/>
                </a:solidFill>
                <a:latin typeface="+mn-ea"/>
              </a:rPr>
              <a:t>，以及把剩下的低位解释为页内地址</a:t>
            </a:r>
            <a:r>
              <a:rPr lang="en-US" altLang="zh-CN" sz="2400" b="1" dirty="0" smtClean="0">
                <a:solidFill>
                  <a:schemeClr val="bg1"/>
                </a:solidFill>
                <a:latin typeface="+mn-ea"/>
              </a:rPr>
              <a:t>d</a:t>
            </a:r>
            <a:r>
              <a:rPr lang="zh-CN" altLang="en-US" sz="2400" b="1" dirty="0" smtClean="0">
                <a:solidFill>
                  <a:schemeClr val="bg1"/>
                </a:solidFill>
                <a:latin typeface="+mn-ea"/>
              </a:rPr>
              <a:t>，因此整个虚拟地址由</a:t>
            </a:r>
            <a:r>
              <a:rPr lang="zh-CN" altLang="en-US" sz="2400" b="1" dirty="0">
                <a:solidFill>
                  <a:schemeClr val="bg1"/>
                </a:solidFill>
                <a:latin typeface="+mn-ea"/>
              </a:rPr>
              <a:t>三部分组成：即</a:t>
            </a:r>
            <a:r>
              <a:rPr lang="zh-CN" altLang="en-US" sz="2400" b="1" dirty="0">
                <a:solidFill>
                  <a:srgbClr val="FFFF00"/>
                </a:solidFill>
                <a:latin typeface="+mn-ea"/>
              </a:rPr>
              <a:t>段号</a:t>
            </a:r>
            <a:r>
              <a:rPr lang="en-US" altLang="zh-CN" sz="2400" b="1" dirty="0">
                <a:solidFill>
                  <a:srgbClr val="FFFF00"/>
                </a:solidFill>
                <a:latin typeface="+mn-ea"/>
              </a:rPr>
              <a:t>s</a:t>
            </a:r>
            <a:r>
              <a:rPr lang="zh-CN" altLang="en-US" sz="2400" b="1" dirty="0">
                <a:solidFill>
                  <a:schemeClr val="bg1"/>
                </a:solidFill>
                <a:latin typeface="+mn-ea"/>
              </a:rPr>
              <a:t>，</a:t>
            </a:r>
            <a:r>
              <a:rPr lang="zh-CN" altLang="en-US" sz="2400" b="1" dirty="0">
                <a:solidFill>
                  <a:srgbClr val="FFFF00"/>
                </a:solidFill>
                <a:latin typeface="+mn-ea"/>
              </a:rPr>
              <a:t>页号</a:t>
            </a:r>
            <a:r>
              <a:rPr lang="en-US" altLang="zh-CN" sz="2400" b="1" dirty="0">
                <a:solidFill>
                  <a:srgbClr val="FFFF00"/>
                </a:solidFill>
                <a:latin typeface="+mn-ea"/>
              </a:rPr>
              <a:t>p</a:t>
            </a:r>
            <a:r>
              <a:rPr lang="zh-CN" altLang="en-US" sz="2400" b="1" dirty="0">
                <a:solidFill>
                  <a:schemeClr val="bg1"/>
                </a:solidFill>
                <a:latin typeface="+mn-ea"/>
              </a:rPr>
              <a:t>和</a:t>
            </a:r>
            <a:r>
              <a:rPr lang="zh-CN" altLang="en-US" sz="2400" b="1" dirty="0">
                <a:solidFill>
                  <a:srgbClr val="FFFF00"/>
                </a:solidFill>
                <a:latin typeface="+mn-ea"/>
              </a:rPr>
              <a:t>页内相对地址</a:t>
            </a:r>
            <a:r>
              <a:rPr lang="en-US" altLang="zh-CN" sz="2400" b="1" dirty="0">
                <a:solidFill>
                  <a:srgbClr val="FFFF00"/>
                </a:solidFill>
                <a:latin typeface="+mn-ea"/>
              </a:rPr>
              <a:t>d</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pic>
        <p:nvPicPr>
          <p:cNvPr id="2" name="图片 1"/>
          <p:cNvPicPr>
            <a:picLocks noChangeAspect="1"/>
          </p:cNvPicPr>
          <p:nvPr/>
        </p:nvPicPr>
        <p:blipFill rotWithShape="1">
          <a:blip r:embed="rId3"/>
          <a:srcRect l="13136" r="7520"/>
          <a:stretch>
            <a:fillRect/>
          </a:stretch>
        </p:blipFill>
        <p:spPr>
          <a:xfrm>
            <a:off x="5724128" y="225017"/>
            <a:ext cx="3168353" cy="1440160"/>
          </a:xfrm>
          <a:prstGeom prst="rect">
            <a:avLst/>
          </a:prstGeom>
        </p:spPr>
      </p:pic>
    </p:spTree>
    <p:extLst>
      <p:ext uri="{BB962C8B-B14F-4D97-AF65-F5344CB8AC3E}">
        <p14:creationId xmlns:p14="http://schemas.microsoft.com/office/powerpoint/2010/main" val="6921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xEl>
                                              <p:pRg st="1" end="1"/>
                                            </p:txEl>
                                          </p:spTgt>
                                        </p:tgtEl>
                                        <p:attrNameLst>
                                          <p:attrName>style.visibility</p:attrName>
                                        </p:attrNameLst>
                                      </p:cBhvr>
                                      <p:to>
                                        <p:strVal val="visible"/>
                                      </p:to>
                                    </p:set>
                                    <p:animEffect transition="in" filter="wipe(left)">
                                      <p:cBhvr>
                                        <p:cTn id="17" dur="500"/>
                                        <p:tgtEl>
                                          <p:spTgt spid="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段页式管理的实现</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虚地址的构成</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491630"/>
            <a:ext cx="6913357"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由于虚拟空间的最小单位是页而不是段，从而</a:t>
            </a:r>
            <a:r>
              <a:rPr lang="zh-CN" altLang="en-US" sz="2400" b="1" dirty="0">
                <a:solidFill>
                  <a:srgbClr val="FFFF00"/>
                </a:solidFill>
                <a:latin typeface="+mn-ea"/>
              </a:rPr>
              <a:t>内存可用区</a:t>
            </a:r>
            <a:r>
              <a:rPr lang="zh-CN" altLang="en-US" sz="2400" b="1" dirty="0">
                <a:solidFill>
                  <a:schemeClr val="bg1"/>
                </a:solidFill>
                <a:latin typeface="+mn-ea"/>
              </a:rPr>
              <a:t>也就被划分成为</a:t>
            </a:r>
            <a:r>
              <a:rPr lang="zh-CN" altLang="en-US" sz="2400" b="1" dirty="0">
                <a:solidFill>
                  <a:srgbClr val="FFFF00"/>
                </a:solidFill>
                <a:latin typeface="+mn-ea"/>
              </a:rPr>
              <a:t>若干个大小相等的页面</a:t>
            </a:r>
            <a:r>
              <a:rPr lang="zh-CN" altLang="en-US" sz="2400" b="1" dirty="0">
                <a:solidFill>
                  <a:schemeClr val="bg1"/>
                </a:solidFill>
                <a:latin typeface="+mn-ea"/>
              </a:rPr>
              <a:t>，且</a:t>
            </a:r>
            <a:r>
              <a:rPr lang="zh-CN" altLang="en-US" sz="2400" b="1" dirty="0">
                <a:solidFill>
                  <a:srgbClr val="FFFF00"/>
                </a:solidFill>
                <a:latin typeface="+mn-ea"/>
              </a:rPr>
              <a:t>每段</a:t>
            </a:r>
            <a:r>
              <a:rPr lang="zh-CN" altLang="en-US" sz="2400" b="1" dirty="0">
                <a:solidFill>
                  <a:schemeClr val="bg1"/>
                </a:solidFill>
                <a:latin typeface="+mn-ea"/>
              </a:rPr>
              <a:t>所拥有的</a:t>
            </a:r>
            <a:r>
              <a:rPr lang="zh-CN" altLang="en-US" sz="2400" b="1" dirty="0">
                <a:solidFill>
                  <a:srgbClr val="FFFF00"/>
                </a:solidFill>
                <a:latin typeface="+mn-ea"/>
              </a:rPr>
              <a:t>程序</a:t>
            </a:r>
            <a:r>
              <a:rPr lang="zh-CN" altLang="en-US" sz="2400" b="1" dirty="0">
                <a:solidFill>
                  <a:schemeClr val="bg1"/>
                </a:solidFill>
                <a:latin typeface="+mn-ea"/>
              </a:rPr>
              <a:t>和</a:t>
            </a:r>
            <a:r>
              <a:rPr lang="zh-CN" altLang="en-US" sz="2400" b="1" dirty="0">
                <a:solidFill>
                  <a:srgbClr val="FFFF00"/>
                </a:solidFill>
                <a:latin typeface="+mn-ea"/>
              </a:rPr>
              <a:t>数据</a:t>
            </a:r>
            <a:r>
              <a:rPr lang="zh-CN" altLang="en-US" sz="2400" b="1" dirty="0">
                <a:solidFill>
                  <a:schemeClr val="bg1"/>
                </a:solidFill>
                <a:latin typeface="+mn-ea"/>
              </a:rPr>
              <a:t>在</a:t>
            </a:r>
            <a:r>
              <a:rPr lang="zh-CN" altLang="en-US" sz="2400" b="1" dirty="0">
                <a:solidFill>
                  <a:srgbClr val="FFFF00"/>
                </a:solidFill>
                <a:latin typeface="+mn-ea"/>
              </a:rPr>
              <a:t>内存</a:t>
            </a:r>
            <a:r>
              <a:rPr lang="zh-CN" altLang="en-US" sz="2400" b="1" dirty="0">
                <a:solidFill>
                  <a:schemeClr val="bg1"/>
                </a:solidFill>
                <a:latin typeface="+mn-ea"/>
              </a:rPr>
              <a:t>中可以</a:t>
            </a:r>
            <a:r>
              <a:rPr lang="zh-CN" altLang="en-US" sz="2400" b="1" dirty="0">
                <a:solidFill>
                  <a:srgbClr val="FFFF00"/>
                </a:solidFill>
                <a:latin typeface="+mn-ea"/>
              </a:rPr>
              <a:t>分开存放</a:t>
            </a:r>
            <a:r>
              <a:rPr lang="zh-CN" altLang="en-US" sz="2400" b="1" dirty="0">
                <a:solidFill>
                  <a:schemeClr val="bg1"/>
                </a:solidFill>
                <a:latin typeface="+mn-ea"/>
              </a:rPr>
              <a:t>。分段的大小也不再受内存可用区的限制。</a:t>
            </a:r>
          </a:p>
          <a:p>
            <a:pPr marL="0" lvl="1" indent="-285750" algn="just">
              <a:lnSpc>
                <a:spcPct val="150000"/>
              </a:lnSpc>
              <a:buClr>
                <a:schemeClr val="accent6">
                  <a:lumMod val="60000"/>
                  <a:lumOff val="40000"/>
                </a:schemeClr>
              </a:buClr>
              <a:buFont typeface="Wingdings" panose="05000000000000000000" pitchFamily="2" charset="2"/>
              <a:buChar char="Ø"/>
            </a:pPr>
            <a:endParaRPr lang="en-US" altLang="zh-CN" sz="2400" b="1" dirty="0">
              <a:solidFill>
                <a:schemeClr val="bg1"/>
              </a:solidFill>
              <a:latin typeface="+mn-ea"/>
            </a:endParaRPr>
          </a:p>
        </p:txBody>
      </p:sp>
    </p:spTree>
    <p:extLst>
      <p:ext uri="{BB962C8B-B14F-4D97-AF65-F5344CB8AC3E}">
        <p14:creationId xmlns:p14="http://schemas.microsoft.com/office/powerpoint/2010/main" val="411436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段页式管理的实现</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段页和段表</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491630"/>
            <a:ext cx="6913357" cy="277576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为了</a:t>
            </a:r>
            <a:r>
              <a:rPr lang="zh-CN" altLang="en-US" sz="2400" b="1" dirty="0">
                <a:solidFill>
                  <a:schemeClr val="bg1"/>
                </a:solidFill>
                <a:latin typeface="+mn-ea"/>
              </a:rPr>
              <a:t>实现段页式管理，系统必须为每个作业或进程建立一张</a:t>
            </a:r>
            <a:r>
              <a:rPr lang="zh-CN" altLang="en-US" sz="2400" b="1" dirty="0">
                <a:solidFill>
                  <a:srgbClr val="FFFF00"/>
                </a:solidFill>
                <a:latin typeface="+mn-ea"/>
              </a:rPr>
              <a:t>段表</a:t>
            </a:r>
            <a:r>
              <a:rPr lang="zh-CN" altLang="en-US" sz="2400" b="1" dirty="0">
                <a:solidFill>
                  <a:schemeClr val="bg1"/>
                </a:solidFill>
                <a:latin typeface="+mn-ea"/>
              </a:rPr>
              <a:t>，管理内存分配与释放、缺段处理、存储保护和地址变换等。另外，由于一个段又被划分成了若干页，每个段又必须建立一张</a:t>
            </a:r>
            <a:r>
              <a:rPr lang="zh-CN" altLang="en-US" sz="2400" b="1" dirty="0">
                <a:solidFill>
                  <a:srgbClr val="FFFF00"/>
                </a:solidFill>
                <a:latin typeface="+mn-ea"/>
              </a:rPr>
              <a:t>页表</a:t>
            </a:r>
            <a:r>
              <a:rPr lang="zh-CN" altLang="en-US" sz="2400" b="1" dirty="0">
                <a:solidFill>
                  <a:schemeClr val="bg1"/>
                </a:solidFill>
                <a:latin typeface="+mn-ea"/>
              </a:rPr>
              <a:t>，把段中的虚页变换成内存中的实际页面</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313767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段页式管理的实现</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原理</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段页和段表</a:t>
            </a:r>
            <a:endPar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491630"/>
            <a:ext cx="6913357"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显然，与</a:t>
            </a:r>
            <a:r>
              <a:rPr lang="zh-CN" altLang="en-US" sz="2400" b="1" dirty="0">
                <a:solidFill>
                  <a:schemeClr val="bg1"/>
                </a:solidFill>
                <a:latin typeface="+mn-ea"/>
              </a:rPr>
              <a:t>页式管理时相同，页表中也要有实现缺页中断处理和页面保护等功能的表项。另外，由于在段页式管理中，页表不再是属于进程而是属于某个段，因此，</a:t>
            </a:r>
            <a:r>
              <a:rPr lang="zh-CN" altLang="en-US" sz="2400" b="1" dirty="0">
                <a:solidFill>
                  <a:srgbClr val="FFFF00"/>
                </a:solidFill>
                <a:latin typeface="+mn-ea"/>
              </a:rPr>
              <a:t>段表中应有专项指出该段所对应页表的页表始址和页表长度</a:t>
            </a:r>
            <a:r>
              <a:rPr lang="zh-CN" altLang="en-US" sz="2400" b="1" dirty="0">
                <a:solidFill>
                  <a:schemeClr val="bg1"/>
                </a:solidFill>
                <a:latin typeface="+mn-ea"/>
              </a:rPr>
              <a:t>。</a:t>
            </a:r>
            <a:endParaRPr lang="en-US" altLang="zh-CN" sz="2400" b="1" dirty="0">
              <a:solidFill>
                <a:schemeClr val="bg1"/>
              </a:solidFill>
              <a:latin typeface="+mn-ea"/>
            </a:endParaRPr>
          </a:p>
        </p:txBody>
      </p:sp>
      <p:pic>
        <p:nvPicPr>
          <p:cNvPr id="29" name="Picture 2" descr="E:\操作系统教材编写\张校长教材\新版\e33.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99" y="254355"/>
            <a:ext cx="7368804" cy="4707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531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动态地址变换过程</a:t>
            </a:r>
          </a:p>
        </p:txBody>
      </p:sp>
      <p:sp>
        <p:nvSpPr>
          <p:cNvPr id="30" name="矩形 29"/>
          <p:cNvSpPr/>
          <p:nvPr/>
        </p:nvSpPr>
        <p:spPr>
          <a:xfrm>
            <a:off x="827584" y="1491630"/>
            <a:ext cx="6913357"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在一般使用段页式存储管理的计算机系统中，都在内存中辟出一块</a:t>
            </a:r>
            <a:r>
              <a:rPr lang="zh-CN" altLang="en-US" sz="2400" b="1" dirty="0">
                <a:solidFill>
                  <a:srgbClr val="FFFF00"/>
                </a:solidFill>
                <a:latin typeface="+mn-ea"/>
              </a:rPr>
              <a:t>固定的区域</a:t>
            </a:r>
            <a:r>
              <a:rPr lang="zh-CN" altLang="en-US" sz="2400" b="1" dirty="0">
                <a:solidFill>
                  <a:schemeClr val="bg1"/>
                </a:solidFill>
                <a:latin typeface="+mn-ea"/>
              </a:rPr>
              <a:t>存放进程的</a:t>
            </a:r>
            <a:r>
              <a:rPr lang="zh-CN" altLang="en-US" sz="2400" b="1" dirty="0">
                <a:solidFill>
                  <a:srgbClr val="FFFF00"/>
                </a:solidFill>
                <a:latin typeface="+mn-ea"/>
              </a:rPr>
              <a:t>段表</a:t>
            </a:r>
            <a:r>
              <a:rPr lang="zh-CN" altLang="en-US" sz="2400" b="1" dirty="0">
                <a:solidFill>
                  <a:schemeClr val="bg1"/>
                </a:solidFill>
                <a:latin typeface="+mn-ea"/>
              </a:rPr>
              <a:t>和</a:t>
            </a:r>
            <a:r>
              <a:rPr lang="zh-CN" altLang="en-US" sz="2400" b="1" dirty="0">
                <a:solidFill>
                  <a:srgbClr val="FFFF00"/>
                </a:solidFill>
                <a:latin typeface="+mn-ea"/>
              </a:rPr>
              <a:t>页表</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至少需要</a:t>
            </a:r>
            <a:r>
              <a:rPr lang="zh-CN" altLang="en-US" sz="2400" b="1" dirty="0">
                <a:solidFill>
                  <a:srgbClr val="FFFF00"/>
                </a:solidFill>
                <a:latin typeface="+mn-ea"/>
              </a:rPr>
              <a:t>访问三次以上的内存</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215165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动态地址变换过程</a:t>
            </a:r>
          </a:p>
        </p:txBody>
      </p:sp>
      <p:sp>
        <p:nvSpPr>
          <p:cNvPr id="30" name="矩形 29"/>
          <p:cNvSpPr/>
          <p:nvPr/>
        </p:nvSpPr>
        <p:spPr>
          <a:xfrm>
            <a:off x="797490" y="1062443"/>
            <a:ext cx="3465301"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第一次</a:t>
            </a:r>
            <a:r>
              <a:rPr lang="zh-CN" altLang="en-US" sz="2400" b="1" dirty="0">
                <a:solidFill>
                  <a:schemeClr val="bg1"/>
                </a:solidFill>
                <a:latin typeface="+mn-ea"/>
              </a:rPr>
              <a:t>是由段表地址寄存器得到段表始址去</a:t>
            </a:r>
            <a:r>
              <a:rPr lang="zh-CN" altLang="en-US" sz="2400" b="1" dirty="0">
                <a:solidFill>
                  <a:srgbClr val="FFFF00"/>
                </a:solidFill>
                <a:latin typeface="+mn-ea"/>
              </a:rPr>
              <a:t>访问段表</a:t>
            </a:r>
            <a:r>
              <a:rPr lang="zh-CN" altLang="en-US" sz="2400" b="1" dirty="0">
                <a:solidFill>
                  <a:schemeClr val="bg1"/>
                </a:solidFill>
                <a:latin typeface="+mn-ea"/>
              </a:rPr>
              <a:t>，由此取出对应段的页表地址</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pic>
        <p:nvPicPr>
          <p:cNvPr id="29" name="Picture 2" descr="E:\操作系统教材编写\张校长教材\新版\e33.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4533" y="584361"/>
            <a:ext cx="4530462" cy="289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797490" y="3475736"/>
            <a:ext cx="7086878" cy="120032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第二次则是</a:t>
            </a:r>
            <a:r>
              <a:rPr lang="zh-CN" altLang="en-US" sz="2400" b="1" dirty="0">
                <a:solidFill>
                  <a:srgbClr val="FFFF00"/>
                </a:solidFill>
                <a:latin typeface="+mn-ea"/>
              </a:rPr>
              <a:t>访问页表</a:t>
            </a:r>
            <a:r>
              <a:rPr lang="zh-CN" altLang="en-US" sz="2400" b="1" dirty="0">
                <a:solidFill>
                  <a:schemeClr val="bg1"/>
                </a:solidFill>
                <a:latin typeface="+mn-ea"/>
              </a:rPr>
              <a:t>得到所要访问的物理地址。只有在访问了段表和页表</a:t>
            </a:r>
            <a:r>
              <a:rPr lang="zh-CN" altLang="en-US" sz="2400" b="1" dirty="0" smtClean="0">
                <a:solidFill>
                  <a:schemeClr val="bg1"/>
                </a:solidFill>
                <a:latin typeface="+mn-ea"/>
              </a:rPr>
              <a:t>之后</a:t>
            </a:r>
            <a:endParaRPr lang="en-US" altLang="zh-CN" sz="2400" b="1" dirty="0">
              <a:solidFill>
                <a:schemeClr val="bg1"/>
              </a:solidFill>
              <a:latin typeface="+mn-ea"/>
            </a:endParaRPr>
          </a:p>
        </p:txBody>
      </p:sp>
    </p:spTree>
    <p:extLst>
      <p:ext uri="{BB962C8B-B14F-4D97-AF65-F5344CB8AC3E}">
        <p14:creationId xmlns:p14="http://schemas.microsoft.com/office/powerpoint/2010/main" val="134175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动态地址变换过程</a:t>
            </a:r>
          </a:p>
        </p:txBody>
      </p:sp>
      <p:pic>
        <p:nvPicPr>
          <p:cNvPr id="29" name="Picture 2" descr="E:\操作系统教材编写\张校长教材\新版\e33.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8795" y="1079409"/>
            <a:ext cx="4530462" cy="289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41395" y="1344876"/>
            <a:ext cx="3429665"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第三</a:t>
            </a:r>
            <a:r>
              <a:rPr lang="zh-CN" altLang="en-US" sz="2400" b="1" dirty="0">
                <a:solidFill>
                  <a:schemeClr val="bg1"/>
                </a:solidFill>
                <a:latin typeface="+mn-ea"/>
              </a:rPr>
              <a:t>次才能访问真正需要访问的</a:t>
            </a:r>
            <a:r>
              <a:rPr lang="zh-CN" altLang="en-US" sz="2400" b="1" dirty="0">
                <a:solidFill>
                  <a:srgbClr val="FFFF00"/>
                </a:solidFill>
                <a:latin typeface="+mn-ea"/>
              </a:rPr>
              <a:t>物理单元</a:t>
            </a:r>
            <a:r>
              <a:rPr lang="zh-CN" altLang="en-US" sz="2400" b="1" dirty="0">
                <a:solidFill>
                  <a:schemeClr val="bg1"/>
                </a:solidFill>
                <a:latin typeface="+mn-ea"/>
              </a:rPr>
              <a:t>。显然，这将使</a:t>
            </a:r>
            <a:r>
              <a:rPr lang="en-US" altLang="zh-CN" sz="2400" b="1" dirty="0">
                <a:solidFill>
                  <a:schemeClr val="bg1"/>
                </a:solidFill>
                <a:latin typeface="+mn-ea"/>
              </a:rPr>
              <a:t>CPU</a:t>
            </a:r>
            <a:r>
              <a:rPr lang="zh-CN" altLang="en-US" sz="2400" b="1" dirty="0">
                <a:solidFill>
                  <a:schemeClr val="bg1"/>
                </a:solidFill>
                <a:latin typeface="+mn-ea"/>
              </a:rPr>
              <a:t>的执行指令速度大大降低。</a:t>
            </a:r>
            <a:endParaRPr lang="en-US" altLang="zh-CN" sz="2400" b="1" dirty="0">
              <a:solidFill>
                <a:schemeClr val="bg1"/>
              </a:solidFill>
              <a:latin typeface="+mn-ea"/>
            </a:endParaRPr>
          </a:p>
        </p:txBody>
      </p:sp>
    </p:spTree>
    <p:extLst>
      <p:ext uri="{BB962C8B-B14F-4D97-AF65-F5344CB8AC3E}">
        <p14:creationId xmlns:p14="http://schemas.microsoft.com/office/powerpoint/2010/main" val="418180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动态地址变换过程</a:t>
            </a:r>
          </a:p>
        </p:txBody>
      </p:sp>
      <p:sp>
        <p:nvSpPr>
          <p:cNvPr id="30" name="矩形 29"/>
          <p:cNvSpPr/>
          <p:nvPr/>
        </p:nvSpPr>
        <p:spPr>
          <a:xfrm>
            <a:off x="827584" y="1419622"/>
            <a:ext cx="6913357"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设置</a:t>
            </a:r>
            <a:r>
              <a:rPr lang="zh-CN" altLang="en-US" sz="2400" b="1" dirty="0">
                <a:solidFill>
                  <a:srgbClr val="FFFF00"/>
                </a:solidFill>
                <a:latin typeface="+mn-ea"/>
              </a:rPr>
              <a:t>快速联想</a:t>
            </a:r>
            <a:r>
              <a:rPr lang="zh-CN" altLang="en-US" sz="2400" b="1" dirty="0" smtClean="0">
                <a:solidFill>
                  <a:srgbClr val="FFFF00"/>
                </a:solidFill>
                <a:latin typeface="+mn-ea"/>
              </a:rPr>
              <a:t>寄存器</a:t>
            </a:r>
            <a:r>
              <a:rPr lang="en-US" altLang="zh-CN" sz="2400" b="1" dirty="0" smtClean="0">
                <a:solidFill>
                  <a:schemeClr val="bg1"/>
                </a:solidFill>
                <a:latin typeface="+mn-ea"/>
              </a:rPr>
              <a:t>,</a:t>
            </a:r>
            <a:r>
              <a:rPr lang="zh-CN" altLang="en-US" sz="2400" b="1" dirty="0" smtClean="0">
                <a:solidFill>
                  <a:schemeClr val="bg1"/>
                </a:solidFill>
                <a:latin typeface="+mn-ea"/>
              </a:rPr>
              <a:t>在其中存放</a:t>
            </a:r>
            <a:r>
              <a:rPr lang="zh-CN" altLang="en-US" sz="2400" b="1" dirty="0">
                <a:solidFill>
                  <a:schemeClr val="bg1"/>
                </a:solidFill>
                <a:latin typeface="+mn-ea"/>
              </a:rPr>
              <a:t>当前</a:t>
            </a:r>
            <a:r>
              <a:rPr lang="zh-CN" altLang="en-US" sz="2400" b="1" dirty="0">
                <a:solidFill>
                  <a:srgbClr val="FFFF00"/>
                </a:solidFill>
                <a:latin typeface="+mn-ea"/>
              </a:rPr>
              <a:t>最常用的段号</a:t>
            </a:r>
            <a:r>
              <a:rPr lang="en-US" altLang="zh-CN" sz="2400" b="1" dirty="0">
                <a:solidFill>
                  <a:srgbClr val="FFFF00"/>
                </a:solidFill>
                <a:latin typeface="+mn-ea"/>
              </a:rPr>
              <a:t>s</a:t>
            </a:r>
            <a:r>
              <a:rPr lang="zh-CN" altLang="en-US" sz="2400" b="1" dirty="0">
                <a:solidFill>
                  <a:srgbClr val="FFFF00"/>
                </a:solidFill>
                <a:latin typeface="+mn-ea"/>
              </a:rPr>
              <a:t>、页号</a:t>
            </a:r>
            <a:r>
              <a:rPr lang="en-US" altLang="zh-CN" sz="2400" b="1" dirty="0">
                <a:solidFill>
                  <a:srgbClr val="FFFF00"/>
                </a:solidFill>
                <a:latin typeface="+mn-ea"/>
              </a:rPr>
              <a:t>p</a:t>
            </a:r>
            <a:r>
              <a:rPr lang="zh-CN" altLang="en-US" sz="2400" b="1" dirty="0">
                <a:solidFill>
                  <a:srgbClr val="FFFF00"/>
                </a:solidFill>
                <a:latin typeface="+mn-ea"/>
              </a:rPr>
              <a:t>和对应的内存页面与其他控制用栏目</a:t>
            </a:r>
            <a:r>
              <a:rPr lang="zh-CN" altLang="en-US" sz="2400" b="1" dirty="0">
                <a:solidFill>
                  <a:schemeClr val="bg1"/>
                </a:solidFill>
                <a:latin typeface="+mn-ea"/>
              </a:rPr>
              <a:t>。当要访问内存空间某一单元时，可在通过段表、页表进行内存地址查找的同时，根据快速联想寄存器查找其段号和页号</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131622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动态地址变换过程</a:t>
            </a:r>
          </a:p>
        </p:txBody>
      </p:sp>
      <p:sp>
        <p:nvSpPr>
          <p:cNvPr id="30" name="矩形 29"/>
          <p:cNvSpPr/>
          <p:nvPr/>
        </p:nvSpPr>
        <p:spPr>
          <a:xfrm>
            <a:off x="854006" y="2918750"/>
            <a:ext cx="6913357" cy="153651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经验</a:t>
            </a:r>
            <a:r>
              <a:rPr lang="zh-CN" altLang="en-US" sz="2200" b="1" dirty="0">
                <a:solidFill>
                  <a:schemeClr val="bg1"/>
                </a:solidFill>
                <a:latin typeface="+mn-ea"/>
              </a:rPr>
              <a:t>表明，一个在快速联想寄存器中装有</a:t>
            </a:r>
            <a:r>
              <a:rPr lang="en-US" altLang="zh-CN" sz="2200" b="1" dirty="0">
                <a:solidFill>
                  <a:srgbClr val="FFFF00"/>
                </a:solidFill>
                <a:latin typeface="+mn-ea"/>
              </a:rPr>
              <a:t>1/10</a:t>
            </a:r>
            <a:r>
              <a:rPr lang="zh-CN" altLang="en-US" sz="2200" b="1" dirty="0">
                <a:solidFill>
                  <a:srgbClr val="FFFF00"/>
                </a:solidFill>
                <a:latin typeface="+mn-ea"/>
              </a:rPr>
              <a:t>左右的段号、页号及页面的段页式管理系统</a:t>
            </a:r>
            <a:r>
              <a:rPr lang="zh-CN" altLang="en-US" sz="2200" b="1" dirty="0">
                <a:solidFill>
                  <a:schemeClr val="bg1"/>
                </a:solidFill>
                <a:latin typeface="+mn-ea"/>
              </a:rPr>
              <a:t>，可以通过快速联想寄存器找到</a:t>
            </a:r>
            <a:r>
              <a:rPr lang="en-US" altLang="zh-CN" sz="2200" b="1" dirty="0">
                <a:solidFill>
                  <a:srgbClr val="FFFF00"/>
                </a:solidFill>
                <a:latin typeface="+mn-ea"/>
              </a:rPr>
              <a:t>90%</a:t>
            </a:r>
            <a:r>
              <a:rPr lang="zh-CN" altLang="en-US" sz="2200" b="1" dirty="0">
                <a:solidFill>
                  <a:srgbClr val="FFFF00"/>
                </a:solidFill>
                <a:latin typeface="+mn-ea"/>
              </a:rPr>
              <a:t>以上</a:t>
            </a:r>
            <a:r>
              <a:rPr lang="zh-CN" altLang="en-US" sz="2200" b="1" dirty="0">
                <a:solidFill>
                  <a:schemeClr val="bg1"/>
                </a:solidFill>
                <a:latin typeface="+mn-ea"/>
              </a:rPr>
              <a:t>的所要访问的内存地址。</a:t>
            </a:r>
          </a:p>
        </p:txBody>
      </p:sp>
      <p:pic>
        <p:nvPicPr>
          <p:cNvPr id="29" name="Picture 2" descr="E:\操作系统教材编写\张校长教材\新版\e34.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145" y="164122"/>
            <a:ext cx="7681319" cy="28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a:xfrm>
            <a:off x="6228184" y="225017"/>
            <a:ext cx="2088232" cy="162665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765886" y="202049"/>
            <a:ext cx="5174266" cy="28297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623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wipe(left)">
                                      <p:cBhvr>
                                        <p:cTn id="22"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1"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动态地址变换过程</a:t>
            </a:r>
          </a:p>
        </p:txBody>
      </p:sp>
      <p:sp>
        <p:nvSpPr>
          <p:cNvPr id="30" name="矩形 29"/>
          <p:cNvSpPr/>
          <p:nvPr/>
        </p:nvSpPr>
        <p:spPr>
          <a:xfrm>
            <a:off x="755576" y="1344876"/>
            <a:ext cx="6913357"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因为段页式管理是段式管理的页式管理方案结合而成的，所以</a:t>
            </a:r>
            <a:r>
              <a:rPr lang="zh-CN" altLang="en-US" sz="2200" b="1" dirty="0">
                <a:solidFill>
                  <a:srgbClr val="FFFF00"/>
                </a:solidFill>
                <a:latin typeface="+mn-ea"/>
              </a:rPr>
              <a:t>具有它们二者的优点</a:t>
            </a:r>
            <a:r>
              <a:rPr lang="zh-CN" altLang="en-US" sz="2200" b="1" dirty="0">
                <a:solidFill>
                  <a:schemeClr val="bg1"/>
                </a:solidFill>
                <a:latin typeface="+mn-ea"/>
              </a:rPr>
              <a:t>。但反过来说，由于管理软件的增加，</a:t>
            </a:r>
            <a:r>
              <a:rPr lang="zh-CN" altLang="en-US" sz="2200" b="1" dirty="0">
                <a:solidFill>
                  <a:srgbClr val="FFFF00"/>
                </a:solidFill>
                <a:latin typeface="+mn-ea"/>
              </a:rPr>
              <a:t>复杂性和开销也就随之增加</a:t>
            </a:r>
            <a:r>
              <a:rPr lang="zh-CN" altLang="en-US" sz="2200" b="1" dirty="0">
                <a:solidFill>
                  <a:schemeClr val="bg1"/>
                </a:solidFill>
                <a:latin typeface="+mn-ea"/>
              </a:rPr>
              <a:t>了。另外，需要的</a:t>
            </a:r>
            <a:r>
              <a:rPr lang="zh-CN" altLang="en-US" sz="2200" b="1" dirty="0">
                <a:solidFill>
                  <a:srgbClr val="FFFF00"/>
                </a:solidFill>
                <a:latin typeface="+mn-ea"/>
              </a:rPr>
              <a:t>硬件</a:t>
            </a:r>
            <a:r>
              <a:rPr lang="zh-CN" altLang="en-US" sz="2200" b="1" dirty="0">
                <a:solidFill>
                  <a:schemeClr val="bg1"/>
                </a:solidFill>
                <a:latin typeface="+mn-ea"/>
              </a:rPr>
              <a:t>以及</a:t>
            </a:r>
            <a:r>
              <a:rPr lang="zh-CN" altLang="en-US" sz="2200" b="1" dirty="0">
                <a:solidFill>
                  <a:srgbClr val="FFFF00"/>
                </a:solidFill>
                <a:latin typeface="+mn-ea"/>
              </a:rPr>
              <a:t>占用的内存也有所增加</a:t>
            </a:r>
            <a:r>
              <a:rPr lang="zh-CN" altLang="en-US" sz="2200" b="1" dirty="0">
                <a:solidFill>
                  <a:schemeClr val="bg1"/>
                </a:solidFill>
                <a:latin typeface="+mn-ea"/>
              </a:rPr>
              <a:t>。更重要的是，如果不采用联想寄存器的方式提高</a:t>
            </a:r>
            <a:r>
              <a:rPr lang="en-US" altLang="zh-CN" sz="2200" b="1" dirty="0">
                <a:solidFill>
                  <a:schemeClr val="bg1"/>
                </a:solidFill>
                <a:latin typeface="+mn-ea"/>
              </a:rPr>
              <a:t>CPU</a:t>
            </a:r>
            <a:r>
              <a:rPr lang="zh-CN" altLang="en-US" sz="2200" b="1" dirty="0">
                <a:solidFill>
                  <a:schemeClr val="bg1"/>
                </a:solidFill>
                <a:latin typeface="+mn-ea"/>
              </a:rPr>
              <a:t>的访内速度，将会使得执行速度大大下降。</a:t>
            </a:r>
          </a:p>
        </p:txBody>
      </p:sp>
    </p:spTree>
    <p:extLst>
      <p:ext uri="{BB962C8B-B14F-4D97-AF65-F5344CB8AC3E}">
        <p14:creationId xmlns:p14="http://schemas.microsoft.com/office/powerpoint/2010/main" val="308643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实验六</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作业调度模拟 </a:t>
            </a:r>
          </a:p>
        </p:txBody>
      </p:sp>
      <p:sp>
        <p:nvSpPr>
          <p:cNvPr id="30" name="矩形 29"/>
          <p:cNvSpPr/>
          <p:nvPr/>
        </p:nvSpPr>
        <p:spPr>
          <a:xfrm>
            <a:off x="755576" y="1229306"/>
            <a:ext cx="7109897" cy="161582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实验目的：</a:t>
            </a:r>
            <a:endParaRPr lang="zh-CN" altLang="en-US" sz="2200" b="1" dirty="0">
              <a:solidFill>
                <a:schemeClr val="bg1"/>
              </a:solidFill>
              <a:latin typeface="+mn-ea"/>
            </a:endParaRPr>
          </a:p>
          <a:p>
            <a:pPr marL="342900" indent="17780">
              <a:lnSpc>
                <a:spcPct val="150000"/>
              </a:lnSpc>
              <a:buClr>
                <a:srgbClr val="FF5050"/>
              </a:buClr>
              <a:buFont typeface="Wingdings" panose="05000000000000000000" pitchFamily="2" charset="2"/>
              <a:buChar char="n"/>
            </a:pPr>
            <a:r>
              <a:rPr lang="zh-CN" altLang="en-US" sz="2200" b="1" dirty="0">
                <a:solidFill>
                  <a:schemeClr val="bg1"/>
                </a:solidFill>
                <a:latin typeface="+mn-ea"/>
              </a:rPr>
              <a:t>本实验要求学生模拟作业调度的实现，了解作业调度在操作系统中的作用。</a:t>
            </a:r>
          </a:p>
        </p:txBody>
      </p:sp>
    </p:spTree>
    <p:extLst>
      <p:ext uri="{BB962C8B-B14F-4D97-AF65-F5344CB8AC3E}">
        <p14:creationId xmlns:p14="http://schemas.microsoft.com/office/powerpoint/2010/main" val="118410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实验六</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作业调度模拟 </a:t>
            </a:r>
          </a:p>
        </p:txBody>
      </p:sp>
      <p:sp>
        <p:nvSpPr>
          <p:cNvPr id="30" name="矩形 29"/>
          <p:cNvSpPr/>
          <p:nvPr/>
        </p:nvSpPr>
        <p:spPr>
          <a:xfrm>
            <a:off x="755576" y="945968"/>
            <a:ext cx="7109897" cy="3501921"/>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实验要求：</a:t>
            </a:r>
            <a:endParaRPr lang="zh-CN" altLang="en-US" sz="2000" b="1" dirty="0">
              <a:solidFill>
                <a:schemeClr val="bg1"/>
              </a:solidFill>
              <a:latin typeface="+mn-ea"/>
            </a:endParaRPr>
          </a:p>
          <a:p>
            <a:pPr marL="342900" indent="17780">
              <a:lnSpc>
                <a:spcPct val="125000"/>
              </a:lnSpc>
              <a:buClr>
                <a:srgbClr val="FF5050"/>
              </a:buClr>
              <a:buFont typeface="Wingdings" panose="05000000000000000000" pitchFamily="2" charset="2"/>
              <a:buChar char="n"/>
            </a:pPr>
            <a:r>
              <a:rPr lang="en-US" altLang="zh-CN" sz="2000" b="1" dirty="0">
                <a:solidFill>
                  <a:schemeClr val="bg1"/>
                </a:solidFill>
                <a:latin typeface="+mn-ea"/>
              </a:rPr>
              <a:t>1</a:t>
            </a:r>
            <a:r>
              <a:rPr lang="zh-CN" altLang="en-US" sz="2000" b="1" dirty="0">
                <a:solidFill>
                  <a:schemeClr val="bg1"/>
                </a:solidFill>
                <a:latin typeface="+mn-ea"/>
              </a:rPr>
              <a:t>、预习作业调度的各种算法的思路；</a:t>
            </a:r>
          </a:p>
          <a:p>
            <a:pPr marL="342900" indent="17780">
              <a:lnSpc>
                <a:spcPct val="125000"/>
              </a:lnSpc>
              <a:buClr>
                <a:srgbClr val="FF5050"/>
              </a:buClr>
              <a:buFont typeface="Wingdings" panose="05000000000000000000" pitchFamily="2" charset="2"/>
              <a:buChar char="n"/>
            </a:pPr>
            <a:r>
              <a:rPr lang="en-US" altLang="zh-CN" sz="2000" b="1" dirty="0">
                <a:solidFill>
                  <a:schemeClr val="bg1"/>
                </a:solidFill>
                <a:latin typeface="+mn-ea"/>
              </a:rPr>
              <a:t>2</a:t>
            </a:r>
            <a:r>
              <a:rPr lang="zh-CN" altLang="en-US" sz="2000" b="1" dirty="0">
                <a:solidFill>
                  <a:schemeClr val="bg1"/>
                </a:solidFill>
                <a:latin typeface="+mn-ea"/>
              </a:rPr>
              <a:t>、完成实验报告，交任课教师；</a:t>
            </a:r>
          </a:p>
          <a:p>
            <a:pPr marL="342900" indent="17780">
              <a:lnSpc>
                <a:spcPct val="125000"/>
              </a:lnSpc>
              <a:buClr>
                <a:srgbClr val="FF5050"/>
              </a:buClr>
              <a:buFont typeface="Wingdings" panose="05000000000000000000" pitchFamily="2" charset="2"/>
              <a:buChar char="n"/>
            </a:pPr>
            <a:r>
              <a:rPr lang="en-US" altLang="zh-CN" sz="2000" b="1" dirty="0">
                <a:solidFill>
                  <a:schemeClr val="bg1"/>
                </a:solidFill>
                <a:latin typeface="+mn-ea"/>
              </a:rPr>
              <a:t>3</a:t>
            </a:r>
            <a:r>
              <a:rPr lang="zh-CN" altLang="en-US" sz="2000" b="1" dirty="0">
                <a:solidFill>
                  <a:schemeClr val="bg1"/>
                </a:solidFill>
                <a:latin typeface="+mn-ea"/>
              </a:rPr>
              <a:t>、实验报告要求：</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1</a:t>
            </a:r>
            <a:r>
              <a:rPr lang="zh-CN" altLang="en-US" sz="2000" b="1" dirty="0">
                <a:solidFill>
                  <a:schemeClr val="bg1"/>
                </a:solidFill>
                <a:latin typeface="+mn-ea"/>
              </a:rPr>
              <a:t>）实验</a:t>
            </a:r>
            <a:r>
              <a:rPr lang="zh-CN" altLang="en-US" sz="2000" b="1" dirty="0" smtClean="0">
                <a:solidFill>
                  <a:schemeClr val="bg1"/>
                </a:solidFill>
                <a:latin typeface="+mn-ea"/>
              </a:rPr>
              <a:t>目的 （</a:t>
            </a:r>
            <a:r>
              <a:rPr lang="en-US" altLang="zh-CN" sz="2000" b="1" dirty="0">
                <a:solidFill>
                  <a:schemeClr val="bg1"/>
                </a:solidFill>
                <a:latin typeface="+mn-ea"/>
              </a:rPr>
              <a:t>2</a:t>
            </a:r>
            <a:r>
              <a:rPr lang="zh-CN" altLang="en-US" sz="2000" b="1" dirty="0">
                <a:solidFill>
                  <a:schemeClr val="bg1"/>
                </a:solidFill>
                <a:latin typeface="+mn-ea"/>
              </a:rPr>
              <a:t>）程序所用的数据结构及其说明</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3</a:t>
            </a:r>
            <a:r>
              <a:rPr lang="zh-CN" altLang="en-US" sz="2000" b="1" dirty="0">
                <a:solidFill>
                  <a:schemeClr val="bg1"/>
                </a:solidFill>
                <a:latin typeface="+mn-ea"/>
              </a:rPr>
              <a:t>）打印一份源程序且附上注释。</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4</a:t>
            </a:r>
            <a:r>
              <a:rPr lang="zh-CN" altLang="en-US" sz="2000" b="1" dirty="0">
                <a:solidFill>
                  <a:schemeClr val="bg1"/>
                </a:solidFill>
                <a:latin typeface="+mn-ea"/>
              </a:rPr>
              <a:t>）打印程序运行前的作业表，运行不同算法的作业调度程序，打印每选择一个作业后的作业表变化情况以及作业被选中执行的次序。</a:t>
            </a:r>
          </a:p>
        </p:txBody>
      </p:sp>
    </p:spTree>
    <p:extLst>
      <p:ext uri="{BB962C8B-B14F-4D97-AF65-F5344CB8AC3E}">
        <p14:creationId xmlns:p14="http://schemas.microsoft.com/office/powerpoint/2010/main" val="86634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实验六</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作业调度模拟 </a:t>
            </a:r>
          </a:p>
        </p:txBody>
      </p:sp>
      <p:sp>
        <p:nvSpPr>
          <p:cNvPr id="30" name="矩形 29"/>
          <p:cNvSpPr/>
          <p:nvPr/>
        </p:nvSpPr>
        <p:spPr>
          <a:xfrm>
            <a:off x="683568" y="1225430"/>
            <a:ext cx="7272808" cy="1683538"/>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实验内容：</a:t>
            </a:r>
            <a:endParaRPr lang="zh-CN" altLang="en-US" sz="2200" b="1" dirty="0">
              <a:solidFill>
                <a:schemeClr val="bg1"/>
              </a:solidFill>
              <a:latin typeface="+mn-ea"/>
            </a:endParaRPr>
          </a:p>
          <a:p>
            <a:r>
              <a:rPr lang="zh-CN" altLang="en-US" sz="2200" b="1" dirty="0" smtClean="0">
                <a:solidFill>
                  <a:schemeClr val="bg1"/>
                </a:solidFill>
                <a:latin typeface="+mn-ea"/>
              </a:rPr>
              <a:t> </a:t>
            </a:r>
            <a:endParaRPr lang="zh-CN" altLang="en-US" dirty="0"/>
          </a:p>
          <a:p>
            <a:pPr marL="342900" indent="17780">
              <a:lnSpc>
                <a:spcPct val="125000"/>
              </a:lnSpc>
              <a:buClr>
                <a:srgbClr val="FF5050"/>
              </a:buClr>
              <a:buFont typeface="Wingdings" panose="05000000000000000000" pitchFamily="2" charset="2"/>
              <a:buChar char="n"/>
            </a:pPr>
            <a:r>
              <a:rPr lang="zh-CN" altLang="en-US" dirty="0"/>
              <a:t> </a:t>
            </a:r>
            <a:r>
              <a:rPr lang="zh-CN" altLang="en-US" sz="2200" b="1" dirty="0">
                <a:solidFill>
                  <a:schemeClr val="bg1"/>
                </a:solidFill>
                <a:latin typeface="+mn-ea"/>
              </a:rPr>
              <a:t>采用先来先服务算法和运行时间最短者优先算法模拟设计作业调度程序。 </a:t>
            </a:r>
          </a:p>
        </p:txBody>
      </p:sp>
    </p:spTree>
    <p:extLst>
      <p:ext uri="{BB962C8B-B14F-4D97-AF65-F5344CB8AC3E}">
        <p14:creationId xmlns:p14="http://schemas.microsoft.com/office/powerpoint/2010/main" val="1625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wipe(left)">
                                      <p:cBhvr>
                                        <p:cTn id="17" dur="500"/>
                                        <p:tgtEl>
                                          <p:spTgt spid="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611560" y="1038232"/>
            <a:ext cx="7344816" cy="3545586"/>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实验目的：</a:t>
            </a:r>
            <a:endParaRPr lang="zh-CN" altLang="en-US" sz="2200" b="1" dirty="0">
              <a:solidFill>
                <a:schemeClr val="bg1"/>
              </a:solidFill>
              <a:latin typeface="+mn-ea"/>
            </a:endParaRPr>
          </a:p>
          <a:p>
            <a:pPr marL="342900" indent="17780">
              <a:lnSpc>
                <a:spcPct val="150000"/>
              </a:lnSpc>
              <a:buClr>
                <a:srgbClr val="FF5050"/>
              </a:buClr>
              <a:buFont typeface="Wingdings" panose="05000000000000000000" pitchFamily="2" charset="2"/>
              <a:buChar char="n"/>
            </a:pPr>
            <a:r>
              <a:rPr lang="zh-CN" altLang="en-US" sz="2200" b="1" dirty="0" smtClean="0">
                <a:solidFill>
                  <a:schemeClr val="bg1"/>
                </a:solidFill>
                <a:latin typeface="+mn-ea"/>
              </a:rPr>
              <a:t>页式</a:t>
            </a:r>
            <a:r>
              <a:rPr lang="zh-CN" altLang="en-US" sz="2200" b="1" dirty="0">
                <a:solidFill>
                  <a:schemeClr val="bg1"/>
                </a:solidFill>
                <a:latin typeface="+mn-ea"/>
              </a:rPr>
              <a:t>虚拟存储器实现的一个难点是设计页面调度（置换）算法，即将新页面调入内存时，如果内存中所有的物理页都已经分配出去，就要按某种策略来废弃某个页面，将其所占据的物理页释放出来，供新页面使用。</a:t>
            </a:r>
            <a:endParaRPr lang="en-US" altLang="zh-CN" sz="2200" b="1" dirty="0">
              <a:solidFill>
                <a:schemeClr val="bg1"/>
              </a:solidFill>
              <a:latin typeface="+mn-ea"/>
            </a:endParaRPr>
          </a:p>
          <a:p>
            <a:pPr marL="342900" indent="17780">
              <a:lnSpc>
                <a:spcPct val="150000"/>
              </a:lnSpc>
              <a:buClr>
                <a:srgbClr val="FF5050"/>
              </a:buClr>
              <a:buFont typeface="Wingdings" panose="05000000000000000000" pitchFamily="2" charset="2"/>
              <a:buChar char="n"/>
            </a:pPr>
            <a:r>
              <a:rPr lang="zh-CN" altLang="en-US" sz="2200" b="1" dirty="0">
                <a:solidFill>
                  <a:schemeClr val="bg1"/>
                </a:solidFill>
                <a:latin typeface="+mn-ea"/>
              </a:rPr>
              <a:t>本实验的目的是通过编程实现几种常见的页面调度（置换）算法，加深读者对页面思想的理解</a:t>
            </a:r>
          </a:p>
        </p:txBody>
      </p:sp>
    </p:spTree>
    <p:extLst>
      <p:ext uri="{BB962C8B-B14F-4D97-AF65-F5344CB8AC3E}">
        <p14:creationId xmlns:p14="http://schemas.microsoft.com/office/powerpoint/2010/main" val="326011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wipe(left)">
                                      <p:cBhvr>
                                        <p:cTn id="17" dur="500"/>
                                        <p:tgtEl>
                                          <p:spTgt spid="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611560" y="1038232"/>
            <a:ext cx="7344816" cy="3037755"/>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实验要求：</a:t>
            </a:r>
            <a:endParaRPr lang="zh-CN" altLang="en-US" sz="2200" b="1" dirty="0">
              <a:solidFill>
                <a:schemeClr val="bg1"/>
              </a:solidFill>
              <a:latin typeface="+mn-ea"/>
            </a:endParaRPr>
          </a:p>
          <a:p>
            <a:pPr marL="342900" indent="17780">
              <a:lnSpc>
                <a:spcPct val="150000"/>
              </a:lnSpc>
              <a:buClr>
                <a:srgbClr val="FF5050"/>
              </a:buClr>
              <a:buFont typeface="Wingdings" panose="05000000000000000000" pitchFamily="2" charset="2"/>
              <a:buChar char="n"/>
            </a:pPr>
            <a:r>
              <a:rPr lang="en-US" altLang="zh-CN" sz="2200" b="1" dirty="0">
                <a:solidFill>
                  <a:schemeClr val="bg1"/>
                </a:solidFill>
                <a:latin typeface="+mn-ea"/>
              </a:rPr>
              <a:t>1</a:t>
            </a:r>
            <a:r>
              <a:rPr lang="zh-CN" altLang="en-US" sz="2200" b="1" dirty="0">
                <a:solidFill>
                  <a:schemeClr val="bg1"/>
                </a:solidFill>
                <a:latin typeface="+mn-ea"/>
              </a:rPr>
              <a:t>、熟练掌握页面请求算法的原理；</a:t>
            </a:r>
          </a:p>
          <a:p>
            <a:pPr marL="342900" indent="17780">
              <a:lnSpc>
                <a:spcPct val="150000"/>
              </a:lnSpc>
              <a:buClr>
                <a:srgbClr val="FF5050"/>
              </a:buClr>
              <a:buFont typeface="Wingdings" panose="05000000000000000000" pitchFamily="2" charset="2"/>
              <a:buChar char="n"/>
            </a:pPr>
            <a:r>
              <a:rPr lang="en-US" altLang="zh-CN" sz="2200" b="1" dirty="0">
                <a:solidFill>
                  <a:schemeClr val="bg1"/>
                </a:solidFill>
                <a:latin typeface="+mn-ea"/>
              </a:rPr>
              <a:t>2</a:t>
            </a:r>
            <a:r>
              <a:rPr lang="zh-CN" altLang="en-US" sz="2200" b="1" dirty="0">
                <a:solidFill>
                  <a:schemeClr val="bg1"/>
                </a:solidFill>
                <a:latin typeface="+mn-ea"/>
              </a:rPr>
              <a:t>、熟练掌握页面置换算法的思路；</a:t>
            </a:r>
          </a:p>
          <a:p>
            <a:pPr marL="342900" indent="17780">
              <a:lnSpc>
                <a:spcPct val="150000"/>
              </a:lnSpc>
              <a:buClr>
                <a:srgbClr val="FF5050"/>
              </a:buClr>
              <a:buFont typeface="Wingdings" panose="05000000000000000000" pitchFamily="2" charset="2"/>
              <a:buChar char="n"/>
            </a:pPr>
            <a:r>
              <a:rPr lang="en-US" altLang="zh-CN" sz="2200" b="1" dirty="0">
                <a:solidFill>
                  <a:schemeClr val="bg1"/>
                </a:solidFill>
                <a:latin typeface="+mn-ea"/>
              </a:rPr>
              <a:t>3</a:t>
            </a:r>
            <a:r>
              <a:rPr lang="zh-CN" altLang="en-US" sz="2200" b="1" dirty="0">
                <a:solidFill>
                  <a:schemeClr val="bg1"/>
                </a:solidFill>
                <a:latin typeface="+mn-ea"/>
              </a:rPr>
              <a:t>、上机前编写程序源码；</a:t>
            </a:r>
          </a:p>
          <a:p>
            <a:pPr marL="342900" indent="17780">
              <a:lnSpc>
                <a:spcPct val="150000"/>
              </a:lnSpc>
              <a:buClr>
                <a:srgbClr val="FF5050"/>
              </a:buClr>
              <a:buFont typeface="Wingdings" panose="05000000000000000000" pitchFamily="2" charset="2"/>
              <a:buChar char="n"/>
            </a:pPr>
            <a:r>
              <a:rPr lang="en-US" altLang="zh-CN" sz="2200" b="1" dirty="0">
                <a:solidFill>
                  <a:schemeClr val="bg1"/>
                </a:solidFill>
                <a:latin typeface="+mn-ea"/>
              </a:rPr>
              <a:t>4</a:t>
            </a:r>
            <a:r>
              <a:rPr lang="zh-CN" altLang="en-US" sz="2200" b="1" dirty="0">
                <a:solidFill>
                  <a:schemeClr val="bg1"/>
                </a:solidFill>
                <a:latin typeface="+mn-ea"/>
              </a:rPr>
              <a:t>、上机后，写好实验报告和实验结果，实验报告交任课教师。</a:t>
            </a:r>
          </a:p>
        </p:txBody>
      </p:sp>
    </p:spTree>
    <p:extLst>
      <p:ext uri="{BB962C8B-B14F-4D97-AF65-F5344CB8AC3E}">
        <p14:creationId xmlns:p14="http://schemas.microsoft.com/office/powerpoint/2010/main" val="276853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683568" y="1225430"/>
            <a:ext cx="7272808" cy="3145476"/>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实验目的：</a:t>
            </a:r>
            <a:endParaRPr lang="zh-CN" altLang="en-US" sz="2200" b="1" dirty="0">
              <a:solidFill>
                <a:schemeClr val="bg1"/>
              </a:solidFill>
              <a:latin typeface="+mn-ea"/>
            </a:endParaRPr>
          </a:p>
          <a:p>
            <a:r>
              <a:rPr lang="zh-CN" altLang="en-US" sz="2200" b="1" dirty="0" smtClean="0">
                <a:solidFill>
                  <a:schemeClr val="bg1"/>
                </a:solidFill>
                <a:latin typeface="+mn-ea"/>
              </a:rPr>
              <a:t> </a:t>
            </a:r>
            <a:endParaRPr lang="zh-CN" altLang="en-US" dirty="0"/>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页式虚拟存储器实现的一个难点是设计页面调度（置换）算法，即将新页面调入内存时，如果内存中所有的物理页都已经分配出去，就要按某种策略来废弃某个页面，将其所占据的物理页释放出来，供新页面使用</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342900" indent="17780">
              <a:lnSpc>
                <a:spcPct val="125000"/>
              </a:lnSpc>
              <a:buClr>
                <a:srgbClr val="FF5050"/>
              </a:buClr>
              <a:buFont typeface="Wingdings" panose="05000000000000000000" pitchFamily="2" charset="2"/>
              <a:buChar char="n"/>
            </a:pPr>
            <a:r>
              <a:rPr lang="zh-CN" altLang="en-US" sz="2000" b="1" dirty="0" smtClean="0">
                <a:solidFill>
                  <a:schemeClr val="bg1"/>
                </a:solidFill>
                <a:latin typeface="+mn-ea"/>
              </a:rPr>
              <a:t>本</a:t>
            </a:r>
            <a:r>
              <a:rPr lang="zh-CN" altLang="en-US" sz="2000" b="1" dirty="0">
                <a:solidFill>
                  <a:schemeClr val="bg1"/>
                </a:solidFill>
                <a:latin typeface="+mn-ea"/>
              </a:rPr>
              <a:t>实验的目的是通过编程实现几种常见的页面调度（置换）算法，加深读者对页面思想的理解</a:t>
            </a:r>
          </a:p>
        </p:txBody>
      </p:sp>
    </p:spTree>
    <p:extLst>
      <p:ext uri="{BB962C8B-B14F-4D97-AF65-F5344CB8AC3E}">
        <p14:creationId xmlns:p14="http://schemas.microsoft.com/office/powerpoint/2010/main" val="181817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wipe(left)">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wipe(left)">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533499" y="844107"/>
            <a:ext cx="7344816" cy="3961084"/>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实验内容：</a:t>
            </a:r>
            <a:endParaRPr lang="zh-CN" altLang="en-US" sz="2200" b="1" dirty="0">
              <a:solidFill>
                <a:schemeClr val="bg1"/>
              </a:solidFill>
              <a:latin typeface="+mn-ea"/>
            </a:endParaRP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1</a:t>
            </a:r>
            <a:r>
              <a:rPr lang="zh-CN" altLang="en-US" sz="2000" b="1" dirty="0">
                <a:solidFill>
                  <a:schemeClr val="bg1"/>
                </a:solidFill>
                <a:latin typeface="+mn-ea"/>
              </a:rPr>
              <a:t>）设计程序实现以上三种页面调度算法，要求：</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①</a:t>
            </a:r>
            <a:r>
              <a:rPr lang="en-US" altLang="zh-CN" sz="2000" b="1" dirty="0">
                <a:solidFill>
                  <a:schemeClr val="bg1"/>
                </a:solidFill>
                <a:latin typeface="+mn-ea"/>
              </a:rPr>
              <a:t>.</a:t>
            </a:r>
            <a:r>
              <a:rPr lang="zh-CN" altLang="en-US" sz="2000" b="1" dirty="0">
                <a:solidFill>
                  <a:schemeClr val="bg1"/>
                </a:solidFill>
                <a:latin typeface="+mn-ea"/>
              </a:rPr>
              <a:t>可以选择页面调度算法类型；</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②</a:t>
            </a:r>
            <a:r>
              <a:rPr lang="en-US" altLang="zh-CN" sz="2000" b="1" dirty="0">
                <a:solidFill>
                  <a:schemeClr val="bg1"/>
                </a:solidFill>
                <a:latin typeface="+mn-ea"/>
              </a:rPr>
              <a:t>.</a:t>
            </a:r>
            <a:r>
              <a:rPr lang="zh-CN" altLang="en-US" sz="2000" b="1" dirty="0">
                <a:solidFill>
                  <a:schemeClr val="bg1"/>
                </a:solidFill>
                <a:latin typeface="+mn-ea"/>
              </a:rPr>
              <a:t>可以为进程设置分到物理页的数目，设置进程的页面引用情况，可以从键盘输入页面序列，也可从文件中读取；</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③</a:t>
            </a:r>
            <a:r>
              <a:rPr lang="en-US" altLang="zh-CN" sz="2000" b="1" dirty="0">
                <a:solidFill>
                  <a:schemeClr val="bg1"/>
                </a:solidFill>
                <a:latin typeface="+mn-ea"/>
              </a:rPr>
              <a:t>.</a:t>
            </a:r>
            <a:r>
              <a:rPr lang="zh-CN" altLang="en-US" sz="2000" b="1" dirty="0">
                <a:solidFill>
                  <a:schemeClr val="bg1"/>
                </a:solidFill>
                <a:latin typeface="+mn-ea"/>
              </a:rPr>
              <a:t>随时计算当前的页面调度次数的缺页中断率；</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④</a:t>
            </a:r>
            <a:r>
              <a:rPr lang="en-US" altLang="zh-CN" sz="2000" b="1" dirty="0">
                <a:solidFill>
                  <a:schemeClr val="bg1"/>
                </a:solidFill>
                <a:latin typeface="+mn-ea"/>
              </a:rPr>
              <a:t>.</a:t>
            </a:r>
            <a:r>
              <a:rPr lang="zh-CN" altLang="en-US" sz="2000" b="1" dirty="0">
                <a:solidFill>
                  <a:schemeClr val="bg1"/>
                </a:solidFill>
                <a:latin typeface="+mn-ea"/>
              </a:rPr>
              <a:t>使用敲键盘或响应</a:t>
            </a:r>
            <a:r>
              <a:rPr lang="en-US" altLang="zh-CN" sz="2000" b="1" dirty="0">
                <a:solidFill>
                  <a:schemeClr val="bg1"/>
                </a:solidFill>
                <a:latin typeface="+mn-ea"/>
              </a:rPr>
              <a:t>WM-TIMER</a:t>
            </a:r>
            <a:r>
              <a:rPr lang="zh-CN" altLang="en-US" sz="2000" b="1" dirty="0">
                <a:solidFill>
                  <a:schemeClr val="bg1"/>
                </a:solidFill>
                <a:latin typeface="+mn-ea"/>
              </a:rPr>
              <a:t>的形式模仿时间的流逝；</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⑤</a:t>
            </a:r>
            <a:r>
              <a:rPr lang="en-US" altLang="zh-CN" sz="2000" b="1" dirty="0">
                <a:solidFill>
                  <a:schemeClr val="bg1"/>
                </a:solidFill>
                <a:latin typeface="+mn-ea"/>
              </a:rPr>
              <a:t>.</a:t>
            </a:r>
            <a:r>
              <a:rPr lang="zh-CN" altLang="en-US" sz="2000" b="1" dirty="0">
                <a:solidFill>
                  <a:schemeClr val="bg1"/>
                </a:solidFill>
                <a:latin typeface="+mn-ea"/>
              </a:rPr>
              <a:t>以直观的的形式将程序的执行情况显示在计算机屏幕上；</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⑥</a:t>
            </a:r>
            <a:r>
              <a:rPr lang="en-US" altLang="zh-CN" sz="2000" b="1" dirty="0">
                <a:solidFill>
                  <a:schemeClr val="bg1"/>
                </a:solidFill>
                <a:latin typeface="+mn-ea"/>
              </a:rPr>
              <a:t>.</a:t>
            </a:r>
            <a:r>
              <a:rPr lang="zh-CN" altLang="en-US" sz="2000" b="1" dirty="0">
                <a:solidFill>
                  <a:schemeClr val="bg1"/>
                </a:solidFill>
                <a:latin typeface="+mn-ea"/>
              </a:rPr>
              <a:t>存盘及读盘功能，可以随时将数据存入磁盘文件，供以后重复实验时使用。</a:t>
            </a:r>
          </a:p>
        </p:txBody>
      </p:sp>
    </p:spTree>
    <p:extLst>
      <p:ext uri="{BB962C8B-B14F-4D97-AF65-F5344CB8AC3E}">
        <p14:creationId xmlns:p14="http://schemas.microsoft.com/office/powerpoint/2010/main" val="424780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539552" y="1159879"/>
            <a:ext cx="7344816" cy="3191643"/>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实验内容：</a:t>
            </a:r>
            <a:endParaRPr lang="zh-CN" altLang="en-US" sz="2200" b="1" dirty="0">
              <a:solidFill>
                <a:schemeClr val="bg1"/>
              </a:solidFill>
              <a:latin typeface="+mn-ea"/>
            </a:endParaRP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2</a:t>
            </a:r>
            <a:r>
              <a:rPr lang="zh-CN" altLang="en-US" sz="2000" b="1" dirty="0">
                <a:solidFill>
                  <a:schemeClr val="bg1"/>
                </a:solidFill>
                <a:latin typeface="+mn-ea"/>
              </a:rPr>
              <a:t>）假定进程分配到</a:t>
            </a:r>
            <a:r>
              <a:rPr lang="en-US" altLang="zh-CN" sz="2000" b="1" dirty="0">
                <a:solidFill>
                  <a:schemeClr val="bg1"/>
                </a:solidFill>
                <a:latin typeface="+mn-ea"/>
              </a:rPr>
              <a:t>3</a:t>
            </a:r>
            <a:r>
              <a:rPr lang="zh-CN" altLang="en-US" sz="2000" b="1" dirty="0">
                <a:solidFill>
                  <a:schemeClr val="bg1"/>
                </a:solidFill>
                <a:latin typeface="+mn-ea"/>
              </a:rPr>
              <a:t>个物理块，对于下面的页面引用序列：</a:t>
            </a:r>
          </a:p>
          <a:p>
            <a:pPr marL="342900" indent="17780">
              <a:lnSpc>
                <a:spcPct val="125000"/>
              </a:lnSpc>
              <a:buClr>
                <a:srgbClr val="FF5050"/>
              </a:buClr>
              <a:buFont typeface="Wingdings" panose="05000000000000000000" pitchFamily="2" charset="2"/>
              <a:buChar char="n"/>
            </a:pPr>
            <a:r>
              <a:rPr lang="en-US" altLang="zh-CN" sz="2000" b="1" dirty="0">
                <a:solidFill>
                  <a:schemeClr val="bg1"/>
                </a:solidFill>
                <a:latin typeface="+mn-ea"/>
              </a:rPr>
              <a:t>7-0-1-2-0-3-0-4-2-3-0-3-2-1-2-0-1-7-0-1</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请分别用先进和先出调度算法，最近最少用调度算法，最近最不常用调度算法计算缺页中断次数，缺页中断率和缺页调度次数、缺页置换率。</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再假定进程分配到</a:t>
            </a:r>
            <a:r>
              <a:rPr lang="en-US" altLang="zh-CN" sz="2000" b="1" dirty="0">
                <a:solidFill>
                  <a:schemeClr val="bg1"/>
                </a:solidFill>
                <a:latin typeface="+mn-ea"/>
              </a:rPr>
              <a:t>4</a:t>
            </a:r>
            <a:r>
              <a:rPr lang="zh-CN" altLang="en-US" sz="2000" b="1" dirty="0">
                <a:solidFill>
                  <a:schemeClr val="bg1"/>
                </a:solidFill>
                <a:latin typeface="+mn-ea"/>
              </a:rPr>
              <a:t>、</a:t>
            </a:r>
            <a:r>
              <a:rPr lang="en-US" altLang="zh-CN" sz="2000" b="1" dirty="0">
                <a:solidFill>
                  <a:schemeClr val="bg1"/>
                </a:solidFill>
                <a:latin typeface="+mn-ea"/>
              </a:rPr>
              <a:t>5</a:t>
            </a:r>
            <a:r>
              <a:rPr lang="zh-CN" altLang="en-US" sz="2000" b="1" dirty="0">
                <a:solidFill>
                  <a:schemeClr val="bg1"/>
                </a:solidFill>
                <a:latin typeface="+mn-ea"/>
              </a:rPr>
              <a:t>个物理块，重复本实验。</a:t>
            </a:r>
          </a:p>
        </p:txBody>
      </p:sp>
    </p:spTree>
    <p:extLst>
      <p:ext uri="{BB962C8B-B14F-4D97-AF65-F5344CB8AC3E}">
        <p14:creationId xmlns:p14="http://schemas.microsoft.com/office/powerpoint/2010/main" val="326251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539552" y="1159879"/>
            <a:ext cx="7344816" cy="3191643"/>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实验内容：</a:t>
            </a:r>
            <a:endParaRPr lang="zh-CN" altLang="en-US" sz="2200" b="1" dirty="0">
              <a:solidFill>
                <a:schemeClr val="bg1"/>
              </a:solidFill>
              <a:latin typeface="+mn-ea"/>
            </a:endParaRP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3</a:t>
            </a:r>
            <a:r>
              <a:rPr lang="zh-CN" altLang="en-US" sz="2000" b="1" dirty="0">
                <a:solidFill>
                  <a:schemeClr val="bg1"/>
                </a:solidFill>
                <a:latin typeface="+mn-ea"/>
              </a:rPr>
              <a:t>）假定进程分配到</a:t>
            </a:r>
            <a:r>
              <a:rPr lang="en-US" altLang="zh-CN" sz="2000" b="1" dirty="0">
                <a:solidFill>
                  <a:schemeClr val="bg1"/>
                </a:solidFill>
                <a:latin typeface="+mn-ea"/>
              </a:rPr>
              <a:t>3</a:t>
            </a:r>
            <a:r>
              <a:rPr lang="zh-CN" altLang="en-US" sz="2000" b="1" dirty="0">
                <a:solidFill>
                  <a:schemeClr val="bg1"/>
                </a:solidFill>
                <a:latin typeface="+mn-ea"/>
              </a:rPr>
              <a:t>个物理块，对于下面的页面引用序列：</a:t>
            </a:r>
          </a:p>
          <a:p>
            <a:pPr marL="342900" indent="17780">
              <a:lnSpc>
                <a:spcPct val="125000"/>
              </a:lnSpc>
              <a:buClr>
                <a:srgbClr val="FF5050"/>
              </a:buClr>
              <a:buFont typeface="Wingdings" panose="05000000000000000000" pitchFamily="2" charset="2"/>
              <a:buChar char="n"/>
            </a:pPr>
            <a:r>
              <a:rPr lang="en-US" altLang="zh-CN" sz="2000" b="1" dirty="0">
                <a:solidFill>
                  <a:schemeClr val="bg1"/>
                </a:solidFill>
                <a:latin typeface="+mn-ea"/>
              </a:rPr>
              <a:t>4-3-2-1-4-3-5-4-3-2-1-5-0-7-3-8-9-0-2-1-4-7-3-9</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请分别用先进先出调度算法、最近最少用调度算法，最近最不常用调度算法计算缺页中断次数，缺页中断率和缺页调度次数、缺页置换率。</a:t>
            </a: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再假定进程分配到</a:t>
            </a:r>
            <a:r>
              <a:rPr lang="en-US" altLang="zh-CN" sz="2000" b="1" dirty="0">
                <a:solidFill>
                  <a:schemeClr val="bg1"/>
                </a:solidFill>
                <a:latin typeface="+mn-ea"/>
              </a:rPr>
              <a:t>4</a:t>
            </a:r>
            <a:r>
              <a:rPr lang="zh-CN" altLang="en-US" sz="2000" b="1" dirty="0">
                <a:solidFill>
                  <a:schemeClr val="bg1"/>
                </a:solidFill>
                <a:latin typeface="+mn-ea"/>
              </a:rPr>
              <a:t>、</a:t>
            </a:r>
            <a:r>
              <a:rPr lang="en-US" altLang="zh-CN" sz="2000" b="1" dirty="0">
                <a:solidFill>
                  <a:schemeClr val="bg1"/>
                </a:solidFill>
                <a:latin typeface="+mn-ea"/>
              </a:rPr>
              <a:t>5</a:t>
            </a:r>
            <a:r>
              <a:rPr lang="zh-CN" altLang="en-US" sz="2000" b="1" dirty="0">
                <a:solidFill>
                  <a:schemeClr val="bg1"/>
                </a:solidFill>
                <a:latin typeface="+mn-ea"/>
              </a:rPr>
              <a:t>个物理块，重复本实验。</a:t>
            </a:r>
          </a:p>
        </p:txBody>
      </p:sp>
    </p:spTree>
    <p:extLst>
      <p:ext uri="{BB962C8B-B14F-4D97-AF65-F5344CB8AC3E}">
        <p14:creationId xmlns:p14="http://schemas.microsoft.com/office/powerpoint/2010/main" val="148387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实验七</a:t>
            </a:r>
            <a:r>
              <a:rPr lang="en-US" altLang="zh-CN" sz="2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请求页式存储管理中常用页面置换算法模拟 </a:t>
            </a:r>
          </a:p>
        </p:txBody>
      </p:sp>
      <p:sp>
        <p:nvSpPr>
          <p:cNvPr id="30" name="矩形 29"/>
          <p:cNvSpPr/>
          <p:nvPr/>
        </p:nvSpPr>
        <p:spPr>
          <a:xfrm>
            <a:off x="539552" y="1159879"/>
            <a:ext cx="7344816" cy="2037481"/>
          </a:xfrm>
          <a:prstGeom prst="rect">
            <a:avLst/>
          </a:prstGeom>
        </p:spPr>
        <p:txBody>
          <a:bodyPr wrap="square">
            <a:spAutoFit/>
          </a:bodyPr>
          <a:lstStyle/>
          <a:p>
            <a:pPr marL="0" lvl="1" algn="just">
              <a:lnSpc>
                <a:spcPct val="12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实验内容：</a:t>
            </a:r>
            <a:endParaRPr lang="zh-CN" altLang="en-US" sz="2200" b="1" dirty="0">
              <a:solidFill>
                <a:schemeClr val="bg1"/>
              </a:solidFill>
              <a:latin typeface="+mn-ea"/>
            </a:endParaRPr>
          </a:p>
          <a:p>
            <a:pPr marL="342900" indent="17780">
              <a:lnSpc>
                <a:spcPct val="125000"/>
              </a:lnSpc>
              <a:buClr>
                <a:srgbClr val="FF5050"/>
              </a:buClr>
              <a:buFont typeface="Wingdings" panose="05000000000000000000" pitchFamily="2" charset="2"/>
              <a:buChar char="n"/>
            </a:pPr>
            <a:r>
              <a:rPr lang="zh-CN" altLang="en-US" sz="2000" b="1" dirty="0">
                <a:solidFill>
                  <a:schemeClr val="bg1"/>
                </a:solidFill>
                <a:latin typeface="+mn-ea"/>
              </a:rPr>
              <a:t>（</a:t>
            </a:r>
            <a:r>
              <a:rPr lang="en-US" altLang="zh-CN" sz="2000" b="1" dirty="0">
                <a:solidFill>
                  <a:schemeClr val="bg1"/>
                </a:solidFill>
                <a:latin typeface="+mn-ea"/>
              </a:rPr>
              <a:t>4</a:t>
            </a:r>
            <a:r>
              <a:rPr lang="zh-CN" altLang="en-US" sz="2000" b="1" dirty="0">
                <a:solidFill>
                  <a:schemeClr val="bg1"/>
                </a:solidFill>
                <a:latin typeface="+mn-ea"/>
              </a:rPr>
              <a:t>）假定进程分配到</a:t>
            </a:r>
            <a:r>
              <a:rPr lang="en-US" altLang="zh-CN" sz="2000" b="1" dirty="0">
                <a:solidFill>
                  <a:schemeClr val="bg1"/>
                </a:solidFill>
                <a:latin typeface="+mn-ea"/>
              </a:rPr>
              <a:t>3</a:t>
            </a:r>
            <a:r>
              <a:rPr lang="zh-CN" altLang="en-US" sz="2000" b="1" dirty="0">
                <a:solidFill>
                  <a:schemeClr val="bg1"/>
                </a:solidFill>
                <a:latin typeface="+mn-ea"/>
              </a:rPr>
              <a:t>个物理块，使用程序的动态页面序列生成算法，生成一个页面序列，将此序列存入磁盘文件。再从磁盘文件读入该序列，用程序分别计算三种算法下的缺页中断次数、缺页中断率和缺页调度次数、缺页置换率。</a:t>
            </a:r>
          </a:p>
        </p:txBody>
      </p:sp>
    </p:spTree>
    <p:extLst>
      <p:ext uri="{BB962C8B-B14F-4D97-AF65-F5344CB8AC3E}">
        <p14:creationId xmlns:p14="http://schemas.microsoft.com/office/powerpoint/2010/main" val="419509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O</a:t>
              </a:r>
              <a:endParaRPr lang="zh-CN" altLang="en-US" dirty="0">
                <a:latin typeface="微软雅黑" panose="020B0503020204020204" pitchFamily="34" charset="-122"/>
                <a:ea typeface="微软雅黑" panose="020B0503020204020204" pitchFamily="34" charset="-122"/>
              </a:endParaRPr>
            </a:p>
          </p:txBody>
        </p:sp>
        <p:pic>
          <p:nvPicPr>
            <p:cNvPr id="80" name="图片 79" descr="贴贴子4张（空）.png"/>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a:t>
              </a:r>
              <a:endParaRPr lang="zh-CN" altLang="en-US" dirty="0">
                <a:latin typeface="微软雅黑" panose="020B0503020204020204" pitchFamily="34" charset="-122"/>
                <a:ea typeface="微软雅黑" panose="020B0503020204020204"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Y</a:t>
              </a:r>
              <a:endParaRPr lang="zh-CN" altLang="en-US" dirty="0">
                <a:latin typeface="微软雅黑" panose="020B0503020204020204" pitchFamily="34" charset="-122"/>
                <a:ea typeface="微软雅黑" panose="020B0503020204020204"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ln>
            <a:effectLst/>
          </p:spPr>
          <p:txBody>
            <a:bodyPr>
              <a:spAutoFit/>
            </a:bodyPr>
            <a:lstStyle/>
            <a:p>
              <a:pPr algn="ctr" eaLnBrk="0" hangingPunct="0"/>
              <a:r>
                <a:rPr lang="zh-CN" altLang="en-US" b="1" dirty="0">
                  <a:solidFill>
                    <a:srgbClr val="000000"/>
                  </a:solidFill>
                  <a:ea typeface="宋体" panose="02010600030101010101" pitchFamily="2" charset="-122"/>
                </a:rPr>
                <a:t>存储管理</a:t>
              </a:r>
              <a:r>
                <a:rPr lang="zh-CN" altLang="en-US" b="1" dirty="0" smtClean="0">
                  <a:solidFill>
                    <a:srgbClr val="000000"/>
                  </a:solidFill>
                  <a:ea typeface="宋体" panose="02010600030101010101" pitchFamily="2" charset="-122"/>
                </a:rPr>
                <a:t>的功能</a:t>
              </a:r>
              <a:endParaRPr lang="zh-CN" altLang="en-US" b="1" dirty="0">
                <a:solidFill>
                  <a:srgbClr val="000000"/>
                </a:solidFill>
                <a:ea typeface="宋体" panose="02010600030101010101"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1</a:t>
              </a:r>
            </a:p>
          </p:txBody>
        </p:sp>
      </p:grpSp>
      <p:grpSp>
        <p:nvGrpSpPr>
          <p:cNvPr id="16" name="Group 51"/>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a:effectLst/>
          </p:spPr>
          <p:txBody>
            <a:bodyPr wrap="none" anchor="ctr"/>
            <a:lstStyle/>
            <a:p>
              <a:endParaRPr lang="zh-CN" altLang="en-US"/>
            </a:p>
          </p:txBody>
        </p:sp>
        <p:sp>
          <p:nvSpPr>
            <p:cNvPr id="19" name="Text Box 54"/>
            <p:cNvSpPr txBox="1">
              <a:spLocks noChangeArrowheads="1"/>
            </p:cNvSpPr>
            <p:nvPr/>
          </p:nvSpPr>
          <p:spPr bwMode="gray">
            <a:xfrm>
              <a:off x="1680" y="1934"/>
              <a:ext cx="2338" cy="232"/>
            </a:xfrm>
            <a:prstGeom prst="rect">
              <a:avLst/>
            </a:prstGeom>
            <a:noFill/>
            <a:ln w="9525" algn="ctr">
              <a:noFill/>
              <a:miter lim="800000"/>
            </a:ln>
            <a:effectLst/>
          </p:spPr>
          <p:txBody>
            <a:bodyPr wrap="square">
              <a:spAutoFit/>
            </a:bodyPr>
            <a:lstStyle/>
            <a:p>
              <a:pPr algn="ctr" eaLnBrk="0" hangingPunct="0"/>
              <a:r>
                <a:rPr lang="en-US" altLang="zh-CN" b="1" dirty="0">
                  <a:solidFill>
                    <a:srgbClr val="000000"/>
                  </a:solidFill>
                </a:rPr>
                <a:t>   </a:t>
              </a:r>
              <a:r>
                <a:rPr lang="zh-CN" altLang="en-US" b="1" dirty="0" smtClean="0">
                  <a:solidFill>
                    <a:srgbClr val="000000"/>
                  </a:solidFill>
                </a:rPr>
                <a:t>分区存储管理</a:t>
              </a:r>
              <a:endParaRPr lang="zh-CN" altLang="en-US"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ln>
            <a:effectLst/>
          </p:spPr>
          <p:txBody>
            <a:bodyPr wrap="none">
              <a:spAutoFit/>
            </a:bodyPr>
            <a:lstStyle/>
            <a:p>
              <a:pPr algn="ctr" eaLnBrk="0" hangingPunct="0"/>
              <a:r>
                <a:rPr lang="en-US" altLang="zh-CN" sz="2400">
                  <a:solidFill>
                    <a:schemeClr val="bg1"/>
                  </a:solidFill>
                  <a:ea typeface="宋体" panose="02010600030101010101" pitchFamily="2" charset="-122"/>
                </a:rPr>
                <a:t>2</a:t>
              </a:r>
            </a:p>
          </p:txBody>
        </p:sp>
      </p:grpSp>
      <p:grpSp>
        <p:nvGrpSpPr>
          <p:cNvPr id="22" name="Group 56"/>
          <p:cNvGrpSpPr/>
          <p:nvPr/>
        </p:nvGrpSpPr>
        <p:grpSpPr bwMode="auto">
          <a:xfrm>
            <a:off x="2279895" y="3960450"/>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ln>
            <a:effectLst/>
          </p:spPr>
          <p:txBody>
            <a:bodyPr>
              <a:spAutoFit/>
            </a:bodyPr>
            <a:lstStyle/>
            <a:p>
              <a:pPr algn="ctr" eaLnBrk="0" hangingPunct="0"/>
              <a:r>
                <a:rPr lang="zh-CN" altLang="en-US" b="1" dirty="0" smtClean="0">
                  <a:solidFill>
                    <a:srgbClr val="000000"/>
                  </a:solidFill>
                </a:rPr>
                <a:t>覆盖与交换技术</a:t>
              </a:r>
              <a:endParaRPr lang="zh-CN" altLang="en-US" b="1" dirty="0">
                <a:solidFill>
                  <a:srgbClr val="000000"/>
                </a:solidFill>
              </a:endParaRPr>
            </a:p>
          </p:txBody>
        </p:sp>
        <p:sp>
          <p:nvSpPr>
            <p:cNvPr id="26" name="Text Box 60"/>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5</a:t>
              </a:r>
              <a:endParaRPr lang="en-US" altLang="zh-CN" sz="2400" dirty="0">
                <a:solidFill>
                  <a:schemeClr val="bg1"/>
                </a:solidFill>
                <a:ea typeface="宋体" panose="02010600030101010101" pitchFamily="2" charset="-122"/>
              </a:endParaRPr>
            </a:p>
          </p:txBody>
        </p:sp>
      </p:grpSp>
      <p:grpSp>
        <p:nvGrpSpPr>
          <p:cNvPr id="27" name="Group 61"/>
          <p:cNvGrpSpPr/>
          <p:nvPr/>
        </p:nvGrpSpPr>
        <p:grpSpPr bwMode="auto">
          <a:xfrm>
            <a:off x="2243648" y="2252354"/>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rPr>
                <a:t>页式管理</a:t>
              </a:r>
              <a:endParaRPr lang="zh-CN" altLang="en-US" b="1" dirty="0">
                <a:solidFill>
                  <a:srgbClr val="000000"/>
                </a:solidFill>
              </a:endParaRPr>
            </a:p>
          </p:txBody>
        </p:sp>
        <p:sp>
          <p:nvSpPr>
            <p:cNvPr id="31" name="Text Box 65"/>
            <p:cNvSpPr txBox="1">
              <a:spLocks noChangeArrowheads="1"/>
            </p:cNvSpPr>
            <p:nvPr/>
          </p:nvSpPr>
          <p:spPr bwMode="gray">
            <a:xfrm>
              <a:off x="1397" y="1886"/>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3</a:t>
              </a:r>
              <a:endParaRPr lang="en-US" altLang="zh-CN" sz="2400" dirty="0">
                <a:solidFill>
                  <a:schemeClr val="bg1"/>
                </a:solidFill>
                <a:ea typeface="宋体" panose="02010600030101010101" pitchFamily="2" charset="-122"/>
              </a:endParaRPr>
            </a:p>
          </p:txBody>
        </p:sp>
      </p:grpSp>
      <p:grpSp>
        <p:nvGrpSpPr>
          <p:cNvPr id="32" name="Group 51"/>
          <p:cNvGrpSpPr/>
          <p:nvPr/>
        </p:nvGrpSpPr>
        <p:grpSpPr bwMode="auto">
          <a:xfrm>
            <a:off x="2260990" y="3106100"/>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776" y="1934"/>
              <a:ext cx="2386" cy="233"/>
            </a:xfrm>
            <a:prstGeom prst="rect">
              <a:avLst/>
            </a:prstGeom>
            <a:noFill/>
            <a:ln w="9525" algn="ctr">
              <a:noFill/>
              <a:miter lim="800000"/>
            </a:ln>
            <a:effectLst/>
          </p:spPr>
          <p:txBody>
            <a:bodyPr wrap="square">
              <a:spAutoFit/>
            </a:bodyPr>
            <a:lstStyle/>
            <a:p>
              <a:pPr algn="ctr" eaLnBrk="0" hangingPunct="0"/>
              <a:r>
                <a:rPr lang="zh-CN" altLang="en-US" b="1" dirty="0" smtClean="0">
                  <a:solidFill>
                    <a:srgbClr val="000000"/>
                  </a:solidFill>
                  <a:ea typeface="宋体" panose="02010600030101010101" pitchFamily="2" charset="-122"/>
                </a:rPr>
                <a:t>段式与段页式管理</a:t>
              </a:r>
              <a:endParaRPr lang="zh-CN" altLang="en-US" b="1" dirty="0">
                <a:solidFill>
                  <a:srgbClr val="000000"/>
                </a:solidFill>
                <a:ea typeface="宋体" panose="02010600030101010101"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ln>
            <a:effectLst/>
          </p:spPr>
          <p:txBody>
            <a:bodyPr wrap="none">
              <a:spAutoFit/>
            </a:bodyPr>
            <a:lstStyle/>
            <a:p>
              <a:pPr algn="ctr" eaLnBrk="0" hangingPunct="0"/>
              <a:r>
                <a:rPr lang="en-US" altLang="zh-CN" sz="2400" dirty="0" smtClean="0">
                  <a:solidFill>
                    <a:schemeClr val="bg1"/>
                  </a:solidFill>
                  <a:ea typeface="宋体" panose="02010600030101010101" pitchFamily="2" charset="-122"/>
                </a:rPr>
                <a:t>4</a:t>
              </a:r>
              <a:endParaRPr lang="en-US" altLang="zh-CN" sz="2400" dirty="0">
                <a:solidFill>
                  <a:schemeClr val="bg1"/>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150000" y="150000"/>
                                    </p:animScale>
                                  </p:childTnLst>
                                </p:cTn>
                              </p:par>
                              <p:par>
                                <p:cTn id="7" presetID="64" presetClass="path" presetSubtype="0" accel="50000" decel="50000" fill="hold" nodeType="withEffect">
                                  <p:stCondLst>
                                    <p:cond delay="0"/>
                                  </p:stCondLst>
                                  <p:childTnLst>
                                    <p:animMotion origin="layout" path="M 1.11111E-6 1.60494E-6 L -0.00764 -0.33673 " pathEditMode="relative" rAng="0" ptsTypes="AA">
                                      <p:cBhvr>
                                        <p:cTn id="8" dur="2000" fill="hold"/>
                                        <p:tgtEl>
                                          <p:spTgt spid="22"/>
                                        </p:tgtEl>
                                        <p:attrNameLst>
                                          <p:attrName>ppt_x</p:attrName>
                                          <p:attrName>ppt_y</p:attrName>
                                        </p:attrNameLst>
                                      </p:cBhvr>
                                      <p:rCtr x="-382" y="-16852"/>
                                    </p:animMotion>
                                  </p:childTnLst>
                                </p:cTn>
                              </p:par>
                              <p:par>
                                <p:cTn id="9" presetID="10" presetClass="exit" presetSubtype="0" fill="hold" nodeType="withEffect">
                                  <p:stCondLst>
                                    <p:cond delay="0"/>
                                  </p:stCondLst>
                                  <p:childTnLst>
                                    <p:animEffect transition="out" filter="fade">
                                      <p:cBhvr>
                                        <p:cTn id="10" dur="2000"/>
                                        <p:tgtEl>
                                          <p:spTgt spid="27"/>
                                        </p:tgtEl>
                                      </p:cBhvr>
                                    </p:animEffect>
                                    <p:set>
                                      <p:cBhvr>
                                        <p:cTn id="11" dur="1" fill="hold">
                                          <p:stCondLst>
                                            <p:cond delay="1999"/>
                                          </p:stCondLst>
                                        </p:cTn>
                                        <p:tgtEl>
                                          <p:spTgt spid="27"/>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32"/>
                                        </p:tgtEl>
                                      </p:cBhvr>
                                    </p:animEffect>
                                    <p:set>
                                      <p:cBhvr>
                                        <p:cTn id="14" dur="1" fill="hold">
                                          <p:stCondLst>
                                            <p:cond delay="1999"/>
                                          </p:stCondLst>
                                        </p:cTn>
                                        <p:tgtEl>
                                          <p:spTgt spid="32"/>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覆盖与交换技术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923678"/>
            <a:ext cx="6840760" cy="1126462"/>
          </a:xfrm>
          <a:prstGeom prst="rect">
            <a:avLst/>
          </a:prstGeom>
        </p:spPr>
        <p:txBody>
          <a:bodyPr wrap="square">
            <a:spAutoFit/>
          </a:bodyPr>
          <a:lstStyle/>
          <a:p>
            <a:pPr marL="0" lvl="1" indent="-285750"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覆盖与交换技术是在</a:t>
            </a:r>
            <a:r>
              <a:rPr lang="zh-CN" altLang="en-US" sz="2400" b="1" dirty="0" smtClean="0">
                <a:solidFill>
                  <a:srgbClr val="FFFF00"/>
                </a:solidFill>
                <a:latin typeface="+mn-ea"/>
              </a:rPr>
              <a:t>多道环境下</a:t>
            </a:r>
            <a:r>
              <a:rPr lang="zh-CN" altLang="en-US" sz="2400" b="1" dirty="0" smtClean="0">
                <a:solidFill>
                  <a:schemeClr val="bg1"/>
                </a:solidFill>
                <a:latin typeface="+mn-ea"/>
              </a:rPr>
              <a:t>用来</a:t>
            </a:r>
            <a:r>
              <a:rPr lang="zh-CN" altLang="en-US" sz="2400" b="1" dirty="0" smtClean="0">
                <a:solidFill>
                  <a:srgbClr val="FFFF00"/>
                </a:solidFill>
                <a:latin typeface="+mn-ea"/>
              </a:rPr>
              <a:t>扩充内存</a:t>
            </a:r>
            <a:r>
              <a:rPr lang="zh-CN" altLang="en-US" sz="2400" b="1" dirty="0" smtClean="0">
                <a:solidFill>
                  <a:schemeClr val="bg1"/>
                </a:solidFill>
                <a:latin typeface="+mn-ea"/>
              </a:rPr>
              <a:t>的两种方法。</a:t>
            </a:r>
            <a:endParaRPr lang="en-US" altLang="zh-CN"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覆盖技术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281469"/>
            <a:ext cx="6840760" cy="329320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覆盖技术的基本思想：一个程序并不需要一开始就把它的全部指令和数据都装入内存后再执行。单</a:t>
            </a:r>
            <a:r>
              <a:rPr lang="en-US" altLang="zh-CN" sz="2000" b="1" dirty="0">
                <a:solidFill>
                  <a:schemeClr val="bg1"/>
                </a:solidFill>
                <a:latin typeface="+mn-ea"/>
              </a:rPr>
              <a:t>CPU</a:t>
            </a:r>
            <a:r>
              <a:rPr lang="zh-CN" altLang="en-US" sz="2000" b="1" dirty="0">
                <a:solidFill>
                  <a:schemeClr val="bg1"/>
                </a:solidFill>
                <a:latin typeface="+mn-ea"/>
              </a:rPr>
              <a:t>系统中，每一时刻事实上只能执行一条指令。可以</a:t>
            </a:r>
            <a:r>
              <a:rPr lang="zh-CN" altLang="en-US" sz="2000" b="1" dirty="0">
                <a:solidFill>
                  <a:srgbClr val="FFFF00"/>
                </a:solidFill>
                <a:latin typeface="+mn-ea"/>
              </a:rPr>
              <a:t>把程序划分为若干个功能上相对独立的程序段</a:t>
            </a:r>
            <a:r>
              <a:rPr lang="zh-CN" altLang="en-US" sz="2000" b="1" dirty="0">
                <a:solidFill>
                  <a:schemeClr val="bg1"/>
                </a:solidFill>
                <a:latin typeface="+mn-ea"/>
              </a:rPr>
              <a:t>，按照程序的逻辑结构让那些</a:t>
            </a:r>
            <a:r>
              <a:rPr lang="zh-CN" altLang="en-US" sz="2000" b="1" dirty="0">
                <a:solidFill>
                  <a:srgbClr val="FFFF00"/>
                </a:solidFill>
                <a:latin typeface="+mn-ea"/>
              </a:rPr>
              <a:t>不会同时执行的程序段共享同一块内存区</a:t>
            </a:r>
            <a:r>
              <a:rPr lang="zh-CN" altLang="en-US" sz="2000" b="1" dirty="0">
                <a:solidFill>
                  <a:schemeClr val="bg1"/>
                </a:solidFill>
                <a:latin typeface="+mn-ea"/>
              </a:rPr>
              <a:t>。通常，这些程序段都被保存在外存中，当有关程序段的先头程序段已经执行结束后，再把后续程序段调入内存</a:t>
            </a:r>
            <a:r>
              <a:rPr lang="zh-CN" altLang="en-US" sz="2000" b="1" dirty="0">
                <a:solidFill>
                  <a:srgbClr val="FFFF00"/>
                </a:solidFill>
                <a:latin typeface="+mn-ea"/>
              </a:rPr>
              <a:t>覆盖前面的程序段</a:t>
            </a:r>
            <a:r>
              <a:rPr lang="zh-CN" altLang="en-US" sz="2000" b="1" dirty="0">
                <a:solidFill>
                  <a:schemeClr val="bg1"/>
                </a:solidFill>
                <a:latin typeface="+mn-ea"/>
              </a:rPr>
              <a:t>。这使得用户看来，好像内存扩大了，从而达到了内存扩充的目的。</a:t>
            </a:r>
            <a:endParaRPr lang="en-US" altLang="zh-CN" sz="20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覆盖技术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369045"/>
            <a:ext cx="6840760" cy="2677656"/>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覆盖技术</a:t>
            </a:r>
            <a:r>
              <a:rPr lang="zh-CN" altLang="en-US" sz="2400" b="1" dirty="0">
                <a:solidFill>
                  <a:srgbClr val="FFFF00"/>
                </a:solidFill>
                <a:latin typeface="+mn-ea"/>
              </a:rPr>
              <a:t>要求程序员</a:t>
            </a:r>
            <a:r>
              <a:rPr lang="zh-CN" altLang="en-US" sz="2400" b="1" dirty="0">
                <a:solidFill>
                  <a:schemeClr val="bg1"/>
                </a:solidFill>
                <a:latin typeface="+mn-ea"/>
              </a:rPr>
              <a:t>提供一个清楚的</a:t>
            </a:r>
            <a:r>
              <a:rPr lang="zh-CN" altLang="en-US" sz="2400" b="1" dirty="0">
                <a:solidFill>
                  <a:srgbClr val="FFFF00"/>
                </a:solidFill>
                <a:latin typeface="+mn-ea"/>
              </a:rPr>
              <a:t>覆盖结构</a:t>
            </a:r>
            <a:r>
              <a:rPr lang="zh-CN" altLang="en-US" sz="2400" b="1" dirty="0">
                <a:solidFill>
                  <a:schemeClr val="bg1"/>
                </a:solidFill>
                <a:latin typeface="+mn-ea"/>
              </a:rPr>
              <a:t>。即</a:t>
            </a:r>
            <a:r>
              <a:rPr lang="zh-CN" altLang="en-US" sz="2400" b="1" dirty="0">
                <a:solidFill>
                  <a:srgbClr val="FFFF00"/>
                </a:solidFill>
                <a:latin typeface="+mn-ea"/>
              </a:rPr>
              <a:t>程序员</a:t>
            </a:r>
            <a:r>
              <a:rPr lang="zh-CN" altLang="en-US" sz="2400" b="1" dirty="0">
                <a:solidFill>
                  <a:schemeClr val="bg1"/>
                </a:solidFill>
                <a:latin typeface="+mn-ea"/>
              </a:rPr>
              <a:t>必须完成把一个程序</a:t>
            </a:r>
            <a:r>
              <a:rPr lang="zh-CN" altLang="en-US" sz="2400" b="1" dirty="0">
                <a:solidFill>
                  <a:srgbClr val="FFFF00"/>
                </a:solidFill>
                <a:latin typeface="+mn-ea"/>
              </a:rPr>
              <a:t>划分</a:t>
            </a:r>
            <a:r>
              <a:rPr lang="zh-CN" altLang="en-US" sz="2400" b="1" dirty="0">
                <a:solidFill>
                  <a:schemeClr val="bg1"/>
                </a:solidFill>
                <a:latin typeface="+mn-ea"/>
              </a:rPr>
              <a:t>成</a:t>
            </a:r>
            <a:r>
              <a:rPr lang="zh-CN" altLang="en-US" sz="2400" b="1" dirty="0">
                <a:solidFill>
                  <a:srgbClr val="FFFF00"/>
                </a:solidFill>
                <a:latin typeface="+mn-ea"/>
              </a:rPr>
              <a:t>不同的程序段</a:t>
            </a:r>
            <a:r>
              <a:rPr lang="zh-CN" altLang="en-US" sz="2400" b="1" dirty="0">
                <a:solidFill>
                  <a:schemeClr val="bg1"/>
                </a:solidFill>
                <a:latin typeface="+mn-ea"/>
              </a:rPr>
              <a:t>，并</a:t>
            </a:r>
            <a:r>
              <a:rPr lang="zh-CN" altLang="en-US" sz="2400" b="1" dirty="0">
                <a:solidFill>
                  <a:srgbClr val="FFFF00"/>
                </a:solidFill>
                <a:latin typeface="+mn-ea"/>
              </a:rPr>
              <a:t>规定</a:t>
            </a:r>
            <a:r>
              <a:rPr lang="zh-CN" altLang="en-US" sz="2400" b="1" dirty="0">
                <a:solidFill>
                  <a:schemeClr val="bg1"/>
                </a:solidFill>
                <a:latin typeface="+mn-ea"/>
              </a:rPr>
              <a:t>好它们的</a:t>
            </a:r>
            <a:r>
              <a:rPr lang="zh-CN" altLang="en-US" sz="2400" b="1" dirty="0">
                <a:solidFill>
                  <a:srgbClr val="FFFF00"/>
                </a:solidFill>
                <a:latin typeface="+mn-ea"/>
              </a:rPr>
              <a:t>执行</a:t>
            </a:r>
            <a:r>
              <a:rPr lang="zh-CN" altLang="en-US" sz="2400" b="1" dirty="0">
                <a:solidFill>
                  <a:schemeClr val="bg1"/>
                </a:solidFill>
                <a:latin typeface="+mn-ea"/>
              </a:rPr>
              <a:t>和</a:t>
            </a:r>
            <a:r>
              <a:rPr lang="zh-CN" altLang="en-US" sz="2400" b="1" dirty="0">
                <a:solidFill>
                  <a:srgbClr val="FFFF00"/>
                </a:solidFill>
                <a:latin typeface="+mn-ea"/>
              </a:rPr>
              <a:t>覆盖顺序</a:t>
            </a:r>
            <a:r>
              <a:rPr lang="zh-CN" altLang="en-US" sz="2400" b="1" dirty="0">
                <a:solidFill>
                  <a:schemeClr val="bg1"/>
                </a:solidFill>
                <a:latin typeface="+mn-ea"/>
              </a:rPr>
              <a:t>的工作</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操作系统根据程序员提供的覆盖结构来完成程序段之间的覆盖。</a:t>
            </a:r>
            <a:endParaRPr lang="zh-CN" altLang="en-US" sz="2400" b="1" dirty="0">
              <a:solidFill>
                <a:schemeClr val="bg1"/>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覆盖技术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27584" y="1369045"/>
            <a:ext cx="6840760" cy="3194721"/>
          </a:xfrm>
          <a:prstGeom prst="rect">
            <a:avLst/>
          </a:prstGeom>
        </p:spPr>
        <p:txBody>
          <a:bodyPr wrap="square">
            <a:spAutoFit/>
          </a:bodyPr>
          <a:lstStyle/>
          <a:p>
            <a:pPr marL="0" lvl="1"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一般来说，一个程序究竟可以划分为多少段，以及让其中的哪些程序共享哪一内存区只有程序员清楚。这要求</a:t>
            </a:r>
            <a:r>
              <a:rPr lang="zh-CN" altLang="en-US" sz="2400" b="1" dirty="0">
                <a:solidFill>
                  <a:srgbClr val="FFFF00"/>
                </a:solidFill>
                <a:latin typeface="+mn-ea"/>
              </a:rPr>
              <a:t>程序员</a:t>
            </a:r>
            <a:r>
              <a:rPr lang="zh-CN" altLang="en-US" sz="2400" b="1" dirty="0">
                <a:solidFill>
                  <a:schemeClr val="bg1"/>
                </a:solidFill>
                <a:latin typeface="+mn-ea"/>
              </a:rPr>
              <a:t>既要清楚地</a:t>
            </a:r>
            <a:r>
              <a:rPr lang="zh-CN" altLang="en-US" sz="2400" b="1" dirty="0">
                <a:solidFill>
                  <a:srgbClr val="FFFF00"/>
                </a:solidFill>
                <a:latin typeface="+mn-ea"/>
              </a:rPr>
              <a:t>了解</a:t>
            </a:r>
            <a:r>
              <a:rPr lang="zh-CN" altLang="en-US" sz="2400" b="1" dirty="0">
                <a:solidFill>
                  <a:schemeClr val="bg1"/>
                </a:solidFill>
                <a:latin typeface="+mn-ea"/>
              </a:rPr>
              <a:t>程序所属进程的</a:t>
            </a:r>
            <a:r>
              <a:rPr lang="zh-CN" altLang="en-US" sz="2400" b="1" dirty="0">
                <a:solidFill>
                  <a:srgbClr val="FFFF00"/>
                </a:solidFill>
                <a:latin typeface="+mn-ea"/>
              </a:rPr>
              <a:t>虚拟空间</a:t>
            </a:r>
            <a:r>
              <a:rPr lang="zh-CN" altLang="en-US" sz="2400" b="1" dirty="0">
                <a:solidFill>
                  <a:schemeClr val="bg1"/>
                </a:solidFill>
                <a:latin typeface="+mn-ea"/>
              </a:rPr>
              <a:t>及各程序段所在</a:t>
            </a:r>
            <a:r>
              <a:rPr lang="zh-CN" altLang="en-US" sz="2400" b="1" dirty="0">
                <a:solidFill>
                  <a:srgbClr val="FFFF00"/>
                </a:solidFill>
                <a:latin typeface="+mn-ea"/>
              </a:rPr>
              <a:t>虚拟空间</a:t>
            </a:r>
            <a:r>
              <a:rPr lang="zh-CN" altLang="en-US" sz="2400" b="1" dirty="0">
                <a:solidFill>
                  <a:schemeClr val="bg1"/>
                </a:solidFill>
                <a:latin typeface="+mn-ea"/>
              </a:rPr>
              <a:t>的位置，又要求程序员懂得</a:t>
            </a:r>
            <a:r>
              <a:rPr lang="zh-CN" altLang="en-US" sz="2400" b="1" dirty="0">
                <a:solidFill>
                  <a:srgbClr val="FFFF00"/>
                </a:solidFill>
                <a:latin typeface="+mn-ea"/>
              </a:rPr>
              <a:t>系统和内存的内部结构与地址划分</a:t>
            </a:r>
            <a:r>
              <a:rPr lang="zh-CN" altLang="en-US" sz="2400" b="1" dirty="0">
                <a:solidFill>
                  <a:schemeClr val="bg1"/>
                </a:solidFill>
                <a:latin typeface="+mn-ea"/>
              </a:rPr>
              <a:t>，因此，程序员</a:t>
            </a:r>
            <a:r>
              <a:rPr lang="zh-CN" altLang="en-US" sz="2400" b="1" dirty="0">
                <a:solidFill>
                  <a:srgbClr val="FFFF00"/>
                </a:solidFill>
                <a:latin typeface="+mn-ea"/>
              </a:rPr>
              <a:t>负担较重</a:t>
            </a:r>
            <a:r>
              <a:rPr lang="zh-CN" altLang="en-US" sz="2400" b="1" dirty="0">
                <a:solidFill>
                  <a:schemeClr val="bg1"/>
                </a:solidFill>
                <a:latin typeface="+mn-ea"/>
              </a:rPr>
              <a:t>。</a:t>
            </a:r>
          </a:p>
        </p:txBody>
      </p:sp>
      <p:pic>
        <p:nvPicPr>
          <p:cNvPr id="29" name="Picture 4" descr="E:\操作系统教材编写\张校长教材\新版\e13.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348" y="1241408"/>
            <a:ext cx="6840760" cy="3449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线形标注 1 29"/>
          <p:cNvSpPr/>
          <p:nvPr/>
        </p:nvSpPr>
        <p:spPr>
          <a:xfrm>
            <a:off x="800820" y="495545"/>
            <a:ext cx="3843188" cy="1140101"/>
          </a:xfrm>
          <a:prstGeom prst="borderCallout1">
            <a:avLst>
              <a:gd name="adj1" fmla="val 20993"/>
              <a:gd name="adj2" fmla="val 102962"/>
              <a:gd name="adj3" fmla="val 101014"/>
              <a:gd name="adj4" fmla="val 129427"/>
            </a:avLst>
          </a:prstGeom>
          <a:ln w="38100"/>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000" b="1" dirty="0"/>
              <a:t>常驻内存</a:t>
            </a:r>
            <a:r>
              <a:rPr lang="zh-CN" altLang="en-US" sz="2000" b="1" dirty="0" smtClean="0"/>
              <a:t>部分与</a:t>
            </a:r>
            <a:r>
              <a:rPr lang="zh-CN" altLang="en-US" sz="2000" b="1" dirty="0"/>
              <a:t>所有的被调用程序段有关，因而不能被覆盖。这一部分称为根程序。</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30"/>
                                        </p:tgtEl>
                                      </p:cBhvr>
                                    </p:animEffect>
                                    <p:set>
                                      <p:cBhvr>
                                        <p:cTn id="22"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交换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563638"/>
            <a:ext cx="6840760"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交换是指先将</a:t>
            </a:r>
            <a:r>
              <a:rPr lang="zh-CN" altLang="en-US" sz="2400" b="1" dirty="0" smtClean="0">
                <a:solidFill>
                  <a:srgbClr val="FFFF00"/>
                </a:solidFill>
                <a:latin typeface="+mn-ea"/>
              </a:rPr>
              <a:t>内存部分的程序或数据写入外存交换区</a:t>
            </a:r>
            <a:r>
              <a:rPr lang="zh-CN" altLang="en-US" sz="2400" b="1" dirty="0" smtClean="0">
                <a:solidFill>
                  <a:schemeClr val="bg1"/>
                </a:solidFill>
                <a:latin typeface="+mn-ea"/>
              </a:rPr>
              <a:t>，再从</a:t>
            </a:r>
            <a:r>
              <a:rPr lang="zh-CN" altLang="en-US" sz="2400" b="1" dirty="0" smtClean="0">
                <a:solidFill>
                  <a:srgbClr val="FFFF00"/>
                </a:solidFill>
                <a:latin typeface="+mn-ea"/>
              </a:rPr>
              <a:t>外存交换区中</a:t>
            </a:r>
            <a:r>
              <a:rPr lang="zh-CN" altLang="en-US" sz="2400" b="1" smtClean="0">
                <a:solidFill>
                  <a:srgbClr val="FFFF00"/>
                </a:solidFill>
                <a:latin typeface="+mn-ea"/>
              </a:rPr>
              <a:t>调入指定的</a:t>
            </a:r>
            <a:r>
              <a:rPr lang="zh-CN" altLang="en-US" sz="2400" b="1" dirty="0" smtClean="0">
                <a:solidFill>
                  <a:srgbClr val="FFFF00"/>
                </a:solidFill>
                <a:latin typeface="+mn-ea"/>
              </a:rPr>
              <a:t>程序或数据到内存中来</a:t>
            </a:r>
            <a:r>
              <a:rPr lang="zh-CN" altLang="en-US" sz="2400" b="1" dirty="0" smtClean="0">
                <a:solidFill>
                  <a:schemeClr val="bg1"/>
                </a:solidFill>
                <a:latin typeface="+mn-ea"/>
              </a:rPr>
              <a:t>，并让其执行的一种内存扩充技术。</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交换</a:t>
            </a:r>
            <a:r>
              <a:rPr lang="zh-CN" altLang="en-US" sz="2400" b="1" dirty="0" smtClean="0">
                <a:solidFill>
                  <a:srgbClr val="FFFF00"/>
                </a:solidFill>
                <a:latin typeface="+mn-ea"/>
              </a:rPr>
              <a:t>不要求</a:t>
            </a:r>
            <a:r>
              <a:rPr lang="zh-CN" altLang="en-US" sz="2400" b="1" dirty="0" smtClean="0">
                <a:solidFill>
                  <a:schemeClr val="bg1"/>
                </a:solidFill>
                <a:latin typeface="+mn-ea"/>
              </a:rPr>
              <a:t>程序员给出程序段之间的覆盖结构</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交换主要是在</a:t>
            </a:r>
            <a:r>
              <a:rPr lang="zh-CN" altLang="en-US" sz="2400" b="1" dirty="0" smtClean="0">
                <a:solidFill>
                  <a:srgbClr val="FFFF00"/>
                </a:solidFill>
                <a:latin typeface="+mn-ea"/>
              </a:rPr>
              <a:t>进程或作业之间进行</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交换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899592" y="1563638"/>
            <a:ext cx="6840760" cy="2677656"/>
          </a:xfrm>
          <a:prstGeom prst="rect">
            <a:avLst/>
          </a:prstGeom>
        </p:spPr>
        <p:txBody>
          <a:bodyPr wrap="square">
            <a:spAutoFit/>
          </a:bodyPr>
          <a:lstStyle/>
          <a:p>
            <a:pPr marL="0" lvl="1" indent="-285750" algn="just">
              <a:lnSpc>
                <a:spcPct val="14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交换进程由</a:t>
            </a:r>
            <a:r>
              <a:rPr lang="zh-CN" altLang="en-US" sz="2400" b="1" dirty="0">
                <a:solidFill>
                  <a:srgbClr val="FFFF00"/>
                </a:solidFill>
                <a:latin typeface="+mn-ea"/>
              </a:rPr>
              <a:t>换出</a:t>
            </a:r>
            <a:r>
              <a:rPr lang="zh-CN" altLang="en-US" sz="2400" b="1" dirty="0">
                <a:solidFill>
                  <a:schemeClr val="bg1"/>
                </a:solidFill>
                <a:latin typeface="+mn-ea"/>
              </a:rPr>
              <a:t>和</a:t>
            </a:r>
            <a:r>
              <a:rPr lang="zh-CN" altLang="en-US" sz="2400" b="1" dirty="0">
                <a:solidFill>
                  <a:srgbClr val="FFFF00"/>
                </a:solidFill>
                <a:latin typeface="+mn-ea"/>
              </a:rPr>
              <a:t>换入</a:t>
            </a:r>
            <a:r>
              <a:rPr lang="zh-CN" altLang="en-US" sz="2400" b="1" dirty="0">
                <a:solidFill>
                  <a:schemeClr val="bg1"/>
                </a:solidFill>
                <a:latin typeface="+mn-ea"/>
              </a:rPr>
              <a:t>两个过程组成</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其中</a:t>
            </a:r>
            <a:r>
              <a:rPr lang="zh-CN" altLang="en-US" sz="2400" b="1" dirty="0">
                <a:solidFill>
                  <a:srgbClr val="FFFF00"/>
                </a:solidFill>
                <a:latin typeface="+mn-ea"/>
              </a:rPr>
              <a:t>换出</a:t>
            </a:r>
            <a:r>
              <a:rPr lang="en-US" altLang="zh-CN" sz="2400" b="1" dirty="0">
                <a:solidFill>
                  <a:srgbClr val="FFFF00"/>
                </a:solidFill>
                <a:latin typeface="+mn-ea"/>
              </a:rPr>
              <a:t>(swap out)</a:t>
            </a:r>
            <a:r>
              <a:rPr lang="zh-CN" altLang="en-US" sz="2400" b="1" dirty="0">
                <a:solidFill>
                  <a:schemeClr val="bg1"/>
                </a:solidFill>
                <a:latin typeface="+mn-ea"/>
              </a:rPr>
              <a:t>过程把</a:t>
            </a:r>
            <a:r>
              <a:rPr lang="zh-CN" altLang="en-US" sz="2400" b="1" dirty="0">
                <a:solidFill>
                  <a:srgbClr val="FFFF00"/>
                </a:solidFill>
                <a:latin typeface="+mn-ea"/>
              </a:rPr>
              <a:t>内存</a:t>
            </a:r>
            <a:r>
              <a:rPr lang="zh-CN" altLang="en-US" sz="2400" b="1" dirty="0">
                <a:solidFill>
                  <a:schemeClr val="bg1"/>
                </a:solidFill>
                <a:latin typeface="+mn-ea"/>
              </a:rPr>
              <a:t>中的数据和程序</a:t>
            </a:r>
            <a:r>
              <a:rPr lang="zh-CN" altLang="en-US" sz="2400" b="1" dirty="0">
                <a:solidFill>
                  <a:srgbClr val="FFFF00"/>
                </a:solidFill>
                <a:latin typeface="+mn-ea"/>
              </a:rPr>
              <a:t>换到外存交换</a:t>
            </a:r>
            <a:r>
              <a:rPr lang="zh-CN" altLang="en-US" sz="2400" b="1" dirty="0" smtClean="0">
                <a:solidFill>
                  <a:srgbClr val="FFFF00"/>
                </a:solidFill>
                <a:latin typeface="+mn-ea"/>
              </a:rPr>
              <a:t>区</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4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换</a:t>
            </a:r>
            <a:r>
              <a:rPr lang="zh-CN" altLang="en-US" sz="2400" b="1" dirty="0">
                <a:solidFill>
                  <a:srgbClr val="FFFF00"/>
                </a:solidFill>
                <a:latin typeface="+mn-ea"/>
              </a:rPr>
              <a:t>入</a:t>
            </a:r>
            <a:r>
              <a:rPr lang="en-US" altLang="zh-CN" sz="2400" b="1" dirty="0">
                <a:solidFill>
                  <a:srgbClr val="FFFF00"/>
                </a:solidFill>
                <a:latin typeface="+mn-ea"/>
              </a:rPr>
              <a:t>(</a:t>
            </a:r>
            <a:r>
              <a:rPr lang="en-US" altLang="zh-CN" sz="2400" b="1" dirty="0" err="1">
                <a:solidFill>
                  <a:srgbClr val="FFFF00"/>
                </a:solidFill>
                <a:latin typeface="+mn-ea"/>
              </a:rPr>
              <a:t>swapin</a:t>
            </a:r>
            <a:r>
              <a:rPr lang="en-US" altLang="zh-CN" sz="2400" b="1" dirty="0">
                <a:solidFill>
                  <a:srgbClr val="FFFF00"/>
                </a:solidFill>
                <a:latin typeface="+mn-ea"/>
              </a:rPr>
              <a:t>)</a:t>
            </a:r>
            <a:r>
              <a:rPr lang="zh-CN" altLang="en-US" sz="2400" b="1" dirty="0">
                <a:solidFill>
                  <a:schemeClr val="bg1"/>
                </a:solidFill>
                <a:latin typeface="+mn-ea"/>
              </a:rPr>
              <a:t>过程把</a:t>
            </a:r>
            <a:r>
              <a:rPr lang="zh-CN" altLang="en-US" sz="2400" b="1" dirty="0">
                <a:solidFill>
                  <a:srgbClr val="FFFF00"/>
                </a:solidFill>
                <a:latin typeface="+mn-ea"/>
              </a:rPr>
              <a:t>外存</a:t>
            </a:r>
            <a:r>
              <a:rPr lang="zh-CN" altLang="en-US" sz="2400" b="1" dirty="0">
                <a:solidFill>
                  <a:schemeClr val="bg1"/>
                </a:solidFill>
                <a:latin typeface="+mn-ea"/>
              </a:rPr>
              <a:t>交换区中的数据和程序</a:t>
            </a:r>
            <a:r>
              <a:rPr lang="zh-CN" altLang="en-US" sz="2400" b="1" dirty="0">
                <a:solidFill>
                  <a:srgbClr val="FFFF00"/>
                </a:solidFill>
                <a:latin typeface="+mn-ea"/>
              </a:rPr>
              <a:t>换到内存分区</a:t>
            </a:r>
            <a:r>
              <a:rPr lang="zh-CN" altLang="en-US" sz="2400" b="1" dirty="0">
                <a:solidFill>
                  <a:schemeClr val="accent5">
                    <a:lumMod val="20000"/>
                    <a:lumOff val="80000"/>
                  </a:schemeClr>
                </a:solidFill>
                <a:latin typeface="+mn-ea"/>
              </a:rPr>
              <a:t>中</a:t>
            </a:r>
            <a:r>
              <a:rPr lang="zh-CN" altLang="en-US" sz="2400" b="1" dirty="0">
                <a:solidFill>
                  <a:schemeClr val="bg1"/>
                </a:solidFill>
                <a:latin typeface="+mn-ea"/>
              </a:rPr>
              <a:t>。</a:t>
            </a:r>
            <a:endParaRPr lang="en-US" altLang="zh-CN" sz="24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交换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425" y="964797"/>
            <a:ext cx="629126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30" name="线形标注 1 29"/>
          <p:cNvSpPr/>
          <p:nvPr/>
        </p:nvSpPr>
        <p:spPr>
          <a:xfrm>
            <a:off x="4716016" y="4081025"/>
            <a:ext cx="4186210" cy="904903"/>
          </a:xfrm>
          <a:prstGeom prst="borderCallout1">
            <a:avLst>
              <a:gd name="adj1" fmla="val 53677"/>
              <a:gd name="adj2" fmla="val -501"/>
              <a:gd name="adj3" fmla="val 6446"/>
              <a:gd name="adj4" fmla="val -57829"/>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驱动设备做相应的数据读写</a:t>
            </a:r>
            <a:r>
              <a:rPr lang="zh-CN" altLang="en-US" sz="2000" b="1" dirty="0" smtClean="0"/>
              <a:t>操作，由</a:t>
            </a:r>
            <a:r>
              <a:rPr lang="zh-CN" altLang="en-US" sz="2000" b="1" dirty="0"/>
              <a:t>交换进程发送给设备进程的消息</a:t>
            </a:r>
            <a:r>
              <a:rPr lang="en-US" altLang="zh-CN" sz="2000" b="1" dirty="0"/>
              <a:t>m</a:t>
            </a:r>
            <a:r>
              <a:rPr lang="zh-CN" altLang="en-US" sz="2000" b="1" dirty="0"/>
              <a:t>中应包含分区的分区号</a:t>
            </a:r>
            <a:r>
              <a:rPr lang="en-US" altLang="zh-CN" sz="2000" b="1" dirty="0" err="1"/>
              <a:t>i</a:t>
            </a:r>
            <a:endParaRPr lang="zh-CN" altLang="en-US" sz="2000" b="1" dirty="0"/>
          </a:p>
        </p:txBody>
      </p:sp>
      <p:sp>
        <p:nvSpPr>
          <p:cNvPr id="31" name="线形标注 1 30"/>
          <p:cNvSpPr/>
          <p:nvPr/>
        </p:nvSpPr>
        <p:spPr>
          <a:xfrm>
            <a:off x="5619576" y="351953"/>
            <a:ext cx="1584176" cy="660988"/>
          </a:xfrm>
          <a:prstGeom prst="borderCallout1">
            <a:avLst>
              <a:gd name="adj1" fmla="val 53677"/>
              <a:gd name="adj2" fmla="val -501"/>
              <a:gd name="adj3" fmla="val 234487"/>
              <a:gd name="adj4" fmla="val -181393"/>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分区的基址</a:t>
            </a:r>
          </a:p>
        </p:txBody>
      </p:sp>
      <p:sp>
        <p:nvSpPr>
          <p:cNvPr id="32" name="线形标注 1 31"/>
          <p:cNvSpPr/>
          <p:nvPr/>
        </p:nvSpPr>
        <p:spPr>
          <a:xfrm>
            <a:off x="5846912" y="1155562"/>
            <a:ext cx="1584176" cy="660988"/>
          </a:xfrm>
          <a:prstGeom prst="borderCallout1">
            <a:avLst>
              <a:gd name="adj1" fmla="val 53677"/>
              <a:gd name="adj2" fmla="val -501"/>
              <a:gd name="adj3" fmla="val 176846"/>
              <a:gd name="adj4" fmla="val -139706"/>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分区的长度</a:t>
            </a:r>
          </a:p>
        </p:txBody>
      </p:sp>
      <p:sp>
        <p:nvSpPr>
          <p:cNvPr id="33" name="线形标注 1 32"/>
          <p:cNvSpPr/>
          <p:nvPr/>
        </p:nvSpPr>
        <p:spPr>
          <a:xfrm>
            <a:off x="6084168" y="1959171"/>
            <a:ext cx="936104" cy="456742"/>
          </a:xfrm>
          <a:prstGeom prst="borderCallout1">
            <a:avLst>
              <a:gd name="adj1" fmla="val 53677"/>
              <a:gd name="adj2" fmla="val -501"/>
              <a:gd name="adj3" fmla="val 148526"/>
              <a:gd name="adj4" fmla="val -302879"/>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方向</a:t>
            </a:r>
          </a:p>
        </p:txBody>
      </p:sp>
      <p:sp>
        <p:nvSpPr>
          <p:cNvPr id="34" name="线形标注 1 33"/>
          <p:cNvSpPr/>
          <p:nvPr/>
        </p:nvSpPr>
        <p:spPr>
          <a:xfrm>
            <a:off x="7303949" y="2017065"/>
            <a:ext cx="1840051" cy="877312"/>
          </a:xfrm>
          <a:prstGeom prst="borderCallout1">
            <a:avLst>
              <a:gd name="adj1" fmla="val 62019"/>
              <a:gd name="adj2" fmla="val 2212"/>
              <a:gd name="adj3" fmla="val 116493"/>
              <a:gd name="adj4" fmla="val -95551"/>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外存交换区中分区起始地址</a:t>
            </a:r>
          </a:p>
        </p:txBody>
      </p:sp>
      <p:sp>
        <p:nvSpPr>
          <p:cNvPr id="35" name="线形标注 1 34"/>
          <p:cNvSpPr/>
          <p:nvPr/>
        </p:nvSpPr>
        <p:spPr>
          <a:xfrm>
            <a:off x="6511062" y="3003198"/>
            <a:ext cx="2422166" cy="877312"/>
          </a:xfrm>
          <a:prstGeom prst="borderCallout1">
            <a:avLst>
              <a:gd name="adj1" fmla="val 62019"/>
              <a:gd name="adj2" fmla="val 2212"/>
              <a:gd name="adj3" fmla="val 55693"/>
              <a:gd name="adj4" fmla="val -79606"/>
            </a:avLst>
          </a:prstGeom>
          <a:ln w="38100"/>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000" b="1" dirty="0"/>
              <a:t>用来记录被换出数据和程序的起始地址以便换入时使用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lef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539552" y="136607"/>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交换</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技术</a:t>
            </a:r>
            <a:endParaRPr lang="zh-CN" altLang="ko-KR"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3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038199"/>
            <a:ext cx="700881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0" name="矩形 29"/>
          <p:cNvSpPr/>
          <p:nvPr/>
        </p:nvSpPr>
        <p:spPr>
          <a:xfrm>
            <a:off x="827584" y="1159834"/>
            <a:ext cx="6913357" cy="3416320"/>
          </a:xfrm>
          <a:prstGeom prst="rect">
            <a:avLst/>
          </a:prstGeom>
        </p:spPr>
        <p:txBody>
          <a:bodyPr wrap="square">
            <a:spAutoFit/>
          </a:bodyPr>
          <a:lstStyle/>
          <a:p>
            <a:pPr marL="0" lvl="1" indent="-285750" algn="just">
              <a:lnSpc>
                <a:spcPct val="120000"/>
              </a:lnSpc>
              <a:buClr>
                <a:schemeClr val="accent6">
                  <a:lumMod val="60000"/>
                  <a:lumOff val="40000"/>
                </a:schemeClr>
              </a:buClr>
              <a:buFont typeface="Wingdings" panose="05000000000000000000" pitchFamily="2" charset="2"/>
              <a:buChar char="Ø"/>
            </a:pPr>
            <a:r>
              <a:rPr lang="zh-CN" altLang="zh-CN" sz="2000" b="1" dirty="0" smtClean="0">
                <a:solidFill>
                  <a:schemeClr val="bg1"/>
                </a:solidFill>
                <a:latin typeface="+mn-ea"/>
              </a:rPr>
              <a:t>在</a:t>
            </a:r>
            <a:r>
              <a:rPr lang="zh-CN" altLang="zh-CN" sz="2000" b="1" dirty="0">
                <a:solidFill>
                  <a:schemeClr val="bg1"/>
                </a:solidFill>
                <a:latin typeface="+mn-ea"/>
              </a:rPr>
              <a:t>一个采用页式虚拟存储管理的系统中，有一用户作业，它依次要访问的字地址序列是：</a:t>
            </a:r>
            <a:r>
              <a:rPr lang="en-US" altLang="zh-CN" sz="2000" b="1" dirty="0">
                <a:solidFill>
                  <a:schemeClr val="bg1"/>
                </a:solidFill>
                <a:latin typeface="+mn-ea"/>
              </a:rPr>
              <a:t>115</a:t>
            </a:r>
            <a:r>
              <a:rPr lang="zh-CN" altLang="zh-CN" sz="2000" b="1" dirty="0">
                <a:solidFill>
                  <a:schemeClr val="bg1"/>
                </a:solidFill>
                <a:latin typeface="+mn-ea"/>
              </a:rPr>
              <a:t>，</a:t>
            </a:r>
            <a:r>
              <a:rPr lang="en-US" altLang="zh-CN" sz="2000" b="1" dirty="0">
                <a:solidFill>
                  <a:schemeClr val="bg1"/>
                </a:solidFill>
                <a:latin typeface="+mn-ea"/>
              </a:rPr>
              <a:t>228</a:t>
            </a:r>
            <a:r>
              <a:rPr lang="zh-CN" altLang="zh-CN" sz="2000" b="1" dirty="0">
                <a:solidFill>
                  <a:schemeClr val="bg1"/>
                </a:solidFill>
                <a:latin typeface="+mn-ea"/>
              </a:rPr>
              <a:t>，</a:t>
            </a:r>
            <a:r>
              <a:rPr lang="en-US" altLang="zh-CN" sz="2000" b="1" dirty="0">
                <a:solidFill>
                  <a:schemeClr val="bg1"/>
                </a:solidFill>
                <a:latin typeface="+mn-ea"/>
              </a:rPr>
              <a:t>120</a:t>
            </a:r>
            <a:r>
              <a:rPr lang="zh-CN" altLang="zh-CN" sz="2000" b="1" dirty="0">
                <a:solidFill>
                  <a:schemeClr val="bg1"/>
                </a:solidFill>
                <a:latin typeface="+mn-ea"/>
              </a:rPr>
              <a:t>，</a:t>
            </a:r>
            <a:r>
              <a:rPr lang="en-US" altLang="zh-CN" sz="2000" b="1" dirty="0">
                <a:solidFill>
                  <a:schemeClr val="bg1"/>
                </a:solidFill>
                <a:latin typeface="+mn-ea"/>
              </a:rPr>
              <a:t>88</a:t>
            </a:r>
            <a:r>
              <a:rPr lang="zh-CN" altLang="zh-CN" sz="2000" b="1" dirty="0">
                <a:solidFill>
                  <a:schemeClr val="bg1"/>
                </a:solidFill>
                <a:latin typeface="+mn-ea"/>
              </a:rPr>
              <a:t>，</a:t>
            </a:r>
            <a:r>
              <a:rPr lang="en-US" altLang="zh-CN" sz="2000" b="1" dirty="0">
                <a:solidFill>
                  <a:schemeClr val="bg1"/>
                </a:solidFill>
                <a:latin typeface="+mn-ea"/>
              </a:rPr>
              <a:t>446</a:t>
            </a:r>
            <a:r>
              <a:rPr lang="zh-CN" altLang="zh-CN" sz="2000" b="1" dirty="0">
                <a:solidFill>
                  <a:schemeClr val="bg1"/>
                </a:solidFill>
                <a:latin typeface="+mn-ea"/>
              </a:rPr>
              <a:t>，</a:t>
            </a:r>
            <a:r>
              <a:rPr lang="en-US" altLang="zh-CN" sz="2000" b="1" dirty="0">
                <a:solidFill>
                  <a:schemeClr val="bg1"/>
                </a:solidFill>
                <a:latin typeface="+mn-ea"/>
              </a:rPr>
              <a:t>102</a:t>
            </a:r>
            <a:r>
              <a:rPr lang="zh-CN" altLang="zh-CN" sz="2000" b="1" dirty="0">
                <a:solidFill>
                  <a:schemeClr val="bg1"/>
                </a:solidFill>
                <a:latin typeface="+mn-ea"/>
              </a:rPr>
              <a:t>，</a:t>
            </a:r>
            <a:r>
              <a:rPr lang="en-US" altLang="zh-CN" sz="2000" b="1" dirty="0">
                <a:solidFill>
                  <a:schemeClr val="bg1"/>
                </a:solidFill>
                <a:latin typeface="+mn-ea"/>
              </a:rPr>
              <a:t>321</a:t>
            </a:r>
            <a:r>
              <a:rPr lang="zh-CN" altLang="zh-CN" sz="2000" b="1" dirty="0">
                <a:solidFill>
                  <a:schemeClr val="bg1"/>
                </a:solidFill>
                <a:latin typeface="+mn-ea"/>
              </a:rPr>
              <a:t>，</a:t>
            </a:r>
            <a:r>
              <a:rPr lang="en-US" altLang="zh-CN" sz="2000" b="1" dirty="0">
                <a:solidFill>
                  <a:schemeClr val="bg1"/>
                </a:solidFill>
                <a:latin typeface="+mn-ea"/>
              </a:rPr>
              <a:t>432</a:t>
            </a:r>
            <a:r>
              <a:rPr lang="zh-CN" altLang="zh-CN" sz="2000" b="1" dirty="0">
                <a:solidFill>
                  <a:schemeClr val="bg1"/>
                </a:solidFill>
                <a:latin typeface="+mn-ea"/>
              </a:rPr>
              <a:t>，</a:t>
            </a:r>
            <a:r>
              <a:rPr lang="en-US" altLang="zh-CN" sz="2000" b="1" dirty="0">
                <a:solidFill>
                  <a:schemeClr val="bg1"/>
                </a:solidFill>
                <a:latin typeface="+mn-ea"/>
              </a:rPr>
              <a:t>260</a:t>
            </a:r>
            <a:r>
              <a:rPr lang="zh-CN" altLang="zh-CN" sz="2000" b="1" dirty="0">
                <a:solidFill>
                  <a:schemeClr val="bg1"/>
                </a:solidFill>
                <a:latin typeface="+mn-ea"/>
              </a:rPr>
              <a:t>，</a:t>
            </a:r>
            <a:r>
              <a:rPr lang="en-US" altLang="zh-CN" sz="2000" b="1" dirty="0">
                <a:solidFill>
                  <a:schemeClr val="bg1"/>
                </a:solidFill>
                <a:latin typeface="+mn-ea"/>
              </a:rPr>
              <a:t>167</a:t>
            </a:r>
            <a:r>
              <a:rPr lang="zh-CN" altLang="zh-CN" sz="2000" b="1" dirty="0">
                <a:solidFill>
                  <a:schemeClr val="bg1"/>
                </a:solidFill>
                <a:latin typeface="+mn-ea"/>
              </a:rPr>
              <a:t>，若该作业的第</a:t>
            </a:r>
            <a:r>
              <a:rPr lang="en-US" altLang="zh-CN" sz="2000" b="1" dirty="0">
                <a:solidFill>
                  <a:schemeClr val="bg1"/>
                </a:solidFill>
                <a:latin typeface="+mn-ea"/>
              </a:rPr>
              <a:t>0</a:t>
            </a:r>
            <a:r>
              <a:rPr lang="zh-CN" altLang="zh-CN" sz="2000" b="1" dirty="0">
                <a:solidFill>
                  <a:schemeClr val="bg1"/>
                </a:solidFill>
                <a:latin typeface="+mn-ea"/>
              </a:rPr>
              <a:t>页已经装入主存，现分配给该作业的主存共</a:t>
            </a:r>
            <a:r>
              <a:rPr lang="en-US" altLang="zh-CN" sz="2000" b="1" dirty="0">
                <a:solidFill>
                  <a:schemeClr val="bg1"/>
                </a:solidFill>
                <a:latin typeface="+mn-ea"/>
              </a:rPr>
              <a:t>300</a:t>
            </a:r>
            <a:r>
              <a:rPr lang="zh-CN" altLang="zh-CN" sz="2000" b="1" dirty="0">
                <a:solidFill>
                  <a:schemeClr val="bg1"/>
                </a:solidFill>
                <a:latin typeface="+mn-ea"/>
              </a:rPr>
              <a:t>字，页的大小为</a:t>
            </a:r>
            <a:r>
              <a:rPr lang="en-US" altLang="zh-CN" sz="2000" b="1" dirty="0">
                <a:solidFill>
                  <a:schemeClr val="bg1"/>
                </a:solidFill>
                <a:latin typeface="+mn-ea"/>
              </a:rPr>
              <a:t>100</a:t>
            </a:r>
            <a:r>
              <a:rPr lang="zh-CN" altLang="zh-CN" sz="2000" b="1" dirty="0">
                <a:solidFill>
                  <a:schemeClr val="bg1"/>
                </a:solidFill>
                <a:latin typeface="+mn-ea"/>
              </a:rPr>
              <a:t>字，请回答下列问题：</a:t>
            </a:r>
          </a:p>
          <a:p>
            <a:pPr marL="0" lvl="1" algn="just">
              <a:lnSpc>
                <a:spcPct val="120000"/>
              </a:lnSpc>
              <a:buClr>
                <a:schemeClr val="accent6">
                  <a:lumMod val="60000"/>
                  <a:lumOff val="40000"/>
                </a:schemeClr>
              </a:buClr>
            </a:pPr>
            <a:r>
              <a:rPr lang="zh-CN" altLang="zh-CN" sz="2000" b="1" dirty="0">
                <a:solidFill>
                  <a:schemeClr val="bg1"/>
                </a:solidFill>
                <a:latin typeface="+mn-ea"/>
              </a:rPr>
              <a:t>（</a:t>
            </a:r>
            <a:r>
              <a:rPr lang="en-US" altLang="zh-CN" sz="2000" b="1" dirty="0">
                <a:solidFill>
                  <a:schemeClr val="bg1"/>
                </a:solidFill>
                <a:latin typeface="+mn-ea"/>
              </a:rPr>
              <a:t>1</a:t>
            </a:r>
            <a:r>
              <a:rPr lang="zh-CN" altLang="zh-CN" sz="2000" b="1" dirty="0">
                <a:solidFill>
                  <a:schemeClr val="bg1"/>
                </a:solidFill>
                <a:latin typeface="+mn-ea"/>
              </a:rPr>
              <a:t>）按</a:t>
            </a:r>
            <a:r>
              <a:rPr lang="en-US" altLang="zh-CN" sz="2000" b="1" dirty="0">
                <a:solidFill>
                  <a:schemeClr val="bg1"/>
                </a:solidFill>
                <a:latin typeface="+mn-ea"/>
              </a:rPr>
              <a:t>FIFO</a:t>
            </a:r>
            <a:r>
              <a:rPr lang="zh-CN" altLang="zh-CN" sz="2000" b="1" dirty="0">
                <a:solidFill>
                  <a:schemeClr val="bg1"/>
                </a:solidFill>
                <a:latin typeface="+mn-ea"/>
              </a:rPr>
              <a:t>调度算法将产生 次缺页中断，依次淘汰的页号为 ，缺页中断率为 。</a:t>
            </a:r>
          </a:p>
          <a:p>
            <a:pPr marL="0" lvl="1" algn="just">
              <a:lnSpc>
                <a:spcPct val="120000"/>
              </a:lnSpc>
              <a:buClr>
                <a:schemeClr val="accent6">
                  <a:lumMod val="60000"/>
                  <a:lumOff val="40000"/>
                </a:schemeClr>
              </a:buClr>
            </a:pPr>
            <a:r>
              <a:rPr lang="zh-CN" altLang="zh-CN" sz="2000" b="1" dirty="0">
                <a:solidFill>
                  <a:schemeClr val="bg1"/>
                </a:solidFill>
                <a:latin typeface="+mn-ea"/>
              </a:rPr>
              <a:t>（</a:t>
            </a:r>
            <a:r>
              <a:rPr lang="en-US" altLang="zh-CN" sz="2000" b="1" dirty="0">
                <a:solidFill>
                  <a:schemeClr val="bg1"/>
                </a:solidFill>
                <a:latin typeface="+mn-ea"/>
              </a:rPr>
              <a:t>2</a:t>
            </a:r>
            <a:r>
              <a:rPr lang="zh-CN" altLang="zh-CN" sz="2000" b="1" dirty="0">
                <a:solidFill>
                  <a:schemeClr val="bg1"/>
                </a:solidFill>
                <a:latin typeface="+mn-ea"/>
              </a:rPr>
              <a:t>）按</a:t>
            </a:r>
            <a:r>
              <a:rPr lang="en-US" altLang="zh-CN" sz="2000" b="1" dirty="0">
                <a:solidFill>
                  <a:schemeClr val="bg1"/>
                </a:solidFill>
                <a:latin typeface="+mn-ea"/>
              </a:rPr>
              <a:t>LRU</a:t>
            </a:r>
            <a:r>
              <a:rPr lang="zh-CN" altLang="zh-CN" sz="2000" b="1" dirty="0">
                <a:solidFill>
                  <a:schemeClr val="bg1"/>
                </a:solidFill>
                <a:latin typeface="+mn-ea"/>
              </a:rPr>
              <a:t>调度算法将产生 次缺页中断，依次淘汰的页号为 ，缺页中断率为 。</a:t>
            </a:r>
            <a:endParaRPr lang="zh-CN" altLang="en-US" sz="2000" b="1" dirty="0">
              <a:solidFill>
                <a:schemeClr val="bg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left)">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wipe(left)">
                                      <p:cBhvr>
                                        <p:cTn id="17" dur="500"/>
                                        <p:tgtEl>
                                          <p:spTgt spid="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 name="组合 2"/>
          <p:cNvGrpSpPr/>
          <p:nvPr/>
        </p:nvGrpSpPr>
        <p:grpSpPr>
          <a:xfrm>
            <a:off x="390074" y="893741"/>
            <a:ext cx="8607330" cy="4193647"/>
            <a:chOff x="683568" y="949853"/>
            <a:chExt cx="7776864" cy="3496559"/>
          </a:xfrm>
        </p:grpSpPr>
        <p:pic>
          <p:nvPicPr>
            <p:cNvPr id="2" name="图片 1"/>
            <p:cNvPicPr>
              <a:picLocks noChangeAspect="1"/>
            </p:cNvPicPr>
            <p:nvPr/>
          </p:nvPicPr>
          <p:blipFill rotWithShape="1">
            <a:blip r:embed="rId3"/>
            <a:srcRect b="60094"/>
            <a:stretch>
              <a:fillRect/>
            </a:stretch>
          </p:blipFill>
          <p:spPr>
            <a:xfrm>
              <a:off x="683568" y="949853"/>
              <a:ext cx="7776864" cy="1621897"/>
            </a:xfrm>
            <a:prstGeom prst="rect">
              <a:avLst/>
            </a:prstGeom>
          </p:spPr>
        </p:pic>
        <p:pic>
          <p:nvPicPr>
            <p:cNvPr id="29" name="图片 28"/>
            <p:cNvPicPr>
              <a:picLocks noChangeAspect="1"/>
            </p:cNvPicPr>
            <p:nvPr/>
          </p:nvPicPr>
          <p:blipFill rotWithShape="1">
            <a:blip r:embed="rId3"/>
            <a:srcRect t="53874"/>
            <a:stretch>
              <a:fillRect/>
            </a:stretch>
          </p:blipFill>
          <p:spPr>
            <a:xfrm>
              <a:off x="683568" y="2571750"/>
              <a:ext cx="7776864" cy="187466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8" name="组合 7"/>
          <p:cNvGrpSpPr/>
          <p:nvPr/>
        </p:nvGrpSpPr>
        <p:grpSpPr>
          <a:xfrm>
            <a:off x="443136" y="939400"/>
            <a:ext cx="8305328" cy="3684516"/>
            <a:chOff x="680368" y="903458"/>
            <a:chExt cx="7080275" cy="2964436"/>
          </a:xfrm>
        </p:grpSpPr>
        <p:pic>
          <p:nvPicPr>
            <p:cNvPr id="4" name="图片 3"/>
            <p:cNvPicPr>
              <a:picLocks noChangeAspect="1"/>
            </p:cNvPicPr>
            <p:nvPr/>
          </p:nvPicPr>
          <p:blipFill>
            <a:blip r:embed="rId3"/>
            <a:stretch>
              <a:fillRect/>
            </a:stretch>
          </p:blipFill>
          <p:spPr>
            <a:xfrm>
              <a:off x="683568" y="903458"/>
              <a:ext cx="7077075" cy="1990725"/>
            </a:xfrm>
            <a:prstGeom prst="rect">
              <a:avLst/>
            </a:prstGeom>
          </p:spPr>
        </p:pic>
        <p:grpSp>
          <p:nvGrpSpPr>
            <p:cNvPr id="7" name="组合 6"/>
            <p:cNvGrpSpPr/>
            <p:nvPr/>
          </p:nvGrpSpPr>
          <p:grpSpPr>
            <a:xfrm>
              <a:off x="680368" y="2900905"/>
              <a:ext cx="7080275" cy="966989"/>
              <a:chOff x="1088081" y="2873871"/>
              <a:chExt cx="6946255" cy="851917"/>
            </a:xfrm>
          </p:grpSpPr>
          <p:pic>
            <p:nvPicPr>
              <p:cNvPr id="5" name="图片 4"/>
              <p:cNvPicPr>
                <a:picLocks noChangeAspect="1"/>
              </p:cNvPicPr>
              <p:nvPr/>
            </p:nvPicPr>
            <p:blipFill rotWithShape="1">
              <a:blip r:embed="rId4"/>
              <a:srcRect r="3235"/>
              <a:stretch>
                <a:fillRect/>
              </a:stretch>
            </p:blipFill>
            <p:spPr>
              <a:xfrm>
                <a:off x="1088081" y="2873871"/>
                <a:ext cx="6940303" cy="561975"/>
              </a:xfrm>
              <a:prstGeom prst="rect">
                <a:avLst/>
              </a:prstGeom>
            </p:spPr>
          </p:pic>
          <p:pic>
            <p:nvPicPr>
              <p:cNvPr id="6" name="图片 5"/>
              <p:cNvPicPr>
                <a:picLocks noChangeAspect="1"/>
              </p:cNvPicPr>
              <p:nvPr/>
            </p:nvPicPr>
            <p:blipFill rotWithShape="1">
              <a:blip r:embed="rId5"/>
              <a:srcRect t="19895"/>
              <a:stretch>
                <a:fillRect/>
              </a:stretch>
            </p:blipFill>
            <p:spPr>
              <a:xfrm>
                <a:off x="1109661" y="3435846"/>
                <a:ext cx="6924675" cy="289942"/>
              </a:xfrm>
              <a:prstGeom prst="rect">
                <a:avLst/>
              </a:prstGeom>
            </p:spPr>
          </p:pic>
        </p:grpSp>
      </p:gr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panose="020B0503020204020204" pitchFamily="34" charset="-122"/>
            </a:endParaRPr>
          </a:p>
        </p:txBody>
      </p:sp>
      <p:sp>
        <p:nvSpPr>
          <p:cNvPr id="45" name="제목 1"/>
          <p:cNvSpPr txBox="1"/>
          <p:nvPr/>
        </p:nvSpPr>
        <p:spPr>
          <a:xfrm>
            <a:off x="357158" y="142858"/>
            <a:ext cx="8103274"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-4</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9" name="组合 8"/>
          <p:cNvGrpSpPr/>
          <p:nvPr/>
        </p:nvGrpSpPr>
        <p:grpSpPr>
          <a:xfrm>
            <a:off x="357159" y="1105760"/>
            <a:ext cx="8163868" cy="3554221"/>
            <a:chOff x="611559" y="1105761"/>
            <a:chExt cx="7909467" cy="3280066"/>
          </a:xfrm>
        </p:grpSpPr>
        <p:pic>
          <p:nvPicPr>
            <p:cNvPr id="3" name="图片 2"/>
            <p:cNvPicPr>
              <a:picLocks noChangeAspect="1"/>
            </p:cNvPicPr>
            <p:nvPr/>
          </p:nvPicPr>
          <p:blipFill>
            <a:blip r:embed="rId3"/>
            <a:stretch>
              <a:fillRect/>
            </a:stretch>
          </p:blipFill>
          <p:spPr>
            <a:xfrm>
              <a:off x="611559" y="3723878"/>
              <a:ext cx="7889127" cy="661949"/>
            </a:xfrm>
            <a:prstGeom prst="rect">
              <a:avLst/>
            </a:prstGeom>
          </p:spPr>
        </p:pic>
        <p:pic>
          <p:nvPicPr>
            <p:cNvPr id="2" name="图片 1"/>
            <p:cNvPicPr>
              <a:picLocks noChangeAspect="1"/>
            </p:cNvPicPr>
            <p:nvPr/>
          </p:nvPicPr>
          <p:blipFill>
            <a:blip r:embed="rId4"/>
            <a:stretch>
              <a:fillRect/>
            </a:stretch>
          </p:blipFill>
          <p:spPr>
            <a:xfrm>
              <a:off x="611559" y="1105761"/>
              <a:ext cx="7909467" cy="2807968"/>
            </a:xfrm>
            <a:prstGeom prst="rect">
              <a:avLst/>
            </a:prstGeom>
          </p:spPr>
        </p:pic>
      </p:gr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clrChange>
              <a:clrFrom>
                <a:srgbClr val="F5F5F2">
                  <a:alpha val="80000"/>
                </a:srgbClr>
              </a:clrFrom>
              <a:clrTo>
                <a:srgbClr val="F5F5F2">
                  <a:alpha val="0"/>
                </a:srgbClr>
              </a:clrTo>
            </a:clrChange>
            <a:extLst>
              <a:ext uri="{BEBA8EAE-BF5A-486C-A8C5-ECC9F3942E4B}">
                <a14:imgProps xmlns:a14="http://schemas.microsoft.com/office/drawing/2010/main">
                  <a14:imgLayer r:embed="rId3">
                    <a14:imgEffect>
                      <a14:artisticPastelsSmooth/>
                    </a14:imgEffect>
                  </a14:imgLayer>
                </a14:imgProps>
              </a:ext>
            </a:extLst>
          </a:blip>
          <a:srcRect/>
          <a:stretch>
            <a:fillRect/>
          </a:stretch>
        </p:blipFill>
        <p:spPr bwMode="auto">
          <a:xfrm rot="21163559">
            <a:off x="2670789" y="1565488"/>
            <a:ext cx="3498851" cy="901700"/>
          </a:xfrm>
          <a:prstGeom prst="rect">
            <a:avLst/>
          </a:prstGeom>
          <a:noFill/>
          <a:ln w="9525">
            <a:noFill/>
            <a:miter lim="800000"/>
            <a:headEnd/>
            <a:tailEnd/>
          </a:ln>
          <a:effectLst/>
        </p:spPr>
      </p:pic>
      <p:grpSp>
        <p:nvGrpSpPr>
          <p:cNvPr id="10" name="组合 27"/>
          <p:cNvGrpSpPr/>
          <p:nvPr/>
        </p:nvGrpSpPr>
        <p:grpSpPr>
          <a:xfrm>
            <a:off x="763792" y="475567"/>
            <a:ext cx="1704074" cy="840074"/>
            <a:chOff x="728490" y="483518"/>
            <a:chExt cx="1704075" cy="840074"/>
          </a:xfrm>
        </p:grpSpPr>
        <p:pic>
          <p:nvPicPr>
            <p:cNvPr id="11" name="图片 10" descr="贴贴子4张（空）.png"/>
            <p:cNvPicPr>
              <a:picLocks noChangeAspect="1"/>
            </p:cNvPicPr>
            <p:nvPr/>
          </p:nvPicPr>
          <p:blipFill>
            <a:blip r:embed="rId4" cstate="print"/>
            <a:srcRect t="33018" r="77449" b="52860"/>
            <a:stretch>
              <a:fillRect/>
            </a:stretch>
          </p:blipFill>
          <p:spPr>
            <a:xfrm>
              <a:off x="728490" y="483518"/>
              <a:ext cx="1512168" cy="615496"/>
            </a:xfrm>
            <a:prstGeom prst="rect">
              <a:avLst/>
            </a:prstGeom>
          </p:spPr>
        </p:pic>
        <p:sp>
          <p:nvSpPr>
            <p:cNvPr id="12" name="TextBox 11"/>
            <p:cNvSpPr txBox="1"/>
            <p:nvPr/>
          </p:nvSpPr>
          <p:spPr>
            <a:xfrm>
              <a:off x="1187623" y="731481"/>
              <a:ext cx="352179" cy="384721"/>
            </a:xfrm>
            <a:prstGeom prst="rect">
              <a:avLst/>
            </a:prstGeom>
            <a:noFill/>
          </p:spPr>
          <p:txBody>
            <a:bodyPr wrap="square" rtlCol="0">
              <a:spAutoFit/>
            </a:bodyPr>
            <a:lstStyle/>
            <a:p>
              <a:pPr defTabSz="913765"/>
              <a:r>
                <a:rPr lang="en-US" altLang="zh-CN" sz="1900" dirty="0">
                  <a:solidFill>
                    <a:prstClr val="black"/>
                  </a:solidFill>
                  <a:latin typeface="微软雅黑" panose="020B0503020204020204" pitchFamily="34" charset="-122"/>
                  <a:ea typeface="微软雅黑" panose="020B0503020204020204" pitchFamily="34" charset="-122"/>
                </a:rPr>
                <a:t>O</a:t>
              </a:r>
              <a:endParaRPr lang="zh-CN" altLang="en-US" sz="1900" dirty="0">
                <a:solidFill>
                  <a:prstClr val="black"/>
                </a:solidFill>
                <a:latin typeface="微软雅黑" panose="020B0503020204020204" pitchFamily="34" charset="-122"/>
                <a:ea typeface="微软雅黑" panose="020B0503020204020204" pitchFamily="34" charset="-122"/>
              </a:endParaRPr>
            </a:p>
          </p:txBody>
        </p:sp>
        <p:pic>
          <p:nvPicPr>
            <p:cNvPr id="13" name="图片 12" descr="贴贴子4张（空）.png"/>
            <p:cNvPicPr/>
            <p:nvPr/>
          </p:nvPicPr>
          <p:blipFill>
            <a:blip r:embed="rId4" cstate="print"/>
            <a:srcRect l="6702" t="47905" r="86794" b="38897"/>
            <a:stretch>
              <a:fillRect/>
            </a:stretch>
          </p:blipFill>
          <p:spPr>
            <a:xfrm rot="-180000">
              <a:off x="2000565" y="731480"/>
              <a:ext cx="432000" cy="592112"/>
            </a:xfrm>
            <a:prstGeom prst="rect">
              <a:avLst/>
            </a:prstGeom>
          </p:spPr>
        </p:pic>
        <p:sp>
          <p:nvSpPr>
            <p:cNvPr id="14" name="TextBox 13"/>
            <p:cNvSpPr txBox="1"/>
            <p:nvPr/>
          </p:nvSpPr>
          <p:spPr>
            <a:xfrm rot="599039">
              <a:off x="1667523" y="747677"/>
              <a:ext cx="352179" cy="384721"/>
            </a:xfrm>
            <a:prstGeom prst="rect">
              <a:avLst/>
            </a:prstGeom>
            <a:noFill/>
          </p:spPr>
          <p:txBody>
            <a:bodyPr wrap="square" rtlCol="0">
              <a:spAutoFit/>
            </a:bodyPr>
            <a:lstStyle/>
            <a:p>
              <a:pPr defTabSz="913765"/>
              <a:r>
                <a:rPr lang="en-US" altLang="zh-CN" sz="1900" dirty="0">
                  <a:solidFill>
                    <a:prstClr val="black"/>
                  </a:solidFill>
                  <a:latin typeface="微软雅黑" panose="020B0503020204020204" pitchFamily="34" charset="-122"/>
                  <a:ea typeface="微软雅黑" panose="020B0503020204020204" pitchFamily="34" charset="-122"/>
                </a:rPr>
                <a:t>S</a:t>
              </a:r>
              <a:endParaRPr lang="zh-CN" altLang="en-US" sz="1900" dirty="0">
                <a:solidFill>
                  <a:prstClr val="black"/>
                </a:solidFill>
                <a:latin typeface="微软雅黑" panose="020B0503020204020204" pitchFamily="34" charset="-122"/>
                <a:ea typeface="微软雅黑" panose="020B0503020204020204" pitchFamily="34" charset="-122"/>
              </a:endParaRPr>
            </a:p>
          </p:txBody>
        </p:sp>
        <p:sp>
          <p:nvSpPr>
            <p:cNvPr id="15" name="TextBox 14"/>
            <p:cNvSpPr txBox="1"/>
            <p:nvPr/>
          </p:nvSpPr>
          <p:spPr>
            <a:xfrm rot="20890714">
              <a:off x="2046654" y="743345"/>
              <a:ext cx="352179" cy="384721"/>
            </a:xfrm>
            <a:prstGeom prst="rect">
              <a:avLst/>
            </a:prstGeom>
            <a:noFill/>
          </p:spPr>
          <p:txBody>
            <a:bodyPr wrap="square" rtlCol="0">
              <a:spAutoFit/>
            </a:bodyPr>
            <a:lstStyle/>
            <a:p>
              <a:pPr defTabSz="913765"/>
              <a:r>
                <a:rPr lang="en-US" altLang="zh-CN" sz="1900" dirty="0">
                  <a:solidFill>
                    <a:prstClr val="black"/>
                  </a:solidFill>
                  <a:latin typeface="微软雅黑" panose="020B0503020204020204" pitchFamily="34" charset="-122"/>
                  <a:ea typeface="微软雅黑" panose="020B0503020204020204" pitchFamily="34" charset="-122"/>
                </a:rPr>
                <a:t>Y</a:t>
              </a:r>
              <a:endParaRPr lang="zh-CN" altLang="en-US" sz="1900" dirty="0">
                <a:solidFill>
                  <a:prstClr val="black"/>
                </a:solidFill>
                <a:latin typeface="微软雅黑" panose="020B0503020204020204" pitchFamily="34" charset="-122"/>
                <a:ea typeface="微软雅黑" panose="020B0503020204020204" pitchFamily="34" charset="-122"/>
              </a:endParaRPr>
            </a:p>
          </p:txBody>
        </p:sp>
      </p:grpSp>
      <p:sp>
        <p:nvSpPr>
          <p:cNvPr id="17" name="矩形 16"/>
          <p:cNvSpPr/>
          <p:nvPr/>
        </p:nvSpPr>
        <p:spPr>
          <a:xfrm rot="20036968">
            <a:off x="6164792" y="2110566"/>
            <a:ext cx="1432894" cy="338553"/>
          </a:xfrm>
          <a:prstGeom prst="rect">
            <a:avLst/>
          </a:prstGeom>
        </p:spPr>
        <p:txBody>
          <a:bodyPr wrap="none" lIns="91441" tIns="45721" rIns="91441" bIns="45721">
            <a:spAutoFit/>
          </a:bodyPr>
          <a:lstStyle/>
          <a:p>
            <a:pPr defTabSz="913765"/>
            <a:r>
              <a:rPr lang="en-US" altLang="zh-CN"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rPr>
              <a:t>THANK</a:t>
            </a:r>
            <a:r>
              <a:rPr lang="zh-CN" altLang="en-US"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rPr>
              <a:t> </a:t>
            </a:r>
            <a:r>
              <a:rPr lang="en-US" altLang="zh-CN"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rPr>
              <a:t>YOU!</a:t>
            </a:r>
            <a:endParaRPr lang="zh-CN" altLang="en-US" sz="1600" dirty="0">
              <a:solidFill>
                <a:prstClr val="white">
                  <a:lumMod val="75000"/>
                </a:prst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6" name="Picture 2"/>
          <p:cNvPicPr>
            <a:picLocks noChangeAspect="1" noChangeArrowheads="1"/>
          </p:cNvPicPr>
          <p:nvPr/>
        </p:nvPicPr>
        <p:blipFill>
          <a:blip r:embed="rId5" cstate="print"/>
          <a:srcRect/>
          <a:stretch>
            <a:fillRect/>
          </a:stretch>
        </p:blipFill>
        <p:spPr bwMode="auto">
          <a:xfrm>
            <a:off x="2027867" y="598012"/>
            <a:ext cx="504056" cy="492055"/>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1884</TotalTime>
  <Words>11368</Words>
  <Application>Microsoft Office PowerPoint</Application>
  <PresentationFormat>全屏显示(16:9)</PresentationFormat>
  <Paragraphs>770</Paragraphs>
  <Slides>169</Slides>
  <Notes>151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169</vt:i4>
      </vt:variant>
    </vt:vector>
  </HeadingPairs>
  <TitlesOfParts>
    <vt:vector size="179" baseType="lpstr">
      <vt:lpstr>맑은 고딕</vt:lpstr>
      <vt:lpstr>方正特粗光辉简体</vt:lpstr>
      <vt:lpstr>黑体</vt:lpstr>
      <vt:lpstr>宋体</vt:lpstr>
      <vt:lpstr>微软雅黑</vt:lpstr>
      <vt:lpstr>Arial</vt:lpstr>
      <vt:lpstr>Calibri</vt:lpstr>
      <vt:lpstr>Segoe UI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qian gao</cp:lastModifiedBy>
  <cp:revision>1602</cp:revision>
  <dcterms:created xsi:type="dcterms:W3CDTF">2014-04-24T10:36:00Z</dcterms:created>
  <dcterms:modified xsi:type="dcterms:W3CDTF">2025-11-26T03:20:44Z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